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94660"/>
  </p:normalViewPr>
  <p:slideViewPr>
    <p:cSldViewPr>
      <p:cViewPr varScale="1">
        <p:scale>
          <a:sx n="51" d="100"/>
          <a:sy n="51" d="100"/>
        </p:scale>
        <p:origin x="1579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slide" Target="slides/slide180.xml"/><Relationship Id="rId186" Type="http://schemas.openxmlformats.org/officeDocument/2006/relationships/slide" Target="slides/slide185.xml"/><Relationship Id="rId216" Type="http://schemas.openxmlformats.org/officeDocument/2006/relationships/slide" Target="slides/slide215.xml"/><Relationship Id="rId211" Type="http://schemas.openxmlformats.org/officeDocument/2006/relationships/slide" Target="slides/slide210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slide" Target="slides/slide191.xml"/><Relationship Id="rId197" Type="http://schemas.openxmlformats.org/officeDocument/2006/relationships/slide" Target="slides/slide196.xml"/><Relationship Id="rId206" Type="http://schemas.openxmlformats.org/officeDocument/2006/relationships/slide" Target="slides/slide205.xml"/><Relationship Id="rId201" Type="http://schemas.openxmlformats.org/officeDocument/2006/relationships/slide" Target="slides/slide200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theme" Target="theme/theme1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57782" y="321386"/>
            <a:ext cx="602843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C0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1741" y="1430274"/>
            <a:ext cx="8686800" cy="4057015"/>
          </a:xfrm>
          <a:custGeom>
            <a:avLst/>
            <a:gdLst/>
            <a:ahLst/>
            <a:cxnLst/>
            <a:rect l="l" t="t" r="r" b="b"/>
            <a:pathLst>
              <a:path w="8686800" h="4057015">
                <a:moveTo>
                  <a:pt x="8686800" y="0"/>
                </a:moveTo>
                <a:lnTo>
                  <a:pt x="0" y="0"/>
                </a:lnTo>
                <a:lnTo>
                  <a:pt x="0" y="4056888"/>
                </a:lnTo>
                <a:lnTo>
                  <a:pt x="8686800" y="4056888"/>
                </a:lnTo>
                <a:lnTo>
                  <a:pt x="8686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1741" y="1430274"/>
            <a:ext cx="8686800" cy="4057015"/>
          </a:xfrm>
          <a:custGeom>
            <a:avLst/>
            <a:gdLst/>
            <a:ahLst/>
            <a:cxnLst/>
            <a:rect l="l" t="t" r="r" b="b"/>
            <a:pathLst>
              <a:path w="8686800" h="4057015">
                <a:moveTo>
                  <a:pt x="0" y="4056888"/>
                </a:moveTo>
                <a:lnTo>
                  <a:pt x="8686800" y="4056888"/>
                </a:lnTo>
                <a:lnTo>
                  <a:pt x="8686800" y="0"/>
                </a:lnTo>
                <a:lnTo>
                  <a:pt x="0" y="0"/>
                </a:lnTo>
                <a:lnTo>
                  <a:pt x="0" y="40568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764"/>
            <a:ext cx="9143999" cy="668274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3537" y="131826"/>
            <a:ext cx="8924925" cy="6457315"/>
          </a:xfrm>
          <a:custGeom>
            <a:avLst/>
            <a:gdLst/>
            <a:ahLst/>
            <a:cxnLst/>
            <a:rect l="l" t="t" r="r" b="b"/>
            <a:pathLst>
              <a:path w="8924925" h="6457315">
                <a:moveTo>
                  <a:pt x="1076210" y="0"/>
                </a:moveTo>
                <a:lnTo>
                  <a:pt x="7848345" y="0"/>
                </a:lnTo>
                <a:lnTo>
                  <a:pt x="7896283" y="1048"/>
                </a:lnTo>
                <a:lnTo>
                  <a:pt x="7943684" y="4165"/>
                </a:lnTo>
                <a:lnTo>
                  <a:pt x="7990503" y="9306"/>
                </a:lnTo>
                <a:lnTo>
                  <a:pt x="8036699" y="16427"/>
                </a:lnTo>
                <a:lnTo>
                  <a:pt x="8082226" y="25485"/>
                </a:lnTo>
                <a:lnTo>
                  <a:pt x="8127042" y="36437"/>
                </a:lnTo>
                <a:lnTo>
                  <a:pt x="8171102" y="49237"/>
                </a:lnTo>
                <a:lnTo>
                  <a:pt x="8214362" y="63843"/>
                </a:lnTo>
                <a:lnTo>
                  <a:pt x="8256780" y="80211"/>
                </a:lnTo>
                <a:lnTo>
                  <a:pt x="8298310" y="98297"/>
                </a:lnTo>
                <a:lnTo>
                  <a:pt x="8338910" y="118058"/>
                </a:lnTo>
                <a:lnTo>
                  <a:pt x="8378535" y="139449"/>
                </a:lnTo>
                <a:lnTo>
                  <a:pt x="8417143" y="162426"/>
                </a:lnTo>
                <a:lnTo>
                  <a:pt x="8454688" y="186947"/>
                </a:lnTo>
                <a:lnTo>
                  <a:pt x="8491128" y="212967"/>
                </a:lnTo>
                <a:lnTo>
                  <a:pt x="8526419" y="240443"/>
                </a:lnTo>
                <a:lnTo>
                  <a:pt x="8560516" y="269331"/>
                </a:lnTo>
                <a:lnTo>
                  <a:pt x="8593377" y="299586"/>
                </a:lnTo>
                <a:lnTo>
                  <a:pt x="8624957" y="331166"/>
                </a:lnTo>
                <a:lnTo>
                  <a:pt x="8655212" y="364027"/>
                </a:lnTo>
                <a:lnTo>
                  <a:pt x="8684100" y="398124"/>
                </a:lnTo>
                <a:lnTo>
                  <a:pt x="8711576" y="433415"/>
                </a:lnTo>
                <a:lnTo>
                  <a:pt x="8737596" y="469855"/>
                </a:lnTo>
                <a:lnTo>
                  <a:pt x="8762117" y="507400"/>
                </a:lnTo>
                <a:lnTo>
                  <a:pt x="8785094" y="546008"/>
                </a:lnTo>
                <a:lnTo>
                  <a:pt x="8806485" y="585633"/>
                </a:lnTo>
                <a:lnTo>
                  <a:pt x="8826246" y="626233"/>
                </a:lnTo>
                <a:lnTo>
                  <a:pt x="8844332" y="667763"/>
                </a:lnTo>
                <a:lnTo>
                  <a:pt x="8860700" y="710181"/>
                </a:lnTo>
                <a:lnTo>
                  <a:pt x="8875306" y="753441"/>
                </a:lnTo>
                <a:lnTo>
                  <a:pt x="8888106" y="797501"/>
                </a:lnTo>
                <a:lnTo>
                  <a:pt x="8899058" y="842317"/>
                </a:lnTo>
                <a:lnTo>
                  <a:pt x="8908116" y="887844"/>
                </a:lnTo>
                <a:lnTo>
                  <a:pt x="8915237" y="934040"/>
                </a:lnTo>
                <a:lnTo>
                  <a:pt x="8920378" y="980859"/>
                </a:lnTo>
                <a:lnTo>
                  <a:pt x="8923495" y="1028260"/>
                </a:lnTo>
                <a:lnTo>
                  <a:pt x="8924543" y="1076198"/>
                </a:lnTo>
                <a:lnTo>
                  <a:pt x="8924543" y="6457188"/>
                </a:lnTo>
                <a:lnTo>
                  <a:pt x="0" y="6457188"/>
                </a:lnTo>
                <a:lnTo>
                  <a:pt x="0" y="1076198"/>
                </a:lnTo>
                <a:lnTo>
                  <a:pt x="1048" y="1028260"/>
                </a:lnTo>
                <a:lnTo>
                  <a:pt x="4165" y="980859"/>
                </a:lnTo>
                <a:lnTo>
                  <a:pt x="9306" y="934040"/>
                </a:lnTo>
                <a:lnTo>
                  <a:pt x="16427" y="887844"/>
                </a:lnTo>
                <a:lnTo>
                  <a:pt x="25485" y="842317"/>
                </a:lnTo>
                <a:lnTo>
                  <a:pt x="36437" y="797501"/>
                </a:lnTo>
                <a:lnTo>
                  <a:pt x="49237" y="753441"/>
                </a:lnTo>
                <a:lnTo>
                  <a:pt x="63844" y="710181"/>
                </a:lnTo>
                <a:lnTo>
                  <a:pt x="80212" y="667763"/>
                </a:lnTo>
                <a:lnTo>
                  <a:pt x="98298" y="626233"/>
                </a:lnTo>
                <a:lnTo>
                  <a:pt x="118058" y="585633"/>
                </a:lnTo>
                <a:lnTo>
                  <a:pt x="139449" y="546008"/>
                </a:lnTo>
                <a:lnTo>
                  <a:pt x="162427" y="507400"/>
                </a:lnTo>
                <a:lnTo>
                  <a:pt x="186948" y="469855"/>
                </a:lnTo>
                <a:lnTo>
                  <a:pt x="212968" y="433415"/>
                </a:lnTo>
                <a:lnTo>
                  <a:pt x="240444" y="398124"/>
                </a:lnTo>
                <a:lnTo>
                  <a:pt x="269332" y="364027"/>
                </a:lnTo>
                <a:lnTo>
                  <a:pt x="299588" y="331166"/>
                </a:lnTo>
                <a:lnTo>
                  <a:pt x="331168" y="299586"/>
                </a:lnTo>
                <a:lnTo>
                  <a:pt x="364029" y="269331"/>
                </a:lnTo>
                <a:lnTo>
                  <a:pt x="398127" y="240443"/>
                </a:lnTo>
                <a:lnTo>
                  <a:pt x="433418" y="212967"/>
                </a:lnTo>
                <a:lnTo>
                  <a:pt x="469858" y="186947"/>
                </a:lnTo>
                <a:lnTo>
                  <a:pt x="507404" y="162426"/>
                </a:lnTo>
                <a:lnTo>
                  <a:pt x="546012" y="139449"/>
                </a:lnTo>
                <a:lnTo>
                  <a:pt x="585637" y="118058"/>
                </a:lnTo>
                <a:lnTo>
                  <a:pt x="626238" y="98297"/>
                </a:lnTo>
                <a:lnTo>
                  <a:pt x="667769" y="80211"/>
                </a:lnTo>
                <a:lnTo>
                  <a:pt x="710187" y="63843"/>
                </a:lnTo>
                <a:lnTo>
                  <a:pt x="753448" y="49237"/>
                </a:lnTo>
                <a:lnTo>
                  <a:pt x="797509" y="36437"/>
                </a:lnTo>
                <a:lnTo>
                  <a:pt x="842325" y="25485"/>
                </a:lnTo>
                <a:lnTo>
                  <a:pt x="887853" y="16427"/>
                </a:lnTo>
                <a:lnTo>
                  <a:pt x="934049" y="9306"/>
                </a:lnTo>
                <a:lnTo>
                  <a:pt x="980870" y="4165"/>
                </a:lnTo>
                <a:lnTo>
                  <a:pt x="1028272" y="1048"/>
                </a:lnTo>
                <a:lnTo>
                  <a:pt x="107621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7782" y="321386"/>
            <a:ext cx="602843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39" y="1084092"/>
            <a:ext cx="8376920" cy="4403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C0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96234" y="6648941"/>
            <a:ext cx="2504440" cy="17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1.png"/><Relationship Id="rId7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9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0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2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9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g"/><Relationship Id="rId13" Type="http://schemas.openxmlformats.org/officeDocument/2006/relationships/image" Target="../media/image68.jpg"/><Relationship Id="rId3" Type="http://schemas.openxmlformats.org/officeDocument/2006/relationships/image" Target="../media/image1.png"/><Relationship Id="rId7" Type="http://schemas.openxmlformats.org/officeDocument/2006/relationships/image" Target="../media/image62.jpg"/><Relationship Id="rId12" Type="http://schemas.openxmlformats.org/officeDocument/2006/relationships/image" Target="../media/image67.jpg"/><Relationship Id="rId17" Type="http://schemas.openxmlformats.org/officeDocument/2006/relationships/image" Target="../media/image72.jpg"/><Relationship Id="rId2" Type="http://schemas.openxmlformats.org/officeDocument/2006/relationships/image" Target="../media/image60.png"/><Relationship Id="rId16" Type="http://schemas.openxmlformats.org/officeDocument/2006/relationships/image" Target="../media/image7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66.jpg"/><Relationship Id="rId5" Type="http://schemas.openxmlformats.org/officeDocument/2006/relationships/image" Target="../media/image61.png"/><Relationship Id="rId15" Type="http://schemas.openxmlformats.org/officeDocument/2006/relationships/image" Target="../media/image70.jpg"/><Relationship Id="rId10" Type="http://schemas.openxmlformats.org/officeDocument/2006/relationships/image" Target="../media/image65.jpg"/><Relationship Id="rId4" Type="http://schemas.openxmlformats.org/officeDocument/2006/relationships/image" Target="../media/image22.png"/><Relationship Id="rId9" Type="http://schemas.openxmlformats.org/officeDocument/2006/relationships/image" Target="../media/image64.jpg"/><Relationship Id="rId14" Type="http://schemas.openxmlformats.org/officeDocument/2006/relationships/image" Target="../media/image6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61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7.jp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8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0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2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1.png"/><Relationship Id="rId7" Type="http://schemas.openxmlformats.org/officeDocument/2006/relationships/image" Target="../media/image88.jpg"/><Relationship Id="rId12" Type="http://schemas.openxmlformats.org/officeDocument/2006/relationships/image" Target="../media/image93.jp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92.png"/><Relationship Id="rId5" Type="http://schemas.openxmlformats.org/officeDocument/2006/relationships/image" Target="../media/image45.png"/><Relationship Id="rId10" Type="http://schemas.openxmlformats.org/officeDocument/2006/relationships/image" Target="../media/image91.jpg"/><Relationship Id="rId4" Type="http://schemas.openxmlformats.org/officeDocument/2006/relationships/image" Target="../media/image22.png"/><Relationship Id="rId9" Type="http://schemas.openxmlformats.org/officeDocument/2006/relationships/image" Target="../media/image9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jpg"/><Relationship Id="rId3" Type="http://schemas.openxmlformats.org/officeDocument/2006/relationships/image" Target="../media/image1.png"/><Relationship Id="rId7" Type="http://schemas.openxmlformats.org/officeDocument/2006/relationships/image" Target="../media/image97.jp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96.png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jpg"/><Relationship Id="rId3" Type="http://schemas.openxmlformats.org/officeDocument/2006/relationships/image" Target="../media/image1.png"/><Relationship Id="rId7" Type="http://schemas.openxmlformats.org/officeDocument/2006/relationships/image" Target="../media/image99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96.png"/><Relationship Id="rId4" Type="http://schemas.openxmlformats.org/officeDocument/2006/relationships/image" Target="../media/image22.png"/><Relationship Id="rId9" Type="http://schemas.openxmlformats.org/officeDocument/2006/relationships/image" Target="../media/image10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1.png"/><Relationship Id="rId7" Type="http://schemas.openxmlformats.org/officeDocument/2006/relationships/image" Target="../media/image102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96.png"/><Relationship Id="rId4" Type="http://schemas.openxmlformats.org/officeDocument/2006/relationships/image" Target="../media/image22.png"/><Relationship Id="rId9" Type="http://schemas.openxmlformats.org/officeDocument/2006/relationships/image" Target="../media/image104.jp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jpg"/><Relationship Id="rId3" Type="http://schemas.openxmlformats.org/officeDocument/2006/relationships/image" Target="../media/image1.png"/><Relationship Id="rId7" Type="http://schemas.openxmlformats.org/officeDocument/2006/relationships/image" Target="../media/image106.jp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96.png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jpg"/><Relationship Id="rId3" Type="http://schemas.openxmlformats.org/officeDocument/2006/relationships/image" Target="../media/image1.png"/><Relationship Id="rId7" Type="http://schemas.openxmlformats.org/officeDocument/2006/relationships/image" Target="../media/image111.jp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10.png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jpg"/><Relationship Id="rId3" Type="http://schemas.openxmlformats.org/officeDocument/2006/relationships/image" Target="../media/image1.png"/><Relationship Id="rId7" Type="http://schemas.openxmlformats.org/officeDocument/2006/relationships/image" Target="../media/image113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10.png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5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10.png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17.png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17.png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jpg"/><Relationship Id="rId3" Type="http://schemas.openxmlformats.org/officeDocument/2006/relationships/image" Target="../media/image1.png"/><Relationship Id="rId7" Type="http://schemas.openxmlformats.org/officeDocument/2006/relationships/image" Target="../media/image120.jp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17.png"/><Relationship Id="rId4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23.png"/><Relationship Id="rId4" Type="http://schemas.openxmlformats.org/officeDocument/2006/relationships/image" Target="../media/image2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23.png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23.png"/><Relationship Id="rId4" Type="http://schemas.openxmlformats.org/officeDocument/2006/relationships/image" Target="../media/image2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23.png"/><Relationship Id="rId4" Type="http://schemas.openxmlformats.org/officeDocument/2006/relationships/image" Target="../media/image2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23.png"/><Relationship Id="rId4" Type="http://schemas.openxmlformats.org/officeDocument/2006/relationships/image" Target="../media/image2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23.png"/><Relationship Id="rId4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1.png"/><Relationship Id="rId5" Type="http://schemas.openxmlformats.org/officeDocument/2006/relationships/image" Target="../media/image132.png"/><Relationship Id="rId10" Type="http://schemas.openxmlformats.org/officeDocument/2006/relationships/image" Target="../media/image134.png"/><Relationship Id="rId4" Type="http://schemas.openxmlformats.org/officeDocument/2006/relationships/image" Target="../media/image12.jpg"/><Relationship Id="rId9" Type="http://schemas.openxmlformats.org/officeDocument/2006/relationships/image" Target="../media/image13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36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7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jpg"/><Relationship Id="rId3" Type="http://schemas.openxmlformats.org/officeDocument/2006/relationships/image" Target="../media/image1.png"/><Relationship Id="rId7" Type="http://schemas.openxmlformats.org/officeDocument/2006/relationships/image" Target="../media/image140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139.png"/><Relationship Id="rId10" Type="http://schemas.openxmlformats.org/officeDocument/2006/relationships/image" Target="../media/image142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jpg"/><Relationship Id="rId3" Type="http://schemas.openxmlformats.org/officeDocument/2006/relationships/image" Target="../media/image1.png"/><Relationship Id="rId7" Type="http://schemas.openxmlformats.org/officeDocument/2006/relationships/image" Target="../media/image143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139.png"/><Relationship Id="rId10" Type="http://schemas.openxmlformats.org/officeDocument/2006/relationships/image" Target="../media/image145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46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9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14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48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9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14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jpg"/><Relationship Id="rId3" Type="http://schemas.openxmlformats.org/officeDocument/2006/relationships/image" Target="../media/image1.png"/><Relationship Id="rId7" Type="http://schemas.openxmlformats.org/officeDocument/2006/relationships/image" Target="../media/image150.jpg"/><Relationship Id="rId12" Type="http://schemas.openxmlformats.org/officeDocument/2006/relationships/image" Target="../media/image1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53.png"/><Relationship Id="rId5" Type="http://schemas.openxmlformats.org/officeDocument/2006/relationships/image" Target="../media/image139.png"/><Relationship Id="rId10" Type="http://schemas.openxmlformats.org/officeDocument/2006/relationships/image" Target="../media/image14.png"/><Relationship Id="rId4" Type="http://schemas.openxmlformats.org/officeDocument/2006/relationships/image" Target="../media/image22.png"/><Relationship Id="rId9" Type="http://schemas.openxmlformats.org/officeDocument/2006/relationships/image" Target="../media/image152.jp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jpg"/><Relationship Id="rId3" Type="http://schemas.openxmlformats.org/officeDocument/2006/relationships/image" Target="../media/image1.png"/><Relationship Id="rId7" Type="http://schemas.openxmlformats.org/officeDocument/2006/relationships/image" Target="../media/image155.jpg"/><Relationship Id="rId12" Type="http://schemas.openxmlformats.org/officeDocument/2006/relationships/image" Target="../media/image16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58.png"/><Relationship Id="rId5" Type="http://schemas.openxmlformats.org/officeDocument/2006/relationships/image" Target="../media/image139.png"/><Relationship Id="rId10" Type="http://schemas.openxmlformats.org/officeDocument/2006/relationships/image" Target="../media/image14.png"/><Relationship Id="rId4" Type="http://schemas.openxmlformats.org/officeDocument/2006/relationships/image" Target="../media/image22.png"/><Relationship Id="rId9" Type="http://schemas.openxmlformats.org/officeDocument/2006/relationships/image" Target="../media/image157.jp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jpg"/><Relationship Id="rId3" Type="http://schemas.openxmlformats.org/officeDocument/2006/relationships/image" Target="../media/image1.png"/><Relationship Id="rId7" Type="http://schemas.openxmlformats.org/officeDocument/2006/relationships/image" Target="../media/image160.jpg"/><Relationship Id="rId12" Type="http://schemas.openxmlformats.org/officeDocument/2006/relationships/image" Target="../media/image16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3.png"/><Relationship Id="rId5" Type="http://schemas.openxmlformats.org/officeDocument/2006/relationships/image" Target="../media/image139.png"/><Relationship Id="rId10" Type="http://schemas.openxmlformats.org/officeDocument/2006/relationships/image" Target="../media/image14.png"/><Relationship Id="rId4" Type="http://schemas.openxmlformats.org/officeDocument/2006/relationships/image" Target="../media/image22.png"/><Relationship Id="rId9" Type="http://schemas.openxmlformats.org/officeDocument/2006/relationships/image" Target="../media/image162.jp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jpg"/><Relationship Id="rId3" Type="http://schemas.openxmlformats.org/officeDocument/2006/relationships/image" Target="../media/image1.png"/><Relationship Id="rId7" Type="http://schemas.openxmlformats.org/officeDocument/2006/relationships/image" Target="../media/image165.jp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139.png"/><Relationship Id="rId10" Type="http://schemas.openxmlformats.org/officeDocument/2006/relationships/image" Target="../media/image167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jpg"/><Relationship Id="rId3" Type="http://schemas.openxmlformats.org/officeDocument/2006/relationships/image" Target="../media/image1.png"/><Relationship Id="rId7" Type="http://schemas.openxmlformats.org/officeDocument/2006/relationships/image" Target="../media/image169.jp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139.png"/><Relationship Id="rId10" Type="http://schemas.openxmlformats.org/officeDocument/2006/relationships/image" Target="../media/image171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jpg"/><Relationship Id="rId3" Type="http://schemas.openxmlformats.org/officeDocument/2006/relationships/image" Target="../media/image1.png"/><Relationship Id="rId7" Type="http://schemas.openxmlformats.org/officeDocument/2006/relationships/image" Target="../media/image172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139.png"/><Relationship Id="rId10" Type="http://schemas.openxmlformats.org/officeDocument/2006/relationships/image" Target="../media/image174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jpg"/><Relationship Id="rId3" Type="http://schemas.openxmlformats.org/officeDocument/2006/relationships/image" Target="../media/image1.png"/><Relationship Id="rId7" Type="http://schemas.openxmlformats.org/officeDocument/2006/relationships/image" Target="../media/image176.jp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139.png"/><Relationship Id="rId10" Type="http://schemas.openxmlformats.org/officeDocument/2006/relationships/image" Target="../media/image178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jpg"/><Relationship Id="rId3" Type="http://schemas.openxmlformats.org/officeDocument/2006/relationships/image" Target="../media/image1.png"/><Relationship Id="rId7" Type="http://schemas.openxmlformats.org/officeDocument/2006/relationships/image" Target="../media/image179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139.png"/><Relationship Id="rId10" Type="http://schemas.openxmlformats.org/officeDocument/2006/relationships/image" Target="../media/image181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jpg"/><Relationship Id="rId3" Type="http://schemas.openxmlformats.org/officeDocument/2006/relationships/image" Target="../media/image1.png"/><Relationship Id="rId7" Type="http://schemas.openxmlformats.org/officeDocument/2006/relationships/image" Target="../media/image182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139.png"/><Relationship Id="rId10" Type="http://schemas.openxmlformats.org/officeDocument/2006/relationships/image" Target="../media/image184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9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9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9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9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9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9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95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97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198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01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02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0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10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7.png"/><Relationship Id="rId3" Type="http://schemas.openxmlformats.org/officeDocument/2006/relationships/image" Target="../media/image1.png"/><Relationship Id="rId7" Type="http://schemas.openxmlformats.org/officeDocument/2006/relationships/image" Target="../media/image212.png"/><Relationship Id="rId12" Type="http://schemas.openxmlformats.org/officeDocument/2006/relationships/image" Target="../media/image14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16.jpg"/><Relationship Id="rId5" Type="http://schemas.openxmlformats.org/officeDocument/2006/relationships/image" Target="../media/image196.png"/><Relationship Id="rId10" Type="http://schemas.openxmlformats.org/officeDocument/2006/relationships/image" Target="../media/image215.jpg"/><Relationship Id="rId4" Type="http://schemas.openxmlformats.org/officeDocument/2006/relationships/image" Target="../media/image22.png"/><Relationship Id="rId9" Type="http://schemas.openxmlformats.org/officeDocument/2006/relationships/image" Target="../media/image214.jpg"/><Relationship Id="rId14" Type="http://schemas.openxmlformats.org/officeDocument/2006/relationships/image" Target="../media/image16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1.png"/><Relationship Id="rId7" Type="http://schemas.openxmlformats.org/officeDocument/2006/relationships/image" Target="../media/image22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196.png"/><Relationship Id="rId10" Type="http://schemas.openxmlformats.org/officeDocument/2006/relationships/image" Target="../media/image223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26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28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29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32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jpg"/><Relationship Id="rId3" Type="http://schemas.openxmlformats.org/officeDocument/2006/relationships/image" Target="../media/image1.png"/><Relationship Id="rId7" Type="http://schemas.openxmlformats.org/officeDocument/2006/relationships/image" Target="../media/image236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196.png"/><Relationship Id="rId10" Type="http://schemas.openxmlformats.org/officeDocument/2006/relationships/image" Target="../media/image238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44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12" Type="http://schemas.openxmlformats.org/officeDocument/2006/relationships/image" Target="../media/image243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242.png"/><Relationship Id="rId5" Type="http://schemas.openxmlformats.org/officeDocument/2006/relationships/image" Target="../media/image11.png"/><Relationship Id="rId10" Type="http://schemas.openxmlformats.org/officeDocument/2006/relationships/image" Target="../media/image241.jpg"/><Relationship Id="rId4" Type="http://schemas.openxmlformats.org/officeDocument/2006/relationships/image" Target="../media/image240.png"/><Relationship Id="rId9" Type="http://schemas.openxmlformats.org/officeDocument/2006/relationships/image" Target="../media/image1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36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47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48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47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142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jpg"/><Relationship Id="rId3" Type="http://schemas.openxmlformats.org/officeDocument/2006/relationships/image" Target="../media/image1.png"/><Relationship Id="rId7" Type="http://schemas.openxmlformats.org/officeDocument/2006/relationships/image" Target="../media/image249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47.png"/><Relationship Id="rId10" Type="http://schemas.openxmlformats.org/officeDocument/2006/relationships/image" Target="../media/image145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51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47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147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49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jpg"/><Relationship Id="rId3" Type="http://schemas.openxmlformats.org/officeDocument/2006/relationships/image" Target="../media/image1.png"/><Relationship Id="rId7" Type="http://schemas.openxmlformats.org/officeDocument/2006/relationships/image" Target="../media/image255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53.png"/><Relationship Id="rId10" Type="http://schemas.openxmlformats.org/officeDocument/2006/relationships/image" Target="../media/image163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jpg"/><Relationship Id="rId3" Type="http://schemas.openxmlformats.org/officeDocument/2006/relationships/image" Target="../media/image1.png"/><Relationship Id="rId7" Type="http://schemas.openxmlformats.org/officeDocument/2006/relationships/image" Target="../media/image257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53.png"/><Relationship Id="rId10" Type="http://schemas.openxmlformats.org/officeDocument/2006/relationships/image" Target="../media/image171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.png"/><Relationship Id="rId7" Type="http://schemas.openxmlformats.org/officeDocument/2006/relationships/image" Target="../media/image25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53.png"/><Relationship Id="rId10" Type="http://schemas.openxmlformats.org/officeDocument/2006/relationships/image" Target="../media/image178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61.jp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184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3" Type="http://schemas.openxmlformats.org/officeDocument/2006/relationships/image" Target="../media/image1.png"/><Relationship Id="rId7" Type="http://schemas.openxmlformats.org/officeDocument/2006/relationships/image" Target="../media/image26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53.png"/><Relationship Id="rId10" Type="http://schemas.openxmlformats.org/officeDocument/2006/relationships/image" Target="../media/image187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3" Type="http://schemas.openxmlformats.org/officeDocument/2006/relationships/image" Target="../media/image1.png"/><Relationship Id="rId7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53.png"/><Relationship Id="rId10" Type="http://schemas.openxmlformats.org/officeDocument/2006/relationships/image" Target="../media/image188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png"/><Relationship Id="rId3" Type="http://schemas.openxmlformats.org/officeDocument/2006/relationships/image" Target="../media/image1.png"/><Relationship Id="rId7" Type="http://schemas.openxmlformats.org/officeDocument/2006/relationships/image" Target="../media/image26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53.png"/><Relationship Id="rId10" Type="http://schemas.openxmlformats.org/officeDocument/2006/relationships/image" Target="../media/image189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1.png"/><Relationship Id="rId7" Type="http://schemas.openxmlformats.org/officeDocument/2006/relationships/image" Target="../media/image269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53.png"/><Relationship Id="rId10" Type="http://schemas.openxmlformats.org/officeDocument/2006/relationships/image" Target="../media/image193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png"/><Relationship Id="rId3" Type="http://schemas.openxmlformats.org/officeDocument/2006/relationships/image" Target="../media/image1.png"/><Relationship Id="rId7" Type="http://schemas.openxmlformats.org/officeDocument/2006/relationships/image" Target="../media/image27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53.png"/><Relationship Id="rId10" Type="http://schemas.openxmlformats.org/officeDocument/2006/relationships/image" Target="../media/image195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7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198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3" Type="http://schemas.openxmlformats.org/officeDocument/2006/relationships/image" Target="../media/image1.png"/><Relationship Id="rId7" Type="http://schemas.openxmlformats.org/officeDocument/2006/relationships/image" Target="../media/image275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53.png"/><Relationship Id="rId10" Type="http://schemas.openxmlformats.org/officeDocument/2006/relationships/image" Target="../media/image200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78.jpg"/><Relationship Id="rId5" Type="http://schemas.openxmlformats.org/officeDocument/2006/relationships/image" Target="../media/image253.png"/><Relationship Id="rId10" Type="http://schemas.openxmlformats.org/officeDocument/2006/relationships/image" Target="../media/image277.jp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7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05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2.png"/><Relationship Id="rId5" Type="http://schemas.openxmlformats.org/officeDocument/2006/relationships/image" Target="../media/image253.png"/><Relationship Id="rId10" Type="http://schemas.openxmlformats.org/officeDocument/2006/relationships/image" Target="../media/image281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286.jpg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5.png"/><Relationship Id="rId5" Type="http://schemas.openxmlformats.org/officeDocument/2006/relationships/image" Target="../media/image253.png"/><Relationship Id="rId10" Type="http://schemas.openxmlformats.org/officeDocument/2006/relationships/image" Target="../media/image284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3" Type="http://schemas.openxmlformats.org/officeDocument/2006/relationships/image" Target="../media/image1.png"/><Relationship Id="rId7" Type="http://schemas.openxmlformats.org/officeDocument/2006/relationships/image" Target="../media/image28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253.png"/><Relationship Id="rId10" Type="http://schemas.openxmlformats.org/officeDocument/2006/relationships/image" Target="../media/image217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92.jp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291.jp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0.jpg"/><Relationship Id="rId5" Type="http://schemas.openxmlformats.org/officeDocument/2006/relationships/image" Target="../media/image253.png"/><Relationship Id="rId10" Type="http://schemas.openxmlformats.org/officeDocument/2006/relationships/image" Target="../media/image289.jp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93.jp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19.pn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94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95.png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png"/><Relationship Id="rId13" Type="http://schemas.openxmlformats.org/officeDocument/2006/relationships/image" Target="../media/image299.jp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298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7.jpg"/><Relationship Id="rId5" Type="http://schemas.openxmlformats.org/officeDocument/2006/relationships/image" Target="../media/image253.png"/><Relationship Id="rId10" Type="http://schemas.openxmlformats.org/officeDocument/2006/relationships/image" Target="../media/image296.jp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303.jp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302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01.jpg"/><Relationship Id="rId5" Type="http://schemas.openxmlformats.org/officeDocument/2006/relationships/image" Target="../media/image253.png"/><Relationship Id="rId10" Type="http://schemas.openxmlformats.org/officeDocument/2006/relationships/image" Target="../media/image300.jp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0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29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06.png"/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32.pn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10" Type="http://schemas.openxmlformats.org/officeDocument/2006/relationships/image" Target="../media/image307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10" Type="http://schemas.openxmlformats.org/officeDocument/2006/relationships/image" Target="../media/image308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10.png"/><Relationship Id="rId5" Type="http://schemas.openxmlformats.org/officeDocument/2006/relationships/image" Target="../media/image253.png"/><Relationship Id="rId10" Type="http://schemas.openxmlformats.org/officeDocument/2006/relationships/image" Target="../media/image309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313.png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1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317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1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319.pn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21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322.pn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3" Type="http://schemas.openxmlformats.org/officeDocument/2006/relationships/image" Target="../media/image1.png"/><Relationship Id="rId7" Type="http://schemas.openxmlformats.org/officeDocument/2006/relationships/image" Target="../media/image32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314.png"/><Relationship Id="rId10" Type="http://schemas.openxmlformats.org/officeDocument/2006/relationships/image" Target="../media/image325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png"/><Relationship Id="rId3" Type="http://schemas.openxmlformats.org/officeDocument/2006/relationships/image" Target="../media/image1.png"/><Relationship Id="rId7" Type="http://schemas.openxmlformats.org/officeDocument/2006/relationships/image" Target="../media/image32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314.png"/><Relationship Id="rId10" Type="http://schemas.openxmlformats.org/officeDocument/2006/relationships/image" Target="../media/image328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1.png"/><Relationship Id="rId7" Type="http://schemas.openxmlformats.org/officeDocument/2006/relationships/image" Target="../media/image329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314.png"/><Relationship Id="rId10" Type="http://schemas.openxmlformats.org/officeDocument/2006/relationships/image" Target="../media/image331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34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335.pn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3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337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3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339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jpg"/><Relationship Id="rId3" Type="http://schemas.openxmlformats.org/officeDocument/2006/relationships/image" Target="../media/image1.png"/><Relationship Id="rId7" Type="http://schemas.openxmlformats.org/officeDocument/2006/relationships/image" Target="../media/image341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314.png"/><Relationship Id="rId10" Type="http://schemas.openxmlformats.org/officeDocument/2006/relationships/image" Target="../media/image343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46.png"/><Relationship Id="rId5" Type="http://schemas.openxmlformats.org/officeDocument/2006/relationships/image" Target="../media/image314.png"/><Relationship Id="rId10" Type="http://schemas.openxmlformats.org/officeDocument/2006/relationships/image" Target="../media/image345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348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350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53.png"/><Relationship Id="rId5" Type="http://schemas.openxmlformats.org/officeDocument/2006/relationships/image" Target="../media/image314.png"/><Relationship Id="rId10" Type="http://schemas.openxmlformats.org/officeDocument/2006/relationships/image" Target="../media/image352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355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357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jpg"/><Relationship Id="rId3" Type="http://schemas.openxmlformats.org/officeDocument/2006/relationships/image" Target="../media/image1.png"/><Relationship Id="rId7" Type="http://schemas.openxmlformats.org/officeDocument/2006/relationships/image" Target="../media/image35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6.png"/><Relationship Id="rId5" Type="http://schemas.openxmlformats.org/officeDocument/2006/relationships/image" Target="../media/image314.png"/><Relationship Id="rId10" Type="http://schemas.openxmlformats.org/officeDocument/2006/relationships/image" Target="../media/image361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64.png"/><Relationship Id="rId5" Type="http://schemas.openxmlformats.org/officeDocument/2006/relationships/image" Target="../media/image314.png"/><Relationship Id="rId10" Type="http://schemas.openxmlformats.org/officeDocument/2006/relationships/image" Target="../media/image363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366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369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72.jpg"/><Relationship Id="rId5" Type="http://schemas.openxmlformats.org/officeDocument/2006/relationships/image" Target="../media/image314.png"/><Relationship Id="rId10" Type="http://schemas.openxmlformats.org/officeDocument/2006/relationships/image" Target="../media/image371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374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4.png"/><Relationship Id="rId10" Type="http://schemas.openxmlformats.org/officeDocument/2006/relationships/image" Target="../media/image377.png"/><Relationship Id="rId4" Type="http://schemas.openxmlformats.org/officeDocument/2006/relationships/image" Target="../media/image22.png"/><Relationship Id="rId9" Type="http://schemas.openxmlformats.org/officeDocument/2006/relationships/image" Target="../media/image16.png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8.png"/><Relationship Id="rId1" Type="http://schemas.openxmlformats.org/officeDocument/2006/relationships/slideLayout" Target="../slideLayouts/slideLayout5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3" Type="http://schemas.openxmlformats.org/officeDocument/2006/relationships/image" Target="../media/image1.png"/><Relationship Id="rId7" Type="http://schemas.openxmlformats.org/officeDocument/2006/relationships/image" Target="../media/image380.jp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3" Type="http://schemas.openxmlformats.org/officeDocument/2006/relationships/image" Target="../media/image1.png"/><Relationship Id="rId7" Type="http://schemas.openxmlformats.org/officeDocument/2006/relationships/image" Target="../media/image382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3" Type="http://schemas.openxmlformats.org/officeDocument/2006/relationships/image" Target="../media/image1.png"/><Relationship Id="rId7" Type="http://schemas.openxmlformats.org/officeDocument/2006/relationships/image" Target="../media/image384.jp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jpg"/><Relationship Id="rId3" Type="http://schemas.openxmlformats.org/officeDocument/2006/relationships/image" Target="../media/image1.png"/><Relationship Id="rId7" Type="http://schemas.openxmlformats.org/officeDocument/2006/relationships/image" Target="../media/image385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png"/><Relationship Id="rId3" Type="http://schemas.openxmlformats.org/officeDocument/2006/relationships/image" Target="../media/image1.png"/><Relationship Id="rId7" Type="http://schemas.openxmlformats.org/officeDocument/2006/relationships/image" Target="../media/image387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Relationship Id="rId9" Type="http://schemas.openxmlformats.org/officeDocument/2006/relationships/image" Target="../media/image389.jp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1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3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79.png"/><Relationship Id="rId4" Type="http://schemas.openxmlformats.org/officeDocument/2006/relationships/image" Target="../media/image22.png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4.png"/><Relationship Id="rId1" Type="http://schemas.openxmlformats.org/officeDocument/2006/relationships/slideLayout" Target="../slideLayouts/slideLayout5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1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jpg"/><Relationship Id="rId3" Type="http://schemas.openxmlformats.org/officeDocument/2006/relationships/image" Target="../media/image1.png"/><Relationship Id="rId7" Type="http://schemas.openxmlformats.org/officeDocument/2006/relationships/image" Target="../media/image39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1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4.png"/><Relationship Id="rId13" Type="http://schemas.openxmlformats.org/officeDocument/2006/relationships/image" Target="../media/image409.png"/><Relationship Id="rId18" Type="http://schemas.openxmlformats.org/officeDocument/2006/relationships/image" Target="../media/image414.png"/><Relationship Id="rId3" Type="http://schemas.openxmlformats.org/officeDocument/2006/relationships/image" Target="../media/image1.png"/><Relationship Id="rId21" Type="http://schemas.openxmlformats.org/officeDocument/2006/relationships/image" Target="../media/image417.png"/><Relationship Id="rId7" Type="http://schemas.openxmlformats.org/officeDocument/2006/relationships/image" Target="../media/image403.png"/><Relationship Id="rId12" Type="http://schemas.openxmlformats.org/officeDocument/2006/relationships/image" Target="../media/image408.png"/><Relationship Id="rId17" Type="http://schemas.openxmlformats.org/officeDocument/2006/relationships/image" Target="../media/image413.png"/><Relationship Id="rId2" Type="http://schemas.openxmlformats.org/officeDocument/2006/relationships/image" Target="../media/image340.png"/><Relationship Id="rId16" Type="http://schemas.openxmlformats.org/officeDocument/2006/relationships/image" Target="../media/image412.png"/><Relationship Id="rId20" Type="http://schemas.openxmlformats.org/officeDocument/2006/relationships/image" Target="../media/image4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07.png"/><Relationship Id="rId24" Type="http://schemas.openxmlformats.org/officeDocument/2006/relationships/image" Target="../media/image420.png"/><Relationship Id="rId5" Type="http://schemas.openxmlformats.org/officeDocument/2006/relationships/image" Target="../media/image395.png"/><Relationship Id="rId15" Type="http://schemas.openxmlformats.org/officeDocument/2006/relationships/image" Target="../media/image411.png"/><Relationship Id="rId23" Type="http://schemas.openxmlformats.org/officeDocument/2006/relationships/image" Target="../media/image419.png"/><Relationship Id="rId10" Type="http://schemas.openxmlformats.org/officeDocument/2006/relationships/image" Target="../media/image406.png"/><Relationship Id="rId19" Type="http://schemas.openxmlformats.org/officeDocument/2006/relationships/image" Target="../media/image415.png"/><Relationship Id="rId4" Type="http://schemas.openxmlformats.org/officeDocument/2006/relationships/image" Target="../media/image22.png"/><Relationship Id="rId9" Type="http://schemas.openxmlformats.org/officeDocument/2006/relationships/image" Target="../media/image405.png"/><Relationship Id="rId14" Type="http://schemas.openxmlformats.org/officeDocument/2006/relationships/image" Target="../media/image410.png"/><Relationship Id="rId22" Type="http://schemas.openxmlformats.org/officeDocument/2006/relationships/image" Target="../media/image418.png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3.png"/><Relationship Id="rId13" Type="http://schemas.openxmlformats.org/officeDocument/2006/relationships/image" Target="../media/image428.png"/><Relationship Id="rId18" Type="http://schemas.openxmlformats.org/officeDocument/2006/relationships/image" Target="../media/image433.png"/><Relationship Id="rId26" Type="http://schemas.openxmlformats.org/officeDocument/2006/relationships/image" Target="../media/image441.png"/><Relationship Id="rId3" Type="http://schemas.openxmlformats.org/officeDocument/2006/relationships/image" Target="../media/image1.png"/><Relationship Id="rId21" Type="http://schemas.openxmlformats.org/officeDocument/2006/relationships/image" Target="../media/image436.png"/><Relationship Id="rId34" Type="http://schemas.openxmlformats.org/officeDocument/2006/relationships/image" Target="../media/image449.png"/><Relationship Id="rId7" Type="http://schemas.openxmlformats.org/officeDocument/2006/relationships/image" Target="../media/image422.png"/><Relationship Id="rId12" Type="http://schemas.openxmlformats.org/officeDocument/2006/relationships/image" Target="../media/image427.png"/><Relationship Id="rId17" Type="http://schemas.openxmlformats.org/officeDocument/2006/relationships/image" Target="../media/image432.png"/><Relationship Id="rId25" Type="http://schemas.openxmlformats.org/officeDocument/2006/relationships/image" Target="../media/image440.png"/><Relationship Id="rId33" Type="http://schemas.openxmlformats.org/officeDocument/2006/relationships/image" Target="../media/image448.png"/><Relationship Id="rId2" Type="http://schemas.openxmlformats.org/officeDocument/2006/relationships/image" Target="../media/image421.png"/><Relationship Id="rId16" Type="http://schemas.openxmlformats.org/officeDocument/2006/relationships/image" Target="../media/image431.png"/><Relationship Id="rId20" Type="http://schemas.openxmlformats.org/officeDocument/2006/relationships/image" Target="../media/image435.png"/><Relationship Id="rId29" Type="http://schemas.openxmlformats.org/officeDocument/2006/relationships/image" Target="../media/image4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26.png"/><Relationship Id="rId24" Type="http://schemas.openxmlformats.org/officeDocument/2006/relationships/image" Target="../media/image439.png"/><Relationship Id="rId32" Type="http://schemas.openxmlformats.org/officeDocument/2006/relationships/image" Target="../media/image447.png"/><Relationship Id="rId5" Type="http://schemas.openxmlformats.org/officeDocument/2006/relationships/image" Target="../media/image395.png"/><Relationship Id="rId15" Type="http://schemas.openxmlformats.org/officeDocument/2006/relationships/image" Target="../media/image430.png"/><Relationship Id="rId23" Type="http://schemas.openxmlformats.org/officeDocument/2006/relationships/image" Target="../media/image438.png"/><Relationship Id="rId28" Type="http://schemas.openxmlformats.org/officeDocument/2006/relationships/image" Target="../media/image443.png"/><Relationship Id="rId36" Type="http://schemas.openxmlformats.org/officeDocument/2006/relationships/image" Target="../media/image451.png"/><Relationship Id="rId10" Type="http://schemas.openxmlformats.org/officeDocument/2006/relationships/image" Target="../media/image425.png"/><Relationship Id="rId19" Type="http://schemas.openxmlformats.org/officeDocument/2006/relationships/image" Target="../media/image434.png"/><Relationship Id="rId31" Type="http://schemas.openxmlformats.org/officeDocument/2006/relationships/image" Target="../media/image446.png"/><Relationship Id="rId4" Type="http://schemas.openxmlformats.org/officeDocument/2006/relationships/image" Target="../media/image22.png"/><Relationship Id="rId9" Type="http://schemas.openxmlformats.org/officeDocument/2006/relationships/image" Target="../media/image424.png"/><Relationship Id="rId14" Type="http://schemas.openxmlformats.org/officeDocument/2006/relationships/image" Target="../media/image429.png"/><Relationship Id="rId22" Type="http://schemas.openxmlformats.org/officeDocument/2006/relationships/image" Target="../media/image437.png"/><Relationship Id="rId27" Type="http://schemas.openxmlformats.org/officeDocument/2006/relationships/image" Target="../media/image442.png"/><Relationship Id="rId30" Type="http://schemas.openxmlformats.org/officeDocument/2006/relationships/image" Target="../media/image445.png"/><Relationship Id="rId35" Type="http://schemas.openxmlformats.org/officeDocument/2006/relationships/image" Target="../media/image450.png"/></Relationships>
</file>

<file path=ppt/slides/_rels/slide2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1.png"/><Relationship Id="rId13" Type="http://schemas.openxmlformats.org/officeDocument/2006/relationships/image" Target="../media/image452.png"/><Relationship Id="rId18" Type="http://schemas.openxmlformats.org/officeDocument/2006/relationships/image" Target="../media/image454.png"/><Relationship Id="rId26" Type="http://schemas.openxmlformats.org/officeDocument/2006/relationships/image" Target="../media/image460.png"/><Relationship Id="rId39" Type="http://schemas.openxmlformats.org/officeDocument/2006/relationships/image" Target="../media/image466.png"/><Relationship Id="rId3" Type="http://schemas.openxmlformats.org/officeDocument/2006/relationships/image" Target="../media/image1.png"/><Relationship Id="rId21" Type="http://schemas.openxmlformats.org/officeDocument/2006/relationships/image" Target="../media/image457.png"/><Relationship Id="rId34" Type="http://schemas.openxmlformats.org/officeDocument/2006/relationships/image" Target="../media/image425.png"/><Relationship Id="rId7" Type="http://schemas.openxmlformats.org/officeDocument/2006/relationships/image" Target="../media/image430.png"/><Relationship Id="rId12" Type="http://schemas.openxmlformats.org/officeDocument/2006/relationships/image" Target="../media/image445.png"/><Relationship Id="rId17" Type="http://schemas.openxmlformats.org/officeDocument/2006/relationships/image" Target="../media/image453.png"/><Relationship Id="rId25" Type="http://schemas.openxmlformats.org/officeDocument/2006/relationships/image" Target="../media/image459.png"/><Relationship Id="rId33" Type="http://schemas.openxmlformats.org/officeDocument/2006/relationships/image" Target="../media/image424.png"/><Relationship Id="rId38" Type="http://schemas.openxmlformats.org/officeDocument/2006/relationships/image" Target="../media/image465.png"/><Relationship Id="rId2" Type="http://schemas.openxmlformats.org/officeDocument/2006/relationships/image" Target="../media/image30.png"/><Relationship Id="rId16" Type="http://schemas.openxmlformats.org/officeDocument/2006/relationships/image" Target="../media/image439.png"/><Relationship Id="rId20" Type="http://schemas.openxmlformats.org/officeDocument/2006/relationships/image" Target="../media/image456.png"/><Relationship Id="rId29" Type="http://schemas.openxmlformats.org/officeDocument/2006/relationships/image" Target="../media/image4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40.png"/><Relationship Id="rId24" Type="http://schemas.openxmlformats.org/officeDocument/2006/relationships/image" Target="../media/image458.png"/><Relationship Id="rId32" Type="http://schemas.openxmlformats.org/officeDocument/2006/relationships/image" Target="../media/image423.png"/><Relationship Id="rId37" Type="http://schemas.openxmlformats.org/officeDocument/2006/relationships/image" Target="../media/image442.png"/><Relationship Id="rId40" Type="http://schemas.openxmlformats.org/officeDocument/2006/relationships/image" Target="../media/image467.png"/><Relationship Id="rId5" Type="http://schemas.openxmlformats.org/officeDocument/2006/relationships/image" Target="../media/image395.png"/><Relationship Id="rId15" Type="http://schemas.openxmlformats.org/officeDocument/2006/relationships/image" Target="../media/image438.png"/><Relationship Id="rId23" Type="http://schemas.openxmlformats.org/officeDocument/2006/relationships/image" Target="../media/image429.png"/><Relationship Id="rId28" Type="http://schemas.openxmlformats.org/officeDocument/2006/relationships/image" Target="../media/image447.png"/><Relationship Id="rId36" Type="http://schemas.openxmlformats.org/officeDocument/2006/relationships/image" Target="../media/image427.png"/><Relationship Id="rId10" Type="http://schemas.openxmlformats.org/officeDocument/2006/relationships/image" Target="../media/image433.png"/><Relationship Id="rId19" Type="http://schemas.openxmlformats.org/officeDocument/2006/relationships/image" Target="../media/image455.png"/><Relationship Id="rId31" Type="http://schemas.openxmlformats.org/officeDocument/2006/relationships/image" Target="../media/image422.png"/><Relationship Id="rId4" Type="http://schemas.openxmlformats.org/officeDocument/2006/relationships/image" Target="../media/image22.png"/><Relationship Id="rId9" Type="http://schemas.openxmlformats.org/officeDocument/2006/relationships/image" Target="../media/image432.png"/><Relationship Id="rId14" Type="http://schemas.openxmlformats.org/officeDocument/2006/relationships/image" Target="../media/image437.png"/><Relationship Id="rId22" Type="http://schemas.openxmlformats.org/officeDocument/2006/relationships/image" Target="../media/image428.png"/><Relationship Id="rId27" Type="http://schemas.openxmlformats.org/officeDocument/2006/relationships/image" Target="../media/image461.png"/><Relationship Id="rId30" Type="http://schemas.openxmlformats.org/officeDocument/2006/relationships/image" Target="../media/image463.png"/><Relationship Id="rId35" Type="http://schemas.openxmlformats.org/officeDocument/2006/relationships/image" Target="../media/image464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jpg"/><Relationship Id="rId3" Type="http://schemas.openxmlformats.org/officeDocument/2006/relationships/image" Target="../media/image1.png"/><Relationship Id="rId7" Type="http://schemas.openxmlformats.org/officeDocument/2006/relationships/image" Target="../media/image468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10" Type="http://schemas.openxmlformats.org/officeDocument/2006/relationships/image" Target="../media/image471.png"/><Relationship Id="rId4" Type="http://schemas.openxmlformats.org/officeDocument/2006/relationships/image" Target="../media/image22.png"/><Relationship Id="rId9" Type="http://schemas.openxmlformats.org/officeDocument/2006/relationships/image" Target="../media/image47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2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4.jp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95.png"/><Relationship Id="rId4" Type="http://schemas.openxmlformats.org/officeDocument/2006/relationships/image" Target="../media/image22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png"/><Relationship Id="rId2" Type="http://schemas.openxmlformats.org/officeDocument/2006/relationships/image" Target="../media/image47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484" y="2186884"/>
            <a:ext cx="7415131" cy="30321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5051" y="111250"/>
            <a:ext cx="9070975" cy="6632575"/>
            <a:chOff x="35051" y="111250"/>
            <a:chExt cx="9070975" cy="66325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218" y="597661"/>
              <a:ext cx="8178800" cy="787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838212"/>
              <a:ext cx="2219706" cy="3238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8940" y="975360"/>
              <a:ext cx="242316" cy="532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07080" y="768108"/>
              <a:ext cx="5182616" cy="3929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1" y="111250"/>
              <a:ext cx="9070848" cy="66324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3162" y="229362"/>
              <a:ext cx="8839200" cy="6400800"/>
            </a:xfrm>
            <a:custGeom>
              <a:avLst/>
              <a:gdLst/>
              <a:ahLst/>
              <a:cxnLst/>
              <a:rect l="l" t="t" r="r" b="b"/>
              <a:pathLst>
                <a:path w="8839200" h="6400800">
                  <a:moveTo>
                    <a:pt x="0" y="1066800"/>
                  </a:moveTo>
                  <a:lnTo>
                    <a:pt x="1097" y="1017969"/>
                  </a:lnTo>
                  <a:lnTo>
                    <a:pt x="4359" y="969703"/>
                  </a:lnTo>
                  <a:lnTo>
                    <a:pt x="9738" y="922046"/>
                  </a:lnTo>
                  <a:lnTo>
                    <a:pt x="17187" y="875047"/>
                  </a:lnTo>
                  <a:lnTo>
                    <a:pt x="26660" y="828753"/>
                  </a:lnTo>
                  <a:lnTo>
                    <a:pt x="38108" y="783210"/>
                  </a:lnTo>
                  <a:lnTo>
                    <a:pt x="51484" y="738466"/>
                  </a:lnTo>
                  <a:lnTo>
                    <a:pt x="66743" y="694568"/>
                  </a:lnTo>
                  <a:lnTo>
                    <a:pt x="83836" y="651563"/>
                  </a:lnTo>
                  <a:lnTo>
                    <a:pt x="102717" y="609498"/>
                  </a:lnTo>
                  <a:lnTo>
                    <a:pt x="123338" y="568420"/>
                  </a:lnTo>
                  <a:lnTo>
                    <a:pt x="145653" y="528376"/>
                  </a:lnTo>
                  <a:lnTo>
                    <a:pt x="169613" y="489413"/>
                  </a:lnTo>
                  <a:lnTo>
                    <a:pt x="195174" y="451579"/>
                  </a:lnTo>
                  <a:lnTo>
                    <a:pt x="222286" y="414920"/>
                  </a:lnTo>
                  <a:lnTo>
                    <a:pt x="250904" y="379484"/>
                  </a:lnTo>
                  <a:lnTo>
                    <a:pt x="280979" y="345317"/>
                  </a:lnTo>
                  <a:lnTo>
                    <a:pt x="312466" y="312467"/>
                  </a:lnTo>
                  <a:lnTo>
                    <a:pt x="345316" y="280981"/>
                  </a:lnTo>
                  <a:lnTo>
                    <a:pt x="379483" y="250906"/>
                  </a:lnTo>
                  <a:lnTo>
                    <a:pt x="414920" y="222288"/>
                  </a:lnTo>
                  <a:lnTo>
                    <a:pt x="451579" y="195176"/>
                  </a:lnTo>
                  <a:lnTo>
                    <a:pt x="489414" y="169615"/>
                  </a:lnTo>
                  <a:lnTo>
                    <a:pt x="528378" y="145654"/>
                  </a:lnTo>
                  <a:lnTo>
                    <a:pt x="568423" y="123340"/>
                  </a:lnTo>
                  <a:lnTo>
                    <a:pt x="609502" y="102718"/>
                  </a:lnTo>
                  <a:lnTo>
                    <a:pt x="651568" y="83837"/>
                  </a:lnTo>
                  <a:lnTo>
                    <a:pt x="694575" y="66744"/>
                  </a:lnTo>
                  <a:lnTo>
                    <a:pt x="738475" y="51485"/>
                  </a:lnTo>
                  <a:lnTo>
                    <a:pt x="783221" y="38108"/>
                  </a:lnTo>
                  <a:lnTo>
                    <a:pt x="828765" y="26660"/>
                  </a:lnTo>
                  <a:lnTo>
                    <a:pt x="875062" y="17188"/>
                  </a:lnTo>
                  <a:lnTo>
                    <a:pt x="922063" y="9739"/>
                  </a:lnTo>
                  <a:lnTo>
                    <a:pt x="969722" y="4359"/>
                  </a:lnTo>
                  <a:lnTo>
                    <a:pt x="1017992" y="1097"/>
                  </a:lnTo>
                  <a:lnTo>
                    <a:pt x="1066825" y="0"/>
                  </a:lnTo>
                  <a:lnTo>
                    <a:pt x="7772400" y="0"/>
                  </a:lnTo>
                  <a:lnTo>
                    <a:pt x="7821230" y="1097"/>
                  </a:lnTo>
                  <a:lnTo>
                    <a:pt x="7869496" y="4359"/>
                  </a:lnTo>
                  <a:lnTo>
                    <a:pt x="7917153" y="9739"/>
                  </a:lnTo>
                  <a:lnTo>
                    <a:pt x="7964152" y="17188"/>
                  </a:lnTo>
                  <a:lnTo>
                    <a:pt x="8010446" y="26660"/>
                  </a:lnTo>
                  <a:lnTo>
                    <a:pt x="8055989" y="38108"/>
                  </a:lnTo>
                  <a:lnTo>
                    <a:pt x="8100733" y="51485"/>
                  </a:lnTo>
                  <a:lnTo>
                    <a:pt x="8144631" y="66744"/>
                  </a:lnTo>
                  <a:lnTo>
                    <a:pt x="8187636" y="83837"/>
                  </a:lnTo>
                  <a:lnTo>
                    <a:pt x="8229701" y="102718"/>
                  </a:lnTo>
                  <a:lnTo>
                    <a:pt x="8270779" y="123340"/>
                  </a:lnTo>
                  <a:lnTo>
                    <a:pt x="8310823" y="145654"/>
                  </a:lnTo>
                  <a:lnTo>
                    <a:pt x="8349786" y="169615"/>
                  </a:lnTo>
                  <a:lnTo>
                    <a:pt x="8387620" y="195176"/>
                  </a:lnTo>
                  <a:lnTo>
                    <a:pt x="8424279" y="222288"/>
                  </a:lnTo>
                  <a:lnTo>
                    <a:pt x="8459715" y="250906"/>
                  </a:lnTo>
                  <a:lnTo>
                    <a:pt x="8493882" y="280981"/>
                  </a:lnTo>
                  <a:lnTo>
                    <a:pt x="8526732" y="312467"/>
                  </a:lnTo>
                  <a:lnTo>
                    <a:pt x="8558218" y="345317"/>
                  </a:lnTo>
                  <a:lnTo>
                    <a:pt x="8588293" y="379484"/>
                  </a:lnTo>
                  <a:lnTo>
                    <a:pt x="8616911" y="414920"/>
                  </a:lnTo>
                  <a:lnTo>
                    <a:pt x="8644023" y="451579"/>
                  </a:lnTo>
                  <a:lnTo>
                    <a:pt x="8669584" y="489413"/>
                  </a:lnTo>
                  <a:lnTo>
                    <a:pt x="8693545" y="528376"/>
                  </a:lnTo>
                  <a:lnTo>
                    <a:pt x="8715859" y="568420"/>
                  </a:lnTo>
                  <a:lnTo>
                    <a:pt x="8736481" y="609498"/>
                  </a:lnTo>
                  <a:lnTo>
                    <a:pt x="8755362" y="651563"/>
                  </a:lnTo>
                  <a:lnTo>
                    <a:pt x="8772455" y="694568"/>
                  </a:lnTo>
                  <a:lnTo>
                    <a:pt x="8787714" y="738466"/>
                  </a:lnTo>
                  <a:lnTo>
                    <a:pt x="8801091" y="783210"/>
                  </a:lnTo>
                  <a:lnTo>
                    <a:pt x="8812539" y="828753"/>
                  </a:lnTo>
                  <a:lnTo>
                    <a:pt x="8822011" y="875047"/>
                  </a:lnTo>
                  <a:lnTo>
                    <a:pt x="8829460" y="922046"/>
                  </a:lnTo>
                  <a:lnTo>
                    <a:pt x="8834840" y="969703"/>
                  </a:lnTo>
                  <a:lnTo>
                    <a:pt x="8838102" y="1017969"/>
                  </a:lnTo>
                  <a:lnTo>
                    <a:pt x="8839200" y="1066800"/>
                  </a:lnTo>
                  <a:lnTo>
                    <a:pt x="8839200" y="5334000"/>
                  </a:lnTo>
                  <a:lnTo>
                    <a:pt x="8838102" y="5382831"/>
                  </a:lnTo>
                  <a:lnTo>
                    <a:pt x="8834840" y="5431098"/>
                  </a:lnTo>
                  <a:lnTo>
                    <a:pt x="8829460" y="5478755"/>
                  </a:lnTo>
                  <a:lnTo>
                    <a:pt x="8822011" y="5525755"/>
                  </a:lnTo>
                  <a:lnTo>
                    <a:pt x="8812539" y="5572050"/>
                  </a:lnTo>
                  <a:lnTo>
                    <a:pt x="8801091" y="5617593"/>
                  </a:lnTo>
                  <a:lnTo>
                    <a:pt x="8787714" y="5662337"/>
                  </a:lnTo>
                  <a:lnTo>
                    <a:pt x="8772455" y="5706236"/>
                  </a:lnTo>
                  <a:lnTo>
                    <a:pt x="8755362" y="5749241"/>
                  </a:lnTo>
                  <a:lnTo>
                    <a:pt x="8736481" y="5791307"/>
                  </a:lnTo>
                  <a:lnTo>
                    <a:pt x="8715859" y="5832385"/>
                  </a:lnTo>
                  <a:lnTo>
                    <a:pt x="8693545" y="5872429"/>
                  </a:lnTo>
                  <a:lnTo>
                    <a:pt x="8669584" y="5911391"/>
                  </a:lnTo>
                  <a:lnTo>
                    <a:pt x="8644023" y="5949226"/>
                  </a:lnTo>
                  <a:lnTo>
                    <a:pt x="8616911" y="5985884"/>
                  </a:lnTo>
                  <a:lnTo>
                    <a:pt x="8588293" y="6021320"/>
                  </a:lnTo>
                  <a:lnTo>
                    <a:pt x="8558218" y="6055487"/>
                  </a:lnTo>
                  <a:lnTo>
                    <a:pt x="8526732" y="6088337"/>
                  </a:lnTo>
                  <a:lnTo>
                    <a:pt x="8493882" y="6119823"/>
                  </a:lnTo>
                  <a:lnTo>
                    <a:pt x="8459715" y="6149898"/>
                  </a:lnTo>
                  <a:lnTo>
                    <a:pt x="8424279" y="6178515"/>
                  </a:lnTo>
                  <a:lnTo>
                    <a:pt x="8387620" y="6205627"/>
                  </a:lnTo>
                  <a:lnTo>
                    <a:pt x="8349786" y="6231187"/>
                  </a:lnTo>
                  <a:lnTo>
                    <a:pt x="8310823" y="6255147"/>
                  </a:lnTo>
                  <a:lnTo>
                    <a:pt x="8270779" y="6277462"/>
                  </a:lnTo>
                  <a:lnTo>
                    <a:pt x="8229701" y="6298083"/>
                  </a:lnTo>
                  <a:lnTo>
                    <a:pt x="8187636" y="6316963"/>
                  </a:lnTo>
                  <a:lnTo>
                    <a:pt x="8144631" y="6334056"/>
                  </a:lnTo>
                  <a:lnTo>
                    <a:pt x="8100733" y="6349315"/>
                  </a:lnTo>
                  <a:lnTo>
                    <a:pt x="8055989" y="6362692"/>
                  </a:lnTo>
                  <a:lnTo>
                    <a:pt x="8010446" y="6374139"/>
                  </a:lnTo>
                  <a:lnTo>
                    <a:pt x="7964152" y="6383612"/>
                  </a:lnTo>
                  <a:lnTo>
                    <a:pt x="7917153" y="6391061"/>
                  </a:lnTo>
                  <a:lnTo>
                    <a:pt x="7869496" y="6396440"/>
                  </a:lnTo>
                  <a:lnTo>
                    <a:pt x="7821230" y="6399702"/>
                  </a:lnTo>
                  <a:lnTo>
                    <a:pt x="7772400" y="6400800"/>
                  </a:lnTo>
                  <a:lnTo>
                    <a:pt x="1066825" y="6400800"/>
                  </a:lnTo>
                  <a:lnTo>
                    <a:pt x="1017992" y="6399702"/>
                  </a:lnTo>
                  <a:lnTo>
                    <a:pt x="969722" y="6396440"/>
                  </a:lnTo>
                  <a:lnTo>
                    <a:pt x="922063" y="6391061"/>
                  </a:lnTo>
                  <a:lnTo>
                    <a:pt x="875062" y="6383612"/>
                  </a:lnTo>
                  <a:lnTo>
                    <a:pt x="828765" y="6374139"/>
                  </a:lnTo>
                  <a:lnTo>
                    <a:pt x="783221" y="6362692"/>
                  </a:lnTo>
                  <a:lnTo>
                    <a:pt x="738475" y="6349315"/>
                  </a:lnTo>
                  <a:lnTo>
                    <a:pt x="694575" y="6334056"/>
                  </a:lnTo>
                  <a:lnTo>
                    <a:pt x="651568" y="6316963"/>
                  </a:lnTo>
                  <a:lnTo>
                    <a:pt x="609502" y="6298083"/>
                  </a:lnTo>
                  <a:lnTo>
                    <a:pt x="568423" y="6277462"/>
                  </a:lnTo>
                  <a:lnTo>
                    <a:pt x="528378" y="6255147"/>
                  </a:lnTo>
                  <a:lnTo>
                    <a:pt x="489414" y="6231187"/>
                  </a:lnTo>
                  <a:lnTo>
                    <a:pt x="451579" y="6205627"/>
                  </a:lnTo>
                  <a:lnTo>
                    <a:pt x="414920" y="6178515"/>
                  </a:lnTo>
                  <a:lnTo>
                    <a:pt x="379483" y="6149898"/>
                  </a:lnTo>
                  <a:lnTo>
                    <a:pt x="345316" y="6119823"/>
                  </a:lnTo>
                  <a:lnTo>
                    <a:pt x="312466" y="6088337"/>
                  </a:lnTo>
                  <a:lnTo>
                    <a:pt x="280979" y="6055487"/>
                  </a:lnTo>
                  <a:lnTo>
                    <a:pt x="250904" y="6021320"/>
                  </a:lnTo>
                  <a:lnTo>
                    <a:pt x="222286" y="5985884"/>
                  </a:lnTo>
                  <a:lnTo>
                    <a:pt x="195174" y="5949226"/>
                  </a:lnTo>
                  <a:lnTo>
                    <a:pt x="169613" y="5911391"/>
                  </a:lnTo>
                  <a:lnTo>
                    <a:pt x="145653" y="5872429"/>
                  </a:lnTo>
                  <a:lnTo>
                    <a:pt x="123338" y="5832385"/>
                  </a:lnTo>
                  <a:lnTo>
                    <a:pt x="102717" y="5791307"/>
                  </a:lnTo>
                  <a:lnTo>
                    <a:pt x="83836" y="5749241"/>
                  </a:lnTo>
                  <a:lnTo>
                    <a:pt x="66743" y="5706236"/>
                  </a:lnTo>
                  <a:lnTo>
                    <a:pt x="51484" y="5662337"/>
                  </a:lnTo>
                  <a:lnTo>
                    <a:pt x="38108" y="5617593"/>
                  </a:lnTo>
                  <a:lnTo>
                    <a:pt x="26660" y="5572050"/>
                  </a:lnTo>
                  <a:lnTo>
                    <a:pt x="17187" y="5525755"/>
                  </a:lnTo>
                  <a:lnTo>
                    <a:pt x="9738" y="5478755"/>
                  </a:lnTo>
                  <a:lnTo>
                    <a:pt x="4359" y="5431098"/>
                  </a:lnTo>
                  <a:lnTo>
                    <a:pt x="1097" y="5382831"/>
                  </a:lnTo>
                  <a:lnTo>
                    <a:pt x="0" y="5334000"/>
                  </a:lnTo>
                  <a:lnTo>
                    <a:pt x="0" y="10668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9436" y="905636"/>
            <a:ext cx="7700009" cy="95250"/>
            <a:chOff x="829436" y="905636"/>
            <a:chExt cx="7700009" cy="95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961" y="915170"/>
              <a:ext cx="7680959" cy="7618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8961" y="915161"/>
              <a:ext cx="7680959" cy="76200"/>
            </a:xfrm>
            <a:custGeom>
              <a:avLst/>
              <a:gdLst/>
              <a:ahLst/>
              <a:cxnLst/>
              <a:rect l="l" t="t" r="r" b="b"/>
              <a:pathLst>
                <a:path w="7680959" h="76200">
                  <a:moveTo>
                    <a:pt x="0" y="38100"/>
                  </a:moveTo>
                  <a:lnTo>
                    <a:pt x="42730" y="32388"/>
                  </a:lnTo>
                  <a:lnTo>
                    <a:pt x="86304" y="30018"/>
                  </a:lnTo>
                  <a:lnTo>
                    <a:pt x="144332" y="27703"/>
                  </a:lnTo>
                  <a:lnTo>
                    <a:pt x="190807" y="26191"/>
                  </a:lnTo>
                  <a:lnTo>
                    <a:pt x="243346" y="24707"/>
                  </a:lnTo>
                  <a:lnTo>
                    <a:pt x="301805" y="23252"/>
                  </a:lnTo>
                  <a:lnTo>
                    <a:pt x="366039" y="21828"/>
                  </a:lnTo>
                  <a:lnTo>
                    <a:pt x="435905" y="20435"/>
                  </a:lnTo>
                  <a:lnTo>
                    <a:pt x="511258" y="19075"/>
                  </a:lnTo>
                  <a:lnTo>
                    <a:pt x="550947" y="18408"/>
                  </a:lnTo>
                  <a:lnTo>
                    <a:pt x="591954" y="17750"/>
                  </a:lnTo>
                  <a:lnTo>
                    <a:pt x="634261" y="17101"/>
                  </a:lnTo>
                  <a:lnTo>
                    <a:pt x="677850" y="16461"/>
                  </a:lnTo>
                  <a:lnTo>
                    <a:pt x="722702" y="15830"/>
                  </a:lnTo>
                  <a:lnTo>
                    <a:pt x="768800" y="15209"/>
                  </a:lnTo>
                  <a:lnTo>
                    <a:pt x="816126" y="14598"/>
                  </a:lnTo>
                  <a:lnTo>
                    <a:pt x="864661" y="13997"/>
                  </a:lnTo>
                  <a:lnTo>
                    <a:pt x="914389" y="13405"/>
                  </a:lnTo>
                  <a:lnTo>
                    <a:pt x="965290" y="12824"/>
                  </a:lnTo>
                  <a:lnTo>
                    <a:pt x="1017346" y="12253"/>
                  </a:lnTo>
                  <a:lnTo>
                    <a:pt x="1070540" y="11693"/>
                  </a:lnTo>
                  <a:lnTo>
                    <a:pt x="1124854" y="11144"/>
                  </a:lnTo>
                  <a:lnTo>
                    <a:pt x="1180270" y="10605"/>
                  </a:lnTo>
                  <a:lnTo>
                    <a:pt x="1236769" y="10078"/>
                  </a:lnTo>
                  <a:lnTo>
                    <a:pt x="1294334" y="9562"/>
                  </a:lnTo>
                  <a:lnTo>
                    <a:pt x="1352946" y="9058"/>
                  </a:lnTo>
                  <a:lnTo>
                    <a:pt x="1412588" y="8565"/>
                  </a:lnTo>
                  <a:lnTo>
                    <a:pt x="1473242" y="8084"/>
                  </a:lnTo>
                  <a:lnTo>
                    <a:pt x="1534889" y="7615"/>
                  </a:lnTo>
                  <a:lnTo>
                    <a:pt x="1597512" y="7158"/>
                  </a:lnTo>
                  <a:lnTo>
                    <a:pt x="1661092" y="6713"/>
                  </a:lnTo>
                  <a:lnTo>
                    <a:pt x="1725612" y="6281"/>
                  </a:lnTo>
                  <a:lnTo>
                    <a:pt x="1791053" y="5862"/>
                  </a:lnTo>
                  <a:lnTo>
                    <a:pt x="1857398" y="5456"/>
                  </a:lnTo>
                  <a:lnTo>
                    <a:pt x="1924628" y="5063"/>
                  </a:lnTo>
                  <a:lnTo>
                    <a:pt x="1992726" y="4683"/>
                  </a:lnTo>
                  <a:lnTo>
                    <a:pt x="2061673" y="4316"/>
                  </a:lnTo>
                  <a:lnTo>
                    <a:pt x="2131452" y="3963"/>
                  </a:lnTo>
                  <a:lnTo>
                    <a:pt x="2202044" y="3624"/>
                  </a:lnTo>
                  <a:lnTo>
                    <a:pt x="2273431" y="3299"/>
                  </a:lnTo>
                  <a:lnTo>
                    <a:pt x="2345596" y="2988"/>
                  </a:lnTo>
                  <a:lnTo>
                    <a:pt x="2418521" y="2691"/>
                  </a:lnTo>
                  <a:lnTo>
                    <a:pt x="2492186" y="2409"/>
                  </a:lnTo>
                  <a:lnTo>
                    <a:pt x="2566575" y="2141"/>
                  </a:lnTo>
                  <a:lnTo>
                    <a:pt x="2641670" y="1889"/>
                  </a:lnTo>
                  <a:lnTo>
                    <a:pt x="2717451" y="1651"/>
                  </a:lnTo>
                  <a:lnTo>
                    <a:pt x="2793902" y="1428"/>
                  </a:lnTo>
                  <a:lnTo>
                    <a:pt x="2871005" y="1221"/>
                  </a:lnTo>
                  <a:lnTo>
                    <a:pt x="2948741" y="1030"/>
                  </a:lnTo>
                  <a:lnTo>
                    <a:pt x="3027092" y="854"/>
                  </a:lnTo>
                  <a:lnTo>
                    <a:pt x="3106040" y="694"/>
                  </a:lnTo>
                  <a:lnTo>
                    <a:pt x="3185567" y="550"/>
                  </a:lnTo>
                  <a:lnTo>
                    <a:pt x="3265656" y="422"/>
                  </a:lnTo>
                  <a:lnTo>
                    <a:pt x="3346288" y="311"/>
                  </a:lnTo>
                  <a:lnTo>
                    <a:pt x="3427445" y="217"/>
                  </a:lnTo>
                  <a:lnTo>
                    <a:pt x="3509110" y="139"/>
                  </a:lnTo>
                  <a:lnTo>
                    <a:pt x="3591263" y="78"/>
                  </a:lnTo>
                  <a:lnTo>
                    <a:pt x="3673888" y="35"/>
                  </a:lnTo>
                  <a:lnTo>
                    <a:pt x="3756966" y="8"/>
                  </a:lnTo>
                  <a:lnTo>
                    <a:pt x="3840479" y="0"/>
                  </a:lnTo>
                  <a:lnTo>
                    <a:pt x="3923993" y="8"/>
                  </a:lnTo>
                  <a:lnTo>
                    <a:pt x="4007071" y="35"/>
                  </a:lnTo>
                  <a:lnTo>
                    <a:pt x="4089696" y="78"/>
                  </a:lnTo>
                  <a:lnTo>
                    <a:pt x="4171849" y="139"/>
                  </a:lnTo>
                  <a:lnTo>
                    <a:pt x="4253514" y="217"/>
                  </a:lnTo>
                  <a:lnTo>
                    <a:pt x="4334671" y="311"/>
                  </a:lnTo>
                  <a:lnTo>
                    <a:pt x="4415303" y="422"/>
                  </a:lnTo>
                  <a:lnTo>
                    <a:pt x="4495392" y="550"/>
                  </a:lnTo>
                  <a:lnTo>
                    <a:pt x="4574919" y="694"/>
                  </a:lnTo>
                  <a:lnTo>
                    <a:pt x="4653867" y="854"/>
                  </a:lnTo>
                  <a:lnTo>
                    <a:pt x="4732218" y="1030"/>
                  </a:lnTo>
                  <a:lnTo>
                    <a:pt x="4809954" y="1221"/>
                  </a:lnTo>
                  <a:lnTo>
                    <a:pt x="4887057" y="1428"/>
                  </a:lnTo>
                  <a:lnTo>
                    <a:pt x="4963508" y="1651"/>
                  </a:lnTo>
                  <a:lnTo>
                    <a:pt x="5039289" y="1889"/>
                  </a:lnTo>
                  <a:lnTo>
                    <a:pt x="5114384" y="2141"/>
                  </a:lnTo>
                  <a:lnTo>
                    <a:pt x="5188773" y="2409"/>
                  </a:lnTo>
                  <a:lnTo>
                    <a:pt x="5262438" y="2691"/>
                  </a:lnTo>
                  <a:lnTo>
                    <a:pt x="5335363" y="2988"/>
                  </a:lnTo>
                  <a:lnTo>
                    <a:pt x="5407528" y="3299"/>
                  </a:lnTo>
                  <a:lnTo>
                    <a:pt x="5478915" y="3624"/>
                  </a:lnTo>
                  <a:lnTo>
                    <a:pt x="5549507" y="3963"/>
                  </a:lnTo>
                  <a:lnTo>
                    <a:pt x="5619286" y="4316"/>
                  </a:lnTo>
                  <a:lnTo>
                    <a:pt x="5688233" y="4683"/>
                  </a:lnTo>
                  <a:lnTo>
                    <a:pt x="5756331" y="5063"/>
                  </a:lnTo>
                  <a:lnTo>
                    <a:pt x="5823561" y="5456"/>
                  </a:lnTo>
                  <a:lnTo>
                    <a:pt x="5889906" y="5862"/>
                  </a:lnTo>
                  <a:lnTo>
                    <a:pt x="5955347" y="6281"/>
                  </a:lnTo>
                  <a:lnTo>
                    <a:pt x="6019867" y="6713"/>
                  </a:lnTo>
                  <a:lnTo>
                    <a:pt x="6083447" y="7158"/>
                  </a:lnTo>
                  <a:lnTo>
                    <a:pt x="6146070" y="7615"/>
                  </a:lnTo>
                  <a:lnTo>
                    <a:pt x="6207717" y="8084"/>
                  </a:lnTo>
                  <a:lnTo>
                    <a:pt x="6268371" y="8565"/>
                  </a:lnTo>
                  <a:lnTo>
                    <a:pt x="6328013" y="9058"/>
                  </a:lnTo>
                  <a:lnTo>
                    <a:pt x="6386625" y="9562"/>
                  </a:lnTo>
                  <a:lnTo>
                    <a:pt x="6444190" y="10078"/>
                  </a:lnTo>
                  <a:lnTo>
                    <a:pt x="6500689" y="10605"/>
                  </a:lnTo>
                  <a:lnTo>
                    <a:pt x="6556105" y="11144"/>
                  </a:lnTo>
                  <a:lnTo>
                    <a:pt x="6610419" y="11693"/>
                  </a:lnTo>
                  <a:lnTo>
                    <a:pt x="6663613" y="12253"/>
                  </a:lnTo>
                  <a:lnTo>
                    <a:pt x="6715669" y="12824"/>
                  </a:lnTo>
                  <a:lnTo>
                    <a:pt x="6766570" y="13405"/>
                  </a:lnTo>
                  <a:lnTo>
                    <a:pt x="6816298" y="13997"/>
                  </a:lnTo>
                  <a:lnTo>
                    <a:pt x="6864833" y="14598"/>
                  </a:lnTo>
                  <a:lnTo>
                    <a:pt x="6912159" y="15209"/>
                  </a:lnTo>
                  <a:lnTo>
                    <a:pt x="6958257" y="15830"/>
                  </a:lnTo>
                  <a:lnTo>
                    <a:pt x="7003109" y="16461"/>
                  </a:lnTo>
                  <a:lnTo>
                    <a:pt x="7046698" y="17101"/>
                  </a:lnTo>
                  <a:lnTo>
                    <a:pt x="7089005" y="17750"/>
                  </a:lnTo>
                  <a:lnTo>
                    <a:pt x="7130012" y="18408"/>
                  </a:lnTo>
                  <a:lnTo>
                    <a:pt x="7169701" y="19075"/>
                  </a:lnTo>
                  <a:lnTo>
                    <a:pt x="7208054" y="19751"/>
                  </a:lnTo>
                  <a:lnTo>
                    <a:pt x="7280682" y="21127"/>
                  </a:lnTo>
                  <a:lnTo>
                    <a:pt x="7347750" y="22536"/>
                  </a:lnTo>
                  <a:lnTo>
                    <a:pt x="7409114" y="23976"/>
                  </a:lnTo>
                  <a:lnTo>
                    <a:pt x="7464631" y="25446"/>
                  </a:lnTo>
                  <a:lnTo>
                    <a:pt x="7514156" y="26944"/>
                  </a:lnTo>
                  <a:lnTo>
                    <a:pt x="7557545" y="28468"/>
                  </a:lnTo>
                  <a:lnTo>
                    <a:pt x="7610810" y="30802"/>
                  </a:lnTo>
                  <a:lnTo>
                    <a:pt x="7649458" y="33189"/>
                  </a:lnTo>
                  <a:lnTo>
                    <a:pt x="7680959" y="38100"/>
                  </a:lnTo>
                  <a:lnTo>
                    <a:pt x="7680069" y="38930"/>
                  </a:lnTo>
                  <a:lnTo>
                    <a:pt x="7638229" y="43811"/>
                  </a:lnTo>
                  <a:lnTo>
                    <a:pt x="7594655" y="46181"/>
                  </a:lnTo>
                  <a:lnTo>
                    <a:pt x="7536627" y="48496"/>
                  </a:lnTo>
                  <a:lnTo>
                    <a:pt x="7490152" y="50008"/>
                  </a:lnTo>
                  <a:lnTo>
                    <a:pt x="7437613" y="51492"/>
                  </a:lnTo>
                  <a:lnTo>
                    <a:pt x="7379154" y="52947"/>
                  </a:lnTo>
                  <a:lnTo>
                    <a:pt x="7314920" y="54371"/>
                  </a:lnTo>
                  <a:lnTo>
                    <a:pt x="7245054" y="55764"/>
                  </a:lnTo>
                  <a:lnTo>
                    <a:pt x="7169701" y="57124"/>
                  </a:lnTo>
                  <a:lnTo>
                    <a:pt x="7130012" y="57791"/>
                  </a:lnTo>
                  <a:lnTo>
                    <a:pt x="7089005" y="58449"/>
                  </a:lnTo>
                  <a:lnTo>
                    <a:pt x="7046698" y="59098"/>
                  </a:lnTo>
                  <a:lnTo>
                    <a:pt x="7003109" y="59738"/>
                  </a:lnTo>
                  <a:lnTo>
                    <a:pt x="6958257" y="60369"/>
                  </a:lnTo>
                  <a:lnTo>
                    <a:pt x="6912159" y="60990"/>
                  </a:lnTo>
                  <a:lnTo>
                    <a:pt x="6864833" y="61601"/>
                  </a:lnTo>
                  <a:lnTo>
                    <a:pt x="6816298" y="62202"/>
                  </a:lnTo>
                  <a:lnTo>
                    <a:pt x="6766570" y="62794"/>
                  </a:lnTo>
                  <a:lnTo>
                    <a:pt x="6715669" y="63375"/>
                  </a:lnTo>
                  <a:lnTo>
                    <a:pt x="6663613" y="63946"/>
                  </a:lnTo>
                  <a:lnTo>
                    <a:pt x="6610419" y="64506"/>
                  </a:lnTo>
                  <a:lnTo>
                    <a:pt x="6556105" y="65055"/>
                  </a:lnTo>
                  <a:lnTo>
                    <a:pt x="6500689" y="65594"/>
                  </a:lnTo>
                  <a:lnTo>
                    <a:pt x="6444190" y="66121"/>
                  </a:lnTo>
                  <a:lnTo>
                    <a:pt x="6386625" y="66637"/>
                  </a:lnTo>
                  <a:lnTo>
                    <a:pt x="6328013" y="67141"/>
                  </a:lnTo>
                  <a:lnTo>
                    <a:pt x="6268371" y="67634"/>
                  </a:lnTo>
                  <a:lnTo>
                    <a:pt x="6207717" y="68115"/>
                  </a:lnTo>
                  <a:lnTo>
                    <a:pt x="6146070" y="68584"/>
                  </a:lnTo>
                  <a:lnTo>
                    <a:pt x="6083447" y="69041"/>
                  </a:lnTo>
                  <a:lnTo>
                    <a:pt x="6019867" y="69486"/>
                  </a:lnTo>
                  <a:lnTo>
                    <a:pt x="5955347" y="69918"/>
                  </a:lnTo>
                  <a:lnTo>
                    <a:pt x="5889906" y="70337"/>
                  </a:lnTo>
                  <a:lnTo>
                    <a:pt x="5823561" y="70743"/>
                  </a:lnTo>
                  <a:lnTo>
                    <a:pt x="5756331" y="71136"/>
                  </a:lnTo>
                  <a:lnTo>
                    <a:pt x="5688233" y="71516"/>
                  </a:lnTo>
                  <a:lnTo>
                    <a:pt x="5619286" y="71883"/>
                  </a:lnTo>
                  <a:lnTo>
                    <a:pt x="5549507" y="72236"/>
                  </a:lnTo>
                  <a:lnTo>
                    <a:pt x="5478915" y="72575"/>
                  </a:lnTo>
                  <a:lnTo>
                    <a:pt x="5407528" y="72900"/>
                  </a:lnTo>
                  <a:lnTo>
                    <a:pt x="5335363" y="73211"/>
                  </a:lnTo>
                  <a:lnTo>
                    <a:pt x="5262438" y="73508"/>
                  </a:lnTo>
                  <a:lnTo>
                    <a:pt x="5188773" y="73790"/>
                  </a:lnTo>
                  <a:lnTo>
                    <a:pt x="5114384" y="74058"/>
                  </a:lnTo>
                  <a:lnTo>
                    <a:pt x="5039289" y="74310"/>
                  </a:lnTo>
                  <a:lnTo>
                    <a:pt x="4963508" y="74548"/>
                  </a:lnTo>
                  <a:lnTo>
                    <a:pt x="4887057" y="74771"/>
                  </a:lnTo>
                  <a:lnTo>
                    <a:pt x="4809954" y="74978"/>
                  </a:lnTo>
                  <a:lnTo>
                    <a:pt x="4732218" y="75169"/>
                  </a:lnTo>
                  <a:lnTo>
                    <a:pt x="4653867" y="75345"/>
                  </a:lnTo>
                  <a:lnTo>
                    <a:pt x="4574919" y="75505"/>
                  </a:lnTo>
                  <a:lnTo>
                    <a:pt x="4495392" y="75649"/>
                  </a:lnTo>
                  <a:lnTo>
                    <a:pt x="4415303" y="75777"/>
                  </a:lnTo>
                  <a:lnTo>
                    <a:pt x="4334671" y="75888"/>
                  </a:lnTo>
                  <a:lnTo>
                    <a:pt x="4253514" y="75982"/>
                  </a:lnTo>
                  <a:lnTo>
                    <a:pt x="4171849" y="76060"/>
                  </a:lnTo>
                  <a:lnTo>
                    <a:pt x="4089696" y="76121"/>
                  </a:lnTo>
                  <a:lnTo>
                    <a:pt x="4007071" y="76164"/>
                  </a:lnTo>
                  <a:lnTo>
                    <a:pt x="3923993" y="76191"/>
                  </a:lnTo>
                  <a:lnTo>
                    <a:pt x="3840479" y="76200"/>
                  </a:lnTo>
                  <a:lnTo>
                    <a:pt x="3756966" y="76191"/>
                  </a:lnTo>
                  <a:lnTo>
                    <a:pt x="3673888" y="76164"/>
                  </a:lnTo>
                  <a:lnTo>
                    <a:pt x="3591263" y="76121"/>
                  </a:lnTo>
                  <a:lnTo>
                    <a:pt x="3509110" y="76060"/>
                  </a:lnTo>
                  <a:lnTo>
                    <a:pt x="3427445" y="75982"/>
                  </a:lnTo>
                  <a:lnTo>
                    <a:pt x="3346288" y="75888"/>
                  </a:lnTo>
                  <a:lnTo>
                    <a:pt x="3265656" y="75777"/>
                  </a:lnTo>
                  <a:lnTo>
                    <a:pt x="3185567" y="75649"/>
                  </a:lnTo>
                  <a:lnTo>
                    <a:pt x="3106040" y="75505"/>
                  </a:lnTo>
                  <a:lnTo>
                    <a:pt x="3027092" y="75345"/>
                  </a:lnTo>
                  <a:lnTo>
                    <a:pt x="2948741" y="75169"/>
                  </a:lnTo>
                  <a:lnTo>
                    <a:pt x="2871005" y="74978"/>
                  </a:lnTo>
                  <a:lnTo>
                    <a:pt x="2793902" y="74771"/>
                  </a:lnTo>
                  <a:lnTo>
                    <a:pt x="2717451" y="74548"/>
                  </a:lnTo>
                  <a:lnTo>
                    <a:pt x="2641670" y="74310"/>
                  </a:lnTo>
                  <a:lnTo>
                    <a:pt x="2566575" y="74058"/>
                  </a:lnTo>
                  <a:lnTo>
                    <a:pt x="2492186" y="73790"/>
                  </a:lnTo>
                  <a:lnTo>
                    <a:pt x="2418521" y="73508"/>
                  </a:lnTo>
                  <a:lnTo>
                    <a:pt x="2345596" y="73211"/>
                  </a:lnTo>
                  <a:lnTo>
                    <a:pt x="2273431" y="72900"/>
                  </a:lnTo>
                  <a:lnTo>
                    <a:pt x="2202044" y="72575"/>
                  </a:lnTo>
                  <a:lnTo>
                    <a:pt x="2131452" y="72236"/>
                  </a:lnTo>
                  <a:lnTo>
                    <a:pt x="2061673" y="71883"/>
                  </a:lnTo>
                  <a:lnTo>
                    <a:pt x="1992726" y="71516"/>
                  </a:lnTo>
                  <a:lnTo>
                    <a:pt x="1924628" y="71136"/>
                  </a:lnTo>
                  <a:lnTo>
                    <a:pt x="1857398" y="70743"/>
                  </a:lnTo>
                  <a:lnTo>
                    <a:pt x="1791053" y="70337"/>
                  </a:lnTo>
                  <a:lnTo>
                    <a:pt x="1725612" y="69918"/>
                  </a:lnTo>
                  <a:lnTo>
                    <a:pt x="1661092" y="69486"/>
                  </a:lnTo>
                  <a:lnTo>
                    <a:pt x="1597512" y="69041"/>
                  </a:lnTo>
                  <a:lnTo>
                    <a:pt x="1534889" y="68584"/>
                  </a:lnTo>
                  <a:lnTo>
                    <a:pt x="1473242" y="68115"/>
                  </a:lnTo>
                  <a:lnTo>
                    <a:pt x="1412588" y="67634"/>
                  </a:lnTo>
                  <a:lnTo>
                    <a:pt x="1352946" y="67141"/>
                  </a:lnTo>
                  <a:lnTo>
                    <a:pt x="1294334" y="66637"/>
                  </a:lnTo>
                  <a:lnTo>
                    <a:pt x="1236769" y="66121"/>
                  </a:lnTo>
                  <a:lnTo>
                    <a:pt x="1180270" y="65594"/>
                  </a:lnTo>
                  <a:lnTo>
                    <a:pt x="1124854" y="65055"/>
                  </a:lnTo>
                  <a:lnTo>
                    <a:pt x="1070540" y="64506"/>
                  </a:lnTo>
                  <a:lnTo>
                    <a:pt x="1017346" y="63946"/>
                  </a:lnTo>
                  <a:lnTo>
                    <a:pt x="965290" y="63375"/>
                  </a:lnTo>
                  <a:lnTo>
                    <a:pt x="914389" y="62794"/>
                  </a:lnTo>
                  <a:lnTo>
                    <a:pt x="864661" y="62202"/>
                  </a:lnTo>
                  <a:lnTo>
                    <a:pt x="816126" y="61601"/>
                  </a:lnTo>
                  <a:lnTo>
                    <a:pt x="768800" y="60990"/>
                  </a:lnTo>
                  <a:lnTo>
                    <a:pt x="722702" y="60369"/>
                  </a:lnTo>
                  <a:lnTo>
                    <a:pt x="677850" y="59738"/>
                  </a:lnTo>
                  <a:lnTo>
                    <a:pt x="634261" y="59098"/>
                  </a:lnTo>
                  <a:lnTo>
                    <a:pt x="591954" y="58449"/>
                  </a:lnTo>
                  <a:lnTo>
                    <a:pt x="550947" y="57791"/>
                  </a:lnTo>
                  <a:lnTo>
                    <a:pt x="511258" y="57124"/>
                  </a:lnTo>
                  <a:lnTo>
                    <a:pt x="472905" y="56448"/>
                  </a:lnTo>
                  <a:lnTo>
                    <a:pt x="400277" y="55072"/>
                  </a:lnTo>
                  <a:lnTo>
                    <a:pt x="333209" y="53663"/>
                  </a:lnTo>
                  <a:lnTo>
                    <a:pt x="271845" y="52223"/>
                  </a:lnTo>
                  <a:lnTo>
                    <a:pt x="216328" y="50753"/>
                  </a:lnTo>
                  <a:lnTo>
                    <a:pt x="166803" y="49255"/>
                  </a:lnTo>
                  <a:lnTo>
                    <a:pt x="123414" y="47731"/>
                  </a:lnTo>
                  <a:lnTo>
                    <a:pt x="70149" y="45397"/>
                  </a:lnTo>
                  <a:lnTo>
                    <a:pt x="31501" y="43010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181094" y="99072"/>
            <a:ext cx="7082155" cy="1041400"/>
            <a:chOff x="1181094" y="99072"/>
            <a:chExt cx="7082155" cy="10414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094" y="286511"/>
              <a:ext cx="7082039" cy="5288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8059" y="99072"/>
              <a:ext cx="2386584" cy="10408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9199" y="304799"/>
              <a:ext cx="7010400" cy="4572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19199" y="304799"/>
              <a:ext cx="7010400" cy="457200"/>
            </a:xfrm>
            <a:custGeom>
              <a:avLst/>
              <a:gdLst/>
              <a:ahLst/>
              <a:cxnLst/>
              <a:rect l="l" t="t" r="r" b="b"/>
              <a:pathLst>
                <a:path w="70104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6934200" y="0"/>
                  </a:lnTo>
                  <a:lnTo>
                    <a:pt x="6963840" y="5994"/>
                  </a:lnTo>
                  <a:lnTo>
                    <a:pt x="6988063" y="22336"/>
                  </a:lnTo>
                  <a:lnTo>
                    <a:pt x="7004405" y="46559"/>
                  </a:lnTo>
                  <a:lnTo>
                    <a:pt x="7010400" y="76200"/>
                  </a:lnTo>
                  <a:lnTo>
                    <a:pt x="7010400" y="381000"/>
                  </a:lnTo>
                  <a:lnTo>
                    <a:pt x="7004405" y="410640"/>
                  </a:lnTo>
                  <a:lnTo>
                    <a:pt x="6988063" y="434863"/>
                  </a:lnTo>
                  <a:lnTo>
                    <a:pt x="6963840" y="451205"/>
                  </a:lnTo>
                  <a:lnTo>
                    <a:pt x="69342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832986" y="232359"/>
            <a:ext cx="1781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5" dirty="0"/>
              <a:t>TOPIC</a:t>
            </a:r>
            <a:r>
              <a:rPr sz="3600" spc="-110" dirty="0"/>
              <a:t> </a:t>
            </a:r>
            <a:r>
              <a:rPr sz="3600" spc="-160" dirty="0"/>
              <a:t>-1</a:t>
            </a:r>
            <a:endParaRPr sz="3600"/>
          </a:p>
        </p:txBody>
      </p:sp>
      <p:grpSp>
        <p:nvGrpSpPr>
          <p:cNvPr id="11" name="object 11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" y="1447800"/>
              <a:ext cx="8208264" cy="47548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43022" y="1783841"/>
              <a:ext cx="5899785" cy="4084320"/>
            </a:xfrm>
            <a:custGeom>
              <a:avLst/>
              <a:gdLst/>
              <a:ahLst/>
              <a:cxnLst/>
              <a:rect l="l" t="t" r="r" b="b"/>
              <a:pathLst>
                <a:path w="5899784" h="4084320">
                  <a:moveTo>
                    <a:pt x="5218683" y="0"/>
                  </a:moveTo>
                  <a:lnTo>
                    <a:pt x="0" y="0"/>
                  </a:lnTo>
                  <a:lnTo>
                    <a:pt x="0" y="4084320"/>
                  </a:lnTo>
                  <a:lnTo>
                    <a:pt x="5218683" y="4084320"/>
                  </a:lnTo>
                  <a:lnTo>
                    <a:pt x="5267294" y="4082610"/>
                  </a:lnTo>
                  <a:lnTo>
                    <a:pt x="5314983" y="4077559"/>
                  </a:lnTo>
                  <a:lnTo>
                    <a:pt x="5361634" y="4069281"/>
                  </a:lnTo>
                  <a:lnTo>
                    <a:pt x="5407133" y="4057892"/>
                  </a:lnTo>
                  <a:lnTo>
                    <a:pt x="5451365" y="4043507"/>
                  </a:lnTo>
                  <a:lnTo>
                    <a:pt x="5494213" y="4026240"/>
                  </a:lnTo>
                  <a:lnTo>
                    <a:pt x="5535564" y="4006208"/>
                  </a:lnTo>
                  <a:lnTo>
                    <a:pt x="5575301" y="3983526"/>
                  </a:lnTo>
                  <a:lnTo>
                    <a:pt x="5613310" y="3958309"/>
                  </a:lnTo>
                  <a:lnTo>
                    <a:pt x="5649475" y="3930671"/>
                  </a:lnTo>
                  <a:lnTo>
                    <a:pt x="5683681" y="3900729"/>
                  </a:lnTo>
                  <a:lnTo>
                    <a:pt x="5715813" y="3868597"/>
                  </a:lnTo>
                  <a:lnTo>
                    <a:pt x="5745755" y="3834391"/>
                  </a:lnTo>
                  <a:lnTo>
                    <a:pt x="5773393" y="3798226"/>
                  </a:lnTo>
                  <a:lnTo>
                    <a:pt x="5798610" y="3760217"/>
                  </a:lnTo>
                  <a:lnTo>
                    <a:pt x="5821292" y="3720480"/>
                  </a:lnTo>
                  <a:lnTo>
                    <a:pt x="5841324" y="3679129"/>
                  </a:lnTo>
                  <a:lnTo>
                    <a:pt x="5858591" y="3636281"/>
                  </a:lnTo>
                  <a:lnTo>
                    <a:pt x="5872976" y="3592049"/>
                  </a:lnTo>
                  <a:lnTo>
                    <a:pt x="5884365" y="3546550"/>
                  </a:lnTo>
                  <a:lnTo>
                    <a:pt x="5892643" y="3499899"/>
                  </a:lnTo>
                  <a:lnTo>
                    <a:pt x="5897694" y="3452210"/>
                  </a:lnTo>
                  <a:lnTo>
                    <a:pt x="5899404" y="3403600"/>
                  </a:lnTo>
                  <a:lnTo>
                    <a:pt x="5899404" y="680720"/>
                  </a:lnTo>
                  <a:lnTo>
                    <a:pt x="5897694" y="632109"/>
                  </a:lnTo>
                  <a:lnTo>
                    <a:pt x="5892643" y="584420"/>
                  </a:lnTo>
                  <a:lnTo>
                    <a:pt x="5884365" y="537769"/>
                  </a:lnTo>
                  <a:lnTo>
                    <a:pt x="5872976" y="492270"/>
                  </a:lnTo>
                  <a:lnTo>
                    <a:pt x="5858591" y="448038"/>
                  </a:lnTo>
                  <a:lnTo>
                    <a:pt x="5841324" y="405190"/>
                  </a:lnTo>
                  <a:lnTo>
                    <a:pt x="5821292" y="363839"/>
                  </a:lnTo>
                  <a:lnTo>
                    <a:pt x="5798610" y="324102"/>
                  </a:lnTo>
                  <a:lnTo>
                    <a:pt x="5773393" y="286093"/>
                  </a:lnTo>
                  <a:lnTo>
                    <a:pt x="5745755" y="249928"/>
                  </a:lnTo>
                  <a:lnTo>
                    <a:pt x="5715813" y="215722"/>
                  </a:lnTo>
                  <a:lnTo>
                    <a:pt x="5683681" y="183590"/>
                  </a:lnTo>
                  <a:lnTo>
                    <a:pt x="5649475" y="153648"/>
                  </a:lnTo>
                  <a:lnTo>
                    <a:pt x="5613310" y="126010"/>
                  </a:lnTo>
                  <a:lnTo>
                    <a:pt x="5575301" y="100793"/>
                  </a:lnTo>
                  <a:lnTo>
                    <a:pt x="5535564" y="78111"/>
                  </a:lnTo>
                  <a:lnTo>
                    <a:pt x="5494213" y="58079"/>
                  </a:lnTo>
                  <a:lnTo>
                    <a:pt x="5451365" y="40812"/>
                  </a:lnTo>
                  <a:lnTo>
                    <a:pt x="5407133" y="26427"/>
                  </a:lnTo>
                  <a:lnTo>
                    <a:pt x="5361634" y="15038"/>
                  </a:lnTo>
                  <a:lnTo>
                    <a:pt x="5314983" y="6760"/>
                  </a:lnTo>
                  <a:lnTo>
                    <a:pt x="5267294" y="1709"/>
                  </a:lnTo>
                  <a:lnTo>
                    <a:pt x="5218683" y="0"/>
                  </a:lnTo>
                  <a:close/>
                </a:path>
              </a:pathLst>
            </a:custGeom>
            <a:solidFill>
              <a:srgbClr val="D0E2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43022" y="1783841"/>
              <a:ext cx="5899785" cy="4084320"/>
            </a:xfrm>
            <a:custGeom>
              <a:avLst/>
              <a:gdLst/>
              <a:ahLst/>
              <a:cxnLst/>
              <a:rect l="l" t="t" r="r" b="b"/>
              <a:pathLst>
                <a:path w="5899784" h="4084320">
                  <a:moveTo>
                    <a:pt x="5899404" y="680720"/>
                  </a:moveTo>
                  <a:lnTo>
                    <a:pt x="5899404" y="3403600"/>
                  </a:lnTo>
                  <a:lnTo>
                    <a:pt x="5897694" y="3452210"/>
                  </a:lnTo>
                  <a:lnTo>
                    <a:pt x="5892643" y="3499899"/>
                  </a:lnTo>
                  <a:lnTo>
                    <a:pt x="5884365" y="3546550"/>
                  </a:lnTo>
                  <a:lnTo>
                    <a:pt x="5872976" y="3592049"/>
                  </a:lnTo>
                  <a:lnTo>
                    <a:pt x="5858591" y="3636281"/>
                  </a:lnTo>
                  <a:lnTo>
                    <a:pt x="5841324" y="3679129"/>
                  </a:lnTo>
                  <a:lnTo>
                    <a:pt x="5821292" y="3720480"/>
                  </a:lnTo>
                  <a:lnTo>
                    <a:pt x="5798610" y="3760217"/>
                  </a:lnTo>
                  <a:lnTo>
                    <a:pt x="5773393" y="3798226"/>
                  </a:lnTo>
                  <a:lnTo>
                    <a:pt x="5745755" y="3834391"/>
                  </a:lnTo>
                  <a:lnTo>
                    <a:pt x="5715813" y="3868597"/>
                  </a:lnTo>
                  <a:lnTo>
                    <a:pt x="5683681" y="3900729"/>
                  </a:lnTo>
                  <a:lnTo>
                    <a:pt x="5649475" y="3930671"/>
                  </a:lnTo>
                  <a:lnTo>
                    <a:pt x="5613310" y="3958309"/>
                  </a:lnTo>
                  <a:lnTo>
                    <a:pt x="5575301" y="3983526"/>
                  </a:lnTo>
                  <a:lnTo>
                    <a:pt x="5535564" y="4006208"/>
                  </a:lnTo>
                  <a:lnTo>
                    <a:pt x="5494213" y="4026240"/>
                  </a:lnTo>
                  <a:lnTo>
                    <a:pt x="5451365" y="4043507"/>
                  </a:lnTo>
                  <a:lnTo>
                    <a:pt x="5407133" y="4057892"/>
                  </a:lnTo>
                  <a:lnTo>
                    <a:pt x="5361634" y="4069281"/>
                  </a:lnTo>
                  <a:lnTo>
                    <a:pt x="5314983" y="4077559"/>
                  </a:lnTo>
                  <a:lnTo>
                    <a:pt x="5267294" y="4082610"/>
                  </a:lnTo>
                  <a:lnTo>
                    <a:pt x="5218683" y="4084320"/>
                  </a:lnTo>
                  <a:lnTo>
                    <a:pt x="0" y="4084320"/>
                  </a:lnTo>
                  <a:lnTo>
                    <a:pt x="0" y="0"/>
                  </a:lnTo>
                  <a:lnTo>
                    <a:pt x="5218683" y="0"/>
                  </a:lnTo>
                  <a:lnTo>
                    <a:pt x="5267294" y="1709"/>
                  </a:lnTo>
                  <a:lnTo>
                    <a:pt x="5314983" y="6760"/>
                  </a:lnTo>
                  <a:lnTo>
                    <a:pt x="5361634" y="15038"/>
                  </a:lnTo>
                  <a:lnTo>
                    <a:pt x="5407133" y="26427"/>
                  </a:lnTo>
                  <a:lnTo>
                    <a:pt x="5451365" y="40812"/>
                  </a:lnTo>
                  <a:lnTo>
                    <a:pt x="5494213" y="58079"/>
                  </a:lnTo>
                  <a:lnTo>
                    <a:pt x="5535564" y="78111"/>
                  </a:lnTo>
                  <a:lnTo>
                    <a:pt x="5575301" y="100793"/>
                  </a:lnTo>
                  <a:lnTo>
                    <a:pt x="5613310" y="126010"/>
                  </a:lnTo>
                  <a:lnTo>
                    <a:pt x="5649475" y="153648"/>
                  </a:lnTo>
                  <a:lnTo>
                    <a:pt x="5683681" y="183590"/>
                  </a:lnTo>
                  <a:lnTo>
                    <a:pt x="5715813" y="215722"/>
                  </a:lnTo>
                  <a:lnTo>
                    <a:pt x="5745755" y="249928"/>
                  </a:lnTo>
                  <a:lnTo>
                    <a:pt x="5773393" y="286093"/>
                  </a:lnTo>
                  <a:lnTo>
                    <a:pt x="5798610" y="324102"/>
                  </a:lnTo>
                  <a:lnTo>
                    <a:pt x="5821292" y="363839"/>
                  </a:lnTo>
                  <a:lnTo>
                    <a:pt x="5841324" y="405190"/>
                  </a:lnTo>
                  <a:lnTo>
                    <a:pt x="5858591" y="448038"/>
                  </a:lnTo>
                  <a:lnTo>
                    <a:pt x="5872976" y="492270"/>
                  </a:lnTo>
                  <a:lnTo>
                    <a:pt x="5884365" y="537769"/>
                  </a:lnTo>
                  <a:lnTo>
                    <a:pt x="5892643" y="584420"/>
                  </a:lnTo>
                  <a:lnTo>
                    <a:pt x="5897694" y="632109"/>
                  </a:lnTo>
                  <a:lnTo>
                    <a:pt x="5899404" y="680720"/>
                  </a:lnTo>
                  <a:close/>
                </a:path>
              </a:pathLst>
            </a:custGeom>
            <a:ln w="25400">
              <a:solidFill>
                <a:srgbClr val="D0E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77082" y="2024252"/>
            <a:ext cx="52317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Microsoft Sans Serif"/>
              <a:buChar char="•"/>
              <a:tabLst>
                <a:tab pos="299720" algn="l"/>
                <a:tab pos="1572895" algn="l"/>
                <a:tab pos="3060700" algn="l"/>
                <a:tab pos="3847465" algn="l"/>
              </a:tabLst>
            </a:pPr>
            <a:r>
              <a:rPr sz="3200" spc="-40" dirty="0">
                <a:latin typeface="Times New Roman"/>
                <a:cs typeface="Times New Roman"/>
              </a:rPr>
              <a:t>Brief	</a:t>
            </a:r>
            <a:r>
              <a:rPr sz="3200" spc="-110" dirty="0">
                <a:latin typeface="Times New Roman"/>
                <a:cs typeface="Times New Roman"/>
              </a:rPr>
              <a:t>review	</a:t>
            </a:r>
            <a:r>
              <a:rPr sz="3200" spc="-65" dirty="0">
                <a:latin typeface="Times New Roman"/>
                <a:cs typeface="Times New Roman"/>
              </a:rPr>
              <a:t>of	</a:t>
            </a:r>
            <a:r>
              <a:rPr sz="3200" spc="45" dirty="0">
                <a:latin typeface="Times New Roman"/>
                <a:cs typeface="Times New Roman"/>
              </a:rPr>
              <a:t>Number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3595" y="2440305"/>
            <a:ext cx="13081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90" dirty="0">
                <a:latin typeface="Times New Roman"/>
                <a:cs typeface="Times New Roman"/>
              </a:rPr>
              <a:t>Systems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77082" y="3292602"/>
            <a:ext cx="37274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Microsoft Sans Serif"/>
              <a:buChar char="•"/>
              <a:tabLst>
                <a:tab pos="299720" algn="l"/>
                <a:tab pos="1632585" algn="l"/>
                <a:tab pos="2804795" algn="l"/>
              </a:tabLst>
            </a:pPr>
            <a:r>
              <a:rPr sz="3200" spc="-85" dirty="0">
                <a:latin typeface="Times New Roman"/>
                <a:cs typeface="Times New Roman"/>
              </a:rPr>
              <a:t>Digital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85" dirty="0">
                <a:latin typeface="Times New Roman"/>
                <a:cs typeface="Times New Roman"/>
              </a:rPr>
              <a:t>Logic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Gat</a:t>
            </a:r>
            <a:r>
              <a:rPr sz="3200" spc="-15" dirty="0">
                <a:latin typeface="Times New Roman"/>
                <a:cs typeface="Times New Roman"/>
              </a:rPr>
              <a:t>e</a:t>
            </a:r>
            <a:r>
              <a:rPr sz="3200" spc="-114" dirty="0"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58406" y="3292602"/>
            <a:ext cx="12509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90269" algn="l"/>
              </a:tabLst>
            </a:pPr>
            <a:r>
              <a:rPr sz="3200" spc="30" dirty="0">
                <a:latin typeface="Times New Roman"/>
                <a:cs typeface="Times New Roman"/>
              </a:rPr>
              <a:t>and	</a:t>
            </a:r>
            <a:r>
              <a:rPr sz="3200" spc="-100" dirty="0">
                <a:latin typeface="Times New Roman"/>
                <a:cs typeface="Times New Roman"/>
              </a:rPr>
              <a:t>its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63595" y="3710177"/>
            <a:ext cx="37769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 dirty="0">
                <a:latin typeface="Times New Roman"/>
                <a:cs typeface="Times New Roman"/>
              </a:rPr>
              <a:t>electrical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characteristics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77082" y="4683709"/>
            <a:ext cx="5231765" cy="9321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marR="5080" indent="-287020">
              <a:lnSpc>
                <a:spcPts val="3290"/>
              </a:lnSpc>
              <a:spcBef>
                <a:spcPts val="675"/>
              </a:spcBef>
              <a:buFont typeface="Microsoft Sans Serif"/>
              <a:buChar char="•"/>
              <a:tabLst>
                <a:tab pos="299720" algn="l"/>
                <a:tab pos="1626235" algn="l"/>
                <a:tab pos="2131060" algn="l"/>
                <a:tab pos="3197860" algn="l"/>
                <a:tab pos="4318000" algn="l"/>
              </a:tabLst>
            </a:pPr>
            <a:r>
              <a:rPr sz="3200" spc="-120" dirty="0">
                <a:latin typeface="Times New Roman"/>
                <a:cs typeface="Times New Roman"/>
              </a:rPr>
              <a:t>Revie</a:t>
            </a:r>
            <a:r>
              <a:rPr sz="3200" spc="-175" dirty="0">
                <a:latin typeface="Times New Roman"/>
                <a:cs typeface="Times New Roman"/>
              </a:rPr>
              <a:t>w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90" dirty="0">
                <a:latin typeface="Times New Roman"/>
                <a:cs typeface="Times New Roman"/>
              </a:rPr>
              <a:t>o</a:t>
            </a:r>
            <a:r>
              <a:rPr sz="3200" spc="-45" dirty="0">
                <a:latin typeface="Times New Roman"/>
                <a:cs typeface="Times New Roman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55" dirty="0">
                <a:latin typeface="Times New Roman"/>
                <a:cs typeface="Times New Roman"/>
              </a:rPr>
              <a:t>RT</a:t>
            </a:r>
            <a:r>
              <a:rPr sz="3200" spc="40" dirty="0">
                <a:latin typeface="Times New Roman"/>
                <a:cs typeface="Times New Roman"/>
              </a:rPr>
              <a:t>L</a:t>
            </a:r>
            <a:r>
              <a:rPr sz="3200" spc="-40" dirty="0">
                <a:latin typeface="Times New Roman"/>
                <a:cs typeface="Times New Roman"/>
              </a:rPr>
              <a:t>,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90" dirty="0">
                <a:latin typeface="Times New Roman"/>
                <a:cs typeface="Times New Roman"/>
              </a:rPr>
              <a:t>DTL,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225" dirty="0">
                <a:latin typeface="Times New Roman"/>
                <a:cs typeface="Times New Roman"/>
              </a:rPr>
              <a:t>T</a:t>
            </a:r>
            <a:r>
              <a:rPr sz="3200" spc="120" dirty="0">
                <a:latin typeface="Times New Roman"/>
                <a:cs typeface="Times New Roman"/>
              </a:rPr>
              <a:t>T</a:t>
            </a:r>
            <a:r>
              <a:rPr sz="3200" spc="100" dirty="0">
                <a:latin typeface="Times New Roman"/>
                <a:cs typeface="Times New Roman"/>
              </a:rPr>
              <a:t>L</a:t>
            </a:r>
            <a:r>
              <a:rPr sz="3200" spc="-40" dirty="0">
                <a:latin typeface="Times New Roman"/>
                <a:cs typeface="Times New Roman"/>
              </a:rPr>
              <a:t>,  </a:t>
            </a:r>
            <a:r>
              <a:rPr sz="3200" spc="-5" dirty="0">
                <a:latin typeface="Times New Roman"/>
                <a:cs typeface="Times New Roman"/>
              </a:rPr>
              <a:t>ECL,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45" dirty="0">
                <a:latin typeface="Times New Roman"/>
                <a:cs typeface="Times New Roman"/>
              </a:rPr>
              <a:t>CMOS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families.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2986" y="1601977"/>
            <a:ext cx="2332990" cy="4448175"/>
            <a:chOff x="522986" y="1601977"/>
            <a:chExt cx="2332990" cy="4448175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5686" y="1614677"/>
              <a:ext cx="2307336" cy="442264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35686" y="1614677"/>
              <a:ext cx="2307590" cy="4422775"/>
            </a:xfrm>
            <a:custGeom>
              <a:avLst/>
              <a:gdLst/>
              <a:ahLst/>
              <a:cxnLst/>
              <a:rect l="l" t="t" r="r" b="b"/>
              <a:pathLst>
                <a:path w="2307590" h="4422775">
                  <a:moveTo>
                    <a:pt x="0" y="384556"/>
                  </a:moveTo>
                  <a:lnTo>
                    <a:pt x="2996" y="336326"/>
                  </a:lnTo>
                  <a:lnTo>
                    <a:pt x="11744" y="289881"/>
                  </a:lnTo>
                  <a:lnTo>
                    <a:pt x="25885" y="245583"/>
                  </a:lnTo>
                  <a:lnTo>
                    <a:pt x="45057" y="203792"/>
                  </a:lnTo>
                  <a:lnTo>
                    <a:pt x="68900" y="164868"/>
                  </a:lnTo>
                  <a:lnTo>
                    <a:pt x="97055" y="129173"/>
                  </a:lnTo>
                  <a:lnTo>
                    <a:pt x="129159" y="97067"/>
                  </a:lnTo>
                  <a:lnTo>
                    <a:pt x="164854" y="68910"/>
                  </a:lnTo>
                  <a:lnTo>
                    <a:pt x="203779" y="45064"/>
                  </a:lnTo>
                  <a:lnTo>
                    <a:pt x="245573" y="25889"/>
                  </a:lnTo>
                  <a:lnTo>
                    <a:pt x="289876" y="11747"/>
                  </a:lnTo>
                  <a:lnTo>
                    <a:pt x="336328" y="2996"/>
                  </a:lnTo>
                  <a:lnTo>
                    <a:pt x="384568" y="0"/>
                  </a:lnTo>
                  <a:lnTo>
                    <a:pt x="1922780" y="0"/>
                  </a:lnTo>
                  <a:lnTo>
                    <a:pt x="1971009" y="2996"/>
                  </a:lnTo>
                  <a:lnTo>
                    <a:pt x="2017454" y="11747"/>
                  </a:lnTo>
                  <a:lnTo>
                    <a:pt x="2061752" y="25889"/>
                  </a:lnTo>
                  <a:lnTo>
                    <a:pt x="2103543" y="45064"/>
                  </a:lnTo>
                  <a:lnTo>
                    <a:pt x="2142467" y="68910"/>
                  </a:lnTo>
                  <a:lnTo>
                    <a:pt x="2178162" y="97067"/>
                  </a:lnTo>
                  <a:lnTo>
                    <a:pt x="2210268" y="129173"/>
                  </a:lnTo>
                  <a:lnTo>
                    <a:pt x="2238425" y="164868"/>
                  </a:lnTo>
                  <a:lnTo>
                    <a:pt x="2262271" y="203792"/>
                  </a:lnTo>
                  <a:lnTo>
                    <a:pt x="2281446" y="245583"/>
                  </a:lnTo>
                  <a:lnTo>
                    <a:pt x="2295588" y="289881"/>
                  </a:lnTo>
                  <a:lnTo>
                    <a:pt x="2304339" y="336326"/>
                  </a:lnTo>
                  <a:lnTo>
                    <a:pt x="2307336" y="384556"/>
                  </a:lnTo>
                  <a:lnTo>
                    <a:pt x="2307336" y="4038079"/>
                  </a:lnTo>
                  <a:lnTo>
                    <a:pt x="2304339" y="4086319"/>
                  </a:lnTo>
                  <a:lnTo>
                    <a:pt x="2295588" y="4132771"/>
                  </a:lnTo>
                  <a:lnTo>
                    <a:pt x="2281446" y="4177074"/>
                  </a:lnTo>
                  <a:lnTo>
                    <a:pt x="2262271" y="4218868"/>
                  </a:lnTo>
                  <a:lnTo>
                    <a:pt x="2238425" y="4257793"/>
                  </a:lnTo>
                  <a:lnTo>
                    <a:pt x="2210268" y="4293488"/>
                  </a:lnTo>
                  <a:lnTo>
                    <a:pt x="2178162" y="4325592"/>
                  </a:lnTo>
                  <a:lnTo>
                    <a:pt x="2142467" y="4353747"/>
                  </a:lnTo>
                  <a:lnTo>
                    <a:pt x="2103543" y="4377590"/>
                  </a:lnTo>
                  <a:lnTo>
                    <a:pt x="2061752" y="4396762"/>
                  </a:lnTo>
                  <a:lnTo>
                    <a:pt x="2017454" y="4410903"/>
                  </a:lnTo>
                  <a:lnTo>
                    <a:pt x="1971009" y="4419651"/>
                  </a:lnTo>
                  <a:lnTo>
                    <a:pt x="1922780" y="4422648"/>
                  </a:lnTo>
                  <a:lnTo>
                    <a:pt x="384568" y="4422648"/>
                  </a:lnTo>
                  <a:lnTo>
                    <a:pt x="336328" y="4419651"/>
                  </a:lnTo>
                  <a:lnTo>
                    <a:pt x="289876" y="4410903"/>
                  </a:lnTo>
                  <a:lnTo>
                    <a:pt x="245573" y="4396762"/>
                  </a:lnTo>
                  <a:lnTo>
                    <a:pt x="203779" y="4377590"/>
                  </a:lnTo>
                  <a:lnTo>
                    <a:pt x="164854" y="4353747"/>
                  </a:lnTo>
                  <a:lnTo>
                    <a:pt x="129159" y="4325592"/>
                  </a:lnTo>
                  <a:lnTo>
                    <a:pt x="97055" y="4293488"/>
                  </a:lnTo>
                  <a:lnTo>
                    <a:pt x="68900" y="4257793"/>
                  </a:lnTo>
                  <a:lnTo>
                    <a:pt x="45057" y="4218868"/>
                  </a:lnTo>
                  <a:lnTo>
                    <a:pt x="25885" y="4177074"/>
                  </a:lnTo>
                  <a:lnTo>
                    <a:pt x="11744" y="4132771"/>
                  </a:lnTo>
                  <a:lnTo>
                    <a:pt x="2996" y="4086319"/>
                  </a:lnTo>
                  <a:lnTo>
                    <a:pt x="0" y="4038079"/>
                  </a:lnTo>
                  <a:lnTo>
                    <a:pt x="0" y="38455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11174" y="2332177"/>
            <a:ext cx="1756410" cy="286829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500"/>
              </a:spcBef>
            </a:pPr>
            <a:r>
              <a:rPr sz="4000" b="1" spc="-5" dirty="0">
                <a:solidFill>
                  <a:srgbClr val="FFC000"/>
                </a:solidFill>
                <a:latin typeface="Calibri"/>
                <a:cs typeface="Calibri"/>
              </a:rPr>
              <a:t>Number  </a:t>
            </a:r>
            <a:r>
              <a:rPr sz="4000" b="1" spc="-35" dirty="0">
                <a:solidFill>
                  <a:srgbClr val="FFC000"/>
                </a:solidFill>
                <a:latin typeface="Calibri"/>
                <a:cs typeface="Calibri"/>
              </a:rPr>
              <a:t>systems </a:t>
            </a:r>
            <a:r>
              <a:rPr sz="4000" b="1" spc="-8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FFC000"/>
                </a:solidFill>
                <a:latin typeface="Calibri"/>
                <a:cs typeface="Calibri"/>
              </a:rPr>
              <a:t>and </a:t>
            </a:r>
            <a:r>
              <a:rPr sz="4000" b="1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FFC000"/>
                </a:solidFill>
                <a:latin typeface="Calibri"/>
                <a:cs typeface="Calibri"/>
              </a:rPr>
              <a:t>Logic </a:t>
            </a:r>
            <a:r>
              <a:rPr sz="4000" b="1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FFC000"/>
                </a:solidFill>
                <a:latin typeface="Calibri"/>
                <a:cs typeface="Calibri"/>
              </a:rPr>
              <a:t>Families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20327" y="6556243"/>
              <a:ext cx="384098" cy="30175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833739" y="6649770"/>
            <a:ext cx="16700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fld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6570"/>
            <a:chOff x="0" y="16764"/>
            <a:chExt cx="9149080" cy="68465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5248" y="1615439"/>
              <a:ext cx="4965953" cy="37879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50731"/>
              <a:ext cx="550164" cy="20726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0328" y="6586730"/>
              <a:ext cx="384098" cy="2712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7512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7512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33739" y="6649770"/>
            <a:ext cx="16700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fld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114" dirty="0">
                <a:latin typeface="Trebuchet MS"/>
                <a:cs typeface="Trebuchet MS"/>
              </a:rPr>
              <a:t>I</a:t>
            </a:r>
            <a:r>
              <a:rPr sz="3400" b="1" spc="-290" dirty="0">
                <a:latin typeface="Trebuchet MS"/>
                <a:cs typeface="Trebuchet MS"/>
              </a:rPr>
              <a:t>N</a:t>
            </a:r>
            <a:r>
              <a:rPr sz="3400" b="1" spc="-254" dirty="0">
                <a:latin typeface="Trebuchet MS"/>
                <a:cs typeface="Trebuchet MS"/>
              </a:rPr>
              <a:t>T</a:t>
            </a:r>
            <a:r>
              <a:rPr sz="3400" b="1" spc="-55" dirty="0">
                <a:latin typeface="Trebuchet MS"/>
                <a:cs typeface="Trebuchet MS"/>
              </a:rPr>
              <a:t>RO</a:t>
            </a:r>
            <a:r>
              <a:rPr sz="3400" b="1" spc="-90" dirty="0">
                <a:latin typeface="Trebuchet MS"/>
                <a:cs typeface="Trebuchet MS"/>
              </a:rPr>
              <a:t>DU</a:t>
            </a:r>
            <a:r>
              <a:rPr sz="3400" b="1" spc="-75" dirty="0">
                <a:latin typeface="Trebuchet MS"/>
                <a:cs typeface="Trebuchet MS"/>
              </a:rPr>
              <a:t>C</a:t>
            </a:r>
            <a:r>
              <a:rPr sz="3400" b="1" spc="-155" dirty="0">
                <a:latin typeface="Trebuchet MS"/>
                <a:cs typeface="Trebuchet MS"/>
              </a:rPr>
              <a:t>TIO</a:t>
            </a:r>
            <a:r>
              <a:rPr sz="3400" b="1" spc="-190" dirty="0">
                <a:latin typeface="Trebuchet MS"/>
                <a:cs typeface="Trebuchet MS"/>
              </a:rPr>
              <a:t>N</a:t>
            </a:r>
            <a:r>
              <a:rPr sz="3400" b="1" spc="-30" dirty="0">
                <a:latin typeface="Trebuchet MS"/>
                <a:cs typeface="Trebuchet MS"/>
              </a:rPr>
              <a:t> </a:t>
            </a:r>
            <a:r>
              <a:rPr sz="3400" b="1" spc="-310" dirty="0">
                <a:latin typeface="Trebuchet MS"/>
                <a:cs typeface="Trebuchet MS"/>
              </a:rPr>
              <a:t>T</a:t>
            </a:r>
            <a:r>
              <a:rPr sz="3400" b="1" spc="-190" dirty="0">
                <a:latin typeface="Trebuchet MS"/>
                <a:cs typeface="Trebuchet MS"/>
              </a:rPr>
              <a:t>O</a:t>
            </a:r>
            <a:r>
              <a:rPr sz="3400" b="1" spc="-20" dirty="0">
                <a:latin typeface="Trebuchet MS"/>
                <a:cs typeface="Trebuchet MS"/>
              </a:rPr>
              <a:t> </a:t>
            </a:r>
            <a:r>
              <a:rPr sz="3400" b="1" spc="50" dirty="0">
                <a:latin typeface="Trebuchet MS"/>
                <a:cs typeface="Trebuchet MS"/>
              </a:rPr>
              <a:t>D</a:t>
            </a:r>
            <a:r>
              <a:rPr sz="3400" b="1" spc="114" dirty="0">
                <a:latin typeface="Trebuchet MS"/>
                <a:cs typeface="Trebuchet MS"/>
              </a:rPr>
              <a:t>I</a:t>
            </a:r>
            <a:r>
              <a:rPr sz="3400" b="1" spc="-30" dirty="0">
                <a:latin typeface="Trebuchet MS"/>
                <a:cs typeface="Trebuchet MS"/>
              </a:rPr>
              <a:t>G</a:t>
            </a:r>
            <a:r>
              <a:rPr sz="3400" b="1" dirty="0">
                <a:latin typeface="Trebuchet MS"/>
                <a:cs typeface="Trebuchet MS"/>
              </a:rPr>
              <a:t>I</a:t>
            </a:r>
            <a:r>
              <a:rPr sz="3400" b="1" spc="-280" dirty="0">
                <a:latin typeface="Trebuchet MS"/>
                <a:cs typeface="Trebuchet MS"/>
              </a:rPr>
              <a:t>TA</a:t>
            </a:r>
            <a:r>
              <a:rPr sz="3400" b="1" spc="-245" dirty="0">
                <a:latin typeface="Trebuchet MS"/>
                <a:cs typeface="Trebuchet MS"/>
              </a:rPr>
              <a:t>L</a:t>
            </a:r>
            <a:r>
              <a:rPr sz="3400" b="1" spc="-40" dirty="0">
                <a:latin typeface="Trebuchet MS"/>
                <a:cs typeface="Trebuchet MS"/>
              </a:rPr>
              <a:t> </a:t>
            </a:r>
            <a:r>
              <a:rPr sz="3400" b="1" spc="-105" dirty="0">
                <a:latin typeface="Trebuchet MS"/>
                <a:cs typeface="Trebuchet MS"/>
              </a:rPr>
              <a:t>S</a:t>
            </a:r>
            <a:r>
              <a:rPr sz="3400" b="1" spc="-114" dirty="0">
                <a:latin typeface="Trebuchet MS"/>
                <a:cs typeface="Trebuchet MS"/>
              </a:rPr>
              <a:t>Y</a:t>
            </a:r>
            <a:r>
              <a:rPr sz="3400" b="1" spc="-90" dirty="0">
                <a:latin typeface="Trebuchet MS"/>
                <a:cs typeface="Trebuchet MS"/>
              </a:rPr>
              <a:t>ST</a:t>
            </a:r>
            <a:r>
              <a:rPr sz="3400" b="1" spc="-70" dirty="0">
                <a:latin typeface="Trebuchet MS"/>
                <a:cs typeface="Trebuchet MS"/>
              </a:rPr>
              <a:t>E</a:t>
            </a:r>
            <a:r>
              <a:rPr sz="3400" b="1" spc="-85" dirty="0">
                <a:latin typeface="Trebuchet MS"/>
                <a:cs typeface="Trebuchet MS"/>
              </a:rPr>
              <a:t>M</a:t>
            </a:r>
            <a:r>
              <a:rPr sz="3400" b="1" spc="125" dirty="0">
                <a:latin typeface="Trebuchet MS"/>
                <a:cs typeface="Trebuchet MS"/>
              </a:rPr>
              <a:t>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5994" y="1112646"/>
            <a:ext cx="348170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ANALOG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vs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DIGITAL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400" y="1676400"/>
            <a:ext cx="6865619" cy="4759452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114" dirty="0"/>
              <a:t>I</a:t>
            </a:r>
            <a:r>
              <a:rPr sz="3400" spc="-290" dirty="0"/>
              <a:t>N</a:t>
            </a:r>
            <a:r>
              <a:rPr sz="3400" spc="-254" dirty="0"/>
              <a:t>T</a:t>
            </a:r>
            <a:r>
              <a:rPr sz="3400" spc="-55" dirty="0"/>
              <a:t>RO</a:t>
            </a:r>
            <a:r>
              <a:rPr sz="3400" spc="-90" dirty="0"/>
              <a:t>DU</a:t>
            </a:r>
            <a:r>
              <a:rPr sz="3400" spc="-75" dirty="0"/>
              <a:t>C</a:t>
            </a:r>
            <a:r>
              <a:rPr sz="3400" spc="-155" dirty="0"/>
              <a:t>TIO</a:t>
            </a:r>
            <a:r>
              <a:rPr sz="3400" spc="-190" dirty="0"/>
              <a:t>N</a:t>
            </a:r>
            <a:r>
              <a:rPr sz="3400" spc="-30" dirty="0"/>
              <a:t> </a:t>
            </a:r>
            <a:r>
              <a:rPr sz="3400" spc="-310" dirty="0"/>
              <a:t>T</a:t>
            </a:r>
            <a:r>
              <a:rPr sz="3400" spc="-190" dirty="0"/>
              <a:t>O</a:t>
            </a:r>
            <a:r>
              <a:rPr sz="3400" spc="-20" dirty="0"/>
              <a:t> </a:t>
            </a:r>
            <a:r>
              <a:rPr sz="3400" spc="50" dirty="0"/>
              <a:t>D</a:t>
            </a:r>
            <a:r>
              <a:rPr sz="3400" spc="114" dirty="0"/>
              <a:t>I</a:t>
            </a:r>
            <a:r>
              <a:rPr sz="3400" spc="-30" dirty="0"/>
              <a:t>G</a:t>
            </a:r>
            <a:r>
              <a:rPr sz="3400" dirty="0"/>
              <a:t>I</a:t>
            </a:r>
            <a:r>
              <a:rPr sz="3400" spc="-280" dirty="0"/>
              <a:t>TA</a:t>
            </a:r>
            <a:r>
              <a:rPr sz="3400" spc="-245" dirty="0"/>
              <a:t>L</a:t>
            </a:r>
            <a:r>
              <a:rPr sz="3400" spc="-40" dirty="0"/>
              <a:t> </a:t>
            </a:r>
            <a:r>
              <a:rPr sz="3400" spc="-105" dirty="0"/>
              <a:t>S</a:t>
            </a:r>
            <a:r>
              <a:rPr sz="3400" spc="-114" dirty="0"/>
              <a:t>Y</a:t>
            </a:r>
            <a:r>
              <a:rPr sz="3400" spc="-90" dirty="0"/>
              <a:t>ST</a:t>
            </a:r>
            <a:r>
              <a:rPr sz="3400" spc="-70" dirty="0"/>
              <a:t>E</a:t>
            </a:r>
            <a:r>
              <a:rPr sz="3400" spc="-85" dirty="0"/>
              <a:t>M</a:t>
            </a:r>
            <a:r>
              <a:rPr sz="3400" spc="125" dirty="0"/>
              <a:t>S</a:t>
            </a:r>
            <a:endParaRPr sz="34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39535"/>
            <a:ext cx="8377555" cy="514794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49885" algn="ctr">
              <a:lnSpc>
                <a:spcPct val="100000"/>
              </a:lnSpc>
              <a:spcBef>
                <a:spcPts val="1295"/>
              </a:spcBef>
            </a:pP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INTRODUCTION</a:t>
            </a:r>
            <a:endParaRPr sz="20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66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electronics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important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when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dealing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various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quantities that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we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able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represent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their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values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efficiently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accurately.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762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Electronic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circuits can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divided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into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two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broad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categories,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digital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analog.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32385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major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difference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between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analog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digital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quantities,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then,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stated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simply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follows:</a:t>
            </a:r>
            <a:endParaRPr sz="2800">
              <a:latin typeface="Tahoma"/>
              <a:cs typeface="Tahoma"/>
            </a:endParaRPr>
          </a:p>
          <a:p>
            <a:pPr marL="934719" lvl="1" indent="-465455">
              <a:lnSpc>
                <a:spcPct val="100000"/>
              </a:lnSpc>
              <a:spcBef>
                <a:spcPts val="35"/>
              </a:spcBef>
              <a:buClr>
                <a:srgbClr val="E36C09"/>
              </a:buClr>
              <a:buFont typeface="Wingdings"/>
              <a:buChar char=""/>
              <a:tabLst>
                <a:tab pos="934719" algn="l"/>
                <a:tab pos="935355" algn="l"/>
              </a:tabLst>
            </a:pPr>
            <a:r>
              <a:rPr sz="2000" spc="30" dirty="0">
                <a:solidFill>
                  <a:srgbClr val="006FC0"/>
                </a:solidFill>
                <a:latin typeface="Tahoma"/>
                <a:cs typeface="Tahoma"/>
              </a:rPr>
              <a:t>Analog</a:t>
            </a:r>
            <a:r>
              <a:rPr sz="20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21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continuous</a:t>
            </a:r>
            <a:endParaRPr sz="2000">
              <a:latin typeface="Tahoma"/>
              <a:cs typeface="Tahoma"/>
            </a:endParaRPr>
          </a:p>
          <a:p>
            <a:pPr marL="934719" lvl="1" indent="-465455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934719" algn="l"/>
                <a:tab pos="935355" algn="l"/>
              </a:tabLst>
            </a:pPr>
            <a:r>
              <a:rPr sz="2000" spc="15" dirty="0">
                <a:solidFill>
                  <a:srgbClr val="006FC0"/>
                </a:solidFill>
                <a:latin typeface="Tahoma"/>
                <a:cs typeface="Tahoma"/>
              </a:rPr>
              <a:t>Digital</a:t>
            </a:r>
            <a:r>
              <a:rPr sz="20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215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0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006FC0"/>
                </a:solidFill>
                <a:latin typeface="Tahoma"/>
                <a:cs typeface="Tahoma"/>
              </a:rPr>
              <a:t>discrete</a:t>
            </a:r>
            <a:r>
              <a:rPr sz="20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(step</a:t>
            </a:r>
            <a:r>
              <a:rPr sz="20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006FC0"/>
                </a:solidFill>
                <a:latin typeface="Tahoma"/>
                <a:cs typeface="Tahoma"/>
              </a:rPr>
              <a:t>by</a:t>
            </a:r>
            <a:r>
              <a:rPr sz="20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step)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114" dirty="0"/>
              <a:t>I</a:t>
            </a:r>
            <a:r>
              <a:rPr sz="3400" spc="-290" dirty="0"/>
              <a:t>N</a:t>
            </a:r>
            <a:r>
              <a:rPr sz="3400" spc="-254" dirty="0"/>
              <a:t>T</a:t>
            </a:r>
            <a:r>
              <a:rPr sz="3400" spc="-55" dirty="0"/>
              <a:t>RO</a:t>
            </a:r>
            <a:r>
              <a:rPr sz="3400" spc="-90" dirty="0"/>
              <a:t>DU</a:t>
            </a:r>
            <a:r>
              <a:rPr sz="3400" spc="-75" dirty="0"/>
              <a:t>C</a:t>
            </a:r>
            <a:r>
              <a:rPr sz="3400" spc="-155" dirty="0"/>
              <a:t>TIO</a:t>
            </a:r>
            <a:r>
              <a:rPr sz="3400" spc="-190" dirty="0"/>
              <a:t>N</a:t>
            </a:r>
            <a:r>
              <a:rPr sz="3400" spc="-30" dirty="0"/>
              <a:t> </a:t>
            </a:r>
            <a:r>
              <a:rPr sz="3400" spc="-310" dirty="0"/>
              <a:t>T</a:t>
            </a:r>
            <a:r>
              <a:rPr sz="3400" spc="-190" dirty="0"/>
              <a:t>O</a:t>
            </a:r>
            <a:r>
              <a:rPr sz="3400" spc="-20" dirty="0"/>
              <a:t> </a:t>
            </a:r>
            <a:r>
              <a:rPr sz="3400" spc="50" dirty="0"/>
              <a:t>D</a:t>
            </a:r>
            <a:r>
              <a:rPr sz="3400" spc="114" dirty="0"/>
              <a:t>I</a:t>
            </a:r>
            <a:r>
              <a:rPr sz="3400" spc="-30" dirty="0"/>
              <a:t>G</a:t>
            </a:r>
            <a:r>
              <a:rPr sz="3400" dirty="0"/>
              <a:t>I</a:t>
            </a:r>
            <a:r>
              <a:rPr sz="3400" spc="-280" dirty="0"/>
              <a:t>TA</a:t>
            </a:r>
            <a:r>
              <a:rPr sz="3400" spc="-245" dirty="0"/>
              <a:t>L</a:t>
            </a:r>
            <a:r>
              <a:rPr sz="3400" spc="-40" dirty="0"/>
              <a:t> </a:t>
            </a:r>
            <a:r>
              <a:rPr sz="3400" spc="-105" dirty="0"/>
              <a:t>S</a:t>
            </a:r>
            <a:r>
              <a:rPr sz="3400" spc="-114" dirty="0"/>
              <a:t>Y</a:t>
            </a:r>
            <a:r>
              <a:rPr sz="3400" spc="-90" dirty="0"/>
              <a:t>ST</a:t>
            </a:r>
            <a:r>
              <a:rPr sz="3400" spc="-70" dirty="0"/>
              <a:t>E</a:t>
            </a:r>
            <a:r>
              <a:rPr sz="3400" spc="-85" dirty="0"/>
              <a:t>M</a:t>
            </a:r>
            <a:r>
              <a:rPr sz="3400" spc="125" dirty="0"/>
              <a:t>S</a:t>
            </a:r>
            <a:endParaRPr sz="34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41552"/>
            <a:ext cx="8376920" cy="4490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985" algn="ctr">
              <a:lnSpc>
                <a:spcPct val="100000"/>
              </a:lnSpc>
              <a:spcBef>
                <a:spcPts val="105"/>
              </a:spcBef>
            </a:pP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ANALOG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35" dirty="0">
                <a:solidFill>
                  <a:srgbClr val="006FC0"/>
                </a:solidFill>
                <a:latin typeface="Tahoma"/>
                <a:cs typeface="Tahoma"/>
              </a:rPr>
              <a:t>Systems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which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capable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processing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continuous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range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values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varying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respect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time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called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analog</a:t>
            </a:r>
            <a:r>
              <a:rPr sz="28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FF0000"/>
                </a:solidFill>
                <a:latin typeface="Tahoma"/>
                <a:cs typeface="Tahoma"/>
              </a:rPr>
              <a:t>systems.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825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Most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things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measured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quantitatively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occur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nature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analog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form.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98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Analog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quantities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have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important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characteristic: </a:t>
            </a:r>
            <a:r>
              <a:rPr sz="2800" spc="-8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they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vary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over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continuous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range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values.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114" dirty="0">
                <a:latin typeface="Trebuchet MS"/>
                <a:cs typeface="Trebuchet MS"/>
              </a:rPr>
              <a:t>I</a:t>
            </a:r>
            <a:r>
              <a:rPr sz="3400" b="1" spc="-290" dirty="0">
                <a:latin typeface="Trebuchet MS"/>
                <a:cs typeface="Trebuchet MS"/>
              </a:rPr>
              <a:t>N</a:t>
            </a:r>
            <a:r>
              <a:rPr sz="3400" b="1" spc="-254" dirty="0">
                <a:latin typeface="Trebuchet MS"/>
                <a:cs typeface="Trebuchet MS"/>
              </a:rPr>
              <a:t>T</a:t>
            </a:r>
            <a:r>
              <a:rPr sz="3400" b="1" spc="-55" dirty="0">
                <a:latin typeface="Trebuchet MS"/>
                <a:cs typeface="Trebuchet MS"/>
              </a:rPr>
              <a:t>RO</a:t>
            </a:r>
            <a:r>
              <a:rPr sz="3400" b="1" spc="-90" dirty="0">
                <a:latin typeface="Trebuchet MS"/>
                <a:cs typeface="Trebuchet MS"/>
              </a:rPr>
              <a:t>DU</a:t>
            </a:r>
            <a:r>
              <a:rPr sz="3400" b="1" spc="-75" dirty="0">
                <a:latin typeface="Trebuchet MS"/>
                <a:cs typeface="Trebuchet MS"/>
              </a:rPr>
              <a:t>C</a:t>
            </a:r>
            <a:r>
              <a:rPr sz="3400" b="1" spc="-155" dirty="0">
                <a:latin typeface="Trebuchet MS"/>
                <a:cs typeface="Trebuchet MS"/>
              </a:rPr>
              <a:t>TIO</a:t>
            </a:r>
            <a:r>
              <a:rPr sz="3400" b="1" spc="-190" dirty="0">
                <a:latin typeface="Trebuchet MS"/>
                <a:cs typeface="Trebuchet MS"/>
              </a:rPr>
              <a:t>N</a:t>
            </a:r>
            <a:r>
              <a:rPr sz="3400" b="1" spc="-30" dirty="0">
                <a:latin typeface="Trebuchet MS"/>
                <a:cs typeface="Trebuchet MS"/>
              </a:rPr>
              <a:t> </a:t>
            </a:r>
            <a:r>
              <a:rPr sz="3400" b="1" spc="-310" dirty="0">
                <a:latin typeface="Trebuchet MS"/>
                <a:cs typeface="Trebuchet MS"/>
              </a:rPr>
              <a:t>T</a:t>
            </a:r>
            <a:r>
              <a:rPr sz="3400" b="1" spc="-190" dirty="0">
                <a:latin typeface="Trebuchet MS"/>
                <a:cs typeface="Trebuchet MS"/>
              </a:rPr>
              <a:t>O</a:t>
            </a:r>
            <a:r>
              <a:rPr sz="3400" b="1" spc="-20" dirty="0">
                <a:latin typeface="Trebuchet MS"/>
                <a:cs typeface="Trebuchet MS"/>
              </a:rPr>
              <a:t> </a:t>
            </a:r>
            <a:r>
              <a:rPr sz="3400" b="1" spc="50" dirty="0">
                <a:latin typeface="Trebuchet MS"/>
                <a:cs typeface="Trebuchet MS"/>
              </a:rPr>
              <a:t>D</a:t>
            </a:r>
            <a:r>
              <a:rPr sz="3400" b="1" spc="114" dirty="0">
                <a:latin typeface="Trebuchet MS"/>
                <a:cs typeface="Trebuchet MS"/>
              </a:rPr>
              <a:t>I</a:t>
            </a:r>
            <a:r>
              <a:rPr sz="3400" b="1" spc="-30" dirty="0">
                <a:latin typeface="Trebuchet MS"/>
                <a:cs typeface="Trebuchet MS"/>
              </a:rPr>
              <a:t>G</a:t>
            </a:r>
            <a:r>
              <a:rPr sz="3400" b="1" dirty="0">
                <a:latin typeface="Trebuchet MS"/>
                <a:cs typeface="Trebuchet MS"/>
              </a:rPr>
              <a:t>I</a:t>
            </a:r>
            <a:r>
              <a:rPr sz="3400" b="1" spc="-280" dirty="0">
                <a:latin typeface="Trebuchet MS"/>
                <a:cs typeface="Trebuchet MS"/>
              </a:rPr>
              <a:t>TA</a:t>
            </a:r>
            <a:r>
              <a:rPr sz="3400" b="1" spc="-245" dirty="0">
                <a:latin typeface="Trebuchet MS"/>
                <a:cs typeface="Trebuchet MS"/>
              </a:rPr>
              <a:t>L</a:t>
            </a:r>
            <a:r>
              <a:rPr sz="3400" b="1" spc="-40" dirty="0">
                <a:latin typeface="Trebuchet MS"/>
                <a:cs typeface="Trebuchet MS"/>
              </a:rPr>
              <a:t> </a:t>
            </a:r>
            <a:r>
              <a:rPr sz="3400" b="1" spc="-105" dirty="0">
                <a:latin typeface="Trebuchet MS"/>
                <a:cs typeface="Trebuchet MS"/>
              </a:rPr>
              <a:t>S</a:t>
            </a:r>
            <a:r>
              <a:rPr sz="3400" b="1" spc="-114" dirty="0">
                <a:latin typeface="Trebuchet MS"/>
                <a:cs typeface="Trebuchet MS"/>
              </a:rPr>
              <a:t>Y</a:t>
            </a:r>
            <a:r>
              <a:rPr sz="3400" b="1" spc="-90" dirty="0">
                <a:latin typeface="Trebuchet MS"/>
                <a:cs typeface="Trebuchet MS"/>
              </a:rPr>
              <a:t>ST</a:t>
            </a:r>
            <a:r>
              <a:rPr sz="3400" b="1" spc="-70" dirty="0">
                <a:latin typeface="Trebuchet MS"/>
                <a:cs typeface="Trebuchet MS"/>
              </a:rPr>
              <a:t>E</a:t>
            </a:r>
            <a:r>
              <a:rPr sz="3400" b="1" spc="-85" dirty="0">
                <a:latin typeface="Trebuchet MS"/>
                <a:cs typeface="Trebuchet MS"/>
              </a:rPr>
              <a:t>M</a:t>
            </a:r>
            <a:r>
              <a:rPr sz="3400" b="1" spc="125" dirty="0">
                <a:latin typeface="Trebuchet MS"/>
                <a:cs typeface="Trebuchet MS"/>
              </a:rPr>
              <a:t>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6975" y="1090930"/>
            <a:ext cx="21685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ANALOG</a:t>
            </a:r>
            <a:r>
              <a:rPr sz="2000" spc="-1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28800" y="1524000"/>
            <a:ext cx="5392420" cy="4855845"/>
            <a:chOff x="1828800" y="1524000"/>
            <a:chExt cx="5392420" cy="485584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0172" y="4191000"/>
              <a:ext cx="3043428" cy="218846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8800" y="1524000"/>
              <a:ext cx="5391911" cy="259080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114" dirty="0">
                <a:latin typeface="Trebuchet MS"/>
                <a:cs typeface="Trebuchet MS"/>
              </a:rPr>
              <a:t>I</a:t>
            </a:r>
            <a:r>
              <a:rPr sz="3400" b="1" spc="-290" dirty="0">
                <a:latin typeface="Trebuchet MS"/>
                <a:cs typeface="Trebuchet MS"/>
              </a:rPr>
              <a:t>N</a:t>
            </a:r>
            <a:r>
              <a:rPr sz="3400" b="1" spc="-254" dirty="0">
                <a:latin typeface="Trebuchet MS"/>
                <a:cs typeface="Trebuchet MS"/>
              </a:rPr>
              <a:t>T</a:t>
            </a:r>
            <a:r>
              <a:rPr sz="3400" b="1" spc="-55" dirty="0">
                <a:latin typeface="Trebuchet MS"/>
                <a:cs typeface="Trebuchet MS"/>
              </a:rPr>
              <a:t>RO</a:t>
            </a:r>
            <a:r>
              <a:rPr sz="3400" b="1" spc="-90" dirty="0">
                <a:latin typeface="Trebuchet MS"/>
                <a:cs typeface="Trebuchet MS"/>
              </a:rPr>
              <a:t>DU</a:t>
            </a:r>
            <a:r>
              <a:rPr sz="3400" b="1" spc="-75" dirty="0">
                <a:latin typeface="Trebuchet MS"/>
                <a:cs typeface="Trebuchet MS"/>
              </a:rPr>
              <a:t>C</a:t>
            </a:r>
            <a:r>
              <a:rPr sz="3400" b="1" spc="-155" dirty="0">
                <a:latin typeface="Trebuchet MS"/>
                <a:cs typeface="Trebuchet MS"/>
              </a:rPr>
              <a:t>TIO</a:t>
            </a:r>
            <a:r>
              <a:rPr sz="3400" b="1" spc="-190" dirty="0">
                <a:latin typeface="Trebuchet MS"/>
                <a:cs typeface="Trebuchet MS"/>
              </a:rPr>
              <a:t>N</a:t>
            </a:r>
            <a:r>
              <a:rPr sz="3400" b="1" spc="-30" dirty="0">
                <a:latin typeface="Trebuchet MS"/>
                <a:cs typeface="Trebuchet MS"/>
              </a:rPr>
              <a:t> </a:t>
            </a:r>
            <a:r>
              <a:rPr sz="3400" b="1" spc="-310" dirty="0">
                <a:latin typeface="Trebuchet MS"/>
                <a:cs typeface="Trebuchet MS"/>
              </a:rPr>
              <a:t>T</a:t>
            </a:r>
            <a:r>
              <a:rPr sz="3400" b="1" spc="-190" dirty="0">
                <a:latin typeface="Trebuchet MS"/>
                <a:cs typeface="Trebuchet MS"/>
              </a:rPr>
              <a:t>O</a:t>
            </a:r>
            <a:r>
              <a:rPr sz="3400" b="1" spc="-20" dirty="0">
                <a:latin typeface="Trebuchet MS"/>
                <a:cs typeface="Trebuchet MS"/>
              </a:rPr>
              <a:t> </a:t>
            </a:r>
            <a:r>
              <a:rPr sz="3400" b="1" spc="50" dirty="0">
                <a:latin typeface="Trebuchet MS"/>
                <a:cs typeface="Trebuchet MS"/>
              </a:rPr>
              <a:t>D</a:t>
            </a:r>
            <a:r>
              <a:rPr sz="3400" b="1" spc="114" dirty="0">
                <a:latin typeface="Trebuchet MS"/>
                <a:cs typeface="Trebuchet MS"/>
              </a:rPr>
              <a:t>I</a:t>
            </a:r>
            <a:r>
              <a:rPr sz="3400" b="1" spc="-30" dirty="0">
                <a:latin typeface="Trebuchet MS"/>
                <a:cs typeface="Trebuchet MS"/>
              </a:rPr>
              <a:t>G</a:t>
            </a:r>
            <a:r>
              <a:rPr sz="3400" b="1" dirty="0">
                <a:latin typeface="Trebuchet MS"/>
                <a:cs typeface="Trebuchet MS"/>
              </a:rPr>
              <a:t>I</a:t>
            </a:r>
            <a:r>
              <a:rPr sz="3400" b="1" spc="-280" dirty="0">
                <a:latin typeface="Trebuchet MS"/>
                <a:cs typeface="Trebuchet MS"/>
              </a:rPr>
              <a:t>TA</a:t>
            </a:r>
            <a:r>
              <a:rPr sz="3400" b="1" spc="-245" dirty="0">
                <a:latin typeface="Trebuchet MS"/>
                <a:cs typeface="Trebuchet MS"/>
              </a:rPr>
              <a:t>L</a:t>
            </a:r>
            <a:r>
              <a:rPr sz="3400" b="1" spc="-40" dirty="0">
                <a:latin typeface="Trebuchet MS"/>
                <a:cs typeface="Trebuchet MS"/>
              </a:rPr>
              <a:t> </a:t>
            </a:r>
            <a:r>
              <a:rPr sz="3400" b="1" spc="-105" dirty="0">
                <a:latin typeface="Trebuchet MS"/>
                <a:cs typeface="Trebuchet MS"/>
              </a:rPr>
              <a:t>S</a:t>
            </a:r>
            <a:r>
              <a:rPr sz="3400" b="1" spc="-114" dirty="0">
                <a:latin typeface="Trebuchet MS"/>
                <a:cs typeface="Trebuchet MS"/>
              </a:rPr>
              <a:t>Y</a:t>
            </a:r>
            <a:r>
              <a:rPr sz="3400" b="1" spc="-90" dirty="0">
                <a:latin typeface="Trebuchet MS"/>
                <a:cs typeface="Trebuchet MS"/>
              </a:rPr>
              <a:t>ST</a:t>
            </a:r>
            <a:r>
              <a:rPr sz="3400" b="1" spc="-70" dirty="0">
                <a:latin typeface="Trebuchet MS"/>
                <a:cs typeface="Trebuchet MS"/>
              </a:rPr>
              <a:t>E</a:t>
            </a:r>
            <a:r>
              <a:rPr sz="3400" b="1" spc="-85" dirty="0">
                <a:latin typeface="Trebuchet MS"/>
                <a:cs typeface="Trebuchet MS"/>
              </a:rPr>
              <a:t>M</a:t>
            </a:r>
            <a:r>
              <a:rPr sz="3400" b="1" spc="125" dirty="0">
                <a:latin typeface="Trebuchet MS"/>
                <a:cs typeface="Trebuchet MS"/>
              </a:rPr>
              <a:t>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6975" y="1090930"/>
            <a:ext cx="22631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ANALOG</a:t>
            </a:r>
            <a:r>
              <a:rPr sz="2000" spc="-13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CIRCUITS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6051" y="2034539"/>
            <a:ext cx="8464296" cy="398678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114" dirty="0"/>
              <a:t>I</a:t>
            </a:r>
            <a:r>
              <a:rPr sz="3400" spc="-290" dirty="0"/>
              <a:t>N</a:t>
            </a:r>
            <a:r>
              <a:rPr sz="3400" spc="-254" dirty="0"/>
              <a:t>T</a:t>
            </a:r>
            <a:r>
              <a:rPr sz="3400" spc="-55" dirty="0"/>
              <a:t>RO</a:t>
            </a:r>
            <a:r>
              <a:rPr sz="3400" spc="-90" dirty="0"/>
              <a:t>DU</a:t>
            </a:r>
            <a:r>
              <a:rPr sz="3400" spc="-75" dirty="0"/>
              <a:t>C</a:t>
            </a:r>
            <a:r>
              <a:rPr sz="3400" spc="-155" dirty="0"/>
              <a:t>TIO</a:t>
            </a:r>
            <a:r>
              <a:rPr sz="3400" spc="-190" dirty="0"/>
              <a:t>N</a:t>
            </a:r>
            <a:r>
              <a:rPr sz="3400" spc="-30" dirty="0"/>
              <a:t> </a:t>
            </a:r>
            <a:r>
              <a:rPr sz="3400" spc="-310" dirty="0"/>
              <a:t>T</a:t>
            </a:r>
            <a:r>
              <a:rPr sz="3400" spc="-190" dirty="0"/>
              <a:t>O</a:t>
            </a:r>
            <a:r>
              <a:rPr sz="3400" spc="-20" dirty="0"/>
              <a:t> </a:t>
            </a:r>
            <a:r>
              <a:rPr sz="3400" spc="50" dirty="0"/>
              <a:t>D</a:t>
            </a:r>
            <a:r>
              <a:rPr sz="3400" spc="114" dirty="0"/>
              <a:t>I</a:t>
            </a:r>
            <a:r>
              <a:rPr sz="3400" spc="-30" dirty="0"/>
              <a:t>G</a:t>
            </a:r>
            <a:r>
              <a:rPr sz="3400" dirty="0"/>
              <a:t>I</a:t>
            </a:r>
            <a:r>
              <a:rPr sz="3400" spc="-280" dirty="0"/>
              <a:t>TA</a:t>
            </a:r>
            <a:r>
              <a:rPr sz="3400" spc="-245" dirty="0"/>
              <a:t>L</a:t>
            </a:r>
            <a:r>
              <a:rPr sz="3400" spc="-40" dirty="0"/>
              <a:t> </a:t>
            </a:r>
            <a:r>
              <a:rPr sz="3400" spc="-105" dirty="0"/>
              <a:t>S</a:t>
            </a:r>
            <a:r>
              <a:rPr sz="3400" spc="-114" dirty="0"/>
              <a:t>Y</a:t>
            </a:r>
            <a:r>
              <a:rPr sz="3400" spc="-90" dirty="0"/>
              <a:t>ST</a:t>
            </a:r>
            <a:r>
              <a:rPr sz="3400" spc="-70" dirty="0"/>
              <a:t>E</a:t>
            </a:r>
            <a:r>
              <a:rPr sz="3400" spc="-85" dirty="0"/>
              <a:t>M</a:t>
            </a:r>
            <a:r>
              <a:rPr sz="3400" spc="125" dirty="0"/>
              <a:t>S</a:t>
            </a:r>
            <a:endParaRPr sz="34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85419"/>
            <a:ext cx="8379459" cy="527113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610"/>
              </a:spcBef>
            </a:pP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DIGITAL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70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digital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quantity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one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having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discrete </a:t>
            </a:r>
            <a:r>
              <a:rPr sz="2800" spc="-135" dirty="0">
                <a:solidFill>
                  <a:srgbClr val="006FC0"/>
                </a:solidFill>
                <a:latin typeface="Tahoma"/>
                <a:cs typeface="Tahoma"/>
              </a:rPr>
              <a:t>set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values. 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Systems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which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process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discrete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values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called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FF0000"/>
                </a:solidFill>
                <a:latin typeface="Tahoma"/>
                <a:cs typeface="Tahoma"/>
              </a:rPr>
              <a:t>digital</a:t>
            </a:r>
            <a:r>
              <a:rPr sz="2800" spc="-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FF0000"/>
                </a:solidFill>
                <a:latin typeface="Tahoma"/>
                <a:cs typeface="Tahoma"/>
              </a:rPr>
              <a:t>systems.</a:t>
            </a:r>
            <a:endParaRPr sz="28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digital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representation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quantities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represented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not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by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proportional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quantities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but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by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symbols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called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digits.</a:t>
            </a:r>
            <a:endParaRPr sz="28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240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For many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years,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applications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digital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electronics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were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confined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computer 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systems.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Today,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digital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technology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applied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wide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range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areas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addition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computers.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114" dirty="0">
                <a:latin typeface="Trebuchet MS"/>
                <a:cs typeface="Trebuchet MS"/>
              </a:rPr>
              <a:t>I</a:t>
            </a:r>
            <a:r>
              <a:rPr sz="3400" b="1" spc="-290" dirty="0">
                <a:latin typeface="Trebuchet MS"/>
                <a:cs typeface="Trebuchet MS"/>
              </a:rPr>
              <a:t>N</a:t>
            </a:r>
            <a:r>
              <a:rPr sz="3400" b="1" spc="-254" dirty="0">
                <a:latin typeface="Trebuchet MS"/>
                <a:cs typeface="Trebuchet MS"/>
              </a:rPr>
              <a:t>T</a:t>
            </a:r>
            <a:r>
              <a:rPr sz="3400" b="1" spc="-55" dirty="0">
                <a:latin typeface="Trebuchet MS"/>
                <a:cs typeface="Trebuchet MS"/>
              </a:rPr>
              <a:t>RO</a:t>
            </a:r>
            <a:r>
              <a:rPr sz="3400" b="1" spc="-90" dirty="0">
                <a:latin typeface="Trebuchet MS"/>
                <a:cs typeface="Trebuchet MS"/>
              </a:rPr>
              <a:t>DU</a:t>
            </a:r>
            <a:r>
              <a:rPr sz="3400" b="1" spc="-75" dirty="0">
                <a:latin typeface="Trebuchet MS"/>
                <a:cs typeface="Trebuchet MS"/>
              </a:rPr>
              <a:t>C</a:t>
            </a:r>
            <a:r>
              <a:rPr sz="3400" b="1" spc="-155" dirty="0">
                <a:latin typeface="Trebuchet MS"/>
                <a:cs typeface="Trebuchet MS"/>
              </a:rPr>
              <a:t>TIO</a:t>
            </a:r>
            <a:r>
              <a:rPr sz="3400" b="1" spc="-190" dirty="0">
                <a:latin typeface="Trebuchet MS"/>
                <a:cs typeface="Trebuchet MS"/>
              </a:rPr>
              <a:t>N</a:t>
            </a:r>
            <a:r>
              <a:rPr sz="3400" b="1" spc="-30" dirty="0">
                <a:latin typeface="Trebuchet MS"/>
                <a:cs typeface="Trebuchet MS"/>
              </a:rPr>
              <a:t> </a:t>
            </a:r>
            <a:r>
              <a:rPr sz="3400" b="1" spc="-310" dirty="0">
                <a:latin typeface="Trebuchet MS"/>
                <a:cs typeface="Trebuchet MS"/>
              </a:rPr>
              <a:t>T</a:t>
            </a:r>
            <a:r>
              <a:rPr sz="3400" b="1" spc="-190" dirty="0">
                <a:latin typeface="Trebuchet MS"/>
                <a:cs typeface="Trebuchet MS"/>
              </a:rPr>
              <a:t>O</a:t>
            </a:r>
            <a:r>
              <a:rPr sz="3400" b="1" spc="-20" dirty="0">
                <a:latin typeface="Trebuchet MS"/>
                <a:cs typeface="Trebuchet MS"/>
              </a:rPr>
              <a:t> </a:t>
            </a:r>
            <a:r>
              <a:rPr sz="3400" b="1" spc="50" dirty="0">
                <a:latin typeface="Trebuchet MS"/>
                <a:cs typeface="Trebuchet MS"/>
              </a:rPr>
              <a:t>D</a:t>
            </a:r>
            <a:r>
              <a:rPr sz="3400" b="1" spc="114" dirty="0">
                <a:latin typeface="Trebuchet MS"/>
                <a:cs typeface="Trebuchet MS"/>
              </a:rPr>
              <a:t>I</a:t>
            </a:r>
            <a:r>
              <a:rPr sz="3400" b="1" spc="-30" dirty="0">
                <a:latin typeface="Trebuchet MS"/>
                <a:cs typeface="Trebuchet MS"/>
              </a:rPr>
              <a:t>G</a:t>
            </a:r>
            <a:r>
              <a:rPr sz="3400" b="1" dirty="0">
                <a:latin typeface="Trebuchet MS"/>
                <a:cs typeface="Trebuchet MS"/>
              </a:rPr>
              <a:t>I</a:t>
            </a:r>
            <a:r>
              <a:rPr sz="3400" b="1" spc="-280" dirty="0">
                <a:latin typeface="Trebuchet MS"/>
                <a:cs typeface="Trebuchet MS"/>
              </a:rPr>
              <a:t>TA</a:t>
            </a:r>
            <a:r>
              <a:rPr sz="3400" b="1" spc="-245" dirty="0">
                <a:latin typeface="Trebuchet MS"/>
                <a:cs typeface="Trebuchet MS"/>
              </a:rPr>
              <a:t>L</a:t>
            </a:r>
            <a:r>
              <a:rPr sz="3400" b="1" spc="-40" dirty="0">
                <a:latin typeface="Trebuchet MS"/>
                <a:cs typeface="Trebuchet MS"/>
              </a:rPr>
              <a:t> </a:t>
            </a:r>
            <a:r>
              <a:rPr sz="3400" b="1" spc="-105" dirty="0">
                <a:latin typeface="Trebuchet MS"/>
                <a:cs typeface="Trebuchet MS"/>
              </a:rPr>
              <a:t>S</a:t>
            </a:r>
            <a:r>
              <a:rPr sz="3400" b="1" spc="-114" dirty="0">
                <a:latin typeface="Trebuchet MS"/>
                <a:cs typeface="Trebuchet MS"/>
              </a:rPr>
              <a:t>Y</a:t>
            </a:r>
            <a:r>
              <a:rPr sz="3400" b="1" spc="-90" dirty="0">
                <a:latin typeface="Trebuchet MS"/>
                <a:cs typeface="Trebuchet MS"/>
              </a:rPr>
              <a:t>ST</a:t>
            </a:r>
            <a:r>
              <a:rPr sz="3400" b="1" spc="-70" dirty="0">
                <a:latin typeface="Trebuchet MS"/>
                <a:cs typeface="Trebuchet MS"/>
              </a:rPr>
              <a:t>E</a:t>
            </a:r>
            <a:r>
              <a:rPr sz="3400" b="1" spc="-85" dirty="0">
                <a:latin typeface="Trebuchet MS"/>
                <a:cs typeface="Trebuchet MS"/>
              </a:rPr>
              <a:t>M</a:t>
            </a:r>
            <a:r>
              <a:rPr sz="3400" b="1" spc="125" dirty="0">
                <a:latin typeface="Trebuchet MS"/>
                <a:cs typeface="Trebuchet MS"/>
              </a:rPr>
              <a:t>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6975" y="1090930"/>
            <a:ext cx="2044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DIGITAL</a:t>
            </a:r>
            <a:r>
              <a:rPr sz="2000" spc="-1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95400" y="1447800"/>
            <a:ext cx="6701155" cy="4798060"/>
            <a:chOff x="1295400" y="1447800"/>
            <a:chExt cx="6701155" cy="47980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5400" y="1447800"/>
              <a:ext cx="6701028" cy="251002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62200" y="3957827"/>
              <a:ext cx="4114800" cy="228752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114" dirty="0">
                <a:latin typeface="Trebuchet MS"/>
                <a:cs typeface="Trebuchet MS"/>
              </a:rPr>
              <a:t>I</a:t>
            </a:r>
            <a:r>
              <a:rPr sz="3400" b="1" spc="-290" dirty="0">
                <a:latin typeface="Trebuchet MS"/>
                <a:cs typeface="Trebuchet MS"/>
              </a:rPr>
              <a:t>N</a:t>
            </a:r>
            <a:r>
              <a:rPr sz="3400" b="1" spc="-254" dirty="0">
                <a:latin typeface="Trebuchet MS"/>
                <a:cs typeface="Trebuchet MS"/>
              </a:rPr>
              <a:t>T</a:t>
            </a:r>
            <a:r>
              <a:rPr sz="3400" b="1" spc="-55" dirty="0">
                <a:latin typeface="Trebuchet MS"/>
                <a:cs typeface="Trebuchet MS"/>
              </a:rPr>
              <a:t>RO</a:t>
            </a:r>
            <a:r>
              <a:rPr sz="3400" b="1" spc="-90" dirty="0">
                <a:latin typeface="Trebuchet MS"/>
                <a:cs typeface="Trebuchet MS"/>
              </a:rPr>
              <a:t>DU</a:t>
            </a:r>
            <a:r>
              <a:rPr sz="3400" b="1" spc="-75" dirty="0">
                <a:latin typeface="Trebuchet MS"/>
                <a:cs typeface="Trebuchet MS"/>
              </a:rPr>
              <a:t>C</a:t>
            </a:r>
            <a:r>
              <a:rPr sz="3400" b="1" spc="-155" dirty="0">
                <a:latin typeface="Trebuchet MS"/>
                <a:cs typeface="Trebuchet MS"/>
              </a:rPr>
              <a:t>TIO</a:t>
            </a:r>
            <a:r>
              <a:rPr sz="3400" b="1" spc="-190" dirty="0">
                <a:latin typeface="Trebuchet MS"/>
                <a:cs typeface="Trebuchet MS"/>
              </a:rPr>
              <a:t>N</a:t>
            </a:r>
            <a:r>
              <a:rPr sz="3400" b="1" spc="-30" dirty="0">
                <a:latin typeface="Trebuchet MS"/>
                <a:cs typeface="Trebuchet MS"/>
              </a:rPr>
              <a:t> </a:t>
            </a:r>
            <a:r>
              <a:rPr sz="3400" b="1" spc="-310" dirty="0">
                <a:latin typeface="Trebuchet MS"/>
                <a:cs typeface="Trebuchet MS"/>
              </a:rPr>
              <a:t>T</a:t>
            </a:r>
            <a:r>
              <a:rPr sz="3400" b="1" spc="-190" dirty="0">
                <a:latin typeface="Trebuchet MS"/>
                <a:cs typeface="Trebuchet MS"/>
              </a:rPr>
              <a:t>O</a:t>
            </a:r>
            <a:r>
              <a:rPr sz="3400" b="1" spc="-20" dirty="0">
                <a:latin typeface="Trebuchet MS"/>
                <a:cs typeface="Trebuchet MS"/>
              </a:rPr>
              <a:t> </a:t>
            </a:r>
            <a:r>
              <a:rPr sz="3400" b="1" spc="50" dirty="0">
                <a:latin typeface="Trebuchet MS"/>
                <a:cs typeface="Trebuchet MS"/>
              </a:rPr>
              <a:t>D</a:t>
            </a:r>
            <a:r>
              <a:rPr sz="3400" b="1" spc="114" dirty="0">
                <a:latin typeface="Trebuchet MS"/>
                <a:cs typeface="Trebuchet MS"/>
              </a:rPr>
              <a:t>I</a:t>
            </a:r>
            <a:r>
              <a:rPr sz="3400" b="1" spc="-30" dirty="0">
                <a:latin typeface="Trebuchet MS"/>
                <a:cs typeface="Trebuchet MS"/>
              </a:rPr>
              <a:t>G</a:t>
            </a:r>
            <a:r>
              <a:rPr sz="3400" b="1" dirty="0">
                <a:latin typeface="Trebuchet MS"/>
                <a:cs typeface="Trebuchet MS"/>
              </a:rPr>
              <a:t>I</a:t>
            </a:r>
            <a:r>
              <a:rPr sz="3400" b="1" spc="-280" dirty="0">
                <a:latin typeface="Trebuchet MS"/>
                <a:cs typeface="Trebuchet MS"/>
              </a:rPr>
              <a:t>TA</a:t>
            </a:r>
            <a:r>
              <a:rPr sz="3400" b="1" spc="-245" dirty="0">
                <a:latin typeface="Trebuchet MS"/>
                <a:cs typeface="Trebuchet MS"/>
              </a:rPr>
              <a:t>L</a:t>
            </a:r>
            <a:r>
              <a:rPr sz="3400" b="1" spc="-40" dirty="0">
                <a:latin typeface="Trebuchet MS"/>
                <a:cs typeface="Trebuchet MS"/>
              </a:rPr>
              <a:t> </a:t>
            </a:r>
            <a:r>
              <a:rPr sz="3400" b="1" spc="-105" dirty="0">
                <a:latin typeface="Trebuchet MS"/>
                <a:cs typeface="Trebuchet MS"/>
              </a:rPr>
              <a:t>S</a:t>
            </a:r>
            <a:r>
              <a:rPr sz="3400" b="1" spc="-114" dirty="0">
                <a:latin typeface="Trebuchet MS"/>
                <a:cs typeface="Trebuchet MS"/>
              </a:rPr>
              <a:t>Y</a:t>
            </a:r>
            <a:r>
              <a:rPr sz="3400" b="1" spc="-90" dirty="0">
                <a:latin typeface="Trebuchet MS"/>
                <a:cs typeface="Trebuchet MS"/>
              </a:rPr>
              <a:t>ST</a:t>
            </a:r>
            <a:r>
              <a:rPr sz="3400" b="1" spc="-70" dirty="0">
                <a:latin typeface="Trebuchet MS"/>
                <a:cs typeface="Trebuchet MS"/>
              </a:rPr>
              <a:t>E</a:t>
            </a:r>
            <a:r>
              <a:rPr sz="3400" b="1" spc="-85" dirty="0">
                <a:latin typeface="Trebuchet MS"/>
                <a:cs typeface="Trebuchet MS"/>
              </a:rPr>
              <a:t>M</a:t>
            </a:r>
            <a:r>
              <a:rPr sz="3400" b="1" spc="125" dirty="0">
                <a:latin typeface="Trebuchet MS"/>
                <a:cs typeface="Trebuchet MS"/>
              </a:rPr>
              <a:t>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6975" y="1090930"/>
            <a:ext cx="21374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D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160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-18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AL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RCU</a:t>
            </a:r>
            <a:r>
              <a:rPr sz="2000" spc="-130" dirty="0">
                <a:solidFill>
                  <a:srgbClr val="C00000"/>
                </a:solidFill>
                <a:latin typeface="Tahoma"/>
                <a:cs typeface="Tahoma"/>
              </a:rPr>
              <a:t>ITS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00" y="2438400"/>
            <a:ext cx="8624316" cy="3052572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114" dirty="0"/>
              <a:t>I</a:t>
            </a:r>
            <a:r>
              <a:rPr sz="3400" spc="-290" dirty="0"/>
              <a:t>N</a:t>
            </a:r>
            <a:r>
              <a:rPr sz="3400" spc="-254" dirty="0"/>
              <a:t>T</a:t>
            </a:r>
            <a:r>
              <a:rPr sz="3400" spc="-55" dirty="0"/>
              <a:t>RO</a:t>
            </a:r>
            <a:r>
              <a:rPr sz="3400" spc="-90" dirty="0"/>
              <a:t>DU</a:t>
            </a:r>
            <a:r>
              <a:rPr sz="3400" spc="-75" dirty="0"/>
              <a:t>C</a:t>
            </a:r>
            <a:r>
              <a:rPr sz="3400" spc="-155" dirty="0"/>
              <a:t>TIO</a:t>
            </a:r>
            <a:r>
              <a:rPr sz="3400" spc="-190" dirty="0"/>
              <a:t>N</a:t>
            </a:r>
            <a:r>
              <a:rPr sz="3400" spc="-30" dirty="0"/>
              <a:t> </a:t>
            </a:r>
            <a:r>
              <a:rPr sz="3400" spc="-310" dirty="0"/>
              <a:t>T</a:t>
            </a:r>
            <a:r>
              <a:rPr sz="3400" spc="-190" dirty="0"/>
              <a:t>O</a:t>
            </a:r>
            <a:r>
              <a:rPr sz="3400" spc="-20" dirty="0"/>
              <a:t> </a:t>
            </a:r>
            <a:r>
              <a:rPr sz="3400" spc="50" dirty="0"/>
              <a:t>D</a:t>
            </a:r>
            <a:r>
              <a:rPr sz="3400" spc="114" dirty="0"/>
              <a:t>I</a:t>
            </a:r>
            <a:r>
              <a:rPr sz="3400" spc="-30" dirty="0"/>
              <a:t>G</a:t>
            </a:r>
            <a:r>
              <a:rPr sz="3400" dirty="0"/>
              <a:t>I</a:t>
            </a:r>
            <a:r>
              <a:rPr sz="3400" spc="-280" dirty="0"/>
              <a:t>TA</a:t>
            </a:r>
            <a:r>
              <a:rPr sz="3400" spc="-245" dirty="0"/>
              <a:t>L</a:t>
            </a:r>
            <a:r>
              <a:rPr sz="3400" spc="-40" dirty="0"/>
              <a:t> </a:t>
            </a:r>
            <a:r>
              <a:rPr sz="3400" spc="-105" dirty="0"/>
              <a:t>S</a:t>
            </a:r>
            <a:r>
              <a:rPr sz="3400" spc="-114" dirty="0"/>
              <a:t>Y</a:t>
            </a:r>
            <a:r>
              <a:rPr sz="3400" spc="-90" dirty="0"/>
              <a:t>ST</a:t>
            </a:r>
            <a:r>
              <a:rPr sz="3400" spc="-70" dirty="0"/>
              <a:t>E</a:t>
            </a:r>
            <a:r>
              <a:rPr sz="3400" spc="-85" dirty="0"/>
              <a:t>M</a:t>
            </a:r>
            <a:r>
              <a:rPr sz="3400" spc="125" dirty="0"/>
              <a:t>S</a:t>
            </a:r>
            <a:endParaRPr sz="3400"/>
          </a:p>
        </p:txBody>
      </p:sp>
      <p:sp>
        <p:nvSpPr>
          <p:cNvPr id="12" name="object 12"/>
          <p:cNvSpPr txBox="1"/>
          <p:nvPr/>
        </p:nvSpPr>
        <p:spPr>
          <a:xfrm>
            <a:off x="3355975" y="1097661"/>
            <a:ext cx="344995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ANALOG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vs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DIGITAL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SIGNALS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3400" y="1690116"/>
            <a:ext cx="5762625" cy="4625340"/>
            <a:chOff x="533400" y="1690116"/>
            <a:chExt cx="5762625" cy="462534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" y="1690116"/>
              <a:ext cx="5762244" cy="24109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3400" y="4267200"/>
              <a:ext cx="5762244" cy="204825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785229" y="2357754"/>
            <a:ext cx="20294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Analog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waves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are </a:t>
            </a:r>
            <a:r>
              <a:rPr sz="2400" b="1" spc="-5" dirty="0">
                <a:latin typeface="Calibri"/>
                <a:cs typeface="Calibri"/>
              </a:rPr>
              <a:t>smooth </a:t>
            </a:r>
            <a:r>
              <a:rPr sz="2400" b="1" dirty="0">
                <a:latin typeface="Calibri"/>
                <a:cs typeface="Calibri"/>
              </a:rPr>
              <a:t>and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continuous,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85229" y="3455289"/>
            <a:ext cx="810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d</a:t>
            </a:r>
            <a:r>
              <a:rPr sz="2400" b="1" spc="-10" dirty="0">
                <a:latin typeface="Calibri"/>
                <a:cs typeface="Calibri"/>
              </a:rPr>
              <a:t>i</a:t>
            </a:r>
            <a:r>
              <a:rPr sz="2400" b="1" spc="-5" dirty="0">
                <a:latin typeface="Calibri"/>
                <a:cs typeface="Calibri"/>
              </a:rPr>
              <a:t>gi</a:t>
            </a:r>
            <a:r>
              <a:rPr sz="2400" b="1" spc="-30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al  </a:t>
            </a:r>
            <a:r>
              <a:rPr sz="2400" b="1" spc="-10" dirty="0">
                <a:latin typeface="Calibri"/>
                <a:cs typeface="Calibri"/>
              </a:rPr>
              <a:t>are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20761" y="3455289"/>
            <a:ext cx="11931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9095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w</a:t>
            </a:r>
            <a:r>
              <a:rPr sz="2400" b="1" spc="-35" dirty="0">
                <a:latin typeface="Calibri"/>
                <a:cs typeface="Calibri"/>
              </a:rPr>
              <a:t>a</a:t>
            </a:r>
            <a:r>
              <a:rPr sz="2400" b="1" spc="-20" dirty="0">
                <a:latin typeface="Calibri"/>
                <a:cs typeface="Calibri"/>
              </a:rPr>
              <a:t>v</a:t>
            </a:r>
            <a:r>
              <a:rPr sz="2400" b="1" spc="-5" dirty="0">
                <a:latin typeface="Calibri"/>
                <a:cs typeface="Calibri"/>
              </a:rPr>
              <a:t>es  </a:t>
            </a:r>
            <a:r>
              <a:rPr sz="2400" b="1" spc="-25" dirty="0">
                <a:latin typeface="Calibri"/>
                <a:cs typeface="Calibri"/>
              </a:rPr>
              <a:t>s</a:t>
            </a:r>
            <a:r>
              <a:rPr sz="2400" b="1" spc="-30" dirty="0">
                <a:latin typeface="Calibri"/>
                <a:cs typeface="Calibri"/>
              </a:rPr>
              <a:t>t</a:t>
            </a:r>
            <a:r>
              <a:rPr sz="2400" b="1" spc="-5" dirty="0">
                <a:latin typeface="Calibri"/>
                <a:cs typeface="Calibri"/>
              </a:rPr>
              <a:t>ep</a:t>
            </a:r>
            <a:r>
              <a:rPr sz="2400" b="1" dirty="0">
                <a:latin typeface="Calibri"/>
                <a:cs typeface="Calibri"/>
              </a:rPr>
              <a:t>pi</a:t>
            </a:r>
            <a:r>
              <a:rPr sz="2400" b="1" spc="-10" dirty="0">
                <a:latin typeface="Calibri"/>
                <a:cs typeface="Calibri"/>
              </a:rPr>
              <a:t>n</a:t>
            </a:r>
            <a:r>
              <a:rPr sz="2400" b="1" spc="35" dirty="0">
                <a:latin typeface="Calibri"/>
                <a:cs typeface="Calibri"/>
              </a:rPr>
              <a:t>g</a:t>
            </a:r>
            <a:r>
              <a:rPr sz="2400" b="1" dirty="0">
                <a:latin typeface="Calibri"/>
                <a:cs typeface="Calibri"/>
              </a:rPr>
              <a:t>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85229" y="4186808"/>
            <a:ext cx="20294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537970" algn="l"/>
              </a:tabLst>
            </a:pPr>
            <a:r>
              <a:rPr sz="2400" b="1" dirty="0">
                <a:latin typeface="Calibri"/>
                <a:cs typeface="Calibri"/>
              </a:rPr>
              <a:t>sq</a:t>
            </a:r>
            <a:r>
              <a:rPr sz="2400" b="1" spc="-10" dirty="0">
                <a:latin typeface="Calibri"/>
                <a:cs typeface="Calibri"/>
              </a:rPr>
              <a:t>u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25" dirty="0">
                <a:latin typeface="Calibri"/>
                <a:cs typeface="Calibri"/>
              </a:rPr>
              <a:t>r</a:t>
            </a:r>
            <a:r>
              <a:rPr sz="2400" b="1" spc="-5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,	and  </a:t>
            </a:r>
            <a:r>
              <a:rPr sz="2400" b="1" spc="-10" dirty="0">
                <a:latin typeface="Calibri"/>
                <a:cs typeface="Calibri"/>
              </a:rPr>
              <a:t>discrete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114" dirty="0"/>
              <a:t>I</a:t>
            </a:r>
            <a:r>
              <a:rPr sz="3400" spc="-290" dirty="0"/>
              <a:t>N</a:t>
            </a:r>
            <a:r>
              <a:rPr sz="3400" spc="-254" dirty="0"/>
              <a:t>T</a:t>
            </a:r>
            <a:r>
              <a:rPr sz="3400" spc="-55" dirty="0"/>
              <a:t>RO</a:t>
            </a:r>
            <a:r>
              <a:rPr sz="3400" spc="-90" dirty="0"/>
              <a:t>DU</a:t>
            </a:r>
            <a:r>
              <a:rPr sz="3400" spc="-75" dirty="0"/>
              <a:t>C</a:t>
            </a:r>
            <a:r>
              <a:rPr sz="3400" spc="-155" dirty="0"/>
              <a:t>TIO</a:t>
            </a:r>
            <a:r>
              <a:rPr sz="3400" spc="-190" dirty="0"/>
              <a:t>N</a:t>
            </a:r>
            <a:r>
              <a:rPr sz="3400" spc="-30" dirty="0"/>
              <a:t> </a:t>
            </a:r>
            <a:r>
              <a:rPr sz="3400" spc="-310" dirty="0"/>
              <a:t>T</a:t>
            </a:r>
            <a:r>
              <a:rPr sz="3400" spc="-190" dirty="0"/>
              <a:t>O</a:t>
            </a:r>
            <a:r>
              <a:rPr sz="3400" spc="-20" dirty="0"/>
              <a:t> </a:t>
            </a:r>
            <a:r>
              <a:rPr sz="3400" spc="50" dirty="0"/>
              <a:t>D</a:t>
            </a:r>
            <a:r>
              <a:rPr sz="3400" spc="114" dirty="0"/>
              <a:t>I</a:t>
            </a:r>
            <a:r>
              <a:rPr sz="3400" spc="-30" dirty="0"/>
              <a:t>G</a:t>
            </a:r>
            <a:r>
              <a:rPr sz="3400" dirty="0"/>
              <a:t>I</a:t>
            </a:r>
            <a:r>
              <a:rPr sz="3400" spc="-280" dirty="0"/>
              <a:t>TA</a:t>
            </a:r>
            <a:r>
              <a:rPr sz="3400" spc="-245" dirty="0"/>
              <a:t>L</a:t>
            </a:r>
            <a:r>
              <a:rPr sz="3400" spc="-40" dirty="0"/>
              <a:t> </a:t>
            </a:r>
            <a:r>
              <a:rPr sz="3400" spc="-105" dirty="0"/>
              <a:t>S</a:t>
            </a:r>
            <a:r>
              <a:rPr sz="3400" spc="-114" dirty="0"/>
              <a:t>Y</a:t>
            </a:r>
            <a:r>
              <a:rPr sz="3400" spc="-90" dirty="0"/>
              <a:t>ST</a:t>
            </a:r>
            <a:r>
              <a:rPr sz="3400" spc="-70" dirty="0"/>
              <a:t>E</a:t>
            </a:r>
            <a:r>
              <a:rPr sz="3400" spc="-85" dirty="0"/>
              <a:t>M</a:t>
            </a:r>
            <a:r>
              <a:rPr sz="3400" spc="125" dirty="0"/>
              <a:t>S</a:t>
            </a:r>
            <a:endParaRPr sz="3400"/>
          </a:p>
        </p:txBody>
      </p:sp>
      <p:sp>
        <p:nvSpPr>
          <p:cNvPr id="12" name="object 12"/>
          <p:cNvSpPr txBox="1"/>
          <p:nvPr/>
        </p:nvSpPr>
        <p:spPr>
          <a:xfrm>
            <a:off x="383540" y="1097661"/>
            <a:ext cx="8181340" cy="2014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5135">
              <a:lnSpc>
                <a:spcPct val="100000"/>
              </a:lnSpc>
              <a:spcBef>
                <a:spcPts val="105"/>
              </a:spcBef>
            </a:pP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ANALOG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vs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DIGITAL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SIGNALS</a:t>
            </a:r>
            <a:endParaRPr sz="20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  <a:spcBef>
                <a:spcPts val="1730"/>
              </a:spcBef>
            </a:pP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400" spc="-20" dirty="0">
                <a:solidFill>
                  <a:srgbClr val="006FC0"/>
                </a:solidFill>
                <a:latin typeface="Tahoma"/>
                <a:cs typeface="Tahoma"/>
              </a:rPr>
              <a:t>example,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400" spc="-10" dirty="0">
                <a:solidFill>
                  <a:srgbClr val="006FC0"/>
                </a:solidFill>
                <a:latin typeface="Tahoma"/>
                <a:cs typeface="Tahoma"/>
              </a:rPr>
              <a:t>air </a:t>
            </a: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temperature </a:t>
            </a:r>
            <a:r>
              <a:rPr sz="2400" spc="-90" dirty="0">
                <a:solidFill>
                  <a:srgbClr val="006FC0"/>
                </a:solidFill>
                <a:latin typeface="Tahoma"/>
                <a:cs typeface="Tahoma"/>
              </a:rPr>
              <a:t>changes </a:t>
            </a:r>
            <a:r>
              <a:rPr sz="2400" spc="30" dirty="0">
                <a:solidFill>
                  <a:srgbClr val="006FC0"/>
                </a:solidFill>
                <a:latin typeface="Tahoma"/>
                <a:cs typeface="Tahoma"/>
              </a:rPr>
              <a:t>over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400" spc="-10" dirty="0">
                <a:solidFill>
                  <a:srgbClr val="006FC0"/>
                </a:solidFill>
                <a:latin typeface="Tahoma"/>
                <a:cs typeface="Tahoma"/>
              </a:rPr>
              <a:t>continuous </a:t>
            </a:r>
            <a:r>
              <a:rPr sz="24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range </a:t>
            </a:r>
            <a:r>
              <a:rPr sz="2400" spc="5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values. </a:t>
            </a: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During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Tahoma"/>
                <a:cs typeface="Tahoma"/>
              </a:rPr>
              <a:t>given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day,</a:t>
            </a:r>
            <a:r>
              <a:rPr sz="2400" spc="6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temperature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does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45" dirty="0">
                <a:solidFill>
                  <a:srgbClr val="006FC0"/>
                </a:solidFill>
                <a:latin typeface="Tahoma"/>
                <a:cs typeface="Tahoma"/>
              </a:rPr>
              <a:t>not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go from, </a:t>
            </a:r>
            <a:r>
              <a:rPr sz="2400" spc="-120" dirty="0">
                <a:solidFill>
                  <a:srgbClr val="006FC0"/>
                </a:solidFill>
                <a:latin typeface="Tahoma"/>
                <a:cs typeface="Tahoma"/>
              </a:rPr>
              <a:t>say, </a:t>
            </a:r>
            <a:r>
              <a:rPr sz="2400" spc="75" dirty="0">
                <a:solidFill>
                  <a:srgbClr val="006FC0"/>
                </a:solidFill>
                <a:latin typeface="Tahoma"/>
                <a:cs typeface="Tahoma"/>
              </a:rPr>
              <a:t>70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400" spc="-150" dirty="0">
                <a:solidFill>
                  <a:srgbClr val="006FC0"/>
                </a:solidFill>
                <a:latin typeface="Tahoma"/>
                <a:cs typeface="Tahoma"/>
              </a:rPr>
              <a:t>71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instantaneously;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it </a:t>
            </a:r>
            <a:r>
              <a:rPr sz="2400" spc="-100" dirty="0">
                <a:solidFill>
                  <a:srgbClr val="006FC0"/>
                </a:solidFill>
                <a:latin typeface="Tahoma"/>
                <a:cs typeface="Tahoma"/>
              </a:rPr>
              <a:t>takes </a:t>
            </a:r>
            <a:r>
              <a:rPr sz="2400" spc="70" dirty="0">
                <a:solidFill>
                  <a:srgbClr val="006FC0"/>
                </a:solidFill>
                <a:latin typeface="Tahoma"/>
                <a:cs typeface="Tahoma"/>
              </a:rPr>
              <a:t>on </a:t>
            </a:r>
            <a:r>
              <a:rPr sz="2400" spc="25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400" spc="-7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infinite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values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3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ahoma"/>
                <a:cs typeface="Tahoma"/>
              </a:rPr>
              <a:t>between.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36878" y="3315842"/>
            <a:ext cx="6892290" cy="3091815"/>
            <a:chOff x="936878" y="3315842"/>
            <a:chExt cx="6892290" cy="309181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6403" y="3325367"/>
              <a:ext cx="6873240" cy="307238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41641" y="3320605"/>
              <a:ext cx="6882765" cy="3082290"/>
            </a:xfrm>
            <a:custGeom>
              <a:avLst/>
              <a:gdLst/>
              <a:ahLst/>
              <a:cxnLst/>
              <a:rect l="l" t="t" r="r" b="b"/>
              <a:pathLst>
                <a:path w="6882765" h="3082290">
                  <a:moveTo>
                    <a:pt x="0" y="3081908"/>
                  </a:moveTo>
                  <a:lnTo>
                    <a:pt x="6882765" y="3081908"/>
                  </a:lnTo>
                  <a:lnTo>
                    <a:pt x="6882765" y="0"/>
                  </a:lnTo>
                  <a:lnTo>
                    <a:pt x="0" y="0"/>
                  </a:lnTo>
                  <a:lnTo>
                    <a:pt x="0" y="308190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114" dirty="0"/>
              <a:t>I</a:t>
            </a:r>
            <a:r>
              <a:rPr sz="3400" spc="-290" dirty="0"/>
              <a:t>N</a:t>
            </a:r>
            <a:r>
              <a:rPr sz="3400" spc="-254" dirty="0"/>
              <a:t>T</a:t>
            </a:r>
            <a:r>
              <a:rPr sz="3400" spc="-55" dirty="0"/>
              <a:t>RO</a:t>
            </a:r>
            <a:r>
              <a:rPr sz="3400" spc="-90" dirty="0"/>
              <a:t>DU</a:t>
            </a:r>
            <a:r>
              <a:rPr sz="3400" spc="-75" dirty="0"/>
              <a:t>C</a:t>
            </a:r>
            <a:r>
              <a:rPr sz="3400" spc="-155" dirty="0"/>
              <a:t>TIO</a:t>
            </a:r>
            <a:r>
              <a:rPr sz="3400" spc="-190" dirty="0"/>
              <a:t>N</a:t>
            </a:r>
            <a:r>
              <a:rPr sz="3400" spc="-30" dirty="0"/>
              <a:t> </a:t>
            </a:r>
            <a:r>
              <a:rPr sz="3400" spc="-310" dirty="0"/>
              <a:t>T</a:t>
            </a:r>
            <a:r>
              <a:rPr sz="3400" spc="-190" dirty="0"/>
              <a:t>O</a:t>
            </a:r>
            <a:r>
              <a:rPr sz="3400" spc="-20" dirty="0"/>
              <a:t> </a:t>
            </a:r>
            <a:r>
              <a:rPr sz="3400" spc="50" dirty="0"/>
              <a:t>D</a:t>
            </a:r>
            <a:r>
              <a:rPr sz="3400" spc="114" dirty="0"/>
              <a:t>I</a:t>
            </a:r>
            <a:r>
              <a:rPr sz="3400" spc="-30" dirty="0"/>
              <a:t>G</a:t>
            </a:r>
            <a:r>
              <a:rPr sz="3400" dirty="0"/>
              <a:t>I</a:t>
            </a:r>
            <a:r>
              <a:rPr sz="3400" spc="-280" dirty="0"/>
              <a:t>TA</a:t>
            </a:r>
            <a:r>
              <a:rPr sz="3400" spc="-245" dirty="0"/>
              <a:t>L</a:t>
            </a:r>
            <a:r>
              <a:rPr sz="3400" spc="-40" dirty="0"/>
              <a:t> </a:t>
            </a:r>
            <a:r>
              <a:rPr sz="3400" spc="-105" dirty="0"/>
              <a:t>S</a:t>
            </a:r>
            <a:r>
              <a:rPr sz="3400" spc="-114" dirty="0"/>
              <a:t>Y</a:t>
            </a:r>
            <a:r>
              <a:rPr sz="3400" spc="-90" dirty="0"/>
              <a:t>ST</a:t>
            </a:r>
            <a:r>
              <a:rPr sz="3400" spc="-70" dirty="0"/>
              <a:t>E</a:t>
            </a:r>
            <a:r>
              <a:rPr sz="3400" spc="-85" dirty="0"/>
              <a:t>M</a:t>
            </a:r>
            <a:r>
              <a:rPr sz="3400" spc="125" dirty="0"/>
              <a:t>S</a:t>
            </a:r>
            <a:endParaRPr sz="3400"/>
          </a:p>
        </p:txBody>
      </p:sp>
      <p:sp>
        <p:nvSpPr>
          <p:cNvPr id="12" name="object 12"/>
          <p:cNvSpPr txBox="1"/>
          <p:nvPr/>
        </p:nvSpPr>
        <p:spPr>
          <a:xfrm>
            <a:off x="383540" y="942389"/>
            <a:ext cx="8301990" cy="2135505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2985135">
              <a:lnSpc>
                <a:spcPct val="100000"/>
              </a:lnSpc>
              <a:spcBef>
                <a:spcPts val="1325"/>
              </a:spcBef>
            </a:pP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ANALOG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vs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DIGITAL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SIGNALS</a:t>
            </a:r>
            <a:endParaRPr sz="20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  <a:spcBef>
                <a:spcPts val="1465"/>
              </a:spcBef>
            </a:pP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Rather </a:t>
            </a: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than </a:t>
            </a: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graphing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temperature </a:t>
            </a:r>
            <a:r>
              <a:rPr sz="2400" spc="75" dirty="0">
                <a:solidFill>
                  <a:srgbClr val="006FC0"/>
                </a:solidFill>
                <a:latin typeface="Tahoma"/>
                <a:cs typeface="Tahoma"/>
              </a:rPr>
              <a:t>on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400" spc="-10" dirty="0">
                <a:solidFill>
                  <a:srgbClr val="006FC0"/>
                </a:solidFill>
                <a:latin typeface="Tahoma"/>
                <a:cs typeface="Tahoma"/>
              </a:rPr>
              <a:t>continuous </a:t>
            </a:r>
            <a:r>
              <a:rPr sz="2400" spc="-95" dirty="0">
                <a:solidFill>
                  <a:srgbClr val="006FC0"/>
                </a:solidFill>
                <a:latin typeface="Tahoma"/>
                <a:cs typeface="Tahoma"/>
              </a:rPr>
              <a:t>basis, </a:t>
            </a:r>
            <a:r>
              <a:rPr sz="24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suppose </a:t>
            </a:r>
            <a:r>
              <a:rPr sz="2400" spc="55" dirty="0">
                <a:solidFill>
                  <a:srgbClr val="006FC0"/>
                </a:solidFill>
                <a:latin typeface="Tahoma"/>
                <a:cs typeface="Tahoma"/>
              </a:rPr>
              <a:t>you 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just 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take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temperature </a:t>
            </a: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reading </a:t>
            </a: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every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hour. </a:t>
            </a:r>
            <a:r>
              <a:rPr sz="2400" spc="215" dirty="0">
                <a:solidFill>
                  <a:srgbClr val="006FC0"/>
                </a:solidFill>
                <a:latin typeface="Tahoma"/>
                <a:cs typeface="Tahoma"/>
              </a:rPr>
              <a:t>Now </a:t>
            </a:r>
            <a:r>
              <a:rPr sz="2400" spc="-7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006FC0"/>
                </a:solidFill>
                <a:latin typeface="Tahoma"/>
                <a:cs typeface="Tahoma"/>
              </a:rPr>
              <a:t>you </a:t>
            </a:r>
            <a:r>
              <a:rPr sz="2400" spc="-20" dirty="0">
                <a:solidFill>
                  <a:srgbClr val="006FC0"/>
                </a:solidFill>
                <a:latin typeface="Tahoma"/>
                <a:cs typeface="Tahoma"/>
              </a:rPr>
              <a:t>have</a:t>
            </a:r>
            <a:r>
              <a:rPr sz="24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sampled</a:t>
            </a:r>
            <a:r>
              <a:rPr sz="24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values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representing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 the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temperature</a:t>
            </a: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at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discrete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points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3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time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Tahoma"/>
                <a:cs typeface="Tahoma"/>
              </a:rPr>
              <a:t>(every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hour)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006FC0"/>
                </a:solidFill>
                <a:latin typeface="Tahoma"/>
                <a:cs typeface="Tahoma"/>
              </a:rPr>
              <a:t>over</a:t>
            </a:r>
            <a:r>
              <a:rPr sz="24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24-hour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30" dirty="0">
                <a:solidFill>
                  <a:srgbClr val="006FC0"/>
                </a:solidFill>
                <a:latin typeface="Tahoma"/>
                <a:cs typeface="Tahoma"/>
              </a:rPr>
              <a:t>period.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85938" y="3337178"/>
            <a:ext cx="6800850" cy="3023235"/>
            <a:chOff x="1285938" y="3337178"/>
            <a:chExt cx="6800850" cy="302323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5399" y="3346703"/>
              <a:ext cx="6781800" cy="300380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90700" y="3341941"/>
              <a:ext cx="6791325" cy="3013710"/>
            </a:xfrm>
            <a:custGeom>
              <a:avLst/>
              <a:gdLst/>
              <a:ahLst/>
              <a:cxnLst/>
              <a:rect l="l" t="t" r="r" b="b"/>
              <a:pathLst>
                <a:path w="6791325" h="3013710">
                  <a:moveTo>
                    <a:pt x="0" y="3013329"/>
                  </a:moveTo>
                  <a:lnTo>
                    <a:pt x="6791325" y="3013329"/>
                  </a:lnTo>
                  <a:lnTo>
                    <a:pt x="6791325" y="0"/>
                  </a:lnTo>
                  <a:lnTo>
                    <a:pt x="0" y="0"/>
                  </a:lnTo>
                  <a:lnTo>
                    <a:pt x="0" y="30133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78282"/>
              <a:ext cx="7572756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72692" y="306146"/>
            <a:ext cx="69932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114" dirty="0"/>
              <a:t>I</a:t>
            </a:r>
            <a:r>
              <a:rPr sz="3400" spc="-290" dirty="0"/>
              <a:t>N</a:t>
            </a:r>
            <a:r>
              <a:rPr sz="3400" spc="-254" dirty="0"/>
              <a:t>T</a:t>
            </a:r>
            <a:r>
              <a:rPr sz="3400" spc="-55" dirty="0"/>
              <a:t>RO</a:t>
            </a:r>
            <a:r>
              <a:rPr sz="3400" spc="-90" dirty="0"/>
              <a:t>DU</a:t>
            </a:r>
            <a:r>
              <a:rPr sz="3400" spc="-75" dirty="0"/>
              <a:t>C</a:t>
            </a:r>
            <a:r>
              <a:rPr sz="3400" spc="-155" dirty="0"/>
              <a:t>TIO</a:t>
            </a:r>
            <a:r>
              <a:rPr sz="3400" spc="-190" dirty="0"/>
              <a:t>N</a:t>
            </a:r>
            <a:r>
              <a:rPr sz="3400" spc="-30" dirty="0"/>
              <a:t> </a:t>
            </a:r>
            <a:r>
              <a:rPr sz="3400" spc="-310" dirty="0"/>
              <a:t>T</a:t>
            </a:r>
            <a:r>
              <a:rPr sz="3400" spc="-190" dirty="0"/>
              <a:t>O</a:t>
            </a:r>
            <a:r>
              <a:rPr sz="3400" spc="-20" dirty="0"/>
              <a:t> </a:t>
            </a:r>
            <a:r>
              <a:rPr sz="3400" spc="50" dirty="0"/>
              <a:t>D</a:t>
            </a:r>
            <a:r>
              <a:rPr sz="3400" spc="114" dirty="0"/>
              <a:t>I</a:t>
            </a:r>
            <a:r>
              <a:rPr sz="3400" spc="-30" dirty="0"/>
              <a:t>G</a:t>
            </a:r>
            <a:r>
              <a:rPr sz="3400" dirty="0"/>
              <a:t>I</a:t>
            </a:r>
            <a:r>
              <a:rPr sz="3400" spc="-280" dirty="0"/>
              <a:t>TA</a:t>
            </a:r>
            <a:r>
              <a:rPr sz="3400" spc="-245" dirty="0"/>
              <a:t>L</a:t>
            </a:r>
            <a:r>
              <a:rPr sz="3400" spc="-40" dirty="0"/>
              <a:t> </a:t>
            </a:r>
            <a:r>
              <a:rPr sz="3400" spc="-105" dirty="0"/>
              <a:t>S</a:t>
            </a:r>
            <a:r>
              <a:rPr sz="3400" spc="-114" dirty="0"/>
              <a:t>Y</a:t>
            </a:r>
            <a:r>
              <a:rPr sz="3400" spc="-90" dirty="0"/>
              <a:t>ST</a:t>
            </a:r>
            <a:r>
              <a:rPr sz="3400" spc="-70" dirty="0"/>
              <a:t>E</a:t>
            </a:r>
            <a:r>
              <a:rPr sz="3400" spc="-85" dirty="0"/>
              <a:t>M</a:t>
            </a:r>
            <a:r>
              <a:rPr sz="3400" spc="125" dirty="0"/>
              <a:t>S</a:t>
            </a:r>
            <a:endParaRPr sz="340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7340" y="1044425"/>
            <a:ext cx="8528685" cy="3940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134620" algn="ctr">
              <a:lnSpc>
                <a:spcPct val="100000"/>
              </a:lnSpc>
              <a:spcBef>
                <a:spcPts val="745"/>
              </a:spcBef>
            </a:pP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DIGITAL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C00000"/>
                </a:solidFill>
                <a:latin typeface="Tahoma"/>
                <a:cs typeface="Tahoma"/>
              </a:rPr>
              <a:t>ADVANTAGES</a:t>
            </a:r>
            <a:endParaRPr sz="20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89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Easier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design.</a:t>
            </a:r>
            <a:endParaRPr sz="28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168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Information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storage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easy.</a:t>
            </a:r>
            <a:endParaRPr sz="28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Digital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circuits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less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affected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by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noise.</a:t>
            </a:r>
            <a:endParaRPr sz="28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510665" algn="l"/>
                <a:tab pos="2687320" algn="l"/>
                <a:tab pos="3391535" algn="l"/>
                <a:tab pos="4147820" algn="l"/>
                <a:tab pos="6028690" algn="l"/>
                <a:tab pos="6943090" algn="l"/>
                <a:tab pos="7654925" algn="l"/>
              </a:tabLst>
            </a:pP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xact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alue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rtan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ly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ra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ge  </a:t>
            </a:r>
            <a:r>
              <a:rPr sz="2800" spc="110" dirty="0">
                <a:solidFill>
                  <a:srgbClr val="006FC0"/>
                </a:solidFill>
                <a:latin typeface="Tahoma"/>
                <a:cs typeface="Tahoma"/>
              </a:rPr>
              <a:t>(HIGH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LOW)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which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they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fall.</a:t>
            </a:r>
            <a:endParaRPr sz="28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145" dirty="0">
                <a:solidFill>
                  <a:srgbClr val="006FC0"/>
                </a:solidFill>
                <a:latin typeface="Tahoma"/>
                <a:cs typeface="Tahoma"/>
              </a:rPr>
              <a:t>More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digital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circuitry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fabricated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IC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chips.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7340" y="5173217"/>
            <a:ext cx="718756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2945130" algn="l"/>
                <a:tab pos="3106420" algn="l"/>
                <a:tab pos="5185410" algn="l"/>
                <a:tab pos="5926455" algn="l"/>
              </a:tabLst>
            </a:pP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ppli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ti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: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co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icat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on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sys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tems, 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navigation,		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military	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systems,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14666" y="5173217"/>
            <a:ext cx="122110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09245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27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, 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ic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2159" y="6026607"/>
            <a:ext cx="6637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instrumentation,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industrial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process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control.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2747" y="1647443"/>
            <a:ext cx="6366509" cy="34190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NUMBER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spc="-40" dirty="0">
                <a:latin typeface="Trebuchet MS"/>
                <a:cs typeface="Trebuchet MS"/>
              </a:rPr>
              <a:t>BASE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spc="-75" dirty="0">
                <a:latin typeface="Trebuchet MS"/>
                <a:cs typeface="Trebuchet MS"/>
              </a:rPr>
              <a:t>CONVERSIONS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25977" y="1090930"/>
            <a:ext cx="2184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254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30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B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Y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TEMS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4336" y="1121664"/>
            <a:ext cx="6815327" cy="5355335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NUMBER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spc="-40" dirty="0">
                <a:latin typeface="Trebuchet MS"/>
                <a:cs typeface="Trebuchet MS"/>
              </a:rPr>
              <a:t>BASE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spc="-75" dirty="0">
                <a:latin typeface="Trebuchet MS"/>
                <a:cs typeface="Trebuchet MS"/>
              </a:rPr>
              <a:t>CONVERSIONS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25977" y="1090930"/>
            <a:ext cx="2184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254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30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B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Y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TEMS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08760" y="1613916"/>
            <a:ext cx="6126479" cy="486308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5248" y="1615439"/>
            <a:ext cx="4859274" cy="37726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7355" y="155460"/>
              <a:ext cx="42047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71901" y="289382"/>
            <a:ext cx="36004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BINARY</a:t>
            </a:r>
            <a:r>
              <a:rPr sz="3600" spc="-100" dirty="0"/>
              <a:t> </a:t>
            </a:r>
            <a:r>
              <a:rPr sz="3600" spc="-45" dirty="0"/>
              <a:t>NUMBERS</a:t>
            </a:r>
            <a:endParaRPr sz="36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5440" y="972648"/>
            <a:ext cx="8452485" cy="535940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R="185420" algn="ctr">
              <a:lnSpc>
                <a:spcPct val="100000"/>
              </a:lnSpc>
              <a:spcBef>
                <a:spcPts val="1035"/>
              </a:spcBef>
            </a:pP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NUMBER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  <a:p>
            <a:pPr marL="515620" indent="-464820">
              <a:lnSpc>
                <a:spcPct val="100000"/>
              </a:lnSpc>
              <a:spcBef>
                <a:spcPts val="1215"/>
              </a:spcBef>
              <a:buClr>
                <a:srgbClr val="E36C09"/>
              </a:buClr>
              <a:buFont typeface="Wingdings"/>
              <a:buChar char=""/>
              <a:tabLst>
                <a:tab pos="514984" algn="l"/>
                <a:tab pos="515620" algn="l"/>
              </a:tabLst>
            </a:pP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system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14" dirty="0">
                <a:solidFill>
                  <a:srgbClr val="006FC0"/>
                </a:solidFill>
                <a:latin typeface="Tahoma"/>
                <a:cs typeface="Tahoma"/>
              </a:rPr>
              <a:t>has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20" dirty="0">
                <a:solidFill>
                  <a:srgbClr val="006FC0"/>
                </a:solidFill>
                <a:latin typeface="Tahoma"/>
                <a:cs typeface="Tahoma"/>
              </a:rPr>
              <a:t>two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digits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(bits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006FC0"/>
                </a:solidFill>
                <a:latin typeface="Tahoma"/>
                <a:cs typeface="Tahoma"/>
              </a:rPr>
              <a:t>0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25" dirty="0">
                <a:solidFill>
                  <a:srgbClr val="006FC0"/>
                </a:solidFill>
                <a:latin typeface="Tahoma"/>
                <a:cs typeface="Tahoma"/>
              </a:rPr>
              <a:t>&amp;1)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515620" indent="-464820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14984" algn="l"/>
                <a:tab pos="515620" algn="l"/>
              </a:tabLst>
            </a:pP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system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14" dirty="0">
                <a:solidFill>
                  <a:srgbClr val="006FC0"/>
                </a:solidFill>
                <a:latin typeface="Tahoma"/>
                <a:cs typeface="Tahoma"/>
              </a:rPr>
              <a:t>has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a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base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2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514984" marR="4318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14984" algn="l"/>
                <a:tab pos="515620" algn="l"/>
              </a:tabLst>
            </a:pP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1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position</a:t>
            </a:r>
            <a:r>
              <a:rPr sz="2600" spc="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1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85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600" spc="-2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600" spc="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006FC0"/>
                </a:solidFill>
                <a:latin typeface="Tahoma"/>
                <a:cs typeface="Tahoma"/>
              </a:rPr>
              <a:t>0</a:t>
            </a:r>
            <a:r>
              <a:rPr sz="2600" spc="1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600" spc="1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1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600" spc="1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600" spc="1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indicates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its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weight.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value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5" dirty="0">
                <a:solidFill>
                  <a:srgbClr val="006FC0"/>
                </a:solidFill>
                <a:latin typeface="Tahoma"/>
                <a:cs typeface="Tahoma"/>
              </a:rPr>
              <a:t>within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514984" marR="41275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14984" algn="l"/>
                <a:tab pos="515620" algn="l"/>
              </a:tabLst>
            </a:pP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1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weights</a:t>
            </a:r>
            <a:r>
              <a:rPr sz="2600" spc="1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600" spc="1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1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600" spc="1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600" spc="1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600" spc="1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based</a:t>
            </a:r>
            <a:r>
              <a:rPr sz="2600" spc="1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006FC0"/>
                </a:solidFill>
                <a:latin typeface="Tahoma"/>
                <a:cs typeface="Tahoma"/>
              </a:rPr>
              <a:t>on</a:t>
            </a:r>
            <a:r>
              <a:rPr sz="2600" spc="1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powers </a:t>
            </a:r>
            <a:r>
              <a:rPr sz="2600" spc="-7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2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514984" marR="4318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14984" algn="l"/>
                <a:tab pos="515620" algn="l"/>
              </a:tabLst>
            </a:pP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600" spc="1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general,</a:t>
            </a:r>
            <a:r>
              <a:rPr sz="2600" spc="1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600" spc="1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600" spc="1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bits</a:t>
            </a:r>
            <a:r>
              <a:rPr sz="2600" spc="1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you</a:t>
            </a:r>
            <a:r>
              <a:rPr sz="2600" spc="1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600" spc="1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count</a:t>
            </a:r>
            <a:r>
              <a:rPr sz="2600" spc="1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up</a:t>
            </a:r>
            <a:r>
              <a:rPr sz="2600" spc="1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600" spc="1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1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number </a:t>
            </a:r>
            <a:r>
              <a:rPr sz="2600" spc="-7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equal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45" dirty="0">
                <a:solidFill>
                  <a:srgbClr val="006FC0"/>
                </a:solidFill>
                <a:latin typeface="Tahoma"/>
                <a:cs typeface="Tahoma"/>
              </a:rPr>
              <a:t>2</a:t>
            </a:r>
            <a:r>
              <a:rPr sz="2550" spc="67" baseline="26143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550" spc="315" baseline="26143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20" dirty="0">
                <a:solidFill>
                  <a:srgbClr val="006FC0"/>
                </a:solidFill>
                <a:latin typeface="Tahoma"/>
                <a:cs typeface="Tahoma"/>
              </a:rPr>
              <a:t>–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85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7355" y="155460"/>
              <a:ext cx="42047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71901" y="289382"/>
            <a:ext cx="36004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BINARY</a:t>
            </a:r>
            <a:r>
              <a:rPr sz="3600" spc="-100" dirty="0"/>
              <a:t> </a:t>
            </a:r>
            <a:r>
              <a:rPr sz="3600" spc="-45" dirty="0"/>
              <a:t>NUMBERS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383540" y="1090930"/>
            <a:ext cx="8376920" cy="5021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85420" algn="ctr">
              <a:lnSpc>
                <a:spcPts val="2385"/>
              </a:lnSpc>
              <a:spcBef>
                <a:spcPts val="105"/>
              </a:spcBef>
            </a:pP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NUMBER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  <a:p>
            <a:pPr marL="476884" marR="5715" indent="-464820" algn="just">
              <a:lnSpc>
                <a:spcPts val="336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weight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value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bit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increases</a:t>
            </a:r>
            <a:r>
              <a:rPr sz="2800" spc="6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right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number.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E36C09"/>
              </a:buClr>
              <a:buFont typeface="Wingdings"/>
              <a:buChar char=""/>
            </a:pPr>
            <a:endParaRPr sz="265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weighted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right-most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bit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50" dirty="0">
                <a:solidFill>
                  <a:srgbClr val="006FC0"/>
                </a:solidFill>
                <a:latin typeface="Tahoma"/>
                <a:cs typeface="Tahoma"/>
              </a:rPr>
              <a:t>LSB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(least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significant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bit)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7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left-most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bit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MSB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(most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significant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bit)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Fractional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numbers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also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represented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by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placing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bits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right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point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90800" y="5791200"/>
            <a:ext cx="4166615" cy="6477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7355" y="155460"/>
              <a:ext cx="42047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71901" y="289382"/>
            <a:ext cx="36004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BINARY</a:t>
            </a:r>
            <a:r>
              <a:rPr sz="3600" spc="-100" dirty="0"/>
              <a:t> </a:t>
            </a:r>
            <a:r>
              <a:rPr sz="3600" spc="-45" dirty="0"/>
              <a:t>NUMBERS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383540" y="990269"/>
            <a:ext cx="8378190" cy="392557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R="186690" algn="ctr">
              <a:lnSpc>
                <a:spcPct val="100000"/>
              </a:lnSpc>
              <a:spcBef>
                <a:spcPts val="894"/>
              </a:spcBef>
            </a:pP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NUMBER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spcBef>
                <a:spcPts val="110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bits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left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point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have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weights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positive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powers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two</a:t>
            </a:r>
            <a:endParaRPr sz="28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44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bits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point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have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weights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negative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powers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two</a:t>
            </a:r>
            <a:endParaRPr sz="28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44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weight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doubles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positive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power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two</a:t>
            </a:r>
            <a:r>
              <a:rPr sz="2800" spc="1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weight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halved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negative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power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two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4444" y="5181600"/>
            <a:ext cx="8182356" cy="1156716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5248" y="1615439"/>
            <a:ext cx="4859274" cy="37726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NUMBER</a:t>
            </a:r>
            <a:r>
              <a:rPr spc="-60" dirty="0"/>
              <a:t> </a:t>
            </a:r>
            <a:r>
              <a:rPr spc="-40" dirty="0"/>
              <a:t>BASE</a:t>
            </a:r>
            <a:r>
              <a:rPr spc="-60" dirty="0"/>
              <a:t> </a:t>
            </a:r>
            <a:r>
              <a:rPr spc="-75" dirty="0"/>
              <a:t>CONVERSIONS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3816355"/>
            <a:ext cx="8376920" cy="173228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77520" indent="-464820">
              <a:lnSpc>
                <a:spcPct val="100000"/>
              </a:lnSpc>
              <a:spcBef>
                <a:spcPts val="177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decimal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system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has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base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10</a:t>
            </a:r>
            <a:endParaRPr sz="28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324610" algn="l"/>
                <a:tab pos="2420620" algn="l"/>
                <a:tab pos="3009265" algn="l"/>
                <a:tab pos="3761740" algn="l"/>
                <a:tab pos="4710430" algn="l"/>
                <a:tab pos="5187315" algn="l"/>
                <a:tab pos="7228205" algn="l"/>
                <a:tab pos="7875905" algn="l"/>
              </a:tabLst>
            </a:pP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0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git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deter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by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position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540" y="1038936"/>
            <a:ext cx="7592059" cy="8820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527300">
              <a:lnSpc>
                <a:spcPct val="100000"/>
              </a:lnSpc>
              <a:spcBef>
                <a:spcPts val="509"/>
              </a:spcBef>
            </a:pP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DECIMAL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NUMBER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57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Decimal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system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has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ten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digits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(0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9)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38755" y="2057400"/>
            <a:ext cx="4467225" cy="4474845"/>
            <a:chOff x="2238755" y="2057400"/>
            <a:chExt cx="4467225" cy="447484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38755" y="2057400"/>
              <a:ext cx="4466844" cy="20284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34055" y="5597652"/>
              <a:ext cx="3637788" cy="93421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NUMBER</a:t>
            </a:r>
            <a:r>
              <a:rPr spc="-60" dirty="0"/>
              <a:t> </a:t>
            </a:r>
            <a:r>
              <a:rPr spc="-40" dirty="0"/>
              <a:t>BASE</a:t>
            </a:r>
            <a:r>
              <a:rPr spc="-60" dirty="0"/>
              <a:t> </a:t>
            </a:r>
            <a:r>
              <a:rPr spc="-75" dirty="0"/>
              <a:t>CONVERSIONS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57022" y="930061"/>
            <a:ext cx="8432165" cy="157035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70"/>
              </a:spcBef>
            </a:pP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DECIMAL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NUMBER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764"/>
              </a:spcBef>
            </a:pPr>
            <a:r>
              <a:rPr sz="2800" spc="-105" dirty="0">
                <a:latin typeface="Tahoma"/>
                <a:cs typeface="Tahoma"/>
              </a:rPr>
              <a:t>Express</a:t>
            </a:r>
            <a:r>
              <a:rPr sz="2800" spc="33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the</a:t>
            </a:r>
            <a:r>
              <a:rPr sz="2800" spc="3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decimal</a:t>
            </a:r>
            <a:r>
              <a:rPr sz="2800" spc="34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number</a:t>
            </a:r>
            <a:r>
              <a:rPr sz="2800" spc="335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568.23</a:t>
            </a:r>
            <a:r>
              <a:rPr sz="2800" spc="345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as</a:t>
            </a:r>
            <a:r>
              <a:rPr sz="2800" spc="335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a</a:t>
            </a:r>
            <a:r>
              <a:rPr sz="2800" spc="33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sum</a:t>
            </a:r>
            <a:r>
              <a:rPr sz="2800" spc="330" dirty="0">
                <a:latin typeface="Tahoma"/>
                <a:cs typeface="Tahoma"/>
              </a:rPr>
              <a:t> </a:t>
            </a:r>
            <a:r>
              <a:rPr sz="2800" spc="70" dirty="0">
                <a:latin typeface="Tahoma"/>
                <a:cs typeface="Tahoma"/>
              </a:rPr>
              <a:t>of</a:t>
            </a:r>
            <a:r>
              <a:rPr sz="2800" spc="33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the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values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70" dirty="0">
                <a:latin typeface="Tahoma"/>
                <a:cs typeface="Tahoma"/>
              </a:rPr>
              <a:t>of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each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5" dirty="0">
                <a:latin typeface="Tahoma"/>
                <a:cs typeface="Tahoma"/>
              </a:rPr>
              <a:t>digit.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3275" y="3360420"/>
            <a:ext cx="8662416" cy="1287779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NUMBER</a:t>
            </a:r>
            <a:r>
              <a:rPr spc="-60" dirty="0"/>
              <a:t> </a:t>
            </a:r>
            <a:r>
              <a:rPr spc="-40" dirty="0"/>
              <a:t>BASE</a:t>
            </a:r>
            <a:r>
              <a:rPr spc="-60" dirty="0"/>
              <a:t> </a:t>
            </a:r>
            <a:r>
              <a:rPr spc="-75" dirty="0"/>
              <a:t>CONVERSIONS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860" algn="ctr">
              <a:lnSpc>
                <a:spcPct val="100000"/>
              </a:lnSpc>
              <a:spcBef>
                <a:spcPts val="105"/>
              </a:spcBef>
            </a:pPr>
            <a:r>
              <a:rPr spc="55" dirty="0"/>
              <a:t>DECIMAL</a:t>
            </a:r>
            <a:r>
              <a:rPr spc="-95" dirty="0"/>
              <a:t> </a:t>
            </a:r>
            <a:r>
              <a:rPr spc="55" dirty="0"/>
              <a:t>to</a:t>
            </a:r>
            <a:r>
              <a:rPr spc="-60" dirty="0"/>
              <a:t> </a:t>
            </a:r>
            <a:r>
              <a:rPr spc="30" dirty="0"/>
              <a:t>BINARY</a:t>
            </a:r>
            <a:r>
              <a:rPr spc="-90" dirty="0"/>
              <a:t> </a:t>
            </a:r>
            <a:r>
              <a:rPr spc="80" dirty="0"/>
              <a:t>CONVERSION</a:t>
            </a:r>
          </a:p>
          <a:p>
            <a:pPr marL="2452370" algn="just">
              <a:lnSpc>
                <a:spcPct val="100000"/>
              </a:lnSpc>
            </a:pPr>
            <a:r>
              <a:rPr spc="-30" dirty="0"/>
              <a:t>(Repeated</a:t>
            </a:r>
            <a:r>
              <a:rPr spc="-75" dirty="0"/>
              <a:t> </a:t>
            </a:r>
            <a:r>
              <a:rPr spc="20" dirty="0"/>
              <a:t>division</a:t>
            </a:r>
            <a:r>
              <a:rPr spc="-75" dirty="0"/>
              <a:t> </a:t>
            </a:r>
            <a:r>
              <a:rPr spc="30" dirty="0"/>
              <a:t>by</a:t>
            </a:r>
            <a:r>
              <a:rPr spc="-50" dirty="0"/>
              <a:t> </a:t>
            </a:r>
            <a:r>
              <a:rPr spc="45" dirty="0"/>
              <a:t>2</a:t>
            </a:r>
            <a:r>
              <a:rPr spc="-40" dirty="0"/>
              <a:t> </a:t>
            </a:r>
            <a:r>
              <a:rPr spc="5" dirty="0"/>
              <a:t>method)</a:t>
            </a:r>
          </a:p>
          <a:p>
            <a:pPr marL="476884" marR="5080" indent="-464820" algn="just">
              <a:lnSpc>
                <a:spcPct val="100000"/>
              </a:lnSpc>
              <a:spcBef>
                <a:spcPts val="47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400" spc="-95" dirty="0">
                <a:solidFill>
                  <a:srgbClr val="006FC0"/>
                </a:solidFill>
              </a:rPr>
              <a:t>To</a:t>
            </a:r>
            <a:r>
              <a:rPr sz="2400" spc="-90" dirty="0">
                <a:solidFill>
                  <a:srgbClr val="006FC0"/>
                </a:solidFill>
              </a:rPr>
              <a:t> </a:t>
            </a:r>
            <a:r>
              <a:rPr sz="2400" spc="-75" dirty="0">
                <a:solidFill>
                  <a:srgbClr val="006FC0"/>
                </a:solidFill>
              </a:rPr>
              <a:t>get</a:t>
            </a:r>
            <a:r>
              <a:rPr sz="2400" spc="-70" dirty="0">
                <a:solidFill>
                  <a:srgbClr val="006FC0"/>
                </a:solidFill>
              </a:rPr>
              <a:t> </a:t>
            </a:r>
            <a:r>
              <a:rPr sz="2400" spc="-35" dirty="0">
                <a:solidFill>
                  <a:srgbClr val="006FC0"/>
                </a:solidFill>
              </a:rPr>
              <a:t>the </a:t>
            </a:r>
            <a:r>
              <a:rPr sz="2400" spc="15" dirty="0">
                <a:solidFill>
                  <a:srgbClr val="006FC0"/>
                </a:solidFill>
              </a:rPr>
              <a:t>binary </a:t>
            </a:r>
            <a:r>
              <a:rPr sz="2400" spc="-15" dirty="0">
                <a:solidFill>
                  <a:srgbClr val="006FC0"/>
                </a:solidFill>
              </a:rPr>
              <a:t>number </a:t>
            </a:r>
            <a:r>
              <a:rPr sz="2400" spc="35" dirty="0">
                <a:solidFill>
                  <a:srgbClr val="006FC0"/>
                </a:solidFill>
              </a:rPr>
              <a:t>for </a:t>
            </a:r>
            <a:r>
              <a:rPr sz="2400" spc="-65" dirty="0">
                <a:solidFill>
                  <a:srgbClr val="006FC0"/>
                </a:solidFill>
              </a:rPr>
              <a:t>a</a:t>
            </a:r>
            <a:r>
              <a:rPr sz="2400" spc="-60" dirty="0">
                <a:solidFill>
                  <a:srgbClr val="006FC0"/>
                </a:solidFill>
              </a:rPr>
              <a:t> </a:t>
            </a:r>
            <a:r>
              <a:rPr sz="2400" spc="-15" dirty="0">
                <a:solidFill>
                  <a:srgbClr val="006FC0"/>
                </a:solidFill>
              </a:rPr>
              <a:t>given </a:t>
            </a:r>
            <a:r>
              <a:rPr sz="2400" spc="-10" dirty="0">
                <a:solidFill>
                  <a:srgbClr val="006FC0"/>
                </a:solidFill>
              </a:rPr>
              <a:t>decimal </a:t>
            </a:r>
            <a:r>
              <a:rPr sz="2400" spc="-50" dirty="0">
                <a:solidFill>
                  <a:srgbClr val="006FC0"/>
                </a:solidFill>
              </a:rPr>
              <a:t>number, </a:t>
            </a:r>
            <a:r>
              <a:rPr sz="2400" spc="-45" dirty="0">
                <a:solidFill>
                  <a:srgbClr val="006FC0"/>
                </a:solidFill>
              </a:rPr>
              <a:t> </a:t>
            </a:r>
            <a:r>
              <a:rPr sz="2400" spc="40" dirty="0">
                <a:solidFill>
                  <a:srgbClr val="006FC0"/>
                </a:solidFill>
              </a:rPr>
              <a:t>divide </a:t>
            </a:r>
            <a:r>
              <a:rPr sz="2400" spc="-35" dirty="0">
                <a:solidFill>
                  <a:srgbClr val="006FC0"/>
                </a:solidFill>
              </a:rPr>
              <a:t>the </a:t>
            </a:r>
            <a:r>
              <a:rPr sz="2400" spc="-10" dirty="0">
                <a:solidFill>
                  <a:srgbClr val="006FC0"/>
                </a:solidFill>
              </a:rPr>
              <a:t>decimal </a:t>
            </a:r>
            <a:r>
              <a:rPr sz="2400" spc="-15" dirty="0">
                <a:solidFill>
                  <a:srgbClr val="006FC0"/>
                </a:solidFill>
              </a:rPr>
              <a:t>number </a:t>
            </a:r>
            <a:r>
              <a:rPr sz="2400" spc="35" dirty="0">
                <a:solidFill>
                  <a:srgbClr val="006FC0"/>
                </a:solidFill>
              </a:rPr>
              <a:t>by </a:t>
            </a:r>
            <a:r>
              <a:rPr sz="2400" spc="55" dirty="0">
                <a:solidFill>
                  <a:srgbClr val="006FC0"/>
                </a:solidFill>
              </a:rPr>
              <a:t>2 </a:t>
            </a:r>
            <a:r>
              <a:rPr sz="2400" spc="20" dirty="0">
                <a:solidFill>
                  <a:srgbClr val="006FC0"/>
                </a:solidFill>
              </a:rPr>
              <a:t>until </a:t>
            </a:r>
            <a:r>
              <a:rPr sz="2400" spc="-40" dirty="0">
                <a:solidFill>
                  <a:srgbClr val="006FC0"/>
                </a:solidFill>
              </a:rPr>
              <a:t>the </a:t>
            </a:r>
            <a:r>
              <a:rPr sz="2400" spc="10" dirty="0">
                <a:solidFill>
                  <a:srgbClr val="006FC0"/>
                </a:solidFill>
              </a:rPr>
              <a:t>quotient </a:t>
            </a:r>
            <a:r>
              <a:rPr sz="2400" spc="-100" dirty="0">
                <a:solidFill>
                  <a:srgbClr val="006FC0"/>
                </a:solidFill>
              </a:rPr>
              <a:t>is </a:t>
            </a:r>
            <a:r>
              <a:rPr sz="2400" spc="30" dirty="0">
                <a:solidFill>
                  <a:srgbClr val="006FC0"/>
                </a:solidFill>
              </a:rPr>
              <a:t>0. </a:t>
            </a:r>
            <a:r>
              <a:rPr sz="2400" spc="35" dirty="0">
                <a:solidFill>
                  <a:srgbClr val="006FC0"/>
                </a:solidFill>
              </a:rPr>
              <a:t> </a:t>
            </a:r>
            <a:r>
              <a:rPr sz="2400" spc="-35" dirty="0">
                <a:solidFill>
                  <a:srgbClr val="006FC0"/>
                </a:solidFill>
              </a:rPr>
              <a:t>Remainders</a:t>
            </a:r>
            <a:r>
              <a:rPr sz="2400" spc="-95" dirty="0">
                <a:solidFill>
                  <a:srgbClr val="006FC0"/>
                </a:solidFill>
              </a:rPr>
              <a:t> </a:t>
            </a:r>
            <a:r>
              <a:rPr sz="2400" spc="40" dirty="0">
                <a:solidFill>
                  <a:srgbClr val="006FC0"/>
                </a:solidFill>
              </a:rPr>
              <a:t>form</a:t>
            </a:r>
            <a:r>
              <a:rPr sz="2400" spc="-60" dirty="0">
                <a:solidFill>
                  <a:srgbClr val="006FC0"/>
                </a:solidFill>
              </a:rPr>
              <a:t> </a:t>
            </a:r>
            <a:r>
              <a:rPr sz="2400" spc="-35" dirty="0">
                <a:solidFill>
                  <a:srgbClr val="006FC0"/>
                </a:solidFill>
              </a:rPr>
              <a:t>the</a:t>
            </a:r>
            <a:r>
              <a:rPr sz="2400" spc="-45" dirty="0">
                <a:solidFill>
                  <a:srgbClr val="006FC0"/>
                </a:solidFill>
              </a:rPr>
              <a:t> </a:t>
            </a:r>
            <a:r>
              <a:rPr sz="2400" spc="20" dirty="0">
                <a:solidFill>
                  <a:srgbClr val="006FC0"/>
                </a:solidFill>
              </a:rPr>
              <a:t>binary</a:t>
            </a:r>
            <a:r>
              <a:rPr sz="2400" spc="-80" dirty="0">
                <a:solidFill>
                  <a:srgbClr val="006FC0"/>
                </a:solidFill>
              </a:rPr>
              <a:t> </a:t>
            </a:r>
            <a:r>
              <a:rPr sz="2400" spc="-45" dirty="0">
                <a:solidFill>
                  <a:srgbClr val="006FC0"/>
                </a:solidFill>
              </a:rPr>
              <a:t>number.</a:t>
            </a:r>
            <a:endParaRPr sz="2400"/>
          </a:p>
        </p:txBody>
      </p:sp>
      <p:grpSp>
        <p:nvGrpSpPr>
          <p:cNvPr id="13" name="object 13"/>
          <p:cNvGrpSpPr/>
          <p:nvPr/>
        </p:nvGrpSpPr>
        <p:grpSpPr>
          <a:xfrm>
            <a:off x="1909572" y="2938272"/>
            <a:ext cx="5392420" cy="3683635"/>
            <a:chOff x="1909572" y="2938272"/>
            <a:chExt cx="5392420" cy="368363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9572" y="2938272"/>
              <a:ext cx="5391912" cy="368350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3100" y="2971800"/>
              <a:ext cx="5257800" cy="354939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938401" y="2967037"/>
              <a:ext cx="5267325" cy="3559175"/>
            </a:xfrm>
            <a:custGeom>
              <a:avLst/>
              <a:gdLst/>
              <a:ahLst/>
              <a:cxnLst/>
              <a:rect l="l" t="t" r="r" b="b"/>
              <a:pathLst>
                <a:path w="5267325" h="3559175">
                  <a:moveTo>
                    <a:pt x="0" y="3558921"/>
                  </a:moveTo>
                  <a:lnTo>
                    <a:pt x="5267325" y="3558921"/>
                  </a:lnTo>
                  <a:lnTo>
                    <a:pt x="5267325" y="0"/>
                  </a:lnTo>
                  <a:lnTo>
                    <a:pt x="0" y="0"/>
                  </a:lnTo>
                  <a:lnTo>
                    <a:pt x="0" y="355892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7403" y="155460"/>
              <a:ext cx="6484620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31950" y="289382"/>
            <a:ext cx="58737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" dirty="0"/>
              <a:t>NUMBER</a:t>
            </a:r>
            <a:r>
              <a:rPr sz="3600" spc="-85" dirty="0"/>
              <a:t> </a:t>
            </a:r>
            <a:r>
              <a:rPr sz="3600" spc="-50" dirty="0"/>
              <a:t>BASE</a:t>
            </a:r>
            <a:r>
              <a:rPr sz="3600" spc="-70" dirty="0"/>
              <a:t> </a:t>
            </a:r>
            <a:r>
              <a:rPr sz="3600" spc="-85" dirty="0"/>
              <a:t>CONVERSIONS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2427477" y="1090930"/>
            <a:ext cx="4237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DECIMAL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TO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CONVERSION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35579" y="1688592"/>
            <a:ext cx="3741420" cy="4178935"/>
            <a:chOff x="2735579" y="1688592"/>
            <a:chExt cx="3741420" cy="417893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6059" y="2234184"/>
              <a:ext cx="1196339" cy="4328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66059" y="2752344"/>
              <a:ext cx="1196339" cy="4145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35579" y="3200400"/>
              <a:ext cx="1190244" cy="40233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9399" y="3657600"/>
              <a:ext cx="1059179" cy="4739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9399" y="4114800"/>
              <a:ext cx="973836" cy="4831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55975" y="4614672"/>
              <a:ext cx="949451" cy="41452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40735" y="5029200"/>
              <a:ext cx="955548" cy="36423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33115" y="5420868"/>
              <a:ext cx="961644" cy="4465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24400" y="1688592"/>
              <a:ext cx="1752600" cy="3931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98591" y="2298192"/>
              <a:ext cx="280415" cy="3169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10783" y="2755392"/>
              <a:ext cx="280415" cy="31699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41263" y="3214116"/>
              <a:ext cx="262127" cy="32156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19927" y="3663696"/>
              <a:ext cx="262127" cy="32308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03163" y="4114800"/>
              <a:ext cx="262127" cy="3230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10783" y="4597908"/>
              <a:ext cx="280415" cy="31699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86400" y="4977383"/>
              <a:ext cx="280415" cy="31546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90972" y="5420868"/>
              <a:ext cx="262127" cy="32156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116201" y="5869635"/>
            <a:ext cx="4538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(156)</a:t>
            </a:r>
            <a:r>
              <a:rPr sz="3975" b="1" baseline="-20964" dirty="0">
                <a:solidFill>
                  <a:srgbClr val="C00000"/>
                </a:solidFill>
                <a:latin typeface="Calibri"/>
                <a:cs typeface="Calibri"/>
              </a:rPr>
              <a:t>10</a:t>
            </a:r>
            <a:r>
              <a:rPr sz="3975" b="1" spc="412" baseline="-2096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40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Calibri"/>
                <a:cs typeface="Calibri"/>
              </a:rPr>
              <a:t>(10011100)</a:t>
            </a:r>
            <a:r>
              <a:rPr sz="3975" b="1" spc="-7" baseline="-20964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3975" baseline="-20964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849383" y="2234819"/>
            <a:ext cx="171450" cy="3347720"/>
          </a:xfrm>
          <a:custGeom>
            <a:avLst/>
            <a:gdLst/>
            <a:ahLst/>
            <a:cxnLst/>
            <a:rect l="l" t="t" r="r" b="b"/>
            <a:pathLst>
              <a:path w="171450" h="3347720">
                <a:moveTo>
                  <a:pt x="85578" y="75800"/>
                </a:moveTo>
                <a:lnTo>
                  <a:pt x="66528" y="108458"/>
                </a:lnTo>
                <a:lnTo>
                  <a:pt x="66528" y="3347719"/>
                </a:lnTo>
                <a:lnTo>
                  <a:pt x="104628" y="3347719"/>
                </a:lnTo>
                <a:lnTo>
                  <a:pt x="104628" y="108458"/>
                </a:lnTo>
                <a:lnTo>
                  <a:pt x="85578" y="75800"/>
                </a:lnTo>
                <a:close/>
              </a:path>
              <a:path w="171450" h="3347720">
                <a:moveTo>
                  <a:pt x="85578" y="0"/>
                </a:moveTo>
                <a:lnTo>
                  <a:pt x="2393" y="142493"/>
                </a:lnTo>
                <a:lnTo>
                  <a:pt x="0" y="149689"/>
                </a:lnTo>
                <a:lnTo>
                  <a:pt x="488" y="157003"/>
                </a:lnTo>
                <a:lnTo>
                  <a:pt x="3643" y="163603"/>
                </a:lnTo>
                <a:lnTo>
                  <a:pt x="9251" y="168655"/>
                </a:lnTo>
                <a:lnTo>
                  <a:pt x="16446" y="171049"/>
                </a:lnTo>
                <a:lnTo>
                  <a:pt x="23760" y="170561"/>
                </a:lnTo>
                <a:lnTo>
                  <a:pt x="30360" y="167405"/>
                </a:lnTo>
                <a:lnTo>
                  <a:pt x="35413" y="161797"/>
                </a:lnTo>
                <a:lnTo>
                  <a:pt x="66528" y="108458"/>
                </a:lnTo>
                <a:lnTo>
                  <a:pt x="66528" y="37845"/>
                </a:lnTo>
                <a:lnTo>
                  <a:pt x="107671" y="37845"/>
                </a:lnTo>
                <a:lnTo>
                  <a:pt x="85578" y="0"/>
                </a:lnTo>
                <a:close/>
              </a:path>
              <a:path w="171450" h="3347720">
                <a:moveTo>
                  <a:pt x="107671" y="37845"/>
                </a:moveTo>
                <a:lnTo>
                  <a:pt x="104628" y="37845"/>
                </a:lnTo>
                <a:lnTo>
                  <a:pt x="104628" y="108458"/>
                </a:lnTo>
                <a:lnTo>
                  <a:pt x="135743" y="161797"/>
                </a:lnTo>
                <a:lnTo>
                  <a:pt x="140795" y="167405"/>
                </a:lnTo>
                <a:lnTo>
                  <a:pt x="147395" y="170561"/>
                </a:lnTo>
                <a:lnTo>
                  <a:pt x="154709" y="171049"/>
                </a:lnTo>
                <a:lnTo>
                  <a:pt x="161905" y="168655"/>
                </a:lnTo>
                <a:lnTo>
                  <a:pt x="167512" y="163603"/>
                </a:lnTo>
                <a:lnTo>
                  <a:pt x="170668" y="157003"/>
                </a:lnTo>
                <a:lnTo>
                  <a:pt x="171156" y="149689"/>
                </a:lnTo>
                <a:lnTo>
                  <a:pt x="168763" y="142493"/>
                </a:lnTo>
                <a:lnTo>
                  <a:pt x="107671" y="37845"/>
                </a:lnTo>
                <a:close/>
              </a:path>
              <a:path w="171450" h="3347720">
                <a:moveTo>
                  <a:pt x="104628" y="37845"/>
                </a:moveTo>
                <a:lnTo>
                  <a:pt x="66528" y="37845"/>
                </a:lnTo>
                <a:lnTo>
                  <a:pt x="66528" y="108458"/>
                </a:lnTo>
                <a:lnTo>
                  <a:pt x="85578" y="75800"/>
                </a:lnTo>
                <a:lnTo>
                  <a:pt x="69068" y="47497"/>
                </a:lnTo>
                <a:lnTo>
                  <a:pt x="104628" y="47497"/>
                </a:lnTo>
                <a:lnTo>
                  <a:pt x="104628" y="37845"/>
                </a:lnTo>
                <a:close/>
              </a:path>
              <a:path w="171450" h="3347720">
                <a:moveTo>
                  <a:pt x="104628" y="47497"/>
                </a:moveTo>
                <a:lnTo>
                  <a:pt x="102088" y="47497"/>
                </a:lnTo>
                <a:lnTo>
                  <a:pt x="85578" y="75800"/>
                </a:lnTo>
                <a:lnTo>
                  <a:pt x="104628" y="108458"/>
                </a:lnTo>
                <a:lnTo>
                  <a:pt x="104628" y="47497"/>
                </a:lnTo>
                <a:close/>
              </a:path>
              <a:path w="171450" h="3347720">
                <a:moveTo>
                  <a:pt x="102088" y="47497"/>
                </a:moveTo>
                <a:lnTo>
                  <a:pt x="69068" y="47497"/>
                </a:lnTo>
                <a:lnTo>
                  <a:pt x="85578" y="75800"/>
                </a:lnTo>
                <a:lnTo>
                  <a:pt x="102088" y="474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NUMBER</a:t>
            </a:r>
            <a:r>
              <a:rPr spc="-60" dirty="0"/>
              <a:t> </a:t>
            </a:r>
            <a:r>
              <a:rPr spc="-40" dirty="0"/>
              <a:t>BASE</a:t>
            </a:r>
            <a:r>
              <a:rPr spc="-60" dirty="0"/>
              <a:t> </a:t>
            </a:r>
            <a:r>
              <a:rPr spc="-75" dirty="0"/>
              <a:t>CONVERSIONS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93594" y="1090930"/>
            <a:ext cx="410781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DECIMAL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to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CONVERSION</a:t>
            </a:r>
            <a:endParaRPr sz="2000">
              <a:latin typeface="Tahoma"/>
              <a:cs typeface="Tahoma"/>
            </a:endParaRPr>
          </a:p>
          <a:p>
            <a:pPr marL="35560" algn="ctr">
              <a:lnSpc>
                <a:spcPct val="100000"/>
              </a:lnSpc>
            </a:pP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(Repeated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division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by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2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method)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5670" y="1895475"/>
            <a:ext cx="8235315" cy="4344670"/>
            <a:chOff x="415670" y="1895475"/>
            <a:chExt cx="8235315" cy="434467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195" y="1905000"/>
              <a:ext cx="8215883" cy="432511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0433" y="1900237"/>
              <a:ext cx="8225790" cy="4335145"/>
            </a:xfrm>
            <a:custGeom>
              <a:avLst/>
              <a:gdLst/>
              <a:ahLst/>
              <a:cxnLst/>
              <a:rect l="l" t="t" r="r" b="b"/>
              <a:pathLst>
                <a:path w="8225790" h="4335145">
                  <a:moveTo>
                    <a:pt x="0" y="4334637"/>
                  </a:moveTo>
                  <a:lnTo>
                    <a:pt x="8225408" y="4334637"/>
                  </a:lnTo>
                  <a:lnTo>
                    <a:pt x="8225408" y="0"/>
                  </a:lnTo>
                  <a:lnTo>
                    <a:pt x="0" y="0"/>
                  </a:lnTo>
                  <a:lnTo>
                    <a:pt x="0" y="433463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7403" y="155460"/>
              <a:ext cx="6484620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31950" y="289382"/>
            <a:ext cx="58737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" dirty="0"/>
              <a:t>NUMBER</a:t>
            </a:r>
            <a:r>
              <a:rPr sz="3600" spc="-85" dirty="0"/>
              <a:t> </a:t>
            </a:r>
            <a:r>
              <a:rPr sz="3600" spc="-50" dirty="0"/>
              <a:t>BASE</a:t>
            </a:r>
            <a:r>
              <a:rPr sz="3600" spc="-70" dirty="0"/>
              <a:t> </a:t>
            </a:r>
            <a:r>
              <a:rPr sz="3600" spc="-85" dirty="0"/>
              <a:t>CONVERSIONS</a:t>
            </a:r>
            <a:endParaRPr sz="3600"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3316" y="2895600"/>
            <a:ext cx="7927848" cy="300228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51459" y="1224152"/>
            <a:ext cx="6839584" cy="1193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68730">
              <a:lnSpc>
                <a:spcPct val="100000"/>
              </a:lnSpc>
              <a:spcBef>
                <a:spcPts val="105"/>
              </a:spcBef>
            </a:pP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DECIMAL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TO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CONVERSION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C00000"/>
                </a:solidFill>
                <a:latin typeface="Tahoma"/>
                <a:cs typeface="Tahoma"/>
              </a:rPr>
              <a:t>(Fractional)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2800" spc="50" dirty="0">
                <a:latin typeface="Tahoma"/>
                <a:cs typeface="Tahoma"/>
              </a:rPr>
              <a:t>Convert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60" dirty="0">
                <a:latin typeface="Tahoma"/>
                <a:cs typeface="Tahoma"/>
              </a:rPr>
              <a:t>(0.188)</a:t>
            </a:r>
            <a:r>
              <a:rPr sz="2775" spc="-89" baseline="-21021" dirty="0">
                <a:latin typeface="Tahoma"/>
                <a:cs typeface="Tahoma"/>
              </a:rPr>
              <a:t>10</a:t>
            </a:r>
            <a:r>
              <a:rPr sz="2775" spc="307" baseline="-21021" dirty="0">
                <a:latin typeface="Tahoma"/>
                <a:cs typeface="Tahoma"/>
              </a:rPr>
              <a:t> </a:t>
            </a:r>
            <a:r>
              <a:rPr sz="2800" spc="75" dirty="0">
                <a:latin typeface="Tahoma"/>
                <a:cs typeface="Tahoma"/>
              </a:rPr>
              <a:t>to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binary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form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NUMBER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spc="-40" dirty="0">
                <a:latin typeface="Trebuchet MS"/>
                <a:cs typeface="Trebuchet MS"/>
              </a:rPr>
              <a:t>BASE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spc="-75" dirty="0">
                <a:latin typeface="Trebuchet MS"/>
                <a:cs typeface="Trebuchet MS"/>
              </a:rPr>
              <a:t>CONVERSIONS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1194" y="1090930"/>
            <a:ext cx="41078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to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DECIMAL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CONVERSION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8615" y="2104263"/>
            <a:ext cx="8477250" cy="3905250"/>
            <a:chOff x="348615" y="2104263"/>
            <a:chExt cx="8477250" cy="390525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140" y="2113788"/>
              <a:ext cx="8458200" cy="38862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53377" y="2109025"/>
              <a:ext cx="8467725" cy="3895725"/>
            </a:xfrm>
            <a:custGeom>
              <a:avLst/>
              <a:gdLst/>
              <a:ahLst/>
              <a:cxnLst/>
              <a:rect l="l" t="t" r="r" b="b"/>
              <a:pathLst>
                <a:path w="8467725" h="3895725">
                  <a:moveTo>
                    <a:pt x="0" y="3895725"/>
                  </a:moveTo>
                  <a:lnTo>
                    <a:pt x="8467725" y="3895725"/>
                  </a:lnTo>
                  <a:lnTo>
                    <a:pt x="8467725" y="0"/>
                  </a:lnTo>
                  <a:lnTo>
                    <a:pt x="0" y="0"/>
                  </a:lnTo>
                  <a:lnTo>
                    <a:pt x="0" y="3895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NUMBER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spc="-40" dirty="0">
                <a:latin typeface="Trebuchet MS"/>
                <a:cs typeface="Trebuchet MS"/>
              </a:rPr>
              <a:t>BASE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spc="-75" dirty="0">
                <a:latin typeface="Trebuchet MS"/>
                <a:cs typeface="Trebuchet MS"/>
              </a:rPr>
              <a:t>CONVERSIONS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1194" y="1090930"/>
            <a:ext cx="41078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to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DECIMAL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CONVERSION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1475" y="1819275"/>
            <a:ext cx="8541385" cy="4057650"/>
            <a:chOff x="371475" y="1819275"/>
            <a:chExt cx="8541385" cy="405765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1828800"/>
              <a:ext cx="8522207" cy="4038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6237" y="1824037"/>
              <a:ext cx="8531860" cy="4048125"/>
            </a:xfrm>
            <a:custGeom>
              <a:avLst/>
              <a:gdLst/>
              <a:ahLst/>
              <a:cxnLst/>
              <a:rect l="l" t="t" r="r" b="b"/>
              <a:pathLst>
                <a:path w="8531860" h="4048125">
                  <a:moveTo>
                    <a:pt x="0" y="4048125"/>
                  </a:moveTo>
                  <a:lnTo>
                    <a:pt x="8531733" y="4048125"/>
                  </a:lnTo>
                  <a:lnTo>
                    <a:pt x="8531733" y="0"/>
                  </a:lnTo>
                  <a:lnTo>
                    <a:pt x="0" y="0"/>
                  </a:lnTo>
                  <a:lnTo>
                    <a:pt x="0" y="40481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NUMBER</a:t>
            </a:r>
            <a:r>
              <a:rPr spc="-60" dirty="0"/>
              <a:t> </a:t>
            </a:r>
            <a:r>
              <a:rPr spc="-40" dirty="0"/>
              <a:t>BASE</a:t>
            </a:r>
            <a:r>
              <a:rPr spc="-60" dirty="0"/>
              <a:t> </a:t>
            </a:r>
            <a:r>
              <a:rPr spc="-75" dirty="0"/>
              <a:t>CONVERSIONS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67336"/>
            <a:ext cx="8377555" cy="124015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290"/>
              </a:spcBef>
            </a:pPr>
            <a:r>
              <a:rPr sz="2000" spc="70" dirty="0">
                <a:solidFill>
                  <a:srgbClr val="C00000"/>
                </a:solidFill>
                <a:latin typeface="Tahoma"/>
                <a:cs typeface="Tahoma"/>
              </a:rPr>
              <a:t>HEXADECIMAL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C00000"/>
                </a:solidFill>
                <a:latin typeface="Tahoma"/>
                <a:cs typeface="Tahoma"/>
              </a:rPr>
              <a:t>NUMBERS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254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273175" algn="l"/>
                <a:tab pos="2170430" algn="l"/>
                <a:tab pos="3402329" algn="l"/>
                <a:tab pos="4813935" algn="l"/>
                <a:tab pos="6052820" algn="l"/>
                <a:tab pos="6762115" algn="l"/>
                <a:tab pos="7150734" algn="l"/>
                <a:tab pos="8037195" algn="l"/>
              </a:tabLst>
            </a:pP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x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ec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l	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sys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has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204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6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 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sixteen;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it	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consists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digits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0-9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letters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A-F.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67000" y="2362200"/>
            <a:ext cx="3483864" cy="414680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NUMBER</a:t>
            </a:r>
            <a:r>
              <a:rPr spc="-60" dirty="0"/>
              <a:t> </a:t>
            </a:r>
            <a:r>
              <a:rPr spc="-40" dirty="0"/>
              <a:t>BASE</a:t>
            </a:r>
            <a:r>
              <a:rPr spc="-60" dirty="0"/>
              <a:t> </a:t>
            </a:r>
            <a:r>
              <a:rPr spc="-75" dirty="0"/>
              <a:t>CONVERSIONS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65457"/>
            <a:ext cx="8375650" cy="1704339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52705" algn="ctr">
              <a:lnSpc>
                <a:spcPct val="100000"/>
              </a:lnSpc>
              <a:spcBef>
                <a:spcPts val="1090"/>
              </a:spcBef>
            </a:pP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to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C00000"/>
                </a:solidFill>
                <a:latin typeface="Tahoma"/>
                <a:cs typeface="Tahoma"/>
              </a:rPr>
              <a:t>HEXADECIMAL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CONVERSION</a:t>
            </a:r>
            <a:endParaRPr sz="20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18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400" spc="-5" dirty="0">
                <a:solidFill>
                  <a:srgbClr val="006FC0"/>
                </a:solidFill>
                <a:latin typeface="Tahoma"/>
                <a:cs typeface="Tahoma"/>
              </a:rPr>
              <a:t>Simply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break the </a:t>
            </a:r>
            <a:r>
              <a:rPr sz="2400" spc="15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400" spc="-15" dirty="0">
                <a:solidFill>
                  <a:srgbClr val="006FC0"/>
                </a:solidFill>
                <a:latin typeface="Tahoma"/>
                <a:cs typeface="Tahoma"/>
              </a:rPr>
              <a:t>number </a:t>
            </a:r>
            <a:r>
              <a:rPr sz="2400" spc="45" dirty="0">
                <a:solidFill>
                  <a:srgbClr val="006FC0"/>
                </a:solidFill>
                <a:latin typeface="Tahoma"/>
                <a:cs typeface="Tahoma"/>
              </a:rPr>
              <a:t>into </a:t>
            </a:r>
            <a:r>
              <a:rPr sz="2400" spc="-10" dirty="0">
                <a:solidFill>
                  <a:srgbClr val="006FC0"/>
                </a:solidFill>
                <a:latin typeface="Tahoma"/>
                <a:cs typeface="Tahoma"/>
              </a:rPr>
              <a:t>4-bit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groups, 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starting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at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right-most </a:t>
            </a:r>
            <a:r>
              <a:rPr sz="2400" spc="15" dirty="0">
                <a:solidFill>
                  <a:srgbClr val="006FC0"/>
                </a:solidFill>
                <a:latin typeface="Tahoma"/>
                <a:cs typeface="Tahoma"/>
              </a:rPr>
              <a:t>bit </a:t>
            </a: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replace 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400" spc="-10" dirty="0">
                <a:solidFill>
                  <a:srgbClr val="006FC0"/>
                </a:solidFill>
                <a:latin typeface="Tahoma"/>
                <a:cs typeface="Tahoma"/>
              </a:rPr>
              <a:t>4-bit </a:t>
            </a:r>
            <a:r>
              <a:rPr sz="2400" spc="-5" dirty="0">
                <a:solidFill>
                  <a:srgbClr val="006FC0"/>
                </a:solidFill>
                <a:latin typeface="Tahoma"/>
                <a:cs typeface="Tahoma"/>
              </a:rPr>
              <a:t>group </a:t>
            </a:r>
            <a:r>
              <a:rPr sz="2400" spc="55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equivalent</a:t>
            </a:r>
            <a:r>
              <a:rPr sz="24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hexadecimal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symbol.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075" y="2809875"/>
            <a:ext cx="8018780" cy="3617595"/>
            <a:chOff x="600075" y="2809875"/>
            <a:chExt cx="8018780" cy="361759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600" y="2819400"/>
              <a:ext cx="7999476" cy="35981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4837" y="2814637"/>
              <a:ext cx="8009255" cy="3608070"/>
            </a:xfrm>
            <a:custGeom>
              <a:avLst/>
              <a:gdLst/>
              <a:ahLst/>
              <a:cxnLst/>
              <a:rect l="l" t="t" r="r" b="b"/>
              <a:pathLst>
                <a:path w="8009255" h="3608070">
                  <a:moveTo>
                    <a:pt x="0" y="3607689"/>
                  </a:moveTo>
                  <a:lnTo>
                    <a:pt x="8009001" y="3607689"/>
                  </a:lnTo>
                  <a:lnTo>
                    <a:pt x="8009001" y="0"/>
                  </a:lnTo>
                  <a:lnTo>
                    <a:pt x="0" y="0"/>
                  </a:lnTo>
                  <a:lnTo>
                    <a:pt x="0" y="36076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NUMBER</a:t>
            </a:r>
            <a:r>
              <a:rPr spc="-60" dirty="0"/>
              <a:t> </a:t>
            </a:r>
            <a:r>
              <a:rPr spc="-40" dirty="0"/>
              <a:t>BASE</a:t>
            </a:r>
            <a:r>
              <a:rPr spc="-60" dirty="0"/>
              <a:t> </a:t>
            </a:r>
            <a:r>
              <a:rPr spc="-75" dirty="0"/>
              <a:t>CONVERSIONS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65457"/>
            <a:ext cx="8378825" cy="1704339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50165" algn="ctr">
              <a:lnSpc>
                <a:spcPct val="100000"/>
              </a:lnSpc>
              <a:spcBef>
                <a:spcPts val="1090"/>
              </a:spcBef>
            </a:pPr>
            <a:r>
              <a:rPr sz="2000" spc="70" dirty="0">
                <a:solidFill>
                  <a:srgbClr val="C00000"/>
                </a:solidFill>
                <a:latin typeface="Tahoma"/>
                <a:cs typeface="Tahoma"/>
              </a:rPr>
              <a:t>HEXADECIMAL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to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CONVERSION</a:t>
            </a:r>
            <a:endParaRPr sz="20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18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400" spc="-9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4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convert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0" dirty="0">
                <a:solidFill>
                  <a:srgbClr val="006FC0"/>
                </a:solidFill>
                <a:latin typeface="Tahoma"/>
                <a:cs typeface="Tahoma"/>
              </a:rPr>
              <a:t>from</a:t>
            </a:r>
            <a:r>
              <a:rPr sz="24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Tahoma"/>
                <a:cs typeface="Tahoma"/>
              </a:rPr>
              <a:t>hexadecimal</a:t>
            </a:r>
            <a:r>
              <a:rPr sz="2400" spc="-15" dirty="0">
                <a:solidFill>
                  <a:srgbClr val="006FC0"/>
                </a:solidFill>
                <a:latin typeface="Tahoma"/>
                <a:cs typeface="Tahoma"/>
              </a:rPr>
              <a:t> number</a:t>
            </a:r>
            <a:r>
              <a:rPr sz="24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400" spc="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400" spc="6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5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400" spc="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number, 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reverse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process </a:t>
            </a: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replace 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hexadecimal </a:t>
            </a:r>
            <a:r>
              <a:rPr sz="24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symbol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appropriate</a:t>
            </a:r>
            <a:r>
              <a:rPr sz="24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006FC0"/>
                </a:solidFill>
                <a:latin typeface="Tahoma"/>
                <a:cs typeface="Tahoma"/>
              </a:rPr>
              <a:t>four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bits.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76275" y="2756535"/>
            <a:ext cx="7791450" cy="3653790"/>
            <a:chOff x="676275" y="2756535"/>
            <a:chExt cx="7791450" cy="365379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" y="2766060"/>
              <a:ext cx="7772400" cy="363474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1037" y="2761297"/>
              <a:ext cx="7781925" cy="3644265"/>
            </a:xfrm>
            <a:custGeom>
              <a:avLst/>
              <a:gdLst/>
              <a:ahLst/>
              <a:cxnLst/>
              <a:rect l="l" t="t" r="r" b="b"/>
              <a:pathLst>
                <a:path w="7781925" h="3644265">
                  <a:moveTo>
                    <a:pt x="0" y="3644265"/>
                  </a:moveTo>
                  <a:lnTo>
                    <a:pt x="7781925" y="3644265"/>
                  </a:lnTo>
                  <a:lnTo>
                    <a:pt x="7781925" y="0"/>
                  </a:lnTo>
                  <a:lnTo>
                    <a:pt x="0" y="0"/>
                  </a:lnTo>
                  <a:lnTo>
                    <a:pt x="0" y="364426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NUMBER</a:t>
            </a:r>
            <a:r>
              <a:rPr spc="-60" dirty="0"/>
              <a:t> </a:t>
            </a:r>
            <a:r>
              <a:rPr spc="-40" dirty="0"/>
              <a:t>BASE</a:t>
            </a:r>
            <a:r>
              <a:rPr spc="-60" dirty="0"/>
              <a:t> </a:t>
            </a:r>
            <a:r>
              <a:rPr spc="-75" dirty="0"/>
              <a:t>CONVERSIONS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16324"/>
            <a:ext cx="8377555" cy="5016500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R="74930" algn="ctr">
              <a:lnSpc>
                <a:spcPct val="100000"/>
              </a:lnSpc>
              <a:spcBef>
                <a:spcPts val="1475"/>
              </a:spcBef>
            </a:pP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OCTAL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NUMBER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1914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octal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system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has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base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8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266825" algn="l"/>
                <a:tab pos="2223770" algn="l"/>
                <a:tab pos="3627754" algn="l"/>
                <a:tab pos="4859655" algn="l"/>
                <a:tab pos="5276850" algn="l"/>
                <a:tab pos="7075805" algn="l"/>
                <a:tab pos="7607934" algn="l"/>
              </a:tabLst>
            </a:pP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oct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sys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mpos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ei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ht 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3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s,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w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ar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0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5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2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3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4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5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6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7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count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above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7,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begin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another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column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start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over: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10,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90" dirty="0">
                <a:solidFill>
                  <a:srgbClr val="006FC0"/>
                </a:solidFill>
                <a:latin typeface="Tahoma"/>
                <a:cs typeface="Tahoma"/>
              </a:rPr>
              <a:t>11,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12.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13,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14,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15,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16,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17,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20,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21,...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985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Counting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in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octal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similar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counting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decimal,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except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digits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8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9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not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used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NUMBER</a:t>
            </a:r>
            <a:r>
              <a:rPr spc="-60" dirty="0"/>
              <a:t> </a:t>
            </a:r>
            <a:r>
              <a:rPr spc="-40" dirty="0"/>
              <a:t>BASE</a:t>
            </a:r>
            <a:r>
              <a:rPr spc="-60" dirty="0"/>
              <a:t> </a:t>
            </a:r>
            <a:r>
              <a:rPr spc="-75" dirty="0"/>
              <a:t>CONVERSIONS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69" algn="ctr">
              <a:lnSpc>
                <a:spcPct val="100000"/>
              </a:lnSpc>
              <a:spcBef>
                <a:spcPts val="105"/>
              </a:spcBef>
            </a:pPr>
            <a:r>
              <a:rPr spc="60" dirty="0"/>
              <a:t>OCTAL</a:t>
            </a:r>
            <a:r>
              <a:rPr spc="-90" dirty="0"/>
              <a:t> </a:t>
            </a:r>
            <a:r>
              <a:rPr spc="55" dirty="0"/>
              <a:t>to</a:t>
            </a:r>
            <a:r>
              <a:rPr spc="-70" dirty="0"/>
              <a:t> </a:t>
            </a:r>
            <a:r>
              <a:rPr spc="30" dirty="0"/>
              <a:t>BINARY</a:t>
            </a:r>
            <a:r>
              <a:rPr spc="-95" dirty="0"/>
              <a:t> </a:t>
            </a:r>
            <a:r>
              <a:rPr spc="80" dirty="0"/>
              <a:t>CONVERSION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/>
          </a:p>
          <a:p>
            <a:pPr marL="47752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946785" algn="l"/>
                <a:tab pos="2101850" algn="l"/>
                <a:tab pos="2574290" algn="l"/>
                <a:tab pos="3368675" algn="l"/>
                <a:tab pos="4545330" algn="l"/>
                <a:tab pos="4977130" algn="l"/>
                <a:tab pos="5278755" algn="l"/>
                <a:tab pos="6272530" algn="l"/>
                <a:tab pos="7506970" algn="l"/>
              </a:tabLst>
            </a:pPr>
            <a:r>
              <a:rPr sz="2400" spc="-95" dirty="0">
                <a:solidFill>
                  <a:srgbClr val="006FC0"/>
                </a:solidFill>
              </a:rPr>
              <a:t>To	</a:t>
            </a:r>
            <a:r>
              <a:rPr sz="2400" spc="5" dirty="0">
                <a:solidFill>
                  <a:srgbClr val="006FC0"/>
                </a:solidFill>
              </a:rPr>
              <a:t>convert	</a:t>
            </a:r>
            <a:r>
              <a:rPr sz="2400" spc="-20" dirty="0">
                <a:solidFill>
                  <a:srgbClr val="006FC0"/>
                </a:solidFill>
              </a:rPr>
              <a:t>an	</a:t>
            </a:r>
            <a:r>
              <a:rPr sz="2400" spc="5" dirty="0">
                <a:solidFill>
                  <a:srgbClr val="006FC0"/>
                </a:solidFill>
              </a:rPr>
              <a:t>octal	</a:t>
            </a:r>
            <a:r>
              <a:rPr sz="2400" spc="-10" dirty="0">
                <a:solidFill>
                  <a:srgbClr val="006FC0"/>
                </a:solidFill>
              </a:rPr>
              <a:t>number	</a:t>
            </a:r>
            <a:r>
              <a:rPr sz="2400" spc="60" dirty="0">
                <a:solidFill>
                  <a:srgbClr val="006FC0"/>
                </a:solidFill>
              </a:rPr>
              <a:t>to	</a:t>
            </a:r>
            <a:r>
              <a:rPr sz="2400" spc="-65" dirty="0">
                <a:solidFill>
                  <a:srgbClr val="006FC0"/>
                </a:solidFill>
              </a:rPr>
              <a:t>a	</a:t>
            </a:r>
            <a:r>
              <a:rPr sz="2400" spc="15" dirty="0">
                <a:solidFill>
                  <a:srgbClr val="006FC0"/>
                </a:solidFill>
              </a:rPr>
              <a:t>binary	</a:t>
            </a:r>
            <a:r>
              <a:rPr sz="2400" spc="-50" dirty="0">
                <a:solidFill>
                  <a:srgbClr val="006FC0"/>
                </a:solidFill>
              </a:rPr>
              <a:t>number,	</a:t>
            </a:r>
            <a:r>
              <a:rPr sz="2400" dirty="0">
                <a:solidFill>
                  <a:srgbClr val="006FC0"/>
                </a:solidFill>
              </a:rPr>
              <a:t>simply</a:t>
            </a:r>
            <a:endParaRPr sz="2400"/>
          </a:p>
          <a:p>
            <a:pPr marL="476884">
              <a:lnSpc>
                <a:spcPct val="100000"/>
              </a:lnSpc>
            </a:pPr>
            <a:r>
              <a:rPr sz="2400" spc="-25" dirty="0">
                <a:solidFill>
                  <a:srgbClr val="006FC0"/>
                </a:solidFill>
              </a:rPr>
              <a:t>replace</a:t>
            </a:r>
            <a:r>
              <a:rPr sz="2400" spc="-85" dirty="0">
                <a:solidFill>
                  <a:srgbClr val="006FC0"/>
                </a:solidFill>
              </a:rPr>
              <a:t> </a:t>
            </a:r>
            <a:r>
              <a:rPr sz="2400" spc="-65" dirty="0">
                <a:solidFill>
                  <a:srgbClr val="006FC0"/>
                </a:solidFill>
              </a:rPr>
              <a:t>each </a:t>
            </a:r>
            <a:r>
              <a:rPr sz="2400" spc="10" dirty="0">
                <a:solidFill>
                  <a:srgbClr val="006FC0"/>
                </a:solidFill>
              </a:rPr>
              <a:t>octal</a:t>
            </a:r>
            <a:r>
              <a:rPr sz="2400" spc="-45" dirty="0">
                <a:solidFill>
                  <a:srgbClr val="006FC0"/>
                </a:solidFill>
              </a:rPr>
              <a:t> </a:t>
            </a:r>
            <a:r>
              <a:rPr sz="2400" spc="10" dirty="0">
                <a:solidFill>
                  <a:srgbClr val="006FC0"/>
                </a:solidFill>
              </a:rPr>
              <a:t>digit</a:t>
            </a:r>
            <a:r>
              <a:rPr sz="2400" spc="-70" dirty="0">
                <a:solidFill>
                  <a:srgbClr val="006FC0"/>
                </a:solidFill>
              </a:rPr>
              <a:t> </a:t>
            </a:r>
            <a:r>
              <a:rPr sz="2400" spc="55" dirty="0">
                <a:solidFill>
                  <a:srgbClr val="006FC0"/>
                </a:solidFill>
              </a:rPr>
              <a:t>with</a:t>
            </a:r>
            <a:r>
              <a:rPr sz="2400" spc="-55" dirty="0">
                <a:solidFill>
                  <a:srgbClr val="006FC0"/>
                </a:solidFill>
              </a:rPr>
              <a:t> </a:t>
            </a:r>
            <a:r>
              <a:rPr sz="2400" spc="-35" dirty="0">
                <a:solidFill>
                  <a:srgbClr val="006FC0"/>
                </a:solidFill>
              </a:rPr>
              <a:t>the</a:t>
            </a:r>
            <a:r>
              <a:rPr sz="2400" spc="-40" dirty="0">
                <a:solidFill>
                  <a:srgbClr val="006FC0"/>
                </a:solidFill>
              </a:rPr>
              <a:t> </a:t>
            </a:r>
            <a:r>
              <a:rPr sz="2400" spc="10" dirty="0">
                <a:solidFill>
                  <a:srgbClr val="006FC0"/>
                </a:solidFill>
              </a:rPr>
              <a:t>appropriate</a:t>
            </a:r>
            <a:r>
              <a:rPr sz="2400" spc="-60" dirty="0">
                <a:solidFill>
                  <a:srgbClr val="006FC0"/>
                </a:solidFill>
              </a:rPr>
              <a:t> </a:t>
            </a:r>
            <a:r>
              <a:rPr sz="2400" spc="-35" dirty="0">
                <a:solidFill>
                  <a:srgbClr val="006FC0"/>
                </a:solidFill>
              </a:rPr>
              <a:t>three</a:t>
            </a:r>
            <a:r>
              <a:rPr sz="2400" spc="-80" dirty="0">
                <a:solidFill>
                  <a:srgbClr val="006FC0"/>
                </a:solidFill>
              </a:rPr>
              <a:t> </a:t>
            </a:r>
            <a:r>
              <a:rPr sz="2400" spc="-45" dirty="0">
                <a:solidFill>
                  <a:srgbClr val="006FC0"/>
                </a:solidFill>
              </a:rPr>
              <a:t>bits.</a:t>
            </a:r>
            <a:endParaRPr sz="2400"/>
          </a:p>
        </p:txBody>
      </p:sp>
      <p:grpSp>
        <p:nvGrpSpPr>
          <p:cNvPr id="13" name="object 13"/>
          <p:cNvGrpSpPr/>
          <p:nvPr/>
        </p:nvGrpSpPr>
        <p:grpSpPr>
          <a:xfrm>
            <a:off x="720470" y="2569464"/>
            <a:ext cx="7788909" cy="3764915"/>
            <a:chOff x="720470" y="2569464"/>
            <a:chExt cx="7788909" cy="376491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9995" y="3886200"/>
              <a:ext cx="7769352" cy="24384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25233" y="3881437"/>
              <a:ext cx="7779384" cy="2447925"/>
            </a:xfrm>
            <a:custGeom>
              <a:avLst/>
              <a:gdLst/>
              <a:ahLst/>
              <a:cxnLst/>
              <a:rect l="l" t="t" r="r" b="b"/>
              <a:pathLst>
                <a:path w="7779384" h="2447925">
                  <a:moveTo>
                    <a:pt x="0" y="2447925"/>
                  </a:moveTo>
                  <a:lnTo>
                    <a:pt x="7778877" y="2447925"/>
                  </a:lnTo>
                  <a:lnTo>
                    <a:pt x="7778877" y="0"/>
                  </a:lnTo>
                  <a:lnTo>
                    <a:pt x="0" y="0"/>
                  </a:lnTo>
                  <a:lnTo>
                    <a:pt x="0" y="24479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9243" y="2569464"/>
              <a:ext cx="7677911" cy="1153668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NUMBER</a:t>
            </a:r>
            <a:r>
              <a:rPr spc="-60" dirty="0"/>
              <a:t> </a:t>
            </a:r>
            <a:r>
              <a:rPr spc="-40" dirty="0"/>
              <a:t>BASE</a:t>
            </a:r>
            <a:r>
              <a:rPr spc="-60" dirty="0"/>
              <a:t> </a:t>
            </a:r>
            <a:r>
              <a:rPr spc="-75" dirty="0"/>
              <a:t>CONVERSIONS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95526"/>
            <a:ext cx="8376920" cy="123190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R="122555" algn="ctr">
              <a:lnSpc>
                <a:spcPct val="100000"/>
              </a:lnSpc>
              <a:spcBef>
                <a:spcPts val="710"/>
              </a:spcBef>
            </a:pPr>
            <a:r>
              <a:rPr sz="2000" b="1" spc="-155" dirty="0">
                <a:solidFill>
                  <a:srgbClr val="C00000"/>
                </a:solidFill>
                <a:latin typeface="Trebuchet MS"/>
                <a:cs typeface="Trebuchet MS"/>
              </a:rPr>
              <a:t>B</a:t>
            </a:r>
            <a:r>
              <a:rPr sz="2000" b="1" spc="15" dirty="0">
                <a:solidFill>
                  <a:srgbClr val="C00000"/>
                </a:solidFill>
                <a:latin typeface="Trebuchet MS"/>
                <a:cs typeface="Trebuchet MS"/>
              </a:rPr>
              <a:t>I</a:t>
            </a:r>
            <a:r>
              <a:rPr sz="2000" b="1" spc="135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2000" b="1" spc="40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2000" b="1" spc="4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2000" b="1" spc="-60" dirty="0">
                <a:solidFill>
                  <a:srgbClr val="C00000"/>
                </a:solidFill>
                <a:latin typeface="Trebuchet MS"/>
                <a:cs typeface="Trebuchet MS"/>
              </a:rPr>
              <a:t>Y</a:t>
            </a:r>
            <a:r>
              <a:rPr sz="2000" b="1" spc="-10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190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2000" b="1" spc="-13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2000"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17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2000" b="1" spc="20" dirty="0">
                <a:solidFill>
                  <a:srgbClr val="C00000"/>
                </a:solidFill>
                <a:latin typeface="Trebuchet MS"/>
                <a:cs typeface="Trebuchet MS"/>
              </a:rPr>
              <a:t>C</a:t>
            </a:r>
            <a:r>
              <a:rPr sz="2000" b="1" spc="35" dirty="0">
                <a:solidFill>
                  <a:srgbClr val="C00000"/>
                </a:solidFill>
                <a:latin typeface="Trebuchet MS"/>
                <a:cs typeface="Trebuchet MS"/>
              </a:rPr>
              <a:t>T</a:t>
            </a:r>
            <a:r>
              <a:rPr sz="2000" b="1" spc="45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2000" b="1" spc="-140" dirty="0">
                <a:solidFill>
                  <a:srgbClr val="C00000"/>
                </a:solidFill>
                <a:latin typeface="Trebuchet MS"/>
                <a:cs typeface="Trebuchet MS"/>
              </a:rPr>
              <a:t>L</a:t>
            </a:r>
            <a:r>
              <a:rPr sz="2000" b="1" spc="-10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Trebuchet MS"/>
                <a:cs typeface="Trebuchet MS"/>
              </a:rPr>
              <a:t>C</a:t>
            </a:r>
            <a:r>
              <a:rPr sz="2000" b="1" spc="17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2000" b="1" spc="50" dirty="0">
                <a:solidFill>
                  <a:srgbClr val="C00000"/>
                </a:solidFill>
                <a:latin typeface="Trebuchet MS"/>
                <a:cs typeface="Trebuchet MS"/>
              </a:rPr>
              <a:t>NV</a:t>
            </a:r>
            <a:r>
              <a:rPr sz="2000" b="1" spc="30" dirty="0">
                <a:solidFill>
                  <a:srgbClr val="C00000"/>
                </a:solidFill>
                <a:latin typeface="Trebuchet MS"/>
                <a:cs typeface="Trebuchet MS"/>
              </a:rPr>
              <a:t>E</a:t>
            </a:r>
            <a:r>
              <a:rPr sz="2000" b="1" spc="-5" dirty="0">
                <a:solidFill>
                  <a:srgbClr val="C00000"/>
                </a:solidFill>
                <a:latin typeface="Trebuchet MS"/>
                <a:cs typeface="Trebuchet MS"/>
              </a:rPr>
              <a:t>RSI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2000" b="1" spc="130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endParaRPr sz="2000">
              <a:latin typeface="Trebuchet MS"/>
              <a:cs typeface="Trebuchet MS"/>
            </a:endParaRPr>
          </a:p>
          <a:p>
            <a:pPr marL="476884" marR="5080" indent="-464820">
              <a:lnSpc>
                <a:spcPct val="100000"/>
              </a:lnSpc>
              <a:spcBef>
                <a:spcPts val="73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400" spc="25" dirty="0">
                <a:solidFill>
                  <a:srgbClr val="006FC0"/>
                </a:solidFill>
                <a:latin typeface="Tahoma"/>
                <a:cs typeface="Tahoma"/>
              </a:rPr>
              <a:t>Conversion</a:t>
            </a:r>
            <a:r>
              <a:rPr sz="2400" spc="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400" spc="1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400" spc="1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5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400" spc="1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400" spc="1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400" spc="1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400" spc="1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octal</a:t>
            </a:r>
            <a:r>
              <a:rPr sz="2400" spc="1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400" spc="1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400" spc="1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400" spc="-7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reverse</a:t>
            </a:r>
            <a:r>
              <a:rPr sz="24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octal-to-binary</a:t>
            </a:r>
            <a:r>
              <a:rPr sz="24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conversion.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3998" y="2281047"/>
            <a:ext cx="7599680" cy="4150995"/>
            <a:chOff x="753998" y="2281047"/>
            <a:chExt cx="7599680" cy="415099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3523" y="2290572"/>
              <a:ext cx="7580376" cy="41315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58761" y="2285809"/>
              <a:ext cx="7590155" cy="4141470"/>
            </a:xfrm>
            <a:custGeom>
              <a:avLst/>
              <a:gdLst/>
              <a:ahLst/>
              <a:cxnLst/>
              <a:rect l="l" t="t" r="r" b="b"/>
              <a:pathLst>
                <a:path w="7590155" h="4141470">
                  <a:moveTo>
                    <a:pt x="0" y="4141089"/>
                  </a:moveTo>
                  <a:lnTo>
                    <a:pt x="7589901" y="4141089"/>
                  </a:lnTo>
                  <a:lnTo>
                    <a:pt x="7589901" y="0"/>
                  </a:lnTo>
                  <a:lnTo>
                    <a:pt x="0" y="0"/>
                  </a:lnTo>
                  <a:lnTo>
                    <a:pt x="0" y="41410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2495" y="202679"/>
              <a:ext cx="5774435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956561" y="321386"/>
            <a:ext cx="5228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NUMBER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spc="-40" dirty="0">
                <a:latin typeface="Trebuchet MS"/>
                <a:cs typeface="Trebuchet MS"/>
              </a:rPr>
              <a:t>BASE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spc="-75" dirty="0">
                <a:latin typeface="Trebuchet MS"/>
                <a:cs typeface="Trebuchet MS"/>
              </a:rPr>
              <a:t>CONVERSIONS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8394" y="1087881"/>
            <a:ext cx="2773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5" dirty="0">
                <a:solidFill>
                  <a:srgbClr val="C00000"/>
                </a:solidFill>
                <a:latin typeface="Tahoma"/>
                <a:cs typeface="Tahoma"/>
              </a:rPr>
              <a:t>Exercise</a:t>
            </a:r>
            <a:r>
              <a:rPr sz="2800" spc="-1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Tahoma"/>
                <a:cs typeface="Tahoma"/>
              </a:rPr>
              <a:t>problems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2400" y="1655064"/>
            <a:ext cx="7352030" cy="4822190"/>
            <a:chOff x="152400" y="1655064"/>
            <a:chExt cx="7352030" cy="482219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1460" y="5638800"/>
              <a:ext cx="4840224" cy="838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1460" y="4800600"/>
              <a:ext cx="7252716" cy="7909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8600" y="1655064"/>
              <a:ext cx="6819900" cy="6614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400" y="3151632"/>
              <a:ext cx="5513832" cy="7726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400" y="3924300"/>
              <a:ext cx="6553200" cy="8153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2400" y="2316480"/>
              <a:ext cx="5625084" cy="743712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5248" y="1615439"/>
            <a:ext cx="4859274" cy="37726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500" y="202679"/>
              <a:ext cx="418490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50566" y="321386"/>
            <a:ext cx="36442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105" dirty="0"/>
              <a:t> </a:t>
            </a:r>
            <a:r>
              <a:rPr spc="-85" dirty="0"/>
              <a:t>ARITHMETIC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457200" y="1524000"/>
            <a:ext cx="8305800" cy="4922520"/>
            <a:chOff x="457200" y="1524000"/>
            <a:chExt cx="8305800" cy="492252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3000" y="1524000"/>
              <a:ext cx="6832092" cy="24597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200" y="4114800"/>
              <a:ext cx="8305800" cy="233172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500" y="202679"/>
              <a:ext cx="418490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50566" y="321386"/>
            <a:ext cx="36442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105" dirty="0"/>
              <a:t> </a:t>
            </a:r>
            <a:r>
              <a:rPr spc="-85" dirty="0"/>
              <a:t>ARITHMETIC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457200" y="1524000"/>
            <a:ext cx="8305800" cy="4876800"/>
            <a:chOff x="457200" y="1524000"/>
            <a:chExt cx="8305800" cy="48768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5000" y="1524000"/>
              <a:ext cx="5263896" cy="2362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200" y="4034027"/>
              <a:ext cx="8305800" cy="23667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7400" y="5943600"/>
              <a:ext cx="5701284" cy="45720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500" y="202679"/>
              <a:ext cx="418490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50566" y="321386"/>
            <a:ext cx="36442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105" dirty="0"/>
              <a:t> </a:t>
            </a:r>
            <a:r>
              <a:rPr spc="-85" dirty="0"/>
              <a:t>ARITHMETIC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24611" y="1447800"/>
            <a:ext cx="8316595" cy="5029200"/>
            <a:chOff x="324611" y="1447800"/>
            <a:chExt cx="8316595" cy="50292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7428" y="1447800"/>
              <a:ext cx="4890516" cy="21336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4611" y="3764279"/>
              <a:ext cx="7066788" cy="27127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41135" y="1485900"/>
              <a:ext cx="2599943" cy="209550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500" y="202679"/>
              <a:ext cx="418490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50566" y="321386"/>
            <a:ext cx="36442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90" dirty="0">
                <a:latin typeface="Trebuchet MS"/>
                <a:cs typeface="Trebuchet MS"/>
              </a:rPr>
              <a:t>BINARY</a:t>
            </a:r>
            <a:r>
              <a:rPr sz="3200" b="1" spc="-105" dirty="0">
                <a:latin typeface="Trebuchet MS"/>
                <a:cs typeface="Trebuchet MS"/>
              </a:rPr>
              <a:t> </a:t>
            </a:r>
            <a:r>
              <a:rPr sz="3200" b="1" spc="-85" dirty="0">
                <a:latin typeface="Trebuchet MS"/>
                <a:cs typeface="Trebuchet MS"/>
              </a:rPr>
              <a:t>ARITHMETIC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02000" y="1090930"/>
            <a:ext cx="25203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1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ARITHMETIC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57072" y="1676400"/>
            <a:ext cx="7120255" cy="4578350"/>
            <a:chOff x="957072" y="1676400"/>
            <a:chExt cx="7120255" cy="457835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7072" y="1676400"/>
              <a:ext cx="7120128" cy="9281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7800" y="3200400"/>
              <a:ext cx="6033515" cy="3054096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976" y="1569719"/>
            <a:ext cx="5476494" cy="38641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0820" y="155460"/>
              <a:ext cx="3636263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55747" y="289382"/>
            <a:ext cx="3028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latin typeface="Trebuchet MS"/>
                <a:cs typeface="Trebuchet MS"/>
              </a:rPr>
              <a:t>COMPLEMENTS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3594" y="1090930"/>
            <a:ext cx="46355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95" dirty="0">
                <a:solidFill>
                  <a:srgbClr val="C00000"/>
                </a:solidFill>
                <a:latin typeface="Tahoma"/>
                <a:cs typeface="Tahoma"/>
              </a:rPr>
              <a:t>1</a:t>
            </a:r>
            <a:r>
              <a:rPr sz="2000" spc="155" dirty="0">
                <a:solidFill>
                  <a:srgbClr val="C00000"/>
                </a:solidFill>
                <a:latin typeface="Tahoma"/>
                <a:cs typeface="Tahoma"/>
              </a:rPr>
              <a:t>’</a:t>
            </a:r>
            <a:r>
              <a:rPr sz="2000" spc="-21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OMPLEM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254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2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B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3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13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40" dirty="0">
                <a:solidFill>
                  <a:srgbClr val="C00000"/>
                </a:solidFill>
                <a:latin typeface="Tahoma"/>
                <a:cs typeface="Tahoma"/>
              </a:rPr>
              <a:t>Y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254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30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B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600" y="1752600"/>
            <a:ext cx="8112759" cy="4410710"/>
            <a:chOff x="609600" y="1752600"/>
            <a:chExt cx="8112759" cy="441071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600" y="1752600"/>
              <a:ext cx="8112252" cy="2286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6800" y="4495800"/>
              <a:ext cx="6970776" cy="1667256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0820" y="155460"/>
              <a:ext cx="3636263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55747" y="289382"/>
            <a:ext cx="3028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latin typeface="Trebuchet MS"/>
                <a:cs typeface="Trebuchet MS"/>
              </a:rPr>
              <a:t>COMPLEMENTS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7394" y="1090930"/>
            <a:ext cx="46786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2’s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COMPLEMENT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NUMBER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1000" y="1828800"/>
            <a:ext cx="8415655" cy="4343400"/>
            <a:chOff x="381000" y="1828800"/>
            <a:chExt cx="8415655" cy="4343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1828800"/>
              <a:ext cx="8415528" cy="1676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200" y="3767327"/>
              <a:ext cx="8215883" cy="240487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0820" y="155460"/>
              <a:ext cx="3636263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55747" y="289382"/>
            <a:ext cx="3028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latin typeface="Trebuchet MS"/>
                <a:cs typeface="Trebuchet MS"/>
              </a:rPr>
              <a:t>COMPLEMENTS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7394" y="1224152"/>
            <a:ext cx="46786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2’s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COMPLEMENT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C00000"/>
                </a:solidFill>
                <a:latin typeface="Tahoma"/>
                <a:cs typeface="Tahoma"/>
              </a:rPr>
              <a:t>BINARY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NUMBER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0200" y="2133600"/>
            <a:ext cx="5725667" cy="1505712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976" y="1569719"/>
            <a:ext cx="5589270" cy="38823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339" y="224015"/>
              <a:ext cx="7507224" cy="8808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74216" y="338150"/>
            <a:ext cx="699198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0" dirty="0"/>
              <a:t>REPRESENTATION</a:t>
            </a:r>
            <a:r>
              <a:rPr sz="3000" spc="-55" dirty="0"/>
              <a:t> </a:t>
            </a:r>
            <a:r>
              <a:rPr sz="3000" spc="-210" dirty="0"/>
              <a:t>OF</a:t>
            </a:r>
            <a:r>
              <a:rPr sz="3000" spc="-5" dirty="0"/>
              <a:t> </a:t>
            </a:r>
            <a:r>
              <a:rPr sz="3000" spc="-160" dirty="0"/>
              <a:t>NEGATIVE</a:t>
            </a:r>
            <a:r>
              <a:rPr sz="3000" spc="-35" dirty="0"/>
              <a:t> </a:t>
            </a:r>
            <a:r>
              <a:rPr sz="3000" spc="-40" dirty="0"/>
              <a:t>NUMBERS</a:t>
            </a:r>
            <a:endParaRPr sz="30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35102"/>
            <a:ext cx="8377555" cy="521589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448309" algn="ctr">
              <a:lnSpc>
                <a:spcPct val="100000"/>
              </a:lnSpc>
              <a:spcBef>
                <a:spcPts val="540"/>
              </a:spcBef>
            </a:pP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SIGNED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MAGNITUDE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C00000"/>
                </a:solidFill>
                <a:latin typeface="Tahoma"/>
                <a:cs typeface="Tahoma"/>
              </a:rPr>
              <a:t>NUMBERS</a:t>
            </a:r>
            <a:endParaRPr sz="20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8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decimal 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system,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generally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plus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(+) 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sign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denotes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positive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number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whereas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minus 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(–) 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sign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denotes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negative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number.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This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type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representation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6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600" spc="4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ber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600" spc="-14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kn</a:t>
            </a:r>
            <a:r>
              <a:rPr sz="2600" spc="15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600" spc="110" dirty="0">
                <a:solidFill>
                  <a:srgbClr val="006FC0"/>
                </a:solidFill>
                <a:latin typeface="Tahoma"/>
                <a:cs typeface="Tahoma"/>
              </a:rPr>
              <a:t>wn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-15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4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600" spc="-120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ned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mb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600" spc="-12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600" spc="-16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But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digital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circuits,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there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80" dirty="0">
                <a:solidFill>
                  <a:srgbClr val="006FC0"/>
                </a:solidFill>
                <a:latin typeface="Tahoma"/>
                <a:cs typeface="Tahoma"/>
              </a:rPr>
              <a:t>no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provision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put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plus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minus 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sign,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normally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additional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bit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600" spc="6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used 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7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600" spc="-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sign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bit.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This 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sign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bit </a:t>
            </a:r>
            <a:r>
              <a:rPr sz="2600" spc="-110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usually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placed </a:t>
            </a:r>
            <a:r>
              <a:rPr sz="2600" spc="-175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600" spc="459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MSB.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Generally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006FC0"/>
                </a:solidFill>
                <a:latin typeface="Tahoma"/>
                <a:cs typeface="Tahoma"/>
              </a:rPr>
              <a:t>0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 reserved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positive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85" dirty="0">
                <a:solidFill>
                  <a:srgbClr val="006FC0"/>
                </a:solidFill>
                <a:latin typeface="Tahoma"/>
                <a:cs typeface="Tahoma"/>
              </a:rPr>
              <a:t>1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reserved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negative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number.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339" y="224015"/>
              <a:ext cx="7507224" cy="8808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74216" y="338150"/>
            <a:ext cx="699198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0" dirty="0"/>
              <a:t>REPRESENTATION</a:t>
            </a:r>
            <a:r>
              <a:rPr sz="3000" spc="-55" dirty="0"/>
              <a:t> </a:t>
            </a:r>
            <a:r>
              <a:rPr sz="3000" spc="-210" dirty="0"/>
              <a:t>OF</a:t>
            </a:r>
            <a:r>
              <a:rPr sz="3000" spc="-5" dirty="0"/>
              <a:t> </a:t>
            </a:r>
            <a:r>
              <a:rPr sz="3000" spc="-160" dirty="0"/>
              <a:t>NEGATIVE</a:t>
            </a:r>
            <a:r>
              <a:rPr sz="3000" spc="-35" dirty="0"/>
              <a:t> </a:t>
            </a:r>
            <a:r>
              <a:rPr sz="3000" spc="-40" dirty="0"/>
              <a:t>NUMBERS</a:t>
            </a:r>
            <a:endParaRPr sz="30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4640" y="1062762"/>
            <a:ext cx="8555990" cy="548767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47675" algn="ctr">
              <a:lnSpc>
                <a:spcPct val="100000"/>
              </a:lnSpc>
              <a:spcBef>
                <a:spcPts val="325"/>
              </a:spcBef>
            </a:pP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SIGNED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MAGNITUDE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C00000"/>
                </a:solidFill>
                <a:latin typeface="Tahoma"/>
                <a:cs typeface="Tahoma"/>
              </a:rPr>
              <a:t>NUMBERS</a:t>
            </a:r>
            <a:endParaRPr sz="2000">
              <a:latin typeface="Tahoma"/>
              <a:cs typeface="Tahoma"/>
            </a:endParaRPr>
          </a:p>
          <a:p>
            <a:pPr marL="565785" marR="93980" indent="-464820" algn="just">
              <a:lnSpc>
                <a:spcPct val="100000"/>
              </a:lnSpc>
              <a:spcBef>
                <a:spcPts val="290"/>
              </a:spcBef>
              <a:buClr>
                <a:srgbClr val="E36C09"/>
              </a:buClr>
              <a:buFont typeface="Wingdings"/>
              <a:buChar char=""/>
              <a:tabLst>
                <a:tab pos="566420" algn="l"/>
              </a:tabLst>
            </a:pP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example,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8-bit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signed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number </a:t>
            </a:r>
            <a:r>
              <a:rPr sz="2600" spc="-140" dirty="0">
                <a:solidFill>
                  <a:srgbClr val="006FC0"/>
                </a:solidFill>
                <a:latin typeface="Tahoma"/>
                <a:cs typeface="Tahoma"/>
              </a:rPr>
              <a:t>01101001 </a:t>
            </a:r>
            <a:r>
              <a:rPr sz="2600" spc="-1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represents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a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positive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whose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magnitude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 (1101001)</a:t>
            </a:r>
            <a:r>
              <a:rPr sz="2550" spc="-150" baseline="-21241" dirty="0">
                <a:solidFill>
                  <a:srgbClr val="006FC0"/>
                </a:solidFill>
                <a:latin typeface="Tahoma"/>
                <a:cs typeface="Tahoma"/>
              </a:rPr>
              <a:t>2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= 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(105)</a:t>
            </a:r>
            <a:r>
              <a:rPr sz="2550" spc="-120" baseline="-21241" dirty="0">
                <a:solidFill>
                  <a:srgbClr val="006FC0"/>
                </a:solidFill>
                <a:latin typeface="Tahoma"/>
                <a:cs typeface="Tahoma"/>
              </a:rPr>
              <a:t>10</a:t>
            </a:r>
            <a:r>
              <a:rPr sz="2550" spc="-112" baseline="-21241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MSB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0, which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indicates that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 the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positive.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E36C09"/>
              </a:buClr>
              <a:buFont typeface="Wingdings"/>
              <a:buChar char=""/>
            </a:pPr>
            <a:endParaRPr sz="2350">
              <a:latin typeface="Tahoma"/>
              <a:cs typeface="Tahoma"/>
            </a:endParaRPr>
          </a:p>
          <a:p>
            <a:pPr marL="565785" marR="9271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66420" algn="l"/>
              </a:tabLst>
            </a:pPr>
            <a:r>
              <a:rPr sz="2600" spc="175" dirty="0">
                <a:solidFill>
                  <a:srgbClr val="006FC0"/>
                </a:solidFill>
                <a:latin typeface="Tahoma"/>
                <a:cs typeface="Tahoma"/>
              </a:rPr>
              <a:t>On</a:t>
            </a:r>
            <a:r>
              <a:rPr sz="2600" spc="1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other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hand,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signed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form,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0" dirty="0">
                <a:solidFill>
                  <a:srgbClr val="006FC0"/>
                </a:solidFill>
                <a:latin typeface="Tahoma"/>
                <a:cs typeface="Tahoma"/>
              </a:rPr>
              <a:t>11101001</a:t>
            </a:r>
            <a:r>
              <a:rPr sz="2600" spc="-1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represents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negative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600" spc="7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whose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magnitude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120" dirty="0">
                <a:solidFill>
                  <a:srgbClr val="006FC0"/>
                </a:solidFill>
                <a:latin typeface="Tahoma"/>
                <a:cs typeface="Tahoma"/>
              </a:rPr>
              <a:t>(11101001)</a:t>
            </a:r>
            <a:r>
              <a:rPr sz="2550" spc="-179" baseline="-21241" dirty="0">
                <a:solidFill>
                  <a:srgbClr val="006FC0"/>
                </a:solidFill>
                <a:latin typeface="Tahoma"/>
                <a:cs typeface="Tahoma"/>
              </a:rPr>
              <a:t>2</a:t>
            </a:r>
            <a:r>
              <a:rPr sz="2600" spc="-120" dirty="0">
                <a:solidFill>
                  <a:srgbClr val="006FC0"/>
                </a:solidFill>
                <a:latin typeface="Tahoma"/>
                <a:cs typeface="Tahoma"/>
              </a:rPr>
              <a:t>= 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(-105)</a:t>
            </a:r>
            <a:r>
              <a:rPr sz="2550" spc="-135" baseline="-21241" dirty="0">
                <a:solidFill>
                  <a:srgbClr val="006FC0"/>
                </a:solidFill>
                <a:latin typeface="Tahoma"/>
                <a:cs typeface="Tahoma"/>
              </a:rPr>
              <a:t>10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.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385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600" spc="-3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MSB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position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indicates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number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negative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other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seven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bits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give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its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magnitude.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350">
              <a:latin typeface="Tahoma"/>
              <a:cs typeface="Tahoma"/>
            </a:endParaRPr>
          </a:p>
          <a:p>
            <a:pPr marL="565785" marR="9525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66420" algn="l"/>
              </a:tabLst>
            </a:pP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This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kind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representation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numbers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called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sign-magnitude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representation.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339" y="224015"/>
              <a:ext cx="7507224" cy="8808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74216" y="338150"/>
            <a:ext cx="699198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0" dirty="0">
                <a:latin typeface="Trebuchet MS"/>
                <a:cs typeface="Trebuchet MS"/>
              </a:rPr>
              <a:t>REPRESENTATION</a:t>
            </a:r>
            <a:r>
              <a:rPr sz="3000" b="1" spc="-55" dirty="0">
                <a:latin typeface="Trebuchet MS"/>
                <a:cs typeface="Trebuchet MS"/>
              </a:rPr>
              <a:t> </a:t>
            </a:r>
            <a:r>
              <a:rPr sz="3000" b="1" spc="-210" dirty="0">
                <a:latin typeface="Trebuchet MS"/>
                <a:cs typeface="Trebuchet MS"/>
              </a:rPr>
              <a:t>OF</a:t>
            </a:r>
            <a:r>
              <a:rPr sz="3000" b="1" spc="-5" dirty="0">
                <a:latin typeface="Trebuchet MS"/>
                <a:cs typeface="Trebuchet MS"/>
              </a:rPr>
              <a:t> </a:t>
            </a:r>
            <a:r>
              <a:rPr sz="3000" b="1" spc="-160" dirty="0">
                <a:latin typeface="Trebuchet MS"/>
                <a:cs typeface="Trebuchet MS"/>
              </a:rPr>
              <a:t>NEGATIVE</a:t>
            </a:r>
            <a:r>
              <a:rPr sz="3000" b="1" spc="-35" dirty="0">
                <a:latin typeface="Trebuchet MS"/>
                <a:cs typeface="Trebuchet MS"/>
              </a:rPr>
              <a:t> </a:t>
            </a:r>
            <a:r>
              <a:rPr sz="3000" b="1" spc="-40" dirty="0">
                <a:latin typeface="Trebuchet MS"/>
                <a:cs typeface="Trebuchet MS"/>
              </a:rPr>
              <a:t>NUMBERS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8394" y="1090930"/>
            <a:ext cx="37966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SIGNED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MAGNITUDE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C00000"/>
                </a:solidFill>
                <a:latin typeface="Tahoma"/>
                <a:cs typeface="Tahoma"/>
              </a:rPr>
              <a:t>NUMBERS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200" y="1524000"/>
            <a:ext cx="8326120" cy="4810125"/>
            <a:chOff x="457200" y="1524000"/>
            <a:chExt cx="8326120" cy="481012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200" y="1524000"/>
              <a:ext cx="8325611" cy="8854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4000" y="2743200"/>
              <a:ext cx="5623559" cy="359054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519" y="1455419"/>
            <a:ext cx="6983730" cy="40927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9592" y="155460"/>
              <a:ext cx="50002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74138" y="289382"/>
            <a:ext cx="43891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latin typeface="Trebuchet MS"/>
                <a:cs typeface="Trebuchet MS"/>
              </a:rPr>
              <a:t>DIGITAL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85" dirty="0">
                <a:latin typeface="Trebuchet MS"/>
                <a:cs typeface="Trebuchet MS"/>
              </a:rPr>
              <a:t>LOGIC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160" dirty="0">
                <a:latin typeface="Trebuchet MS"/>
                <a:cs typeface="Trebuchet MS"/>
              </a:rPr>
              <a:t>GATES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8375" y="1090930"/>
            <a:ext cx="23901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GIC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5400" y="1752600"/>
            <a:ext cx="6577583" cy="44577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9592" y="155460"/>
              <a:ext cx="50002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74138" y="289382"/>
            <a:ext cx="43891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latin typeface="Trebuchet MS"/>
                <a:cs typeface="Trebuchet MS"/>
              </a:rPr>
              <a:t>DIGITAL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85" dirty="0">
                <a:latin typeface="Trebuchet MS"/>
                <a:cs typeface="Trebuchet MS"/>
              </a:rPr>
              <a:t>LOGIC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160" dirty="0">
                <a:latin typeface="Trebuchet MS"/>
                <a:cs typeface="Trebuchet MS"/>
              </a:rPr>
              <a:t>GATES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8375" y="1090930"/>
            <a:ext cx="23806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D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GIC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3000" y="1981200"/>
            <a:ext cx="6934200" cy="41148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9592" y="155460"/>
              <a:ext cx="50002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74138" y="289382"/>
            <a:ext cx="43891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latin typeface="Trebuchet MS"/>
                <a:cs typeface="Trebuchet MS"/>
              </a:rPr>
              <a:t>DIGITAL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85" dirty="0">
                <a:latin typeface="Trebuchet MS"/>
                <a:cs typeface="Trebuchet MS"/>
              </a:rPr>
              <a:t>LOGIC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160" dirty="0">
                <a:latin typeface="Trebuchet MS"/>
                <a:cs typeface="Trebuchet MS"/>
              </a:rPr>
              <a:t>GATES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8375" y="1090930"/>
            <a:ext cx="2196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GIC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400" y="1752600"/>
            <a:ext cx="6958583" cy="420014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9592" y="155460"/>
              <a:ext cx="50002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74138" y="289382"/>
            <a:ext cx="43891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latin typeface="Trebuchet MS"/>
                <a:cs typeface="Trebuchet MS"/>
              </a:rPr>
              <a:t>DIGITAL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85" dirty="0">
                <a:latin typeface="Trebuchet MS"/>
                <a:cs typeface="Trebuchet MS"/>
              </a:rPr>
              <a:t>LOGIC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160" dirty="0">
                <a:latin typeface="Trebuchet MS"/>
                <a:cs typeface="Trebuchet MS"/>
              </a:rPr>
              <a:t>GATES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8375" y="1090930"/>
            <a:ext cx="25844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185" dirty="0">
                <a:solidFill>
                  <a:srgbClr val="C00000"/>
                </a:solidFill>
                <a:latin typeface="Tahoma"/>
                <a:cs typeface="Tahoma"/>
              </a:rPr>
              <a:t>ND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180" dirty="0">
                <a:solidFill>
                  <a:srgbClr val="C00000"/>
                </a:solidFill>
                <a:latin typeface="Tahoma"/>
                <a:cs typeface="Tahoma"/>
              </a:rPr>
              <a:t>ES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7800" y="1828800"/>
            <a:ext cx="6772656" cy="433882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9592" y="155460"/>
              <a:ext cx="50002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74138" y="289382"/>
            <a:ext cx="43891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latin typeface="Trebuchet MS"/>
                <a:cs typeface="Trebuchet MS"/>
              </a:rPr>
              <a:t>DIGITAL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85" dirty="0">
                <a:latin typeface="Trebuchet MS"/>
                <a:cs typeface="Trebuchet MS"/>
              </a:rPr>
              <a:t>LOGIC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160" dirty="0">
                <a:latin typeface="Trebuchet MS"/>
                <a:cs typeface="Trebuchet MS"/>
              </a:rPr>
              <a:t>GATES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8375" y="1090930"/>
            <a:ext cx="2400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180" dirty="0">
                <a:solidFill>
                  <a:srgbClr val="C00000"/>
                </a:solidFill>
                <a:latin typeface="Tahoma"/>
                <a:cs typeface="Tahoma"/>
              </a:rPr>
              <a:t>ES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9200" y="1752600"/>
            <a:ext cx="6858000" cy="44196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9592" y="155460"/>
              <a:ext cx="50002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74138" y="289382"/>
            <a:ext cx="43891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5" dirty="0">
                <a:latin typeface="Trebuchet MS"/>
                <a:cs typeface="Trebuchet MS"/>
              </a:rPr>
              <a:t>DIGITAL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85" dirty="0">
                <a:latin typeface="Trebuchet MS"/>
                <a:cs typeface="Trebuchet MS"/>
              </a:rPr>
              <a:t>LOGIC</a:t>
            </a:r>
            <a:r>
              <a:rPr sz="3600" b="1" spc="-70" dirty="0">
                <a:latin typeface="Trebuchet MS"/>
                <a:cs typeface="Trebuchet MS"/>
              </a:rPr>
              <a:t> </a:t>
            </a:r>
            <a:r>
              <a:rPr sz="3600" b="1" spc="-160" dirty="0">
                <a:latin typeface="Trebuchet MS"/>
                <a:cs typeface="Trebuchet MS"/>
              </a:rPr>
              <a:t>GATES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5975" y="1090930"/>
            <a:ext cx="2186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XOR-LOGIC</a:t>
            </a:r>
            <a:r>
              <a:rPr sz="2000" spc="-1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GATES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3000" y="1752600"/>
            <a:ext cx="6920483" cy="44958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961" y="915170"/>
              <a:ext cx="7680959" cy="7618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8961" y="915161"/>
              <a:ext cx="7680959" cy="76200"/>
            </a:xfrm>
            <a:custGeom>
              <a:avLst/>
              <a:gdLst/>
              <a:ahLst/>
              <a:cxnLst/>
              <a:rect l="l" t="t" r="r" b="b"/>
              <a:pathLst>
                <a:path w="7680959" h="76200">
                  <a:moveTo>
                    <a:pt x="0" y="38100"/>
                  </a:moveTo>
                  <a:lnTo>
                    <a:pt x="42730" y="32388"/>
                  </a:lnTo>
                  <a:lnTo>
                    <a:pt x="86304" y="30018"/>
                  </a:lnTo>
                  <a:lnTo>
                    <a:pt x="144332" y="27703"/>
                  </a:lnTo>
                  <a:lnTo>
                    <a:pt x="190807" y="26191"/>
                  </a:lnTo>
                  <a:lnTo>
                    <a:pt x="243346" y="24707"/>
                  </a:lnTo>
                  <a:lnTo>
                    <a:pt x="301805" y="23252"/>
                  </a:lnTo>
                  <a:lnTo>
                    <a:pt x="366039" y="21828"/>
                  </a:lnTo>
                  <a:lnTo>
                    <a:pt x="435905" y="20435"/>
                  </a:lnTo>
                  <a:lnTo>
                    <a:pt x="511258" y="19075"/>
                  </a:lnTo>
                  <a:lnTo>
                    <a:pt x="550947" y="18408"/>
                  </a:lnTo>
                  <a:lnTo>
                    <a:pt x="591954" y="17750"/>
                  </a:lnTo>
                  <a:lnTo>
                    <a:pt x="634261" y="17101"/>
                  </a:lnTo>
                  <a:lnTo>
                    <a:pt x="677850" y="16461"/>
                  </a:lnTo>
                  <a:lnTo>
                    <a:pt x="722702" y="15830"/>
                  </a:lnTo>
                  <a:lnTo>
                    <a:pt x="768800" y="15209"/>
                  </a:lnTo>
                  <a:lnTo>
                    <a:pt x="816126" y="14598"/>
                  </a:lnTo>
                  <a:lnTo>
                    <a:pt x="864661" y="13997"/>
                  </a:lnTo>
                  <a:lnTo>
                    <a:pt x="914389" y="13405"/>
                  </a:lnTo>
                  <a:lnTo>
                    <a:pt x="965290" y="12824"/>
                  </a:lnTo>
                  <a:lnTo>
                    <a:pt x="1017346" y="12253"/>
                  </a:lnTo>
                  <a:lnTo>
                    <a:pt x="1070540" y="11693"/>
                  </a:lnTo>
                  <a:lnTo>
                    <a:pt x="1124854" y="11144"/>
                  </a:lnTo>
                  <a:lnTo>
                    <a:pt x="1180270" y="10605"/>
                  </a:lnTo>
                  <a:lnTo>
                    <a:pt x="1236769" y="10078"/>
                  </a:lnTo>
                  <a:lnTo>
                    <a:pt x="1294334" y="9562"/>
                  </a:lnTo>
                  <a:lnTo>
                    <a:pt x="1352946" y="9058"/>
                  </a:lnTo>
                  <a:lnTo>
                    <a:pt x="1412588" y="8565"/>
                  </a:lnTo>
                  <a:lnTo>
                    <a:pt x="1473242" y="8084"/>
                  </a:lnTo>
                  <a:lnTo>
                    <a:pt x="1534889" y="7615"/>
                  </a:lnTo>
                  <a:lnTo>
                    <a:pt x="1597512" y="7158"/>
                  </a:lnTo>
                  <a:lnTo>
                    <a:pt x="1661092" y="6713"/>
                  </a:lnTo>
                  <a:lnTo>
                    <a:pt x="1725612" y="6281"/>
                  </a:lnTo>
                  <a:lnTo>
                    <a:pt x="1791053" y="5862"/>
                  </a:lnTo>
                  <a:lnTo>
                    <a:pt x="1857398" y="5456"/>
                  </a:lnTo>
                  <a:lnTo>
                    <a:pt x="1924628" y="5063"/>
                  </a:lnTo>
                  <a:lnTo>
                    <a:pt x="1992726" y="4683"/>
                  </a:lnTo>
                  <a:lnTo>
                    <a:pt x="2061673" y="4316"/>
                  </a:lnTo>
                  <a:lnTo>
                    <a:pt x="2131452" y="3963"/>
                  </a:lnTo>
                  <a:lnTo>
                    <a:pt x="2202044" y="3624"/>
                  </a:lnTo>
                  <a:lnTo>
                    <a:pt x="2273431" y="3299"/>
                  </a:lnTo>
                  <a:lnTo>
                    <a:pt x="2345596" y="2988"/>
                  </a:lnTo>
                  <a:lnTo>
                    <a:pt x="2418521" y="2691"/>
                  </a:lnTo>
                  <a:lnTo>
                    <a:pt x="2492186" y="2409"/>
                  </a:lnTo>
                  <a:lnTo>
                    <a:pt x="2566575" y="2141"/>
                  </a:lnTo>
                  <a:lnTo>
                    <a:pt x="2641670" y="1889"/>
                  </a:lnTo>
                  <a:lnTo>
                    <a:pt x="2717451" y="1651"/>
                  </a:lnTo>
                  <a:lnTo>
                    <a:pt x="2793902" y="1428"/>
                  </a:lnTo>
                  <a:lnTo>
                    <a:pt x="2871005" y="1221"/>
                  </a:lnTo>
                  <a:lnTo>
                    <a:pt x="2948741" y="1030"/>
                  </a:lnTo>
                  <a:lnTo>
                    <a:pt x="3027092" y="854"/>
                  </a:lnTo>
                  <a:lnTo>
                    <a:pt x="3106040" y="694"/>
                  </a:lnTo>
                  <a:lnTo>
                    <a:pt x="3185567" y="550"/>
                  </a:lnTo>
                  <a:lnTo>
                    <a:pt x="3265656" y="422"/>
                  </a:lnTo>
                  <a:lnTo>
                    <a:pt x="3346288" y="311"/>
                  </a:lnTo>
                  <a:lnTo>
                    <a:pt x="3427445" y="217"/>
                  </a:lnTo>
                  <a:lnTo>
                    <a:pt x="3509110" y="139"/>
                  </a:lnTo>
                  <a:lnTo>
                    <a:pt x="3591263" y="78"/>
                  </a:lnTo>
                  <a:lnTo>
                    <a:pt x="3673888" y="35"/>
                  </a:lnTo>
                  <a:lnTo>
                    <a:pt x="3756966" y="8"/>
                  </a:lnTo>
                  <a:lnTo>
                    <a:pt x="3840479" y="0"/>
                  </a:lnTo>
                  <a:lnTo>
                    <a:pt x="3923993" y="8"/>
                  </a:lnTo>
                  <a:lnTo>
                    <a:pt x="4007071" y="35"/>
                  </a:lnTo>
                  <a:lnTo>
                    <a:pt x="4089696" y="78"/>
                  </a:lnTo>
                  <a:lnTo>
                    <a:pt x="4171849" y="139"/>
                  </a:lnTo>
                  <a:lnTo>
                    <a:pt x="4253514" y="217"/>
                  </a:lnTo>
                  <a:lnTo>
                    <a:pt x="4334671" y="311"/>
                  </a:lnTo>
                  <a:lnTo>
                    <a:pt x="4415303" y="422"/>
                  </a:lnTo>
                  <a:lnTo>
                    <a:pt x="4495392" y="550"/>
                  </a:lnTo>
                  <a:lnTo>
                    <a:pt x="4574919" y="694"/>
                  </a:lnTo>
                  <a:lnTo>
                    <a:pt x="4653867" y="854"/>
                  </a:lnTo>
                  <a:lnTo>
                    <a:pt x="4732218" y="1030"/>
                  </a:lnTo>
                  <a:lnTo>
                    <a:pt x="4809954" y="1221"/>
                  </a:lnTo>
                  <a:lnTo>
                    <a:pt x="4887057" y="1428"/>
                  </a:lnTo>
                  <a:lnTo>
                    <a:pt x="4963508" y="1651"/>
                  </a:lnTo>
                  <a:lnTo>
                    <a:pt x="5039289" y="1889"/>
                  </a:lnTo>
                  <a:lnTo>
                    <a:pt x="5114384" y="2141"/>
                  </a:lnTo>
                  <a:lnTo>
                    <a:pt x="5188773" y="2409"/>
                  </a:lnTo>
                  <a:lnTo>
                    <a:pt x="5262438" y="2691"/>
                  </a:lnTo>
                  <a:lnTo>
                    <a:pt x="5335363" y="2988"/>
                  </a:lnTo>
                  <a:lnTo>
                    <a:pt x="5407528" y="3299"/>
                  </a:lnTo>
                  <a:lnTo>
                    <a:pt x="5478915" y="3624"/>
                  </a:lnTo>
                  <a:lnTo>
                    <a:pt x="5549507" y="3963"/>
                  </a:lnTo>
                  <a:lnTo>
                    <a:pt x="5619286" y="4316"/>
                  </a:lnTo>
                  <a:lnTo>
                    <a:pt x="5688233" y="4683"/>
                  </a:lnTo>
                  <a:lnTo>
                    <a:pt x="5756331" y="5063"/>
                  </a:lnTo>
                  <a:lnTo>
                    <a:pt x="5823561" y="5456"/>
                  </a:lnTo>
                  <a:lnTo>
                    <a:pt x="5889906" y="5862"/>
                  </a:lnTo>
                  <a:lnTo>
                    <a:pt x="5955347" y="6281"/>
                  </a:lnTo>
                  <a:lnTo>
                    <a:pt x="6019867" y="6713"/>
                  </a:lnTo>
                  <a:lnTo>
                    <a:pt x="6083447" y="7158"/>
                  </a:lnTo>
                  <a:lnTo>
                    <a:pt x="6146070" y="7615"/>
                  </a:lnTo>
                  <a:lnTo>
                    <a:pt x="6207717" y="8084"/>
                  </a:lnTo>
                  <a:lnTo>
                    <a:pt x="6268371" y="8565"/>
                  </a:lnTo>
                  <a:lnTo>
                    <a:pt x="6328013" y="9058"/>
                  </a:lnTo>
                  <a:lnTo>
                    <a:pt x="6386625" y="9562"/>
                  </a:lnTo>
                  <a:lnTo>
                    <a:pt x="6444190" y="10078"/>
                  </a:lnTo>
                  <a:lnTo>
                    <a:pt x="6500689" y="10605"/>
                  </a:lnTo>
                  <a:lnTo>
                    <a:pt x="6556105" y="11144"/>
                  </a:lnTo>
                  <a:lnTo>
                    <a:pt x="6610419" y="11693"/>
                  </a:lnTo>
                  <a:lnTo>
                    <a:pt x="6663613" y="12253"/>
                  </a:lnTo>
                  <a:lnTo>
                    <a:pt x="6715669" y="12824"/>
                  </a:lnTo>
                  <a:lnTo>
                    <a:pt x="6766570" y="13405"/>
                  </a:lnTo>
                  <a:lnTo>
                    <a:pt x="6816298" y="13997"/>
                  </a:lnTo>
                  <a:lnTo>
                    <a:pt x="6864833" y="14598"/>
                  </a:lnTo>
                  <a:lnTo>
                    <a:pt x="6912159" y="15209"/>
                  </a:lnTo>
                  <a:lnTo>
                    <a:pt x="6958257" y="15830"/>
                  </a:lnTo>
                  <a:lnTo>
                    <a:pt x="7003109" y="16461"/>
                  </a:lnTo>
                  <a:lnTo>
                    <a:pt x="7046698" y="17101"/>
                  </a:lnTo>
                  <a:lnTo>
                    <a:pt x="7089005" y="17750"/>
                  </a:lnTo>
                  <a:lnTo>
                    <a:pt x="7130012" y="18408"/>
                  </a:lnTo>
                  <a:lnTo>
                    <a:pt x="7169701" y="19075"/>
                  </a:lnTo>
                  <a:lnTo>
                    <a:pt x="7208054" y="19751"/>
                  </a:lnTo>
                  <a:lnTo>
                    <a:pt x="7280682" y="21127"/>
                  </a:lnTo>
                  <a:lnTo>
                    <a:pt x="7347750" y="22536"/>
                  </a:lnTo>
                  <a:lnTo>
                    <a:pt x="7409114" y="23976"/>
                  </a:lnTo>
                  <a:lnTo>
                    <a:pt x="7464631" y="25446"/>
                  </a:lnTo>
                  <a:lnTo>
                    <a:pt x="7514156" y="26944"/>
                  </a:lnTo>
                  <a:lnTo>
                    <a:pt x="7557545" y="28468"/>
                  </a:lnTo>
                  <a:lnTo>
                    <a:pt x="7610810" y="30802"/>
                  </a:lnTo>
                  <a:lnTo>
                    <a:pt x="7649458" y="33189"/>
                  </a:lnTo>
                  <a:lnTo>
                    <a:pt x="7680959" y="38100"/>
                  </a:lnTo>
                  <a:lnTo>
                    <a:pt x="7680069" y="38930"/>
                  </a:lnTo>
                  <a:lnTo>
                    <a:pt x="7638229" y="43811"/>
                  </a:lnTo>
                  <a:lnTo>
                    <a:pt x="7594655" y="46181"/>
                  </a:lnTo>
                  <a:lnTo>
                    <a:pt x="7536627" y="48496"/>
                  </a:lnTo>
                  <a:lnTo>
                    <a:pt x="7490152" y="50008"/>
                  </a:lnTo>
                  <a:lnTo>
                    <a:pt x="7437613" y="51492"/>
                  </a:lnTo>
                  <a:lnTo>
                    <a:pt x="7379154" y="52947"/>
                  </a:lnTo>
                  <a:lnTo>
                    <a:pt x="7314920" y="54371"/>
                  </a:lnTo>
                  <a:lnTo>
                    <a:pt x="7245054" y="55764"/>
                  </a:lnTo>
                  <a:lnTo>
                    <a:pt x="7169701" y="57124"/>
                  </a:lnTo>
                  <a:lnTo>
                    <a:pt x="7130012" y="57791"/>
                  </a:lnTo>
                  <a:lnTo>
                    <a:pt x="7089005" y="58449"/>
                  </a:lnTo>
                  <a:lnTo>
                    <a:pt x="7046698" y="59098"/>
                  </a:lnTo>
                  <a:lnTo>
                    <a:pt x="7003109" y="59738"/>
                  </a:lnTo>
                  <a:lnTo>
                    <a:pt x="6958257" y="60369"/>
                  </a:lnTo>
                  <a:lnTo>
                    <a:pt x="6912159" y="60990"/>
                  </a:lnTo>
                  <a:lnTo>
                    <a:pt x="6864833" y="61601"/>
                  </a:lnTo>
                  <a:lnTo>
                    <a:pt x="6816298" y="62202"/>
                  </a:lnTo>
                  <a:lnTo>
                    <a:pt x="6766570" y="62794"/>
                  </a:lnTo>
                  <a:lnTo>
                    <a:pt x="6715669" y="63375"/>
                  </a:lnTo>
                  <a:lnTo>
                    <a:pt x="6663613" y="63946"/>
                  </a:lnTo>
                  <a:lnTo>
                    <a:pt x="6610419" y="64506"/>
                  </a:lnTo>
                  <a:lnTo>
                    <a:pt x="6556105" y="65055"/>
                  </a:lnTo>
                  <a:lnTo>
                    <a:pt x="6500689" y="65594"/>
                  </a:lnTo>
                  <a:lnTo>
                    <a:pt x="6444190" y="66121"/>
                  </a:lnTo>
                  <a:lnTo>
                    <a:pt x="6386625" y="66637"/>
                  </a:lnTo>
                  <a:lnTo>
                    <a:pt x="6328013" y="67141"/>
                  </a:lnTo>
                  <a:lnTo>
                    <a:pt x="6268371" y="67634"/>
                  </a:lnTo>
                  <a:lnTo>
                    <a:pt x="6207717" y="68115"/>
                  </a:lnTo>
                  <a:lnTo>
                    <a:pt x="6146070" y="68584"/>
                  </a:lnTo>
                  <a:lnTo>
                    <a:pt x="6083447" y="69041"/>
                  </a:lnTo>
                  <a:lnTo>
                    <a:pt x="6019867" y="69486"/>
                  </a:lnTo>
                  <a:lnTo>
                    <a:pt x="5955347" y="69918"/>
                  </a:lnTo>
                  <a:lnTo>
                    <a:pt x="5889906" y="70337"/>
                  </a:lnTo>
                  <a:lnTo>
                    <a:pt x="5823561" y="70743"/>
                  </a:lnTo>
                  <a:lnTo>
                    <a:pt x="5756331" y="71136"/>
                  </a:lnTo>
                  <a:lnTo>
                    <a:pt x="5688233" y="71516"/>
                  </a:lnTo>
                  <a:lnTo>
                    <a:pt x="5619286" y="71883"/>
                  </a:lnTo>
                  <a:lnTo>
                    <a:pt x="5549507" y="72236"/>
                  </a:lnTo>
                  <a:lnTo>
                    <a:pt x="5478915" y="72575"/>
                  </a:lnTo>
                  <a:lnTo>
                    <a:pt x="5407528" y="72900"/>
                  </a:lnTo>
                  <a:lnTo>
                    <a:pt x="5335363" y="73211"/>
                  </a:lnTo>
                  <a:lnTo>
                    <a:pt x="5262438" y="73508"/>
                  </a:lnTo>
                  <a:lnTo>
                    <a:pt x="5188773" y="73790"/>
                  </a:lnTo>
                  <a:lnTo>
                    <a:pt x="5114384" y="74058"/>
                  </a:lnTo>
                  <a:lnTo>
                    <a:pt x="5039289" y="74310"/>
                  </a:lnTo>
                  <a:lnTo>
                    <a:pt x="4963508" y="74548"/>
                  </a:lnTo>
                  <a:lnTo>
                    <a:pt x="4887057" y="74771"/>
                  </a:lnTo>
                  <a:lnTo>
                    <a:pt x="4809954" y="74978"/>
                  </a:lnTo>
                  <a:lnTo>
                    <a:pt x="4732218" y="75169"/>
                  </a:lnTo>
                  <a:lnTo>
                    <a:pt x="4653867" y="75345"/>
                  </a:lnTo>
                  <a:lnTo>
                    <a:pt x="4574919" y="75505"/>
                  </a:lnTo>
                  <a:lnTo>
                    <a:pt x="4495392" y="75649"/>
                  </a:lnTo>
                  <a:lnTo>
                    <a:pt x="4415303" y="75777"/>
                  </a:lnTo>
                  <a:lnTo>
                    <a:pt x="4334671" y="75888"/>
                  </a:lnTo>
                  <a:lnTo>
                    <a:pt x="4253514" y="75982"/>
                  </a:lnTo>
                  <a:lnTo>
                    <a:pt x="4171849" y="76060"/>
                  </a:lnTo>
                  <a:lnTo>
                    <a:pt x="4089696" y="76121"/>
                  </a:lnTo>
                  <a:lnTo>
                    <a:pt x="4007071" y="76164"/>
                  </a:lnTo>
                  <a:lnTo>
                    <a:pt x="3923993" y="76191"/>
                  </a:lnTo>
                  <a:lnTo>
                    <a:pt x="3840479" y="76200"/>
                  </a:lnTo>
                  <a:lnTo>
                    <a:pt x="3756966" y="76191"/>
                  </a:lnTo>
                  <a:lnTo>
                    <a:pt x="3673888" y="76164"/>
                  </a:lnTo>
                  <a:lnTo>
                    <a:pt x="3591263" y="76121"/>
                  </a:lnTo>
                  <a:lnTo>
                    <a:pt x="3509110" y="76060"/>
                  </a:lnTo>
                  <a:lnTo>
                    <a:pt x="3427445" y="75982"/>
                  </a:lnTo>
                  <a:lnTo>
                    <a:pt x="3346288" y="75888"/>
                  </a:lnTo>
                  <a:lnTo>
                    <a:pt x="3265656" y="75777"/>
                  </a:lnTo>
                  <a:lnTo>
                    <a:pt x="3185567" y="75649"/>
                  </a:lnTo>
                  <a:lnTo>
                    <a:pt x="3106040" y="75505"/>
                  </a:lnTo>
                  <a:lnTo>
                    <a:pt x="3027092" y="75345"/>
                  </a:lnTo>
                  <a:lnTo>
                    <a:pt x="2948741" y="75169"/>
                  </a:lnTo>
                  <a:lnTo>
                    <a:pt x="2871005" y="74978"/>
                  </a:lnTo>
                  <a:lnTo>
                    <a:pt x="2793902" y="74771"/>
                  </a:lnTo>
                  <a:lnTo>
                    <a:pt x="2717451" y="74548"/>
                  </a:lnTo>
                  <a:lnTo>
                    <a:pt x="2641670" y="74310"/>
                  </a:lnTo>
                  <a:lnTo>
                    <a:pt x="2566575" y="74058"/>
                  </a:lnTo>
                  <a:lnTo>
                    <a:pt x="2492186" y="73790"/>
                  </a:lnTo>
                  <a:lnTo>
                    <a:pt x="2418521" y="73508"/>
                  </a:lnTo>
                  <a:lnTo>
                    <a:pt x="2345596" y="73211"/>
                  </a:lnTo>
                  <a:lnTo>
                    <a:pt x="2273431" y="72900"/>
                  </a:lnTo>
                  <a:lnTo>
                    <a:pt x="2202044" y="72575"/>
                  </a:lnTo>
                  <a:lnTo>
                    <a:pt x="2131452" y="72236"/>
                  </a:lnTo>
                  <a:lnTo>
                    <a:pt x="2061673" y="71883"/>
                  </a:lnTo>
                  <a:lnTo>
                    <a:pt x="1992726" y="71516"/>
                  </a:lnTo>
                  <a:lnTo>
                    <a:pt x="1924628" y="71136"/>
                  </a:lnTo>
                  <a:lnTo>
                    <a:pt x="1857398" y="70743"/>
                  </a:lnTo>
                  <a:lnTo>
                    <a:pt x="1791053" y="70337"/>
                  </a:lnTo>
                  <a:lnTo>
                    <a:pt x="1725612" y="69918"/>
                  </a:lnTo>
                  <a:lnTo>
                    <a:pt x="1661092" y="69486"/>
                  </a:lnTo>
                  <a:lnTo>
                    <a:pt x="1597512" y="69041"/>
                  </a:lnTo>
                  <a:lnTo>
                    <a:pt x="1534889" y="68584"/>
                  </a:lnTo>
                  <a:lnTo>
                    <a:pt x="1473242" y="68115"/>
                  </a:lnTo>
                  <a:lnTo>
                    <a:pt x="1412588" y="67634"/>
                  </a:lnTo>
                  <a:lnTo>
                    <a:pt x="1352946" y="67141"/>
                  </a:lnTo>
                  <a:lnTo>
                    <a:pt x="1294334" y="66637"/>
                  </a:lnTo>
                  <a:lnTo>
                    <a:pt x="1236769" y="66121"/>
                  </a:lnTo>
                  <a:lnTo>
                    <a:pt x="1180270" y="65594"/>
                  </a:lnTo>
                  <a:lnTo>
                    <a:pt x="1124854" y="65055"/>
                  </a:lnTo>
                  <a:lnTo>
                    <a:pt x="1070540" y="64506"/>
                  </a:lnTo>
                  <a:lnTo>
                    <a:pt x="1017346" y="63946"/>
                  </a:lnTo>
                  <a:lnTo>
                    <a:pt x="965290" y="63375"/>
                  </a:lnTo>
                  <a:lnTo>
                    <a:pt x="914389" y="62794"/>
                  </a:lnTo>
                  <a:lnTo>
                    <a:pt x="864661" y="62202"/>
                  </a:lnTo>
                  <a:lnTo>
                    <a:pt x="816126" y="61601"/>
                  </a:lnTo>
                  <a:lnTo>
                    <a:pt x="768800" y="60990"/>
                  </a:lnTo>
                  <a:lnTo>
                    <a:pt x="722702" y="60369"/>
                  </a:lnTo>
                  <a:lnTo>
                    <a:pt x="677850" y="59738"/>
                  </a:lnTo>
                  <a:lnTo>
                    <a:pt x="634261" y="59098"/>
                  </a:lnTo>
                  <a:lnTo>
                    <a:pt x="591954" y="58449"/>
                  </a:lnTo>
                  <a:lnTo>
                    <a:pt x="550947" y="57791"/>
                  </a:lnTo>
                  <a:lnTo>
                    <a:pt x="511258" y="57124"/>
                  </a:lnTo>
                  <a:lnTo>
                    <a:pt x="472905" y="56448"/>
                  </a:lnTo>
                  <a:lnTo>
                    <a:pt x="400277" y="55072"/>
                  </a:lnTo>
                  <a:lnTo>
                    <a:pt x="333209" y="53663"/>
                  </a:lnTo>
                  <a:lnTo>
                    <a:pt x="271845" y="52223"/>
                  </a:lnTo>
                  <a:lnTo>
                    <a:pt x="216328" y="50753"/>
                  </a:lnTo>
                  <a:lnTo>
                    <a:pt x="166803" y="49255"/>
                  </a:lnTo>
                  <a:lnTo>
                    <a:pt x="123414" y="47731"/>
                  </a:lnTo>
                  <a:lnTo>
                    <a:pt x="70149" y="45397"/>
                  </a:lnTo>
                  <a:lnTo>
                    <a:pt x="31501" y="43010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447800"/>
              <a:ext cx="8208264" cy="475488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09950" y="1783841"/>
              <a:ext cx="5331460" cy="4084320"/>
            </a:xfrm>
            <a:custGeom>
              <a:avLst/>
              <a:gdLst/>
              <a:ahLst/>
              <a:cxnLst/>
              <a:rect l="l" t="t" r="r" b="b"/>
              <a:pathLst>
                <a:path w="5331459" h="4084320">
                  <a:moveTo>
                    <a:pt x="4650232" y="0"/>
                  </a:moveTo>
                  <a:lnTo>
                    <a:pt x="0" y="0"/>
                  </a:lnTo>
                  <a:lnTo>
                    <a:pt x="0" y="4084320"/>
                  </a:lnTo>
                  <a:lnTo>
                    <a:pt x="4650232" y="4084320"/>
                  </a:lnTo>
                  <a:lnTo>
                    <a:pt x="4698842" y="4082610"/>
                  </a:lnTo>
                  <a:lnTo>
                    <a:pt x="4746531" y="4077559"/>
                  </a:lnTo>
                  <a:lnTo>
                    <a:pt x="4793182" y="4069281"/>
                  </a:lnTo>
                  <a:lnTo>
                    <a:pt x="4838681" y="4057892"/>
                  </a:lnTo>
                  <a:lnTo>
                    <a:pt x="4882913" y="4043507"/>
                  </a:lnTo>
                  <a:lnTo>
                    <a:pt x="4925761" y="4026240"/>
                  </a:lnTo>
                  <a:lnTo>
                    <a:pt x="4967112" y="4006208"/>
                  </a:lnTo>
                  <a:lnTo>
                    <a:pt x="5006849" y="3983526"/>
                  </a:lnTo>
                  <a:lnTo>
                    <a:pt x="5044858" y="3958309"/>
                  </a:lnTo>
                  <a:lnTo>
                    <a:pt x="5081023" y="3930671"/>
                  </a:lnTo>
                  <a:lnTo>
                    <a:pt x="5115229" y="3900729"/>
                  </a:lnTo>
                  <a:lnTo>
                    <a:pt x="5147361" y="3868597"/>
                  </a:lnTo>
                  <a:lnTo>
                    <a:pt x="5177303" y="3834391"/>
                  </a:lnTo>
                  <a:lnTo>
                    <a:pt x="5204941" y="3798226"/>
                  </a:lnTo>
                  <a:lnTo>
                    <a:pt x="5230158" y="3760217"/>
                  </a:lnTo>
                  <a:lnTo>
                    <a:pt x="5252840" y="3720480"/>
                  </a:lnTo>
                  <a:lnTo>
                    <a:pt x="5272872" y="3679129"/>
                  </a:lnTo>
                  <a:lnTo>
                    <a:pt x="5290139" y="3636281"/>
                  </a:lnTo>
                  <a:lnTo>
                    <a:pt x="5304524" y="3592049"/>
                  </a:lnTo>
                  <a:lnTo>
                    <a:pt x="5315913" y="3546550"/>
                  </a:lnTo>
                  <a:lnTo>
                    <a:pt x="5324191" y="3499899"/>
                  </a:lnTo>
                  <a:lnTo>
                    <a:pt x="5329242" y="3452210"/>
                  </a:lnTo>
                  <a:lnTo>
                    <a:pt x="5330952" y="3403600"/>
                  </a:lnTo>
                  <a:lnTo>
                    <a:pt x="5330952" y="680720"/>
                  </a:lnTo>
                  <a:lnTo>
                    <a:pt x="5329242" y="632109"/>
                  </a:lnTo>
                  <a:lnTo>
                    <a:pt x="5324191" y="584420"/>
                  </a:lnTo>
                  <a:lnTo>
                    <a:pt x="5315913" y="537769"/>
                  </a:lnTo>
                  <a:lnTo>
                    <a:pt x="5304524" y="492270"/>
                  </a:lnTo>
                  <a:lnTo>
                    <a:pt x="5290139" y="448038"/>
                  </a:lnTo>
                  <a:lnTo>
                    <a:pt x="5272872" y="405190"/>
                  </a:lnTo>
                  <a:lnTo>
                    <a:pt x="5252840" y="363839"/>
                  </a:lnTo>
                  <a:lnTo>
                    <a:pt x="5230158" y="324102"/>
                  </a:lnTo>
                  <a:lnTo>
                    <a:pt x="5204941" y="286093"/>
                  </a:lnTo>
                  <a:lnTo>
                    <a:pt x="5177303" y="249928"/>
                  </a:lnTo>
                  <a:lnTo>
                    <a:pt x="5147361" y="215722"/>
                  </a:lnTo>
                  <a:lnTo>
                    <a:pt x="5115229" y="183590"/>
                  </a:lnTo>
                  <a:lnTo>
                    <a:pt x="5081023" y="153648"/>
                  </a:lnTo>
                  <a:lnTo>
                    <a:pt x="5044858" y="126010"/>
                  </a:lnTo>
                  <a:lnTo>
                    <a:pt x="5006849" y="100793"/>
                  </a:lnTo>
                  <a:lnTo>
                    <a:pt x="4967112" y="78111"/>
                  </a:lnTo>
                  <a:lnTo>
                    <a:pt x="4925761" y="58079"/>
                  </a:lnTo>
                  <a:lnTo>
                    <a:pt x="4882913" y="40812"/>
                  </a:lnTo>
                  <a:lnTo>
                    <a:pt x="4838681" y="26427"/>
                  </a:lnTo>
                  <a:lnTo>
                    <a:pt x="4793182" y="15038"/>
                  </a:lnTo>
                  <a:lnTo>
                    <a:pt x="4746531" y="6760"/>
                  </a:lnTo>
                  <a:lnTo>
                    <a:pt x="4698842" y="1709"/>
                  </a:lnTo>
                  <a:lnTo>
                    <a:pt x="4650232" y="0"/>
                  </a:lnTo>
                  <a:close/>
                </a:path>
              </a:pathLst>
            </a:custGeom>
            <a:solidFill>
              <a:srgbClr val="D0E2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09950" y="1783841"/>
              <a:ext cx="5331460" cy="4084320"/>
            </a:xfrm>
            <a:custGeom>
              <a:avLst/>
              <a:gdLst/>
              <a:ahLst/>
              <a:cxnLst/>
              <a:rect l="l" t="t" r="r" b="b"/>
              <a:pathLst>
                <a:path w="5331459" h="4084320">
                  <a:moveTo>
                    <a:pt x="5330952" y="680720"/>
                  </a:moveTo>
                  <a:lnTo>
                    <a:pt x="5330952" y="3403600"/>
                  </a:lnTo>
                  <a:lnTo>
                    <a:pt x="5329242" y="3452210"/>
                  </a:lnTo>
                  <a:lnTo>
                    <a:pt x="5324191" y="3499899"/>
                  </a:lnTo>
                  <a:lnTo>
                    <a:pt x="5315913" y="3546550"/>
                  </a:lnTo>
                  <a:lnTo>
                    <a:pt x="5304524" y="3592049"/>
                  </a:lnTo>
                  <a:lnTo>
                    <a:pt x="5290139" y="3636281"/>
                  </a:lnTo>
                  <a:lnTo>
                    <a:pt x="5272872" y="3679129"/>
                  </a:lnTo>
                  <a:lnTo>
                    <a:pt x="5252840" y="3720480"/>
                  </a:lnTo>
                  <a:lnTo>
                    <a:pt x="5230158" y="3760217"/>
                  </a:lnTo>
                  <a:lnTo>
                    <a:pt x="5204941" y="3798226"/>
                  </a:lnTo>
                  <a:lnTo>
                    <a:pt x="5177303" y="3834391"/>
                  </a:lnTo>
                  <a:lnTo>
                    <a:pt x="5147361" y="3868597"/>
                  </a:lnTo>
                  <a:lnTo>
                    <a:pt x="5115229" y="3900729"/>
                  </a:lnTo>
                  <a:lnTo>
                    <a:pt x="5081023" y="3930671"/>
                  </a:lnTo>
                  <a:lnTo>
                    <a:pt x="5044858" y="3958309"/>
                  </a:lnTo>
                  <a:lnTo>
                    <a:pt x="5006849" y="3983526"/>
                  </a:lnTo>
                  <a:lnTo>
                    <a:pt x="4967112" y="4006208"/>
                  </a:lnTo>
                  <a:lnTo>
                    <a:pt x="4925761" y="4026240"/>
                  </a:lnTo>
                  <a:lnTo>
                    <a:pt x="4882913" y="4043507"/>
                  </a:lnTo>
                  <a:lnTo>
                    <a:pt x="4838681" y="4057892"/>
                  </a:lnTo>
                  <a:lnTo>
                    <a:pt x="4793182" y="4069281"/>
                  </a:lnTo>
                  <a:lnTo>
                    <a:pt x="4746531" y="4077559"/>
                  </a:lnTo>
                  <a:lnTo>
                    <a:pt x="4698842" y="4082610"/>
                  </a:lnTo>
                  <a:lnTo>
                    <a:pt x="4650232" y="4084320"/>
                  </a:lnTo>
                  <a:lnTo>
                    <a:pt x="0" y="4084320"/>
                  </a:lnTo>
                  <a:lnTo>
                    <a:pt x="0" y="0"/>
                  </a:lnTo>
                  <a:lnTo>
                    <a:pt x="4650232" y="0"/>
                  </a:lnTo>
                  <a:lnTo>
                    <a:pt x="4698842" y="1709"/>
                  </a:lnTo>
                  <a:lnTo>
                    <a:pt x="4746531" y="6760"/>
                  </a:lnTo>
                  <a:lnTo>
                    <a:pt x="4793182" y="15038"/>
                  </a:lnTo>
                  <a:lnTo>
                    <a:pt x="4838681" y="26427"/>
                  </a:lnTo>
                  <a:lnTo>
                    <a:pt x="4882913" y="40812"/>
                  </a:lnTo>
                  <a:lnTo>
                    <a:pt x="4925761" y="58079"/>
                  </a:lnTo>
                  <a:lnTo>
                    <a:pt x="4967112" y="78111"/>
                  </a:lnTo>
                  <a:lnTo>
                    <a:pt x="5006849" y="100793"/>
                  </a:lnTo>
                  <a:lnTo>
                    <a:pt x="5044858" y="126010"/>
                  </a:lnTo>
                  <a:lnTo>
                    <a:pt x="5081023" y="153648"/>
                  </a:lnTo>
                  <a:lnTo>
                    <a:pt x="5115229" y="183590"/>
                  </a:lnTo>
                  <a:lnTo>
                    <a:pt x="5147361" y="215722"/>
                  </a:lnTo>
                  <a:lnTo>
                    <a:pt x="5177303" y="249928"/>
                  </a:lnTo>
                  <a:lnTo>
                    <a:pt x="5204941" y="286093"/>
                  </a:lnTo>
                  <a:lnTo>
                    <a:pt x="5230158" y="324102"/>
                  </a:lnTo>
                  <a:lnTo>
                    <a:pt x="5252840" y="363839"/>
                  </a:lnTo>
                  <a:lnTo>
                    <a:pt x="5272872" y="405190"/>
                  </a:lnTo>
                  <a:lnTo>
                    <a:pt x="5290139" y="448038"/>
                  </a:lnTo>
                  <a:lnTo>
                    <a:pt x="5304524" y="492270"/>
                  </a:lnTo>
                  <a:lnTo>
                    <a:pt x="5315913" y="537769"/>
                  </a:lnTo>
                  <a:lnTo>
                    <a:pt x="5324191" y="584420"/>
                  </a:lnTo>
                  <a:lnTo>
                    <a:pt x="5329242" y="632109"/>
                  </a:lnTo>
                  <a:lnTo>
                    <a:pt x="5330952" y="680720"/>
                  </a:lnTo>
                  <a:close/>
                </a:path>
              </a:pathLst>
            </a:custGeom>
            <a:ln w="25400">
              <a:solidFill>
                <a:srgbClr val="D0E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97244" y="2049272"/>
            <a:ext cx="191388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0" dirty="0">
                <a:latin typeface="Times New Roman"/>
                <a:cs typeface="Times New Roman"/>
              </a:rPr>
              <a:t>Def</a:t>
            </a:r>
            <a:r>
              <a:rPr sz="3200" spc="-10" dirty="0">
                <a:latin typeface="Times New Roman"/>
                <a:cs typeface="Times New Roman"/>
              </a:rPr>
              <a:t>i</a:t>
            </a:r>
            <a:r>
              <a:rPr sz="3200" spc="-30" dirty="0">
                <a:latin typeface="Times New Roman"/>
                <a:cs typeface="Times New Roman"/>
              </a:rPr>
              <a:t>nition</a:t>
            </a:r>
            <a:r>
              <a:rPr sz="3200" spc="-45" dirty="0">
                <a:latin typeface="Times New Roman"/>
                <a:cs typeface="Times New Roman"/>
              </a:rPr>
              <a:t>s</a:t>
            </a:r>
            <a:r>
              <a:rPr sz="3200" spc="-40" dirty="0"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4615" y="2466848"/>
            <a:ext cx="23647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27555" algn="l"/>
              </a:tabLst>
            </a:pPr>
            <a:r>
              <a:rPr sz="3200" spc="-10" dirty="0">
                <a:latin typeface="Times New Roman"/>
                <a:cs typeface="Times New Roman"/>
              </a:rPr>
              <a:t>Defi</a:t>
            </a:r>
            <a:r>
              <a:rPr sz="3200" spc="-25" dirty="0">
                <a:latin typeface="Times New Roman"/>
                <a:cs typeface="Times New Roman"/>
              </a:rPr>
              <a:t>n</a:t>
            </a:r>
            <a:r>
              <a:rPr sz="3200" spc="-35" dirty="0">
                <a:latin typeface="Times New Roman"/>
                <a:cs typeface="Times New Roman"/>
              </a:rPr>
              <a:t>itio</a:t>
            </a:r>
            <a:r>
              <a:rPr sz="3200" spc="-45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65" dirty="0">
                <a:latin typeface="Times New Roman"/>
                <a:cs typeface="Times New Roman"/>
              </a:rPr>
              <a:t>of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4646" y="2049272"/>
            <a:ext cx="1953895" cy="13493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99085" marR="5080" indent="-287020">
              <a:lnSpc>
                <a:spcPts val="3290"/>
              </a:lnSpc>
              <a:spcBef>
                <a:spcPts val="670"/>
              </a:spcBef>
              <a:buFont typeface="Microsoft Sans Serif"/>
              <a:buChar char="•"/>
              <a:tabLst>
                <a:tab pos="299720" algn="l"/>
              </a:tabLst>
            </a:pPr>
            <a:r>
              <a:rPr sz="3200" spc="-70" dirty="0">
                <a:latin typeface="Times New Roman"/>
                <a:cs typeface="Times New Roman"/>
              </a:rPr>
              <a:t>Basic 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Axiomat</a:t>
            </a:r>
            <a:r>
              <a:rPr sz="3200" spc="-55" dirty="0">
                <a:latin typeface="Times New Roman"/>
                <a:cs typeface="Times New Roman"/>
              </a:rPr>
              <a:t>i</a:t>
            </a:r>
            <a:r>
              <a:rPr sz="3200" spc="-65" dirty="0">
                <a:latin typeface="Times New Roman"/>
                <a:cs typeface="Times New Roman"/>
              </a:rPr>
              <a:t>c  </a:t>
            </a:r>
            <a:r>
              <a:rPr sz="3200" spc="5" dirty="0">
                <a:latin typeface="Times New Roman"/>
                <a:cs typeface="Times New Roman"/>
              </a:rPr>
              <a:t>Boolean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84011" y="2884119"/>
            <a:ext cx="26263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53235" algn="l"/>
              </a:tabLst>
            </a:pPr>
            <a:r>
              <a:rPr sz="3200" spc="-90" dirty="0">
                <a:latin typeface="Times New Roman"/>
                <a:cs typeface="Times New Roman"/>
              </a:rPr>
              <a:t>Alge</a:t>
            </a:r>
            <a:r>
              <a:rPr sz="3200" spc="-105" dirty="0">
                <a:latin typeface="Times New Roman"/>
                <a:cs typeface="Times New Roman"/>
              </a:rPr>
              <a:t>b</a:t>
            </a:r>
            <a:r>
              <a:rPr sz="3200" spc="30" dirty="0">
                <a:latin typeface="Times New Roman"/>
                <a:cs typeface="Times New Roman"/>
              </a:rPr>
              <a:t>r</a:t>
            </a:r>
            <a:r>
              <a:rPr sz="3200" spc="-45" dirty="0">
                <a:latin typeface="Times New Roman"/>
                <a:cs typeface="Times New Roman"/>
              </a:rPr>
              <a:t>a,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70" dirty="0">
                <a:latin typeface="Times New Roman"/>
                <a:cs typeface="Times New Roman"/>
              </a:rPr>
              <a:t>Basic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1158" y="3302253"/>
            <a:ext cx="43795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0555" algn="l"/>
                <a:tab pos="2710180" algn="l"/>
              </a:tabLst>
            </a:pPr>
            <a:r>
              <a:rPr sz="3200" spc="50" dirty="0">
                <a:latin typeface="Times New Roman"/>
                <a:cs typeface="Times New Roman"/>
              </a:rPr>
              <a:t>Theorems	</a:t>
            </a:r>
            <a:r>
              <a:rPr sz="3200" spc="30" dirty="0">
                <a:latin typeface="Times New Roman"/>
                <a:cs typeface="Times New Roman"/>
              </a:rPr>
              <a:t>and	</a:t>
            </a:r>
            <a:r>
              <a:rPr sz="3200" dirty="0">
                <a:latin typeface="Times New Roman"/>
                <a:cs typeface="Times New Roman"/>
              </a:rPr>
              <a:t>Properties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1158" y="3718305"/>
            <a:ext cx="23704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5680" algn="l"/>
              </a:tabLst>
            </a:pPr>
            <a:r>
              <a:rPr sz="3200" spc="-75" dirty="0">
                <a:latin typeface="Times New Roman"/>
                <a:cs typeface="Times New Roman"/>
              </a:rPr>
              <a:t>o</a:t>
            </a:r>
            <a:r>
              <a:rPr sz="3200" spc="-45" dirty="0">
                <a:latin typeface="Times New Roman"/>
                <a:cs typeface="Times New Roman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45" dirty="0">
                <a:latin typeface="Times New Roman"/>
                <a:cs typeface="Times New Roman"/>
              </a:rPr>
              <a:t>B</a:t>
            </a:r>
            <a:r>
              <a:rPr sz="3200" spc="15" dirty="0">
                <a:latin typeface="Times New Roman"/>
                <a:cs typeface="Times New Roman"/>
              </a:rPr>
              <a:t>o</a:t>
            </a:r>
            <a:r>
              <a:rPr sz="3200" spc="-5" dirty="0">
                <a:latin typeface="Times New Roman"/>
                <a:cs typeface="Times New Roman"/>
              </a:rPr>
              <a:t>olean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1158" y="4135882"/>
            <a:ext cx="13887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" dirty="0">
                <a:latin typeface="Times New Roman"/>
                <a:cs typeface="Times New Roman"/>
              </a:rPr>
              <a:t>Boolean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07809" y="3718305"/>
            <a:ext cx="1701164" cy="13493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 indent="324485" algn="r">
              <a:lnSpc>
                <a:spcPts val="3290"/>
              </a:lnSpc>
              <a:spcBef>
                <a:spcPts val="670"/>
              </a:spcBef>
            </a:pPr>
            <a:r>
              <a:rPr sz="3200" spc="-60" dirty="0">
                <a:latin typeface="Times New Roman"/>
                <a:cs typeface="Times New Roman"/>
              </a:rPr>
              <a:t>Algebra,  </a:t>
            </a:r>
            <a:r>
              <a:rPr sz="3200" spc="-25" dirty="0">
                <a:latin typeface="Times New Roman"/>
                <a:cs typeface="Times New Roman"/>
              </a:rPr>
              <a:t>Function</a:t>
            </a:r>
            <a:r>
              <a:rPr sz="3200" spc="-45" dirty="0">
                <a:latin typeface="Times New Roman"/>
                <a:cs typeface="Times New Roman"/>
              </a:rPr>
              <a:t>s</a:t>
            </a:r>
            <a:r>
              <a:rPr sz="3200" spc="-40" dirty="0">
                <a:latin typeface="Times New Roman"/>
                <a:cs typeface="Times New Roman"/>
              </a:rPr>
              <a:t>,  </a:t>
            </a:r>
            <a:r>
              <a:rPr sz="3200" spc="-10" dirty="0">
                <a:latin typeface="Times New Roman"/>
                <a:cs typeface="Times New Roman"/>
              </a:rPr>
              <a:t>Standard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1158" y="4553153"/>
            <a:ext cx="2591435" cy="9321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3290"/>
              </a:lnSpc>
              <a:spcBef>
                <a:spcPts val="675"/>
              </a:spcBef>
              <a:tabLst>
                <a:tab pos="1978660" algn="l"/>
              </a:tabLst>
            </a:pPr>
            <a:r>
              <a:rPr sz="3200" spc="25" dirty="0">
                <a:latin typeface="Times New Roman"/>
                <a:cs typeface="Times New Roman"/>
              </a:rPr>
              <a:t>Cano</a:t>
            </a:r>
            <a:r>
              <a:rPr sz="3200" spc="5" dirty="0">
                <a:latin typeface="Times New Roman"/>
                <a:cs typeface="Times New Roman"/>
              </a:rPr>
              <a:t>n</a:t>
            </a:r>
            <a:r>
              <a:rPr sz="3200" spc="-85" dirty="0">
                <a:latin typeface="Times New Roman"/>
                <a:cs typeface="Times New Roman"/>
              </a:rPr>
              <a:t>ic</a:t>
            </a:r>
            <a:r>
              <a:rPr sz="3200" spc="-114" dirty="0">
                <a:latin typeface="Times New Roman"/>
                <a:cs typeface="Times New Roman"/>
              </a:rPr>
              <a:t>al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25" dirty="0">
                <a:latin typeface="Times New Roman"/>
                <a:cs typeface="Times New Roman"/>
              </a:rPr>
              <a:t>and  </a:t>
            </a:r>
            <a:r>
              <a:rPr sz="3200" dirty="0">
                <a:latin typeface="Times New Roman"/>
                <a:cs typeface="Times New Roman"/>
              </a:rPr>
              <a:t>Forms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2986" y="1601977"/>
            <a:ext cx="2900045" cy="4448175"/>
            <a:chOff x="522986" y="1601977"/>
            <a:chExt cx="2900045" cy="4448175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5686" y="1614677"/>
              <a:ext cx="2874264" cy="442264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35686" y="1614677"/>
              <a:ext cx="2874645" cy="4422775"/>
            </a:xfrm>
            <a:custGeom>
              <a:avLst/>
              <a:gdLst/>
              <a:ahLst/>
              <a:cxnLst/>
              <a:rect l="l" t="t" r="r" b="b"/>
              <a:pathLst>
                <a:path w="2874645" h="4422775">
                  <a:moveTo>
                    <a:pt x="0" y="479044"/>
                  </a:moveTo>
                  <a:lnTo>
                    <a:pt x="2473" y="430069"/>
                  </a:lnTo>
                  <a:lnTo>
                    <a:pt x="9732" y="382507"/>
                  </a:lnTo>
                  <a:lnTo>
                    <a:pt x="21537" y="336601"/>
                  </a:lnTo>
                  <a:lnTo>
                    <a:pt x="37646" y="292590"/>
                  </a:lnTo>
                  <a:lnTo>
                    <a:pt x="57818" y="250715"/>
                  </a:lnTo>
                  <a:lnTo>
                    <a:pt x="81814" y="211218"/>
                  </a:lnTo>
                  <a:lnTo>
                    <a:pt x="109392" y="174339"/>
                  </a:lnTo>
                  <a:lnTo>
                    <a:pt x="140311" y="140319"/>
                  </a:lnTo>
                  <a:lnTo>
                    <a:pt x="174330" y="109399"/>
                  </a:lnTo>
                  <a:lnTo>
                    <a:pt x="211210" y="81820"/>
                  </a:lnTo>
                  <a:lnTo>
                    <a:pt x="250708" y="57823"/>
                  </a:lnTo>
                  <a:lnTo>
                    <a:pt x="292584" y="37649"/>
                  </a:lnTo>
                  <a:lnTo>
                    <a:pt x="336598" y="21539"/>
                  </a:lnTo>
                  <a:lnTo>
                    <a:pt x="382509" y="9733"/>
                  </a:lnTo>
                  <a:lnTo>
                    <a:pt x="430075" y="2473"/>
                  </a:lnTo>
                  <a:lnTo>
                    <a:pt x="479056" y="0"/>
                  </a:lnTo>
                  <a:lnTo>
                    <a:pt x="2395220" y="0"/>
                  </a:lnTo>
                  <a:lnTo>
                    <a:pt x="2444194" y="2473"/>
                  </a:lnTo>
                  <a:lnTo>
                    <a:pt x="2491756" y="9733"/>
                  </a:lnTo>
                  <a:lnTo>
                    <a:pt x="2537662" y="21539"/>
                  </a:lnTo>
                  <a:lnTo>
                    <a:pt x="2581673" y="37649"/>
                  </a:lnTo>
                  <a:lnTo>
                    <a:pt x="2623548" y="57823"/>
                  </a:lnTo>
                  <a:lnTo>
                    <a:pt x="2663045" y="81820"/>
                  </a:lnTo>
                  <a:lnTo>
                    <a:pt x="2699924" y="109399"/>
                  </a:lnTo>
                  <a:lnTo>
                    <a:pt x="2733944" y="140319"/>
                  </a:lnTo>
                  <a:lnTo>
                    <a:pt x="2764864" y="174339"/>
                  </a:lnTo>
                  <a:lnTo>
                    <a:pt x="2792443" y="211218"/>
                  </a:lnTo>
                  <a:lnTo>
                    <a:pt x="2816440" y="250715"/>
                  </a:lnTo>
                  <a:lnTo>
                    <a:pt x="2836614" y="292590"/>
                  </a:lnTo>
                  <a:lnTo>
                    <a:pt x="2852724" y="336601"/>
                  </a:lnTo>
                  <a:lnTo>
                    <a:pt x="2864530" y="382507"/>
                  </a:lnTo>
                  <a:lnTo>
                    <a:pt x="2871790" y="430069"/>
                  </a:lnTo>
                  <a:lnTo>
                    <a:pt x="2874264" y="479044"/>
                  </a:lnTo>
                  <a:lnTo>
                    <a:pt x="2874264" y="3943604"/>
                  </a:lnTo>
                  <a:lnTo>
                    <a:pt x="2871790" y="3992583"/>
                  </a:lnTo>
                  <a:lnTo>
                    <a:pt x="2864530" y="4040147"/>
                  </a:lnTo>
                  <a:lnTo>
                    <a:pt x="2852724" y="4086056"/>
                  </a:lnTo>
                  <a:lnTo>
                    <a:pt x="2836614" y="4130068"/>
                  </a:lnTo>
                  <a:lnTo>
                    <a:pt x="2816440" y="4171943"/>
                  </a:lnTo>
                  <a:lnTo>
                    <a:pt x="2792443" y="4211441"/>
                  </a:lnTo>
                  <a:lnTo>
                    <a:pt x="2764864" y="4248319"/>
                  </a:lnTo>
                  <a:lnTo>
                    <a:pt x="2733944" y="4282338"/>
                  </a:lnTo>
                  <a:lnTo>
                    <a:pt x="2699924" y="4313256"/>
                  </a:lnTo>
                  <a:lnTo>
                    <a:pt x="2663045" y="4340834"/>
                  </a:lnTo>
                  <a:lnTo>
                    <a:pt x="2623548" y="4364829"/>
                  </a:lnTo>
                  <a:lnTo>
                    <a:pt x="2581673" y="4385002"/>
                  </a:lnTo>
                  <a:lnTo>
                    <a:pt x="2537662" y="4401110"/>
                  </a:lnTo>
                  <a:lnTo>
                    <a:pt x="2491756" y="4412915"/>
                  </a:lnTo>
                  <a:lnTo>
                    <a:pt x="2444194" y="4420174"/>
                  </a:lnTo>
                  <a:lnTo>
                    <a:pt x="2395220" y="4422648"/>
                  </a:lnTo>
                  <a:lnTo>
                    <a:pt x="479056" y="4422648"/>
                  </a:lnTo>
                  <a:lnTo>
                    <a:pt x="430075" y="4420174"/>
                  </a:lnTo>
                  <a:lnTo>
                    <a:pt x="382509" y="4412915"/>
                  </a:lnTo>
                  <a:lnTo>
                    <a:pt x="336598" y="4401110"/>
                  </a:lnTo>
                  <a:lnTo>
                    <a:pt x="292584" y="4385002"/>
                  </a:lnTo>
                  <a:lnTo>
                    <a:pt x="250708" y="4364829"/>
                  </a:lnTo>
                  <a:lnTo>
                    <a:pt x="211210" y="4340834"/>
                  </a:lnTo>
                  <a:lnTo>
                    <a:pt x="174330" y="4313256"/>
                  </a:lnTo>
                  <a:lnTo>
                    <a:pt x="140311" y="4282338"/>
                  </a:lnTo>
                  <a:lnTo>
                    <a:pt x="109392" y="4248319"/>
                  </a:lnTo>
                  <a:lnTo>
                    <a:pt x="81814" y="4211441"/>
                  </a:lnTo>
                  <a:lnTo>
                    <a:pt x="57818" y="4171943"/>
                  </a:lnTo>
                  <a:lnTo>
                    <a:pt x="37646" y="4130068"/>
                  </a:lnTo>
                  <a:lnTo>
                    <a:pt x="21537" y="4086056"/>
                  </a:lnTo>
                  <a:lnTo>
                    <a:pt x="9732" y="4040147"/>
                  </a:lnTo>
                  <a:lnTo>
                    <a:pt x="2473" y="3992583"/>
                  </a:lnTo>
                  <a:lnTo>
                    <a:pt x="0" y="3943604"/>
                  </a:lnTo>
                  <a:lnTo>
                    <a:pt x="0" y="47904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59027" y="3059683"/>
            <a:ext cx="2225675" cy="14154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43510" marR="5080" indent="-131445">
              <a:lnSpc>
                <a:spcPts val="5180"/>
              </a:lnSpc>
              <a:spcBef>
                <a:spcPts val="755"/>
              </a:spcBef>
            </a:pPr>
            <a:r>
              <a:rPr sz="4800" spc="135" dirty="0">
                <a:solidFill>
                  <a:srgbClr val="FFC000"/>
                </a:solidFill>
                <a:latin typeface="Tahoma"/>
                <a:cs typeface="Tahoma"/>
              </a:rPr>
              <a:t>B</a:t>
            </a:r>
            <a:r>
              <a:rPr sz="4800" spc="145" dirty="0">
                <a:solidFill>
                  <a:srgbClr val="FFC000"/>
                </a:solidFill>
                <a:latin typeface="Tahoma"/>
                <a:cs typeface="Tahoma"/>
              </a:rPr>
              <a:t>o</a:t>
            </a:r>
            <a:r>
              <a:rPr sz="4800" spc="290" dirty="0">
                <a:solidFill>
                  <a:srgbClr val="FFC000"/>
                </a:solidFill>
                <a:latin typeface="Tahoma"/>
                <a:cs typeface="Tahoma"/>
              </a:rPr>
              <a:t>o</a:t>
            </a:r>
            <a:r>
              <a:rPr sz="4800" spc="145" dirty="0">
                <a:solidFill>
                  <a:srgbClr val="FFC000"/>
                </a:solidFill>
                <a:latin typeface="Tahoma"/>
                <a:cs typeface="Tahoma"/>
              </a:rPr>
              <a:t>l</a:t>
            </a:r>
            <a:r>
              <a:rPr sz="4800" spc="-85" dirty="0">
                <a:solidFill>
                  <a:srgbClr val="FFC000"/>
                </a:solidFill>
                <a:latin typeface="Tahoma"/>
                <a:cs typeface="Tahoma"/>
              </a:rPr>
              <a:t>ean  </a:t>
            </a:r>
            <a:r>
              <a:rPr sz="4800" spc="-75" dirty="0">
                <a:solidFill>
                  <a:srgbClr val="FFC000"/>
                </a:solidFill>
                <a:latin typeface="Tahoma"/>
                <a:cs typeface="Tahoma"/>
              </a:rPr>
              <a:t>algebra</a:t>
            </a:r>
            <a:endParaRPr sz="4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71955" y="99072"/>
            <a:ext cx="7976870" cy="6758940"/>
            <a:chOff x="1171955" y="99072"/>
            <a:chExt cx="7976870" cy="6758940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20327" y="6556242"/>
              <a:ext cx="384098" cy="30175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1955" y="277393"/>
              <a:ext cx="7100316" cy="54709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28060" y="99072"/>
              <a:ext cx="2386584" cy="104087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19199" y="304799"/>
              <a:ext cx="7010400" cy="4572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219199" y="304799"/>
              <a:ext cx="7010400" cy="457200"/>
            </a:xfrm>
            <a:custGeom>
              <a:avLst/>
              <a:gdLst/>
              <a:ahLst/>
              <a:cxnLst/>
              <a:rect l="l" t="t" r="r" b="b"/>
              <a:pathLst>
                <a:path w="70104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6934200" y="0"/>
                  </a:lnTo>
                  <a:lnTo>
                    <a:pt x="6963840" y="5994"/>
                  </a:lnTo>
                  <a:lnTo>
                    <a:pt x="6988063" y="22336"/>
                  </a:lnTo>
                  <a:lnTo>
                    <a:pt x="7004405" y="46559"/>
                  </a:lnTo>
                  <a:lnTo>
                    <a:pt x="7010400" y="76200"/>
                  </a:lnTo>
                  <a:lnTo>
                    <a:pt x="7010400" y="381000"/>
                  </a:lnTo>
                  <a:lnTo>
                    <a:pt x="7004405" y="410640"/>
                  </a:lnTo>
                  <a:lnTo>
                    <a:pt x="6988063" y="434863"/>
                  </a:lnTo>
                  <a:lnTo>
                    <a:pt x="6963840" y="451205"/>
                  </a:lnTo>
                  <a:lnTo>
                    <a:pt x="69342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3832986" y="232359"/>
            <a:ext cx="1781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5" dirty="0"/>
              <a:t>TOPIC</a:t>
            </a:r>
            <a:r>
              <a:rPr sz="3600" spc="-105" dirty="0"/>
              <a:t> </a:t>
            </a:r>
            <a:r>
              <a:rPr sz="3600" spc="-160" dirty="0"/>
              <a:t>-2</a:t>
            </a:r>
            <a:endParaRPr sz="3600"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6983730" cy="40927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0328" y="6556243"/>
              <a:ext cx="384098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4100" y="155460"/>
              <a:ext cx="448970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628645" y="289382"/>
            <a:ext cx="38881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60" dirty="0"/>
              <a:t>BOOLEAN</a:t>
            </a:r>
            <a:r>
              <a:rPr sz="3600" spc="-90" dirty="0"/>
              <a:t> </a:t>
            </a:r>
            <a:r>
              <a:rPr sz="3600" spc="-125" dirty="0"/>
              <a:t>ALGEBRA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383540" y="1009899"/>
            <a:ext cx="8378825" cy="540258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86055" algn="ctr">
              <a:lnSpc>
                <a:spcPct val="100000"/>
              </a:lnSpc>
              <a:spcBef>
                <a:spcPts val="1340"/>
              </a:spcBef>
            </a:pP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C00000"/>
                </a:solidFill>
                <a:latin typeface="Tahoma"/>
                <a:cs typeface="Tahoma"/>
              </a:rPr>
              <a:t>ALGEBRA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INTRODUCTION</a:t>
            </a:r>
            <a:endParaRPr sz="200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spcBef>
                <a:spcPts val="173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Boolean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Algebra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mathematics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we 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use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C00000"/>
                </a:solidFill>
                <a:latin typeface="Tahoma"/>
                <a:cs typeface="Tahoma"/>
              </a:rPr>
              <a:t>to </a:t>
            </a:r>
            <a:r>
              <a:rPr sz="2800" spc="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Tahoma"/>
                <a:cs typeface="Tahoma"/>
              </a:rPr>
              <a:t>analyze</a:t>
            </a:r>
            <a:r>
              <a:rPr sz="28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C00000"/>
                </a:solidFill>
                <a:latin typeface="Tahoma"/>
                <a:cs typeface="Tahoma"/>
              </a:rPr>
              <a:t>digital</a:t>
            </a:r>
            <a:r>
              <a:rPr sz="28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C00000"/>
                </a:solidFill>
                <a:latin typeface="Tahoma"/>
                <a:cs typeface="Tahoma"/>
              </a:rPr>
              <a:t>gates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C00000"/>
                </a:solidFill>
                <a:latin typeface="Tahoma"/>
                <a:cs typeface="Tahoma"/>
              </a:rPr>
              <a:t>circuits.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We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use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these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“Laws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Boolean”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both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reduce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simplify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complex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Boolean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expression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C00000"/>
                </a:solidFill>
                <a:latin typeface="Tahoma"/>
                <a:cs typeface="Tahoma"/>
              </a:rPr>
              <a:t>to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C00000"/>
                </a:solidFill>
                <a:latin typeface="Tahoma"/>
                <a:cs typeface="Tahoma"/>
              </a:rPr>
              <a:t>reduce</a:t>
            </a:r>
            <a:r>
              <a:rPr sz="28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C0000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number</a:t>
            </a:r>
            <a:r>
              <a:rPr sz="28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8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C00000"/>
                </a:solidFill>
                <a:latin typeface="Tahoma"/>
                <a:cs typeface="Tahoma"/>
              </a:rPr>
              <a:t>gates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Tahoma"/>
                <a:cs typeface="Tahoma"/>
              </a:rPr>
              <a:t>required.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Boolean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Algebra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6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therefore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system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mathematics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based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on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has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its </a:t>
            </a:r>
            <a:r>
              <a:rPr sz="2800" spc="130" dirty="0">
                <a:solidFill>
                  <a:srgbClr val="006FC0"/>
                </a:solidFill>
                <a:latin typeface="Tahoma"/>
                <a:cs typeface="Tahoma"/>
              </a:rPr>
              <a:t>own </a:t>
            </a:r>
            <a:r>
              <a:rPr sz="2800" spc="-135" dirty="0">
                <a:solidFill>
                  <a:srgbClr val="006FC0"/>
                </a:solidFill>
                <a:latin typeface="Tahoma"/>
                <a:cs typeface="Tahoma"/>
              </a:rPr>
              <a:t>set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rules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laws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which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used </a:t>
            </a:r>
            <a:r>
              <a:rPr sz="2800" spc="70" dirty="0">
                <a:solidFill>
                  <a:srgbClr val="C00000"/>
                </a:solidFill>
                <a:latin typeface="Tahoma"/>
                <a:cs typeface="Tahoma"/>
              </a:rPr>
              <a:t>to 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define </a:t>
            </a:r>
            <a:r>
              <a:rPr sz="2800" spc="-5" dirty="0">
                <a:solidFill>
                  <a:srgbClr val="C00000"/>
                </a:solidFill>
                <a:latin typeface="Tahoma"/>
                <a:cs typeface="Tahoma"/>
              </a:rPr>
              <a:t>and </a:t>
            </a:r>
            <a:r>
              <a:rPr sz="2800" spc="-50" dirty="0">
                <a:solidFill>
                  <a:srgbClr val="C00000"/>
                </a:solidFill>
                <a:latin typeface="Tahoma"/>
                <a:cs typeface="Tahoma"/>
              </a:rPr>
              <a:t>reduce </a:t>
            </a:r>
            <a:r>
              <a:rPr sz="28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8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C00000"/>
                </a:solidFill>
                <a:latin typeface="Tahoma"/>
                <a:cs typeface="Tahoma"/>
              </a:rPr>
              <a:t>expressions.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0327" y="6556243"/>
              <a:ext cx="384098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4029836"/>
            <a:ext cx="83756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254760" algn="l"/>
                <a:tab pos="3484879" algn="l"/>
                <a:tab pos="4240530" algn="l"/>
                <a:tab pos="4758690" algn="l"/>
                <a:tab pos="7092315" algn="l"/>
                <a:tab pos="7738745" algn="l"/>
              </a:tabLst>
            </a:pP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mmu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ati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law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multi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li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at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r	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140" dirty="0">
                <a:solidFill>
                  <a:srgbClr val="006FC0"/>
                </a:solidFill>
                <a:latin typeface="Tahoma"/>
                <a:cs typeface="Tahoma"/>
              </a:rPr>
              <a:t>wo 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is,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AB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95" dirty="0">
                <a:solidFill>
                  <a:srgbClr val="006FC0"/>
                </a:solidFill>
                <a:latin typeface="Tahoma"/>
                <a:cs typeface="Tahoma"/>
              </a:rPr>
              <a:t>BA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540" y="1038936"/>
            <a:ext cx="8377555" cy="130873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76530" algn="ctr">
              <a:lnSpc>
                <a:spcPct val="100000"/>
              </a:lnSpc>
              <a:spcBef>
                <a:spcPts val="509"/>
              </a:spcBef>
            </a:pP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LAWS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ALGEBRA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57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2873375" algn="l"/>
                <a:tab pos="4020820" algn="l"/>
                <a:tab pos="4880610" algn="l"/>
                <a:tab pos="7196455" algn="l"/>
                <a:tab pos="8037195" algn="l"/>
              </a:tabLst>
            </a:pPr>
            <a:r>
              <a:rPr sz="2800" spc="165" dirty="0">
                <a:latin typeface="Tahoma"/>
                <a:cs typeface="Tahoma"/>
              </a:rPr>
              <a:t>Co</a:t>
            </a:r>
            <a:r>
              <a:rPr sz="2800" spc="30" dirty="0">
                <a:latin typeface="Tahoma"/>
                <a:cs typeface="Tahoma"/>
              </a:rPr>
              <a:t>m</a:t>
            </a:r>
            <a:r>
              <a:rPr sz="2800" spc="-15" dirty="0">
                <a:latin typeface="Tahoma"/>
                <a:cs typeface="Tahoma"/>
              </a:rPr>
              <a:t>mutat</a:t>
            </a:r>
            <a:r>
              <a:rPr sz="2800" dirty="0">
                <a:latin typeface="Tahoma"/>
                <a:cs typeface="Tahoma"/>
              </a:rPr>
              <a:t>i</a:t>
            </a:r>
            <a:r>
              <a:rPr sz="2800" spc="125" dirty="0">
                <a:latin typeface="Tahoma"/>
                <a:cs typeface="Tahoma"/>
              </a:rPr>
              <a:t>v</a:t>
            </a:r>
            <a:r>
              <a:rPr sz="2800" spc="-105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85" dirty="0">
                <a:latin typeface="Tahoma"/>
                <a:cs typeface="Tahoma"/>
              </a:rPr>
              <a:t>L</a:t>
            </a:r>
            <a:r>
              <a:rPr sz="2800" spc="-80" dirty="0">
                <a:latin typeface="Tahoma"/>
                <a:cs typeface="Tahoma"/>
              </a:rPr>
              <a:t>a</a:t>
            </a:r>
            <a:r>
              <a:rPr sz="2800" spc="-45" dirty="0">
                <a:latin typeface="Tahoma"/>
                <a:cs typeface="Tahoma"/>
              </a:rPr>
              <a:t>w</a:t>
            </a:r>
            <a:r>
              <a:rPr sz="2800" spc="-35" dirty="0">
                <a:latin typeface="Tahoma"/>
                <a:cs typeface="Tahoma"/>
              </a:rPr>
              <a:t>s</a:t>
            </a:r>
            <a:r>
              <a:rPr sz="2800" spc="-130" dirty="0">
                <a:latin typeface="Tahoma"/>
                <a:cs typeface="Tahoma"/>
              </a:rPr>
              <a:t>: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mm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utat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law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 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addition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two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written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as:A+B=B+A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9600" y="2665476"/>
            <a:ext cx="8539480" cy="4192904"/>
            <a:chOff x="609600" y="2665476"/>
            <a:chExt cx="8539480" cy="4192904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600" y="2665476"/>
              <a:ext cx="8001000" cy="9921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2000" y="5181600"/>
              <a:ext cx="7740396" cy="9723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20328" y="6556242"/>
              <a:ext cx="384098" cy="3017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4456557"/>
            <a:ext cx="83781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associative</a:t>
            </a:r>
            <a:r>
              <a:rPr sz="2800" spc="2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law</a:t>
            </a: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2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multiplication</a:t>
            </a:r>
            <a:r>
              <a:rPr sz="2800" spc="2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2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written</a:t>
            </a:r>
            <a:r>
              <a:rPr sz="2800" spc="2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Tahoma"/>
                <a:cs typeface="Tahoma"/>
              </a:rPr>
              <a:t>as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follows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three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variables:A(BC)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(AB)C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540" y="1038936"/>
            <a:ext cx="8375650" cy="173545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78435" algn="ctr">
              <a:lnSpc>
                <a:spcPct val="100000"/>
              </a:lnSpc>
              <a:spcBef>
                <a:spcPts val="509"/>
              </a:spcBef>
            </a:pP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LAWS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ALGEBRA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57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5" dirty="0">
                <a:latin typeface="Tahoma"/>
                <a:cs typeface="Tahoma"/>
              </a:rPr>
              <a:t>Associative</a:t>
            </a:r>
            <a:r>
              <a:rPr sz="2800" spc="310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Laws:</a:t>
            </a:r>
            <a:r>
              <a:rPr sz="2800" spc="335" dirty="0"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3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associative</a:t>
            </a:r>
            <a:r>
              <a:rPr sz="2800" spc="3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law</a:t>
            </a:r>
            <a:r>
              <a:rPr sz="2800" spc="3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3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addition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5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45" dirty="0">
                <a:solidFill>
                  <a:srgbClr val="006FC0"/>
                </a:solidFill>
                <a:latin typeface="Tahoma"/>
                <a:cs typeface="Tahoma"/>
              </a:rPr>
              <a:t>w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tt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en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ws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ble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  <a:p>
            <a:pPr marL="2756535">
              <a:lnSpc>
                <a:spcPct val="100000"/>
              </a:lnSpc>
              <a:spcBef>
                <a:spcPts val="5"/>
              </a:spcBef>
            </a:pP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(B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C)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(A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B)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52600" y="2976372"/>
            <a:ext cx="7396480" cy="3881754"/>
            <a:chOff x="1752600" y="2976372"/>
            <a:chExt cx="7396480" cy="3881754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1200" y="2976372"/>
              <a:ext cx="5320284" cy="10622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52600" y="5305044"/>
              <a:ext cx="5667756" cy="11719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20328" y="6556243"/>
              <a:ext cx="384098" cy="3017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58105"/>
            <a:ext cx="8377555" cy="235585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527300">
              <a:lnSpc>
                <a:spcPct val="100000"/>
              </a:lnSpc>
              <a:spcBef>
                <a:spcPts val="1150"/>
              </a:spcBef>
            </a:pP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LAWS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ALGEBRA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145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2447925" algn="l"/>
                <a:tab pos="3380740" algn="l"/>
                <a:tab pos="4159885" algn="l"/>
                <a:tab pos="6076950" algn="l"/>
                <a:tab pos="6835140" algn="l"/>
                <a:tab pos="7243445" algn="l"/>
              </a:tabLst>
            </a:pPr>
            <a:r>
              <a:rPr sz="2800" spc="150" dirty="0">
                <a:latin typeface="Tahoma"/>
                <a:cs typeface="Tahoma"/>
              </a:rPr>
              <a:t>D</a:t>
            </a:r>
            <a:r>
              <a:rPr sz="2800" spc="55" dirty="0">
                <a:latin typeface="Tahoma"/>
                <a:cs typeface="Tahoma"/>
              </a:rPr>
              <a:t>i</a:t>
            </a:r>
            <a:r>
              <a:rPr sz="2800" spc="-175" dirty="0">
                <a:latin typeface="Tahoma"/>
                <a:cs typeface="Tahoma"/>
              </a:rPr>
              <a:t>s</a:t>
            </a:r>
            <a:r>
              <a:rPr sz="2800" spc="-120" dirty="0">
                <a:latin typeface="Tahoma"/>
                <a:cs typeface="Tahoma"/>
              </a:rPr>
              <a:t>t</a:t>
            </a:r>
            <a:r>
              <a:rPr sz="2800" spc="20" dirty="0">
                <a:latin typeface="Tahoma"/>
                <a:cs typeface="Tahoma"/>
              </a:rPr>
              <a:t>ri</a:t>
            </a:r>
            <a:r>
              <a:rPr sz="2800" spc="40" dirty="0">
                <a:latin typeface="Tahoma"/>
                <a:cs typeface="Tahoma"/>
              </a:rPr>
              <a:t>b</a:t>
            </a:r>
            <a:r>
              <a:rPr sz="2800" spc="-30" dirty="0">
                <a:latin typeface="Tahoma"/>
                <a:cs typeface="Tahoma"/>
              </a:rPr>
              <a:t>u</a:t>
            </a:r>
            <a:r>
              <a:rPr sz="2800" spc="35" dirty="0">
                <a:latin typeface="Tahoma"/>
                <a:cs typeface="Tahoma"/>
              </a:rPr>
              <a:t>ti</a:t>
            </a:r>
            <a:r>
              <a:rPr sz="2800" spc="95" dirty="0">
                <a:latin typeface="Tahoma"/>
                <a:cs typeface="Tahoma"/>
              </a:rPr>
              <a:t>v</a:t>
            </a:r>
            <a:r>
              <a:rPr sz="2800" spc="-105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15" dirty="0">
                <a:latin typeface="Tahoma"/>
                <a:cs typeface="Tahoma"/>
              </a:rPr>
              <a:t>La</a:t>
            </a:r>
            <a:r>
              <a:rPr sz="2800" spc="-30" dirty="0">
                <a:latin typeface="Tahoma"/>
                <a:cs typeface="Tahoma"/>
              </a:rPr>
              <a:t>w</a:t>
            </a:r>
            <a:r>
              <a:rPr sz="2800" spc="-130" dirty="0">
                <a:latin typeface="Tahoma"/>
                <a:cs typeface="Tahoma"/>
              </a:rPr>
              <a:t>: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dis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ribu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ive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law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writt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en 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les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w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Tahoma"/>
              <a:cs typeface="Tahoma"/>
            </a:endParaRPr>
          </a:p>
          <a:p>
            <a:pPr marL="2560955">
              <a:lnSpc>
                <a:spcPct val="100000"/>
              </a:lnSpc>
              <a:spcBef>
                <a:spcPts val="5"/>
              </a:spcBef>
            </a:pP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A(B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C)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95" dirty="0">
                <a:solidFill>
                  <a:srgbClr val="006FC0"/>
                </a:solidFill>
                <a:latin typeface="Tahoma"/>
                <a:cs typeface="Tahoma"/>
              </a:rPr>
              <a:t>AB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70" dirty="0">
                <a:solidFill>
                  <a:srgbClr val="006FC0"/>
                </a:solidFill>
                <a:latin typeface="Tahoma"/>
                <a:cs typeface="Tahoma"/>
              </a:rPr>
              <a:t>AC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3439" y="3657600"/>
            <a:ext cx="8295640" cy="3200400"/>
            <a:chOff x="853439" y="3657600"/>
            <a:chExt cx="8295640" cy="3200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3439" y="3657600"/>
              <a:ext cx="7306056" cy="24094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0327" y="6556242"/>
              <a:ext cx="384098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58105"/>
            <a:ext cx="8376284" cy="150241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45745" algn="ctr">
              <a:lnSpc>
                <a:spcPct val="100000"/>
              </a:lnSpc>
              <a:spcBef>
                <a:spcPts val="1150"/>
              </a:spcBef>
            </a:pP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RULES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C00000"/>
                </a:solidFill>
                <a:latin typeface="Tahoma"/>
                <a:cs typeface="Tahoma"/>
              </a:rPr>
              <a:t>ALGEBRA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145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449705" algn="l"/>
                <a:tab pos="2379345" algn="l"/>
                <a:tab pos="3210560" algn="l"/>
                <a:tab pos="3911600" algn="l"/>
                <a:tab pos="5019675" algn="l"/>
                <a:tab pos="5531485" algn="l"/>
                <a:tab pos="7780020" algn="l"/>
              </a:tabLst>
            </a:pP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204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ic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rules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hat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usef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ma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ipu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ati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nd 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simplifying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Boolean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expressions.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52600" y="2743200"/>
            <a:ext cx="7396480" cy="4114800"/>
            <a:chOff x="1752600" y="2743200"/>
            <a:chExt cx="7396480" cy="41148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52600" y="2743200"/>
              <a:ext cx="5908548" cy="33009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0328" y="6556242"/>
              <a:ext cx="384098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895600" y="3200400"/>
            <a:ext cx="5951220" cy="3200400"/>
            <a:chOff x="2895600" y="3200400"/>
            <a:chExt cx="5951220" cy="32004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95600" y="3200400"/>
              <a:ext cx="5951220" cy="1524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95600" y="5105400"/>
              <a:ext cx="5896356" cy="12954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08380" y="1090930"/>
            <a:ext cx="5482590" cy="1169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246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RULES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C00000"/>
                </a:solidFill>
                <a:latin typeface="Tahoma"/>
                <a:cs typeface="Tahoma"/>
              </a:rPr>
              <a:t>ALGEBRA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10" dirty="0">
                <a:solidFill>
                  <a:srgbClr val="C00000"/>
                </a:solidFill>
                <a:latin typeface="Tahoma"/>
                <a:cs typeface="Tahoma"/>
              </a:rPr>
              <a:t>ULE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95" dirty="0">
                <a:solidFill>
                  <a:srgbClr val="C00000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6939" y="3663188"/>
            <a:ext cx="999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200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19400" y="1752600"/>
            <a:ext cx="6329680" cy="5105400"/>
            <a:chOff x="2819400" y="1752600"/>
            <a:chExt cx="6329680" cy="510540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9400" y="1752600"/>
              <a:ext cx="6096000" cy="12862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20328" y="6556242"/>
              <a:ext cx="384098" cy="3017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32180" y="5444739"/>
            <a:ext cx="999490" cy="311624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srgbClr val="C00000"/>
                </a:solidFill>
                <a:latin typeface="Tahoma"/>
                <a:cs typeface="Tahoma"/>
              </a:rPr>
              <a:t>3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6939" y="1072641"/>
            <a:ext cx="5452110" cy="1187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93900">
              <a:lnSpc>
                <a:spcPct val="100000"/>
              </a:lnSpc>
              <a:spcBef>
                <a:spcPts val="105"/>
              </a:spcBef>
            </a:pPr>
            <a:r>
              <a:rPr sz="2000" b="1" spc="-7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2000" b="1" spc="95" dirty="0">
                <a:solidFill>
                  <a:srgbClr val="C00000"/>
                </a:solidFill>
                <a:latin typeface="Trebuchet MS"/>
                <a:cs typeface="Trebuchet MS"/>
              </a:rPr>
              <a:t>U</a:t>
            </a:r>
            <a:r>
              <a:rPr sz="2000" b="1" spc="-140" dirty="0">
                <a:solidFill>
                  <a:srgbClr val="C00000"/>
                </a:solidFill>
                <a:latin typeface="Trebuchet MS"/>
                <a:cs typeface="Trebuchet MS"/>
              </a:rPr>
              <a:t>L</a:t>
            </a:r>
            <a:r>
              <a:rPr sz="2000" b="1" spc="-114" dirty="0">
                <a:solidFill>
                  <a:srgbClr val="C00000"/>
                </a:solidFill>
                <a:latin typeface="Trebuchet MS"/>
                <a:cs typeface="Trebuchet MS"/>
              </a:rPr>
              <a:t>ES</a:t>
            </a: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17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2000" b="1" spc="-235" dirty="0">
                <a:solidFill>
                  <a:srgbClr val="C00000"/>
                </a:solidFill>
                <a:latin typeface="Trebuchet MS"/>
                <a:cs typeface="Trebuchet MS"/>
              </a:rPr>
              <a:t>F</a:t>
            </a:r>
            <a:r>
              <a:rPr sz="2000" b="1" spc="-7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155" dirty="0">
                <a:solidFill>
                  <a:srgbClr val="C00000"/>
                </a:solidFill>
                <a:latin typeface="Trebuchet MS"/>
                <a:cs typeface="Trebuchet MS"/>
              </a:rPr>
              <a:t>B</a:t>
            </a:r>
            <a:r>
              <a:rPr sz="2000" b="1" spc="17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2000" b="1" spc="-40" dirty="0">
                <a:solidFill>
                  <a:srgbClr val="C00000"/>
                </a:solidFill>
                <a:latin typeface="Trebuchet MS"/>
                <a:cs typeface="Trebuchet MS"/>
              </a:rPr>
              <a:t>OLE</a:t>
            </a:r>
            <a:r>
              <a:rPr sz="2000" b="1" spc="155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2000" b="1" spc="130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180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2000" b="1" spc="-125" dirty="0">
                <a:solidFill>
                  <a:srgbClr val="C00000"/>
                </a:solidFill>
                <a:latin typeface="Trebuchet MS"/>
                <a:cs typeface="Trebuchet MS"/>
              </a:rPr>
              <a:t>L</a:t>
            </a:r>
            <a:r>
              <a:rPr sz="2000" b="1" spc="-85" dirty="0">
                <a:solidFill>
                  <a:srgbClr val="C00000"/>
                </a:solidFill>
                <a:latin typeface="Trebuchet MS"/>
                <a:cs typeface="Trebuchet MS"/>
              </a:rPr>
              <a:t>GEB</a:t>
            </a:r>
            <a:r>
              <a:rPr sz="2000" b="1" spc="-80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2000" b="1" spc="165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3663188"/>
            <a:ext cx="999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200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35223" y="1676400"/>
            <a:ext cx="6214110" cy="5181600"/>
            <a:chOff x="2935223" y="1676400"/>
            <a:chExt cx="6214110" cy="518160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71799" y="1676400"/>
              <a:ext cx="5640324" cy="1295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35223" y="3352800"/>
              <a:ext cx="5827776" cy="12771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71799" y="4991100"/>
              <a:ext cx="5608320" cy="1257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32180" y="5444739"/>
            <a:ext cx="999490" cy="33083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6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6939" y="1072641"/>
            <a:ext cx="5452110" cy="1187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93900">
              <a:lnSpc>
                <a:spcPct val="100000"/>
              </a:lnSpc>
              <a:spcBef>
                <a:spcPts val="105"/>
              </a:spcBef>
            </a:pPr>
            <a:r>
              <a:rPr sz="2000" b="1" spc="-7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2000" b="1" spc="95" dirty="0">
                <a:solidFill>
                  <a:srgbClr val="C00000"/>
                </a:solidFill>
                <a:latin typeface="Trebuchet MS"/>
                <a:cs typeface="Trebuchet MS"/>
              </a:rPr>
              <a:t>U</a:t>
            </a:r>
            <a:r>
              <a:rPr sz="2000" b="1" spc="-140" dirty="0">
                <a:solidFill>
                  <a:srgbClr val="C00000"/>
                </a:solidFill>
                <a:latin typeface="Trebuchet MS"/>
                <a:cs typeface="Trebuchet MS"/>
              </a:rPr>
              <a:t>L</a:t>
            </a:r>
            <a:r>
              <a:rPr sz="2000" b="1" spc="-114" dirty="0">
                <a:solidFill>
                  <a:srgbClr val="C00000"/>
                </a:solidFill>
                <a:latin typeface="Trebuchet MS"/>
                <a:cs typeface="Trebuchet MS"/>
              </a:rPr>
              <a:t>ES</a:t>
            </a: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17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2000" b="1" spc="-235" dirty="0">
                <a:solidFill>
                  <a:srgbClr val="C00000"/>
                </a:solidFill>
                <a:latin typeface="Trebuchet MS"/>
                <a:cs typeface="Trebuchet MS"/>
              </a:rPr>
              <a:t>F</a:t>
            </a:r>
            <a:r>
              <a:rPr sz="2000" b="1" spc="-7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155" dirty="0">
                <a:solidFill>
                  <a:srgbClr val="C00000"/>
                </a:solidFill>
                <a:latin typeface="Trebuchet MS"/>
                <a:cs typeface="Trebuchet MS"/>
              </a:rPr>
              <a:t>B</a:t>
            </a:r>
            <a:r>
              <a:rPr sz="2000" b="1" spc="170" dirty="0">
                <a:solidFill>
                  <a:srgbClr val="C00000"/>
                </a:solidFill>
                <a:latin typeface="Trebuchet MS"/>
                <a:cs typeface="Trebuchet MS"/>
              </a:rPr>
              <a:t>O</a:t>
            </a:r>
            <a:r>
              <a:rPr sz="2000" b="1" spc="-40" dirty="0">
                <a:solidFill>
                  <a:srgbClr val="C00000"/>
                </a:solidFill>
                <a:latin typeface="Trebuchet MS"/>
                <a:cs typeface="Trebuchet MS"/>
              </a:rPr>
              <a:t>OLE</a:t>
            </a:r>
            <a:r>
              <a:rPr sz="2000" b="1" spc="155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2000" b="1" spc="130" dirty="0">
                <a:solidFill>
                  <a:srgbClr val="C00000"/>
                </a:solidFill>
                <a:latin typeface="Trebuchet MS"/>
                <a:cs typeface="Trebuchet MS"/>
              </a:rPr>
              <a:t>N</a:t>
            </a:r>
            <a:r>
              <a:rPr sz="2000" b="1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180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2000" b="1" spc="-125" dirty="0">
                <a:solidFill>
                  <a:srgbClr val="C00000"/>
                </a:solidFill>
                <a:latin typeface="Trebuchet MS"/>
                <a:cs typeface="Trebuchet MS"/>
              </a:rPr>
              <a:t>L</a:t>
            </a:r>
            <a:r>
              <a:rPr sz="2000" b="1" spc="-85" dirty="0">
                <a:solidFill>
                  <a:srgbClr val="C00000"/>
                </a:solidFill>
                <a:latin typeface="Trebuchet MS"/>
                <a:cs typeface="Trebuchet MS"/>
              </a:rPr>
              <a:t>GEB</a:t>
            </a:r>
            <a:r>
              <a:rPr sz="2000" b="1" spc="-80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2000" b="1" spc="165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7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3663188"/>
            <a:ext cx="999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200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8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62200" y="1685544"/>
            <a:ext cx="6786880" cy="5172710"/>
            <a:chOff x="2362200" y="1685544"/>
            <a:chExt cx="6786880" cy="517271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62200" y="1685544"/>
              <a:ext cx="6484620" cy="13624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14600" y="3352800"/>
              <a:ext cx="6300215" cy="15438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2200" y="5248655"/>
              <a:ext cx="6400800" cy="7909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32180" y="5444739"/>
            <a:ext cx="999490" cy="311624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srgbClr val="C00000"/>
                </a:solidFill>
                <a:latin typeface="Tahoma"/>
                <a:cs typeface="Tahoma"/>
              </a:rPr>
              <a:t>9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110" dirty="0">
                <a:latin typeface="Trebuchet MS"/>
                <a:cs typeface="Trebuchet MS"/>
              </a:rPr>
              <a:t>B</a:t>
            </a:r>
            <a:r>
              <a:rPr sz="3200" b="1" spc="-155" dirty="0">
                <a:latin typeface="Trebuchet MS"/>
                <a:cs typeface="Trebuchet MS"/>
              </a:rPr>
              <a:t>OOL</a:t>
            </a:r>
            <a:r>
              <a:rPr sz="3200" b="1" spc="-130" dirty="0">
                <a:latin typeface="Trebuchet MS"/>
                <a:cs typeface="Trebuchet MS"/>
              </a:rPr>
              <a:t>E</a:t>
            </a:r>
            <a:r>
              <a:rPr sz="3200" b="1" spc="-254" dirty="0">
                <a:latin typeface="Trebuchet MS"/>
                <a:cs typeface="Trebuchet MS"/>
              </a:rPr>
              <a:t>AN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235" dirty="0">
                <a:latin typeface="Trebuchet MS"/>
                <a:cs typeface="Trebuchet MS"/>
              </a:rPr>
              <a:t>A</a:t>
            </a:r>
            <a:r>
              <a:rPr sz="3200" b="1" spc="-190" dirty="0">
                <a:latin typeface="Trebuchet MS"/>
                <a:cs typeface="Trebuchet MS"/>
              </a:rPr>
              <a:t>L</a:t>
            </a:r>
            <a:r>
              <a:rPr sz="3200" b="1" spc="-135" dirty="0">
                <a:latin typeface="Trebuchet MS"/>
                <a:cs typeface="Trebuchet MS"/>
              </a:rPr>
              <a:t>G</a:t>
            </a:r>
            <a:r>
              <a:rPr sz="3200" b="1" spc="-100" dirty="0">
                <a:latin typeface="Trebuchet MS"/>
                <a:cs typeface="Trebuchet MS"/>
              </a:rPr>
              <a:t>E</a:t>
            </a:r>
            <a:r>
              <a:rPr sz="3200" b="1" spc="-40" dirty="0">
                <a:latin typeface="Trebuchet MS"/>
                <a:cs typeface="Trebuchet MS"/>
              </a:rPr>
              <a:t>BRA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8394" y="1090930"/>
            <a:ext cx="35928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RULES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C00000"/>
                </a:solidFill>
                <a:latin typeface="Tahoma"/>
                <a:cs typeface="Tahoma"/>
              </a:rPr>
              <a:t>ALGEBRA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2000" y="1783079"/>
            <a:ext cx="8387080" cy="5074920"/>
            <a:chOff x="762000" y="1783079"/>
            <a:chExt cx="8387080" cy="507492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2000" y="1783079"/>
              <a:ext cx="7789164" cy="17983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3000" y="3810000"/>
              <a:ext cx="7057644" cy="25816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110" dirty="0">
                <a:latin typeface="Trebuchet MS"/>
                <a:cs typeface="Trebuchet MS"/>
              </a:rPr>
              <a:t>B</a:t>
            </a:r>
            <a:r>
              <a:rPr sz="3200" b="1" spc="-155" dirty="0">
                <a:latin typeface="Trebuchet MS"/>
                <a:cs typeface="Trebuchet MS"/>
              </a:rPr>
              <a:t>OOL</a:t>
            </a:r>
            <a:r>
              <a:rPr sz="3200" b="1" spc="-130" dirty="0">
                <a:latin typeface="Trebuchet MS"/>
                <a:cs typeface="Trebuchet MS"/>
              </a:rPr>
              <a:t>E</a:t>
            </a:r>
            <a:r>
              <a:rPr sz="3200" b="1" spc="-254" dirty="0">
                <a:latin typeface="Trebuchet MS"/>
                <a:cs typeface="Trebuchet MS"/>
              </a:rPr>
              <a:t>AN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235" dirty="0">
                <a:latin typeface="Trebuchet MS"/>
                <a:cs typeface="Trebuchet MS"/>
              </a:rPr>
              <a:t>A</a:t>
            </a:r>
            <a:r>
              <a:rPr sz="3200" b="1" spc="-190" dirty="0">
                <a:latin typeface="Trebuchet MS"/>
                <a:cs typeface="Trebuchet MS"/>
              </a:rPr>
              <a:t>L</a:t>
            </a:r>
            <a:r>
              <a:rPr sz="3200" b="1" spc="-135" dirty="0">
                <a:latin typeface="Trebuchet MS"/>
                <a:cs typeface="Trebuchet MS"/>
              </a:rPr>
              <a:t>G</a:t>
            </a:r>
            <a:r>
              <a:rPr sz="3200" b="1" spc="-100" dirty="0">
                <a:latin typeface="Trebuchet MS"/>
                <a:cs typeface="Trebuchet MS"/>
              </a:rPr>
              <a:t>E</a:t>
            </a:r>
            <a:r>
              <a:rPr sz="3200" b="1" spc="-40" dirty="0">
                <a:latin typeface="Trebuchet MS"/>
                <a:cs typeface="Trebuchet MS"/>
              </a:rPr>
              <a:t>BRA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8394" y="1090930"/>
            <a:ext cx="35928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RULES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C00000"/>
                </a:solidFill>
                <a:latin typeface="Tahoma"/>
                <a:cs typeface="Tahoma"/>
              </a:rPr>
              <a:t>ALGEBRA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1331" y="1524000"/>
            <a:ext cx="8397875" cy="5334000"/>
            <a:chOff x="751331" y="1524000"/>
            <a:chExt cx="8397875" cy="5334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0199" y="1524000"/>
              <a:ext cx="5867400" cy="27157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331" y="4134611"/>
              <a:ext cx="7630668" cy="23423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110" dirty="0">
                <a:latin typeface="Trebuchet MS"/>
                <a:cs typeface="Trebuchet MS"/>
              </a:rPr>
              <a:t>B</a:t>
            </a:r>
            <a:r>
              <a:rPr sz="3200" b="1" spc="-155" dirty="0">
                <a:latin typeface="Trebuchet MS"/>
                <a:cs typeface="Trebuchet MS"/>
              </a:rPr>
              <a:t>OOL</a:t>
            </a:r>
            <a:r>
              <a:rPr sz="3200" b="1" spc="-130" dirty="0">
                <a:latin typeface="Trebuchet MS"/>
                <a:cs typeface="Trebuchet MS"/>
              </a:rPr>
              <a:t>E</a:t>
            </a:r>
            <a:r>
              <a:rPr sz="3200" b="1" spc="-254" dirty="0">
                <a:latin typeface="Trebuchet MS"/>
                <a:cs typeface="Trebuchet MS"/>
              </a:rPr>
              <a:t>AN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235" dirty="0">
                <a:latin typeface="Trebuchet MS"/>
                <a:cs typeface="Trebuchet MS"/>
              </a:rPr>
              <a:t>A</a:t>
            </a:r>
            <a:r>
              <a:rPr sz="3200" b="1" spc="-190" dirty="0">
                <a:latin typeface="Trebuchet MS"/>
                <a:cs typeface="Trebuchet MS"/>
              </a:rPr>
              <a:t>L</a:t>
            </a:r>
            <a:r>
              <a:rPr sz="3200" b="1" spc="-135" dirty="0">
                <a:latin typeface="Trebuchet MS"/>
                <a:cs typeface="Trebuchet MS"/>
              </a:rPr>
              <a:t>G</a:t>
            </a:r>
            <a:r>
              <a:rPr sz="3200" b="1" spc="-100" dirty="0">
                <a:latin typeface="Trebuchet MS"/>
                <a:cs typeface="Trebuchet MS"/>
              </a:rPr>
              <a:t>E</a:t>
            </a:r>
            <a:r>
              <a:rPr sz="3200" b="1" spc="-40" dirty="0">
                <a:latin typeface="Trebuchet MS"/>
                <a:cs typeface="Trebuchet MS"/>
              </a:rPr>
              <a:t>BRA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8394" y="1090930"/>
            <a:ext cx="35928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RULES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C00000"/>
                </a:solidFill>
                <a:latin typeface="Tahoma"/>
                <a:cs typeface="Tahoma"/>
              </a:rPr>
              <a:t>ALGEBRA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9100" y="1633727"/>
            <a:ext cx="8729980" cy="5224780"/>
            <a:chOff x="419100" y="1633727"/>
            <a:chExt cx="8729980" cy="522478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2996" y="1633727"/>
              <a:ext cx="5289804" cy="21000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9100" y="3886200"/>
              <a:ext cx="8420100" cy="2590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06804"/>
            <a:ext cx="8376920" cy="26657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" algn="ctr">
              <a:lnSpc>
                <a:spcPct val="100000"/>
              </a:lnSpc>
              <a:spcBef>
                <a:spcPts val="765"/>
              </a:spcBef>
            </a:pP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DEMORGAN’S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LAW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FIRST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LAW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919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complement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product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equal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sum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complements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985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409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formula</a:t>
            </a:r>
            <a:r>
              <a:rPr sz="2800" spc="4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4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expressing</a:t>
            </a:r>
            <a:r>
              <a:rPr sz="2800" spc="4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this</a:t>
            </a:r>
            <a:r>
              <a:rPr sz="2800" spc="4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theorem</a:t>
            </a:r>
            <a:r>
              <a:rPr sz="2800" spc="43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409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two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5800" y="3214116"/>
            <a:ext cx="8463280" cy="3644265"/>
            <a:chOff x="685800" y="3214116"/>
            <a:chExt cx="8463280" cy="364426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" y="3810000"/>
              <a:ext cx="7950708" cy="22905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9004" y="3214116"/>
              <a:ext cx="1764792" cy="59588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90930"/>
            <a:ext cx="8376284" cy="2728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895" algn="ctr">
              <a:lnSpc>
                <a:spcPct val="100000"/>
              </a:lnSpc>
              <a:spcBef>
                <a:spcPts val="105"/>
              </a:spcBef>
            </a:pP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DEMORGAN’S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LAW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SECOND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LAW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207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1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complement</a:t>
            </a:r>
            <a:r>
              <a:rPr sz="2800" spc="1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1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sum</a:t>
            </a:r>
            <a:r>
              <a:rPr sz="2800" spc="1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1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equal</a:t>
            </a:r>
            <a:r>
              <a:rPr sz="2800" spc="1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product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complements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985" indent="-464820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409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formula</a:t>
            </a:r>
            <a:r>
              <a:rPr sz="2800" spc="4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4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expressing</a:t>
            </a:r>
            <a:r>
              <a:rPr sz="2800" spc="4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this</a:t>
            </a:r>
            <a:r>
              <a:rPr sz="2800" spc="4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theorem</a:t>
            </a:r>
            <a:r>
              <a:rPr sz="2800" spc="43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409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two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90600" y="3429000"/>
            <a:ext cx="8158480" cy="3429000"/>
            <a:chOff x="990600" y="3429000"/>
            <a:chExt cx="8158480" cy="3429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0600" y="3962400"/>
              <a:ext cx="7523988" cy="2362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23972" y="3429000"/>
              <a:ext cx="1671827" cy="5151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110" dirty="0">
                <a:latin typeface="Trebuchet MS"/>
                <a:cs typeface="Trebuchet MS"/>
              </a:rPr>
              <a:t>B</a:t>
            </a:r>
            <a:r>
              <a:rPr sz="3200" b="1" spc="-155" dirty="0">
                <a:latin typeface="Trebuchet MS"/>
                <a:cs typeface="Trebuchet MS"/>
              </a:rPr>
              <a:t>OOL</a:t>
            </a:r>
            <a:r>
              <a:rPr sz="3200" b="1" spc="-130" dirty="0">
                <a:latin typeface="Trebuchet MS"/>
                <a:cs typeface="Trebuchet MS"/>
              </a:rPr>
              <a:t>E</a:t>
            </a:r>
            <a:r>
              <a:rPr sz="3200" b="1" spc="-254" dirty="0">
                <a:latin typeface="Trebuchet MS"/>
                <a:cs typeface="Trebuchet MS"/>
              </a:rPr>
              <a:t>AN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235" dirty="0">
                <a:latin typeface="Trebuchet MS"/>
                <a:cs typeface="Trebuchet MS"/>
              </a:rPr>
              <a:t>A</a:t>
            </a:r>
            <a:r>
              <a:rPr sz="3200" b="1" spc="-190" dirty="0">
                <a:latin typeface="Trebuchet MS"/>
                <a:cs typeface="Trebuchet MS"/>
              </a:rPr>
              <a:t>L</a:t>
            </a:r>
            <a:r>
              <a:rPr sz="3200" b="1" spc="-135" dirty="0">
                <a:latin typeface="Trebuchet MS"/>
                <a:cs typeface="Trebuchet MS"/>
              </a:rPr>
              <a:t>G</a:t>
            </a:r>
            <a:r>
              <a:rPr sz="3200" b="1" spc="-100" dirty="0">
                <a:latin typeface="Trebuchet MS"/>
                <a:cs typeface="Trebuchet MS"/>
              </a:rPr>
              <a:t>E</a:t>
            </a:r>
            <a:r>
              <a:rPr sz="3200" b="1" spc="-40" dirty="0">
                <a:latin typeface="Trebuchet MS"/>
                <a:cs typeface="Trebuchet MS"/>
              </a:rPr>
              <a:t>BRA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94026" y="1090930"/>
            <a:ext cx="378967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DEMORGAN’S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LAW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Tahoma"/>
                <a:cs typeface="Tahoma"/>
              </a:rPr>
              <a:t>EXAMPLES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8200" y="1447800"/>
            <a:ext cx="8310880" cy="5410200"/>
            <a:chOff x="838200" y="1447800"/>
            <a:chExt cx="8310880" cy="54102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8200" y="1447800"/>
              <a:ext cx="7391400" cy="42580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7800" y="5791200"/>
              <a:ext cx="6024372" cy="73609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83994" y="1112646"/>
            <a:ext cx="50692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EXPRESSION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139309" y="3419678"/>
            <a:ext cx="32658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x.x’=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0];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95" dirty="0">
                <a:latin typeface="Tahoma"/>
                <a:cs typeface="Tahoma"/>
              </a:rPr>
              <a:t>y.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185" dirty="0">
                <a:latin typeface="Tahoma"/>
                <a:cs typeface="Tahoma"/>
              </a:rPr>
              <a:t>y=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y]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139309" y="4700092"/>
            <a:ext cx="1798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85" dirty="0">
                <a:latin typeface="Tahoma"/>
                <a:cs typeface="Tahoma"/>
              </a:rPr>
              <a:t>1+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x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415" dirty="0">
                <a:latin typeface="Tahoma"/>
                <a:cs typeface="Tahoma"/>
              </a:rPr>
              <a:t>1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6419" y="1925853"/>
            <a:ext cx="4222115" cy="386651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spc="-5" dirty="0">
                <a:latin typeface="Tahoma"/>
                <a:cs typeface="Tahoma"/>
              </a:rPr>
              <a:t>(x’+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y)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(x+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y)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165" dirty="0">
                <a:latin typeface="Cambria"/>
                <a:cs typeface="Cambria"/>
              </a:rPr>
              <a:t>x’.x+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155" dirty="0">
                <a:latin typeface="Cambria"/>
                <a:cs typeface="Cambria"/>
              </a:rPr>
              <a:t>x’y+</a:t>
            </a:r>
            <a:r>
              <a:rPr sz="2800" spc="220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yx+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35" dirty="0">
                <a:latin typeface="Cambria"/>
                <a:cs typeface="Cambria"/>
              </a:rPr>
              <a:t>y.y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</a:pPr>
            <a:r>
              <a:rPr sz="2800" spc="780" dirty="0">
                <a:latin typeface="Cambria"/>
                <a:cs typeface="Cambria"/>
              </a:rPr>
              <a:t>=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210" dirty="0">
                <a:latin typeface="Cambria"/>
                <a:cs typeface="Cambria"/>
              </a:rPr>
              <a:t>0+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155" dirty="0">
                <a:latin typeface="Cambria"/>
                <a:cs typeface="Cambria"/>
              </a:rPr>
              <a:t>x’y+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xy+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y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y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-85" dirty="0">
                <a:latin typeface="Cambria"/>
                <a:cs typeface="Cambria"/>
              </a:rPr>
              <a:t>(</a:t>
            </a:r>
            <a:r>
              <a:rPr sz="2800" spc="190" dirty="0">
                <a:latin typeface="Cambria"/>
                <a:cs typeface="Cambria"/>
              </a:rPr>
              <a:t> x’+</a:t>
            </a:r>
            <a:r>
              <a:rPr sz="2800" spc="220" dirty="0">
                <a:latin typeface="Cambria"/>
                <a:cs typeface="Cambria"/>
              </a:rPr>
              <a:t> </a:t>
            </a:r>
            <a:r>
              <a:rPr sz="2800" spc="195" dirty="0">
                <a:latin typeface="Cambria"/>
                <a:cs typeface="Cambria"/>
              </a:rPr>
              <a:t>x+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-260" dirty="0">
                <a:latin typeface="Cambria"/>
                <a:cs typeface="Cambria"/>
              </a:rPr>
              <a:t>1)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</a:pPr>
            <a:r>
              <a:rPr sz="2800" spc="780" dirty="0">
                <a:latin typeface="Cambria"/>
                <a:cs typeface="Cambria"/>
              </a:rPr>
              <a:t>=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y(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-440" dirty="0">
                <a:latin typeface="Cambria"/>
                <a:cs typeface="Cambria"/>
              </a:rPr>
              <a:t>1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-85" dirty="0">
                <a:latin typeface="Cambria"/>
                <a:cs typeface="Cambria"/>
              </a:rPr>
              <a:t>)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685"/>
              </a:spcBef>
            </a:pP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90" dirty="0">
                <a:latin typeface="Tahoma"/>
                <a:cs typeface="Tahoma"/>
              </a:rPr>
              <a:t> y.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83994" y="1112646"/>
            <a:ext cx="50692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EXPRESSION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31484" y="3033775"/>
            <a:ext cx="1797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415" dirty="0">
                <a:latin typeface="Tahoma"/>
                <a:cs typeface="Tahoma"/>
              </a:rPr>
              <a:t>1</a:t>
            </a:r>
            <a:r>
              <a:rPr sz="2800" spc="-160" dirty="0">
                <a:latin typeface="Tahoma"/>
                <a:cs typeface="Tahoma"/>
              </a:rPr>
              <a:t>+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x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420" dirty="0">
                <a:latin typeface="Tahoma"/>
                <a:cs typeface="Tahoma"/>
              </a:rPr>
              <a:t>1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117084" y="4314190"/>
            <a:ext cx="2591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x+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x’y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x+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y]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4474" y="1538710"/>
            <a:ext cx="4392295" cy="386715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800" spc="-15" dirty="0">
                <a:latin typeface="Tahoma"/>
                <a:cs typeface="Tahoma"/>
              </a:rPr>
              <a:t>xy+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xyz+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35" dirty="0">
                <a:latin typeface="Tahoma"/>
                <a:cs typeface="Tahoma"/>
              </a:rPr>
              <a:t>xyz’+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x’yz</a:t>
            </a:r>
            <a:endParaRPr sz="28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1680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xy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-85" dirty="0">
                <a:latin typeface="Cambria"/>
                <a:cs typeface="Cambria"/>
              </a:rPr>
              <a:t>(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-55" dirty="0">
                <a:latin typeface="Cambria"/>
                <a:cs typeface="Cambria"/>
              </a:rPr>
              <a:t>1+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160" dirty="0">
                <a:latin typeface="Cambria"/>
                <a:cs typeface="Cambria"/>
              </a:rPr>
              <a:t>z+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z’)+</a:t>
            </a:r>
            <a:r>
              <a:rPr sz="2800" spc="22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x’yz</a:t>
            </a:r>
            <a:endParaRPr sz="2800">
              <a:latin typeface="Cambria"/>
              <a:cs typeface="Cambria"/>
            </a:endParaRPr>
          </a:p>
          <a:p>
            <a:pPr marL="926465">
              <a:lnSpc>
                <a:spcPct val="100000"/>
              </a:lnSpc>
              <a:spcBef>
                <a:spcPts val="1680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xy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-85" dirty="0">
                <a:latin typeface="Cambria"/>
                <a:cs typeface="Cambria"/>
              </a:rPr>
              <a:t>(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-440" dirty="0">
                <a:latin typeface="Cambria"/>
                <a:cs typeface="Cambria"/>
              </a:rPr>
              <a:t>1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-85" dirty="0">
                <a:latin typeface="Cambria"/>
                <a:cs typeface="Cambria"/>
              </a:rPr>
              <a:t>)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330" dirty="0">
                <a:latin typeface="Cambria"/>
                <a:cs typeface="Cambria"/>
              </a:rPr>
              <a:t>+</a:t>
            </a:r>
            <a:r>
              <a:rPr sz="2800" spc="23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x’yz</a:t>
            </a:r>
            <a:endParaRPr sz="2800">
              <a:latin typeface="Cambria"/>
              <a:cs typeface="Cambria"/>
            </a:endParaRPr>
          </a:p>
          <a:p>
            <a:pPr marL="926465">
              <a:lnSpc>
                <a:spcPct val="100000"/>
              </a:lnSpc>
              <a:spcBef>
                <a:spcPts val="1685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xy+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x’yz</a:t>
            </a:r>
            <a:endParaRPr sz="2800">
              <a:latin typeface="Cambria"/>
              <a:cs typeface="Cambria"/>
            </a:endParaRPr>
          </a:p>
          <a:p>
            <a:pPr marL="926465">
              <a:lnSpc>
                <a:spcPct val="100000"/>
              </a:lnSpc>
              <a:spcBef>
                <a:spcPts val="1680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y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-85" dirty="0">
                <a:latin typeface="Cambria"/>
                <a:cs typeface="Cambria"/>
              </a:rPr>
              <a:t>(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195" dirty="0">
                <a:latin typeface="Cambria"/>
                <a:cs typeface="Cambria"/>
              </a:rPr>
              <a:t>x+</a:t>
            </a:r>
            <a:r>
              <a:rPr sz="2800" spc="220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x’z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-85" dirty="0">
                <a:latin typeface="Cambria"/>
                <a:cs typeface="Cambria"/>
              </a:rPr>
              <a:t>)</a:t>
            </a:r>
            <a:endParaRPr sz="2800">
              <a:latin typeface="Cambria"/>
              <a:cs typeface="Cambria"/>
            </a:endParaRPr>
          </a:p>
          <a:p>
            <a:pPr marL="926465">
              <a:lnSpc>
                <a:spcPct val="100000"/>
              </a:lnSpc>
              <a:spcBef>
                <a:spcPts val="1680"/>
              </a:spcBef>
            </a:pP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y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(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x+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z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).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88340" y="1087141"/>
            <a:ext cx="6365240" cy="145859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308100">
              <a:lnSpc>
                <a:spcPct val="100000"/>
              </a:lnSpc>
              <a:spcBef>
                <a:spcPts val="305"/>
              </a:spcBef>
            </a:pP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EXPRESSION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2800" spc="35" dirty="0">
                <a:latin typeface="Tahoma"/>
                <a:cs typeface="Tahoma"/>
              </a:rPr>
              <a:t>x’yz+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xy’z’+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85" dirty="0">
                <a:latin typeface="Tahoma"/>
                <a:cs typeface="Tahoma"/>
              </a:rPr>
              <a:t>x’y’z’+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35" dirty="0">
                <a:latin typeface="Tahoma"/>
                <a:cs typeface="Tahoma"/>
              </a:rPr>
              <a:t>xy’z+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40" dirty="0">
                <a:latin typeface="Tahoma"/>
                <a:cs typeface="Tahoma"/>
              </a:rPr>
              <a:t>xyz</a:t>
            </a:r>
            <a:endParaRPr sz="2800">
              <a:latin typeface="Tahoma"/>
              <a:cs typeface="Tahoma"/>
            </a:endParaRPr>
          </a:p>
          <a:p>
            <a:pPr marL="622935" algn="ctr">
              <a:lnSpc>
                <a:spcPct val="100000"/>
              </a:lnSpc>
              <a:spcBef>
                <a:spcPts val="1685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15" dirty="0">
                <a:latin typeface="Cambria"/>
                <a:cs typeface="Cambria"/>
              </a:rPr>
              <a:t>yz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(x’+x)</a:t>
            </a:r>
            <a:r>
              <a:rPr sz="2800" spc="235" dirty="0">
                <a:latin typeface="Cambria"/>
                <a:cs typeface="Cambria"/>
              </a:rPr>
              <a:t> </a:t>
            </a:r>
            <a:r>
              <a:rPr sz="2800" spc="330" dirty="0">
                <a:latin typeface="Cambria"/>
                <a:cs typeface="Cambria"/>
              </a:rPr>
              <a:t>+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xy’z’+</a:t>
            </a:r>
            <a:r>
              <a:rPr sz="2800" spc="225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x’y’z’+</a:t>
            </a:r>
            <a:r>
              <a:rPr sz="2800" spc="23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xy’z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89572" y="2520701"/>
            <a:ext cx="1732280" cy="130556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x+ </a:t>
            </a:r>
            <a:r>
              <a:rPr sz="2800" spc="175" dirty="0">
                <a:latin typeface="Tahoma"/>
                <a:cs typeface="Tahoma"/>
              </a:rPr>
              <a:t>x’=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250" dirty="0">
                <a:latin typeface="Tahoma"/>
                <a:cs typeface="Tahoma"/>
              </a:rPr>
              <a:t>1]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x+ </a:t>
            </a:r>
            <a:r>
              <a:rPr sz="2800" spc="175" dirty="0">
                <a:latin typeface="Tahoma"/>
                <a:cs typeface="Tahoma"/>
              </a:rPr>
              <a:t>x’=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254" dirty="0">
                <a:latin typeface="Tahoma"/>
                <a:cs typeface="Tahoma"/>
              </a:rPr>
              <a:t>1]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2994" y="2520701"/>
            <a:ext cx="4508500" cy="258572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15" dirty="0">
                <a:latin typeface="Cambria"/>
                <a:cs typeface="Cambria"/>
              </a:rPr>
              <a:t>yz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-210" dirty="0">
                <a:latin typeface="Cambria"/>
                <a:cs typeface="Cambria"/>
              </a:rPr>
              <a:t>(1)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330" dirty="0">
                <a:latin typeface="Cambria"/>
                <a:cs typeface="Cambria"/>
              </a:rPr>
              <a:t>+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y’z’</a:t>
            </a:r>
            <a:r>
              <a:rPr sz="2800" spc="22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(x+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x’)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330" dirty="0">
                <a:latin typeface="Cambria"/>
                <a:cs typeface="Cambria"/>
              </a:rPr>
              <a:t>+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xy’z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780" dirty="0">
                <a:latin typeface="Cambria"/>
                <a:cs typeface="Cambria"/>
              </a:rPr>
              <a:t>=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yz+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y’z’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-204" dirty="0">
                <a:latin typeface="Cambria"/>
                <a:cs typeface="Cambria"/>
              </a:rPr>
              <a:t>(1)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330" dirty="0">
                <a:latin typeface="Cambria"/>
                <a:cs typeface="Cambria"/>
              </a:rPr>
              <a:t>+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xy’z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yz+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140" dirty="0">
                <a:latin typeface="Cambria"/>
                <a:cs typeface="Cambria"/>
              </a:rPr>
              <a:t>y’z’+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xy’z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780" dirty="0">
                <a:latin typeface="Cambria"/>
                <a:cs typeface="Cambria"/>
              </a:rPr>
              <a:t>=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yz+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114" dirty="0">
                <a:latin typeface="Cambria"/>
                <a:cs typeface="Cambria"/>
              </a:rPr>
              <a:t>y’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(z’+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xz)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2994" y="5081117"/>
            <a:ext cx="6351270" cy="130556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  <a:tabLst>
                <a:tab pos="3670300" algn="l"/>
              </a:tabLst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25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yz+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114" dirty="0">
                <a:latin typeface="Cambria"/>
                <a:cs typeface="Cambria"/>
              </a:rPr>
              <a:t>y’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(z’+</a:t>
            </a:r>
            <a:r>
              <a:rPr sz="2800" spc="22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x)	</a:t>
            </a: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x’+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xy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x’+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y]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yz+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70" dirty="0">
                <a:latin typeface="Tahoma"/>
                <a:cs typeface="Tahoma"/>
              </a:rPr>
              <a:t>y’z’+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xy’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83994" y="1112646"/>
            <a:ext cx="50692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EXPRESSION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75628" y="2582367"/>
            <a:ext cx="1346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90" dirty="0">
                <a:latin typeface="Tahoma"/>
                <a:cs typeface="Tahoma"/>
              </a:rPr>
              <a:t>[x’’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x]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175628" y="3436365"/>
            <a:ext cx="1426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Tahoma"/>
                <a:cs typeface="Tahoma"/>
              </a:rPr>
              <a:t>[x.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x=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x]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75628" y="4290186"/>
            <a:ext cx="1590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85" dirty="0">
                <a:latin typeface="Tahoma"/>
                <a:cs typeface="Tahoma"/>
              </a:rPr>
              <a:t>[</a:t>
            </a:r>
            <a:r>
              <a:rPr sz="2800" spc="-409" dirty="0">
                <a:latin typeface="Tahoma"/>
                <a:cs typeface="Tahoma"/>
              </a:rPr>
              <a:t>1</a:t>
            </a:r>
            <a:r>
              <a:rPr sz="2800" spc="-160" dirty="0">
                <a:latin typeface="Tahoma"/>
                <a:cs typeface="Tahoma"/>
              </a:rPr>
              <a:t>+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x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415" dirty="0">
                <a:latin typeface="Tahoma"/>
                <a:cs typeface="Tahoma"/>
              </a:rPr>
              <a:t>1</a:t>
            </a:r>
            <a:r>
              <a:rPr sz="2800" spc="-90" dirty="0">
                <a:latin typeface="Tahoma"/>
                <a:cs typeface="Tahoma"/>
              </a:rPr>
              <a:t>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75628" y="5570016"/>
            <a:ext cx="1626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>
                <a:latin typeface="Tahoma"/>
                <a:cs typeface="Tahoma"/>
              </a:rPr>
              <a:t>[x+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spc="175" dirty="0">
                <a:latin typeface="Tahoma"/>
                <a:cs typeface="Tahoma"/>
              </a:rPr>
              <a:t>x’=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54" dirty="0">
                <a:latin typeface="Tahoma"/>
                <a:cs typeface="Tahoma"/>
              </a:rPr>
              <a:t>1]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8340" y="1729231"/>
            <a:ext cx="3966845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Tahoma"/>
                <a:cs typeface="Tahoma"/>
              </a:rPr>
              <a:t>xy+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55" dirty="0">
                <a:latin typeface="Tahoma"/>
                <a:cs typeface="Tahoma"/>
              </a:rPr>
              <a:t>xy’(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x’z’)’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xy+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xy’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(x’’+</a:t>
            </a:r>
            <a:r>
              <a:rPr sz="2800" spc="229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z’’)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2800" spc="780" dirty="0">
                <a:latin typeface="Cambria"/>
                <a:cs typeface="Cambria"/>
              </a:rPr>
              <a:t>=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xy+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xy’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(x+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-55" dirty="0">
                <a:latin typeface="Cambria"/>
                <a:cs typeface="Cambria"/>
              </a:rPr>
              <a:t>z)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xy+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xy’x+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xy’z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xy+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155" dirty="0">
                <a:latin typeface="Cambria"/>
                <a:cs typeface="Cambria"/>
              </a:rPr>
              <a:t>xy’+</a:t>
            </a:r>
            <a:r>
              <a:rPr sz="2800" spc="22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xy’z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2800" spc="780" dirty="0">
                <a:latin typeface="Cambria"/>
                <a:cs typeface="Cambria"/>
              </a:rPr>
              <a:t>=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xy+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xy’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-40" dirty="0">
                <a:latin typeface="Cambria"/>
                <a:cs typeface="Cambria"/>
              </a:rPr>
              <a:t>[1+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z]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xy+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xy’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-150" dirty="0">
                <a:latin typeface="Cambria"/>
                <a:cs typeface="Cambria"/>
              </a:rPr>
              <a:t>[1]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xy+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xy’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x(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190" dirty="0">
                <a:latin typeface="Cambria"/>
                <a:cs typeface="Cambria"/>
              </a:rPr>
              <a:t>y+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y’)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2800" spc="780" dirty="0">
                <a:latin typeface="Cambria"/>
                <a:cs typeface="Cambria"/>
              </a:rPr>
              <a:t>=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60" dirty="0">
                <a:latin typeface="Cambria"/>
                <a:cs typeface="Cambria"/>
              </a:rPr>
              <a:t>x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-150" dirty="0">
                <a:latin typeface="Cambria"/>
                <a:cs typeface="Cambria"/>
              </a:rPr>
              <a:t>[1]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x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83994" y="1112646"/>
            <a:ext cx="50692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EXPRESSION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61228" y="2932836"/>
            <a:ext cx="2693035" cy="258635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spc="-70" dirty="0">
                <a:latin typeface="Tahoma"/>
                <a:cs typeface="Tahoma"/>
              </a:rPr>
              <a:t>[x+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x=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x]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x’+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xy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x’+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y]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65" dirty="0">
                <a:latin typeface="Tahoma"/>
                <a:cs typeface="Tahoma"/>
              </a:rPr>
              <a:t> x+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175" dirty="0">
                <a:latin typeface="Tahoma"/>
                <a:cs typeface="Tahoma"/>
              </a:rPr>
              <a:t>x’=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250" dirty="0">
                <a:latin typeface="Tahoma"/>
                <a:cs typeface="Tahoma"/>
              </a:rPr>
              <a:t>1]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90" dirty="0">
                <a:latin typeface="Tahoma"/>
                <a:cs typeface="Tahoma"/>
              </a:rPr>
              <a:t>[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415" dirty="0">
                <a:latin typeface="Tahoma"/>
                <a:cs typeface="Tahoma"/>
              </a:rPr>
              <a:t>1</a:t>
            </a:r>
            <a:r>
              <a:rPr sz="2800" spc="-160" dirty="0">
                <a:latin typeface="Tahoma"/>
                <a:cs typeface="Tahoma"/>
              </a:rPr>
              <a:t>+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x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420" dirty="0">
                <a:latin typeface="Tahoma"/>
                <a:cs typeface="Tahoma"/>
              </a:rPr>
              <a:t>1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8340" y="1652910"/>
            <a:ext cx="4049395" cy="450659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800" spc="-15" dirty="0">
                <a:latin typeface="Tahoma"/>
                <a:cs typeface="Tahoma"/>
              </a:rPr>
              <a:t>[(xy)’+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x’+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55" dirty="0">
                <a:latin typeface="Tahoma"/>
                <a:cs typeface="Tahoma"/>
              </a:rPr>
              <a:t>xy]’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</a:pPr>
            <a:r>
              <a:rPr sz="2800" spc="780" dirty="0">
                <a:latin typeface="Cambria"/>
                <a:cs typeface="Cambria"/>
              </a:rPr>
              <a:t>=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[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190" dirty="0">
                <a:latin typeface="Cambria"/>
                <a:cs typeface="Cambria"/>
              </a:rPr>
              <a:t>x’+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y’+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190" dirty="0">
                <a:latin typeface="Cambria"/>
                <a:cs typeface="Cambria"/>
              </a:rPr>
              <a:t>x’+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xy]’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[</a:t>
            </a:r>
            <a:r>
              <a:rPr sz="2800" spc="190" dirty="0">
                <a:latin typeface="Cambria"/>
                <a:cs typeface="Cambria"/>
              </a:rPr>
              <a:t> x’+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y’+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xy]’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140" dirty="0">
                <a:latin typeface="Cambria"/>
                <a:cs typeface="Cambria"/>
              </a:rPr>
              <a:t>[x’+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y’+</a:t>
            </a:r>
            <a:r>
              <a:rPr sz="2800" spc="200" dirty="0">
                <a:latin typeface="Cambria"/>
                <a:cs typeface="Cambria"/>
              </a:rPr>
              <a:t> </a:t>
            </a:r>
            <a:r>
              <a:rPr sz="2800" spc="80" dirty="0">
                <a:latin typeface="Cambria"/>
                <a:cs typeface="Cambria"/>
              </a:rPr>
              <a:t>x]’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685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[y’+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-90" dirty="0">
                <a:latin typeface="Cambria"/>
                <a:cs typeface="Cambria"/>
              </a:rPr>
              <a:t>1]’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</a:pPr>
            <a:r>
              <a:rPr sz="2800" spc="775" dirty="0">
                <a:latin typeface="Cambria"/>
                <a:cs typeface="Cambria"/>
              </a:rPr>
              <a:t>=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[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-440" dirty="0">
                <a:latin typeface="Cambria"/>
                <a:cs typeface="Cambria"/>
              </a:rPr>
              <a:t>1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]’</a:t>
            </a:r>
            <a:endParaRPr sz="2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</a:pPr>
            <a:r>
              <a:rPr sz="2800" spc="290" dirty="0">
                <a:latin typeface="Tahoma"/>
                <a:cs typeface="Tahoma"/>
              </a:rPr>
              <a:t>=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35" dirty="0">
                <a:latin typeface="Tahoma"/>
                <a:cs typeface="Tahoma"/>
              </a:rPr>
              <a:t>0.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4" y="202679"/>
              <a:ext cx="4000499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43910" y="321386"/>
            <a:ext cx="345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B</a:t>
            </a:r>
            <a:r>
              <a:rPr spc="-155" dirty="0"/>
              <a:t>OOL</a:t>
            </a:r>
            <a:r>
              <a:rPr spc="-130" dirty="0"/>
              <a:t>E</a:t>
            </a:r>
            <a:r>
              <a:rPr spc="-254" dirty="0"/>
              <a:t>AN</a:t>
            </a:r>
            <a:r>
              <a:rPr spc="-45" dirty="0"/>
              <a:t> </a:t>
            </a:r>
            <a:r>
              <a:rPr spc="-235" dirty="0"/>
              <a:t>A</a:t>
            </a:r>
            <a:r>
              <a:rPr spc="-190" dirty="0"/>
              <a:t>L</a:t>
            </a:r>
            <a:r>
              <a:rPr spc="-135" dirty="0"/>
              <a:t>G</a:t>
            </a:r>
            <a:r>
              <a:rPr spc="-100" dirty="0"/>
              <a:t>E</a:t>
            </a:r>
            <a:r>
              <a:rPr spc="-40" dirty="0"/>
              <a:t>BRA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88340" y="1147952"/>
            <a:ext cx="7247255" cy="456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7385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EXPRESSION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EXERCISE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00">
              <a:latin typeface="Tahoma"/>
              <a:cs typeface="Tahoma"/>
            </a:endParaRPr>
          </a:p>
          <a:p>
            <a:pPr marL="527685" indent="-515620">
              <a:lnSpc>
                <a:spcPct val="100000"/>
              </a:lnSpc>
              <a:spcBef>
                <a:spcPts val="190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xyz+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xy’z+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xyz’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x(y+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z)</a:t>
            </a:r>
            <a:endParaRPr sz="2800">
              <a:latin typeface="Tahoma"/>
              <a:cs typeface="Tahoma"/>
            </a:endParaRPr>
          </a:p>
          <a:p>
            <a:pPr marL="527685" indent="-5156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w’xyz’+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xyz’+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xy’z’+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xy’z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xz</a:t>
            </a:r>
            <a:endParaRPr sz="2800">
              <a:latin typeface="Tahoma"/>
              <a:cs typeface="Tahoma"/>
            </a:endParaRPr>
          </a:p>
          <a:p>
            <a:pPr marL="527685" indent="-5156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w’xy’z+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w’xyz+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wxz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xz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527685" algn="l"/>
              </a:tabLst>
            </a:pP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4.	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AB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(AC)'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35" dirty="0">
                <a:solidFill>
                  <a:srgbClr val="006FC0"/>
                </a:solidFill>
                <a:latin typeface="Tahoma"/>
                <a:cs typeface="Tahoma"/>
              </a:rPr>
              <a:t>AB’C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(AB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C)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20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527685" algn="l"/>
              </a:tabLst>
            </a:pP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5.	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x’y’z’+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x’y’z+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x’yz’+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x’yz+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5" dirty="0">
                <a:solidFill>
                  <a:srgbClr val="006FC0"/>
                </a:solidFill>
                <a:latin typeface="Tahoma"/>
                <a:cs typeface="Tahoma"/>
              </a:rPr>
              <a:t>xy’z’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x’+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y’z’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527685" algn="l"/>
              </a:tabLst>
            </a:pP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6.	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(x+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y)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(x’z’+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z)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(y’+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xz)’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0" dirty="0">
                <a:solidFill>
                  <a:srgbClr val="006FC0"/>
                </a:solidFill>
                <a:latin typeface="Tahoma"/>
                <a:cs typeface="Tahoma"/>
              </a:rPr>
              <a:t>x’y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6983730" cy="41780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82900"/>
            <a:ext cx="8376920" cy="2433320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16205" algn="ctr">
              <a:lnSpc>
                <a:spcPct val="100000"/>
              </a:lnSpc>
              <a:spcBef>
                <a:spcPts val="1400"/>
              </a:spcBef>
            </a:pP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BOOLEAN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EXPRESSION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FOR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CIRCUIT</a:t>
            </a:r>
            <a:endParaRPr sz="20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814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derive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Boolean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expression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given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circuit,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begin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at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left-most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inputs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0" dirty="0">
                <a:solidFill>
                  <a:srgbClr val="006FC0"/>
                </a:solidFill>
                <a:latin typeface="Tahoma"/>
                <a:cs typeface="Tahoma"/>
              </a:rPr>
              <a:t>work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toward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final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output,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writing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expression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each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gate.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95400" y="3610355"/>
            <a:ext cx="7853680" cy="3248025"/>
            <a:chOff x="1295400" y="3610355"/>
            <a:chExt cx="7853680" cy="324802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5400" y="3610355"/>
              <a:ext cx="6385559" cy="26380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48079"/>
            <a:ext cx="8378190" cy="547814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890"/>
              </a:spcBef>
            </a:pP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CONSTRUCTING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TRUTH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TABLE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FOR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C00000"/>
                </a:solidFill>
                <a:latin typeface="Tahoma"/>
                <a:cs typeface="Tahoma"/>
              </a:rPr>
              <a:t>CIRCUIT</a:t>
            </a:r>
            <a:endParaRPr sz="2000">
              <a:latin typeface="Tahoma"/>
              <a:cs typeface="Tahoma"/>
            </a:endParaRPr>
          </a:p>
          <a:p>
            <a:pPr marL="476884" marR="7620" indent="-464820" algn="just">
              <a:lnSpc>
                <a:spcPct val="100000"/>
              </a:lnSpc>
              <a:spcBef>
                <a:spcPts val="10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Truth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table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shows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output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possible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values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input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developed.</a:t>
            </a:r>
            <a:endParaRPr sz="2800">
              <a:latin typeface="Tahoma"/>
              <a:cs typeface="Tahoma"/>
            </a:endParaRPr>
          </a:p>
          <a:p>
            <a:pPr marL="469900" marR="6350" indent="-457200" algn="just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"/>
              <a:tabLst>
                <a:tab pos="46990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procedure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requires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you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evaluate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Boolean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expression</a:t>
            </a:r>
            <a:r>
              <a:rPr sz="2800" spc="7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possible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combinations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values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input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variables.</a:t>
            </a:r>
            <a:endParaRPr sz="280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spcBef>
                <a:spcPts val="168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first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step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list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sixteen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input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variable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ti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ns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5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’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0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’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q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en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Next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apply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inputs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circuit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find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output,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enter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it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output column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truth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table.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45" dirty="0">
                <a:latin typeface="Trebuchet MS"/>
                <a:cs typeface="Trebuchet MS"/>
              </a:rPr>
              <a:t>CANONICAL</a:t>
            </a:r>
            <a:r>
              <a:rPr sz="3200" b="1" spc="-55" dirty="0">
                <a:latin typeface="Trebuchet MS"/>
                <a:cs typeface="Trebuchet MS"/>
              </a:rPr>
              <a:t> </a:t>
            </a:r>
            <a:r>
              <a:rPr sz="3200" b="1" spc="-155" dirty="0">
                <a:latin typeface="Trebuchet MS"/>
                <a:cs typeface="Trebuchet MS"/>
              </a:rPr>
              <a:t>AND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105" dirty="0">
                <a:latin typeface="Trebuchet MS"/>
                <a:cs typeface="Trebuchet MS"/>
              </a:rPr>
              <a:t>STANDARD</a:t>
            </a:r>
            <a:r>
              <a:rPr sz="3200" b="1" spc="-55" dirty="0">
                <a:latin typeface="Trebuchet MS"/>
                <a:cs typeface="Trebuchet MS"/>
              </a:rPr>
              <a:t> FORMS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8194" y="1147952"/>
            <a:ext cx="668083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CONSTRUCTING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TRUTH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TABLE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FOR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C00000"/>
                </a:solidFill>
                <a:latin typeface="Tahoma"/>
                <a:cs typeface="Tahoma"/>
              </a:rPr>
              <a:t>CIRCUIT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19400" y="1524000"/>
            <a:ext cx="6329680" cy="5334000"/>
            <a:chOff x="2819400" y="1524000"/>
            <a:chExt cx="6329680" cy="5334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9400" y="1524000"/>
              <a:ext cx="3429000" cy="48585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27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666697"/>
            <a:ext cx="8376920" cy="3867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45" dirty="0">
                <a:latin typeface="Tahoma"/>
                <a:cs typeface="Tahoma"/>
              </a:rPr>
              <a:t>Standard </a:t>
            </a:r>
            <a:r>
              <a:rPr sz="2800" spc="10" dirty="0">
                <a:latin typeface="Tahoma"/>
                <a:cs typeface="Tahoma"/>
              </a:rPr>
              <a:t>form: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standard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form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we 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don’t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have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compulsorily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write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all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literals</a:t>
            </a:r>
            <a:r>
              <a:rPr sz="2800" spc="8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terms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expression.</a:t>
            </a:r>
            <a:endParaRPr sz="2800">
              <a:latin typeface="Tahoma"/>
              <a:cs typeface="Tahoma"/>
            </a:endParaRPr>
          </a:p>
          <a:p>
            <a:pPr marL="1841500" algn="just">
              <a:lnSpc>
                <a:spcPct val="100000"/>
              </a:lnSpc>
              <a:spcBef>
                <a:spcPts val="5"/>
              </a:spcBef>
            </a:pP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e.g.</a:t>
            </a:r>
            <a:r>
              <a:rPr sz="2800" spc="11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xyz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x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25" dirty="0">
                <a:latin typeface="Tahoma"/>
                <a:cs typeface="Tahoma"/>
              </a:rPr>
              <a:t>Canonical </a:t>
            </a:r>
            <a:r>
              <a:rPr sz="2800" spc="5" dirty="0">
                <a:latin typeface="Tahoma"/>
                <a:cs typeface="Tahoma"/>
              </a:rPr>
              <a:t>form: 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canonical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form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we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have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compulsorily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write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literals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7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terms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expression.</a:t>
            </a:r>
            <a:endParaRPr sz="2800">
              <a:latin typeface="Tahoma"/>
              <a:cs typeface="Tahoma"/>
            </a:endParaRPr>
          </a:p>
          <a:p>
            <a:pPr marL="1841500" algn="just">
              <a:lnSpc>
                <a:spcPct val="100000"/>
              </a:lnSpc>
            </a:pP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e.g.</a:t>
            </a:r>
            <a:r>
              <a:rPr sz="2800" spc="1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xyz+x’yz’+xy’z’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240281"/>
            <a:ext cx="8377555" cy="5141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6985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All</a:t>
            </a:r>
            <a:r>
              <a:rPr sz="2800" spc="3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Boolean</a:t>
            </a:r>
            <a:r>
              <a:rPr sz="2800" spc="3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expressions,</a:t>
            </a:r>
            <a:r>
              <a:rPr sz="2800" spc="3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regardless</a:t>
            </a:r>
            <a:r>
              <a:rPr sz="2800" spc="3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3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their</a:t>
            </a:r>
            <a:r>
              <a:rPr sz="2800" spc="3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form,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represented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into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either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two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forms:</a:t>
            </a:r>
            <a:endParaRPr sz="2800">
              <a:latin typeface="Tahoma"/>
              <a:cs typeface="Tahoma"/>
            </a:endParaRPr>
          </a:p>
          <a:p>
            <a:pPr marL="934719" lvl="1" indent="-465455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934719" algn="l"/>
                <a:tab pos="935355" algn="l"/>
              </a:tabLst>
            </a:pPr>
            <a:r>
              <a:rPr sz="2800" spc="-75" dirty="0">
                <a:latin typeface="Tahoma"/>
                <a:cs typeface="Tahoma"/>
              </a:rPr>
              <a:t>Sum-of-Products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Form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(SOP)</a:t>
            </a:r>
            <a:endParaRPr sz="2800">
              <a:latin typeface="Tahoma"/>
              <a:cs typeface="Tahoma"/>
            </a:endParaRPr>
          </a:p>
          <a:p>
            <a:pPr marL="934719" lvl="1" indent="-465455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934719" algn="l"/>
                <a:tab pos="935355" algn="l"/>
              </a:tabLst>
            </a:pPr>
            <a:r>
              <a:rPr sz="2800" spc="-100" dirty="0">
                <a:latin typeface="Tahoma"/>
                <a:cs typeface="Tahoma"/>
              </a:rPr>
              <a:t>P</a:t>
            </a:r>
            <a:r>
              <a:rPr sz="2800" spc="-55" dirty="0">
                <a:latin typeface="Tahoma"/>
                <a:cs typeface="Tahoma"/>
              </a:rPr>
              <a:t>r</a:t>
            </a:r>
            <a:r>
              <a:rPr sz="2800" spc="165" dirty="0">
                <a:latin typeface="Tahoma"/>
                <a:cs typeface="Tahoma"/>
              </a:rPr>
              <a:t>o</a:t>
            </a:r>
            <a:r>
              <a:rPr sz="2800" spc="80" dirty="0">
                <a:latin typeface="Tahoma"/>
                <a:cs typeface="Tahoma"/>
              </a:rPr>
              <a:t>d</a:t>
            </a:r>
            <a:r>
              <a:rPr sz="2800" spc="-60" dirty="0">
                <a:latin typeface="Tahoma"/>
                <a:cs typeface="Tahoma"/>
              </a:rPr>
              <a:t>uc</a:t>
            </a:r>
            <a:r>
              <a:rPr sz="2800" spc="-35" dirty="0">
                <a:latin typeface="Tahoma"/>
                <a:cs typeface="Tahoma"/>
              </a:rPr>
              <a:t>t</a:t>
            </a:r>
            <a:r>
              <a:rPr sz="2800" spc="-100" dirty="0">
                <a:latin typeface="Tahoma"/>
                <a:cs typeface="Tahoma"/>
              </a:rPr>
              <a:t>-</a:t>
            </a:r>
            <a:r>
              <a:rPr sz="2800" spc="65" dirty="0">
                <a:latin typeface="Tahoma"/>
                <a:cs typeface="Tahoma"/>
              </a:rPr>
              <a:t>of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200" dirty="0">
                <a:latin typeface="Tahoma"/>
                <a:cs typeface="Tahoma"/>
              </a:rPr>
              <a:t>S</a:t>
            </a:r>
            <a:r>
              <a:rPr sz="2800" spc="-185" dirty="0">
                <a:latin typeface="Tahoma"/>
                <a:cs typeface="Tahoma"/>
              </a:rPr>
              <a:t>u</a:t>
            </a:r>
            <a:r>
              <a:rPr sz="2800" spc="30" dirty="0">
                <a:latin typeface="Tahoma"/>
                <a:cs typeface="Tahoma"/>
              </a:rPr>
              <a:t>m</a:t>
            </a:r>
            <a:r>
              <a:rPr sz="2800" spc="-295" dirty="0">
                <a:latin typeface="Tahoma"/>
                <a:cs typeface="Tahoma"/>
              </a:rPr>
              <a:t>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F</a:t>
            </a:r>
            <a:r>
              <a:rPr sz="2800" spc="165" dirty="0">
                <a:latin typeface="Tahoma"/>
                <a:cs typeface="Tahoma"/>
              </a:rPr>
              <a:t>o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spc="25" dirty="0">
                <a:latin typeface="Tahoma"/>
                <a:cs typeface="Tahoma"/>
              </a:rPr>
              <a:t>m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85" dirty="0">
                <a:latin typeface="Tahoma"/>
                <a:cs typeface="Tahoma"/>
              </a:rPr>
              <a:t>(</a:t>
            </a:r>
            <a:r>
              <a:rPr sz="2800" spc="-15" dirty="0">
                <a:latin typeface="Tahoma"/>
                <a:cs typeface="Tahoma"/>
              </a:rPr>
              <a:t>P</a:t>
            </a:r>
            <a:r>
              <a:rPr sz="2800" spc="365" dirty="0">
                <a:latin typeface="Tahoma"/>
                <a:cs typeface="Tahoma"/>
              </a:rPr>
              <a:t>O</a:t>
            </a:r>
            <a:r>
              <a:rPr sz="2800" spc="-229" dirty="0">
                <a:latin typeface="Tahoma"/>
                <a:cs typeface="Tahoma"/>
              </a:rPr>
              <a:t>S)</a:t>
            </a:r>
            <a:endParaRPr sz="2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20" dirty="0">
                <a:latin typeface="Tahoma"/>
                <a:cs typeface="Tahoma"/>
              </a:rPr>
              <a:t>Sum </a:t>
            </a:r>
            <a:r>
              <a:rPr sz="2800" spc="70" dirty="0">
                <a:latin typeface="Tahoma"/>
                <a:cs typeface="Tahoma"/>
              </a:rPr>
              <a:t>of </a:t>
            </a:r>
            <a:r>
              <a:rPr sz="2800" spc="-50" dirty="0">
                <a:latin typeface="Tahoma"/>
                <a:cs typeface="Tahoma"/>
              </a:rPr>
              <a:t>Products(SOP):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logical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sum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two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more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logical product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terms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referred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as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sum 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products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expression.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It is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basically an </a:t>
            </a:r>
            <a:r>
              <a:rPr sz="2800" spc="200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operation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on </a:t>
            </a:r>
            <a:r>
              <a:rPr sz="2800" spc="229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operated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variables.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example,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200"/>
              </a:spcBef>
            </a:pPr>
            <a:r>
              <a:rPr sz="2600" spc="5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75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4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006FC0"/>
                </a:solidFill>
                <a:latin typeface="Tahoma"/>
                <a:cs typeface="Tahoma"/>
              </a:rPr>
              <a:t>BC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4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30" dirty="0">
                <a:solidFill>
                  <a:srgbClr val="006FC0"/>
                </a:solidFill>
                <a:latin typeface="Tahoma"/>
                <a:cs typeface="Tahoma"/>
              </a:rPr>
              <a:t>AB’C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or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75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45" dirty="0">
                <a:solidFill>
                  <a:srgbClr val="006FC0"/>
                </a:solidFill>
                <a:latin typeface="Tahoma"/>
                <a:cs typeface="Tahoma"/>
              </a:rPr>
              <a:t>AB’C’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4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006FC0"/>
                </a:solidFill>
                <a:latin typeface="Tahoma"/>
                <a:cs typeface="Tahoma"/>
              </a:rPr>
              <a:t>A’BC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4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30" dirty="0">
                <a:solidFill>
                  <a:srgbClr val="006FC0"/>
                </a:solidFill>
                <a:latin typeface="Tahoma"/>
                <a:cs typeface="Tahoma"/>
              </a:rPr>
              <a:t>AB’C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316481"/>
            <a:ext cx="8376284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5" dirty="0">
                <a:latin typeface="Tahoma"/>
                <a:cs typeface="Tahoma"/>
              </a:rPr>
              <a:t>Product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70" dirty="0">
                <a:latin typeface="Tahoma"/>
                <a:cs typeface="Tahoma"/>
              </a:rPr>
              <a:t>of</a:t>
            </a:r>
            <a:r>
              <a:rPr sz="2800" spc="7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Sums(POS):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Similarly,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7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logical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product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two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more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logical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sum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terms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called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product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sums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expression.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It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29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operation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on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4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operated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variables.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360" y="3450158"/>
            <a:ext cx="2047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example,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7375" y="3450158"/>
            <a:ext cx="36791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Y=(A)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(B+C)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(A+B’+C)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800" spc="85" dirty="0">
                <a:latin typeface="Tahoma"/>
                <a:cs typeface="Tahoma"/>
              </a:rPr>
              <a:t>or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3540" y="4304157"/>
            <a:ext cx="837882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935" algn="ctr">
              <a:lnSpc>
                <a:spcPct val="100000"/>
              </a:lnSpc>
              <a:spcBef>
                <a:spcPts val="95"/>
              </a:spcBef>
            </a:pPr>
            <a:r>
              <a:rPr sz="2800" spc="175" dirty="0">
                <a:solidFill>
                  <a:srgbClr val="006FC0"/>
                </a:solidFill>
                <a:latin typeface="Tahoma"/>
                <a:cs typeface="Tahoma"/>
              </a:rPr>
              <a:t>Y=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(A+B’+C’)(A</a:t>
            </a:r>
            <a:r>
              <a:rPr sz="2800" b="1" spc="15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B+C)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(A+B’+C)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45" dirty="0">
                <a:latin typeface="Tahoma"/>
                <a:cs typeface="Tahoma"/>
              </a:rPr>
              <a:t>Minterm:</a:t>
            </a:r>
            <a:r>
              <a:rPr sz="2800" spc="310" dirty="0">
                <a:latin typeface="Tahoma"/>
                <a:cs typeface="Tahoma"/>
              </a:rPr>
              <a:t> </a:t>
            </a: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3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800" spc="3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variable</a:t>
            </a:r>
            <a:r>
              <a:rPr sz="2800" spc="3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may</a:t>
            </a:r>
            <a:r>
              <a:rPr sz="2800" spc="3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appear</a:t>
            </a:r>
            <a:r>
              <a:rPr sz="2800" spc="3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either</a:t>
            </a:r>
            <a:r>
              <a:rPr sz="2800" spc="3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its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normal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form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(x)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its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complement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form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(x’).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240282"/>
            <a:ext cx="8376284" cy="517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6884" marR="5715" indent="-464820" algn="just">
              <a:lnSpc>
                <a:spcPct val="100000"/>
              </a:lnSpc>
              <a:spcBef>
                <a:spcPts val="10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45" dirty="0">
                <a:solidFill>
                  <a:srgbClr val="006FC0"/>
                </a:solidFill>
                <a:latin typeface="Tahoma"/>
                <a:cs typeface="Tahoma"/>
              </a:rPr>
              <a:t>When </a:t>
            </a:r>
            <a:r>
              <a:rPr sz="2600" spc="110" dirty="0">
                <a:solidFill>
                  <a:srgbClr val="006FC0"/>
                </a:solidFill>
                <a:latin typeface="Tahoma"/>
                <a:cs typeface="Tahoma"/>
              </a:rPr>
              <a:t>two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variables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x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y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combined </a:t>
            </a:r>
            <a:r>
              <a:rPr sz="2600" spc="55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2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operation,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there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four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possible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combinations: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R="19685" algn="ctr">
              <a:lnSpc>
                <a:spcPct val="100000"/>
              </a:lnSpc>
              <a:spcBef>
                <a:spcPts val="5"/>
              </a:spcBef>
            </a:pPr>
            <a:r>
              <a:rPr sz="2600" spc="90" dirty="0">
                <a:solidFill>
                  <a:srgbClr val="006FC0"/>
                </a:solidFill>
                <a:latin typeface="Tahoma"/>
                <a:cs typeface="Tahoma"/>
              </a:rPr>
              <a:t>x’y’,</a:t>
            </a:r>
            <a:r>
              <a:rPr sz="26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x’y,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0" dirty="0">
                <a:solidFill>
                  <a:srgbClr val="006FC0"/>
                </a:solidFill>
                <a:latin typeface="Tahoma"/>
                <a:cs typeface="Tahoma"/>
              </a:rPr>
              <a:t>xy’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5" dirty="0">
                <a:solidFill>
                  <a:srgbClr val="006FC0"/>
                </a:solidFill>
                <a:latin typeface="Tahoma"/>
                <a:cs typeface="Tahoma"/>
              </a:rPr>
              <a:t>xy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Tahoma"/>
              <a:cs typeface="Tahoma"/>
            </a:endParaRPr>
          </a:p>
          <a:p>
            <a:pPr marL="66040" algn="ctr">
              <a:lnSpc>
                <a:spcPct val="100000"/>
              </a:lnSpc>
            </a:pP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Each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these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four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2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terms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is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called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65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‘minterm’.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30" dirty="0">
                <a:latin typeface="Tahoma"/>
                <a:cs typeface="Tahoma"/>
              </a:rPr>
              <a:t>Maxterm:</a:t>
            </a:r>
            <a:r>
              <a:rPr sz="2600" spc="35" dirty="0">
                <a:latin typeface="Tahoma"/>
                <a:cs typeface="Tahoma"/>
              </a:rPr>
              <a:t> 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similar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fashion,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when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006FC0"/>
                </a:solidFill>
                <a:latin typeface="Tahoma"/>
                <a:cs typeface="Tahoma"/>
              </a:rPr>
              <a:t>two</a:t>
            </a:r>
            <a:r>
              <a:rPr sz="2600" spc="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variables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x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y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combined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600" spc="195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operation,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there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four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possible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combinations: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Tahoma"/>
              <a:cs typeface="Tahoma"/>
            </a:endParaRPr>
          </a:p>
          <a:p>
            <a:pPr marR="1270" algn="ctr">
              <a:lnSpc>
                <a:spcPct val="100000"/>
              </a:lnSpc>
              <a:spcBef>
                <a:spcPts val="5"/>
              </a:spcBef>
            </a:pP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x+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y,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x+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006FC0"/>
                </a:solidFill>
                <a:latin typeface="Tahoma"/>
                <a:cs typeface="Tahoma"/>
              </a:rPr>
              <a:t>y’,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x’+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x’+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30" dirty="0">
                <a:solidFill>
                  <a:srgbClr val="006FC0"/>
                </a:solidFill>
                <a:latin typeface="Tahoma"/>
                <a:cs typeface="Tahoma"/>
              </a:rPr>
              <a:t>y’</a:t>
            </a:r>
            <a:endParaRPr sz="2600">
              <a:latin typeface="Tahoma"/>
              <a:cs typeface="Tahoma"/>
            </a:endParaRPr>
          </a:p>
          <a:p>
            <a:pPr marR="102870" algn="ctr">
              <a:lnSpc>
                <a:spcPct val="100000"/>
              </a:lnSpc>
            </a:pP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Each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these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four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0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terms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called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65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‘maxterm’.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34695" y="1219200"/>
            <a:ext cx="8914130" cy="5638800"/>
            <a:chOff x="234695" y="1219200"/>
            <a:chExt cx="8914130" cy="56388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695" y="1219200"/>
              <a:ext cx="8619744" cy="51816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45" dirty="0">
                <a:latin typeface="Trebuchet MS"/>
                <a:cs typeface="Trebuchet MS"/>
              </a:rPr>
              <a:t>CANONICAL</a:t>
            </a:r>
            <a:r>
              <a:rPr sz="3200" b="1" spc="-55" dirty="0">
                <a:latin typeface="Trebuchet MS"/>
                <a:cs typeface="Trebuchet MS"/>
              </a:rPr>
              <a:t> </a:t>
            </a:r>
            <a:r>
              <a:rPr sz="3200" b="1" spc="-155" dirty="0">
                <a:latin typeface="Trebuchet MS"/>
                <a:cs typeface="Trebuchet MS"/>
              </a:rPr>
              <a:t>AND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105" dirty="0">
                <a:latin typeface="Trebuchet MS"/>
                <a:cs typeface="Trebuchet MS"/>
              </a:rPr>
              <a:t>STANDARD</a:t>
            </a:r>
            <a:r>
              <a:rPr sz="3200" b="1" spc="-55" dirty="0">
                <a:latin typeface="Trebuchet MS"/>
                <a:cs typeface="Trebuchet MS"/>
              </a:rPr>
              <a:t> FORMS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3310" y="1224152"/>
            <a:ext cx="54400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DERIVING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SOP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75" dirty="0">
                <a:solidFill>
                  <a:srgbClr val="C00000"/>
                </a:solidFill>
                <a:latin typeface="Tahoma"/>
                <a:cs typeface="Tahoma"/>
              </a:rPr>
              <a:t>AND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POS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FROM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TRUTH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TABLE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9683" y="1591055"/>
            <a:ext cx="8629650" cy="5267325"/>
            <a:chOff x="519683" y="1591055"/>
            <a:chExt cx="8629650" cy="526732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683" y="1591055"/>
              <a:ext cx="8104632" cy="34381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3200" y="5181600"/>
              <a:ext cx="3525012" cy="2865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76999" y="5181600"/>
              <a:ext cx="629411" cy="228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7800" y="5867400"/>
              <a:ext cx="5772911" cy="3246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91400" y="5867400"/>
              <a:ext cx="609600" cy="2667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240281"/>
            <a:ext cx="837692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25" dirty="0">
                <a:latin typeface="Tahoma"/>
                <a:cs typeface="Tahoma"/>
              </a:rPr>
              <a:t>Canonical </a:t>
            </a:r>
            <a:r>
              <a:rPr sz="2800" spc="-125" dirty="0">
                <a:latin typeface="Tahoma"/>
                <a:cs typeface="Tahoma"/>
              </a:rPr>
              <a:t>Sum </a:t>
            </a:r>
            <a:r>
              <a:rPr sz="2800" spc="65" dirty="0">
                <a:latin typeface="Tahoma"/>
                <a:cs typeface="Tahoma"/>
              </a:rPr>
              <a:t>of </a:t>
            </a:r>
            <a:r>
              <a:rPr sz="2800" spc="-15" dirty="0">
                <a:latin typeface="Tahoma"/>
                <a:cs typeface="Tahoma"/>
              </a:rPr>
              <a:t>Product </a:t>
            </a:r>
            <a:r>
              <a:rPr sz="2800" spc="-55" dirty="0">
                <a:latin typeface="Tahoma"/>
                <a:cs typeface="Tahoma"/>
              </a:rPr>
              <a:t>Expression: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If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term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2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SOP</a:t>
            </a:r>
            <a:r>
              <a:rPr sz="2800" spc="229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form</a:t>
            </a:r>
            <a:r>
              <a:rPr sz="2800" spc="229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contains</a:t>
            </a:r>
            <a:r>
              <a:rPr sz="2800" spc="2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all</a:t>
            </a:r>
            <a:r>
              <a:rPr sz="2800" spc="2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2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literals</a:t>
            </a:r>
            <a:r>
              <a:rPr sz="2800" spc="2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then</a:t>
            </a:r>
            <a:r>
              <a:rPr sz="2800" spc="2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229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SOP </a:t>
            </a:r>
            <a:r>
              <a:rPr sz="2800" spc="-8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5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k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110" dirty="0">
                <a:solidFill>
                  <a:srgbClr val="006FC0"/>
                </a:solidFill>
                <a:latin typeface="Tahoma"/>
                <a:cs typeface="Tahoma"/>
              </a:rPr>
              <a:t>wn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3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(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)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ic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Example: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R="635" algn="ctr">
              <a:lnSpc>
                <a:spcPct val="100000"/>
              </a:lnSpc>
            </a:pP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(A,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B,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C)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AB’C+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ABC+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35" dirty="0">
                <a:solidFill>
                  <a:srgbClr val="006FC0"/>
                </a:solidFill>
                <a:latin typeface="Tahoma"/>
                <a:cs typeface="Tahoma"/>
              </a:rPr>
              <a:t>ABC’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same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expressed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compact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form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by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listing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corresponding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decimal-equivalent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codes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minterms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containing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function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value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Tahoma"/>
                <a:cs typeface="Tahoma"/>
              </a:rPr>
              <a:t>1.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240281"/>
            <a:ext cx="83769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752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example,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if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canonical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sum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product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form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360" y="2094102"/>
            <a:ext cx="7079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82750" algn="l"/>
                <a:tab pos="2777490" algn="l"/>
                <a:tab pos="3874770" algn="l"/>
                <a:tab pos="4687570" algn="l"/>
                <a:tab pos="5782945" algn="l"/>
                <a:tab pos="6537959" algn="l"/>
              </a:tabLst>
            </a:pP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nt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8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b="1" spc="-20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9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b="1" spc="-20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d	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b="1" spc="-5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th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2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8360" y="1666697"/>
            <a:ext cx="791400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622935" algn="l"/>
                <a:tab pos="1095375" algn="l"/>
                <a:tab pos="3525520" algn="l"/>
                <a:tab pos="4549775" algn="l"/>
                <a:tab pos="6125210" algn="l"/>
                <a:tab pos="6609080" algn="l"/>
                <a:tab pos="7399655" algn="l"/>
              </a:tabLst>
            </a:pPr>
            <a:r>
              <a:rPr sz="2800" spc="10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thre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55" dirty="0">
                <a:solidFill>
                  <a:srgbClr val="006FC0"/>
                </a:solidFill>
                <a:latin typeface="Tahoma"/>
                <a:cs typeface="Tahoma"/>
              </a:rPr>
              <a:t>-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ar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le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gic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funct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has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endParaRPr sz="2800">
              <a:latin typeface="Tahoma"/>
              <a:cs typeface="Tahoma"/>
            </a:endParaRPr>
          </a:p>
          <a:p>
            <a:pPr marR="7620" algn="r">
              <a:lnSpc>
                <a:spcPct val="100000"/>
              </a:lnSpc>
              <a:spcBef>
                <a:spcPts val="5"/>
              </a:spcBef>
            </a:pP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8360" y="2520823"/>
            <a:ext cx="7912734" cy="3865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95"/>
              </a:spcBef>
              <a:tabLst>
                <a:tab pos="1798955" algn="l"/>
                <a:tab pos="2400935" algn="l"/>
                <a:tab pos="3192145" algn="l"/>
                <a:tab pos="4114165" algn="l"/>
                <a:tab pos="4742180" algn="l"/>
                <a:tab pos="5531485" algn="l"/>
                <a:tab pos="7030084" algn="l"/>
              </a:tabLst>
            </a:pP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xp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240" dirty="0">
                <a:solidFill>
                  <a:srgbClr val="006FC0"/>
                </a:solidFill>
                <a:latin typeface="Tahoma"/>
                <a:cs typeface="Tahoma"/>
              </a:rPr>
              <a:t>es</a:t>
            </a:r>
            <a:r>
              <a:rPr sz="2800" spc="-204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04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8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9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ec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l	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10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es 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corresponding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these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minterms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below.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Tahoma"/>
              <a:cs typeface="Tahoma"/>
            </a:endParaRPr>
          </a:p>
          <a:p>
            <a:pPr marR="2660015" algn="ctr">
              <a:lnSpc>
                <a:spcPct val="100000"/>
              </a:lnSpc>
              <a:spcBef>
                <a:spcPts val="5"/>
              </a:spcBef>
            </a:pP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(A,B,C)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Σ</a:t>
            </a:r>
            <a:r>
              <a:rPr sz="2800" b="1" spc="1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(3,5,6)</a:t>
            </a:r>
            <a:endParaRPr sz="2800">
              <a:latin typeface="Tahoma"/>
              <a:cs typeface="Tahoma"/>
            </a:endParaRPr>
          </a:p>
          <a:p>
            <a:pPr marL="2291715">
              <a:lnSpc>
                <a:spcPct val="100000"/>
              </a:lnSpc>
              <a:spcBef>
                <a:spcPts val="60"/>
              </a:spcBef>
            </a:pP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m3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m5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m6</a:t>
            </a:r>
            <a:endParaRPr sz="2800">
              <a:latin typeface="Tahoma"/>
              <a:cs typeface="Tahoma"/>
            </a:endParaRPr>
          </a:p>
          <a:p>
            <a:pPr marL="2291715">
              <a:lnSpc>
                <a:spcPts val="3329"/>
              </a:lnSpc>
            </a:pP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b="1" spc="85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BC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AB</a:t>
            </a:r>
            <a:r>
              <a:rPr sz="2800" b="1" spc="85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ABC</a:t>
            </a:r>
            <a:r>
              <a:rPr sz="2800" b="1" spc="90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329"/>
              </a:lnSpc>
              <a:tabLst>
                <a:tab pos="1300480" algn="l"/>
                <a:tab pos="2850515" algn="l"/>
                <a:tab pos="4720590" algn="l"/>
                <a:tab pos="5528310" algn="l"/>
                <a:tab pos="7572375" algn="l"/>
              </a:tabLst>
            </a:pP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wh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re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b="1" spc="-25" dirty="0">
                <a:solidFill>
                  <a:srgbClr val="006FC0"/>
                </a:solidFill>
                <a:latin typeface="Calibri"/>
                <a:cs typeface="Calibri"/>
              </a:rPr>
              <a:t>Σ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(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3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5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6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)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rep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esent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sum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ma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55"/>
              </a:spcBef>
              <a:tabLst>
                <a:tab pos="1656714" algn="l"/>
                <a:tab pos="4077335" algn="l"/>
                <a:tab pos="4613910" algn="l"/>
                <a:tab pos="6013450" algn="l"/>
                <a:tab pos="7086600" algn="l"/>
                <a:tab pos="7595234" algn="l"/>
              </a:tabLst>
            </a:pP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nt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8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espo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di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ec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l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de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3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5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, 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6.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64082"/>
            <a:ext cx="837438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10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4584700" algn="l"/>
              </a:tabLst>
            </a:pPr>
            <a:r>
              <a:rPr sz="2600" spc="-75" dirty="0">
                <a:latin typeface="Tahoma"/>
                <a:cs typeface="Tahoma"/>
              </a:rPr>
              <a:t>Example-1:</a:t>
            </a:r>
            <a:r>
              <a:rPr sz="2600" spc="-5" dirty="0">
                <a:latin typeface="Tahoma"/>
                <a:cs typeface="Tahoma"/>
              </a:rPr>
              <a:t>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.Obtain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canonical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sum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product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form </a:t>
            </a:r>
            <a:r>
              <a:rPr sz="2600" spc="-7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following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function,	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(A,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B,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C)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75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40" dirty="0">
                <a:solidFill>
                  <a:srgbClr val="006FC0"/>
                </a:solidFill>
                <a:latin typeface="Tahoma"/>
                <a:cs typeface="Tahoma"/>
              </a:rPr>
              <a:t>+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006FC0"/>
                </a:solidFill>
                <a:latin typeface="Tahoma"/>
                <a:cs typeface="Tahoma"/>
              </a:rPr>
              <a:t>BC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55747" y="2749423"/>
            <a:ext cx="57035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function</a:t>
            </a:r>
            <a:r>
              <a:rPr sz="2600" spc="3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contains</a:t>
            </a:r>
            <a:r>
              <a:rPr sz="2600" spc="2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three</a:t>
            </a:r>
            <a:r>
              <a:rPr sz="2600" spc="3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2600" spc="3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A,</a:t>
            </a:r>
            <a:r>
              <a:rPr sz="2600" spc="2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B,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0739" y="2353182"/>
            <a:ext cx="1953260" cy="1214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ahoma"/>
                <a:cs typeface="Tahoma"/>
              </a:rPr>
              <a:t>Solution:</a:t>
            </a:r>
            <a:endParaRPr sz="2600">
              <a:latin typeface="Tahoma"/>
              <a:cs typeface="Tahoma"/>
            </a:endParaRPr>
          </a:p>
          <a:p>
            <a:pPr marL="477520" marR="5080" indent="-465455">
              <a:lnSpc>
                <a:spcPct val="100000"/>
              </a:lnSpc>
              <a:buClr>
                <a:srgbClr val="E36C09"/>
              </a:buClr>
              <a:buFont typeface="Wingdings"/>
              <a:buChar char=""/>
              <a:tabLst>
                <a:tab pos="477520" algn="l"/>
                <a:tab pos="478155" algn="l"/>
              </a:tabLst>
            </a:pP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2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given </a:t>
            </a:r>
            <a:r>
              <a:rPr sz="2600" spc="-7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C.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0739" y="3542157"/>
            <a:ext cx="7919720" cy="2404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7520" marR="6985" indent="-465455" algn="just">
              <a:lnSpc>
                <a:spcPct val="100000"/>
              </a:lnSpc>
              <a:spcBef>
                <a:spcPts val="105"/>
              </a:spcBef>
              <a:buClr>
                <a:srgbClr val="E36C09"/>
              </a:buClr>
              <a:buFont typeface="Wingdings"/>
              <a:buChar char=""/>
              <a:tabLst>
                <a:tab pos="478155" algn="l"/>
              </a:tabLst>
            </a:pP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 variables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B and </a:t>
            </a:r>
            <a:r>
              <a:rPr sz="2600" spc="145" dirty="0">
                <a:solidFill>
                  <a:srgbClr val="006FC0"/>
                </a:solidFill>
                <a:latin typeface="Tahoma"/>
                <a:cs typeface="Tahoma"/>
              </a:rPr>
              <a:t>C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missing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first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term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expression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variable </a:t>
            </a:r>
            <a:r>
              <a:rPr sz="2600" spc="175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missing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from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second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term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expression.</a:t>
            </a:r>
            <a:endParaRPr sz="2600">
              <a:latin typeface="Tahoma"/>
              <a:cs typeface="Tahoma"/>
            </a:endParaRPr>
          </a:p>
          <a:p>
            <a:pPr marL="477520" marR="5080" indent="-465455" algn="just">
              <a:lnSpc>
                <a:spcPct val="100000"/>
              </a:lnSpc>
              <a:buClr>
                <a:srgbClr val="E36C09"/>
              </a:buClr>
              <a:buFont typeface="Wingdings"/>
              <a:buChar char=""/>
              <a:tabLst>
                <a:tab pos="478155" algn="l"/>
              </a:tabLst>
            </a:pP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Therefore,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first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term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multiplied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by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(B+B</a:t>
            </a:r>
            <a:r>
              <a:rPr sz="2600" b="1" spc="-60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)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(C+C</a:t>
            </a:r>
            <a:r>
              <a:rPr sz="2600" b="1" spc="-20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).The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second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term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multiplied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by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(A+A</a:t>
            </a:r>
            <a:r>
              <a:rPr sz="2600" b="1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).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813038" y="6649770"/>
            <a:ext cx="2057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45" dirty="0">
                <a:latin typeface="Trebuchet MS"/>
                <a:cs typeface="Trebuchet MS"/>
              </a:rPr>
              <a:t>CANONICAL</a:t>
            </a:r>
            <a:r>
              <a:rPr sz="3200" b="1" spc="-55" dirty="0">
                <a:latin typeface="Trebuchet MS"/>
                <a:cs typeface="Trebuchet MS"/>
              </a:rPr>
              <a:t> </a:t>
            </a:r>
            <a:r>
              <a:rPr sz="3200" b="1" spc="-155" dirty="0">
                <a:latin typeface="Trebuchet MS"/>
                <a:cs typeface="Trebuchet MS"/>
              </a:rPr>
              <a:t>AND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105" dirty="0">
                <a:latin typeface="Trebuchet MS"/>
                <a:cs typeface="Trebuchet MS"/>
              </a:rPr>
              <a:t>STANDARD</a:t>
            </a:r>
            <a:r>
              <a:rPr sz="3200" b="1" spc="-55" dirty="0">
                <a:latin typeface="Trebuchet MS"/>
                <a:cs typeface="Trebuchet MS"/>
              </a:rPr>
              <a:t> FORMS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3400" y="1371600"/>
            <a:ext cx="8615680" cy="5486400"/>
            <a:chOff x="533400" y="1371600"/>
            <a:chExt cx="8615680" cy="54864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" y="1371600"/>
              <a:ext cx="8153400" cy="229209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09800" y="4267200"/>
              <a:ext cx="5984748" cy="20055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3540" y="4191380"/>
            <a:ext cx="1527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latin typeface="Trebuchet MS"/>
                <a:cs typeface="Trebuchet MS"/>
              </a:rPr>
              <a:t>Example-2: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395729"/>
            <a:ext cx="837692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752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0" dirty="0">
                <a:latin typeface="Tahoma"/>
                <a:cs typeface="Tahoma"/>
              </a:rPr>
              <a:t>Canonical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Product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70" dirty="0">
                <a:latin typeface="Tahoma"/>
                <a:cs typeface="Tahoma"/>
              </a:rPr>
              <a:t>of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20" dirty="0">
                <a:latin typeface="Tahoma"/>
                <a:cs typeface="Tahoma"/>
              </a:rPr>
              <a:t>Sum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Expression:</a:t>
            </a:r>
            <a:endParaRPr sz="2800">
              <a:latin typeface="Tahoma"/>
              <a:cs typeface="Tahoma"/>
            </a:endParaRPr>
          </a:p>
          <a:p>
            <a:pPr marL="476884" marR="5080" algn="just">
              <a:lnSpc>
                <a:spcPct val="100000"/>
              </a:lnSpc>
            </a:pP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When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Boolean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function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expressed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800" spc="4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logical product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maxterms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rows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truth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table,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which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value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function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0,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it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referred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800" spc="-1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canonical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product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sum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expression.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same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expressed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compact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form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by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listing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corresponding decimal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equivalent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codes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maxterms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containing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function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value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0.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316481"/>
            <a:ext cx="837755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example,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if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canonical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product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Tahoma"/>
                <a:cs typeface="Tahoma"/>
              </a:rPr>
              <a:t>sums 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form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three-variable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function F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has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maxterms </a:t>
            </a: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B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C, </a:t>
            </a: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b="1" spc="-60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+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C,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b="1" spc="5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+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B 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+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b="1" spc="30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,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this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expressed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product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decimal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2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rr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esp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nd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ng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x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2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w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95400" y="3657600"/>
            <a:ext cx="7853680" cy="3200400"/>
            <a:chOff x="1295400" y="3657600"/>
            <a:chExt cx="7853680" cy="3200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5400" y="3657600"/>
              <a:ext cx="6713220" cy="1104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48360" y="4974412"/>
            <a:ext cx="7912734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Where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∏(0,2,5)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represents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product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maxterms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corresponding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decimal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codes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0,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2,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5.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235202"/>
            <a:ext cx="8378190" cy="4934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635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80" dirty="0">
                <a:latin typeface="Tahoma"/>
                <a:cs typeface="Tahoma"/>
              </a:rPr>
              <a:t>Example-1: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Obtain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canonical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product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sum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form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following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function,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F(A,B,C)=(A+B</a:t>
            </a:r>
            <a:r>
              <a:rPr sz="2800" b="1" spc="15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)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(B+C)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(A+C</a:t>
            </a:r>
            <a:r>
              <a:rPr sz="2800" b="1" spc="5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>
              <a:lnSpc>
                <a:spcPct val="100000"/>
              </a:lnSpc>
            </a:pP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Solution:</a:t>
            </a:r>
            <a:endParaRPr sz="2800">
              <a:latin typeface="Tahoma"/>
              <a:cs typeface="Tahoma"/>
            </a:endParaRPr>
          </a:p>
          <a:p>
            <a:pPr marL="934719" marR="6985" lvl="1" indent="-465455" algn="just">
              <a:lnSpc>
                <a:spcPct val="100000"/>
              </a:lnSpc>
              <a:spcBef>
                <a:spcPts val="10"/>
              </a:spcBef>
              <a:buClr>
                <a:srgbClr val="E36C09"/>
              </a:buClr>
              <a:buFont typeface="Wingdings"/>
              <a:buChar char=""/>
              <a:tabLst>
                <a:tab pos="935355" algn="l"/>
              </a:tabLst>
            </a:pP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above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three-variable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expression, </a:t>
            </a:r>
            <a:r>
              <a:rPr sz="2600" spc="150" dirty="0">
                <a:solidFill>
                  <a:srgbClr val="006FC0"/>
                </a:solidFill>
                <a:latin typeface="Tahoma"/>
                <a:cs typeface="Tahoma"/>
              </a:rPr>
              <a:t>C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missing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first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term, </a:t>
            </a:r>
            <a:r>
              <a:rPr sz="2600" spc="175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missing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second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term,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missing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from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third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term.</a:t>
            </a:r>
            <a:endParaRPr sz="26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"/>
            </a:pPr>
            <a:endParaRPr sz="2550">
              <a:latin typeface="Tahoma"/>
              <a:cs typeface="Tahoma"/>
            </a:endParaRPr>
          </a:p>
          <a:p>
            <a:pPr marL="934719" marR="5080" lvl="1" indent="-465455" algn="just">
              <a:lnSpc>
                <a:spcPct val="100000"/>
              </a:lnSpc>
              <a:buClr>
                <a:srgbClr val="E36C09"/>
              </a:buClr>
              <a:buFont typeface="Wingdings"/>
              <a:buChar char=""/>
              <a:tabLst>
                <a:tab pos="935355" algn="l"/>
              </a:tabLst>
            </a:pP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Therefore,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0" dirty="0">
                <a:solidFill>
                  <a:srgbClr val="006FC0"/>
                </a:solidFill>
                <a:latin typeface="Tahoma"/>
                <a:cs typeface="Tahoma"/>
              </a:rPr>
              <a:t>CC</a:t>
            </a:r>
            <a:r>
              <a:rPr sz="2600" b="1" spc="100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600" b="1" spc="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added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first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term,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0" dirty="0">
                <a:solidFill>
                  <a:srgbClr val="006FC0"/>
                </a:solidFill>
                <a:latin typeface="Tahoma"/>
                <a:cs typeface="Tahoma"/>
              </a:rPr>
              <a:t>AA</a:t>
            </a:r>
            <a:r>
              <a:rPr sz="2600" b="1" spc="150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600" b="1" spc="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added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second,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BB</a:t>
            </a:r>
            <a:r>
              <a:rPr sz="2600" b="1" spc="-5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r>
              <a:rPr sz="2600" b="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added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third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term.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81000" y="1524000"/>
            <a:ext cx="8768080" cy="5334000"/>
            <a:chOff x="381000" y="1524000"/>
            <a:chExt cx="8768080" cy="53340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1524000"/>
              <a:ext cx="8467344" cy="3733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45" dirty="0">
                <a:latin typeface="Trebuchet MS"/>
                <a:cs typeface="Trebuchet MS"/>
              </a:rPr>
              <a:t>CANONICAL</a:t>
            </a:r>
            <a:r>
              <a:rPr sz="3200" b="1" spc="-55" dirty="0">
                <a:latin typeface="Trebuchet MS"/>
                <a:cs typeface="Trebuchet MS"/>
              </a:rPr>
              <a:t> </a:t>
            </a:r>
            <a:r>
              <a:rPr sz="3200" b="1" spc="-155" dirty="0">
                <a:latin typeface="Trebuchet MS"/>
                <a:cs typeface="Trebuchet MS"/>
              </a:rPr>
              <a:t>AND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105" dirty="0">
                <a:latin typeface="Trebuchet MS"/>
                <a:cs typeface="Trebuchet MS"/>
              </a:rPr>
              <a:t>STANDARD</a:t>
            </a:r>
            <a:r>
              <a:rPr sz="3200" b="1" spc="-55" dirty="0">
                <a:latin typeface="Trebuchet MS"/>
                <a:cs typeface="Trebuchet MS"/>
              </a:rPr>
              <a:t> FORMS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540" y="1468881"/>
            <a:ext cx="17703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latin typeface="Tahoma"/>
                <a:cs typeface="Tahoma"/>
              </a:rPr>
              <a:t>Example-2: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3400" y="2286000"/>
            <a:ext cx="8615680" cy="4572000"/>
            <a:chOff x="533400" y="2286000"/>
            <a:chExt cx="8615680" cy="4572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" y="2286000"/>
              <a:ext cx="8275320" cy="22768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05585" y="981827"/>
            <a:ext cx="7171055" cy="496189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R="525780" algn="ctr">
              <a:lnSpc>
                <a:spcPct val="100000"/>
              </a:lnSpc>
              <a:spcBef>
                <a:spcPts val="1610"/>
              </a:spcBef>
            </a:pPr>
            <a:r>
              <a:rPr sz="2800" spc="-100" dirty="0">
                <a:solidFill>
                  <a:srgbClr val="C00000"/>
                </a:solidFill>
                <a:latin typeface="Tahoma"/>
                <a:cs typeface="Tahoma"/>
              </a:rPr>
              <a:t>Exercises</a:t>
            </a:r>
            <a:endParaRPr sz="2800">
              <a:latin typeface="Tahoma"/>
              <a:cs typeface="Tahoma"/>
            </a:endParaRPr>
          </a:p>
          <a:p>
            <a:pPr marL="125730" marR="407670" algn="ctr">
              <a:lnSpc>
                <a:spcPct val="100000"/>
              </a:lnSpc>
              <a:spcBef>
                <a:spcPts val="1295"/>
              </a:spcBef>
            </a:pPr>
            <a:r>
              <a:rPr sz="2400" spc="55" dirty="0">
                <a:solidFill>
                  <a:srgbClr val="006FC0"/>
                </a:solidFill>
                <a:latin typeface="Tahoma"/>
                <a:cs typeface="Tahoma"/>
              </a:rPr>
              <a:t>Obtain</a:t>
            </a:r>
            <a:r>
              <a:rPr sz="24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Tahoma"/>
                <a:cs typeface="Tahoma"/>
              </a:rPr>
              <a:t>canonical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Tahoma"/>
                <a:cs typeface="Tahoma"/>
              </a:rPr>
              <a:t>Sum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Tahoma"/>
                <a:cs typeface="Tahoma"/>
              </a:rPr>
              <a:t>products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006FC0"/>
                </a:solidFill>
                <a:latin typeface="Tahoma"/>
                <a:cs typeface="Tahoma"/>
              </a:rPr>
              <a:t>form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400" spc="-7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following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function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50">
              <a:latin typeface="Tahoma"/>
              <a:cs typeface="Tahoma"/>
            </a:endParaRPr>
          </a:p>
          <a:p>
            <a:pPr marL="1337310" indent="-470534">
              <a:lnSpc>
                <a:spcPct val="100000"/>
              </a:lnSpc>
              <a:spcBef>
                <a:spcPts val="5"/>
              </a:spcBef>
              <a:buAutoNum type="romanLcParenBoth"/>
              <a:tabLst>
                <a:tab pos="1337945" algn="l"/>
              </a:tabLst>
            </a:pPr>
            <a:r>
              <a:rPr sz="2400" spc="45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5" dirty="0">
                <a:solidFill>
                  <a:srgbClr val="006FC0"/>
                </a:solidFill>
                <a:latin typeface="Tahoma"/>
                <a:cs typeface="Tahoma"/>
              </a:rPr>
              <a:t>(A,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Tahoma"/>
                <a:cs typeface="Tahoma"/>
              </a:rPr>
              <a:t>B,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45" dirty="0">
                <a:solidFill>
                  <a:srgbClr val="006FC0"/>
                </a:solidFill>
                <a:latin typeface="Tahoma"/>
                <a:cs typeface="Tahoma"/>
              </a:rPr>
              <a:t>C,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006FC0"/>
                </a:solidFill>
                <a:latin typeface="Tahoma"/>
                <a:cs typeface="Tahoma"/>
              </a:rPr>
              <a:t>D)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5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AB+</a:t>
            </a:r>
            <a:r>
              <a:rPr sz="24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40" dirty="0">
                <a:solidFill>
                  <a:srgbClr val="006FC0"/>
                </a:solidFill>
                <a:latin typeface="Tahoma"/>
                <a:cs typeface="Tahoma"/>
              </a:rPr>
              <a:t>ACD</a:t>
            </a:r>
            <a:endParaRPr sz="2400">
              <a:latin typeface="Tahoma"/>
              <a:cs typeface="Tahoma"/>
            </a:endParaRPr>
          </a:p>
          <a:p>
            <a:pPr marL="1413510" indent="-546735">
              <a:lnSpc>
                <a:spcPct val="100000"/>
              </a:lnSpc>
              <a:buAutoNum type="romanLcParenBoth"/>
              <a:tabLst>
                <a:tab pos="1414145" algn="l"/>
              </a:tabLst>
            </a:pPr>
            <a:r>
              <a:rPr sz="2400" spc="45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5" dirty="0">
                <a:solidFill>
                  <a:srgbClr val="006FC0"/>
                </a:solidFill>
                <a:latin typeface="Tahoma"/>
                <a:cs typeface="Tahoma"/>
              </a:rPr>
              <a:t>(A,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Tahoma"/>
                <a:cs typeface="Tahoma"/>
              </a:rPr>
              <a:t>B,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30" dirty="0">
                <a:solidFill>
                  <a:srgbClr val="006FC0"/>
                </a:solidFill>
                <a:latin typeface="Tahoma"/>
                <a:cs typeface="Tahoma"/>
              </a:rPr>
              <a:t>C)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5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5" dirty="0">
                <a:solidFill>
                  <a:srgbClr val="006FC0"/>
                </a:solidFill>
                <a:latin typeface="Tahoma"/>
                <a:cs typeface="Tahoma"/>
              </a:rPr>
              <a:t>A+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0" dirty="0">
                <a:solidFill>
                  <a:srgbClr val="006FC0"/>
                </a:solidFill>
                <a:latin typeface="Tahoma"/>
                <a:cs typeface="Tahoma"/>
              </a:rPr>
              <a:t>ABC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1111250" algn="l"/>
                <a:tab pos="1699260" algn="l"/>
                <a:tab pos="3115310" algn="l"/>
                <a:tab pos="4321175" algn="l"/>
                <a:tab pos="4769485" algn="l"/>
                <a:tab pos="5473700" algn="l"/>
                <a:tab pos="6290310" algn="l"/>
                <a:tab pos="6739890" algn="l"/>
              </a:tabLst>
            </a:pPr>
            <a:r>
              <a:rPr sz="2400" spc="18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400" spc="145" dirty="0">
                <a:solidFill>
                  <a:srgbClr val="C00000"/>
                </a:solidFill>
                <a:latin typeface="Tahoma"/>
                <a:cs typeface="Tahoma"/>
              </a:rPr>
              <a:t>b</a:t>
            </a:r>
            <a:r>
              <a:rPr sz="2400" spc="-10" dirty="0">
                <a:solidFill>
                  <a:srgbClr val="C00000"/>
                </a:solidFill>
                <a:latin typeface="Tahoma"/>
                <a:cs typeface="Tahoma"/>
              </a:rPr>
              <a:t>tai</a:t>
            </a:r>
            <a:r>
              <a:rPr sz="2400" spc="-5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4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400" spc="-40" dirty="0">
                <a:solidFill>
                  <a:srgbClr val="C00000"/>
                </a:solidFill>
                <a:latin typeface="Tahoma"/>
                <a:cs typeface="Tahoma"/>
              </a:rPr>
              <a:t>th</a:t>
            </a:r>
            <a:r>
              <a:rPr sz="2400" spc="-4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4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400" spc="10" dirty="0">
                <a:solidFill>
                  <a:srgbClr val="C00000"/>
                </a:solidFill>
                <a:latin typeface="Tahoma"/>
                <a:cs typeface="Tahoma"/>
              </a:rPr>
              <a:t>canon</a:t>
            </a:r>
            <a:r>
              <a:rPr sz="2400" spc="-10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400" spc="-30" dirty="0">
                <a:solidFill>
                  <a:srgbClr val="C00000"/>
                </a:solidFill>
                <a:latin typeface="Tahoma"/>
                <a:cs typeface="Tahoma"/>
              </a:rPr>
              <a:t>cal</a:t>
            </a:r>
            <a:r>
              <a:rPr sz="24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400" spc="35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400" spc="-3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400" spc="50" dirty="0">
                <a:solidFill>
                  <a:srgbClr val="C00000"/>
                </a:solidFill>
                <a:latin typeface="Tahoma"/>
                <a:cs typeface="Tahoma"/>
              </a:rPr>
              <a:t>od</a:t>
            </a:r>
            <a:r>
              <a:rPr sz="2400" spc="40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400" spc="-50" dirty="0">
                <a:solidFill>
                  <a:srgbClr val="C00000"/>
                </a:solidFill>
                <a:latin typeface="Tahoma"/>
                <a:cs typeface="Tahoma"/>
              </a:rPr>
              <a:t>ct</a:t>
            </a:r>
            <a:r>
              <a:rPr sz="24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400" spc="6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400" spc="40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4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400" spc="-125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400" spc="-145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400" spc="2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4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400" spc="35" dirty="0">
                <a:solidFill>
                  <a:srgbClr val="C00000"/>
                </a:solidFill>
                <a:latin typeface="Tahoma"/>
                <a:cs typeface="Tahoma"/>
              </a:rPr>
              <a:t>fo</a:t>
            </a:r>
            <a:r>
              <a:rPr sz="2400" spc="1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400" spc="2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4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400" spc="6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400" spc="40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4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400" spc="-40" dirty="0">
                <a:solidFill>
                  <a:srgbClr val="C00000"/>
                </a:solidFill>
                <a:latin typeface="Tahoma"/>
                <a:cs typeface="Tahoma"/>
              </a:rPr>
              <a:t>the  </a:t>
            </a:r>
            <a:r>
              <a:rPr sz="2400" spc="60" dirty="0">
                <a:solidFill>
                  <a:srgbClr val="C00000"/>
                </a:solidFill>
                <a:latin typeface="Tahoma"/>
                <a:cs typeface="Tahoma"/>
              </a:rPr>
              <a:t>following</a:t>
            </a:r>
            <a:r>
              <a:rPr sz="24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C00000"/>
                </a:solidFill>
                <a:latin typeface="Tahoma"/>
                <a:cs typeface="Tahoma"/>
              </a:rPr>
              <a:t>function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5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(i).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Tahoma"/>
                <a:cs typeface="Tahoma"/>
              </a:rPr>
              <a:t>Y=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A.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(B+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C+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45" dirty="0">
                <a:solidFill>
                  <a:srgbClr val="006FC0"/>
                </a:solidFill>
                <a:latin typeface="Tahoma"/>
                <a:cs typeface="Tahoma"/>
              </a:rPr>
              <a:t>A)</a:t>
            </a:r>
            <a:endParaRPr sz="24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sz="2400" spc="-15" dirty="0">
                <a:solidFill>
                  <a:srgbClr val="006FC0"/>
                </a:solidFill>
                <a:latin typeface="Tahoma"/>
                <a:cs typeface="Tahoma"/>
              </a:rPr>
              <a:t>(ii).</a:t>
            </a:r>
            <a:r>
              <a:rPr sz="24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50" dirty="0">
                <a:solidFill>
                  <a:srgbClr val="006FC0"/>
                </a:solidFill>
                <a:latin typeface="Tahoma"/>
                <a:cs typeface="Tahoma"/>
              </a:rPr>
              <a:t>Y=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(A+B’)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006FC0"/>
                </a:solidFill>
                <a:latin typeface="Tahoma"/>
                <a:cs typeface="Tahoma"/>
              </a:rPr>
              <a:t>(B+C)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35" dirty="0">
                <a:solidFill>
                  <a:srgbClr val="006FC0"/>
                </a:solidFill>
                <a:latin typeface="Tahoma"/>
                <a:cs typeface="Tahoma"/>
              </a:rPr>
              <a:t>(A+C’)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CANONICAL</a:t>
            </a:r>
            <a:r>
              <a:rPr spc="-55" dirty="0"/>
              <a:t> </a:t>
            </a:r>
            <a:r>
              <a:rPr spc="-155" dirty="0"/>
              <a:t>AND</a:t>
            </a:r>
            <a:r>
              <a:rPr spc="-45" dirty="0"/>
              <a:t> </a:t>
            </a:r>
            <a:r>
              <a:rPr spc="-105" dirty="0"/>
              <a:t>STANDARD</a:t>
            </a:r>
            <a:r>
              <a:rPr spc="-55" dirty="0"/>
              <a:t> FORMS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50082"/>
            <a:ext cx="8377555" cy="532066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R="88900" algn="ctr">
              <a:lnSpc>
                <a:spcPct val="100000"/>
              </a:lnSpc>
              <a:spcBef>
                <a:spcPts val="875"/>
              </a:spcBef>
              <a:tabLst>
                <a:tab pos="4318635" algn="l"/>
              </a:tabLst>
            </a:pP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CONVERTING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CANONICAL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SOP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TO	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CANONICAL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POS</a:t>
            </a:r>
            <a:endParaRPr sz="200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spcBef>
                <a:spcPts val="107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convert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canonical SOP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canonical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POS,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following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steps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taken:</a:t>
            </a:r>
            <a:endParaRPr sz="2800">
              <a:latin typeface="Tahoma"/>
              <a:cs typeface="Tahoma"/>
            </a:endParaRPr>
          </a:p>
          <a:p>
            <a:pPr marL="476884" marR="6985" algn="just">
              <a:lnSpc>
                <a:spcPct val="100000"/>
              </a:lnSpc>
              <a:spcBef>
                <a:spcPts val="5"/>
              </a:spcBef>
            </a:pPr>
            <a:r>
              <a:rPr sz="2800" spc="-95" dirty="0">
                <a:latin typeface="Tahoma"/>
                <a:cs typeface="Tahoma"/>
              </a:rPr>
              <a:t>Step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229" dirty="0">
                <a:latin typeface="Tahoma"/>
                <a:cs typeface="Tahoma"/>
              </a:rPr>
              <a:t>1.</a:t>
            </a:r>
            <a:r>
              <a:rPr sz="2800" spc="-225" dirty="0"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Evaluate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each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product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term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SOP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expression.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is,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determine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numbers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represent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product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terms.</a:t>
            </a:r>
            <a:endParaRPr sz="2800">
              <a:latin typeface="Tahoma"/>
              <a:cs typeface="Tahoma"/>
            </a:endParaRPr>
          </a:p>
          <a:p>
            <a:pPr marL="476884" marR="6985" algn="just">
              <a:lnSpc>
                <a:spcPct val="100000"/>
              </a:lnSpc>
              <a:spcBef>
                <a:spcPts val="1920"/>
              </a:spcBef>
            </a:pPr>
            <a:r>
              <a:rPr sz="2800" spc="-95" dirty="0">
                <a:latin typeface="Tahoma"/>
                <a:cs typeface="Tahoma"/>
              </a:rPr>
              <a:t>Step </a:t>
            </a:r>
            <a:r>
              <a:rPr sz="2800" spc="10" dirty="0">
                <a:latin typeface="Tahoma"/>
                <a:cs typeface="Tahoma"/>
              </a:rPr>
              <a:t>2.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Determine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numbers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not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included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evaluation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Step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Tahoma"/>
                <a:cs typeface="Tahoma"/>
              </a:rPr>
              <a:t>1.</a:t>
            </a:r>
            <a:endParaRPr sz="2800">
              <a:latin typeface="Tahoma"/>
              <a:cs typeface="Tahoma"/>
            </a:endParaRPr>
          </a:p>
          <a:p>
            <a:pPr marL="476884" marR="5080" algn="just">
              <a:lnSpc>
                <a:spcPct val="100000"/>
              </a:lnSpc>
              <a:spcBef>
                <a:spcPts val="1920"/>
              </a:spcBef>
            </a:pPr>
            <a:r>
              <a:rPr sz="2800" spc="-95" dirty="0">
                <a:latin typeface="Tahoma"/>
                <a:cs typeface="Tahoma"/>
              </a:rPr>
              <a:t>Step </a:t>
            </a:r>
            <a:r>
              <a:rPr sz="2800" spc="5" dirty="0">
                <a:latin typeface="Tahoma"/>
                <a:cs typeface="Tahoma"/>
              </a:rPr>
              <a:t>3.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Write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equivalent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sum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term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Step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2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express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POS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form.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619" y="202679"/>
              <a:ext cx="68366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24686" y="321386"/>
            <a:ext cx="6290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45" dirty="0">
                <a:latin typeface="Trebuchet MS"/>
                <a:cs typeface="Trebuchet MS"/>
              </a:rPr>
              <a:t>CANONICAL</a:t>
            </a:r>
            <a:r>
              <a:rPr sz="3200" b="1" spc="-55" dirty="0">
                <a:latin typeface="Trebuchet MS"/>
                <a:cs typeface="Trebuchet MS"/>
              </a:rPr>
              <a:t> </a:t>
            </a:r>
            <a:r>
              <a:rPr sz="3200" b="1" spc="-155" dirty="0">
                <a:latin typeface="Trebuchet MS"/>
                <a:cs typeface="Trebuchet MS"/>
              </a:rPr>
              <a:t>AND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105" dirty="0">
                <a:latin typeface="Trebuchet MS"/>
                <a:cs typeface="Trebuchet MS"/>
              </a:rPr>
              <a:t>STANDARD</a:t>
            </a:r>
            <a:r>
              <a:rPr sz="3200" b="1" spc="-55" dirty="0">
                <a:latin typeface="Trebuchet MS"/>
                <a:cs typeface="Trebuchet MS"/>
              </a:rPr>
              <a:t> FORMS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800" y="1676400"/>
            <a:ext cx="8844280" cy="5181600"/>
            <a:chOff x="304800" y="1676400"/>
            <a:chExt cx="8844280" cy="51816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800" y="1676400"/>
              <a:ext cx="8417052" cy="24871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9788" y="4113276"/>
              <a:ext cx="8173211" cy="22113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344549" y="1147952"/>
            <a:ext cx="63588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31335" algn="l"/>
              </a:tabLst>
            </a:pP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CONVERTING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CANONICAL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SOP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TO	</a:t>
            </a:r>
            <a:r>
              <a:rPr sz="2000" spc="110" dirty="0">
                <a:solidFill>
                  <a:srgbClr val="C00000"/>
                </a:solidFill>
                <a:latin typeface="Tahoma"/>
                <a:cs typeface="Tahoma"/>
              </a:rPr>
              <a:t>CANONICAL</a:t>
            </a:r>
            <a:r>
              <a:rPr sz="2000" spc="-1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POS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9436" y="905636"/>
            <a:ext cx="7700009" cy="95250"/>
            <a:chOff x="829436" y="905636"/>
            <a:chExt cx="7700009" cy="95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961" y="915170"/>
              <a:ext cx="7680959" cy="7618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8961" y="915161"/>
              <a:ext cx="7680959" cy="76200"/>
            </a:xfrm>
            <a:custGeom>
              <a:avLst/>
              <a:gdLst/>
              <a:ahLst/>
              <a:cxnLst/>
              <a:rect l="l" t="t" r="r" b="b"/>
              <a:pathLst>
                <a:path w="7680959" h="76200">
                  <a:moveTo>
                    <a:pt x="0" y="38100"/>
                  </a:moveTo>
                  <a:lnTo>
                    <a:pt x="42730" y="32388"/>
                  </a:lnTo>
                  <a:lnTo>
                    <a:pt x="86304" y="30018"/>
                  </a:lnTo>
                  <a:lnTo>
                    <a:pt x="144332" y="27703"/>
                  </a:lnTo>
                  <a:lnTo>
                    <a:pt x="190807" y="26191"/>
                  </a:lnTo>
                  <a:lnTo>
                    <a:pt x="243346" y="24707"/>
                  </a:lnTo>
                  <a:lnTo>
                    <a:pt x="301805" y="23252"/>
                  </a:lnTo>
                  <a:lnTo>
                    <a:pt x="366039" y="21828"/>
                  </a:lnTo>
                  <a:lnTo>
                    <a:pt x="435905" y="20435"/>
                  </a:lnTo>
                  <a:lnTo>
                    <a:pt x="511258" y="19075"/>
                  </a:lnTo>
                  <a:lnTo>
                    <a:pt x="550947" y="18408"/>
                  </a:lnTo>
                  <a:lnTo>
                    <a:pt x="591954" y="17750"/>
                  </a:lnTo>
                  <a:lnTo>
                    <a:pt x="634261" y="17101"/>
                  </a:lnTo>
                  <a:lnTo>
                    <a:pt x="677850" y="16461"/>
                  </a:lnTo>
                  <a:lnTo>
                    <a:pt x="722702" y="15830"/>
                  </a:lnTo>
                  <a:lnTo>
                    <a:pt x="768800" y="15209"/>
                  </a:lnTo>
                  <a:lnTo>
                    <a:pt x="816126" y="14598"/>
                  </a:lnTo>
                  <a:lnTo>
                    <a:pt x="864661" y="13997"/>
                  </a:lnTo>
                  <a:lnTo>
                    <a:pt x="914389" y="13405"/>
                  </a:lnTo>
                  <a:lnTo>
                    <a:pt x="965290" y="12824"/>
                  </a:lnTo>
                  <a:lnTo>
                    <a:pt x="1017346" y="12253"/>
                  </a:lnTo>
                  <a:lnTo>
                    <a:pt x="1070540" y="11693"/>
                  </a:lnTo>
                  <a:lnTo>
                    <a:pt x="1124854" y="11144"/>
                  </a:lnTo>
                  <a:lnTo>
                    <a:pt x="1180270" y="10605"/>
                  </a:lnTo>
                  <a:lnTo>
                    <a:pt x="1236769" y="10078"/>
                  </a:lnTo>
                  <a:lnTo>
                    <a:pt x="1294334" y="9562"/>
                  </a:lnTo>
                  <a:lnTo>
                    <a:pt x="1352946" y="9058"/>
                  </a:lnTo>
                  <a:lnTo>
                    <a:pt x="1412588" y="8565"/>
                  </a:lnTo>
                  <a:lnTo>
                    <a:pt x="1473242" y="8084"/>
                  </a:lnTo>
                  <a:lnTo>
                    <a:pt x="1534889" y="7615"/>
                  </a:lnTo>
                  <a:lnTo>
                    <a:pt x="1597512" y="7158"/>
                  </a:lnTo>
                  <a:lnTo>
                    <a:pt x="1661092" y="6713"/>
                  </a:lnTo>
                  <a:lnTo>
                    <a:pt x="1725612" y="6281"/>
                  </a:lnTo>
                  <a:lnTo>
                    <a:pt x="1791053" y="5862"/>
                  </a:lnTo>
                  <a:lnTo>
                    <a:pt x="1857398" y="5456"/>
                  </a:lnTo>
                  <a:lnTo>
                    <a:pt x="1924628" y="5063"/>
                  </a:lnTo>
                  <a:lnTo>
                    <a:pt x="1992726" y="4683"/>
                  </a:lnTo>
                  <a:lnTo>
                    <a:pt x="2061673" y="4316"/>
                  </a:lnTo>
                  <a:lnTo>
                    <a:pt x="2131452" y="3963"/>
                  </a:lnTo>
                  <a:lnTo>
                    <a:pt x="2202044" y="3624"/>
                  </a:lnTo>
                  <a:lnTo>
                    <a:pt x="2273431" y="3299"/>
                  </a:lnTo>
                  <a:lnTo>
                    <a:pt x="2345596" y="2988"/>
                  </a:lnTo>
                  <a:lnTo>
                    <a:pt x="2418521" y="2691"/>
                  </a:lnTo>
                  <a:lnTo>
                    <a:pt x="2492186" y="2409"/>
                  </a:lnTo>
                  <a:lnTo>
                    <a:pt x="2566575" y="2141"/>
                  </a:lnTo>
                  <a:lnTo>
                    <a:pt x="2641670" y="1889"/>
                  </a:lnTo>
                  <a:lnTo>
                    <a:pt x="2717451" y="1651"/>
                  </a:lnTo>
                  <a:lnTo>
                    <a:pt x="2793902" y="1428"/>
                  </a:lnTo>
                  <a:lnTo>
                    <a:pt x="2871005" y="1221"/>
                  </a:lnTo>
                  <a:lnTo>
                    <a:pt x="2948741" y="1030"/>
                  </a:lnTo>
                  <a:lnTo>
                    <a:pt x="3027092" y="854"/>
                  </a:lnTo>
                  <a:lnTo>
                    <a:pt x="3106040" y="694"/>
                  </a:lnTo>
                  <a:lnTo>
                    <a:pt x="3185567" y="550"/>
                  </a:lnTo>
                  <a:lnTo>
                    <a:pt x="3265656" y="422"/>
                  </a:lnTo>
                  <a:lnTo>
                    <a:pt x="3346288" y="311"/>
                  </a:lnTo>
                  <a:lnTo>
                    <a:pt x="3427445" y="217"/>
                  </a:lnTo>
                  <a:lnTo>
                    <a:pt x="3509110" y="139"/>
                  </a:lnTo>
                  <a:lnTo>
                    <a:pt x="3591263" y="78"/>
                  </a:lnTo>
                  <a:lnTo>
                    <a:pt x="3673888" y="35"/>
                  </a:lnTo>
                  <a:lnTo>
                    <a:pt x="3756966" y="8"/>
                  </a:lnTo>
                  <a:lnTo>
                    <a:pt x="3840479" y="0"/>
                  </a:lnTo>
                  <a:lnTo>
                    <a:pt x="3923993" y="8"/>
                  </a:lnTo>
                  <a:lnTo>
                    <a:pt x="4007071" y="35"/>
                  </a:lnTo>
                  <a:lnTo>
                    <a:pt x="4089696" y="78"/>
                  </a:lnTo>
                  <a:lnTo>
                    <a:pt x="4171849" y="139"/>
                  </a:lnTo>
                  <a:lnTo>
                    <a:pt x="4253514" y="217"/>
                  </a:lnTo>
                  <a:lnTo>
                    <a:pt x="4334671" y="311"/>
                  </a:lnTo>
                  <a:lnTo>
                    <a:pt x="4415303" y="422"/>
                  </a:lnTo>
                  <a:lnTo>
                    <a:pt x="4495392" y="550"/>
                  </a:lnTo>
                  <a:lnTo>
                    <a:pt x="4574919" y="694"/>
                  </a:lnTo>
                  <a:lnTo>
                    <a:pt x="4653867" y="854"/>
                  </a:lnTo>
                  <a:lnTo>
                    <a:pt x="4732218" y="1030"/>
                  </a:lnTo>
                  <a:lnTo>
                    <a:pt x="4809954" y="1221"/>
                  </a:lnTo>
                  <a:lnTo>
                    <a:pt x="4887057" y="1428"/>
                  </a:lnTo>
                  <a:lnTo>
                    <a:pt x="4963508" y="1651"/>
                  </a:lnTo>
                  <a:lnTo>
                    <a:pt x="5039289" y="1889"/>
                  </a:lnTo>
                  <a:lnTo>
                    <a:pt x="5114384" y="2141"/>
                  </a:lnTo>
                  <a:lnTo>
                    <a:pt x="5188773" y="2409"/>
                  </a:lnTo>
                  <a:lnTo>
                    <a:pt x="5262438" y="2691"/>
                  </a:lnTo>
                  <a:lnTo>
                    <a:pt x="5335363" y="2988"/>
                  </a:lnTo>
                  <a:lnTo>
                    <a:pt x="5407528" y="3299"/>
                  </a:lnTo>
                  <a:lnTo>
                    <a:pt x="5478915" y="3624"/>
                  </a:lnTo>
                  <a:lnTo>
                    <a:pt x="5549507" y="3963"/>
                  </a:lnTo>
                  <a:lnTo>
                    <a:pt x="5619286" y="4316"/>
                  </a:lnTo>
                  <a:lnTo>
                    <a:pt x="5688233" y="4683"/>
                  </a:lnTo>
                  <a:lnTo>
                    <a:pt x="5756331" y="5063"/>
                  </a:lnTo>
                  <a:lnTo>
                    <a:pt x="5823561" y="5456"/>
                  </a:lnTo>
                  <a:lnTo>
                    <a:pt x="5889906" y="5862"/>
                  </a:lnTo>
                  <a:lnTo>
                    <a:pt x="5955347" y="6281"/>
                  </a:lnTo>
                  <a:lnTo>
                    <a:pt x="6019867" y="6713"/>
                  </a:lnTo>
                  <a:lnTo>
                    <a:pt x="6083447" y="7158"/>
                  </a:lnTo>
                  <a:lnTo>
                    <a:pt x="6146070" y="7615"/>
                  </a:lnTo>
                  <a:lnTo>
                    <a:pt x="6207717" y="8084"/>
                  </a:lnTo>
                  <a:lnTo>
                    <a:pt x="6268371" y="8565"/>
                  </a:lnTo>
                  <a:lnTo>
                    <a:pt x="6328013" y="9058"/>
                  </a:lnTo>
                  <a:lnTo>
                    <a:pt x="6386625" y="9562"/>
                  </a:lnTo>
                  <a:lnTo>
                    <a:pt x="6444190" y="10078"/>
                  </a:lnTo>
                  <a:lnTo>
                    <a:pt x="6500689" y="10605"/>
                  </a:lnTo>
                  <a:lnTo>
                    <a:pt x="6556105" y="11144"/>
                  </a:lnTo>
                  <a:lnTo>
                    <a:pt x="6610419" y="11693"/>
                  </a:lnTo>
                  <a:lnTo>
                    <a:pt x="6663613" y="12253"/>
                  </a:lnTo>
                  <a:lnTo>
                    <a:pt x="6715669" y="12824"/>
                  </a:lnTo>
                  <a:lnTo>
                    <a:pt x="6766570" y="13405"/>
                  </a:lnTo>
                  <a:lnTo>
                    <a:pt x="6816298" y="13997"/>
                  </a:lnTo>
                  <a:lnTo>
                    <a:pt x="6864833" y="14598"/>
                  </a:lnTo>
                  <a:lnTo>
                    <a:pt x="6912159" y="15209"/>
                  </a:lnTo>
                  <a:lnTo>
                    <a:pt x="6958257" y="15830"/>
                  </a:lnTo>
                  <a:lnTo>
                    <a:pt x="7003109" y="16461"/>
                  </a:lnTo>
                  <a:lnTo>
                    <a:pt x="7046698" y="17101"/>
                  </a:lnTo>
                  <a:lnTo>
                    <a:pt x="7089005" y="17750"/>
                  </a:lnTo>
                  <a:lnTo>
                    <a:pt x="7130012" y="18408"/>
                  </a:lnTo>
                  <a:lnTo>
                    <a:pt x="7169701" y="19075"/>
                  </a:lnTo>
                  <a:lnTo>
                    <a:pt x="7208054" y="19751"/>
                  </a:lnTo>
                  <a:lnTo>
                    <a:pt x="7280682" y="21127"/>
                  </a:lnTo>
                  <a:lnTo>
                    <a:pt x="7347750" y="22536"/>
                  </a:lnTo>
                  <a:lnTo>
                    <a:pt x="7409114" y="23976"/>
                  </a:lnTo>
                  <a:lnTo>
                    <a:pt x="7464631" y="25446"/>
                  </a:lnTo>
                  <a:lnTo>
                    <a:pt x="7514156" y="26944"/>
                  </a:lnTo>
                  <a:lnTo>
                    <a:pt x="7557545" y="28468"/>
                  </a:lnTo>
                  <a:lnTo>
                    <a:pt x="7610810" y="30802"/>
                  </a:lnTo>
                  <a:lnTo>
                    <a:pt x="7649458" y="33189"/>
                  </a:lnTo>
                  <a:lnTo>
                    <a:pt x="7680959" y="38100"/>
                  </a:lnTo>
                  <a:lnTo>
                    <a:pt x="7680069" y="38930"/>
                  </a:lnTo>
                  <a:lnTo>
                    <a:pt x="7638229" y="43811"/>
                  </a:lnTo>
                  <a:lnTo>
                    <a:pt x="7594655" y="46181"/>
                  </a:lnTo>
                  <a:lnTo>
                    <a:pt x="7536627" y="48496"/>
                  </a:lnTo>
                  <a:lnTo>
                    <a:pt x="7490152" y="50008"/>
                  </a:lnTo>
                  <a:lnTo>
                    <a:pt x="7437613" y="51492"/>
                  </a:lnTo>
                  <a:lnTo>
                    <a:pt x="7379154" y="52947"/>
                  </a:lnTo>
                  <a:lnTo>
                    <a:pt x="7314920" y="54371"/>
                  </a:lnTo>
                  <a:lnTo>
                    <a:pt x="7245054" y="55764"/>
                  </a:lnTo>
                  <a:lnTo>
                    <a:pt x="7169701" y="57124"/>
                  </a:lnTo>
                  <a:lnTo>
                    <a:pt x="7130012" y="57791"/>
                  </a:lnTo>
                  <a:lnTo>
                    <a:pt x="7089005" y="58449"/>
                  </a:lnTo>
                  <a:lnTo>
                    <a:pt x="7046698" y="59098"/>
                  </a:lnTo>
                  <a:lnTo>
                    <a:pt x="7003109" y="59738"/>
                  </a:lnTo>
                  <a:lnTo>
                    <a:pt x="6958257" y="60369"/>
                  </a:lnTo>
                  <a:lnTo>
                    <a:pt x="6912159" y="60990"/>
                  </a:lnTo>
                  <a:lnTo>
                    <a:pt x="6864833" y="61601"/>
                  </a:lnTo>
                  <a:lnTo>
                    <a:pt x="6816298" y="62202"/>
                  </a:lnTo>
                  <a:lnTo>
                    <a:pt x="6766570" y="62794"/>
                  </a:lnTo>
                  <a:lnTo>
                    <a:pt x="6715669" y="63375"/>
                  </a:lnTo>
                  <a:lnTo>
                    <a:pt x="6663613" y="63946"/>
                  </a:lnTo>
                  <a:lnTo>
                    <a:pt x="6610419" y="64506"/>
                  </a:lnTo>
                  <a:lnTo>
                    <a:pt x="6556105" y="65055"/>
                  </a:lnTo>
                  <a:lnTo>
                    <a:pt x="6500689" y="65594"/>
                  </a:lnTo>
                  <a:lnTo>
                    <a:pt x="6444190" y="66121"/>
                  </a:lnTo>
                  <a:lnTo>
                    <a:pt x="6386625" y="66637"/>
                  </a:lnTo>
                  <a:lnTo>
                    <a:pt x="6328013" y="67141"/>
                  </a:lnTo>
                  <a:lnTo>
                    <a:pt x="6268371" y="67634"/>
                  </a:lnTo>
                  <a:lnTo>
                    <a:pt x="6207717" y="68115"/>
                  </a:lnTo>
                  <a:lnTo>
                    <a:pt x="6146070" y="68584"/>
                  </a:lnTo>
                  <a:lnTo>
                    <a:pt x="6083447" y="69041"/>
                  </a:lnTo>
                  <a:lnTo>
                    <a:pt x="6019867" y="69486"/>
                  </a:lnTo>
                  <a:lnTo>
                    <a:pt x="5955347" y="69918"/>
                  </a:lnTo>
                  <a:lnTo>
                    <a:pt x="5889906" y="70337"/>
                  </a:lnTo>
                  <a:lnTo>
                    <a:pt x="5823561" y="70743"/>
                  </a:lnTo>
                  <a:lnTo>
                    <a:pt x="5756331" y="71136"/>
                  </a:lnTo>
                  <a:lnTo>
                    <a:pt x="5688233" y="71516"/>
                  </a:lnTo>
                  <a:lnTo>
                    <a:pt x="5619286" y="71883"/>
                  </a:lnTo>
                  <a:lnTo>
                    <a:pt x="5549507" y="72236"/>
                  </a:lnTo>
                  <a:lnTo>
                    <a:pt x="5478915" y="72575"/>
                  </a:lnTo>
                  <a:lnTo>
                    <a:pt x="5407528" y="72900"/>
                  </a:lnTo>
                  <a:lnTo>
                    <a:pt x="5335363" y="73211"/>
                  </a:lnTo>
                  <a:lnTo>
                    <a:pt x="5262438" y="73508"/>
                  </a:lnTo>
                  <a:lnTo>
                    <a:pt x="5188773" y="73790"/>
                  </a:lnTo>
                  <a:lnTo>
                    <a:pt x="5114384" y="74058"/>
                  </a:lnTo>
                  <a:lnTo>
                    <a:pt x="5039289" y="74310"/>
                  </a:lnTo>
                  <a:lnTo>
                    <a:pt x="4963508" y="74548"/>
                  </a:lnTo>
                  <a:lnTo>
                    <a:pt x="4887057" y="74771"/>
                  </a:lnTo>
                  <a:lnTo>
                    <a:pt x="4809954" y="74978"/>
                  </a:lnTo>
                  <a:lnTo>
                    <a:pt x="4732218" y="75169"/>
                  </a:lnTo>
                  <a:lnTo>
                    <a:pt x="4653867" y="75345"/>
                  </a:lnTo>
                  <a:lnTo>
                    <a:pt x="4574919" y="75505"/>
                  </a:lnTo>
                  <a:lnTo>
                    <a:pt x="4495392" y="75649"/>
                  </a:lnTo>
                  <a:lnTo>
                    <a:pt x="4415303" y="75777"/>
                  </a:lnTo>
                  <a:lnTo>
                    <a:pt x="4334671" y="75888"/>
                  </a:lnTo>
                  <a:lnTo>
                    <a:pt x="4253514" y="75982"/>
                  </a:lnTo>
                  <a:lnTo>
                    <a:pt x="4171849" y="76060"/>
                  </a:lnTo>
                  <a:lnTo>
                    <a:pt x="4089696" y="76121"/>
                  </a:lnTo>
                  <a:lnTo>
                    <a:pt x="4007071" y="76164"/>
                  </a:lnTo>
                  <a:lnTo>
                    <a:pt x="3923993" y="76191"/>
                  </a:lnTo>
                  <a:lnTo>
                    <a:pt x="3840479" y="76200"/>
                  </a:lnTo>
                  <a:lnTo>
                    <a:pt x="3756966" y="76191"/>
                  </a:lnTo>
                  <a:lnTo>
                    <a:pt x="3673888" y="76164"/>
                  </a:lnTo>
                  <a:lnTo>
                    <a:pt x="3591263" y="76121"/>
                  </a:lnTo>
                  <a:lnTo>
                    <a:pt x="3509110" y="76060"/>
                  </a:lnTo>
                  <a:lnTo>
                    <a:pt x="3427445" y="75982"/>
                  </a:lnTo>
                  <a:lnTo>
                    <a:pt x="3346288" y="75888"/>
                  </a:lnTo>
                  <a:lnTo>
                    <a:pt x="3265656" y="75777"/>
                  </a:lnTo>
                  <a:lnTo>
                    <a:pt x="3185567" y="75649"/>
                  </a:lnTo>
                  <a:lnTo>
                    <a:pt x="3106040" y="75505"/>
                  </a:lnTo>
                  <a:lnTo>
                    <a:pt x="3027092" y="75345"/>
                  </a:lnTo>
                  <a:lnTo>
                    <a:pt x="2948741" y="75169"/>
                  </a:lnTo>
                  <a:lnTo>
                    <a:pt x="2871005" y="74978"/>
                  </a:lnTo>
                  <a:lnTo>
                    <a:pt x="2793902" y="74771"/>
                  </a:lnTo>
                  <a:lnTo>
                    <a:pt x="2717451" y="74548"/>
                  </a:lnTo>
                  <a:lnTo>
                    <a:pt x="2641670" y="74310"/>
                  </a:lnTo>
                  <a:lnTo>
                    <a:pt x="2566575" y="74058"/>
                  </a:lnTo>
                  <a:lnTo>
                    <a:pt x="2492186" y="73790"/>
                  </a:lnTo>
                  <a:lnTo>
                    <a:pt x="2418521" y="73508"/>
                  </a:lnTo>
                  <a:lnTo>
                    <a:pt x="2345596" y="73211"/>
                  </a:lnTo>
                  <a:lnTo>
                    <a:pt x="2273431" y="72900"/>
                  </a:lnTo>
                  <a:lnTo>
                    <a:pt x="2202044" y="72575"/>
                  </a:lnTo>
                  <a:lnTo>
                    <a:pt x="2131452" y="72236"/>
                  </a:lnTo>
                  <a:lnTo>
                    <a:pt x="2061673" y="71883"/>
                  </a:lnTo>
                  <a:lnTo>
                    <a:pt x="1992726" y="71516"/>
                  </a:lnTo>
                  <a:lnTo>
                    <a:pt x="1924628" y="71136"/>
                  </a:lnTo>
                  <a:lnTo>
                    <a:pt x="1857398" y="70743"/>
                  </a:lnTo>
                  <a:lnTo>
                    <a:pt x="1791053" y="70337"/>
                  </a:lnTo>
                  <a:lnTo>
                    <a:pt x="1725612" y="69918"/>
                  </a:lnTo>
                  <a:lnTo>
                    <a:pt x="1661092" y="69486"/>
                  </a:lnTo>
                  <a:lnTo>
                    <a:pt x="1597512" y="69041"/>
                  </a:lnTo>
                  <a:lnTo>
                    <a:pt x="1534889" y="68584"/>
                  </a:lnTo>
                  <a:lnTo>
                    <a:pt x="1473242" y="68115"/>
                  </a:lnTo>
                  <a:lnTo>
                    <a:pt x="1412588" y="67634"/>
                  </a:lnTo>
                  <a:lnTo>
                    <a:pt x="1352946" y="67141"/>
                  </a:lnTo>
                  <a:lnTo>
                    <a:pt x="1294334" y="66637"/>
                  </a:lnTo>
                  <a:lnTo>
                    <a:pt x="1236769" y="66121"/>
                  </a:lnTo>
                  <a:lnTo>
                    <a:pt x="1180270" y="65594"/>
                  </a:lnTo>
                  <a:lnTo>
                    <a:pt x="1124854" y="65055"/>
                  </a:lnTo>
                  <a:lnTo>
                    <a:pt x="1070540" y="64506"/>
                  </a:lnTo>
                  <a:lnTo>
                    <a:pt x="1017346" y="63946"/>
                  </a:lnTo>
                  <a:lnTo>
                    <a:pt x="965290" y="63375"/>
                  </a:lnTo>
                  <a:lnTo>
                    <a:pt x="914389" y="62794"/>
                  </a:lnTo>
                  <a:lnTo>
                    <a:pt x="864661" y="62202"/>
                  </a:lnTo>
                  <a:lnTo>
                    <a:pt x="816126" y="61601"/>
                  </a:lnTo>
                  <a:lnTo>
                    <a:pt x="768800" y="60990"/>
                  </a:lnTo>
                  <a:lnTo>
                    <a:pt x="722702" y="60369"/>
                  </a:lnTo>
                  <a:lnTo>
                    <a:pt x="677850" y="59738"/>
                  </a:lnTo>
                  <a:lnTo>
                    <a:pt x="634261" y="59098"/>
                  </a:lnTo>
                  <a:lnTo>
                    <a:pt x="591954" y="58449"/>
                  </a:lnTo>
                  <a:lnTo>
                    <a:pt x="550947" y="57791"/>
                  </a:lnTo>
                  <a:lnTo>
                    <a:pt x="511258" y="57124"/>
                  </a:lnTo>
                  <a:lnTo>
                    <a:pt x="472905" y="56448"/>
                  </a:lnTo>
                  <a:lnTo>
                    <a:pt x="400277" y="55072"/>
                  </a:lnTo>
                  <a:lnTo>
                    <a:pt x="333209" y="53663"/>
                  </a:lnTo>
                  <a:lnTo>
                    <a:pt x="271845" y="52223"/>
                  </a:lnTo>
                  <a:lnTo>
                    <a:pt x="216328" y="50753"/>
                  </a:lnTo>
                  <a:lnTo>
                    <a:pt x="166803" y="49255"/>
                  </a:lnTo>
                  <a:lnTo>
                    <a:pt x="123414" y="47731"/>
                  </a:lnTo>
                  <a:lnTo>
                    <a:pt x="70149" y="45397"/>
                  </a:lnTo>
                  <a:lnTo>
                    <a:pt x="31501" y="43010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181094" y="99072"/>
            <a:ext cx="7082155" cy="1041400"/>
            <a:chOff x="1181094" y="99072"/>
            <a:chExt cx="7082155" cy="10414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094" y="286511"/>
              <a:ext cx="7082039" cy="5288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6640" y="99072"/>
              <a:ext cx="2250948" cy="10408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9199" y="304799"/>
              <a:ext cx="7010400" cy="4572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19199" y="304799"/>
              <a:ext cx="7010400" cy="457200"/>
            </a:xfrm>
            <a:custGeom>
              <a:avLst/>
              <a:gdLst/>
              <a:ahLst/>
              <a:cxnLst/>
              <a:rect l="l" t="t" r="r" b="b"/>
              <a:pathLst>
                <a:path w="70104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6934200" y="0"/>
                  </a:lnTo>
                  <a:lnTo>
                    <a:pt x="6963840" y="5994"/>
                  </a:lnTo>
                  <a:lnTo>
                    <a:pt x="6988063" y="22336"/>
                  </a:lnTo>
                  <a:lnTo>
                    <a:pt x="7004405" y="46559"/>
                  </a:lnTo>
                  <a:lnTo>
                    <a:pt x="7010400" y="76200"/>
                  </a:lnTo>
                  <a:lnTo>
                    <a:pt x="7010400" y="381000"/>
                  </a:lnTo>
                  <a:lnTo>
                    <a:pt x="7004405" y="410640"/>
                  </a:lnTo>
                  <a:lnTo>
                    <a:pt x="6988063" y="434863"/>
                  </a:lnTo>
                  <a:lnTo>
                    <a:pt x="6963840" y="451205"/>
                  </a:lnTo>
                  <a:lnTo>
                    <a:pt x="69342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901566" y="232359"/>
            <a:ext cx="16484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4" dirty="0"/>
              <a:t>T</a:t>
            </a:r>
            <a:r>
              <a:rPr sz="3600" spc="-270" dirty="0"/>
              <a:t>O</a:t>
            </a:r>
            <a:r>
              <a:rPr sz="3600" spc="25" dirty="0"/>
              <a:t>PI</a:t>
            </a:r>
            <a:r>
              <a:rPr sz="3600" spc="55" dirty="0"/>
              <a:t>C</a:t>
            </a:r>
            <a:r>
              <a:rPr sz="3600" spc="-415" dirty="0"/>
              <a:t>-</a:t>
            </a:r>
            <a:r>
              <a:rPr sz="3600" spc="90" dirty="0"/>
              <a:t>3</a:t>
            </a:r>
            <a:endParaRPr sz="3600"/>
          </a:p>
        </p:txBody>
      </p:sp>
      <p:grpSp>
        <p:nvGrpSpPr>
          <p:cNvPr id="11" name="object 11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0328" y="6556243"/>
              <a:ext cx="384098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8723" y="1524000"/>
              <a:ext cx="8228076" cy="46558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9486" y="1524761"/>
              <a:ext cx="8228330" cy="4655820"/>
            </a:xfrm>
            <a:custGeom>
              <a:avLst/>
              <a:gdLst/>
              <a:ahLst/>
              <a:cxnLst/>
              <a:rect l="l" t="t" r="r" b="b"/>
              <a:pathLst>
                <a:path w="8228330" h="4655820">
                  <a:moveTo>
                    <a:pt x="0" y="0"/>
                  </a:moveTo>
                  <a:lnTo>
                    <a:pt x="0" y="4655820"/>
                  </a:lnTo>
                  <a:lnTo>
                    <a:pt x="8228076" y="3724655"/>
                  </a:lnTo>
                  <a:lnTo>
                    <a:pt x="8228076" y="931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9486" y="1524761"/>
              <a:ext cx="8228330" cy="4655820"/>
            </a:xfrm>
            <a:custGeom>
              <a:avLst/>
              <a:gdLst/>
              <a:ahLst/>
              <a:cxnLst/>
              <a:rect l="l" t="t" r="r" b="b"/>
              <a:pathLst>
                <a:path w="8228330" h="4655820">
                  <a:moveTo>
                    <a:pt x="0" y="4655820"/>
                  </a:moveTo>
                  <a:lnTo>
                    <a:pt x="0" y="0"/>
                  </a:lnTo>
                  <a:lnTo>
                    <a:pt x="8228076" y="931163"/>
                  </a:lnTo>
                  <a:lnTo>
                    <a:pt x="8228076" y="3724655"/>
                  </a:lnTo>
                  <a:lnTo>
                    <a:pt x="0" y="465582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53767" y="2560332"/>
              <a:ext cx="5220461" cy="39241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01266" y="2584068"/>
              <a:ext cx="5127116" cy="29908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85391" y="2568828"/>
              <a:ext cx="5159120" cy="33045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75538" y="3106928"/>
            <a:ext cx="7795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815" algn="l"/>
                <a:tab pos="2021205" algn="l"/>
                <a:tab pos="3760470" algn="l"/>
                <a:tab pos="4118610" algn="l"/>
                <a:tab pos="5687060" algn="l"/>
                <a:tab pos="7392670" algn="l"/>
              </a:tabLst>
            </a:pPr>
            <a:r>
              <a:rPr sz="3600" b="1" spc="-5" dirty="0">
                <a:latin typeface="Calibri"/>
                <a:cs typeface="Calibri"/>
              </a:rPr>
              <a:t>Th</a:t>
            </a:r>
            <a:r>
              <a:rPr sz="3600" b="1" dirty="0">
                <a:latin typeface="Calibri"/>
                <a:cs typeface="Calibri"/>
              </a:rPr>
              <a:t>e	</a:t>
            </a:r>
            <a:r>
              <a:rPr sz="3600" b="1" spc="-5" dirty="0">
                <a:latin typeface="Calibri"/>
                <a:cs typeface="Calibri"/>
              </a:rPr>
              <a:t>Ma</a:t>
            </a:r>
            <a:r>
              <a:rPr sz="3600" b="1" dirty="0">
                <a:latin typeface="Calibri"/>
                <a:cs typeface="Calibri"/>
              </a:rPr>
              <a:t>p	</a:t>
            </a:r>
            <a:r>
              <a:rPr sz="3600" b="1" spc="-5" dirty="0">
                <a:latin typeface="Calibri"/>
                <a:cs typeface="Calibri"/>
              </a:rPr>
              <a:t>M</a:t>
            </a:r>
            <a:r>
              <a:rPr sz="3600" b="1" spc="-30" dirty="0">
                <a:latin typeface="Calibri"/>
                <a:cs typeface="Calibri"/>
              </a:rPr>
              <a:t>e</a:t>
            </a:r>
            <a:r>
              <a:rPr sz="3600" b="1" dirty="0">
                <a:latin typeface="Calibri"/>
                <a:cs typeface="Calibri"/>
              </a:rPr>
              <a:t>thod	-	</a:t>
            </a:r>
            <a:r>
              <a:rPr sz="3600" b="1" spc="-5" dirty="0">
                <a:latin typeface="Calibri"/>
                <a:cs typeface="Calibri"/>
              </a:rPr>
              <a:t>K</a:t>
            </a:r>
            <a:r>
              <a:rPr sz="3600" b="1" dirty="0">
                <a:latin typeface="Calibri"/>
                <a:cs typeface="Calibri"/>
              </a:rPr>
              <a:t>-</a:t>
            </a:r>
            <a:r>
              <a:rPr sz="3600" b="1" spc="-5" dirty="0">
                <a:latin typeface="Calibri"/>
                <a:cs typeface="Calibri"/>
              </a:rPr>
              <a:t>map</a:t>
            </a:r>
            <a:r>
              <a:rPr sz="3600" b="1" dirty="0">
                <a:latin typeface="Calibri"/>
                <a:cs typeface="Calibri"/>
              </a:rPr>
              <a:t>,	</a:t>
            </a:r>
            <a:r>
              <a:rPr sz="3600" b="1" spc="-5" dirty="0">
                <a:latin typeface="Calibri"/>
                <a:cs typeface="Calibri"/>
              </a:rPr>
              <a:t>P</a:t>
            </a:r>
            <a:r>
              <a:rPr sz="3600" b="1" spc="-40" dirty="0">
                <a:latin typeface="Calibri"/>
                <a:cs typeface="Calibri"/>
              </a:rPr>
              <a:t>r</a:t>
            </a:r>
            <a:r>
              <a:rPr sz="3600" b="1" dirty="0">
                <a:latin typeface="Calibri"/>
                <a:cs typeface="Calibri"/>
              </a:rPr>
              <a:t>oduct	</a:t>
            </a:r>
            <a:r>
              <a:rPr sz="3600" b="1" spc="-5" dirty="0">
                <a:latin typeface="Calibri"/>
                <a:cs typeface="Calibri"/>
              </a:rPr>
              <a:t>of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5538" y="3608323"/>
            <a:ext cx="7797800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40"/>
              </a:lnSpc>
              <a:spcBef>
                <a:spcPts val="100"/>
              </a:spcBef>
              <a:tabLst>
                <a:tab pos="1814195" algn="l"/>
                <a:tab pos="3316604" algn="l"/>
                <a:tab pos="4937125" algn="l"/>
                <a:tab pos="6113780" algn="l"/>
              </a:tabLst>
            </a:pPr>
            <a:r>
              <a:rPr sz="3600" b="1" dirty="0">
                <a:latin typeface="Calibri"/>
                <a:cs typeface="Calibri"/>
              </a:rPr>
              <a:t>Sums	and	Sum	</a:t>
            </a:r>
            <a:r>
              <a:rPr sz="3600" b="1" spc="-5" dirty="0">
                <a:latin typeface="Calibri"/>
                <a:cs typeface="Calibri"/>
              </a:rPr>
              <a:t>of	</a:t>
            </a:r>
            <a:r>
              <a:rPr sz="3600" b="1" spc="-10" dirty="0">
                <a:latin typeface="Calibri"/>
                <a:cs typeface="Calibri"/>
              </a:rPr>
              <a:t>Products</a:t>
            </a:r>
            <a:endParaRPr sz="3600">
              <a:latin typeface="Calibri"/>
              <a:cs typeface="Calibri"/>
            </a:endParaRPr>
          </a:p>
          <a:p>
            <a:pPr marL="3496945">
              <a:lnSpc>
                <a:spcPts val="4140"/>
              </a:lnSpc>
              <a:tabLst>
                <a:tab pos="5430520" algn="l"/>
                <a:tab pos="6913880" algn="l"/>
              </a:tabLst>
            </a:pPr>
            <a:r>
              <a:rPr sz="3600" b="1" dirty="0">
                <a:latin typeface="Calibri"/>
                <a:cs typeface="Calibri"/>
              </a:rPr>
              <a:t>NAND	and	NOR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5538" y="4110939"/>
            <a:ext cx="3089275" cy="10775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960"/>
              </a:lnSpc>
              <a:spcBef>
                <a:spcPts val="535"/>
              </a:spcBef>
            </a:pPr>
            <a:r>
              <a:rPr sz="3600" b="1" spc="-5" dirty="0">
                <a:latin typeface="Calibri"/>
                <a:cs typeface="Calibri"/>
              </a:rPr>
              <a:t>Simplification, </a:t>
            </a:r>
            <a:r>
              <a:rPr sz="3600" b="1" dirty="0">
                <a:latin typeface="Calibri"/>
                <a:cs typeface="Calibri"/>
              </a:rPr>
              <a:t> Impleme</a:t>
            </a:r>
            <a:r>
              <a:rPr sz="3600" b="1" spc="-35" dirty="0">
                <a:latin typeface="Calibri"/>
                <a:cs typeface="Calibri"/>
              </a:rPr>
              <a:t>nt</a:t>
            </a:r>
            <a:r>
              <a:rPr sz="3600" b="1" spc="-40" dirty="0">
                <a:latin typeface="Calibri"/>
                <a:cs typeface="Calibri"/>
              </a:rPr>
              <a:t>a</a:t>
            </a:r>
            <a:r>
              <a:rPr sz="3600" b="1" dirty="0">
                <a:latin typeface="Calibri"/>
                <a:cs typeface="Calibri"/>
              </a:rPr>
              <a:t>tion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7003542" cy="40957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0328" y="6556243"/>
              <a:ext cx="384098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2980" y="245364"/>
              <a:ext cx="7173468" cy="8275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26616" y="353390"/>
            <a:ext cx="6685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5" dirty="0"/>
              <a:t>SIMPLIFICATION</a:t>
            </a:r>
            <a:r>
              <a:rPr sz="2800" spc="-60" dirty="0"/>
              <a:t> USING</a:t>
            </a:r>
            <a:r>
              <a:rPr sz="2800" spc="-50" dirty="0"/>
              <a:t> </a:t>
            </a:r>
            <a:r>
              <a:rPr sz="2800" spc="-125" dirty="0"/>
              <a:t>BOOLEAN</a:t>
            </a:r>
            <a:r>
              <a:rPr sz="2800" spc="-55" dirty="0"/>
              <a:t> </a:t>
            </a:r>
            <a:r>
              <a:rPr sz="2800" spc="-100" dirty="0"/>
              <a:t>ALGEBRA</a:t>
            </a:r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383540" y="2002662"/>
            <a:ext cx="8376920" cy="3865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Many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times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application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Boolean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algebra,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you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have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reduce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particular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expression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its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simplest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form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change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its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form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more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convenient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one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implement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expression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most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efficiently.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This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approach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Tahoma"/>
                <a:cs typeface="Tahoma"/>
              </a:rPr>
              <a:t>uses</a:t>
            </a:r>
            <a:r>
              <a:rPr sz="2800" spc="-1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basic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laws,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rules,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theorems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Boolean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algebra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manipulate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simplify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expression.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0327" y="6556243"/>
              <a:ext cx="384098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2980" y="245364"/>
              <a:ext cx="7173468" cy="8275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26616" y="353390"/>
            <a:ext cx="6685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5" dirty="0"/>
              <a:t>SIMPLIFICATION</a:t>
            </a:r>
            <a:r>
              <a:rPr sz="2800" spc="-60" dirty="0"/>
              <a:t> USING</a:t>
            </a:r>
            <a:r>
              <a:rPr sz="2800" spc="-50" dirty="0"/>
              <a:t> </a:t>
            </a:r>
            <a:r>
              <a:rPr sz="2800" spc="-125" dirty="0"/>
              <a:t>BOOLEAN</a:t>
            </a:r>
            <a:r>
              <a:rPr sz="2800" spc="-55" dirty="0"/>
              <a:t> </a:t>
            </a:r>
            <a:r>
              <a:rPr sz="2800" spc="-100" dirty="0"/>
              <a:t>ALGEBRA</a:t>
            </a:r>
            <a:endParaRPr sz="2800"/>
          </a:p>
        </p:txBody>
      </p:sp>
      <p:grpSp>
        <p:nvGrpSpPr>
          <p:cNvPr id="12" name="object 12"/>
          <p:cNvGrpSpPr/>
          <p:nvPr/>
        </p:nvGrpSpPr>
        <p:grpSpPr>
          <a:xfrm>
            <a:off x="1295400" y="1464564"/>
            <a:ext cx="7853680" cy="5393690"/>
            <a:chOff x="1295400" y="1464564"/>
            <a:chExt cx="7853680" cy="539369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5400" y="1464564"/>
              <a:ext cx="6519671" cy="50124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0328" y="6556242"/>
              <a:ext cx="384098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2980" y="245364"/>
              <a:ext cx="7173468" cy="8275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26616" y="353390"/>
            <a:ext cx="6685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5" dirty="0"/>
              <a:t>SIMPLIFICATION</a:t>
            </a:r>
            <a:r>
              <a:rPr sz="2800" spc="-60" dirty="0"/>
              <a:t> USING</a:t>
            </a:r>
            <a:r>
              <a:rPr sz="2800" spc="-50" dirty="0"/>
              <a:t> </a:t>
            </a:r>
            <a:r>
              <a:rPr sz="2800" spc="-125" dirty="0"/>
              <a:t>BOOLEAN</a:t>
            </a:r>
            <a:r>
              <a:rPr sz="2800" spc="-55" dirty="0"/>
              <a:t> </a:t>
            </a:r>
            <a:r>
              <a:rPr sz="2800" spc="-100" dirty="0"/>
              <a:t>ALGEBRA</a:t>
            </a:r>
            <a:endParaRPr sz="2800"/>
          </a:p>
        </p:txBody>
      </p:sp>
      <p:grpSp>
        <p:nvGrpSpPr>
          <p:cNvPr id="12" name="object 12"/>
          <p:cNvGrpSpPr/>
          <p:nvPr/>
        </p:nvGrpSpPr>
        <p:grpSpPr>
          <a:xfrm>
            <a:off x="914400" y="1371600"/>
            <a:ext cx="8234680" cy="5486400"/>
            <a:chOff x="914400" y="1371600"/>
            <a:chExt cx="8234680" cy="54864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400" y="1371600"/>
              <a:ext cx="7789164" cy="26807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3000" y="4648200"/>
              <a:ext cx="7171944" cy="15910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20328" y="6556242"/>
              <a:ext cx="384098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2980" y="245364"/>
              <a:ext cx="7173468" cy="8275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26616" y="353390"/>
            <a:ext cx="6685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5" dirty="0"/>
              <a:t>SIMPLIFICATION</a:t>
            </a:r>
            <a:r>
              <a:rPr sz="2800" spc="-60" dirty="0"/>
              <a:t> USING</a:t>
            </a:r>
            <a:r>
              <a:rPr sz="2800" spc="-50" dirty="0"/>
              <a:t> </a:t>
            </a:r>
            <a:r>
              <a:rPr sz="2800" spc="-125" dirty="0"/>
              <a:t>BOOLEAN</a:t>
            </a:r>
            <a:r>
              <a:rPr sz="2800" spc="-55" dirty="0"/>
              <a:t> </a:t>
            </a:r>
            <a:r>
              <a:rPr sz="2800" spc="-100" dirty="0"/>
              <a:t>ALGEBRA</a:t>
            </a:r>
            <a:endParaRPr sz="2800"/>
          </a:p>
        </p:txBody>
      </p:sp>
      <p:grpSp>
        <p:nvGrpSpPr>
          <p:cNvPr id="12" name="object 12"/>
          <p:cNvGrpSpPr/>
          <p:nvPr/>
        </p:nvGrpSpPr>
        <p:grpSpPr>
          <a:xfrm>
            <a:off x="1219200" y="1510283"/>
            <a:ext cx="7929880" cy="5347970"/>
            <a:chOff x="1219200" y="1510283"/>
            <a:chExt cx="7929880" cy="534797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9200" y="1510283"/>
              <a:ext cx="6783324" cy="49667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0328" y="6556243"/>
              <a:ext cx="384098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7003542" cy="40957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0328" y="6556243"/>
              <a:ext cx="384098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50082"/>
            <a:ext cx="8378190" cy="525970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R="90170" algn="ctr">
              <a:lnSpc>
                <a:spcPct val="100000"/>
              </a:lnSpc>
              <a:spcBef>
                <a:spcPts val="875"/>
              </a:spcBef>
            </a:pP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USING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spcBef>
                <a:spcPts val="107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Karnaugh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map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technique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provides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systematic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method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simplifying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manipulation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Boolean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expressions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Karnaugh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map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similar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truth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table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because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it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presents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all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possible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values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input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resulting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output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value.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Karnaugh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map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array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cells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which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cell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represents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value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input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0327" y="6556243"/>
              <a:ext cx="384098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2740" y="993281"/>
            <a:ext cx="8481060" cy="539559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R="91440" algn="ctr">
              <a:lnSpc>
                <a:spcPct val="100000"/>
              </a:lnSpc>
              <a:spcBef>
                <a:spcPts val="1320"/>
              </a:spcBef>
            </a:pP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USING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527685" marR="57785" indent="-464820" algn="just">
              <a:lnSpc>
                <a:spcPct val="100000"/>
              </a:lnSpc>
              <a:spcBef>
                <a:spcPts val="1695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cells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Karnaugh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map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equal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total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possible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input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variable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combinations.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650">
              <a:latin typeface="Tahoma"/>
              <a:cs typeface="Tahoma"/>
            </a:endParaRPr>
          </a:p>
          <a:p>
            <a:pPr marL="527685" marR="55880" indent="-464820" algn="just">
              <a:lnSpc>
                <a:spcPct val="997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950" i="1" spc="-45" dirty="0">
                <a:solidFill>
                  <a:srgbClr val="006FC0"/>
                </a:solidFill>
                <a:latin typeface="Trebuchet MS"/>
                <a:cs typeface="Trebuchet MS"/>
              </a:rPr>
              <a:t>n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Karnaugh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map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there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2</a:t>
            </a:r>
            <a:r>
              <a:rPr sz="2775" spc="60" baseline="25525" dirty="0">
                <a:solidFill>
                  <a:srgbClr val="006FC0"/>
                </a:solidFill>
                <a:latin typeface="Tahoma"/>
                <a:cs typeface="Tahoma"/>
              </a:rPr>
              <a:t>n </a:t>
            </a:r>
            <a:r>
              <a:rPr sz="2775" spc="67" baseline="255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numbers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squares.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three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variables,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cells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135" dirty="0">
                <a:solidFill>
                  <a:srgbClr val="006FC0"/>
                </a:solidFill>
                <a:latin typeface="Tahoma"/>
                <a:cs typeface="Tahoma"/>
              </a:rPr>
              <a:t>2</a:t>
            </a:r>
            <a:r>
              <a:rPr sz="2775" spc="202" baseline="25525" dirty="0">
                <a:solidFill>
                  <a:srgbClr val="006FC0"/>
                </a:solidFill>
                <a:latin typeface="Tahoma"/>
                <a:cs typeface="Tahoma"/>
              </a:rPr>
              <a:t>3</a:t>
            </a:r>
            <a:r>
              <a:rPr sz="2800" spc="135" dirty="0">
                <a:solidFill>
                  <a:srgbClr val="006FC0"/>
                </a:solidFill>
                <a:latin typeface="Tahoma"/>
                <a:cs typeface="Tahoma"/>
              </a:rPr>
              <a:t>=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8.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four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variables,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cells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2</a:t>
            </a:r>
            <a:r>
              <a:rPr sz="2775" spc="97" baseline="25525" dirty="0">
                <a:solidFill>
                  <a:srgbClr val="006FC0"/>
                </a:solidFill>
                <a:latin typeface="Tahoma"/>
                <a:cs typeface="Tahoma"/>
              </a:rPr>
              <a:t>4</a:t>
            </a:r>
            <a:r>
              <a:rPr sz="2775" spc="337" baseline="255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16.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527685" marR="5905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Karnaugh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maps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used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expressions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two,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three,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four,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five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829" y="1147952"/>
            <a:ext cx="49250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USING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33600" y="1524000"/>
            <a:ext cx="7015480" cy="5334000"/>
            <a:chOff x="2133600" y="1524000"/>
            <a:chExt cx="7015480" cy="5334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3807" y="1524000"/>
              <a:ext cx="4419600" cy="26517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3600" y="4148327"/>
              <a:ext cx="4559808" cy="22524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47952"/>
            <a:ext cx="8377555" cy="5284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8900" algn="ctr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3-VARIABLE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spcBef>
                <a:spcPts val="114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3-variable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Karnaugh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map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array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eight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cells.</a:t>
            </a:r>
            <a:endParaRPr sz="2800">
              <a:latin typeface="Tahoma"/>
              <a:cs typeface="Tahoma"/>
            </a:endParaRPr>
          </a:p>
          <a:p>
            <a:pPr marL="476884" marR="6985" indent="-464820" algn="just">
              <a:lnSpc>
                <a:spcPct val="100000"/>
              </a:lnSpc>
              <a:spcBef>
                <a:spcPts val="192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this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case,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A,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B,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155" dirty="0">
                <a:solidFill>
                  <a:srgbClr val="006FC0"/>
                </a:solidFill>
                <a:latin typeface="Tahoma"/>
                <a:cs typeface="Tahoma"/>
              </a:rPr>
              <a:t>C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used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variables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although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other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letters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could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used.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values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at the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left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side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(notice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sequence)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values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BC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across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top.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value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given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cell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6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value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at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left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same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0" dirty="0">
                <a:solidFill>
                  <a:srgbClr val="006FC0"/>
                </a:solidFill>
                <a:latin typeface="Tahoma"/>
                <a:cs typeface="Tahoma"/>
              </a:rPr>
              <a:t>row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combined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values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&amp;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at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top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same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column.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10614"/>
            <a:ext cx="8375650" cy="12731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87630" algn="ctr">
              <a:lnSpc>
                <a:spcPct val="100000"/>
              </a:lnSpc>
              <a:spcBef>
                <a:spcPts val="395"/>
              </a:spcBef>
            </a:pP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3-VARIABLE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409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Figure</a:t>
            </a:r>
            <a:r>
              <a:rPr sz="2800" spc="2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shows</a:t>
            </a:r>
            <a:r>
              <a:rPr sz="2800" spc="2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standard</a:t>
            </a:r>
            <a:r>
              <a:rPr sz="2800" spc="2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product</a:t>
            </a:r>
            <a:r>
              <a:rPr sz="2800" spc="2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terms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represented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by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each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cell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Karnaugh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map.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2608" y="3032760"/>
            <a:ext cx="8856345" cy="3825240"/>
            <a:chOff x="292608" y="3032760"/>
            <a:chExt cx="8856345" cy="382524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2608" y="3032760"/>
              <a:ext cx="4110228" cy="2819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4755" y="3223260"/>
              <a:ext cx="4088892" cy="24399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8" y="6556243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99367"/>
            <a:ext cx="8377555" cy="523684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R="88900" algn="ctr">
              <a:lnSpc>
                <a:spcPct val="100000"/>
              </a:lnSpc>
              <a:spcBef>
                <a:spcPts val="1270"/>
              </a:spcBef>
            </a:pP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4-VARIABLE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145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500" spc="-2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5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5" dirty="0">
                <a:solidFill>
                  <a:srgbClr val="006FC0"/>
                </a:solidFill>
                <a:latin typeface="Tahoma"/>
                <a:cs typeface="Tahoma"/>
              </a:rPr>
              <a:t>4-variable</a:t>
            </a:r>
            <a:r>
              <a:rPr sz="25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006FC0"/>
                </a:solidFill>
                <a:latin typeface="Tahoma"/>
                <a:cs typeface="Tahoma"/>
              </a:rPr>
              <a:t>Karnaugh</a:t>
            </a:r>
            <a:r>
              <a:rPr sz="25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10" dirty="0">
                <a:solidFill>
                  <a:srgbClr val="006FC0"/>
                </a:solidFill>
                <a:latin typeface="Tahoma"/>
                <a:cs typeface="Tahoma"/>
              </a:rPr>
              <a:t>map</a:t>
            </a:r>
            <a:r>
              <a:rPr sz="25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10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5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15" dirty="0">
                <a:solidFill>
                  <a:srgbClr val="006FC0"/>
                </a:solidFill>
                <a:latin typeface="Tahoma"/>
                <a:cs typeface="Tahoma"/>
              </a:rPr>
              <a:t>array</a:t>
            </a:r>
            <a:r>
              <a:rPr sz="25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5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50" dirty="0">
                <a:solidFill>
                  <a:srgbClr val="006FC0"/>
                </a:solidFill>
                <a:latin typeface="Tahoma"/>
                <a:cs typeface="Tahoma"/>
              </a:rPr>
              <a:t>sixteen</a:t>
            </a:r>
            <a:r>
              <a:rPr sz="25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50" dirty="0">
                <a:solidFill>
                  <a:srgbClr val="006FC0"/>
                </a:solidFill>
                <a:latin typeface="Tahoma"/>
                <a:cs typeface="Tahoma"/>
              </a:rPr>
              <a:t>cells.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45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5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500" spc="-50" dirty="0">
                <a:solidFill>
                  <a:srgbClr val="006FC0"/>
                </a:solidFill>
                <a:latin typeface="Tahoma"/>
                <a:cs typeface="Tahoma"/>
              </a:rPr>
              <a:t>values </a:t>
            </a:r>
            <a:r>
              <a:rPr sz="2500" spc="6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500" spc="165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5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500" spc="-5" dirty="0">
                <a:solidFill>
                  <a:srgbClr val="006FC0"/>
                </a:solidFill>
                <a:latin typeface="Tahoma"/>
                <a:cs typeface="Tahoma"/>
              </a:rPr>
              <a:t>B </a:t>
            </a:r>
            <a:r>
              <a:rPr sz="25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500" spc="5" dirty="0">
                <a:solidFill>
                  <a:srgbClr val="006FC0"/>
                </a:solidFill>
                <a:latin typeface="Tahoma"/>
                <a:cs typeface="Tahoma"/>
              </a:rPr>
              <a:t>along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spc="-15" dirty="0">
                <a:solidFill>
                  <a:srgbClr val="006FC0"/>
                </a:solidFill>
                <a:latin typeface="Tahoma"/>
                <a:cs typeface="Tahoma"/>
              </a:rPr>
              <a:t>left </a:t>
            </a:r>
            <a:r>
              <a:rPr sz="2500" spc="-60" dirty="0">
                <a:solidFill>
                  <a:srgbClr val="006FC0"/>
                </a:solidFill>
                <a:latin typeface="Tahoma"/>
                <a:cs typeface="Tahoma"/>
              </a:rPr>
              <a:t>side </a:t>
            </a:r>
            <a:r>
              <a:rPr sz="2500" spc="5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values</a:t>
            </a:r>
            <a:r>
              <a:rPr sz="25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5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13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5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5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12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5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50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5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95" dirty="0">
                <a:solidFill>
                  <a:srgbClr val="006FC0"/>
                </a:solidFill>
                <a:latin typeface="Tahoma"/>
                <a:cs typeface="Tahoma"/>
              </a:rPr>
              <a:t>across</a:t>
            </a:r>
            <a:r>
              <a:rPr sz="25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5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45" dirty="0">
                <a:solidFill>
                  <a:srgbClr val="006FC0"/>
                </a:solidFill>
                <a:latin typeface="Tahoma"/>
                <a:cs typeface="Tahoma"/>
              </a:rPr>
              <a:t>top.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4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500" spc="-2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spc="-5" dirty="0">
                <a:solidFill>
                  <a:srgbClr val="006FC0"/>
                </a:solidFill>
                <a:latin typeface="Tahoma"/>
                <a:cs typeface="Tahoma"/>
              </a:rPr>
              <a:t>value </a:t>
            </a:r>
            <a:r>
              <a:rPr sz="2500" spc="6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500" spc="-7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500" spc="-15" dirty="0">
                <a:solidFill>
                  <a:srgbClr val="006FC0"/>
                </a:solidFill>
                <a:latin typeface="Tahoma"/>
                <a:cs typeface="Tahoma"/>
              </a:rPr>
              <a:t>given cell </a:t>
            </a:r>
            <a:r>
              <a:rPr sz="2500" spc="-100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500" spc="-50" dirty="0">
                <a:solidFill>
                  <a:srgbClr val="006FC0"/>
                </a:solidFill>
                <a:latin typeface="Tahoma"/>
                <a:cs typeface="Tahoma"/>
              </a:rPr>
              <a:t>values </a:t>
            </a:r>
            <a:r>
              <a:rPr sz="2500" spc="5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500" spc="16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5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500" spc="-10" dirty="0">
                <a:solidFill>
                  <a:srgbClr val="006FC0"/>
                </a:solidFill>
                <a:latin typeface="Tahoma"/>
                <a:cs typeface="Tahoma"/>
              </a:rPr>
              <a:t>B </a:t>
            </a:r>
            <a:r>
              <a:rPr sz="25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006FC0"/>
                </a:solidFill>
                <a:latin typeface="Tahoma"/>
                <a:cs typeface="Tahoma"/>
              </a:rPr>
              <a:t>at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spc="-15" dirty="0">
                <a:solidFill>
                  <a:srgbClr val="006FC0"/>
                </a:solidFill>
                <a:latin typeface="Tahoma"/>
                <a:cs typeface="Tahoma"/>
              </a:rPr>
              <a:t>left </a:t>
            </a:r>
            <a:r>
              <a:rPr sz="25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spc="-100" dirty="0">
                <a:solidFill>
                  <a:srgbClr val="006FC0"/>
                </a:solidFill>
                <a:latin typeface="Tahoma"/>
                <a:cs typeface="Tahoma"/>
              </a:rPr>
              <a:t>same </a:t>
            </a:r>
            <a:r>
              <a:rPr sz="2500" spc="90" dirty="0">
                <a:solidFill>
                  <a:srgbClr val="006FC0"/>
                </a:solidFill>
                <a:latin typeface="Tahoma"/>
                <a:cs typeface="Tahoma"/>
              </a:rPr>
              <a:t>row </a:t>
            </a:r>
            <a:r>
              <a:rPr sz="2500" spc="15" dirty="0">
                <a:solidFill>
                  <a:srgbClr val="006FC0"/>
                </a:solidFill>
                <a:latin typeface="Tahoma"/>
                <a:cs typeface="Tahoma"/>
              </a:rPr>
              <a:t>combined </a:t>
            </a:r>
            <a:r>
              <a:rPr sz="2500" spc="55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spc="15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500" spc="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values</a:t>
            </a:r>
            <a:r>
              <a:rPr sz="25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5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13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5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5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12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500" spc="-35" dirty="0">
                <a:solidFill>
                  <a:srgbClr val="006FC0"/>
                </a:solidFill>
                <a:latin typeface="Tahoma"/>
                <a:cs typeface="Tahoma"/>
              </a:rPr>
              <a:t> at</a:t>
            </a:r>
            <a:r>
              <a:rPr sz="25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5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70" dirty="0">
                <a:solidFill>
                  <a:srgbClr val="006FC0"/>
                </a:solidFill>
                <a:latin typeface="Tahoma"/>
                <a:cs typeface="Tahoma"/>
              </a:rPr>
              <a:t>top</a:t>
            </a:r>
            <a:r>
              <a:rPr sz="25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3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5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5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95" dirty="0">
                <a:solidFill>
                  <a:srgbClr val="006FC0"/>
                </a:solidFill>
                <a:latin typeface="Tahoma"/>
                <a:cs typeface="Tahoma"/>
              </a:rPr>
              <a:t>same</a:t>
            </a:r>
            <a:r>
              <a:rPr sz="25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15" dirty="0">
                <a:solidFill>
                  <a:srgbClr val="006FC0"/>
                </a:solidFill>
                <a:latin typeface="Tahoma"/>
                <a:cs typeface="Tahoma"/>
              </a:rPr>
              <a:t>column.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4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50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500" spc="-20" dirty="0">
                <a:solidFill>
                  <a:srgbClr val="006FC0"/>
                </a:solidFill>
                <a:latin typeface="Tahoma"/>
                <a:cs typeface="Tahoma"/>
              </a:rPr>
              <a:t>example, </a:t>
            </a:r>
            <a:r>
              <a:rPr sz="2500" spc="-4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spc="-10" dirty="0">
                <a:solidFill>
                  <a:srgbClr val="006FC0"/>
                </a:solidFill>
                <a:latin typeface="Tahoma"/>
                <a:cs typeface="Tahoma"/>
              </a:rPr>
              <a:t>cell </a:t>
            </a:r>
            <a:r>
              <a:rPr sz="25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dirty="0">
                <a:solidFill>
                  <a:srgbClr val="006FC0"/>
                </a:solidFill>
                <a:latin typeface="Tahoma"/>
                <a:cs typeface="Tahoma"/>
              </a:rPr>
              <a:t>upper </a:t>
            </a:r>
            <a:r>
              <a:rPr sz="2500" spc="-25" dirty="0">
                <a:solidFill>
                  <a:srgbClr val="006FC0"/>
                </a:solidFill>
                <a:latin typeface="Tahoma"/>
                <a:cs typeface="Tahoma"/>
              </a:rPr>
              <a:t>right </a:t>
            </a:r>
            <a:r>
              <a:rPr sz="2500" spc="-10" dirty="0">
                <a:solidFill>
                  <a:srgbClr val="006FC0"/>
                </a:solidFill>
                <a:latin typeface="Tahoma"/>
                <a:cs typeface="Tahoma"/>
              </a:rPr>
              <a:t>corner </a:t>
            </a:r>
            <a:r>
              <a:rPr sz="2500" spc="-114" dirty="0">
                <a:solidFill>
                  <a:srgbClr val="006FC0"/>
                </a:solidFill>
                <a:latin typeface="Tahoma"/>
                <a:cs typeface="Tahoma"/>
              </a:rPr>
              <a:t>has</a:t>
            </a:r>
            <a:r>
              <a:rPr sz="25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7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5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20" dirty="0">
                <a:solidFill>
                  <a:srgbClr val="006FC0"/>
                </a:solidFill>
                <a:latin typeface="Tahoma"/>
                <a:cs typeface="Tahoma"/>
              </a:rPr>
              <a:t>binary </a:t>
            </a:r>
            <a:r>
              <a:rPr sz="2500" spc="-10" dirty="0">
                <a:solidFill>
                  <a:srgbClr val="006FC0"/>
                </a:solidFill>
                <a:latin typeface="Tahoma"/>
                <a:cs typeface="Tahoma"/>
              </a:rPr>
              <a:t>value </a:t>
            </a:r>
            <a:r>
              <a:rPr sz="2500" spc="6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500" spc="-15" dirty="0">
                <a:solidFill>
                  <a:srgbClr val="006FC0"/>
                </a:solidFill>
                <a:latin typeface="Tahoma"/>
                <a:cs typeface="Tahoma"/>
              </a:rPr>
              <a:t>0010 </a:t>
            </a:r>
            <a:r>
              <a:rPr sz="2500" spc="5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spc="-10" dirty="0">
                <a:solidFill>
                  <a:srgbClr val="006FC0"/>
                </a:solidFill>
                <a:latin typeface="Tahoma"/>
                <a:cs typeface="Tahoma"/>
              </a:rPr>
              <a:t>cell </a:t>
            </a:r>
            <a:r>
              <a:rPr sz="2500" spc="2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5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500" spc="65" dirty="0">
                <a:solidFill>
                  <a:srgbClr val="006FC0"/>
                </a:solidFill>
                <a:latin typeface="Tahoma"/>
                <a:cs typeface="Tahoma"/>
              </a:rPr>
              <a:t>lower </a:t>
            </a:r>
            <a:r>
              <a:rPr sz="2500" spc="-25" dirty="0">
                <a:solidFill>
                  <a:srgbClr val="006FC0"/>
                </a:solidFill>
                <a:latin typeface="Tahoma"/>
                <a:cs typeface="Tahoma"/>
              </a:rPr>
              <a:t>right </a:t>
            </a:r>
            <a:r>
              <a:rPr sz="25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5" dirty="0">
                <a:solidFill>
                  <a:srgbClr val="006FC0"/>
                </a:solidFill>
                <a:latin typeface="Tahoma"/>
                <a:cs typeface="Tahoma"/>
              </a:rPr>
              <a:t>corner</a:t>
            </a:r>
            <a:r>
              <a:rPr sz="25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110" dirty="0">
                <a:solidFill>
                  <a:srgbClr val="006FC0"/>
                </a:solidFill>
                <a:latin typeface="Tahoma"/>
                <a:cs typeface="Tahoma"/>
              </a:rPr>
              <a:t>has</a:t>
            </a:r>
            <a:r>
              <a:rPr sz="2500" spc="-70" dirty="0">
                <a:solidFill>
                  <a:srgbClr val="006FC0"/>
                </a:solidFill>
                <a:latin typeface="Tahoma"/>
                <a:cs typeface="Tahoma"/>
              </a:rPr>
              <a:t> a</a:t>
            </a:r>
            <a:r>
              <a:rPr sz="25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25" dirty="0">
                <a:solidFill>
                  <a:srgbClr val="006FC0"/>
                </a:solidFill>
                <a:latin typeface="Tahoma"/>
                <a:cs typeface="Tahoma"/>
              </a:rPr>
              <a:t>binary</a:t>
            </a:r>
            <a:r>
              <a:rPr sz="25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006FC0"/>
                </a:solidFill>
                <a:latin typeface="Tahoma"/>
                <a:cs typeface="Tahoma"/>
              </a:rPr>
              <a:t>value</a:t>
            </a:r>
            <a:r>
              <a:rPr sz="25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5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500" spc="-110" dirty="0">
                <a:solidFill>
                  <a:srgbClr val="006FC0"/>
                </a:solidFill>
                <a:latin typeface="Tahoma"/>
                <a:cs typeface="Tahoma"/>
              </a:rPr>
              <a:t>1010.</a:t>
            </a:r>
            <a:endParaRPr sz="25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47952"/>
            <a:ext cx="8376284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7630" algn="ctr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4-VARIABLE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14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Figure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shows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standard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product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terms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represented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by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each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cell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7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4-variable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Karnaugh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map.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3400" y="3124200"/>
            <a:ext cx="8615680" cy="3733800"/>
            <a:chOff x="533400" y="3124200"/>
            <a:chExt cx="8615680" cy="37338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5800" y="3124200"/>
              <a:ext cx="4149852" cy="28956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3400" y="3124200"/>
              <a:ext cx="3590544" cy="30480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62762"/>
            <a:ext cx="8377555" cy="55486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R="89535" algn="ctr">
              <a:lnSpc>
                <a:spcPct val="100000"/>
              </a:lnSpc>
              <a:spcBef>
                <a:spcPts val="325"/>
              </a:spcBef>
            </a:pP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4-VARIABLE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spcBef>
                <a:spcPts val="29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Cells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differ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by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only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one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variable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adjacent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&amp; </a:t>
            </a:r>
            <a:r>
              <a:rPr sz="26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Cells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values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differ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by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more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 than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one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variable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5" dirty="0">
                <a:solidFill>
                  <a:srgbClr val="006FC0"/>
                </a:solidFill>
                <a:latin typeface="Tahoma"/>
                <a:cs typeface="Tahoma"/>
              </a:rPr>
              <a:t>not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adjacent.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3-variable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map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010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cell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adjacent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000,011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-220" dirty="0">
                <a:solidFill>
                  <a:srgbClr val="006FC0"/>
                </a:solidFill>
                <a:latin typeface="Tahoma"/>
                <a:cs typeface="Tahoma"/>
              </a:rPr>
              <a:t>110</a:t>
            </a:r>
            <a:r>
              <a:rPr sz="2600" spc="3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cell.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010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cell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50" dirty="0">
                <a:solidFill>
                  <a:srgbClr val="006FC0"/>
                </a:solidFill>
                <a:latin typeface="Tahoma"/>
                <a:cs typeface="Tahoma"/>
              </a:rPr>
              <a:t>not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adjacent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e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00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80" dirty="0">
                <a:solidFill>
                  <a:srgbClr val="006FC0"/>
                </a:solidFill>
                <a:latin typeface="Tahoma"/>
                <a:cs typeface="Tahoma"/>
              </a:rPr>
              <a:t>111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40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600" spc="-120" dirty="0">
                <a:solidFill>
                  <a:srgbClr val="006FC0"/>
                </a:solidFill>
                <a:latin typeface="Tahoma"/>
                <a:cs typeface="Tahoma"/>
              </a:rPr>
              <a:t>0</a:t>
            </a:r>
            <a:r>
              <a:rPr sz="2600" spc="120" dirty="0">
                <a:solidFill>
                  <a:srgbClr val="006FC0"/>
                </a:solidFill>
                <a:latin typeface="Tahoma"/>
                <a:cs typeface="Tahoma"/>
              </a:rPr>
              <a:t>0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9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40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600" spc="-120" dirty="0">
                <a:solidFill>
                  <a:srgbClr val="006FC0"/>
                </a:solidFill>
                <a:latin typeface="Tahoma"/>
                <a:cs typeface="Tahoma"/>
              </a:rPr>
              <a:t>0</a:t>
            </a:r>
            <a:r>
              <a:rPr sz="2600" spc="-385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600" spc="75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Physically, 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cell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adjacent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cells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immediately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next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it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006FC0"/>
                </a:solidFill>
                <a:latin typeface="Tahoma"/>
                <a:cs typeface="Tahoma"/>
              </a:rPr>
              <a:t>on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any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its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four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sides.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175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cell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600" spc="45" dirty="0">
                <a:solidFill>
                  <a:srgbClr val="006FC0"/>
                </a:solidFill>
                <a:latin typeface="Tahoma"/>
                <a:cs typeface="Tahoma"/>
              </a:rPr>
              <a:t>not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adjacent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cells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diagonally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touch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any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its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corners.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77998" y="1090930"/>
            <a:ext cx="34912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4-VARIABLE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3400" y="1371600"/>
            <a:ext cx="8615680" cy="5486400"/>
            <a:chOff x="533400" y="1371600"/>
            <a:chExt cx="8615680" cy="5486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" y="1371600"/>
              <a:ext cx="6795516" cy="34671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9331" y="3189223"/>
            <a:ext cx="8374380" cy="330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6985" marR="159385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When </a:t>
            </a:r>
            <a:r>
              <a:rPr sz="1800" b="1" spc="-15" dirty="0">
                <a:latin typeface="Calibri"/>
                <a:cs typeface="Calibri"/>
              </a:rPr>
              <a:t>we have </a:t>
            </a:r>
            <a:r>
              <a:rPr sz="1800" b="1" dirty="0">
                <a:latin typeface="Calibri"/>
                <a:cs typeface="Calibri"/>
              </a:rPr>
              <a:t>a </a:t>
            </a:r>
            <a:r>
              <a:rPr sz="1800" b="1" spc="-10" dirty="0">
                <a:latin typeface="Calibri"/>
                <a:cs typeface="Calibri"/>
              </a:rPr>
              <a:t>difference </a:t>
            </a:r>
            <a:r>
              <a:rPr sz="1800" b="1" dirty="0">
                <a:latin typeface="Calibri"/>
                <a:cs typeface="Calibri"/>
              </a:rPr>
              <a:t>of 1 bit </a:t>
            </a:r>
            <a:r>
              <a:rPr sz="1800" b="1" spc="-5" dirty="0">
                <a:latin typeface="Calibri"/>
                <a:cs typeface="Calibri"/>
              </a:rPr>
              <a:t>b/w </a:t>
            </a:r>
            <a:r>
              <a:rPr sz="1800" b="1" spc="-10" dirty="0">
                <a:latin typeface="Calibri"/>
                <a:cs typeface="Calibri"/>
              </a:rPr>
              <a:t>two </a:t>
            </a:r>
            <a:r>
              <a:rPr sz="1800" b="1" spc="-5" dirty="0">
                <a:latin typeface="Calibri"/>
                <a:cs typeface="Calibri"/>
              </a:rPr>
              <a:t> adjacent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cells</a:t>
            </a:r>
            <a:r>
              <a:rPr sz="1800" b="1" spc="-5" dirty="0">
                <a:latin typeface="Calibri"/>
                <a:cs typeface="Calibri"/>
              </a:rPr>
              <a:t> we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can</a:t>
            </a:r>
            <a:r>
              <a:rPr sz="1800" b="1" spc="-5" dirty="0">
                <a:latin typeface="Calibri"/>
                <a:cs typeface="Calibri"/>
              </a:rPr>
              <a:t> easily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eliminate 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Redundant </a:t>
            </a:r>
            <a:r>
              <a:rPr sz="1800" b="1" spc="-15" dirty="0">
                <a:latin typeface="Calibri"/>
                <a:cs typeface="Calibri"/>
              </a:rPr>
              <a:t>literals </a:t>
            </a:r>
            <a:r>
              <a:rPr sz="1800" b="1" spc="-10" dirty="0">
                <a:latin typeface="Calibri"/>
                <a:cs typeface="Calibri"/>
              </a:rPr>
              <a:t>from </a:t>
            </a:r>
            <a:r>
              <a:rPr sz="1800" b="1" dirty="0">
                <a:latin typeface="Calibri"/>
                <a:cs typeface="Calibri"/>
              </a:rPr>
              <a:t>the </a:t>
            </a:r>
            <a:r>
              <a:rPr sz="1800" b="1" spc="-15" dirty="0">
                <a:latin typeface="Calibri"/>
                <a:cs typeface="Calibri"/>
              </a:rPr>
              <a:t>expression </a:t>
            </a:r>
            <a:r>
              <a:rPr sz="1800" b="1" dirty="0">
                <a:latin typeface="Calibri"/>
                <a:cs typeface="Calibri"/>
              </a:rPr>
              <a:t>&amp; </a:t>
            </a:r>
            <a:r>
              <a:rPr sz="1800" b="1" spc="-5" dirty="0">
                <a:latin typeface="Calibri"/>
                <a:cs typeface="Calibri"/>
              </a:rPr>
              <a:t>then </a:t>
            </a:r>
            <a:r>
              <a:rPr sz="1800" b="1" spc="-39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we</a:t>
            </a:r>
            <a:r>
              <a:rPr sz="1800" b="1" spc="-10" dirty="0">
                <a:latin typeface="Calibri"/>
                <a:cs typeface="Calibri"/>
              </a:rPr>
              <a:t> can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minimize</a:t>
            </a:r>
            <a:r>
              <a:rPr sz="1800" b="1" spc="-5" dirty="0">
                <a:latin typeface="Calibri"/>
                <a:cs typeface="Calibri"/>
              </a:rPr>
              <a:t> our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function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which</a:t>
            </a:r>
            <a:r>
              <a:rPr sz="1800" b="1" spc="38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is</a:t>
            </a:r>
            <a:r>
              <a:rPr sz="1800" b="1" spc="38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the </a:t>
            </a:r>
            <a:r>
              <a:rPr sz="1800" b="1" dirty="0">
                <a:latin typeface="Calibri"/>
                <a:cs typeface="Calibri"/>
              </a:rPr>
              <a:t> aim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" dirty="0">
                <a:latin typeface="Calibri"/>
                <a:cs typeface="Calibri"/>
              </a:rPr>
              <a:t> K-Map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!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Calibri"/>
              <a:cs typeface="Calibri"/>
            </a:endParaRPr>
          </a:p>
          <a:p>
            <a:pPr marL="477520" indent="-464820">
              <a:lnSpc>
                <a:spcPts val="31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600" spc="114" dirty="0">
                <a:solidFill>
                  <a:srgbClr val="006FC0"/>
                </a:solidFill>
                <a:latin typeface="Tahoma"/>
                <a:cs typeface="Tahoma"/>
              </a:rPr>
              <a:t>Why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k-map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5" dirty="0">
                <a:solidFill>
                  <a:srgbClr val="006FC0"/>
                </a:solidFill>
                <a:latin typeface="Tahoma"/>
                <a:cs typeface="Tahoma"/>
              </a:rPr>
              <a:t>follows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gray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code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logic?</a:t>
            </a:r>
            <a:endParaRPr sz="2600">
              <a:latin typeface="Tahoma"/>
              <a:cs typeface="Tahoma"/>
            </a:endParaRPr>
          </a:p>
          <a:p>
            <a:pPr marL="12700" marR="5080" algn="just">
              <a:lnSpc>
                <a:spcPts val="2400"/>
              </a:lnSpc>
              <a:spcBef>
                <a:spcPts val="60"/>
              </a:spcBef>
            </a:pPr>
            <a:r>
              <a:rPr sz="2000" b="1" dirty="0">
                <a:latin typeface="Calibri"/>
                <a:cs typeface="Calibri"/>
              </a:rPr>
              <a:t>In the </a:t>
            </a:r>
            <a:r>
              <a:rPr sz="2000" b="1" spc="-5" dirty="0">
                <a:latin typeface="Calibri"/>
                <a:cs typeface="Calibri"/>
              </a:rPr>
              <a:t>case of</a:t>
            </a:r>
            <a:r>
              <a:rPr sz="2000" b="1" dirty="0">
                <a:latin typeface="Calibri"/>
                <a:cs typeface="Calibri"/>
              </a:rPr>
              <a:t> K-Map, </a:t>
            </a:r>
            <a:r>
              <a:rPr sz="2000" b="1" spc="-10" dirty="0">
                <a:latin typeface="Calibri"/>
                <a:cs typeface="Calibri"/>
              </a:rPr>
              <a:t>we </a:t>
            </a:r>
            <a:r>
              <a:rPr sz="2000" b="1" spc="-15" dirty="0">
                <a:latin typeface="Calibri"/>
                <a:cs typeface="Calibri"/>
              </a:rPr>
              <a:t>have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difference </a:t>
            </a:r>
            <a:r>
              <a:rPr sz="2000" b="1" dirty="0">
                <a:latin typeface="Calibri"/>
                <a:cs typeface="Calibri"/>
              </a:rPr>
              <a:t>of only </a:t>
            </a:r>
            <a:r>
              <a:rPr sz="2000" b="1" spc="-5" dirty="0">
                <a:latin typeface="Calibri"/>
                <a:cs typeface="Calibri"/>
              </a:rPr>
              <a:t>1-bit </a:t>
            </a:r>
            <a:r>
              <a:rPr sz="2000" b="1" dirty="0">
                <a:latin typeface="Calibri"/>
                <a:cs typeface="Calibri"/>
              </a:rPr>
              <a:t>b/w </a:t>
            </a:r>
            <a:r>
              <a:rPr sz="2000" b="1" spc="-5" dirty="0">
                <a:latin typeface="Calibri"/>
                <a:cs typeface="Calibri"/>
              </a:rPr>
              <a:t>adjacent cells. 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Consider </a:t>
            </a:r>
            <a:r>
              <a:rPr sz="2000" b="1" dirty="0">
                <a:latin typeface="Calibri"/>
                <a:cs typeface="Calibri"/>
              </a:rPr>
              <a:t>the </a:t>
            </a:r>
            <a:r>
              <a:rPr sz="2000" b="1" spc="-5" dirty="0">
                <a:latin typeface="Calibri"/>
                <a:cs typeface="Calibri"/>
              </a:rPr>
              <a:t>case </a:t>
            </a:r>
            <a:r>
              <a:rPr sz="2000" b="1" dirty="0">
                <a:latin typeface="Calibri"/>
                <a:cs typeface="Calibri"/>
              </a:rPr>
              <a:t>of </a:t>
            </a:r>
            <a:r>
              <a:rPr sz="2000" b="1" spc="-15" dirty="0">
                <a:latin typeface="Calibri"/>
                <a:cs typeface="Calibri"/>
              </a:rPr>
              <a:t>first </a:t>
            </a:r>
            <a:r>
              <a:rPr sz="2000" b="1" dirty="0">
                <a:latin typeface="Calibri"/>
                <a:cs typeface="Calibri"/>
              </a:rPr>
              <a:t>2 </a:t>
            </a:r>
            <a:r>
              <a:rPr sz="2000" b="1" spc="-5" dirty="0">
                <a:latin typeface="Calibri"/>
                <a:cs typeface="Calibri"/>
              </a:rPr>
              <a:t>cells: </a:t>
            </a:r>
            <a:r>
              <a:rPr sz="2000" b="1" dirty="0">
                <a:latin typeface="Calibri"/>
                <a:cs typeface="Calibri"/>
              </a:rPr>
              <a:t>00 </a:t>
            </a:r>
            <a:r>
              <a:rPr sz="2000" b="1" spc="-5" dirty="0">
                <a:latin typeface="Calibri"/>
                <a:cs typeface="Calibri"/>
              </a:rPr>
              <a:t>01. In </a:t>
            </a:r>
            <a:r>
              <a:rPr sz="2000" b="1" dirty="0">
                <a:latin typeface="Calibri"/>
                <a:cs typeface="Calibri"/>
              </a:rPr>
              <a:t>case(SOP) </a:t>
            </a:r>
            <a:r>
              <a:rPr sz="2000" b="1" spc="-5" dirty="0">
                <a:latin typeface="Calibri"/>
                <a:cs typeface="Calibri"/>
              </a:rPr>
              <a:t>if </a:t>
            </a:r>
            <a:r>
              <a:rPr sz="2000" b="1" spc="-15" dirty="0">
                <a:latin typeface="Calibri"/>
                <a:cs typeface="Calibri"/>
              </a:rPr>
              <a:t>we have </a:t>
            </a:r>
            <a:r>
              <a:rPr sz="2000" b="1" dirty="0">
                <a:latin typeface="Calibri"/>
                <a:cs typeface="Calibri"/>
              </a:rPr>
              <a:t>1 </a:t>
            </a:r>
            <a:r>
              <a:rPr sz="2000" b="1" spc="-5" dirty="0">
                <a:latin typeface="Calibri"/>
                <a:cs typeface="Calibri"/>
              </a:rPr>
              <a:t>in both </a:t>
            </a:r>
            <a:r>
              <a:rPr sz="2000" b="1" dirty="0">
                <a:latin typeface="Calibri"/>
                <a:cs typeface="Calibri"/>
              </a:rPr>
              <a:t>these 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cells</a:t>
            </a:r>
            <a:r>
              <a:rPr sz="2000" b="1" spc="2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then</a:t>
            </a:r>
            <a:r>
              <a:rPr sz="2000" b="1" spc="28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it</a:t>
            </a:r>
            <a:r>
              <a:rPr sz="2000" b="1" spc="28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will</a:t>
            </a:r>
            <a:r>
              <a:rPr sz="2000" b="1" spc="27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produce</a:t>
            </a:r>
            <a:r>
              <a:rPr sz="2000" b="1" spc="2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A'B'+A'B.</a:t>
            </a:r>
            <a:r>
              <a:rPr sz="2000" b="1" spc="29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Which</a:t>
            </a:r>
            <a:r>
              <a:rPr sz="2000" b="1" spc="30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will</a:t>
            </a:r>
            <a:r>
              <a:rPr sz="2000" b="1" spc="29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give</a:t>
            </a:r>
            <a:r>
              <a:rPr sz="2000" b="1" spc="295" dirty="0">
                <a:latin typeface="Calibri"/>
                <a:cs typeface="Calibri"/>
              </a:rPr>
              <a:t> </a:t>
            </a:r>
            <a:r>
              <a:rPr sz="2000" b="1" spc="-110" dirty="0">
                <a:latin typeface="Calibri"/>
                <a:cs typeface="Calibri"/>
              </a:rPr>
              <a:t>A‘.</a:t>
            </a:r>
            <a:r>
              <a:rPr sz="2000" b="1" spc="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Because</a:t>
            </a:r>
            <a:r>
              <a:rPr sz="2000" b="1" spc="28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B+B'=1.</a:t>
            </a:r>
            <a:endParaRPr sz="2000">
              <a:latin typeface="Calibri"/>
              <a:cs typeface="Calibri"/>
            </a:endParaRPr>
          </a:p>
          <a:p>
            <a:pPr marL="12700" algn="just">
              <a:lnSpc>
                <a:spcPts val="2330"/>
              </a:lnSpc>
            </a:pPr>
            <a:r>
              <a:rPr sz="2000" b="1" spc="-85" dirty="0">
                <a:latin typeface="Calibri"/>
                <a:cs typeface="Calibri"/>
              </a:rPr>
              <a:t>To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utilize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this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concept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B+B'=1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easily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we </a:t>
            </a:r>
            <a:r>
              <a:rPr sz="2000" b="1" spc="-15" dirty="0">
                <a:latin typeface="Calibri"/>
                <a:cs typeface="Calibri"/>
              </a:rPr>
              <a:t>have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Gray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code</a:t>
            </a:r>
            <a:r>
              <a:rPr sz="2000" b="1" dirty="0">
                <a:latin typeface="Calibri"/>
                <a:cs typeface="Calibri"/>
              </a:rPr>
              <a:t> in</a:t>
            </a:r>
            <a:r>
              <a:rPr sz="2000" b="1" spc="-5" dirty="0">
                <a:latin typeface="Calibri"/>
                <a:cs typeface="Calibri"/>
              </a:rPr>
              <a:t> K-Map.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58140" y="1090930"/>
            <a:ext cx="8427720" cy="5329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6995" algn="ctr">
              <a:lnSpc>
                <a:spcPts val="2390"/>
              </a:lnSpc>
              <a:spcBef>
                <a:spcPts val="105"/>
              </a:spcBef>
            </a:pP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GROUPING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IN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502284" marR="30480" indent="-464820">
              <a:lnSpc>
                <a:spcPts val="2880"/>
              </a:lnSpc>
              <a:spcBef>
                <a:spcPts val="85"/>
              </a:spcBef>
              <a:buClr>
                <a:srgbClr val="E36C09"/>
              </a:buClr>
              <a:buFont typeface="Wingdings"/>
              <a:buChar char=""/>
              <a:tabLst>
                <a:tab pos="502284" algn="l"/>
                <a:tab pos="502920" algn="l"/>
              </a:tabLst>
            </a:pP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2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power</a:t>
            </a:r>
            <a:r>
              <a:rPr sz="2400" spc="25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400" spc="25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K-maps</a:t>
            </a:r>
            <a:r>
              <a:rPr sz="2400" spc="2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400" spc="25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3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400" spc="2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5" dirty="0">
                <a:solidFill>
                  <a:srgbClr val="006FC0"/>
                </a:solidFill>
                <a:latin typeface="Tahoma"/>
                <a:cs typeface="Tahoma"/>
              </a:rPr>
              <a:t>minimizing</a:t>
            </a:r>
            <a:r>
              <a:rPr sz="2400" spc="2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25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terms,</a:t>
            </a:r>
            <a:r>
              <a:rPr sz="2400" spc="2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K-maps </a:t>
            </a:r>
            <a:r>
              <a:rPr sz="2400" spc="-7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400" spc="2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400" spc="2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0" dirty="0">
                <a:solidFill>
                  <a:srgbClr val="006FC0"/>
                </a:solidFill>
                <a:latin typeface="Tahoma"/>
                <a:cs typeface="Tahoma"/>
              </a:rPr>
              <a:t>minimized</a:t>
            </a:r>
            <a:r>
              <a:rPr sz="2400" spc="2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400" spc="229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2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help</a:t>
            </a:r>
            <a:r>
              <a:rPr sz="2400" spc="2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400" spc="2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ahoma"/>
                <a:cs typeface="Tahoma"/>
              </a:rPr>
              <a:t>grouping</a:t>
            </a:r>
            <a:r>
              <a:rPr sz="2400" spc="2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2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terms</a:t>
            </a:r>
            <a:r>
              <a:rPr sz="2400" spc="2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endParaRPr sz="2400">
              <a:latin typeface="Tahoma"/>
              <a:cs typeface="Tahoma"/>
            </a:endParaRPr>
          </a:p>
          <a:p>
            <a:pPr marL="502284">
              <a:lnSpc>
                <a:spcPts val="2785"/>
              </a:lnSpc>
            </a:pPr>
            <a:r>
              <a:rPr sz="2400" spc="40" dirty="0">
                <a:solidFill>
                  <a:srgbClr val="006FC0"/>
                </a:solidFill>
                <a:latin typeface="Tahoma"/>
                <a:cs typeface="Tahoma"/>
              </a:rPr>
              <a:t>form</a:t>
            </a:r>
            <a:r>
              <a:rPr sz="24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single</a:t>
            </a:r>
            <a:r>
              <a:rPr sz="24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terms.</a:t>
            </a:r>
            <a:endParaRPr sz="2400">
              <a:latin typeface="Tahoma"/>
              <a:cs typeface="Tahoma"/>
            </a:endParaRPr>
          </a:p>
          <a:p>
            <a:pPr marL="464184" marR="400685" indent="-464184" algn="r">
              <a:lnSpc>
                <a:spcPct val="100000"/>
              </a:lnSpc>
              <a:spcBef>
                <a:spcPts val="1440"/>
              </a:spcBef>
              <a:buClr>
                <a:srgbClr val="E36C09"/>
              </a:buClr>
              <a:buFont typeface="Wingdings"/>
              <a:buChar char=""/>
              <a:tabLst>
                <a:tab pos="464184" algn="l"/>
                <a:tab pos="502920" algn="l"/>
              </a:tabLst>
            </a:pPr>
            <a:r>
              <a:rPr sz="2400" spc="45" dirty="0">
                <a:solidFill>
                  <a:srgbClr val="006FC0"/>
                </a:solidFill>
                <a:latin typeface="Tahoma"/>
                <a:cs typeface="Tahoma"/>
              </a:rPr>
              <a:t>When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5" dirty="0">
                <a:solidFill>
                  <a:srgbClr val="006FC0"/>
                </a:solidFill>
                <a:latin typeface="Tahoma"/>
                <a:cs typeface="Tahoma"/>
              </a:rPr>
              <a:t>forming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groups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Tahoma"/>
                <a:cs typeface="Tahoma"/>
              </a:rPr>
              <a:t>squares,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Tahoma"/>
                <a:cs typeface="Tahoma"/>
              </a:rPr>
              <a:t>observe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006FC0"/>
                </a:solidFill>
                <a:latin typeface="Tahoma"/>
                <a:cs typeface="Tahoma"/>
              </a:rPr>
              <a:t>following:</a:t>
            </a:r>
            <a:endParaRPr sz="2400">
              <a:latin typeface="Tahoma"/>
              <a:cs typeface="Tahoma"/>
            </a:endParaRPr>
          </a:p>
          <a:p>
            <a:pPr marL="285750" marR="415290" lvl="1" indent="-285750" algn="r">
              <a:lnSpc>
                <a:spcPct val="100000"/>
              </a:lnSpc>
              <a:spcBef>
                <a:spcPts val="10"/>
              </a:spcBef>
              <a:buClr>
                <a:srgbClr val="E36C09"/>
              </a:buClr>
              <a:buAutoNum type="arabicPeriod"/>
              <a:tabLst>
                <a:tab pos="285750" algn="l"/>
              </a:tabLst>
            </a:pPr>
            <a:r>
              <a:rPr sz="2200" spc="5" dirty="0">
                <a:latin typeface="Tahoma"/>
                <a:cs typeface="Tahoma"/>
              </a:rPr>
              <a:t>Every</a:t>
            </a:r>
            <a:r>
              <a:rPr sz="2200" spc="-60" dirty="0">
                <a:latin typeface="Tahoma"/>
                <a:cs typeface="Tahoma"/>
              </a:rPr>
              <a:t> square </a:t>
            </a:r>
            <a:r>
              <a:rPr sz="2200" dirty="0">
                <a:latin typeface="Tahoma"/>
                <a:cs typeface="Tahoma"/>
              </a:rPr>
              <a:t>containing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-330" dirty="0">
                <a:latin typeface="Tahoma"/>
                <a:cs typeface="Tahoma"/>
              </a:rPr>
              <a:t>1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spc="-60" dirty="0">
                <a:latin typeface="Tahoma"/>
                <a:cs typeface="Tahoma"/>
              </a:rPr>
              <a:t>must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be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spc="-15" dirty="0">
                <a:latin typeface="Tahoma"/>
                <a:cs typeface="Tahoma"/>
              </a:rPr>
              <a:t>considered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at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spc="-55" dirty="0">
                <a:latin typeface="Tahoma"/>
                <a:cs typeface="Tahoma"/>
              </a:rPr>
              <a:t>least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once.</a:t>
            </a:r>
            <a:endParaRPr sz="2200">
              <a:latin typeface="Tahoma"/>
              <a:cs typeface="Tahoma"/>
            </a:endParaRPr>
          </a:p>
          <a:p>
            <a:pPr marL="788035" lvl="1" indent="-286385">
              <a:lnSpc>
                <a:spcPct val="100000"/>
              </a:lnSpc>
              <a:buClr>
                <a:srgbClr val="E36C09"/>
              </a:buClr>
              <a:buAutoNum type="arabicPeriod"/>
              <a:tabLst>
                <a:tab pos="788670" algn="l"/>
              </a:tabLst>
            </a:pPr>
            <a:r>
              <a:rPr sz="2200" spc="-20" dirty="0">
                <a:latin typeface="Tahoma"/>
                <a:cs typeface="Tahoma"/>
              </a:rPr>
              <a:t>The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number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55" dirty="0">
                <a:latin typeface="Tahoma"/>
                <a:cs typeface="Tahoma"/>
              </a:rPr>
              <a:t>of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spc="-130" dirty="0">
                <a:latin typeface="Tahoma"/>
                <a:cs typeface="Tahoma"/>
              </a:rPr>
              <a:t>1’s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spc="35" dirty="0">
                <a:latin typeface="Tahoma"/>
                <a:cs typeface="Tahoma"/>
              </a:rPr>
              <a:t>in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-60" dirty="0">
                <a:latin typeface="Tahoma"/>
                <a:cs typeface="Tahoma"/>
              </a:rPr>
              <a:t>a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spc="5" dirty="0">
                <a:latin typeface="Tahoma"/>
                <a:cs typeface="Tahoma"/>
              </a:rPr>
              <a:t>group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-60" dirty="0">
                <a:latin typeface="Tahoma"/>
                <a:cs typeface="Tahoma"/>
              </a:rPr>
              <a:t>must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-35" dirty="0">
                <a:latin typeface="Tahoma"/>
                <a:cs typeface="Tahoma"/>
              </a:rPr>
              <a:t>be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equal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to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30" dirty="0">
                <a:latin typeface="Tahoma"/>
                <a:cs typeface="Tahoma"/>
              </a:rPr>
              <a:t>2</a:t>
            </a:r>
            <a:r>
              <a:rPr sz="2175" spc="44" baseline="24904" dirty="0">
                <a:latin typeface="Tahoma"/>
                <a:cs typeface="Tahoma"/>
              </a:rPr>
              <a:t>n</a:t>
            </a:r>
            <a:r>
              <a:rPr sz="2175" spc="284" baseline="24904" dirty="0">
                <a:latin typeface="Tahoma"/>
                <a:cs typeface="Tahoma"/>
              </a:rPr>
              <a:t> </a:t>
            </a:r>
            <a:r>
              <a:rPr sz="2200" spc="-40" dirty="0">
                <a:latin typeface="Tahoma"/>
                <a:cs typeface="Tahoma"/>
              </a:rPr>
              <a:t>,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-25" dirty="0">
                <a:latin typeface="Tahoma"/>
                <a:cs typeface="Tahoma"/>
              </a:rPr>
              <a:t>i.e.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5" dirty="0">
                <a:latin typeface="Tahoma"/>
                <a:cs typeface="Tahoma"/>
              </a:rPr>
              <a:t>2,4,8.</a:t>
            </a:r>
            <a:endParaRPr sz="2200">
              <a:latin typeface="Tahoma"/>
              <a:cs typeface="Tahoma"/>
            </a:endParaRPr>
          </a:p>
          <a:p>
            <a:pPr marL="788035" lvl="1" indent="-286385">
              <a:lnSpc>
                <a:spcPct val="100000"/>
              </a:lnSpc>
              <a:buClr>
                <a:srgbClr val="E36C09"/>
              </a:buClr>
              <a:buAutoNum type="arabicPeriod"/>
              <a:tabLst>
                <a:tab pos="788670" algn="l"/>
              </a:tabLst>
            </a:pPr>
            <a:r>
              <a:rPr sz="2200" spc="140" dirty="0">
                <a:latin typeface="Tahoma"/>
                <a:cs typeface="Tahoma"/>
              </a:rPr>
              <a:t>A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spc="-105" dirty="0">
                <a:latin typeface="Tahoma"/>
                <a:cs typeface="Tahoma"/>
              </a:rPr>
              <a:t>g</a:t>
            </a:r>
            <a:r>
              <a:rPr sz="2200" spc="-45" dirty="0">
                <a:latin typeface="Tahoma"/>
                <a:cs typeface="Tahoma"/>
              </a:rPr>
              <a:t>r</a:t>
            </a:r>
            <a:r>
              <a:rPr sz="2200" spc="130" dirty="0">
                <a:latin typeface="Tahoma"/>
                <a:cs typeface="Tahoma"/>
              </a:rPr>
              <a:t>o</a:t>
            </a:r>
            <a:r>
              <a:rPr sz="2200" spc="-20" dirty="0">
                <a:latin typeface="Tahoma"/>
                <a:cs typeface="Tahoma"/>
              </a:rPr>
              <a:t>u</a:t>
            </a:r>
            <a:r>
              <a:rPr sz="2200" spc="60" dirty="0">
                <a:latin typeface="Tahoma"/>
                <a:cs typeface="Tahoma"/>
              </a:rPr>
              <a:t>p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spc="30" dirty="0">
                <a:latin typeface="Tahoma"/>
                <a:cs typeface="Tahoma"/>
              </a:rPr>
              <a:t>m</a:t>
            </a:r>
            <a:r>
              <a:rPr sz="2200" spc="-20" dirty="0">
                <a:latin typeface="Tahoma"/>
                <a:cs typeface="Tahoma"/>
              </a:rPr>
              <a:t>u</a:t>
            </a:r>
            <a:r>
              <a:rPr sz="2200" spc="-120" dirty="0">
                <a:latin typeface="Tahoma"/>
                <a:cs typeface="Tahoma"/>
              </a:rPr>
              <a:t>st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b</a:t>
            </a:r>
            <a:r>
              <a:rPr sz="2200" spc="-35" dirty="0">
                <a:latin typeface="Tahoma"/>
                <a:cs typeface="Tahoma"/>
              </a:rPr>
              <a:t>e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150" dirty="0">
                <a:latin typeface="Tahoma"/>
                <a:cs typeface="Tahoma"/>
              </a:rPr>
              <a:t>a</a:t>
            </a:r>
            <a:r>
              <a:rPr sz="2200" spc="-135" dirty="0">
                <a:latin typeface="Tahoma"/>
                <a:cs typeface="Tahoma"/>
              </a:rPr>
              <a:t>s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l</a:t>
            </a:r>
            <a:r>
              <a:rPr sz="2200" spc="-60" dirty="0">
                <a:latin typeface="Tahoma"/>
                <a:cs typeface="Tahoma"/>
              </a:rPr>
              <a:t>a</a:t>
            </a:r>
            <a:r>
              <a:rPr sz="2200" dirty="0">
                <a:latin typeface="Tahoma"/>
                <a:cs typeface="Tahoma"/>
              </a:rPr>
              <a:t>r</a:t>
            </a:r>
            <a:r>
              <a:rPr sz="2200" spc="-105" dirty="0">
                <a:latin typeface="Tahoma"/>
                <a:cs typeface="Tahoma"/>
              </a:rPr>
              <a:t>g</a:t>
            </a:r>
            <a:r>
              <a:rPr sz="2200" spc="-80" dirty="0">
                <a:latin typeface="Tahoma"/>
                <a:cs typeface="Tahoma"/>
              </a:rPr>
              <a:t>e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-150" dirty="0">
                <a:latin typeface="Tahoma"/>
                <a:cs typeface="Tahoma"/>
              </a:rPr>
              <a:t>a</a:t>
            </a:r>
            <a:r>
              <a:rPr sz="2200" spc="-135" dirty="0">
                <a:latin typeface="Tahoma"/>
                <a:cs typeface="Tahoma"/>
              </a:rPr>
              <a:t>s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p</a:t>
            </a:r>
            <a:r>
              <a:rPr sz="2200" spc="130" dirty="0">
                <a:latin typeface="Tahoma"/>
                <a:cs typeface="Tahoma"/>
              </a:rPr>
              <a:t>o</a:t>
            </a:r>
            <a:r>
              <a:rPr sz="2200" spc="-75" dirty="0">
                <a:latin typeface="Tahoma"/>
                <a:cs typeface="Tahoma"/>
              </a:rPr>
              <a:t>ssib</a:t>
            </a:r>
            <a:r>
              <a:rPr sz="2200" spc="-35" dirty="0">
                <a:latin typeface="Tahoma"/>
                <a:cs typeface="Tahoma"/>
              </a:rPr>
              <a:t>l</a:t>
            </a:r>
            <a:r>
              <a:rPr sz="2200" spc="-65" dirty="0">
                <a:latin typeface="Tahoma"/>
                <a:cs typeface="Tahoma"/>
              </a:rPr>
              <a:t>e</a:t>
            </a:r>
            <a:r>
              <a:rPr sz="2200" spc="-40" dirty="0">
                <a:latin typeface="Tahoma"/>
                <a:cs typeface="Tahoma"/>
              </a:rPr>
              <a:t>.</a:t>
            </a:r>
            <a:endParaRPr sz="2200">
              <a:latin typeface="Tahoma"/>
              <a:cs typeface="Tahoma"/>
            </a:endParaRPr>
          </a:p>
          <a:p>
            <a:pPr marL="788035" marR="30480" lvl="1" indent="-285750">
              <a:lnSpc>
                <a:spcPct val="100000"/>
              </a:lnSpc>
              <a:buClr>
                <a:srgbClr val="E36C09"/>
              </a:buClr>
              <a:buAutoNum type="arabicPeriod"/>
              <a:tabLst>
                <a:tab pos="788670" algn="l"/>
              </a:tabLst>
            </a:pPr>
            <a:r>
              <a:rPr sz="2200" spc="140" dirty="0">
                <a:latin typeface="Tahoma"/>
                <a:cs typeface="Tahoma"/>
              </a:rPr>
              <a:t>A</a:t>
            </a:r>
            <a:r>
              <a:rPr sz="2200" spc="240" dirty="0">
                <a:latin typeface="Tahoma"/>
                <a:cs typeface="Tahoma"/>
              </a:rPr>
              <a:t> </a:t>
            </a:r>
            <a:r>
              <a:rPr sz="2200" spc="-60" dirty="0">
                <a:latin typeface="Tahoma"/>
                <a:cs typeface="Tahoma"/>
              </a:rPr>
              <a:t>square</a:t>
            </a:r>
            <a:r>
              <a:rPr sz="2200" spc="254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containing</a:t>
            </a:r>
            <a:r>
              <a:rPr sz="2200" spc="254" dirty="0">
                <a:latin typeface="Tahoma"/>
                <a:cs typeface="Tahoma"/>
              </a:rPr>
              <a:t> </a:t>
            </a:r>
            <a:r>
              <a:rPr sz="2200" spc="-330" dirty="0">
                <a:latin typeface="Tahoma"/>
                <a:cs typeface="Tahoma"/>
              </a:rPr>
              <a:t>1</a:t>
            </a:r>
            <a:r>
              <a:rPr sz="2200" spc="-95" dirty="0">
                <a:latin typeface="Tahoma"/>
                <a:cs typeface="Tahoma"/>
              </a:rPr>
              <a:t> </a:t>
            </a:r>
            <a:r>
              <a:rPr sz="2200" spc="-45" dirty="0">
                <a:latin typeface="Tahoma"/>
                <a:cs typeface="Tahoma"/>
              </a:rPr>
              <a:t>can</a:t>
            </a:r>
            <a:r>
              <a:rPr sz="2200" spc="250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be</a:t>
            </a:r>
            <a:r>
              <a:rPr sz="2200" spc="245" dirty="0">
                <a:latin typeface="Tahoma"/>
                <a:cs typeface="Tahoma"/>
              </a:rPr>
              <a:t> </a:t>
            </a:r>
            <a:r>
              <a:rPr sz="2200" spc="5" dirty="0">
                <a:latin typeface="Tahoma"/>
                <a:cs typeface="Tahoma"/>
              </a:rPr>
              <a:t>included</a:t>
            </a:r>
            <a:r>
              <a:rPr sz="2200" spc="260" dirty="0">
                <a:latin typeface="Tahoma"/>
                <a:cs typeface="Tahoma"/>
              </a:rPr>
              <a:t> </a:t>
            </a:r>
            <a:r>
              <a:rPr sz="2200" spc="25" dirty="0">
                <a:latin typeface="Tahoma"/>
                <a:cs typeface="Tahoma"/>
              </a:rPr>
              <a:t>in</a:t>
            </a:r>
            <a:r>
              <a:rPr sz="2200" spc="260" dirty="0">
                <a:latin typeface="Tahoma"/>
                <a:cs typeface="Tahoma"/>
              </a:rPr>
              <a:t> </a:t>
            </a:r>
            <a:r>
              <a:rPr sz="2200" spc="-150" dirty="0">
                <a:latin typeface="Tahoma"/>
                <a:cs typeface="Tahoma"/>
              </a:rPr>
              <a:t>as</a:t>
            </a:r>
            <a:r>
              <a:rPr sz="2200" spc="250" dirty="0">
                <a:latin typeface="Tahoma"/>
                <a:cs typeface="Tahoma"/>
              </a:rPr>
              <a:t> </a:t>
            </a:r>
            <a:r>
              <a:rPr sz="2200" spc="5" dirty="0">
                <a:latin typeface="Tahoma"/>
                <a:cs typeface="Tahoma"/>
              </a:rPr>
              <a:t>many</a:t>
            </a:r>
            <a:r>
              <a:rPr sz="2200" spc="260" dirty="0">
                <a:latin typeface="Tahoma"/>
                <a:cs typeface="Tahoma"/>
              </a:rPr>
              <a:t> </a:t>
            </a:r>
            <a:r>
              <a:rPr sz="2200" spc="-45" dirty="0">
                <a:latin typeface="Tahoma"/>
                <a:cs typeface="Tahoma"/>
              </a:rPr>
              <a:t>groups</a:t>
            </a:r>
            <a:r>
              <a:rPr sz="2200" spc="250" dirty="0">
                <a:latin typeface="Tahoma"/>
                <a:cs typeface="Tahoma"/>
              </a:rPr>
              <a:t> </a:t>
            </a:r>
            <a:r>
              <a:rPr sz="2200" spc="-155" dirty="0">
                <a:latin typeface="Tahoma"/>
                <a:cs typeface="Tahoma"/>
              </a:rPr>
              <a:t>as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desired.</a:t>
            </a:r>
            <a:endParaRPr sz="2200">
              <a:latin typeface="Tahoma"/>
              <a:cs typeface="Tahoma"/>
            </a:endParaRPr>
          </a:p>
          <a:p>
            <a:pPr marL="788035" lvl="1" indent="-286385">
              <a:lnSpc>
                <a:spcPct val="100000"/>
              </a:lnSpc>
              <a:buClr>
                <a:srgbClr val="E36C09"/>
              </a:buClr>
              <a:buAutoNum type="arabicPeriod"/>
              <a:tabLst>
                <a:tab pos="788670" algn="l"/>
                <a:tab pos="1094105" algn="l"/>
                <a:tab pos="1369695" algn="l"/>
                <a:tab pos="2291715" algn="l"/>
                <a:tab pos="3698875" algn="l"/>
                <a:tab pos="3945890" algn="l"/>
                <a:tab pos="4916805" algn="l"/>
                <a:tab pos="5346700" algn="l"/>
                <a:tab pos="6276340" algn="l"/>
                <a:tab pos="6640830" algn="l"/>
                <a:tab pos="6915150" algn="l"/>
                <a:tab pos="7847965" algn="l"/>
              </a:tabLst>
            </a:pPr>
            <a:r>
              <a:rPr sz="2200" spc="-100" dirty="0">
                <a:latin typeface="Tahoma"/>
                <a:cs typeface="Tahoma"/>
              </a:rPr>
              <a:t>If	</a:t>
            </a:r>
            <a:r>
              <a:rPr sz="2200" spc="-65" dirty="0">
                <a:latin typeface="Tahoma"/>
                <a:cs typeface="Tahoma"/>
              </a:rPr>
              <a:t>a	square	</a:t>
            </a:r>
            <a:r>
              <a:rPr sz="2200" spc="-5" dirty="0">
                <a:latin typeface="Tahoma"/>
                <a:cs typeface="Tahoma"/>
              </a:rPr>
              <a:t>containing	</a:t>
            </a:r>
            <a:r>
              <a:rPr sz="2200" spc="-330" dirty="0">
                <a:latin typeface="Tahoma"/>
                <a:cs typeface="Tahoma"/>
              </a:rPr>
              <a:t>1	</a:t>
            </a:r>
            <a:r>
              <a:rPr sz="2200" spc="-5" dirty="0">
                <a:latin typeface="Tahoma"/>
                <a:cs typeface="Tahoma"/>
              </a:rPr>
              <a:t>cannot	</a:t>
            </a:r>
            <a:r>
              <a:rPr sz="2200" spc="-40" dirty="0">
                <a:latin typeface="Tahoma"/>
                <a:cs typeface="Tahoma"/>
              </a:rPr>
              <a:t>be	</a:t>
            </a:r>
            <a:r>
              <a:rPr sz="2200" spc="-10" dirty="0">
                <a:latin typeface="Tahoma"/>
                <a:cs typeface="Tahoma"/>
              </a:rPr>
              <a:t>placed	</a:t>
            </a:r>
            <a:r>
              <a:rPr sz="2200" spc="25" dirty="0">
                <a:latin typeface="Tahoma"/>
                <a:cs typeface="Tahoma"/>
              </a:rPr>
              <a:t>in	</a:t>
            </a:r>
            <a:r>
              <a:rPr sz="2200" spc="-65" dirty="0">
                <a:latin typeface="Tahoma"/>
                <a:cs typeface="Tahoma"/>
              </a:rPr>
              <a:t>a	</a:t>
            </a:r>
            <a:r>
              <a:rPr sz="2200" spc="-10" dirty="0">
                <a:latin typeface="Tahoma"/>
                <a:cs typeface="Tahoma"/>
              </a:rPr>
              <a:t>group,	</a:t>
            </a:r>
            <a:r>
              <a:rPr sz="2200" spc="-30" dirty="0">
                <a:latin typeface="Tahoma"/>
                <a:cs typeface="Tahoma"/>
              </a:rPr>
              <a:t>then</a:t>
            </a:r>
            <a:endParaRPr sz="2200">
              <a:latin typeface="Tahoma"/>
              <a:cs typeface="Tahoma"/>
            </a:endParaRPr>
          </a:p>
          <a:p>
            <a:pPr marL="788035">
              <a:lnSpc>
                <a:spcPct val="100000"/>
              </a:lnSpc>
            </a:pPr>
            <a:r>
              <a:rPr sz="2200" spc="-10" dirty="0">
                <a:latin typeface="Tahoma"/>
                <a:cs typeface="Tahoma"/>
              </a:rPr>
              <a:t>leave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25" dirty="0">
                <a:latin typeface="Tahoma"/>
                <a:cs typeface="Tahoma"/>
              </a:rPr>
              <a:t>it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35" dirty="0">
                <a:latin typeface="Tahoma"/>
                <a:cs typeface="Tahoma"/>
              </a:rPr>
              <a:t>out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to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spc="5" dirty="0">
                <a:latin typeface="Tahoma"/>
                <a:cs typeface="Tahoma"/>
              </a:rPr>
              <a:t>include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35" dirty="0">
                <a:latin typeface="Tahoma"/>
                <a:cs typeface="Tahoma"/>
              </a:rPr>
              <a:t>in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10" dirty="0">
                <a:latin typeface="Tahoma"/>
                <a:cs typeface="Tahoma"/>
              </a:rPr>
              <a:t>final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-40" dirty="0">
                <a:latin typeface="Tahoma"/>
                <a:cs typeface="Tahoma"/>
              </a:rPr>
              <a:t>expression.</a:t>
            </a:r>
            <a:endParaRPr sz="2200">
              <a:latin typeface="Tahoma"/>
              <a:cs typeface="Tahoma"/>
            </a:endParaRPr>
          </a:p>
          <a:p>
            <a:pPr marL="788035" marR="31115" lvl="1" indent="-285750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AutoNum type="arabicPeriod" startAt="6"/>
              <a:tabLst>
                <a:tab pos="788670" algn="l"/>
                <a:tab pos="1380490" algn="l"/>
                <a:tab pos="2682240" algn="l"/>
                <a:tab pos="3386454" algn="l"/>
                <a:tab pos="4781550" algn="l"/>
                <a:tab pos="5506720" algn="l"/>
                <a:tab pos="5781040" algn="l"/>
                <a:tab pos="6713855" algn="l"/>
                <a:tab pos="7014209" algn="l"/>
                <a:tab pos="7567295" algn="l"/>
              </a:tabLst>
            </a:pPr>
            <a:r>
              <a:rPr sz="2200" spc="-5" dirty="0">
                <a:latin typeface="Tahoma"/>
                <a:cs typeface="Tahoma"/>
              </a:rPr>
              <a:t>T</a:t>
            </a:r>
            <a:r>
              <a:rPr sz="2200" spc="5" dirty="0">
                <a:latin typeface="Tahoma"/>
                <a:cs typeface="Tahoma"/>
              </a:rPr>
              <a:t>h</a:t>
            </a:r>
            <a:r>
              <a:rPr sz="2200" spc="-80" dirty="0">
                <a:latin typeface="Tahoma"/>
                <a:cs typeface="Tahoma"/>
              </a:rPr>
              <a:t>e</a:t>
            </a:r>
            <a:r>
              <a:rPr sz="2200" dirty="0">
                <a:latin typeface="Tahoma"/>
                <a:cs typeface="Tahoma"/>
              </a:rPr>
              <a:t>	</a:t>
            </a:r>
            <a:r>
              <a:rPr sz="2200" spc="-25" dirty="0">
                <a:latin typeface="Tahoma"/>
                <a:cs typeface="Tahoma"/>
              </a:rPr>
              <a:t>sim</a:t>
            </a:r>
            <a:r>
              <a:rPr sz="2200" spc="-20" dirty="0">
                <a:latin typeface="Tahoma"/>
                <a:cs typeface="Tahoma"/>
              </a:rPr>
              <a:t>p</a:t>
            </a:r>
            <a:r>
              <a:rPr sz="2200" spc="10" dirty="0">
                <a:latin typeface="Tahoma"/>
                <a:cs typeface="Tahoma"/>
              </a:rPr>
              <a:t>lifi</a:t>
            </a:r>
            <a:r>
              <a:rPr sz="2200" spc="25" dirty="0">
                <a:latin typeface="Tahoma"/>
                <a:cs typeface="Tahoma"/>
              </a:rPr>
              <a:t>e</a:t>
            </a:r>
            <a:r>
              <a:rPr sz="2200" spc="55" dirty="0">
                <a:latin typeface="Tahoma"/>
                <a:cs typeface="Tahoma"/>
              </a:rPr>
              <a:t>d</a:t>
            </a:r>
            <a:r>
              <a:rPr sz="2200" dirty="0">
                <a:latin typeface="Tahoma"/>
                <a:cs typeface="Tahoma"/>
              </a:rPr>
              <a:t>	</a:t>
            </a:r>
            <a:r>
              <a:rPr sz="2200" spc="5" dirty="0">
                <a:latin typeface="Tahoma"/>
                <a:cs typeface="Tahoma"/>
              </a:rPr>
              <a:t>logic</a:t>
            </a:r>
            <a:r>
              <a:rPr sz="2200" dirty="0">
                <a:latin typeface="Tahoma"/>
                <a:cs typeface="Tahoma"/>
              </a:rPr>
              <a:t>	</a:t>
            </a:r>
            <a:r>
              <a:rPr sz="2200" spc="-130" dirty="0">
                <a:latin typeface="Tahoma"/>
                <a:cs typeface="Tahoma"/>
              </a:rPr>
              <a:t>e</a:t>
            </a:r>
            <a:r>
              <a:rPr sz="2200" spc="35" dirty="0">
                <a:latin typeface="Tahoma"/>
                <a:cs typeface="Tahoma"/>
              </a:rPr>
              <a:t>x</a:t>
            </a:r>
            <a:r>
              <a:rPr sz="2200" spc="45" dirty="0">
                <a:latin typeface="Tahoma"/>
                <a:cs typeface="Tahoma"/>
              </a:rPr>
              <a:t>p</a:t>
            </a:r>
            <a:r>
              <a:rPr sz="2200" dirty="0">
                <a:latin typeface="Tahoma"/>
                <a:cs typeface="Tahoma"/>
              </a:rPr>
              <a:t>r</a:t>
            </a:r>
            <a:r>
              <a:rPr sz="2200" spc="-65" dirty="0">
                <a:latin typeface="Tahoma"/>
                <a:cs typeface="Tahoma"/>
              </a:rPr>
              <a:t>essio</a:t>
            </a:r>
            <a:r>
              <a:rPr sz="2200" spc="-75" dirty="0">
                <a:latin typeface="Tahoma"/>
                <a:cs typeface="Tahoma"/>
              </a:rPr>
              <a:t>n</a:t>
            </a:r>
            <a:r>
              <a:rPr sz="2200" dirty="0">
                <a:latin typeface="Tahoma"/>
                <a:cs typeface="Tahoma"/>
              </a:rPr>
              <a:t>	</a:t>
            </a:r>
            <a:r>
              <a:rPr sz="2200" spc="-10" dirty="0">
                <a:latin typeface="Tahoma"/>
                <a:cs typeface="Tahoma"/>
              </a:rPr>
              <a:t>f</a:t>
            </a:r>
            <a:r>
              <a:rPr sz="2200" spc="-45" dirty="0">
                <a:latin typeface="Tahoma"/>
                <a:cs typeface="Tahoma"/>
              </a:rPr>
              <a:t>r</a:t>
            </a:r>
            <a:r>
              <a:rPr sz="2200" spc="50" dirty="0">
                <a:latin typeface="Tahoma"/>
                <a:cs typeface="Tahoma"/>
              </a:rPr>
              <a:t>o</a:t>
            </a:r>
            <a:r>
              <a:rPr sz="2200" spc="85" dirty="0">
                <a:latin typeface="Tahoma"/>
                <a:cs typeface="Tahoma"/>
              </a:rPr>
              <a:t>m</a:t>
            </a:r>
            <a:r>
              <a:rPr sz="2200" dirty="0">
                <a:latin typeface="Tahoma"/>
                <a:cs typeface="Tahoma"/>
              </a:rPr>
              <a:t>	</a:t>
            </a:r>
            <a:r>
              <a:rPr sz="2200" spc="-65" dirty="0">
                <a:latin typeface="Tahoma"/>
                <a:cs typeface="Tahoma"/>
              </a:rPr>
              <a:t>a</a:t>
            </a:r>
            <a:r>
              <a:rPr sz="2200" dirty="0">
                <a:latin typeface="Tahoma"/>
                <a:cs typeface="Tahoma"/>
              </a:rPr>
              <a:t>	</a:t>
            </a:r>
            <a:r>
              <a:rPr sz="2200" spc="65" dirty="0">
                <a:latin typeface="Tahoma"/>
                <a:cs typeface="Tahoma"/>
              </a:rPr>
              <a:t>K</a:t>
            </a:r>
            <a:r>
              <a:rPr sz="2200" spc="-120" dirty="0">
                <a:latin typeface="Tahoma"/>
                <a:cs typeface="Tahoma"/>
              </a:rPr>
              <a:t>-</a:t>
            </a:r>
            <a:r>
              <a:rPr sz="2200" dirty="0">
                <a:latin typeface="Tahoma"/>
                <a:cs typeface="Tahoma"/>
              </a:rPr>
              <a:t>ma</a:t>
            </a:r>
            <a:r>
              <a:rPr sz="2200" spc="5" dirty="0">
                <a:latin typeface="Tahoma"/>
                <a:cs typeface="Tahoma"/>
              </a:rPr>
              <a:t>p</a:t>
            </a:r>
            <a:r>
              <a:rPr sz="2200" dirty="0">
                <a:latin typeface="Tahoma"/>
                <a:cs typeface="Tahoma"/>
              </a:rPr>
              <a:t>	</a:t>
            </a:r>
            <a:r>
              <a:rPr sz="2200" spc="-90" dirty="0">
                <a:latin typeface="Tahoma"/>
                <a:cs typeface="Tahoma"/>
              </a:rPr>
              <a:t>is</a:t>
            </a:r>
            <a:r>
              <a:rPr sz="2200" dirty="0">
                <a:latin typeface="Tahoma"/>
                <a:cs typeface="Tahoma"/>
              </a:rPr>
              <a:t>	</a:t>
            </a:r>
            <a:r>
              <a:rPr sz="2200" spc="40" dirty="0">
                <a:latin typeface="Tahoma"/>
                <a:cs typeface="Tahoma"/>
              </a:rPr>
              <a:t>not</a:t>
            </a:r>
            <a:r>
              <a:rPr sz="2200" dirty="0">
                <a:latin typeface="Tahoma"/>
                <a:cs typeface="Tahoma"/>
              </a:rPr>
              <a:t>	</a:t>
            </a:r>
            <a:r>
              <a:rPr sz="2200" spc="-60" dirty="0">
                <a:latin typeface="Tahoma"/>
                <a:cs typeface="Tahoma"/>
              </a:rPr>
              <a:t>a</a:t>
            </a:r>
            <a:r>
              <a:rPr sz="2200" spc="55" dirty="0">
                <a:latin typeface="Tahoma"/>
                <a:cs typeface="Tahoma"/>
              </a:rPr>
              <a:t>l</a:t>
            </a:r>
            <a:r>
              <a:rPr sz="2200" spc="170" dirty="0">
                <a:latin typeface="Tahoma"/>
                <a:cs typeface="Tahoma"/>
              </a:rPr>
              <a:t>w</a:t>
            </a:r>
            <a:r>
              <a:rPr sz="2200" spc="-75" dirty="0">
                <a:latin typeface="Tahoma"/>
                <a:cs typeface="Tahoma"/>
              </a:rPr>
              <a:t>ays  </a:t>
            </a:r>
            <a:r>
              <a:rPr sz="2200" spc="-10" dirty="0">
                <a:latin typeface="Tahoma"/>
                <a:cs typeface="Tahoma"/>
              </a:rPr>
              <a:t>unique.</a:t>
            </a:r>
            <a:endParaRPr sz="2200">
              <a:latin typeface="Tahoma"/>
              <a:cs typeface="Tahoma"/>
            </a:endParaRPr>
          </a:p>
          <a:p>
            <a:pPr marL="788035" lvl="1" indent="-286385">
              <a:lnSpc>
                <a:spcPct val="100000"/>
              </a:lnSpc>
              <a:buClr>
                <a:srgbClr val="E36C09"/>
              </a:buClr>
              <a:buAutoNum type="arabicPeriod" startAt="6"/>
              <a:tabLst>
                <a:tab pos="788670" algn="l"/>
              </a:tabLst>
            </a:pPr>
            <a:r>
              <a:rPr sz="2200" spc="-5" dirty="0">
                <a:latin typeface="Tahoma"/>
                <a:cs typeface="Tahoma"/>
              </a:rPr>
              <a:t>Groupings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-40" dirty="0">
                <a:latin typeface="Tahoma"/>
                <a:cs typeface="Tahoma"/>
              </a:rPr>
              <a:t>can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spc="-30" dirty="0">
                <a:latin typeface="Tahoma"/>
                <a:cs typeface="Tahoma"/>
              </a:rPr>
              <a:t>be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made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30" dirty="0">
                <a:latin typeface="Tahoma"/>
                <a:cs typeface="Tahoma"/>
              </a:rPr>
              <a:t>in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different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-15" dirty="0">
                <a:latin typeface="Tahoma"/>
                <a:cs typeface="Tahoma"/>
              </a:rPr>
              <a:t>ways.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90930"/>
            <a:ext cx="8376920" cy="1180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9535" algn="ctr">
              <a:lnSpc>
                <a:spcPts val="2385"/>
              </a:lnSpc>
              <a:spcBef>
                <a:spcPts val="105"/>
              </a:spcBef>
            </a:pP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TYPES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GROUPING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IN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ts val="3360"/>
              </a:lnSpc>
              <a:spcBef>
                <a:spcPts val="8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567180" algn="l"/>
                <a:tab pos="3277235" algn="l"/>
                <a:tab pos="3845560" algn="l"/>
                <a:tab pos="4712970" algn="l"/>
                <a:tab pos="5322570" algn="l"/>
                <a:tab pos="6870065" algn="l"/>
                <a:tab pos="7697470" algn="l"/>
                <a:tab pos="8148955" algn="l"/>
              </a:tabLst>
            </a:pPr>
            <a:r>
              <a:rPr sz="2800" spc="-18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800" dirty="0">
                <a:solidFill>
                  <a:srgbClr val="C00000"/>
                </a:solidFill>
                <a:latin typeface="Tahoma"/>
                <a:cs typeface="Tahoma"/>
              </a:rPr>
              <a:t>AI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800" spc="-130" dirty="0">
                <a:solidFill>
                  <a:srgbClr val="C00000"/>
                </a:solidFill>
                <a:latin typeface="Tahoma"/>
                <a:cs typeface="Tahoma"/>
              </a:rPr>
              <a:t>:</a:t>
            </a:r>
            <a:r>
              <a:rPr sz="28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upi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wo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405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’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gether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is 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represented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three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24000" y="2333244"/>
            <a:ext cx="7625080" cy="4525010"/>
            <a:chOff x="1524000" y="2333244"/>
            <a:chExt cx="7625080" cy="452501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4000" y="2333244"/>
              <a:ext cx="6019800" cy="21320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8800" y="4463795"/>
              <a:ext cx="5715000" cy="2057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90930"/>
            <a:ext cx="8374380" cy="1180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6995" algn="ctr">
              <a:lnSpc>
                <a:spcPts val="2385"/>
              </a:lnSpc>
              <a:spcBef>
                <a:spcPts val="105"/>
              </a:spcBef>
            </a:pP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TYPES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GROUPING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IN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ts val="3360"/>
              </a:lnSpc>
              <a:spcBef>
                <a:spcPts val="8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150" dirty="0">
                <a:solidFill>
                  <a:srgbClr val="C00000"/>
                </a:solidFill>
                <a:latin typeface="Tahoma"/>
                <a:cs typeface="Tahoma"/>
              </a:rPr>
              <a:t>QUAD:</a:t>
            </a:r>
            <a:r>
              <a:rPr sz="2800" spc="-1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Grouping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four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adjacent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1’s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it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results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two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24000" y="2286000"/>
            <a:ext cx="7625080" cy="4572000"/>
            <a:chOff x="1524000" y="2286000"/>
            <a:chExt cx="7625080" cy="4572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4000" y="2286000"/>
              <a:ext cx="5838444" cy="1981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38884" y="4419600"/>
              <a:ext cx="5576316" cy="1981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90930"/>
            <a:ext cx="8373109" cy="1180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5725" algn="ctr">
              <a:lnSpc>
                <a:spcPts val="2385"/>
              </a:lnSpc>
              <a:spcBef>
                <a:spcPts val="105"/>
              </a:spcBef>
            </a:pP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TYPES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GROUPING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IN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ts val="3360"/>
              </a:lnSpc>
              <a:spcBef>
                <a:spcPts val="8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856739" algn="l"/>
                <a:tab pos="2265045" algn="l"/>
                <a:tab pos="3215005" algn="l"/>
                <a:tab pos="4705350" algn="l"/>
                <a:tab pos="5263515" algn="l"/>
                <a:tab pos="5937250" algn="l"/>
                <a:tab pos="7776845" algn="l"/>
              </a:tabLst>
            </a:pPr>
            <a:r>
              <a:rPr sz="2800" spc="36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800" spc="16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800" spc="-4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800" spc="-47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800" spc="-130" dirty="0">
                <a:solidFill>
                  <a:srgbClr val="C00000"/>
                </a:solidFill>
                <a:latin typeface="Tahoma"/>
                <a:cs typeface="Tahoma"/>
              </a:rPr>
              <a:t>:</a:t>
            </a:r>
            <a:r>
              <a:rPr sz="28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ght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ad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j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acen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420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’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re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co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ine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;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nd 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represented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by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one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variable.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95400" y="2362200"/>
            <a:ext cx="7853680" cy="4495800"/>
            <a:chOff x="1295400" y="2362200"/>
            <a:chExt cx="7853680" cy="44958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5400" y="2362200"/>
              <a:ext cx="5867400" cy="192938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1600" y="4329683"/>
              <a:ext cx="5715000" cy="21473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95543"/>
            <a:ext cx="7912734" cy="546735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68300" algn="ctr">
              <a:lnSpc>
                <a:spcPct val="100000"/>
              </a:lnSpc>
              <a:spcBef>
                <a:spcPts val="855"/>
              </a:spcBef>
            </a:pP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RULES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FOR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endParaRPr sz="20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No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zeros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allowed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grouping.</a:t>
            </a:r>
            <a:endParaRPr sz="28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469900" algn="l"/>
              </a:tabLst>
            </a:pP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No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diagonals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grouping.</a:t>
            </a:r>
            <a:endParaRPr sz="28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469900" algn="l"/>
              </a:tabLst>
            </a:pPr>
            <a:r>
              <a:rPr sz="2800" spc="135" dirty="0">
                <a:solidFill>
                  <a:srgbClr val="006FC0"/>
                </a:solidFill>
                <a:latin typeface="Tahoma"/>
                <a:cs typeface="Tahoma"/>
              </a:rPr>
              <a:t>Only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power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2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cells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group.</a:t>
            </a:r>
            <a:endParaRPr sz="28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469900" algn="l"/>
              </a:tabLst>
            </a:pP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-2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4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3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4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ss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e.</a:t>
            </a:r>
            <a:endParaRPr sz="28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469900" algn="l"/>
              </a:tabLst>
            </a:pP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9" dirty="0">
                <a:solidFill>
                  <a:srgbClr val="006FC0"/>
                </a:solidFill>
                <a:latin typeface="Tahoma"/>
                <a:cs typeface="Tahoma"/>
              </a:rPr>
              <a:t>1</a:t>
            </a:r>
            <a:r>
              <a:rPr sz="2800" spc="210" dirty="0">
                <a:solidFill>
                  <a:srgbClr val="006FC0"/>
                </a:solidFill>
                <a:latin typeface="Tahoma"/>
                <a:cs typeface="Tahoma"/>
              </a:rPr>
              <a:t>’</a:t>
            </a:r>
            <a:r>
              <a:rPr sz="2800" spc="-2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le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469900" algn="l"/>
              </a:tabLst>
            </a:pP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Overlapping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allowed.</a:t>
            </a:r>
            <a:endParaRPr sz="28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469900" algn="l"/>
              </a:tabLst>
            </a:pP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Wrap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around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allowed.</a:t>
            </a:r>
            <a:endParaRPr sz="28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469900" algn="l"/>
              </a:tabLst>
            </a:pP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Fewest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groups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possible.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9740" y="1015339"/>
            <a:ext cx="6757034" cy="7874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383665">
              <a:lnSpc>
                <a:spcPct val="100000"/>
              </a:lnSpc>
              <a:spcBef>
                <a:spcPts val="700"/>
              </a:spcBef>
            </a:pP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RULES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FOR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37185" algn="l"/>
              </a:tabLst>
            </a:pPr>
            <a:r>
              <a:rPr sz="2000" spc="-165" dirty="0">
                <a:solidFill>
                  <a:srgbClr val="006FC0"/>
                </a:solidFill>
                <a:latin typeface="Tahoma"/>
                <a:cs typeface="Tahoma"/>
              </a:rPr>
              <a:t>1.	</a:t>
            </a: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Groups</a:t>
            </a:r>
            <a:r>
              <a:rPr sz="20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Tahoma"/>
                <a:cs typeface="Tahoma"/>
              </a:rPr>
              <a:t>may</a:t>
            </a:r>
            <a:r>
              <a:rPr sz="20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006FC0"/>
                </a:solidFill>
                <a:latin typeface="Tahoma"/>
                <a:cs typeface="Tahoma"/>
              </a:rPr>
              <a:t>not</a:t>
            </a:r>
            <a:r>
              <a:rPr sz="20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Tahoma"/>
                <a:cs typeface="Tahoma"/>
              </a:rPr>
              <a:t>include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any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cell</a:t>
            </a:r>
            <a:r>
              <a:rPr sz="20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Tahoma"/>
                <a:cs typeface="Tahoma"/>
              </a:rPr>
              <a:t>containing</a:t>
            </a:r>
            <a:r>
              <a:rPr sz="20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0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zero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24000" y="1990344"/>
            <a:ext cx="7625080" cy="4867910"/>
            <a:chOff x="1524000" y="1990344"/>
            <a:chExt cx="7625080" cy="486791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4000" y="1990344"/>
              <a:ext cx="5181600" cy="15910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200" y="4343400"/>
              <a:ext cx="5410200" cy="2057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9740" y="3685794"/>
            <a:ext cx="64776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sz="2000" spc="10" dirty="0">
                <a:solidFill>
                  <a:srgbClr val="006FC0"/>
                </a:solidFill>
                <a:latin typeface="Tahoma"/>
                <a:cs typeface="Tahoma"/>
              </a:rPr>
              <a:t>2.	</a:t>
            </a: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Groups</a:t>
            </a:r>
            <a:r>
              <a:rPr sz="20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Tahoma"/>
                <a:cs typeface="Tahoma"/>
              </a:rPr>
              <a:t>may</a:t>
            </a:r>
            <a:r>
              <a:rPr sz="20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0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006FC0"/>
                </a:solidFill>
                <a:latin typeface="Tahoma"/>
                <a:cs typeface="Tahoma"/>
              </a:rPr>
              <a:t>horizontal</a:t>
            </a:r>
            <a:r>
              <a:rPr sz="20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0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Tahoma"/>
                <a:cs typeface="Tahoma"/>
              </a:rPr>
              <a:t>vertical,</a:t>
            </a:r>
            <a:r>
              <a:rPr sz="20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but</a:t>
            </a:r>
            <a:r>
              <a:rPr sz="20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006FC0"/>
                </a:solidFill>
                <a:latin typeface="Tahoma"/>
                <a:cs typeface="Tahoma"/>
              </a:rPr>
              <a:t>not</a:t>
            </a:r>
            <a:r>
              <a:rPr sz="20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diagonal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600200" y="1600200"/>
            <a:ext cx="7548880" cy="5257800"/>
            <a:chOff x="1600200" y="1600200"/>
            <a:chExt cx="7548880" cy="52578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0200" y="1600200"/>
              <a:ext cx="5105400" cy="21336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7400" y="4495800"/>
              <a:ext cx="4648200" cy="1905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88340" y="1073912"/>
            <a:ext cx="49733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0365" algn="l"/>
              </a:tabLst>
            </a:pPr>
            <a:r>
              <a:rPr sz="2000" spc="55" dirty="0">
                <a:solidFill>
                  <a:srgbClr val="006FC0"/>
                </a:solidFill>
                <a:latin typeface="Tahoma"/>
                <a:cs typeface="Tahoma"/>
              </a:rPr>
              <a:t>4</a:t>
            </a:r>
            <a:r>
              <a:rPr sz="2000" spc="-35" dirty="0">
                <a:solidFill>
                  <a:srgbClr val="006FC0"/>
                </a:solidFill>
                <a:latin typeface="Tahoma"/>
                <a:cs typeface="Tahoma"/>
              </a:rPr>
              <a:t>.</a:t>
            </a:r>
            <a:r>
              <a:rPr sz="20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000" spc="-8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000" spc="-50" dirty="0">
                <a:solidFill>
                  <a:srgbClr val="006FC0"/>
                </a:solidFill>
                <a:latin typeface="Tahoma"/>
                <a:cs typeface="Tahoma"/>
              </a:rPr>
              <a:t>ach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000" spc="-4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000" spc="12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000" spc="15" dirty="0">
                <a:solidFill>
                  <a:srgbClr val="006FC0"/>
                </a:solidFill>
                <a:latin typeface="Tahoma"/>
                <a:cs typeface="Tahoma"/>
              </a:rPr>
              <a:t>up</a:t>
            </a:r>
            <a:r>
              <a:rPr sz="20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000" spc="12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000" spc="30" dirty="0">
                <a:solidFill>
                  <a:srgbClr val="006FC0"/>
                </a:solidFill>
                <a:latin typeface="Tahoma"/>
                <a:cs typeface="Tahoma"/>
              </a:rPr>
              <a:t>uld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000" spc="-7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0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000" spc="-21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0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000" spc="-5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000" spc="-85" dirty="0">
                <a:solidFill>
                  <a:srgbClr val="006FC0"/>
                </a:solidFill>
                <a:latin typeface="Tahoma"/>
                <a:cs typeface="Tahoma"/>
              </a:rPr>
              <a:t>ge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000" spc="-21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0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000" spc="12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000" spc="-204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000" spc="-40" dirty="0">
                <a:solidFill>
                  <a:srgbClr val="006FC0"/>
                </a:solidFill>
                <a:latin typeface="Tahoma"/>
                <a:cs typeface="Tahoma"/>
              </a:rPr>
              <a:t>si</a:t>
            </a:r>
            <a:r>
              <a:rPr sz="2000" spc="-8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000" spc="4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000" spc="-60" dirty="0">
                <a:solidFill>
                  <a:srgbClr val="006FC0"/>
                </a:solidFill>
                <a:latin typeface="Tahoma"/>
                <a:cs typeface="Tahoma"/>
              </a:rPr>
              <a:t>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24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12140" y="3975305"/>
            <a:ext cx="662749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80365" algn="l"/>
              </a:tabLst>
            </a:pPr>
            <a:r>
              <a:rPr sz="2000" spc="10" dirty="0">
                <a:solidFill>
                  <a:srgbClr val="006FC0"/>
                </a:solidFill>
                <a:latin typeface="Tahoma"/>
                <a:cs typeface="Tahoma"/>
              </a:rPr>
              <a:t>5.	</a:t>
            </a:r>
            <a:r>
              <a:rPr sz="2000" spc="-60" dirty="0">
                <a:solidFill>
                  <a:srgbClr val="006FC0"/>
                </a:solidFill>
                <a:latin typeface="Tahoma"/>
                <a:cs typeface="Tahoma"/>
              </a:rPr>
              <a:t>Each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cell</a:t>
            </a:r>
            <a:r>
              <a:rPr sz="20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Tahoma"/>
                <a:cs typeface="Tahoma"/>
              </a:rPr>
              <a:t>containing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0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i="1" spc="-25" dirty="0">
                <a:solidFill>
                  <a:srgbClr val="006FC0"/>
                </a:solidFill>
                <a:latin typeface="Trebuchet MS"/>
                <a:cs typeface="Trebuchet MS"/>
              </a:rPr>
              <a:t>one</a:t>
            </a:r>
            <a:r>
              <a:rPr sz="2100" i="1" spc="-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Tahoma"/>
                <a:cs typeface="Tahoma"/>
              </a:rPr>
              <a:t>must</a:t>
            </a:r>
            <a:r>
              <a:rPr sz="20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0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0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006FC0"/>
                </a:solidFill>
                <a:latin typeface="Tahoma"/>
                <a:cs typeface="Tahoma"/>
              </a:rPr>
              <a:t>at</a:t>
            </a:r>
            <a:r>
              <a:rPr sz="20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Tahoma"/>
                <a:cs typeface="Tahoma"/>
              </a:rPr>
              <a:t>least</a:t>
            </a:r>
            <a:r>
              <a:rPr sz="20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006FC0"/>
                </a:solidFill>
                <a:latin typeface="Tahoma"/>
                <a:cs typeface="Tahoma"/>
              </a:rPr>
              <a:t>one</a:t>
            </a:r>
            <a:r>
              <a:rPr sz="20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group.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590800" y="2133600"/>
            <a:ext cx="6558280" cy="4724400"/>
            <a:chOff x="2590800" y="2133600"/>
            <a:chExt cx="6558280" cy="47244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0800" y="2133600"/>
              <a:ext cx="5105400" cy="3733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2140" y="1302512"/>
            <a:ext cx="27387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0365" algn="l"/>
              </a:tabLst>
            </a:pPr>
            <a:r>
              <a:rPr sz="2000" spc="10" dirty="0">
                <a:solidFill>
                  <a:srgbClr val="006FC0"/>
                </a:solidFill>
                <a:latin typeface="Tahoma"/>
                <a:cs typeface="Tahoma"/>
              </a:rPr>
              <a:t>6.	</a:t>
            </a: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Groups</a:t>
            </a:r>
            <a:r>
              <a:rPr sz="2000" spc="-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Tahoma"/>
                <a:cs typeface="Tahoma"/>
              </a:rPr>
              <a:t>may</a:t>
            </a:r>
            <a:r>
              <a:rPr sz="20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006FC0"/>
                </a:solidFill>
                <a:latin typeface="Tahoma"/>
                <a:cs typeface="Tahoma"/>
              </a:rPr>
              <a:t>overlap.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0" y="4876800"/>
            <a:ext cx="5105400" cy="17526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5940" y="4197222"/>
            <a:ext cx="76955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sz="2000" spc="10" dirty="0">
                <a:solidFill>
                  <a:srgbClr val="006FC0"/>
                </a:solidFill>
                <a:latin typeface="Tahoma"/>
                <a:cs typeface="Tahoma"/>
              </a:rPr>
              <a:t>8.	</a:t>
            </a:r>
            <a:r>
              <a:rPr sz="2000" spc="-20" dirty="0">
                <a:solidFill>
                  <a:srgbClr val="006FC0"/>
                </a:solidFill>
                <a:latin typeface="Tahoma"/>
                <a:cs typeface="Tahoma"/>
              </a:rPr>
              <a:t>There</a:t>
            </a:r>
            <a:r>
              <a:rPr sz="20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Tahoma"/>
                <a:cs typeface="Tahoma"/>
              </a:rPr>
              <a:t>should</a:t>
            </a:r>
            <a:r>
              <a:rPr sz="20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0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0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006FC0"/>
                </a:solidFill>
                <a:latin typeface="Tahoma"/>
                <a:cs typeface="Tahoma"/>
              </a:rPr>
              <a:t>few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Tahoma"/>
                <a:cs typeface="Tahoma"/>
              </a:rPr>
              <a:t>groups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Tahoma"/>
                <a:cs typeface="Tahoma"/>
              </a:rPr>
              <a:t>possible,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006FC0"/>
                </a:solidFill>
                <a:latin typeface="Tahoma"/>
                <a:cs typeface="Tahoma"/>
              </a:rPr>
              <a:t>long</a:t>
            </a:r>
            <a:r>
              <a:rPr sz="20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000" spc="-40" dirty="0">
                <a:solidFill>
                  <a:srgbClr val="006FC0"/>
                </a:solidFill>
                <a:latin typeface="Tahoma"/>
                <a:cs typeface="Tahoma"/>
              </a:rPr>
              <a:t> this</a:t>
            </a:r>
            <a:r>
              <a:rPr sz="20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Tahoma"/>
                <a:cs typeface="Tahoma"/>
              </a:rPr>
              <a:t>does</a:t>
            </a:r>
            <a:r>
              <a:rPr sz="20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006FC0"/>
                </a:solidFill>
                <a:latin typeface="Tahoma"/>
                <a:cs typeface="Tahoma"/>
              </a:rPr>
              <a:t>not </a:t>
            </a:r>
            <a:r>
              <a:rPr sz="2000" spc="-6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Tahoma"/>
                <a:cs typeface="Tahoma"/>
              </a:rPr>
              <a:t>contradict</a:t>
            </a:r>
            <a:r>
              <a:rPr sz="20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any</a:t>
            </a:r>
            <a:r>
              <a:rPr sz="20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0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0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Tahoma"/>
                <a:cs typeface="Tahoma"/>
              </a:rPr>
              <a:t>previous</a:t>
            </a:r>
            <a:r>
              <a:rPr sz="20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006FC0"/>
                </a:solidFill>
                <a:latin typeface="Tahoma"/>
                <a:cs typeface="Tahoma"/>
              </a:rPr>
              <a:t>rules.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2140" y="1095882"/>
            <a:ext cx="791972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834" algn="just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7.</a:t>
            </a:r>
            <a:r>
              <a:rPr sz="20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Tahoma"/>
                <a:cs typeface="Tahoma"/>
              </a:rPr>
              <a:t>Groups </a:t>
            </a: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may </a:t>
            </a:r>
            <a:r>
              <a:rPr sz="2000" spc="40" dirty="0">
                <a:solidFill>
                  <a:srgbClr val="006FC0"/>
                </a:solidFill>
                <a:latin typeface="Tahoma"/>
                <a:cs typeface="Tahoma"/>
              </a:rPr>
              <a:t>wrap </a:t>
            </a:r>
            <a:r>
              <a:rPr sz="2000" spc="5" dirty="0">
                <a:solidFill>
                  <a:srgbClr val="006FC0"/>
                </a:solidFill>
                <a:latin typeface="Tahoma"/>
                <a:cs typeface="Tahoma"/>
              </a:rPr>
              <a:t>around </a:t>
            </a:r>
            <a:r>
              <a:rPr sz="20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000" spc="-20" dirty="0">
                <a:solidFill>
                  <a:srgbClr val="006FC0"/>
                </a:solidFill>
                <a:latin typeface="Tahoma"/>
                <a:cs typeface="Tahoma"/>
              </a:rPr>
              <a:t>table. </a:t>
            </a:r>
            <a:r>
              <a:rPr sz="2000" spc="-2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000" spc="-15" dirty="0">
                <a:solidFill>
                  <a:srgbClr val="006FC0"/>
                </a:solidFill>
                <a:latin typeface="Tahoma"/>
                <a:cs typeface="Tahoma"/>
              </a:rPr>
              <a:t>leftmost 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cell </a:t>
            </a:r>
            <a:r>
              <a:rPr sz="2000" spc="2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000" spc="75" dirty="0">
                <a:solidFill>
                  <a:srgbClr val="006FC0"/>
                </a:solidFill>
                <a:latin typeface="Tahoma"/>
                <a:cs typeface="Tahoma"/>
              </a:rPr>
              <a:t>row </a:t>
            </a:r>
            <a:r>
              <a:rPr sz="2000" dirty="0">
                <a:solidFill>
                  <a:srgbClr val="006FC0"/>
                </a:solidFill>
                <a:latin typeface="Tahoma"/>
                <a:cs typeface="Tahoma"/>
              </a:rPr>
              <a:t>may </a:t>
            </a:r>
            <a:r>
              <a:rPr sz="2000" spc="-6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grouped </a:t>
            </a:r>
            <a:r>
              <a:rPr sz="2000" spc="45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0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000" spc="-25" dirty="0">
                <a:solidFill>
                  <a:srgbClr val="006FC0"/>
                </a:solidFill>
                <a:latin typeface="Tahoma"/>
                <a:cs typeface="Tahoma"/>
              </a:rPr>
              <a:t>rightmost 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cell and </a:t>
            </a:r>
            <a:r>
              <a:rPr sz="20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000" spc="50" dirty="0">
                <a:solidFill>
                  <a:srgbClr val="006FC0"/>
                </a:solidFill>
                <a:latin typeface="Tahoma"/>
                <a:cs typeface="Tahoma"/>
              </a:rPr>
              <a:t>top 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cell </a:t>
            </a:r>
            <a:r>
              <a:rPr sz="2000" spc="2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000" spc="15" dirty="0">
                <a:solidFill>
                  <a:srgbClr val="006FC0"/>
                </a:solidFill>
                <a:latin typeface="Tahoma"/>
                <a:cs typeface="Tahoma"/>
              </a:rPr>
              <a:t>column </a:t>
            </a:r>
            <a:r>
              <a:rPr sz="2000" spc="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Tahoma"/>
                <a:cs typeface="Tahoma"/>
              </a:rPr>
              <a:t>may</a:t>
            </a:r>
            <a:r>
              <a:rPr sz="20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0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Tahoma"/>
                <a:cs typeface="Tahoma"/>
              </a:rPr>
              <a:t>grouped</a:t>
            </a:r>
            <a:r>
              <a:rPr sz="20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0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006FC0"/>
                </a:solidFill>
                <a:latin typeface="Tahoma"/>
                <a:cs typeface="Tahoma"/>
              </a:rPr>
              <a:t>bottom</a:t>
            </a:r>
            <a:r>
              <a:rPr sz="20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ahoma"/>
                <a:cs typeface="Tahoma"/>
              </a:rPr>
              <a:t>cell.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86000" y="1981200"/>
            <a:ext cx="6863080" cy="4876800"/>
            <a:chOff x="2286000" y="1981200"/>
            <a:chExt cx="6863080" cy="487680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86000" y="1981200"/>
              <a:ext cx="4191000" cy="2362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40218"/>
            <a:ext cx="8378825" cy="5481320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R="158750" algn="ctr">
              <a:lnSpc>
                <a:spcPct val="100000"/>
              </a:lnSpc>
              <a:spcBef>
                <a:spcPts val="1290"/>
              </a:spcBef>
            </a:pP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PROCEDURE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FOR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K-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SOP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endParaRPr sz="2000">
              <a:latin typeface="Tahoma"/>
              <a:cs typeface="Tahoma"/>
            </a:endParaRPr>
          </a:p>
          <a:p>
            <a:pPr marL="12700" marR="8255">
              <a:lnSpc>
                <a:spcPct val="100000"/>
              </a:lnSpc>
              <a:spcBef>
                <a:spcPts val="1420"/>
              </a:spcBef>
            </a:pP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2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generalized</a:t>
            </a:r>
            <a:r>
              <a:rPr sz="2400" spc="2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Tahoma"/>
                <a:cs typeface="Tahoma"/>
              </a:rPr>
              <a:t>procedure</a:t>
            </a:r>
            <a:r>
              <a:rPr sz="2400" spc="229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400" spc="2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simplify</a:t>
            </a:r>
            <a:r>
              <a:rPr sz="2400" spc="2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006FC0"/>
                </a:solidFill>
                <a:latin typeface="Tahoma"/>
                <a:cs typeface="Tahoma"/>
              </a:rPr>
              <a:t>Boolean</a:t>
            </a:r>
            <a:r>
              <a:rPr sz="2400" spc="2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expressions</a:t>
            </a:r>
            <a:r>
              <a:rPr sz="2400" spc="2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Tahoma"/>
                <a:cs typeface="Tahoma"/>
              </a:rPr>
              <a:t>as </a:t>
            </a:r>
            <a:r>
              <a:rPr sz="2400" spc="-7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30" dirty="0">
                <a:solidFill>
                  <a:srgbClr val="006FC0"/>
                </a:solidFill>
                <a:latin typeface="Tahoma"/>
                <a:cs typeface="Tahoma"/>
              </a:rPr>
              <a:t>follows:</a:t>
            </a:r>
            <a:endParaRPr sz="2400">
              <a:latin typeface="Tahoma"/>
              <a:cs typeface="Tahoma"/>
            </a:endParaRPr>
          </a:p>
          <a:p>
            <a:pPr marL="762635" indent="-28638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763270" algn="l"/>
              </a:tabLst>
            </a:pPr>
            <a:r>
              <a:rPr sz="2000" spc="35" dirty="0">
                <a:latin typeface="Tahoma"/>
                <a:cs typeface="Tahoma"/>
              </a:rPr>
              <a:t>Plot</a:t>
            </a:r>
            <a:r>
              <a:rPr sz="2000" spc="125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the</a:t>
            </a:r>
            <a:r>
              <a:rPr sz="2000" spc="1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K-map</a:t>
            </a:r>
            <a:r>
              <a:rPr sz="2000" spc="1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13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place</a:t>
            </a:r>
            <a:r>
              <a:rPr sz="2000" spc="13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1’s</a:t>
            </a:r>
            <a:r>
              <a:rPr sz="2000" spc="125" dirty="0">
                <a:latin typeface="Tahoma"/>
                <a:cs typeface="Tahoma"/>
              </a:rPr>
              <a:t> </a:t>
            </a:r>
            <a:r>
              <a:rPr sz="2000" spc="25" dirty="0">
                <a:latin typeface="Tahoma"/>
                <a:cs typeface="Tahoma"/>
              </a:rPr>
              <a:t>in</a:t>
            </a:r>
            <a:r>
              <a:rPr sz="2000" spc="130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those</a:t>
            </a:r>
            <a:r>
              <a:rPr sz="2000" spc="14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cells</a:t>
            </a:r>
            <a:r>
              <a:rPr sz="2000" spc="1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corresponding</a:t>
            </a:r>
            <a:r>
              <a:rPr sz="2000" spc="140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to</a:t>
            </a:r>
            <a:r>
              <a:rPr sz="2000" spc="125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the</a:t>
            </a:r>
            <a:r>
              <a:rPr sz="2000" spc="135" dirty="0">
                <a:latin typeface="Tahoma"/>
                <a:cs typeface="Tahoma"/>
              </a:rPr>
              <a:t> </a:t>
            </a:r>
            <a:r>
              <a:rPr sz="2000" spc="-130" dirty="0">
                <a:latin typeface="Tahoma"/>
                <a:cs typeface="Tahoma"/>
              </a:rPr>
              <a:t>1’s</a:t>
            </a:r>
            <a:endParaRPr sz="2000">
              <a:latin typeface="Tahoma"/>
              <a:cs typeface="Tahoma"/>
            </a:endParaRPr>
          </a:p>
          <a:p>
            <a:pPr marL="762635">
              <a:lnSpc>
                <a:spcPct val="100000"/>
              </a:lnSpc>
              <a:spcBef>
                <a:spcPts val="5"/>
              </a:spcBef>
            </a:pPr>
            <a:r>
              <a:rPr sz="2000" spc="30" dirty="0">
                <a:latin typeface="Tahoma"/>
                <a:cs typeface="Tahoma"/>
              </a:rPr>
              <a:t>in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the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sum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of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10" dirty="0">
                <a:latin typeface="Tahoma"/>
                <a:cs typeface="Tahoma"/>
              </a:rPr>
              <a:t>product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expression.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Place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0’s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30" dirty="0">
                <a:latin typeface="Tahoma"/>
                <a:cs typeface="Tahoma"/>
              </a:rPr>
              <a:t>in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the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5" dirty="0">
                <a:latin typeface="Tahoma"/>
                <a:cs typeface="Tahoma"/>
              </a:rPr>
              <a:t>other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cells.</a:t>
            </a:r>
            <a:endParaRPr sz="2000">
              <a:latin typeface="Tahoma"/>
              <a:cs typeface="Tahoma"/>
            </a:endParaRPr>
          </a:p>
          <a:p>
            <a:pPr marL="762635" marR="5715" indent="-285750" algn="just">
              <a:lnSpc>
                <a:spcPct val="100000"/>
              </a:lnSpc>
              <a:spcBef>
                <a:spcPts val="1440"/>
              </a:spcBef>
              <a:buAutoNum type="arabicPeriod" startAt="2"/>
              <a:tabLst>
                <a:tab pos="763270" algn="l"/>
              </a:tabLst>
            </a:pPr>
            <a:r>
              <a:rPr sz="2000" spc="-15" dirty="0">
                <a:latin typeface="Tahoma"/>
                <a:cs typeface="Tahoma"/>
              </a:rPr>
              <a:t>Check </a:t>
            </a:r>
            <a:r>
              <a:rPr sz="2000" spc="-35" dirty="0">
                <a:latin typeface="Tahoma"/>
                <a:cs typeface="Tahoma"/>
              </a:rPr>
              <a:t>the </a:t>
            </a:r>
            <a:r>
              <a:rPr sz="2000" spc="-10" dirty="0">
                <a:latin typeface="Tahoma"/>
                <a:cs typeface="Tahoma"/>
              </a:rPr>
              <a:t>K-map </a:t>
            </a:r>
            <a:r>
              <a:rPr sz="2000" spc="30" dirty="0">
                <a:latin typeface="Tahoma"/>
                <a:cs typeface="Tahoma"/>
              </a:rPr>
              <a:t>for </a:t>
            </a:r>
            <a:r>
              <a:rPr sz="2000" spc="-35" dirty="0">
                <a:latin typeface="Tahoma"/>
                <a:cs typeface="Tahoma"/>
              </a:rPr>
              <a:t>adjacent </a:t>
            </a:r>
            <a:r>
              <a:rPr sz="2000" spc="-125" dirty="0">
                <a:latin typeface="Tahoma"/>
                <a:cs typeface="Tahoma"/>
              </a:rPr>
              <a:t>1’s</a:t>
            </a:r>
            <a:r>
              <a:rPr sz="2000" spc="3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and </a:t>
            </a:r>
            <a:r>
              <a:rPr sz="2000" spc="-25" dirty="0">
                <a:latin typeface="Tahoma"/>
                <a:cs typeface="Tahoma"/>
              </a:rPr>
              <a:t>encircle </a:t>
            </a:r>
            <a:r>
              <a:rPr sz="2000" spc="-45" dirty="0">
                <a:latin typeface="Tahoma"/>
                <a:cs typeface="Tahoma"/>
              </a:rPr>
              <a:t>those </a:t>
            </a:r>
            <a:r>
              <a:rPr sz="2000" spc="-125" dirty="0">
                <a:latin typeface="Tahoma"/>
                <a:cs typeface="Tahoma"/>
              </a:rPr>
              <a:t>1’s</a:t>
            </a:r>
            <a:r>
              <a:rPr sz="2000" spc="375" dirty="0">
                <a:latin typeface="Tahoma"/>
                <a:cs typeface="Tahoma"/>
              </a:rPr>
              <a:t> </a:t>
            </a:r>
            <a:r>
              <a:rPr sz="2000" spc="20" dirty="0">
                <a:latin typeface="Tahoma"/>
                <a:cs typeface="Tahoma"/>
              </a:rPr>
              <a:t>which </a:t>
            </a:r>
            <a:r>
              <a:rPr sz="2000" spc="-45" dirty="0">
                <a:latin typeface="Tahoma"/>
                <a:cs typeface="Tahoma"/>
              </a:rPr>
              <a:t>are 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45" dirty="0">
                <a:latin typeface="Tahoma"/>
                <a:cs typeface="Tahoma"/>
              </a:rPr>
              <a:t>not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adjacent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55" dirty="0">
                <a:latin typeface="Tahoma"/>
                <a:cs typeface="Tahoma"/>
              </a:rPr>
              <a:t>to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5" dirty="0">
                <a:latin typeface="Tahoma"/>
                <a:cs typeface="Tahoma"/>
              </a:rPr>
              <a:t>any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5" dirty="0">
                <a:latin typeface="Tahoma"/>
                <a:cs typeface="Tahoma"/>
              </a:rPr>
              <a:t>other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1’s.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These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are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called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isolated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1’s.</a:t>
            </a:r>
            <a:endParaRPr sz="2000">
              <a:latin typeface="Tahoma"/>
              <a:cs typeface="Tahoma"/>
            </a:endParaRPr>
          </a:p>
          <a:p>
            <a:pPr marL="762635" indent="-286385">
              <a:lnSpc>
                <a:spcPct val="100000"/>
              </a:lnSpc>
              <a:spcBef>
                <a:spcPts val="1440"/>
              </a:spcBef>
              <a:buAutoNum type="arabicPeriod" startAt="2"/>
              <a:tabLst>
                <a:tab pos="763270" algn="l"/>
                <a:tab pos="1559560" algn="l"/>
                <a:tab pos="2013585" algn="l"/>
                <a:tab pos="2734945" algn="l"/>
                <a:tab pos="3126740" algn="l"/>
                <a:tab pos="3917315" algn="l"/>
                <a:tab pos="4391660" algn="l"/>
                <a:tab pos="5450840" algn="l"/>
                <a:tab pos="5816600" algn="l"/>
                <a:tab pos="6440170" algn="l"/>
                <a:tab pos="6990715" algn="l"/>
                <a:tab pos="7715884" algn="l"/>
                <a:tab pos="7947659" algn="l"/>
              </a:tabLst>
            </a:pPr>
            <a:r>
              <a:rPr sz="2000" spc="-15" dirty="0">
                <a:latin typeface="Tahoma"/>
                <a:cs typeface="Tahoma"/>
              </a:rPr>
              <a:t>Che</a:t>
            </a:r>
            <a:r>
              <a:rPr sz="2000" spc="-25" dirty="0">
                <a:latin typeface="Tahoma"/>
                <a:cs typeface="Tahoma"/>
              </a:rPr>
              <a:t>c</a:t>
            </a:r>
            <a:r>
              <a:rPr sz="2000" spc="10" dirty="0">
                <a:latin typeface="Tahoma"/>
                <a:cs typeface="Tahoma"/>
              </a:rPr>
              <a:t>k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30" dirty="0">
                <a:latin typeface="Tahoma"/>
                <a:cs typeface="Tahoma"/>
              </a:rPr>
              <a:t>for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25" dirty="0">
                <a:latin typeface="Tahoma"/>
                <a:cs typeface="Tahoma"/>
              </a:rPr>
              <a:t>th</a:t>
            </a:r>
            <a:r>
              <a:rPr sz="2000" spc="20" dirty="0">
                <a:latin typeface="Tahoma"/>
                <a:cs typeface="Tahoma"/>
              </a:rPr>
              <a:t>o</a:t>
            </a:r>
            <a:r>
              <a:rPr sz="2000" spc="-200" dirty="0">
                <a:latin typeface="Tahoma"/>
                <a:cs typeface="Tahoma"/>
              </a:rPr>
              <a:t>s</a:t>
            </a:r>
            <a:r>
              <a:rPr sz="2000" spc="-70" dirty="0">
                <a:latin typeface="Tahoma"/>
                <a:cs typeface="Tahoma"/>
              </a:rPr>
              <a:t>e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305" dirty="0">
                <a:latin typeface="Tahoma"/>
                <a:cs typeface="Tahoma"/>
              </a:rPr>
              <a:t>1</a:t>
            </a:r>
            <a:r>
              <a:rPr sz="2000" spc="-30" dirty="0">
                <a:latin typeface="Tahoma"/>
                <a:cs typeface="Tahoma"/>
              </a:rPr>
              <a:t>’s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85" dirty="0">
                <a:latin typeface="Tahoma"/>
                <a:cs typeface="Tahoma"/>
              </a:rPr>
              <a:t>w</a:t>
            </a:r>
            <a:r>
              <a:rPr sz="2000" spc="55" dirty="0">
                <a:latin typeface="Tahoma"/>
                <a:cs typeface="Tahoma"/>
              </a:rPr>
              <a:t>h</a:t>
            </a:r>
            <a:r>
              <a:rPr sz="2000" spc="-15" dirty="0">
                <a:latin typeface="Tahoma"/>
                <a:cs typeface="Tahoma"/>
              </a:rPr>
              <a:t>ich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35" dirty="0">
                <a:latin typeface="Tahoma"/>
                <a:cs typeface="Tahoma"/>
              </a:rPr>
              <a:t>a</a:t>
            </a:r>
            <a:r>
              <a:rPr sz="2000" spc="-30" dirty="0">
                <a:latin typeface="Tahoma"/>
                <a:cs typeface="Tahoma"/>
              </a:rPr>
              <a:t>r</a:t>
            </a:r>
            <a:r>
              <a:rPr sz="2000" spc="-70" dirty="0">
                <a:latin typeface="Tahoma"/>
                <a:cs typeface="Tahoma"/>
              </a:rPr>
              <a:t>e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35" dirty="0">
                <a:latin typeface="Tahoma"/>
                <a:cs typeface="Tahoma"/>
              </a:rPr>
              <a:t>adjacen</a:t>
            </a:r>
            <a:r>
              <a:rPr sz="2000" spc="-2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35" dirty="0">
                <a:latin typeface="Tahoma"/>
                <a:cs typeface="Tahoma"/>
              </a:rPr>
              <a:t>t</a:t>
            </a:r>
            <a:r>
              <a:rPr sz="2000" spc="70" dirty="0">
                <a:latin typeface="Tahoma"/>
                <a:cs typeface="Tahoma"/>
              </a:rPr>
              <a:t>o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70" dirty="0">
                <a:latin typeface="Tahoma"/>
                <a:cs typeface="Tahoma"/>
              </a:rPr>
              <a:t>on</a:t>
            </a:r>
            <a:r>
              <a:rPr sz="2000" spc="20" dirty="0">
                <a:latin typeface="Tahoma"/>
                <a:cs typeface="Tahoma"/>
              </a:rPr>
              <a:t>l</a:t>
            </a:r>
            <a:r>
              <a:rPr sz="2000" spc="50" dirty="0">
                <a:latin typeface="Tahoma"/>
                <a:cs typeface="Tahoma"/>
              </a:rPr>
              <a:t>y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15" dirty="0">
                <a:latin typeface="Tahoma"/>
                <a:cs typeface="Tahoma"/>
              </a:rPr>
              <a:t>on</a:t>
            </a:r>
            <a:r>
              <a:rPr sz="2000" spc="20" dirty="0">
                <a:latin typeface="Tahoma"/>
                <a:cs typeface="Tahoma"/>
              </a:rPr>
              <a:t>e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120" dirty="0">
                <a:latin typeface="Tahoma"/>
                <a:cs typeface="Tahoma"/>
              </a:rPr>
              <a:t>o</a:t>
            </a:r>
            <a:r>
              <a:rPr sz="2000" spc="-35" dirty="0">
                <a:latin typeface="Tahoma"/>
                <a:cs typeface="Tahoma"/>
              </a:rPr>
              <a:t>th</a:t>
            </a:r>
            <a:r>
              <a:rPr sz="2000" spc="-45" dirty="0">
                <a:latin typeface="Tahoma"/>
                <a:cs typeface="Tahoma"/>
              </a:rPr>
              <a:t>e</a:t>
            </a:r>
            <a:r>
              <a:rPr sz="2000" dirty="0">
                <a:latin typeface="Tahoma"/>
                <a:cs typeface="Tahoma"/>
              </a:rPr>
              <a:t>r	</a:t>
            </a:r>
            <a:r>
              <a:rPr sz="2000" spc="-295" dirty="0">
                <a:latin typeface="Tahoma"/>
                <a:cs typeface="Tahoma"/>
              </a:rPr>
              <a:t>1</a:t>
            </a:r>
            <a:r>
              <a:rPr sz="2000" dirty="0">
                <a:latin typeface="Tahoma"/>
                <a:cs typeface="Tahoma"/>
              </a:rPr>
              <a:t>	and</a:t>
            </a:r>
            <a:endParaRPr sz="2000">
              <a:latin typeface="Tahoma"/>
              <a:cs typeface="Tahoma"/>
            </a:endParaRPr>
          </a:p>
          <a:p>
            <a:pPr marL="762635">
              <a:lnSpc>
                <a:spcPct val="100000"/>
              </a:lnSpc>
            </a:pPr>
            <a:r>
              <a:rPr sz="2000" spc="-65" dirty="0">
                <a:latin typeface="Tahoma"/>
                <a:cs typeface="Tahoma"/>
              </a:rPr>
              <a:t>e</a:t>
            </a:r>
            <a:r>
              <a:rPr sz="2000" spc="20" dirty="0">
                <a:latin typeface="Tahoma"/>
                <a:cs typeface="Tahoma"/>
              </a:rPr>
              <a:t>n</a:t>
            </a:r>
            <a:r>
              <a:rPr sz="2000" spc="-65" dirty="0">
                <a:latin typeface="Tahoma"/>
                <a:cs typeface="Tahoma"/>
              </a:rPr>
              <a:t>c</a:t>
            </a:r>
            <a:r>
              <a:rPr sz="2000" spc="10" dirty="0">
                <a:latin typeface="Tahoma"/>
                <a:cs typeface="Tahoma"/>
              </a:rPr>
              <a:t>irc</a:t>
            </a:r>
            <a:r>
              <a:rPr sz="2000" spc="-15" dirty="0">
                <a:latin typeface="Tahoma"/>
                <a:cs typeface="Tahoma"/>
              </a:rPr>
              <a:t>l</a:t>
            </a:r>
            <a:r>
              <a:rPr sz="2000" spc="-70" dirty="0">
                <a:latin typeface="Tahoma"/>
                <a:cs typeface="Tahoma"/>
              </a:rPr>
              <a:t>e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204" dirty="0">
                <a:latin typeface="Tahoma"/>
                <a:cs typeface="Tahoma"/>
              </a:rPr>
              <a:t>s</a:t>
            </a:r>
            <a:r>
              <a:rPr sz="2000" spc="-20" dirty="0">
                <a:latin typeface="Tahoma"/>
                <a:cs typeface="Tahoma"/>
              </a:rPr>
              <a:t>u</a:t>
            </a:r>
            <a:r>
              <a:rPr sz="2000" spc="-45" dirty="0">
                <a:latin typeface="Tahoma"/>
                <a:cs typeface="Tahoma"/>
              </a:rPr>
              <a:t>ch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p</a:t>
            </a:r>
            <a:r>
              <a:rPr sz="2000" spc="-50" dirty="0">
                <a:latin typeface="Tahoma"/>
                <a:cs typeface="Tahoma"/>
              </a:rPr>
              <a:t>a</a:t>
            </a:r>
            <a:r>
              <a:rPr sz="2000" spc="50" dirty="0">
                <a:latin typeface="Tahoma"/>
                <a:cs typeface="Tahoma"/>
              </a:rPr>
              <a:t>i</a:t>
            </a:r>
            <a:r>
              <a:rPr sz="2000" spc="-95" dirty="0">
                <a:latin typeface="Tahoma"/>
                <a:cs typeface="Tahoma"/>
              </a:rPr>
              <a:t>r</a:t>
            </a:r>
            <a:r>
              <a:rPr sz="2000" spc="-100" dirty="0">
                <a:latin typeface="Tahoma"/>
                <a:cs typeface="Tahoma"/>
              </a:rPr>
              <a:t>s</a:t>
            </a:r>
            <a:r>
              <a:rPr sz="2000" spc="-35" dirty="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  <a:p>
            <a:pPr marL="762635" marR="5080" indent="-285750" algn="just">
              <a:lnSpc>
                <a:spcPct val="100000"/>
              </a:lnSpc>
              <a:spcBef>
                <a:spcPts val="1440"/>
              </a:spcBef>
              <a:buAutoNum type="arabicPeriod" startAt="4"/>
              <a:tabLst>
                <a:tab pos="763270" algn="l"/>
              </a:tabLst>
            </a:pPr>
            <a:r>
              <a:rPr sz="2000" spc="-15" dirty="0">
                <a:latin typeface="Tahoma"/>
                <a:cs typeface="Tahoma"/>
              </a:rPr>
              <a:t>Check </a:t>
            </a:r>
            <a:r>
              <a:rPr sz="2000" spc="30" dirty="0">
                <a:latin typeface="Tahoma"/>
                <a:cs typeface="Tahoma"/>
              </a:rPr>
              <a:t>for </a:t>
            </a:r>
            <a:r>
              <a:rPr sz="2000" spc="-40" dirty="0">
                <a:latin typeface="Tahoma"/>
                <a:cs typeface="Tahoma"/>
              </a:rPr>
              <a:t>quads </a:t>
            </a:r>
            <a:r>
              <a:rPr sz="2000" dirty="0">
                <a:latin typeface="Tahoma"/>
                <a:cs typeface="Tahoma"/>
              </a:rPr>
              <a:t>and </a:t>
            </a:r>
            <a:r>
              <a:rPr sz="2000" spc="-50" dirty="0">
                <a:latin typeface="Tahoma"/>
                <a:cs typeface="Tahoma"/>
              </a:rPr>
              <a:t>octets </a:t>
            </a:r>
            <a:r>
              <a:rPr sz="2000" spc="45" dirty="0">
                <a:latin typeface="Tahoma"/>
                <a:cs typeface="Tahoma"/>
              </a:rPr>
              <a:t>of </a:t>
            </a:r>
            <a:r>
              <a:rPr sz="2000" spc="-35" dirty="0">
                <a:latin typeface="Tahoma"/>
                <a:cs typeface="Tahoma"/>
              </a:rPr>
              <a:t>adjacent </a:t>
            </a:r>
            <a:r>
              <a:rPr sz="2000" spc="-120" dirty="0">
                <a:latin typeface="Tahoma"/>
                <a:cs typeface="Tahoma"/>
              </a:rPr>
              <a:t>1’s</a:t>
            </a:r>
            <a:r>
              <a:rPr sz="2000" spc="385" dirty="0">
                <a:latin typeface="Tahoma"/>
                <a:cs typeface="Tahoma"/>
              </a:rPr>
              <a:t> </a:t>
            </a:r>
            <a:r>
              <a:rPr sz="2000" spc="-15" dirty="0">
                <a:latin typeface="Tahoma"/>
                <a:cs typeface="Tahoma"/>
              </a:rPr>
              <a:t>even </a:t>
            </a:r>
            <a:r>
              <a:rPr sz="2000" spc="10" dirty="0">
                <a:latin typeface="Tahoma"/>
                <a:cs typeface="Tahoma"/>
              </a:rPr>
              <a:t>if </a:t>
            </a:r>
            <a:r>
              <a:rPr sz="2000" spc="15" dirty="0">
                <a:latin typeface="Tahoma"/>
                <a:cs typeface="Tahoma"/>
              </a:rPr>
              <a:t>it </a:t>
            </a:r>
            <a:r>
              <a:rPr sz="2000" spc="-20" dirty="0">
                <a:latin typeface="Tahoma"/>
                <a:cs typeface="Tahoma"/>
              </a:rPr>
              <a:t>contains </a:t>
            </a:r>
            <a:r>
              <a:rPr sz="2000" spc="-40" dirty="0">
                <a:latin typeface="Tahoma"/>
                <a:cs typeface="Tahoma"/>
              </a:rPr>
              <a:t>some 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1’s </a:t>
            </a:r>
            <a:r>
              <a:rPr sz="2000" spc="-25" dirty="0">
                <a:latin typeface="Tahoma"/>
                <a:cs typeface="Tahoma"/>
              </a:rPr>
              <a:t>that </a:t>
            </a:r>
            <a:r>
              <a:rPr sz="2000" spc="-15" dirty="0">
                <a:latin typeface="Tahoma"/>
                <a:cs typeface="Tahoma"/>
              </a:rPr>
              <a:t>have </a:t>
            </a:r>
            <a:r>
              <a:rPr sz="2000" spc="-10" dirty="0">
                <a:latin typeface="Tahoma"/>
                <a:cs typeface="Tahoma"/>
              </a:rPr>
              <a:t>already </a:t>
            </a:r>
            <a:r>
              <a:rPr sz="2000" spc="-35" dirty="0">
                <a:latin typeface="Tahoma"/>
                <a:cs typeface="Tahoma"/>
              </a:rPr>
              <a:t>been </a:t>
            </a:r>
            <a:r>
              <a:rPr sz="2000" spc="-20" dirty="0">
                <a:latin typeface="Tahoma"/>
                <a:cs typeface="Tahoma"/>
              </a:rPr>
              <a:t>encircled. </a:t>
            </a:r>
            <a:r>
              <a:rPr sz="2000" spc="40" dirty="0">
                <a:latin typeface="Tahoma"/>
                <a:cs typeface="Tahoma"/>
              </a:rPr>
              <a:t>While </a:t>
            </a:r>
            <a:r>
              <a:rPr sz="2000" spc="20" dirty="0">
                <a:latin typeface="Tahoma"/>
                <a:cs typeface="Tahoma"/>
              </a:rPr>
              <a:t>doing </a:t>
            </a:r>
            <a:r>
              <a:rPr sz="2000" spc="-50" dirty="0">
                <a:latin typeface="Tahoma"/>
                <a:cs typeface="Tahoma"/>
              </a:rPr>
              <a:t>this </a:t>
            </a:r>
            <a:r>
              <a:rPr sz="2000" spc="-40" dirty="0">
                <a:latin typeface="Tahoma"/>
                <a:cs typeface="Tahoma"/>
              </a:rPr>
              <a:t>make </a:t>
            </a:r>
            <a:r>
              <a:rPr sz="2000" spc="-80" dirty="0">
                <a:latin typeface="Tahoma"/>
                <a:cs typeface="Tahoma"/>
              </a:rPr>
              <a:t>sure </a:t>
            </a:r>
            <a:r>
              <a:rPr sz="2000" spc="-25" dirty="0">
                <a:latin typeface="Tahoma"/>
                <a:cs typeface="Tahoma"/>
              </a:rPr>
              <a:t>that </a:t>
            </a:r>
            <a:r>
              <a:rPr sz="2000" spc="-61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there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are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20" dirty="0">
                <a:latin typeface="Tahoma"/>
                <a:cs typeface="Tahoma"/>
              </a:rPr>
              <a:t>minimum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number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of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groups.</a:t>
            </a:r>
            <a:endParaRPr sz="2000">
              <a:latin typeface="Tahoma"/>
              <a:cs typeface="Tahoma"/>
            </a:endParaRPr>
          </a:p>
          <a:p>
            <a:pPr marL="762635" marR="8255" indent="-285750" algn="just">
              <a:lnSpc>
                <a:spcPct val="100000"/>
              </a:lnSpc>
              <a:spcBef>
                <a:spcPts val="1445"/>
              </a:spcBef>
              <a:buAutoNum type="arabicPeriod" startAt="4"/>
              <a:tabLst>
                <a:tab pos="763270" algn="l"/>
              </a:tabLst>
            </a:pPr>
            <a:r>
              <a:rPr sz="2000" spc="5" dirty="0">
                <a:latin typeface="Tahoma"/>
                <a:cs typeface="Tahoma"/>
              </a:rPr>
              <a:t>Form </a:t>
            </a:r>
            <a:r>
              <a:rPr sz="2000" spc="-35" dirty="0">
                <a:latin typeface="Tahoma"/>
                <a:cs typeface="Tahoma"/>
              </a:rPr>
              <a:t>the </a:t>
            </a:r>
            <a:r>
              <a:rPr sz="2000" spc="-5" dirty="0">
                <a:latin typeface="Tahoma"/>
                <a:cs typeface="Tahoma"/>
              </a:rPr>
              <a:t>simplified </a:t>
            </a:r>
            <a:r>
              <a:rPr sz="2000" spc="-35" dirty="0">
                <a:latin typeface="Tahoma"/>
                <a:cs typeface="Tahoma"/>
              </a:rPr>
              <a:t>expression </a:t>
            </a:r>
            <a:r>
              <a:rPr sz="2000" spc="25" dirty="0">
                <a:latin typeface="Tahoma"/>
                <a:cs typeface="Tahoma"/>
              </a:rPr>
              <a:t>by </a:t>
            </a:r>
            <a:r>
              <a:rPr sz="2000" spc="-40" dirty="0">
                <a:latin typeface="Tahoma"/>
                <a:cs typeface="Tahoma"/>
              </a:rPr>
              <a:t>summing </a:t>
            </a:r>
            <a:r>
              <a:rPr sz="2000" spc="5" dirty="0">
                <a:latin typeface="Tahoma"/>
                <a:cs typeface="Tahoma"/>
              </a:rPr>
              <a:t>product </a:t>
            </a:r>
            <a:r>
              <a:rPr sz="2000" spc="-55" dirty="0">
                <a:latin typeface="Tahoma"/>
                <a:cs typeface="Tahoma"/>
              </a:rPr>
              <a:t>terms </a:t>
            </a:r>
            <a:r>
              <a:rPr sz="2000" spc="45" dirty="0">
                <a:latin typeface="Tahoma"/>
                <a:cs typeface="Tahoma"/>
              </a:rPr>
              <a:t>of </a:t>
            </a:r>
            <a:r>
              <a:rPr sz="2000" spc="20" dirty="0">
                <a:latin typeface="Tahoma"/>
                <a:cs typeface="Tahoma"/>
              </a:rPr>
              <a:t>all </a:t>
            </a:r>
            <a:r>
              <a:rPr sz="2000" spc="-40" dirty="0">
                <a:latin typeface="Tahoma"/>
                <a:cs typeface="Tahoma"/>
              </a:rPr>
              <a:t>the </a:t>
            </a:r>
            <a:r>
              <a:rPr sz="2000" spc="-35" dirty="0">
                <a:latin typeface="Tahoma"/>
                <a:cs typeface="Tahoma"/>
              </a:rPr>
              <a:t> groups.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27198" y="1147952"/>
            <a:ext cx="3594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3-Variable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K-Maps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34211" y="1751076"/>
            <a:ext cx="8214995" cy="5107305"/>
            <a:chOff x="934211" y="1751076"/>
            <a:chExt cx="8214995" cy="510730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211" y="1751076"/>
              <a:ext cx="3313176" cy="4495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39996" y="2229612"/>
              <a:ext cx="3787140" cy="4017264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27198" y="1147952"/>
            <a:ext cx="3594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3-Variable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K-Maps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1000" y="2133600"/>
            <a:ext cx="8768080" cy="4724400"/>
            <a:chOff x="381000" y="2133600"/>
            <a:chExt cx="8768080" cy="4724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2133600"/>
              <a:ext cx="8470392" cy="37094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62656"/>
            <a:ext cx="8378825" cy="447865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R="159385" algn="ctr">
              <a:lnSpc>
                <a:spcPct val="100000"/>
              </a:lnSpc>
              <a:spcBef>
                <a:spcPts val="1115"/>
              </a:spcBef>
            </a:pPr>
            <a:r>
              <a:rPr sz="2000" spc="-15" dirty="0">
                <a:solidFill>
                  <a:srgbClr val="C00000"/>
                </a:solidFill>
                <a:latin typeface="Tahoma"/>
                <a:cs typeface="Tahoma"/>
              </a:rPr>
              <a:t>K-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SOP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endParaRPr sz="2000">
              <a:latin typeface="Tahoma"/>
              <a:cs typeface="Tahoma"/>
            </a:endParaRPr>
          </a:p>
          <a:p>
            <a:pPr marL="12700" marR="6350" algn="just">
              <a:lnSpc>
                <a:spcPct val="100000"/>
              </a:lnSpc>
              <a:spcBef>
                <a:spcPts val="1405"/>
              </a:spcBef>
            </a:pP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Design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car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driver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alert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system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based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on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following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condition.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buzzer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(B=1)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10" dirty="0">
                <a:solidFill>
                  <a:srgbClr val="006FC0"/>
                </a:solidFill>
                <a:latin typeface="Tahoma"/>
                <a:cs typeface="Tahoma"/>
              </a:rPr>
              <a:t>will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alert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driver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whenever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any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one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following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condition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satisfied.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tabLst>
                <a:tab pos="629920" algn="l"/>
                <a:tab pos="1731645" algn="l"/>
                <a:tab pos="2926715" algn="l"/>
                <a:tab pos="3314065" algn="l"/>
                <a:tab pos="4071620" algn="l"/>
                <a:tab pos="5118735" algn="l"/>
                <a:tab pos="5876290" algn="l"/>
                <a:tab pos="6615430" algn="l"/>
                <a:tab pos="7377430" algn="l"/>
                <a:tab pos="7877175" algn="l"/>
              </a:tabLst>
            </a:pPr>
            <a:r>
              <a:rPr sz="2800" spc="-85" dirty="0">
                <a:latin typeface="Tahoma"/>
                <a:cs typeface="Tahoma"/>
              </a:rPr>
              <a:t>(</a:t>
            </a:r>
            <a:r>
              <a:rPr sz="2800" spc="-10" dirty="0">
                <a:latin typeface="Tahoma"/>
                <a:cs typeface="Tahoma"/>
              </a:rPr>
              <a:t>i</a:t>
            </a:r>
            <a:r>
              <a:rPr sz="2800" dirty="0">
                <a:latin typeface="Tahoma"/>
                <a:cs typeface="Tahoma"/>
              </a:rPr>
              <a:t>)</a:t>
            </a:r>
            <a:r>
              <a:rPr sz="2800" spc="-50" dirty="0">
                <a:latin typeface="Tahoma"/>
                <a:cs typeface="Tahoma"/>
              </a:rPr>
              <a:t>.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45" dirty="0">
                <a:latin typeface="Tahoma"/>
                <a:cs typeface="Tahoma"/>
              </a:rPr>
              <a:t>When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50" dirty="0">
                <a:latin typeface="Tahoma"/>
                <a:cs typeface="Tahoma"/>
              </a:rPr>
              <a:t>e</a:t>
            </a:r>
            <a:r>
              <a:rPr sz="2800" spc="-40" dirty="0">
                <a:latin typeface="Tahoma"/>
                <a:cs typeface="Tahoma"/>
              </a:rPr>
              <a:t>n</a:t>
            </a:r>
            <a:r>
              <a:rPr sz="2800" spc="-20" dirty="0">
                <a:latin typeface="Tahoma"/>
                <a:cs typeface="Tahoma"/>
              </a:rPr>
              <a:t>gin</a:t>
            </a:r>
            <a:r>
              <a:rPr sz="2800" spc="-100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114" dirty="0">
                <a:latin typeface="Tahoma"/>
                <a:cs typeface="Tahoma"/>
              </a:rPr>
              <a:t>is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380" dirty="0">
                <a:latin typeface="Tahoma"/>
                <a:cs typeface="Tahoma"/>
              </a:rPr>
              <a:t>O</a:t>
            </a:r>
            <a:r>
              <a:rPr sz="2800" spc="355" dirty="0">
                <a:latin typeface="Tahoma"/>
                <a:cs typeface="Tahoma"/>
              </a:rPr>
              <a:t>N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15" dirty="0">
                <a:latin typeface="Tahoma"/>
                <a:cs typeface="Tahoma"/>
              </a:rPr>
              <a:t>(E=</a:t>
            </a:r>
            <a:r>
              <a:rPr sz="2800" spc="-400" dirty="0">
                <a:latin typeface="Tahoma"/>
                <a:cs typeface="Tahoma"/>
              </a:rPr>
              <a:t>1</a:t>
            </a:r>
            <a:r>
              <a:rPr sz="2800" spc="-90" dirty="0">
                <a:latin typeface="Tahoma"/>
                <a:cs typeface="Tahoma"/>
              </a:rPr>
              <a:t>)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5" dirty="0">
                <a:latin typeface="Tahoma"/>
                <a:cs typeface="Tahoma"/>
              </a:rPr>
              <a:t>an</a:t>
            </a:r>
            <a:r>
              <a:rPr sz="2800" dirty="0">
                <a:latin typeface="Tahoma"/>
                <a:cs typeface="Tahoma"/>
              </a:rPr>
              <a:t>d	</a:t>
            </a:r>
            <a:r>
              <a:rPr sz="2800" spc="-75" dirty="0">
                <a:latin typeface="Tahoma"/>
                <a:cs typeface="Tahoma"/>
              </a:rPr>
              <a:t>a</a:t>
            </a:r>
            <a:r>
              <a:rPr sz="2800" spc="35" dirty="0">
                <a:latin typeface="Tahoma"/>
                <a:cs typeface="Tahoma"/>
              </a:rPr>
              <a:t>ny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75" dirty="0">
                <a:latin typeface="Tahoma"/>
                <a:cs typeface="Tahoma"/>
              </a:rPr>
              <a:t>o</a:t>
            </a:r>
            <a:r>
              <a:rPr sz="2800" spc="95" dirty="0">
                <a:latin typeface="Tahoma"/>
                <a:cs typeface="Tahoma"/>
              </a:rPr>
              <a:t>n</a:t>
            </a:r>
            <a:r>
              <a:rPr sz="2800" spc="-100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95" dirty="0">
                <a:latin typeface="Tahoma"/>
                <a:cs typeface="Tahoma"/>
              </a:rPr>
              <a:t>o</a:t>
            </a:r>
            <a:r>
              <a:rPr sz="2800" spc="50" dirty="0">
                <a:latin typeface="Tahoma"/>
                <a:cs typeface="Tahoma"/>
              </a:rPr>
              <a:t>f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45" dirty="0">
                <a:latin typeface="Tahoma"/>
                <a:cs typeface="Tahoma"/>
              </a:rPr>
              <a:t>the  </a:t>
            </a:r>
            <a:r>
              <a:rPr sz="2800" spc="100" dirty="0">
                <a:latin typeface="Tahoma"/>
                <a:cs typeface="Tahoma"/>
              </a:rPr>
              <a:t>door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is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opened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(D=1)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294255" algn="l"/>
              </a:tabLst>
            </a:pPr>
            <a:r>
              <a:rPr sz="2800" spc="5" dirty="0">
                <a:latin typeface="Tahoma"/>
                <a:cs typeface="Tahoma"/>
              </a:rPr>
              <a:t>(ii).when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fuel	</a:t>
            </a:r>
            <a:r>
              <a:rPr sz="2800" spc="15" dirty="0">
                <a:latin typeface="Tahoma"/>
                <a:cs typeface="Tahoma"/>
              </a:rPr>
              <a:t>level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is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low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(F=1)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ahoma"/>
                <a:cs typeface="Tahoma"/>
              </a:rPr>
              <a:t>(iii).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When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60" dirty="0">
                <a:latin typeface="Tahoma"/>
                <a:cs typeface="Tahoma"/>
              </a:rPr>
              <a:t>car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exceed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speed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limit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(S=1)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46250" y="940218"/>
            <a:ext cx="5486400" cy="102806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PROCEDURE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FOR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K-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SOP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endParaRPr sz="2000">
              <a:latin typeface="Tahoma"/>
              <a:cs typeface="Tahoma"/>
            </a:endParaRPr>
          </a:p>
          <a:p>
            <a:pPr marL="162560" algn="ctr">
              <a:lnSpc>
                <a:spcPct val="100000"/>
              </a:lnSpc>
              <a:spcBef>
                <a:spcPts val="1420"/>
              </a:spcBef>
            </a:pPr>
            <a:r>
              <a:rPr sz="2400" spc="-75" dirty="0">
                <a:solidFill>
                  <a:srgbClr val="006FC0"/>
                </a:solidFill>
                <a:latin typeface="Tahoma"/>
                <a:cs typeface="Tahoma"/>
              </a:rPr>
              <a:t>Truth</a:t>
            </a:r>
            <a:r>
              <a:rPr sz="2400" spc="-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ahoma"/>
                <a:cs typeface="Tahoma"/>
              </a:rPr>
              <a:t>table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83208" y="2286000"/>
            <a:ext cx="7865745" cy="4572000"/>
            <a:chOff x="1283208" y="2286000"/>
            <a:chExt cx="7865745" cy="4572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3208" y="2286000"/>
              <a:ext cx="2526791" cy="39624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17236" y="2293620"/>
              <a:ext cx="2531364" cy="3954779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46250" y="940218"/>
            <a:ext cx="5486400" cy="102806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90"/>
              </a:spcBef>
            </a:pP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PROCEDURE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C00000"/>
                </a:solidFill>
                <a:latin typeface="Tahoma"/>
                <a:cs typeface="Tahoma"/>
              </a:rPr>
              <a:t>FOR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K-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SOP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endParaRPr sz="2000">
              <a:latin typeface="Tahoma"/>
              <a:cs typeface="Tahoma"/>
            </a:endParaRPr>
          </a:p>
          <a:p>
            <a:pPr marL="165100" algn="ctr">
              <a:lnSpc>
                <a:spcPct val="100000"/>
              </a:lnSpc>
              <a:spcBef>
                <a:spcPts val="1420"/>
              </a:spcBef>
            </a:pPr>
            <a:r>
              <a:rPr sz="2400" spc="110" dirty="0">
                <a:solidFill>
                  <a:srgbClr val="006FC0"/>
                </a:solidFill>
                <a:latin typeface="Tahoma"/>
                <a:cs typeface="Tahoma"/>
              </a:rPr>
              <a:t>K-MAP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600" y="1981200"/>
            <a:ext cx="8539480" cy="4876800"/>
            <a:chOff x="609600" y="1981200"/>
            <a:chExt cx="8539480" cy="48768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9600" y="1981200"/>
              <a:ext cx="3157728" cy="25618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9303" y="2057400"/>
              <a:ext cx="3212592" cy="26380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1183" y="4543044"/>
              <a:ext cx="3715512" cy="185775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934202" y="5456326"/>
            <a:ext cx="1544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400" spc="26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400" spc="-140" dirty="0">
                <a:solidFill>
                  <a:srgbClr val="006FC0"/>
                </a:solidFill>
                <a:latin typeface="Tahoma"/>
                <a:cs typeface="Tahoma"/>
              </a:rPr>
              <a:t>F+S+</a:t>
            </a:r>
            <a:r>
              <a:rPr sz="2400" spc="-12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400" spc="12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15236" y="1147952"/>
            <a:ext cx="60198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K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37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AP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0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LIFI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TI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ORMS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AMPLE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6800" y="1828800"/>
            <a:ext cx="8082280" cy="5029200"/>
            <a:chOff x="1066800" y="1828800"/>
            <a:chExt cx="8082280" cy="50292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3244" y="2514600"/>
              <a:ext cx="4524756" cy="36408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6800" y="1828800"/>
              <a:ext cx="6563868" cy="6050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15236" y="1147952"/>
            <a:ext cx="60198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K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37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AP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0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LIFI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TI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ORMS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AMPLE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2855" y="1662683"/>
            <a:ext cx="8395970" cy="5195570"/>
            <a:chOff x="752855" y="1662683"/>
            <a:chExt cx="8395970" cy="519557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8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855" y="3352800"/>
              <a:ext cx="7644383" cy="28194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56231" y="5946648"/>
              <a:ext cx="4524756" cy="609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2999" y="1662683"/>
              <a:ext cx="4930140" cy="4846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08175" y="2235707"/>
              <a:ext cx="6337300" cy="1117600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15236" y="1147952"/>
            <a:ext cx="60198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K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37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AP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0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LIFI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TI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ORMS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AMPLE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4800" y="2286000"/>
            <a:ext cx="8844280" cy="4572000"/>
            <a:chOff x="304800" y="2286000"/>
            <a:chExt cx="8844280" cy="4572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800" y="2286000"/>
              <a:ext cx="8490204" cy="3505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15236" y="1147952"/>
            <a:ext cx="60198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K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37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AP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0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LIFI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TI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ORMS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AMPLE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1000" y="2133600"/>
            <a:ext cx="8768080" cy="4724400"/>
            <a:chOff x="381000" y="2133600"/>
            <a:chExt cx="8768080" cy="4724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2133600"/>
              <a:ext cx="8305800" cy="3541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95466"/>
            <a:ext cx="8378825" cy="539051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468630">
              <a:lnSpc>
                <a:spcPct val="100000"/>
              </a:lnSpc>
              <a:spcBef>
                <a:spcPts val="1305"/>
              </a:spcBef>
            </a:pPr>
            <a:r>
              <a:rPr sz="2000" spc="95" dirty="0">
                <a:solidFill>
                  <a:srgbClr val="C00000"/>
                </a:solidFill>
                <a:latin typeface="Tahoma"/>
                <a:cs typeface="Tahoma"/>
              </a:rPr>
              <a:t>K-MAP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SOP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FORMS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WITH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DON’T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C00000"/>
                </a:solidFill>
                <a:latin typeface="Tahoma"/>
                <a:cs typeface="Tahoma"/>
              </a:rPr>
              <a:t>CARES</a:t>
            </a:r>
            <a:endParaRPr sz="200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spcBef>
                <a:spcPts val="167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don’t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care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minterm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6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combination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variables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whose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logical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value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not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specified.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When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choosing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adjacent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squares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simplify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function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map,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don’t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care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minterm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may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assumed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either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0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Tahoma"/>
                <a:cs typeface="Tahoma"/>
              </a:rPr>
              <a:t>1.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98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When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simplifying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function,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we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choose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include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don’t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care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minterm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either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1’s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0’s,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depending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on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which combination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gives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simplest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expression.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39520" y="1147952"/>
            <a:ext cx="73717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95" dirty="0">
                <a:solidFill>
                  <a:srgbClr val="C00000"/>
                </a:solidFill>
                <a:latin typeface="Tahoma"/>
                <a:cs typeface="Tahoma"/>
              </a:rPr>
              <a:t>K-MAP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SOP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FORMS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WITH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DON’T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C00000"/>
                </a:solidFill>
                <a:latin typeface="Tahoma"/>
                <a:cs typeface="Tahoma"/>
              </a:rPr>
              <a:t>CARES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65404" y="1981200"/>
            <a:ext cx="8583930" cy="4876800"/>
            <a:chOff x="565404" y="1981200"/>
            <a:chExt cx="8583930" cy="48768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7572" y="1981200"/>
              <a:ext cx="4898136" cy="5334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5404" y="2598419"/>
              <a:ext cx="2970275" cy="26669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24400" y="2915411"/>
              <a:ext cx="3174492" cy="241858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07792" y="5638800"/>
              <a:ext cx="3233928" cy="457200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39520" y="1147952"/>
            <a:ext cx="73717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95" dirty="0">
                <a:solidFill>
                  <a:srgbClr val="C00000"/>
                </a:solidFill>
                <a:latin typeface="Tahoma"/>
                <a:cs typeface="Tahoma"/>
              </a:rPr>
              <a:t>K-MAP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SOP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FORMS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WITH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DON’T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C00000"/>
                </a:solidFill>
                <a:latin typeface="Tahoma"/>
                <a:cs typeface="Tahoma"/>
              </a:rPr>
              <a:t>CARES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200" y="1752600"/>
            <a:ext cx="8691880" cy="5105400"/>
            <a:chOff x="457200" y="1752600"/>
            <a:chExt cx="8691880" cy="5105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3000" y="1752600"/>
              <a:ext cx="5626608" cy="457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200" y="2569463"/>
              <a:ext cx="3287267" cy="26883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18788" y="2667000"/>
              <a:ext cx="4341875" cy="2590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41448" y="5699759"/>
              <a:ext cx="4166615" cy="457200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94229"/>
            <a:ext cx="8377555" cy="521716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R="87630" algn="ctr">
              <a:lnSpc>
                <a:spcPct val="100000"/>
              </a:lnSpc>
              <a:spcBef>
                <a:spcPts val="525"/>
              </a:spcBef>
            </a:pPr>
            <a:r>
              <a:rPr sz="2000" spc="95" dirty="0">
                <a:solidFill>
                  <a:srgbClr val="C00000"/>
                </a:solidFill>
                <a:latin typeface="Tahoma"/>
                <a:cs typeface="Tahoma"/>
              </a:rPr>
              <a:t>K-MAP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POS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FORMS</a:t>
            </a:r>
            <a:endParaRPr sz="2000">
              <a:latin typeface="Tahoma"/>
              <a:cs typeface="Tahoma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590"/>
              </a:spcBef>
              <a:buClr>
                <a:srgbClr val="E36C09"/>
              </a:buClr>
              <a:buFont typeface="Wingdings"/>
              <a:buChar char=""/>
              <a:tabLst>
                <a:tab pos="469900" algn="l"/>
              </a:tabLst>
            </a:pP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POS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expression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standard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form,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0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placed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on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Karnaugh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map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sum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term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expression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&amp;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cells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800" spc="110" dirty="0">
                <a:solidFill>
                  <a:srgbClr val="006FC0"/>
                </a:solidFill>
                <a:latin typeface="Tahoma"/>
                <a:cs typeface="Tahoma"/>
              </a:rPr>
              <a:t>do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not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have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0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cells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which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expression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Tahoma"/>
                <a:cs typeface="Tahoma"/>
              </a:rPr>
              <a:t>1.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69900" indent="-45720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69900" algn="l"/>
              </a:tabLst>
            </a:pPr>
            <a:r>
              <a:rPr sz="2800" spc="-135" dirty="0">
                <a:solidFill>
                  <a:srgbClr val="006FC0"/>
                </a:solidFill>
                <a:latin typeface="Tahoma"/>
                <a:cs typeface="Tahoma"/>
              </a:rPr>
              <a:t>Steps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POS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K-mapping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process.</a:t>
            </a:r>
            <a:endParaRPr sz="2800">
              <a:latin typeface="Tahoma"/>
              <a:cs typeface="Tahoma"/>
            </a:endParaRPr>
          </a:p>
          <a:p>
            <a:pPr marL="469900" marR="5080" indent="7620" algn="just">
              <a:lnSpc>
                <a:spcPct val="100000"/>
              </a:lnSpc>
              <a:spcBef>
                <a:spcPts val="20"/>
              </a:spcBef>
            </a:pPr>
            <a:r>
              <a:rPr sz="2400" spc="-85" dirty="0">
                <a:solidFill>
                  <a:srgbClr val="C00000"/>
                </a:solidFill>
                <a:latin typeface="Tahoma"/>
                <a:cs typeface="Tahoma"/>
              </a:rPr>
              <a:t>Step </a:t>
            </a:r>
            <a:r>
              <a:rPr sz="2400" spc="-235" dirty="0">
                <a:solidFill>
                  <a:srgbClr val="C00000"/>
                </a:solidFill>
                <a:latin typeface="Tahoma"/>
                <a:cs typeface="Tahoma"/>
              </a:rPr>
              <a:t>1: </a:t>
            </a:r>
            <a:r>
              <a:rPr sz="2400" spc="-10" dirty="0">
                <a:latin typeface="Tahoma"/>
                <a:cs typeface="Tahoma"/>
              </a:rPr>
              <a:t>Determine </a:t>
            </a:r>
            <a:r>
              <a:rPr sz="2400" spc="-35" dirty="0">
                <a:latin typeface="Tahoma"/>
                <a:cs typeface="Tahoma"/>
              </a:rPr>
              <a:t>the </a:t>
            </a:r>
            <a:r>
              <a:rPr sz="2400" spc="15" dirty="0">
                <a:latin typeface="Tahoma"/>
                <a:cs typeface="Tahoma"/>
              </a:rPr>
              <a:t>binary </a:t>
            </a:r>
            <a:r>
              <a:rPr sz="2400" spc="-5" dirty="0">
                <a:latin typeface="Tahoma"/>
                <a:cs typeface="Tahoma"/>
              </a:rPr>
              <a:t>value </a:t>
            </a:r>
            <a:r>
              <a:rPr sz="2400" spc="60" dirty="0">
                <a:latin typeface="Tahoma"/>
                <a:cs typeface="Tahoma"/>
              </a:rPr>
              <a:t>of </a:t>
            </a:r>
            <a:r>
              <a:rPr sz="2400" spc="-70" dirty="0">
                <a:latin typeface="Tahoma"/>
                <a:cs typeface="Tahoma"/>
              </a:rPr>
              <a:t>each </a:t>
            </a:r>
            <a:r>
              <a:rPr sz="2400" spc="-80" dirty="0">
                <a:latin typeface="Tahoma"/>
                <a:cs typeface="Tahoma"/>
              </a:rPr>
              <a:t>sum </a:t>
            </a:r>
            <a:r>
              <a:rPr sz="2400" spc="-20" dirty="0">
                <a:latin typeface="Tahoma"/>
                <a:cs typeface="Tahoma"/>
              </a:rPr>
              <a:t>term </a:t>
            </a:r>
            <a:r>
              <a:rPr sz="2400" spc="35" dirty="0">
                <a:latin typeface="Tahoma"/>
                <a:cs typeface="Tahoma"/>
              </a:rPr>
              <a:t>in </a:t>
            </a:r>
            <a:r>
              <a:rPr sz="2400" spc="-45" dirty="0">
                <a:latin typeface="Tahoma"/>
                <a:cs typeface="Tahoma"/>
              </a:rPr>
              <a:t>the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standard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POS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expression.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This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is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the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15" dirty="0">
                <a:latin typeface="Tahoma"/>
                <a:cs typeface="Tahoma"/>
              </a:rPr>
              <a:t>binary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value</a:t>
            </a:r>
            <a:r>
              <a:rPr sz="2400" spc="74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that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makes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the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term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equal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65" dirty="0">
                <a:latin typeface="Tahoma"/>
                <a:cs typeface="Tahoma"/>
              </a:rPr>
              <a:t>to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35" dirty="0">
                <a:latin typeface="Tahoma"/>
                <a:cs typeface="Tahoma"/>
              </a:rPr>
              <a:t>0.</a:t>
            </a:r>
            <a:endParaRPr sz="2400">
              <a:latin typeface="Tahoma"/>
              <a:cs typeface="Tahoma"/>
            </a:endParaRPr>
          </a:p>
          <a:p>
            <a:pPr marL="469900" marR="5080" indent="7620" algn="just">
              <a:lnSpc>
                <a:spcPct val="100000"/>
              </a:lnSpc>
            </a:pPr>
            <a:r>
              <a:rPr sz="2400" spc="-85" dirty="0">
                <a:solidFill>
                  <a:srgbClr val="C00000"/>
                </a:solidFill>
                <a:latin typeface="Tahoma"/>
                <a:cs typeface="Tahoma"/>
              </a:rPr>
              <a:t>Step </a:t>
            </a:r>
            <a:r>
              <a:rPr sz="2400" spc="-30" dirty="0">
                <a:solidFill>
                  <a:srgbClr val="C00000"/>
                </a:solidFill>
                <a:latin typeface="Tahoma"/>
                <a:cs typeface="Tahoma"/>
              </a:rPr>
              <a:t>2: </a:t>
            </a:r>
            <a:r>
              <a:rPr sz="2400" spc="-50" dirty="0">
                <a:latin typeface="Tahoma"/>
                <a:cs typeface="Tahoma"/>
              </a:rPr>
              <a:t>As </a:t>
            </a:r>
            <a:r>
              <a:rPr sz="2400" spc="-70" dirty="0">
                <a:latin typeface="Tahoma"/>
                <a:cs typeface="Tahoma"/>
              </a:rPr>
              <a:t>each </a:t>
            </a:r>
            <a:r>
              <a:rPr sz="2400" spc="-80" dirty="0">
                <a:latin typeface="Tahoma"/>
                <a:cs typeface="Tahoma"/>
              </a:rPr>
              <a:t>sum </a:t>
            </a:r>
            <a:r>
              <a:rPr sz="2400" spc="-20" dirty="0">
                <a:latin typeface="Tahoma"/>
                <a:cs typeface="Tahoma"/>
              </a:rPr>
              <a:t>term </a:t>
            </a:r>
            <a:r>
              <a:rPr sz="2400" spc="-100" dirty="0">
                <a:latin typeface="Tahoma"/>
                <a:cs typeface="Tahoma"/>
              </a:rPr>
              <a:t>is </a:t>
            </a:r>
            <a:r>
              <a:rPr sz="2400" spc="-20" dirty="0">
                <a:latin typeface="Tahoma"/>
                <a:cs typeface="Tahoma"/>
              </a:rPr>
              <a:t>evaluated, </a:t>
            </a:r>
            <a:r>
              <a:rPr sz="2400" spc="-25" dirty="0">
                <a:latin typeface="Tahoma"/>
                <a:cs typeface="Tahoma"/>
              </a:rPr>
              <a:t>place </a:t>
            </a:r>
            <a:r>
              <a:rPr sz="2400" spc="-65" dirty="0">
                <a:latin typeface="Tahoma"/>
                <a:cs typeface="Tahoma"/>
              </a:rPr>
              <a:t>a </a:t>
            </a:r>
            <a:r>
              <a:rPr sz="2400" spc="100" dirty="0">
                <a:latin typeface="Tahoma"/>
                <a:cs typeface="Tahoma"/>
              </a:rPr>
              <a:t>0 </a:t>
            </a:r>
            <a:r>
              <a:rPr sz="2400" spc="70" dirty="0">
                <a:latin typeface="Tahoma"/>
                <a:cs typeface="Tahoma"/>
              </a:rPr>
              <a:t>on </a:t>
            </a:r>
            <a:r>
              <a:rPr sz="2400" spc="-45" dirty="0">
                <a:latin typeface="Tahoma"/>
                <a:cs typeface="Tahoma"/>
              </a:rPr>
              <a:t>the 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Karnaugh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5" dirty="0">
                <a:latin typeface="Tahoma"/>
                <a:cs typeface="Tahoma"/>
              </a:rPr>
              <a:t>map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35" dirty="0">
                <a:latin typeface="Tahoma"/>
                <a:cs typeface="Tahoma"/>
              </a:rPr>
              <a:t>in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the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corresponding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cell.</a:t>
            </a:r>
            <a:endParaRPr sz="2400">
              <a:latin typeface="Tahoma"/>
              <a:cs typeface="Tahoma"/>
            </a:endParaRPr>
          </a:p>
          <a:p>
            <a:pPr marL="476884" algn="just">
              <a:lnSpc>
                <a:spcPct val="100000"/>
              </a:lnSpc>
            </a:pPr>
            <a:r>
              <a:rPr sz="2400" spc="-60" dirty="0">
                <a:solidFill>
                  <a:srgbClr val="C00000"/>
                </a:solidFill>
                <a:latin typeface="Tahoma"/>
                <a:cs typeface="Tahoma"/>
              </a:rPr>
              <a:t>Step3:</a:t>
            </a:r>
            <a:r>
              <a:rPr sz="24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spc="45" dirty="0">
                <a:latin typeface="Tahoma"/>
                <a:cs typeface="Tahoma"/>
              </a:rPr>
              <a:t>Other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procedure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are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similar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65" dirty="0">
                <a:latin typeface="Tahoma"/>
                <a:cs typeface="Tahoma"/>
              </a:rPr>
              <a:t>to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SOP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5" dirty="0">
                <a:latin typeface="Tahoma"/>
                <a:cs typeface="Tahoma"/>
              </a:rPr>
              <a:t>K-map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method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15236" y="1147952"/>
            <a:ext cx="60198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K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37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AP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0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LIFI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TI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ORMS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AMPLE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600" y="1552955"/>
            <a:ext cx="8539480" cy="5305425"/>
            <a:chOff x="609600" y="1552955"/>
            <a:chExt cx="8539480" cy="530542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600" y="1552955"/>
              <a:ext cx="7920228" cy="49240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15236" y="1147952"/>
            <a:ext cx="60198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K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37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AP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0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LIFI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TI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F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ORMS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AMPLE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8200" y="1524000"/>
            <a:ext cx="8310880" cy="5334000"/>
            <a:chOff x="838200" y="1524000"/>
            <a:chExt cx="8310880" cy="5334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8200" y="1524000"/>
              <a:ext cx="7395972" cy="48310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84092"/>
            <a:ext cx="7762240" cy="83693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519430" algn="ctr">
              <a:lnSpc>
                <a:spcPct val="100000"/>
              </a:lnSpc>
              <a:spcBef>
                <a:spcPts val="605"/>
              </a:spcBef>
            </a:pPr>
            <a:r>
              <a:rPr sz="2000" spc="95" dirty="0">
                <a:solidFill>
                  <a:srgbClr val="C00000"/>
                </a:solidFill>
                <a:latin typeface="Tahoma"/>
                <a:cs typeface="Tahoma"/>
              </a:rPr>
              <a:t>K-MAP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POS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FORMS</a:t>
            </a:r>
            <a:endParaRPr sz="20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605"/>
              </a:spcBef>
              <a:buClr>
                <a:srgbClr val="E36C0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Reduce</a:t>
            </a:r>
            <a:r>
              <a:rPr sz="24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F(W,X,Y,Z) </a:t>
            </a:r>
            <a:r>
              <a:rPr sz="2400" spc="25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Tahoma"/>
                <a:cs typeface="Tahoma"/>
              </a:rPr>
              <a:t>∏(0,1,2,4,5,7,10,15)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using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K-map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05000" y="2234183"/>
            <a:ext cx="7244080" cy="4624070"/>
            <a:chOff x="1905000" y="2234183"/>
            <a:chExt cx="7244080" cy="462407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05000" y="2234183"/>
              <a:ext cx="4518660" cy="377952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74494" y="1147952"/>
            <a:ext cx="4700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95" dirty="0">
                <a:solidFill>
                  <a:srgbClr val="C00000"/>
                </a:solidFill>
                <a:latin typeface="Tahoma"/>
                <a:cs typeface="Tahoma"/>
              </a:rPr>
              <a:t>K-MAP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SIMPLIFICATION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POS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FORMS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43911" y="1905000"/>
            <a:ext cx="6805295" cy="4953000"/>
            <a:chOff x="2343911" y="1905000"/>
            <a:chExt cx="6805295" cy="4953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43911" y="1905000"/>
              <a:ext cx="4160520" cy="349453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334895" y="5617260"/>
            <a:ext cx="4577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libri"/>
                <a:cs typeface="Calibri"/>
              </a:rPr>
              <a:t>F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=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(W+Y)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. </a:t>
            </a:r>
            <a:r>
              <a:rPr sz="2800" b="1" dirty="0">
                <a:latin typeface="Calibri"/>
                <a:cs typeface="Calibri"/>
              </a:rPr>
              <a:t>(X’+Y’+Z’)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. </a:t>
            </a:r>
            <a:r>
              <a:rPr sz="2800" b="1" dirty="0">
                <a:latin typeface="Calibri"/>
                <a:cs typeface="Calibri"/>
              </a:rPr>
              <a:t>(X+Y’+Z)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989832" y="2743200"/>
            <a:ext cx="5159375" cy="4114800"/>
            <a:chOff x="3989832" y="2743200"/>
            <a:chExt cx="5159375" cy="41148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4752" y="2743200"/>
              <a:ext cx="3584448" cy="32156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89832" y="5856732"/>
              <a:ext cx="4428744" cy="57150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R="86995" algn="ctr">
              <a:lnSpc>
                <a:spcPct val="100000"/>
              </a:lnSpc>
              <a:spcBef>
                <a:spcPts val="605"/>
              </a:spcBef>
            </a:pPr>
            <a:r>
              <a:rPr spc="95" dirty="0"/>
              <a:t>K-MAP</a:t>
            </a:r>
            <a:r>
              <a:rPr spc="-90" dirty="0"/>
              <a:t> </a:t>
            </a:r>
            <a:r>
              <a:rPr dirty="0"/>
              <a:t>SIMPLIFICATION</a:t>
            </a:r>
            <a:r>
              <a:rPr spc="-85" dirty="0"/>
              <a:t> </a:t>
            </a:r>
            <a:r>
              <a:rPr spc="140" dirty="0"/>
              <a:t>OF</a:t>
            </a:r>
            <a:r>
              <a:rPr spc="-65" dirty="0"/>
              <a:t> </a:t>
            </a:r>
            <a:r>
              <a:rPr spc="5" dirty="0"/>
              <a:t>POS</a:t>
            </a:r>
            <a:r>
              <a:rPr spc="-85" dirty="0"/>
              <a:t> </a:t>
            </a:r>
            <a:r>
              <a:rPr spc="85" dirty="0"/>
              <a:t>FORMS</a:t>
            </a:r>
          </a:p>
          <a:p>
            <a:pPr marL="469900" marR="5080" indent="-457200">
              <a:lnSpc>
                <a:spcPct val="100000"/>
              </a:lnSpc>
              <a:spcBef>
                <a:spcPts val="605"/>
              </a:spcBef>
              <a:buClr>
                <a:srgbClr val="E36C09"/>
              </a:buClr>
              <a:buFont typeface="Wingdings"/>
              <a:buChar char=""/>
              <a:tabLst>
                <a:tab pos="469265" algn="l"/>
                <a:tab pos="469900" algn="l"/>
                <a:tab pos="1160145" algn="l"/>
                <a:tab pos="1519555" algn="l"/>
                <a:tab pos="3001645" algn="l"/>
                <a:tab pos="3799840" algn="l"/>
                <a:tab pos="4292600" algn="l"/>
                <a:tab pos="5705475" algn="l"/>
                <a:tab pos="6333490" algn="l"/>
                <a:tab pos="7810500" algn="l"/>
              </a:tabLst>
            </a:pPr>
            <a:r>
              <a:rPr sz="2400" spc="-35" dirty="0">
                <a:solidFill>
                  <a:srgbClr val="006FC0"/>
                </a:solidFill>
              </a:rPr>
              <a:t>Use	</a:t>
            </a:r>
            <a:r>
              <a:rPr sz="2400" spc="-65" dirty="0">
                <a:solidFill>
                  <a:srgbClr val="006FC0"/>
                </a:solidFill>
              </a:rPr>
              <a:t>a	</a:t>
            </a:r>
            <a:r>
              <a:rPr sz="2400" spc="140" dirty="0">
                <a:solidFill>
                  <a:srgbClr val="006FC0"/>
                </a:solidFill>
              </a:rPr>
              <a:t>K</a:t>
            </a:r>
            <a:r>
              <a:rPr sz="2400" spc="-35" dirty="0">
                <a:solidFill>
                  <a:srgbClr val="006FC0"/>
                </a:solidFill>
              </a:rPr>
              <a:t>arn</a:t>
            </a:r>
            <a:r>
              <a:rPr sz="2400" spc="-25" dirty="0">
                <a:solidFill>
                  <a:srgbClr val="006FC0"/>
                </a:solidFill>
              </a:rPr>
              <a:t>a</a:t>
            </a:r>
            <a:r>
              <a:rPr sz="2400" spc="-60" dirty="0">
                <a:solidFill>
                  <a:srgbClr val="006FC0"/>
                </a:solidFill>
              </a:rPr>
              <a:t>ugh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5" dirty="0">
                <a:solidFill>
                  <a:srgbClr val="006FC0"/>
                </a:solidFill>
              </a:rPr>
              <a:t>map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40" dirty="0">
                <a:solidFill>
                  <a:srgbClr val="006FC0"/>
                </a:solidFill>
              </a:rPr>
              <a:t>t</a:t>
            </a:r>
            <a:r>
              <a:rPr sz="2400" spc="75" dirty="0">
                <a:solidFill>
                  <a:srgbClr val="006FC0"/>
                </a:solidFill>
              </a:rPr>
              <a:t>o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60" dirty="0">
                <a:solidFill>
                  <a:srgbClr val="006FC0"/>
                </a:solidFill>
              </a:rPr>
              <a:t>m</a:t>
            </a:r>
            <a:r>
              <a:rPr sz="2400" spc="5" dirty="0">
                <a:solidFill>
                  <a:srgbClr val="006FC0"/>
                </a:solidFill>
              </a:rPr>
              <a:t>i</a:t>
            </a:r>
            <a:r>
              <a:rPr sz="2400" spc="45" dirty="0">
                <a:solidFill>
                  <a:srgbClr val="006FC0"/>
                </a:solidFill>
              </a:rPr>
              <a:t>n</a:t>
            </a:r>
            <a:r>
              <a:rPr sz="2400" spc="5" dirty="0">
                <a:solidFill>
                  <a:srgbClr val="006FC0"/>
                </a:solidFill>
              </a:rPr>
              <a:t>i</a:t>
            </a:r>
            <a:r>
              <a:rPr sz="2400" spc="30" dirty="0">
                <a:solidFill>
                  <a:srgbClr val="006FC0"/>
                </a:solidFill>
              </a:rPr>
              <a:t>m</a:t>
            </a:r>
            <a:r>
              <a:rPr sz="2400" spc="-10" dirty="0">
                <a:solidFill>
                  <a:srgbClr val="006FC0"/>
                </a:solidFill>
              </a:rPr>
              <a:t>ize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-5" dirty="0">
                <a:solidFill>
                  <a:srgbClr val="006FC0"/>
                </a:solidFill>
              </a:rPr>
              <a:t>t</a:t>
            </a:r>
            <a:r>
              <a:rPr sz="2400" spc="-55" dirty="0">
                <a:solidFill>
                  <a:srgbClr val="006FC0"/>
                </a:solidFill>
              </a:rPr>
              <a:t>he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90" dirty="0">
                <a:solidFill>
                  <a:srgbClr val="006FC0"/>
                </a:solidFill>
              </a:rPr>
              <a:t>follow</a:t>
            </a:r>
            <a:r>
              <a:rPr sz="2400" spc="50" dirty="0">
                <a:solidFill>
                  <a:srgbClr val="006FC0"/>
                </a:solidFill>
              </a:rPr>
              <a:t>i</a:t>
            </a:r>
            <a:r>
              <a:rPr sz="2400" spc="-60" dirty="0">
                <a:solidFill>
                  <a:srgbClr val="006FC0"/>
                </a:solidFill>
              </a:rPr>
              <a:t>ng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-5" dirty="0">
                <a:solidFill>
                  <a:srgbClr val="006FC0"/>
                </a:solidFill>
              </a:rPr>
              <a:t>POS  </a:t>
            </a:r>
            <a:r>
              <a:rPr sz="2400" spc="-50" dirty="0">
                <a:solidFill>
                  <a:srgbClr val="006FC0"/>
                </a:solidFill>
              </a:rPr>
              <a:t>expression:</a:t>
            </a:r>
            <a:endParaRPr sz="2400"/>
          </a:p>
          <a:p>
            <a:pPr marL="686435">
              <a:lnSpc>
                <a:spcPct val="100000"/>
              </a:lnSpc>
              <a:spcBef>
                <a:spcPts val="15"/>
              </a:spcBef>
            </a:pPr>
            <a:r>
              <a:rPr spc="-50" dirty="0">
                <a:solidFill>
                  <a:srgbClr val="006FC0"/>
                </a:solidFill>
              </a:rPr>
              <a:t>(B+ </a:t>
            </a:r>
            <a:r>
              <a:rPr spc="-5" dirty="0">
                <a:solidFill>
                  <a:srgbClr val="006FC0"/>
                </a:solidFill>
              </a:rPr>
              <a:t>C+D)(A+B+C’+D)(A’+B+C+D’)(A+B’+C+D)(A’+B’+</a:t>
            </a:r>
            <a:r>
              <a:rPr spc="-70" dirty="0">
                <a:solidFill>
                  <a:srgbClr val="006FC0"/>
                </a:solidFill>
              </a:rPr>
              <a:t> </a:t>
            </a:r>
            <a:r>
              <a:rPr spc="15" dirty="0">
                <a:solidFill>
                  <a:srgbClr val="006FC0"/>
                </a:solidFill>
              </a:rPr>
              <a:t>C+D)</a:t>
            </a:r>
          </a:p>
          <a:p>
            <a:pPr>
              <a:lnSpc>
                <a:spcPct val="100000"/>
              </a:lnSpc>
            </a:pPr>
            <a:endParaRPr sz="2400"/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/>
          </a:p>
          <a:p>
            <a:pPr marL="165100" marR="3815715" algn="just">
              <a:lnSpc>
                <a:spcPct val="100000"/>
              </a:lnSpc>
              <a:spcBef>
                <a:spcPts val="5"/>
              </a:spcBef>
            </a:pP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b="1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0000"/>
                </a:solidFill>
                <a:latin typeface="Calibri"/>
                <a:cs typeface="Calibri"/>
              </a:rPr>
              <a:t>first</a:t>
            </a:r>
            <a:r>
              <a:rPr sz="2800" b="1" spc="-15" dirty="0">
                <a:solidFill>
                  <a:srgbClr val="000000"/>
                </a:solidFill>
                <a:latin typeface="Calibri"/>
                <a:cs typeface="Calibri"/>
              </a:rPr>
              <a:t> term</a:t>
            </a: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00"/>
                </a:solidFill>
                <a:latin typeface="Calibri"/>
                <a:cs typeface="Calibri"/>
              </a:rPr>
              <a:t>must</a:t>
            </a: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 be </a:t>
            </a:r>
            <a:r>
              <a:rPr sz="2800" b="1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expanded </a:t>
            </a:r>
            <a:r>
              <a:rPr sz="2800" b="1" spc="-15" dirty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70" dirty="0">
                <a:solidFill>
                  <a:srgbClr val="000000"/>
                </a:solidFill>
                <a:latin typeface="Calibri"/>
                <a:cs typeface="Calibri"/>
              </a:rPr>
              <a:t>A’ </a:t>
            </a:r>
            <a:r>
              <a:rPr sz="2800" b="1" spc="-5" dirty="0">
                <a:solidFill>
                  <a:srgbClr val="000000"/>
                </a:solidFill>
                <a:latin typeface="Calibri"/>
                <a:cs typeface="Calibri"/>
              </a:rPr>
              <a:t>+ B + C + D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sz="2800" b="1" spc="-5" dirty="0">
                <a:solidFill>
                  <a:srgbClr val="000000"/>
                </a:solidFill>
                <a:latin typeface="Calibri"/>
                <a:cs typeface="Calibri"/>
              </a:rPr>
              <a:t>A + B + C + D </a:t>
            </a:r>
            <a:r>
              <a:rPr sz="2800" b="1" spc="-15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800" b="1" spc="-20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  <a:r>
              <a:rPr sz="2800" b="1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00"/>
                </a:solidFill>
                <a:latin typeface="Calibri"/>
                <a:cs typeface="Calibri"/>
              </a:rPr>
              <a:t>standard</a:t>
            </a: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 POS</a:t>
            </a:r>
            <a:r>
              <a:rPr sz="2800" b="1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00"/>
                </a:solidFill>
                <a:latin typeface="Calibri"/>
                <a:cs typeface="Calibri"/>
              </a:rPr>
              <a:t>expression, </a:t>
            </a:r>
            <a:r>
              <a:rPr sz="2800" b="1" spc="-6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which</a:t>
            </a:r>
            <a:r>
              <a:rPr sz="2800" b="1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Calibri"/>
                <a:cs typeface="Calibri"/>
              </a:rPr>
              <a:t>is then</a:t>
            </a:r>
            <a:r>
              <a:rPr sz="2800" b="1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00"/>
                </a:solidFill>
                <a:latin typeface="Calibri"/>
                <a:cs typeface="Calibri"/>
              </a:rPr>
              <a:t>mapped;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202679"/>
              <a:ext cx="656996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GATE</a:t>
            </a:r>
            <a:r>
              <a:rPr spc="-25" dirty="0"/>
              <a:t> </a:t>
            </a:r>
            <a:r>
              <a:rPr spc="-80" dirty="0"/>
              <a:t>MINIMIZATION</a:t>
            </a:r>
            <a:r>
              <a:rPr spc="-50" dirty="0"/>
              <a:t> </a:t>
            </a:r>
            <a:r>
              <a:rPr spc="-70" dirty="0"/>
              <a:t>USING</a:t>
            </a:r>
            <a:r>
              <a:rPr spc="-50" dirty="0"/>
              <a:t> </a:t>
            </a:r>
            <a:r>
              <a:rPr spc="-105" dirty="0"/>
              <a:t>K-MAP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940" y="1005076"/>
            <a:ext cx="8074025" cy="515239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R="87630" algn="ctr">
              <a:lnSpc>
                <a:spcPct val="100000"/>
              </a:lnSpc>
              <a:spcBef>
                <a:spcPts val="780"/>
              </a:spcBef>
            </a:pPr>
            <a:r>
              <a:rPr sz="2000" spc="145" dirty="0">
                <a:solidFill>
                  <a:srgbClr val="C00000"/>
                </a:solidFill>
                <a:latin typeface="Tahoma"/>
                <a:cs typeface="Tahoma"/>
              </a:rPr>
              <a:t>KARNAUGH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C00000"/>
                </a:solidFill>
                <a:latin typeface="Tahoma"/>
                <a:cs typeface="Tahoma"/>
              </a:rPr>
              <a:t>MAP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MINIMIZATION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EXERCISE</a:t>
            </a:r>
            <a:endParaRPr sz="2000">
              <a:latin typeface="Tahoma"/>
              <a:cs typeface="Tahoma"/>
            </a:endParaRPr>
          </a:p>
          <a:p>
            <a:pPr marL="12700" marR="6985">
              <a:lnSpc>
                <a:spcPct val="100000"/>
              </a:lnSpc>
              <a:spcBef>
                <a:spcPts val="605"/>
              </a:spcBef>
            </a:pPr>
            <a:r>
              <a:rPr sz="1800" spc="-15" dirty="0">
                <a:solidFill>
                  <a:srgbClr val="006FC0"/>
                </a:solidFill>
                <a:latin typeface="Tahoma"/>
                <a:cs typeface="Tahoma"/>
              </a:rPr>
              <a:t>Using</a:t>
            </a:r>
            <a:r>
              <a:rPr sz="1800" spc="2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1800" spc="2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Tahoma"/>
                <a:cs typeface="Tahoma"/>
              </a:rPr>
              <a:t>Karnaugh</a:t>
            </a:r>
            <a:r>
              <a:rPr sz="1800" spc="2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ahoma"/>
                <a:cs typeface="Tahoma"/>
              </a:rPr>
              <a:t>map,</a:t>
            </a:r>
            <a:r>
              <a:rPr sz="1800" spc="2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Tahoma"/>
                <a:cs typeface="Tahoma"/>
              </a:rPr>
              <a:t>simplify</a:t>
            </a:r>
            <a:r>
              <a:rPr sz="1800" spc="2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1800" spc="2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006FC0"/>
                </a:solidFill>
                <a:latin typeface="Tahoma"/>
                <a:cs typeface="Tahoma"/>
              </a:rPr>
              <a:t>following</a:t>
            </a:r>
            <a:r>
              <a:rPr sz="1800" spc="25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Tahoma"/>
                <a:cs typeface="Tahoma"/>
              </a:rPr>
              <a:t>functions</a:t>
            </a:r>
            <a:r>
              <a:rPr sz="1800" spc="25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1800" spc="25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006FC0"/>
                </a:solidFill>
                <a:latin typeface="Tahoma"/>
                <a:cs typeface="Tahoma"/>
              </a:rPr>
              <a:t>implement</a:t>
            </a:r>
            <a:r>
              <a:rPr sz="1800" spc="2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Tahoma"/>
                <a:cs typeface="Tahoma"/>
              </a:rPr>
              <a:t>them </a:t>
            </a:r>
            <a:r>
              <a:rPr sz="1800" spc="-5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1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Tahoma"/>
                <a:cs typeface="Tahoma"/>
              </a:rPr>
              <a:t>basic</a:t>
            </a:r>
            <a:r>
              <a:rPr sz="1800" spc="-70" dirty="0">
                <a:solidFill>
                  <a:srgbClr val="006FC0"/>
                </a:solidFill>
                <a:latin typeface="Tahoma"/>
                <a:cs typeface="Tahoma"/>
              </a:rPr>
              <a:t> gates.</a:t>
            </a:r>
            <a:endParaRPr sz="1800">
              <a:latin typeface="Tahoma"/>
              <a:cs typeface="Tahoma"/>
            </a:endParaRPr>
          </a:p>
          <a:p>
            <a:pPr marL="927100">
              <a:lnSpc>
                <a:spcPts val="2110"/>
              </a:lnSpc>
            </a:pPr>
            <a:r>
              <a:rPr sz="1800" spc="-45" dirty="0">
                <a:latin typeface="Tahoma"/>
                <a:cs typeface="Tahoma"/>
              </a:rPr>
              <a:t>(a</a:t>
            </a:r>
            <a:r>
              <a:rPr sz="1800" spc="-50" dirty="0">
                <a:latin typeface="Tahoma"/>
                <a:cs typeface="Tahoma"/>
              </a:rPr>
              <a:t>)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(</a:t>
            </a:r>
            <a:r>
              <a:rPr sz="1800" spc="125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</a:t>
            </a:r>
            <a:r>
              <a:rPr sz="1800" spc="-1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</a:t>
            </a:r>
            <a:r>
              <a:rPr sz="1800" spc="20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25" dirty="0">
                <a:latin typeface="Tahoma"/>
                <a:cs typeface="Tahoma"/>
              </a:rPr>
              <a:t>D</a:t>
            </a:r>
            <a:r>
              <a:rPr sz="1800" spc="10" dirty="0">
                <a:latin typeface="Tahoma"/>
                <a:cs typeface="Tahoma"/>
              </a:rPr>
              <a:t>)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190" dirty="0">
                <a:latin typeface="Tahoma"/>
                <a:cs typeface="Tahoma"/>
              </a:rPr>
              <a:t>=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Σ</a:t>
            </a:r>
            <a:r>
              <a:rPr sz="1800" spc="20" dirty="0">
                <a:latin typeface="Tahoma"/>
                <a:cs typeface="Tahoma"/>
              </a:rPr>
              <a:t>m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(</a:t>
            </a:r>
            <a:r>
              <a:rPr sz="1800" spc="80" dirty="0">
                <a:latin typeface="Tahoma"/>
                <a:cs typeface="Tahoma"/>
              </a:rPr>
              <a:t>0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2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3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6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7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8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1</a:t>
            </a:r>
            <a:r>
              <a:rPr sz="1800" spc="-90" dirty="0">
                <a:latin typeface="Tahoma"/>
                <a:cs typeface="Tahoma"/>
              </a:rPr>
              <a:t>0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60" dirty="0">
                <a:latin typeface="Tahoma"/>
                <a:cs typeface="Tahoma"/>
              </a:rPr>
              <a:t>1</a:t>
            </a:r>
            <a:r>
              <a:rPr sz="1800" spc="-270" dirty="0">
                <a:latin typeface="Tahoma"/>
                <a:cs typeface="Tahoma"/>
              </a:rPr>
              <a:t>1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5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2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5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5</a:t>
            </a:r>
            <a:r>
              <a:rPr sz="1800" spc="-55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15" dirty="0">
                <a:latin typeface="Tahoma"/>
                <a:cs typeface="Tahoma"/>
              </a:rPr>
              <a:t>b</a:t>
            </a:r>
            <a:r>
              <a:rPr sz="1800" spc="-60" dirty="0">
                <a:latin typeface="Tahoma"/>
                <a:cs typeface="Tahoma"/>
              </a:rPr>
              <a:t>)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125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</a:t>
            </a:r>
            <a:r>
              <a:rPr sz="1800" spc="-1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</a:t>
            </a:r>
            <a:r>
              <a:rPr sz="1800" spc="20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30" dirty="0">
                <a:latin typeface="Tahoma"/>
                <a:cs typeface="Tahoma"/>
              </a:rPr>
              <a:t>D</a:t>
            </a:r>
            <a:r>
              <a:rPr sz="1800" spc="10" dirty="0">
                <a:latin typeface="Tahoma"/>
                <a:cs typeface="Tahoma"/>
              </a:rPr>
              <a:t>)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85" dirty="0">
                <a:latin typeface="Tahoma"/>
                <a:cs typeface="Tahoma"/>
              </a:rPr>
              <a:t>=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Σ</a:t>
            </a:r>
            <a:r>
              <a:rPr sz="1800" spc="20" dirty="0">
                <a:latin typeface="Tahoma"/>
                <a:cs typeface="Tahoma"/>
              </a:rPr>
              <a:t>m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80" dirty="0">
                <a:latin typeface="Tahoma"/>
                <a:cs typeface="Tahoma"/>
              </a:rPr>
              <a:t>0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2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3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5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7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8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3</a:t>
            </a:r>
            <a:r>
              <a:rPr sz="1800" spc="-60" dirty="0">
                <a:latin typeface="Tahoma"/>
                <a:cs typeface="Tahoma"/>
              </a:rPr>
              <a:t>) </a:t>
            </a:r>
            <a:r>
              <a:rPr sz="1800" spc="-100" dirty="0">
                <a:latin typeface="Tahoma"/>
                <a:cs typeface="Tahoma"/>
              </a:rPr>
              <a:t>+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-254" dirty="0">
                <a:latin typeface="Tahoma"/>
                <a:cs typeface="Tahoma"/>
              </a:rPr>
              <a:t>1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6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2</a:t>
            </a:r>
            <a:r>
              <a:rPr sz="1800" spc="-6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50"/>
              </a:spcBef>
            </a:pP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-60" dirty="0">
                <a:latin typeface="Tahoma"/>
                <a:cs typeface="Tahoma"/>
              </a:rPr>
              <a:t>c)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F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125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</a:t>
            </a:r>
            <a:r>
              <a:rPr sz="1800" spc="-1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</a:t>
            </a:r>
            <a:r>
              <a:rPr sz="1800" spc="20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25" dirty="0">
                <a:latin typeface="Tahoma"/>
                <a:cs typeface="Tahoma"/>
              </a:rPr>
              <a:t>D</a:t>
            </a:r>
            <a:r>
              <a:rPr sz="1800" spc="10" dirty="0">
                <a:latin typeface="Tahoma"/>
                <a:cs typeface="Tahoma"/>
              </a:rPr>
              <a:t>)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185" dirty="0">
                <a:latin typeface="Tahoma"/>
                <a:cs typeface="Tahoma"/>
              </a:rPr>
              <a:t>=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b="1" dirty="0">
                <a:latin typeface="Cambria"/>
                <a:cs typeface="Cambria"/>
              </a:rPr>
              <a:t>Σ</a:t>
            </a:r>
            <a:r>
              <a:rPr sz="1800" spc="20" dirty="0">
                <a:latin typeface="Tahoma"/>
                <a:cs typeface="Tahoma"/>
              </a:rPr>
              <a:t>m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(</a:t>
            </a:r>
            <a:r>
              <a:rPr sz="1800" b="1" dirty="0">
                <a:latin typeface="Cambria"/>
                <a:cs typeface="Cambria"/>
              </a:rPr>
              <a:t>1, 7,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9, 10,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12,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13,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14,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15)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+ </a:t>
            </a:r>
            <a:r>
              <a:rPr sz="1800" spc="45" dirty="0">
                <a:latin typeface="Tahoma"/>
                <a:cs typeface="Tahoma"/>
              </a:rPr>
              <a:t>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50" dirty="0">
                <a:latin typeface="Tahoma"/>
                <a:cs typeface="Tahoma"/>
              </a:rPr>
              <a:t>4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5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8</a:t>
            </a:r>
            <a:r>
              <a:rPr sz="1800" spc="-6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sz="1800" spc="-15" dirty="0">
                <a:latin typeface="Tahoma"/>
                <a:cs typeface="Tahoma"/>
              </a:rPr>
              <a:t>(d</a:t>
            </a:r>
            <a:r>
              <a:rPr sz="1800" spc="-20" dirty="0">
                <a:latin typeface="Tahoma"/>
                <a:cs typeface="Tahoma"/>
              </a:rPr>
              <a:t>)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125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</a:t>
            </a:r>
            <a:r>
              <a:rPr sz="1800" spc="-1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</a:t>
            </a:r>
            <a:r>
              <a:rPr sz="1800" spc="20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30" dirty="0">
                <a:latin typeface="Tahoma"/>
                <a:cs typeface="Tahoma"/>
              </a:rPr>
              <a:t>D</a:t>
            </a:r>
            <a:r>
              <a:rPr sz="1800" spc="10" dirty="0">
                <a:latin typeface="Tahoma"/>
                <a:cs typeface="Tahoma"/>
              </a:rPr>
              <a:t>)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85" dirty="0">
                <a:latin typeface="Tahoma"/>
                <a:cs typeface="Tahoma"/>
              </a:rPr>
              <a:t>=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π</a:t>
            </a:r>
            <a:r>
              <a:rPr sz="1800" spc="325" dirty="0">
                <a:latin typeface="Tahoma"/>
                <a:cs typeface="Tahoma"/>
              </a:rPr>
              <a:t>M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(</a:t>
            </a:r>
            <a:r>
              <a:rPr sz="1800" b="1" dirty="0">
                <a:latin typeface="Cambria"/>
                <a:cs typeface="Cambria"/>
              </a:rPr>
              <a:t>0, 8,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10,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11,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14)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+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spc="45" dirty="0">
                <a:latin typeface="Tahoma"/>
                <a:cs typeface="Tahoma"/>
              </a:rPr>
              <a:t>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45" dirty="0">
                <a:latin typeface="Tahoma"/>
                <a:cs typeface="Tahoma"/>
              </a:rPr>
              <a:t>6</a:t>
            </a:r>
            <a:r>
              <a:rPr sz="1800" spc="-6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-55" dirty="0">
                <a:latin typeface="Tahoma"/>
                <a:cs typeface="Tahoma"/>
              </a:rPr>
              <a:t>e</a:t>
            </a:r>
            <a:r>
              <a:rPr sz="1800" spc="-60" dirty="0">
                <a:latin typeface="Tahoma"/>
                <a:cs typeface="Tahoma"/>
              </a:rPr>
              <a:t>)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125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</a:t>
            </a:r>
            <a:r>
              <a:rPr sz="1800" spc="-1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C</a:t>
            </a:r>
            <a:r>
              <a:rPr sz="1800" spc="20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30" dirty="0">
                <a:latin typeface="Tahoma"/>
                <a:cs typeface="Tahoma"/>
              </a:rPr>
              <a:t>D</a:t>
            </a:r>
            <a:r>
              <a:rPr sz="1800" spc="10" dirty="0">
                <a:latin typeface="Tahoma"/>
                <a:cs typeface="Tahoma"/>
              </a:rPr>
              <a:t>)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185" dirty="0">
                <a:latin typeface="Tahoma"/>
                <a:cs typeface="Tahoma"/>
              </a:rPr>
              <a:t>=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b="1" dirty="0">
                <a:latin typeface="Cambria"/>
                <a:cs typeface="Cambria"/>
              </a:rPr>
              <a:t>π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spc="340" dirty="0">
                <a:latin typeface="Tahoma"/>
                <a:cs typeface="Tahoma"/>
              </a:rPr>
              <a:t>M</a:t>
            </a:r>
            <a:r>
              <a:rPr sz="1800" b="1" spc="-5" dirty="0">
                <a:latin typeface="Cambria"/>
                <a:cs typeface="Cambria"/>
              </a:rPr>
              <a:t>(</a:t>
            </a:r>
            <a:r>
              <a:rPr sz="1800" b="1" dirty="0">
                <a:latin typeface="Cambria"/>
                <a:cs typeface="Cambria"/>
              </a:rPr>
              <a:t>2,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8, 11,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15)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+ </a:t>
            </a:r>
            <a:r>
              <a:rPr sz="1800" spc="45" dirty="0">
                <a:latin typeface="Tahoma"/>
                <a:cs typeface="Tahoma"/>
              </a:rPr>
              <a:t>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45" dirty="0">
                <a:latin typeface="Tahoma"/>
                <a:cs typeface="Tahoma"/>
              </a:rPr>
              <a:t>3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2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4</a:t>
            </a:r>
            <a:r>
              <a:rPr sz="1800" spc="-6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(</a:t>
            </a:r>
            <a:r>
              <a:rPr sz="1800" dirty="0">
                <a:latin typeface="Tahoma"/>
                <a:cs typeface="Tahoma"/>
              </a:rPr>
              <a:t>f</a:t>
            </a:r>
            <a:r>
              <a:rPr sz="1800" spc="-60" dirty="0">
                <a:latin typeface="Tahoma"/>
                <a:cs typeface="Tahoma"/>
              </a:rPr>
              <a:t>)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-20" dirty="0">
                <a:latin typeface="Tahoma"/>
                <a:cs typeface="Tahoma"/>
              </a:rPr>
              <a:t>W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X</a:t>
            </a:r>
            <a:r>
              <a:rPr sz="1800" spc="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80" dirty="0">
                <a:latin typeface="Tahoma"/>
                <a:cs typeface="Tahoma"/>
              </a:rPr>
              <a:t>Y</a:t>
            </a:r>
            <a:r>
              <a:rPr sz="1800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Z</a:t>
            </a:r>
            <a:r>
              <a:rPr sz="1800" spc="-10" dirty="0">
                <a:latin typeface="Tahoma"/>
                <a:cs typeface="Tahoma"/>
              </a:rPr>
              <a:t>)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185" dirty="0">
                <a:latin typeface="Tahoma"/>
                <a:cs typeface="Tahoma"/>
              </a:rPr>
              <a:t>=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π</a:t>
            </a:r>
            <a:r>
              <a:rPr sz="1800" spc="325" dirty="0">
                <a:latin typeface="Tahoma"/>
                <a:cs typeface="Tahoma"/>
              </a:rPr>
              <a:t>M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80" dirty="0">
                <a:latin typeface="Tahoma"/>
                <a:cs typeface="Tahoma"/>
              </a:rPr>
              <a:t>0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2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6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54" dirty="0">
                <a:latin typeface="Tahoma"/>
                <a:cs typeface="Tahoma"/>
              </a:rPr>
              <a:t>1</a:t>
            </a:r>
            <a:r>
              <a:rPr sz="1800" spc="-270" dirty="0">
                <a:latin typeface="Tahoma"/>
                <a:cs typeface="Tahoma"/>
              </a:rPr>
              <a:t>1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3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5</a:t>
            </a:r>
            <a:r>
              <a:rPr sz="1800" spc="-60" dirty="0">
                <a:latin typeface="Tahoma"/>
                <a:cs typeface="Tahoma"/>
              </a:rPr>
              <a:t>) </a:t>
            </a:r>
            <a:r>
              <a:rPr sz="1800" spc="-100" dirty="0">
                <a:latin typeface="Tahoma"/>
                <a:cs typeface="Tahoma"/>
              </a:rPr>
              <a:t>+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-254" dirty="0">
                <a:latin typeface="Tahoma"/>
                <a:cs typeface="Tahoma"/>
              </a:rPr>
              <a:t>1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9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1</a:t>
            </a:r>
            <a:r>
              <a:rPr sz="1800" spc="-95" dirty="0">
                <a:latin typeface="Tahoma"/>
                <a:cs typeface="Tahoma"/>
              </a:rPr>
              <a:t>0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4</a:t>
            </a:r>
            <a:r>
              <a:rPr sz="1800" spc="-6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006FC0"/>
                </a:solidFill>
                <a:latin typeface="Tahoma"/>
                <a:cs typeface="Tahoma"/>
              </a:rPr>
              <a:t>Prepare</a:t>
            </a:r>
            <a:r>
              <a:rPr sz="1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1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Tahoma"/>
                <a:cs typeface="Tahoma"/>
              </a:rPr>
              <a:t>Karnaugh</a:t>
            </a:r>
            <a:r>
              <a:rPr sz="1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006FC0"/>
                </a:solidFill>
                <a:latin typeface="Tahoma"/>
                <a:cs typeface="Tahoma"/>
              </a:rPr>
              <a:t>map</a:t>
            </a:r>
            <a:r>
              <a:rPr sz="1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1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1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006FC0"/>
                </a:solidFill>
                <a:latin typeface="Tahoma"/>
                <a:cs typeface="Tahoma"/>
              </a:rPr>
              <a:t>following</a:t>
            </a:r>
            <a:r>
              <a:rPr sz="1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006FC0"/>
                </a:solidFill>
                <a:latin typeface="Tahoma"/>
                <a:cs typeface="Tahoma"/>
              </a:rPr>
              <a:t>functions.</a:t>
            </a:r>
            <a:endParaRPr sz="1800">
              <a:latin typeface="Tahoma"/>
              <a:cs typeface="Tahoma"/>
            </a:endParaRPr>
          </a:p>
          <a:p>
            <a:pPr marL="1270000" indent="-343535">
              <a:lnSpc>
                <a:spcPct val="100000"/>
              </a:lnSpc>
              <a:buAutoNum type="alphaLcParenBoth"/>
              <a:tabLst>
                <a:tab pos="1270635" algn="l"/>
              </a:tabLst>
            </a:pPr>
            <a:r>
              <a:rPr sz="1800" spc="5" dirty="0">
                <a:latin typeface="Tahoma"/>
                <a:cs typeface="Tahoma"/>
              </a:rPr>
              <a:t>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85" dirty="0">
                <a:latin typeface="Tahoma"/>
                <a:cs typeface="Tahoma"/>
              </a:rPr>
              <a:t>=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25" dirty="0">
                <a:latin typeface="Tahoma"/>
                <a:cs typeface="Tahoma"/>
              </a:rPr>
              <a:t>A</a:t>
            </a:r>
            <a:r>
              <a:rPr sz="1800" dirty="0">
                <a:latin typeface="Tahoma"/>
                <a:cs typeface="Tahoma"/>
              </a:rPr>
              <a:t>B</a:t>
            </a:r>
            <a:r>
              <a:rPr sz="1800" spc="100" dirty="0">
                <a:latin typeface="Tahoma"/>
                <a:cs typeface="Tahoma"/>
              </a:rPr>
              <a:t>C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+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25" dirty="0">
                <a:latin typeface="Tahoma"/>
                <a:cs typeface="Tahoma"/>
              </a:rPr>
              <a:t>A</a:t>
            </a:r>
            <a:r>
              <a:rPr sz="1800" spc="-50" dirty="0">
                <a:latin typeface="Tahoma"/>
                <a:cs typeface="Tahoma"/>
              </a:rPr>
              <a:t>'</a:t>
            </a:r>
            <a:r>
              <a:rPr sz="1800" spc="5" dirty="0">
                <a:latin typeface="Tahoma"/>
                <a:cs typeface="Tahoma"/>
              </a:rPr>
              <a:t>B</a:t>
            </a:r>
            <a:r>
              <a:rPr sz="1800" spc="100" dirty="0">
                <a:latin typeface="Tahoma"/>
                <a:cs typeface="Tahoma"/>
              </a:rPr>
              <a:t>C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+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</a:t>
            </a:r>
            <a:r>
              <a:rPr sz="1800" spc="-50" dirty="0">
                <a:latin typeface="Tahoma"/>
                <a:cs typeface="Tahoma"/>
              </a:rPr>
              <a:t>'</a:t>
            </a:r>
            <a:r>
              <a:rPr sz="1800" spc="114" dirty="0">
                <a:latin typeface="Tahoma"/>
                <a:cs typeface="Tahoma"/>
              </a:rPr>
              <a:t>C</a:t>
            </a:r>
            <a:r>
              <a:rPr sz="1800" spc="-60" dirty="0">
                <a:latin typeface="Tahoma"/>
                <a:cs typeface="Tahoma"/>
              </a:rPr>
              <a:t>'</a:t>
            </a:r>
            <a:endParaRPr sz="1800">
              <a:latin typeface="Tahoma"/>
              <a:cs typeface="Tahoma"/>
            </a:endParaRPr>
          </a:p>
          <a:p>
            <a:pPr marL="1282065" indent="-355600">
              <a:lnSpc>
                <a:spcPct val="100000"/>
              </a:lnSpc>
              <a:buAutoNum type="alphaLcParenBoth"/>
              <a:tabLst>
                <a:tab pos="1282700" algn="l"/>
              </a:tabLst>
            </a:pPr>
            <a:r>
              <a:rPr sz="1800" spc="5" dirty="0">
                <a:latin typeface="Tahoma"/>
                <a:cs typeface="Tahoma"/>
              </a:rPr>
              <a:t>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85" dirty="0">
                <a:latin typeface="Tahoma"/>
                <a:cs typeface="Tahoma"/>
              </a:rPr>
              <a:t>=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114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+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B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+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35" dirty="0">
                <a:latin typeface="Tahoma"/>
                <a:cs typeface="Tahoma"/>
              </a:rPr>
              <a:t>C'</a:t>
            </a:r>
            <a:endParaRPr sz="1800">
              <a:latin typeface="Tahoma"/>
              <a:cs typeface="Tahoma"/>
            </a:endParaRPr>
          </a:p>
          <a:p>
            <a:pPr marL="1253490" indent="-326390">
              <a:lnSpc>
                <a:spcPct val="100000"/>
              </a:lnSpc>
              <a:buAutoNum type="alphaLcParenBoth"/>
              <a:tabLst>
                <a:tab pos="1253490" algn="l"/>
              </a:tabLst>
            </a:pPr>
            <a:r>
              <a:rPr sz="1800" spc="30" dirty="0">
                <a:latin typeface="Tahoma"/>
                <a:cs typeface="Tahoma"/>
              </a:rPr>
              <a:t>Y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185" dirty="0">
                <a:latin typeface="Tahoma"/>
                <a:cs typeface="Tahoma"/>
              </a:rPr>
              <a:t>=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A</a:t>
            </a:r>
            <a:r>
              <a:rPr sz="1800" spc="55" dirty="0">
                <a:latin typeface="Tahoma"/>
                <a:cs typeface="Tahoma"/>
              </a:rPr>
              <a:t>B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+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</a:t>
            </a:r>
            <a:r>
              <a:rPr sz="1800" spc="-50" dirty="0">
                <a:latin typeface="Tahoma"/>
                <a:cs typeface="Tahoma"/>
              </a:rPr>
              <a:t>'</a:t>
            </a:r>
            <a:r>
              <a:rPr sz="1800" spc="114" dirty="0">
                <a:latin typeface="Tahoma"/>
                <a:cs typeface="Tahoma"/>
              </a:rPr>
              <a:t>C</a:t>
            </a:r>
            <a:r>
              <a:rPr sz="1800" spc="90" dirty="0"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15" dirty="0">
                <a:solidFill>
                  <a:srgbClr val="006FC0"/>
                </a:solidFill>
                <a:latin typeface="Tahoma"/>
                <a:cs typeface="Tahoma"/>
              </a:rPr>
              <a:t>Using </a:t>
            </a:r>
            <a:r>
              <a:rPr sz="18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1800" spc="-20" dirty="0">
                <a:solidFill>
                  <a:srgbClr val="006FC0"/>
                </a:solidFill>
                <a:latin typeface="Tahoma"/>
                <a:cs typeface="Tahoma"/>
              </a:rPr>
              <a:t>Karnaugh </a:t>
            </a:r>
            <a:r>
              <a:rPr sz="1800" spc="5" dirty="0">
                <a:solidFill>
                  <a:srgbClr val="006FC0"/>
                </a:solidFill>
                <a:latin typeface="Tahoma"/>
                <a:cs typeface="Tahoma"/>
              </a:rPr>
              <a:t>map method, simplify </a:t>
            </a:r>
            <a:r>
              <a:rPr sz="18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1800" spc="35" dirty="0">
                <a:solidFill>
                  <a:srgbClr val="006FC0"/>
                </a:solidFill>
                <a:latin typeface="Tahoma"/>
                <a:cs typeface="Tahoma"/>
              </a:rPr>
              <a:t>following </a:t>
            </a:r>
            <a:r>
              <a:rPr sz="1800" spc="-20" dirty="0">
                <a:solidFill>
                  <a:srgbClr val="006FC0"/>
                </a:solidFill>
                <a:latin typeface="Tahoma"/>
                <a:cs typeface="Tahoma"/>
              </a:rPr>
              <a:t>functions, </a:t>
            </a:r>
            <a:r>
              <a:rPr sz="1800" spc="15" dirty="0">
                <a:solidFill>
                  <a:srgbClr val="006FC0"/>
                </a:solidFill>
                <a:latin typeface="Tahoma"/>
                <a:cs typeface="Tahoma"/>
              </a:rPr>
              <a:t>obtain </a:t>
            </a:r>
            <a:r>
              <a:rPr sz="1800" spc="-10" dirty="0">
                <a:solidFill>
                  <a:srgbClr val="006FC0"/>
                </a:solidFill>
                <a:latin typeface="Tahoma"/>
                <a:cs typeface="Tahoma"/>
              </a:rPr>
              <a:t>their </a:t>
            </a:r>
            <a:r>
              <a:rPr sz="1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Tahoma"/>
                <a:cs typeface="Tahoma"/>
              </a:rPr>
              <a:t>sum </a:t>
            </a:r>
            <a:r>
              <a:rPr sz="1800" spc="4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1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1800" spc="-20" dirty="0">
                <a:solidFill>
                  <a:srgbClr val="006FC0"/>
                </a:solidFill>
                <a:latin typeface="Tahoma"/>
                <a:cs typeface="Tahoma"/>
              </a:rPr>
              <a:t>products </a:t>
            </a:r>
            <a:r>
              <a:rPr sz="1800" spc="10" dirty="0">
                <a:solidFill>
                  <a:srgbClr val="006FC0"/>
                </a:solidFill>
                <a:latin typeface="Tahoma"/>
                <a:cs typeface="Tahoma"/>
              </a:rPr>
              <a:t>form,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1800" spc="5" dirty="0">
                <a:solidFill>
                  <a:srgbClr val="006FC0"/>
                </a:solidFill>
                <a:latin typeface="Tahoma"/>
                <a:cs typeface="Tahoma"/>
              </a:rPr>
              <a:t>product </a:t>
            </a:r>
            <a:r>
              <a:rPr sz="1800" spc="4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1800" spc="-2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1800" spc="-95" dirty="0">
                <a:solidFill>
                  <a:srgbClr val="006FC0"/>
                </a:solidFill>
                <a:latin typeface="Tahoma"/>
                <a:cs typeface="Tahoma"/>
              </a:rPr>
              <a:t>sums</a:t>
            </a:r>
            <a:r>
              <a:rPr sz="1800" spc="3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Tahoma"/>
                <a:cs typeface="Tahoma"/>
              </a:rPr>
              <a:t>form. </a:t>
            </a:r>
            <a:r>
              <a:rPr sz="1800" spc="-15" dirty="0">
                <a:solidFill>
                  <a:srgbClr val="006FC0"/>
                </a:solidFill>
                <a:latin typeface="Tahoma"/>
                <a:cs typeface="Tahoma"/>
              </a:rPr>
              <a:t>Realize </a:t>
            </a:r>
            <a:r>
              <a:rPr sz="1800" spc="-20" dirty="0">
                <a:solidFill>
                  <a:srgbClr val="006FC0"/>
                </a:solidFill>
                <a:latin typeface="Tahoma"/>
                <a:cs typeface="Tahoma"/>
              </a:rPr>
              <a:t>them </a:t>
            </a:r>
            <a:r>
              <a:rPr sz="1800" spc="4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1800" spc="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Tahoma"/>
                <a:cs typeface="Tahoma"/>
              </a:rPr>
              <a:t>basic</a:t>
            </a:r>
            <a:r>
              <a:rPr sz="1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006FC0"/>
                </a:solidFill>
                <a:latin typeface="Tahoma"/>
                <a:cs typeface="Tahoma"/>
              </a:rPr>
              <a:t>gates.</a:t>
            </a:r>
            <a:endParaRPr sz="1800">
              <a:latin typeface="Tahoma"/>
              <a:cs typeface="Tahoma"/>
            </a:endParaRPr>
          </a:p>
          <a:p>
            <a:pPr marL="927100" algn="just">
              <a:lnSpc>
                <a:spcPts val="2115"/>
              </a:lnSpc>
            </a:pP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-40" dirty="0">
                <a:latin typeface="Tahoma"/>
                <a:cs typeface="Tahoma"/>
              </a:rPr>
              <a:t>a</a:t>
            </a:r>
            <a:r>
              <a:rPr sz="1800" spc="-60" dirty="0">
                <a:latin typeface="Tahoma"/>
                <a:cs typeface="Tahoma"/>
              </a:rPr>
              <a:t>)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-20" dirty="0">
                <a:latin typeface="Tahoma"/>
                <a:cs typeface="Tahoma"/>
              </a:rPr>
              <a:t>W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X</a:t>
            </a:r>
            <a:r>
              <a:rPr sz="1800" spc="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80" dirty="0">
                <a:latin typeface="Tahoma"/>
                <a:cs typeface="Tahoma"/>
              </a:rPr>
              <a:t>Y</a:t>
            </a:r>
            <a:r>
              <a:rPr sz="1800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Z</a:t>
            </a:r>
            <a:r>
              <a:rPr sz="1800" spc="-10" dirty="0">
                <a:latin typeface="Tahoma"/>
                <a:cs typeface="Tahoma"/>
              </a:rPr>
              <a:t>)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185" dirty="0">
                <a:latin typeface="Tahoma"/>
                <a:cs typeface="Tahoma"/>
              </a:rPr>
              <a:t>=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b="1" dirty="0">
                <a:latin typeface="Calibri"/>
                <a:cs typeface="Calibri"/>
              </a:rPr>
              <a:t>Σ</a:t>
            </a:r>
            <a:r>
              <a:rPr sz="1800" b="1" spc="125" dirty="0">
                <a:latin typeface="Calibri"/>
                <a:cs typeface="Calibri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-254" dirty="0">
                <a:latin typeface="Tahoma"/>
                <a:cs typeface="Tahoma"/>
              </a:rPr>
              <a:t>1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3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4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5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6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7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9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2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3</a:t>
            </a:r>
            <a:r>
              <a:rPr sz="1800" spc="-6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  <a:p>
            <a:pPr marL="927100" algn="just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15" dirty="0">
                <a:latin typeface="Tahoma"/>
                <a:cs typeface="Tahoma"/>
              </a:rPr>
              <a:t>b</a:t>
            </a:r>
            <a:r>
              <a:rPr sz="1800" spc="-60" dirty="0">
                <a:latin typeface="Tahoma"/>
                <a:cs typeface="Tahoma"/>
              </a:rPr>
              <a:t>)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-20" dirty="0">
                <a:latin typeface="Tahoma"/>
                <a:cs typeface="Tahoma"/>
              </a:rPr>
              <a:t>W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X</a:t>
            </a:r>
            <a:r>
              <a:rPr sz="1800" spc="35" dirty="0">
                <a:latin typeface="Tahoma"/>
                <a:cs typeface="Tahoma"/>
              </a:rPr>
              <a:t>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80" dirty="0">
                <a:latin typeface="Tahoma"/>
                <a:cs typeface="Tahoma"/>
              </a:rPr>
              <a:t>Y</a:t>
            </a:r>
            <a:r>
              <a:rPr sz="1800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Z</a:t>
            </a:r>
            <a:r>
              <a:rPr sz="1800" spc="-10" dirty="0">
                <a:latin typeface="Tahoma"/>
                <a:cs typeface="Tahoma"/>
              </a:rPr>
              <a:t>)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185" dirty="0">
                <a:latin typeface="Tahoma"/>
                <a:cs typeface="Tahoma"/>
              </a:rPr>
              <a:t>=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b="1" dirty="0">
                <a:latin typeface="Calibri"/>
                <a:cs typeface="Calibri"/>
              </a:rPr>
              <a:t>Σ</a:t>
            </a:r>
            <a:r>
              <a:rPr sz="1800" b="1" spc="114" dirty="0">
                <a:latin typeface="Calibri"/>
                <a:cs typeface="Calibri"/>
              </a:rPr>
              <a:t> </a:t>
            </a:r>
            <a:r>
              <a:rPr sz="1800" spc="-50" dirty="0">
                <a:latin typeface="Tahoma"/>
                <a:cs typeface="Tahoma"/>
              </a:rPr>
              <a:t>(</a:t>
            </a:r>
            <a:r>
              <a:rPr sz="1800" spc="-254" dirty="0">
                <a:latin typeface="Tahoma"/>
                <a:cs typeface="Tahoma"/>
              </a:rPr>
              <a:t>1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5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6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7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54" dirty="0">
                <a:latin typeface="Tahoma"/>
                <a:cs typeface="Tahoma"/>
              </a:rPr>
              <a:t>1</a:t>
            </a:r>
            <a:r>
              <a:rPr sz="1800" spc="-270" dirty="0">
                <a:latin typeface="Tahoma"/>
                <a:cs typeface="Tahoma"/>
              </a:rPr>
              <a:t>1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2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3</a:t>
            </a:r>
            <a:r>
              <a:rPr sz="1800" spc="-35" dirty="0">
                <a:latin typeface="Tahoma"/>
                <a:cs typeface="Tahoma"/>
              </a:rPr>
              <a:t>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0" dirty="0">
                <a:latin typeface="Tahoma"/>
                <a:cs typeface="Tahoma"/>
              </a:rPr>
              <a:t>1</a:t>
            </a:r>
            <a:r>
              <a:rPr sz="1800" spc="-110" dirty="0">
                <a:latin typeface="Tahoma"/>
                <a:cs typeface="Tahoma"/>
              </a:rPr>
              <a:t>5</a:t>
            </a:r>
            <a:r>
              <a:rPr sz="1800" spc="-6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6983730" cy="40927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</a:t>
            </a:r>
            <a:r>
              <a:rPr spc="-250" dirty="0"/>
              <a:t>A</a:t>
            </a:r>
            <a:r>
              <a:rPr spc="-254" dirty="0"/>
              <a:t>N</a:t>
            </a:r>
            <a:r>
              <a:rPr spc="45" dirty="0"/>
              <a:t>D</a:t>
            </a:r>
            <a:r>
              <a:rPr spc="-50" dirty="0"/>
              <a:t> </a:t>
            </a:r>
            <a:r>
              <a:rPr spc="-225" dirty="0"/>
              <a:t>&amp;</a:t>
            </a:r>
            <a:r>
              <a:rPr spc="-5" dirty="0"/>
              <a:t> </a:t>
            </a:r>
            <a:r>
              <a:rPr spc="-210" dirty="0"/>
              <a:t>N</a:t>
            </a:r>
            <a:r>
              <a:rPr spc="-50" dirty="0"/>
              <a:t>OR</a:t>
            </a:r>
            <a:r>
              <a:rPr spc="-35" dirty="0"/>
              <a:t> </a:t>
            </a:r>
            <a:r>
              <a:rPr spc="110" dirty="0"/>
              <a:t>I</a:t>
            </a:r>
            <a:r>
              <a:rPr spc="-25" dirty="0"/>
              <a:t>M</a:t>
            </a:r>
            <a:r>
              <a:rPr spc="-145" dirty="0"/>
              <a:t>PLEMENTATI</a:t>
            </a:r>
            <a:r>
              <a:rPr spc="-180" dirty="0"/>
              <a:t>O</a:t>
            </a:r>
            <a:r>
              <a:rPr spc="-220" dirty="0"/>
              <a:t>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77366"/>
            <a:ext cx="8378825" cy="52501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R="38735" algn="ctr">
              <a:lnSpc>
                <a:spcPct val="100000"/>
              </a:lnSpc>
              <a:spcBef>
                <a:spcPts val="660"/>
              </a:spcBef>
              <a:tabLst>
                <a:tab pos="1471295" algn="l"/>
                <a:tab pos="2380615" algn="l"/>
              </a:tabLst>
            </a:pP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UNIVERSAL	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LOGIC	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GATES</a:t>
            </a:r>
            <a:endParaRPr sz="200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spcBef>
                <a:spcPts val="72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114" dirty="0">
                <a:solidFill>
                  <a:srgbClr val="006FC0"/>
                </a:solidFill>
                <a:latin typeface="Tahoma"/>
                <a:cs typeface="Tahoma"/>
              </a:rPr>
              <a:t>OR, </a:t>
            </a:r>
            <a:r>
              <a:rPr sz="2600" spc="22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229" dirty="0">
                <a:solidFill>
                  <a:srgbClr val="006FC0"/>
                </a:solidFill>
                <a:latin typeface="Tahoma"/>
                <a:cs typeface="Tahoma"/>
              </a:rPr>
              <a:t>NOT </a:t>
            </a:r>
            <a:r>
              <a:rPr sz="2600" spc="-120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r>
              <a:rPr sz="2600" spc="-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three 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basic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14" dirty="0">
                <a:solidFill>
                  <a:srgbClr val="006FC0"/>
                </a:solidFill>
                <a:latin typeface="Tahoma"/>
                <a:cs typeface="Tahoma"/>
              </a:rPr>
              <a:t>gates </a:t>
            </a:r>
            <a:r>
              <a:rPr sz="2600" spc="-17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600" spc="-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they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together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used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construct the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circuit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any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given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Boolean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expression.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combination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600" spc="250" dirty="0">
                <a:solidFill>
                  <a:srgbClr val="006FC0"/>
                </a:solidFill>
                <a:latin typeface="Tahoma"/>
                <a:cs typeface="Tahoma"/>
              </a:rPr>
              <a:t>NAND </a:t>
            </a:r>
            <a:r>
              <a:rPr sz="2600" spc="-114" dirty="0">
                <a:solidFill>
                  <a:srgbClr val="006FC0"/>
                </a:solidFill>
                <a:latin typeface="Tahoma"/>
                <a:cs typeface="Tahoma"/>
              </a:rPr>
              <a:t>gates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combination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45" dirty="0">
                <a:solidFill>
                  <a:srgbClr val="006FC0"/>
                </a:solidFill>
                <a:latin typeface="Tahoma"/>
                <a:cs typeface="Tahoma"/>
              </a:rPr>
              <a:t>NOR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14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6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used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6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perform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functions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 any</a:t>
            </a: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basic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gates.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476884" marR="698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85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also, </a:t>
            </a:r>
            <a:r>
              <a:rPr sz="2600" spc="250" dirty="0">
                <a:solidFill>
                  <a:srgbClr val="006FC0"/>
                </a:solidFill>
                <a:latin typeface="Tahoma"/>
                <a:cs typeface="Tahoma"/>
              </a:rPr>
              <a:t>NAND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245" dirty="0">
                <a:solidFill>
                  <a:srgbClr val="006FC0"/>
                </a:solidFill>
                <a:latin typeface="Tahoma"/>
                <a:cs typeface="Tahoma"/>
              </a:rPr>
              <a:t>NOR </a:t>
            </a:r>
            <a:r>
              <a:rPr sz="2600" spc="-114" dirty="0">
                <a:solidFill>
                  <a:srgbClr val="006FC0"/>
                </a:solidFill>
                <a:latin typeface="Tahoma"/>
                <a:cs typeface="Tahoma"/>
              </a:rPr>
              <a:t>gates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referred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-175" dirty="0">
                <a:solidFill>
                  <a:srgbClr val="006FC0"/>
                </a:solidFill>
                <a:latin typeface="Tahoma"/>
                <a:cs typeface="Tahoma"/>
              </a:rPr>
              <a:t>as </a:t>
            </a:r>
            <a:r>
              <a:rPr sz="2600" spc="-1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universal </a:t>
            </a:r>
            <a:r>
              <a:rPr sz="2600" spc="-114" dirty="0">
                <a:solidFill>
                  <a:srgbClr val="006FC0"/>
                </a:solidFill>
                <a:latin typeface="Tahoma"/>
                <a:cs typeface="Tahoma"/>
              </a:rPr>
              <a:t>gates 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because 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alone </a:t>
            </a:r>
            <a:r>
              <a:rPr sz="2600" spc="-55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combined </a:t>
            </a:r>
            <a:r>
              <a:rPr sz="2600" spc="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together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itself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form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other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possible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10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</a:t>
            </a:r>
            <a:r>
              <a:rPr spc="-250" dirty="0"/>
              <a:t>A</a:t>
            </a:r>
            <a:r>
              <a:rPr spc="-254" dirty="0"/>
              <a:t>N</a:t>
            </a:r>
            <a:r>
              <a:rPr spc="45" dirty="0"/>
              <a:t>D</a:t>
            </a:r>
            <a:r>
              <a:rPr spc="-50" dirty="0"/>
              <a:t> </a:t>
            </a:r>
            <a:r>
              <a:rPr spc="-225" dirty="0"/>
              <a:t>&amp;</a:t>
            </a:r>
            <a:r>
              <a:rPr spc="-5" dirty="0"/>
              <a:t> </a:t>
            </a:r>
            <a:r>
              <a:rPr spc="-210" dirty="0"/>
              <a:t>N</a:t>
            </a:r>
            <a:r>
              <a:rPr spc="-50" dirty="0"/>
              <a:t>OR</a:t>
            </a:r>
            <a:r>
              <a:rPr spc="-35" dirty="0"/>
              <a:t> </a:t>
            </a:r>
            <a:r>
              <a:rPr spc="110" dirty="0"/>
              <a:t>I</a:t>
            </a:r>
            <a:r>
              <a:rPr spc="-25" dirty="0"/>
              <a:t>M</a:t>
            </a:r>
            <a:r>
              <a:rPr spc="-145" dirty="0"/>
              <a:t>PLEMENTATI</a:t>
            </a:r>
            <a:r>
              <a:rPr spc="-180" dirty="0"/>
              <a:t>O</a:t>
            </a:r>
            <a:r>
              <a:rPr spc="-220" dirty="0"/>
              <a:t>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70094"/>
            <a:ext cx="8376920" cy="123380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R="39370" algn="ctr">
              <a:lnSpc>
                <a:spcPct val="100000"/>
              </a:lnSpc>
              <a:spcBef>
                <a:spcPts val="715"/>
              </a:spcBef>
              <a:tabLst>
                <a:tab pos="911860" algn="l"/>
                <a:tab pos="1682114" algn="l"/>
                <a:tab pos="2109470" algn="l"/>
                <a:tab pos="3580129" algn="l"/>
                <a:tab pos="4487545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NAND	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GATE	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AS	</a:t>
            </a: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UNIVERSAL	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LOGIC	</a:t>
            </a: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GATE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73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400" spc="-2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29" dirty="0">
                <a:latin typeface="Tahoma"/>
                <a:cs typeface="Tahoma"/>
              </a:rPr>
              <a:t>NAND</a:t>
            </a:r>
            <a:r>
              <a:rPr sz="2400" spc="17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gate</a:t>
            </a:r>
            <a:r>
              <a:rPr sz="2400" spc="17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is</a:t>
            </a:r>
            <a:r>
              <a:rPr sz="2400" spc="16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a</a:t>
            </a:r>
            <a:r>
              <a:rPr sz="2400" spc="17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universal</a:t>
            </a:r>
            <a:r>
              <a:rPr sz="2400" spc="170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gate</a:t>
            </a:r>
            <a:r>
              <a:rPr sz="2400" spc="155" dirty="0"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Tahoma"/>
                <a:cs typeface="Tahoma"/>
              </a:rPr>
              <a:t>because</a:t>
            </a:r>
            <a:r>
              <a:rPr sz="2400" spc="1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0" dirty="0">
                <a:solidFill>
                  <a:srgbClr val="006FC0"/>
                </a:solidFill>
                <a:latin typeface="Tahoma"/>
                <a:cs typeface="Tahoma"/>
              </a:rPr>
              <a:t>it</a:t>
            </a:r>
            <a:r>
              <a:rPr sz="2400" spc="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400" spc="1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400" spc="1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75" dirty="0">
                <a:solidFill>
                  <a:srgbClr val="006FC0"/>
                </a:solidFill>
                <a:latin typeface="Tahoma"/>
                <a:cs typeface="Tahoma"/>
              </a:rPr>
              <a:t>used </a:t>
            </a:r>
            <a:r>
              <a:rPr sz="2400" spc="-7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7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produce</a:t>
            </a:r>
            <a:r>
              <a:rPr sz="24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any</a:t>
            </a:r>
            <a:r>
              <a:rPr sz="24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other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ahoma"/>
                <a:cs typeface="Tahoma"/>
              </a:rPr>
              <a:t>function.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14400" y="2590800"/>
            <a:ext cx="8234680" cy="4267200"/>
            <a:chOff x="914400" y="2590800"/>
            <a:chExt cx="8234680" cy="42672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400" y="2590800"/>
              <a:ext cx="7239000" cy="36804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9802" y="1147952"/>
            <a:ext cx="5137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560" algn="l"/>
                <a:tab pos="1694814" algn="l"/>
                <a:tab pos="2122170" algn="l"/>
                <a:tab pos="3592829" algn="l"/>
                <a:tab pos="4500245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185" dirty="0">
                <a:solidFill>
                  <a:srgbClr val="C00000"/>
                </a:solidFill>
                <a:latin typeface="Tahoma"/>
                <a:cs typeface="Tahoma"/>
              </a:rPr>
              <a:t>ND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UNIVE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295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OGIC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4424" y="2057400"/>
            <a:ext cx="8804910" cy="4800600"/>
            <a:chOff x="344424" y="2057400"/>
            <a:chExt cx="8804910" cy="48006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4424" y="2057400"/>
              <a:ext cx="8494776" cy="38008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9802" y="1147952"/>
            <a:ext cx="5137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560" algn="l"/>
                <a:tab pos="1694814" algn="l"/>
                <a:tab pos="2122170" algn="l"/>
                <a:tab pos="3592829" algn="l"/>
                <a:tab pos="4500245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185" dirty="0">
                <a:solidFill>
                  <a:srgbClr val="C00000"/>
                </a:solidFill>
                <a:latin typeface="Tahoma"/>
                <a:cs typeface="Tahoma"/>
              </a:rPr>
              <a:t>ND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UNIVE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295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OGIC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2000" y="1752600"/>
            <a:ext cx="8387080" cy="5105400"/>
            <a:chOff x="762000" y="1752600"/>
            <a:chExt cx="8387080" cy="5105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2000" y="1752600"/>
              <a:ext cx="7555992" cy="45811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</a:t>
            </a:r>
            <a:r>
              <a:rPr spc="-250" dirty="0"/>
              <a:t>A</a:t>
            </a:r>
            <a:r>
              <a:rPr spc="-254" dirty="0"/>
              <a:t>N</a:t>
            </a:r>
            <a:r>
              <a:rPr spc="45" dirty="0"/>
              <a:t>D</a:t>
            </a:r>
            <a:r>
              <a:rPr spc="-50" dirty="0"/>
              <a:t> </a:t>
            </a:r>
            <a:r>
              <a:rPr spc="-225" dirty="0"/>
              <a:t>&amp;</a:t>
            </a:r>
            <a:r>
              <a:rPr spc="-5" dirty="0"/>
              <a:t> </a:t>
            </a:r>
            <a:r>
              <a:rPr spc="-210" dirty="0"/>
              <a:t>N</a:t>
            </a:r>
            <a:r>
              <a:rPr spc="-50" dirty="0"/>
              <a:t>OR</a:t>
            </a:r>
            <a:r>
              <a:rPr spc="-35" dirty="0"/>
              <a:t> </a:t>
            </a:r>
            <a:r>
              <a:rPr spc="110" dirty="0"/>
              <a:t>I</a:t>
            </a:r>
            <a:r>
              <a:rPr spc="-25" dirty="0"/>
              <a:t>M</a:t>
            </a:r>
            <a:r>
              <a:rPr spc="-145" dirty="0"/>
              <a:t>PLEMENTATI</a:t>
            </a:r>
            <a:r>
              <a:rPr spc="-180" dirty="0"/>
              <a:t>O</a:t>
            </a:r>
            <a:r>
              <a:rPr spc="-220" dirty="0"/>
              <a:t>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82488"/>
            <a:ext cx="8375015" cy="13417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620"/>
              </a:spcBef>
              <a:tabLst>
                <a:tab pos="727075" algn="l"/>
                <a:tab pos="1497965" algn="l"/>
                <a:tab pos="3321050" algn="l"/>
                <a:tab pos="4229735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NOR	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GATE	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AS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UNIVERSAL	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LOGIC	</a:t>
            </a:r>
            <a:r>
              <a:rPr sz="2000" spc="15" dirty="0">
                <a:solidFill>
                  <a:srgbClr val="C00000"/>
                </a:solidFill>
                <a:latin typeface="Tahoma"/>
                <a:cs typeface="Tahoma"/>
              </a:rPr>
              <a:t>GATE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71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Like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NAND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gate,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60" dirty="0">
                <a:solidFill>
                  <a:srgbClr val="006FC0"/>
                </a:solidFill>
                <a:latin typeface="Tahoma"/>
                <a:cs typeface="Tahoma"/>
              </a:rPr>
              <a:t>NOR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used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produce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any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function.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90600" y="2497835"/>
            <a:ext cx="8158480" cy="4360545"/>
            <a:chOff x="990600" y="2497835"/>
            <a:chExt cx="8158480" cy="436054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0600" y="2523743"/>
              <a:ext cx="2334767" cy="39486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05555" y="2497835"/>
              <a:ext cx="4771644" cy="39791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8961" y="1147952"/>
            <a:ext cx="4879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39775" algn="l"/>
                <a:tab pos="1510665" algn="l"/>
                <a:tab pos="3333750" algn="l"/>
                <a:tab pos="4242435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04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NIVE</a:t>
            </a:r>
            <a:r>
              <a:rPr sz="2000" spc="2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295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OGIC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1000" y="1828800"/>
            <a:ext cx="8768080" cy="5029200"/>
            <a:chOff x="381000" y="1828800"/>
            <a:chExt cx="8768080" cy="50292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1828800"/>
              <a:ext cx="2676144" cy="430682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34283" y="1828800"/>
              <a:ext cx="5500115" cy="4343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8961" y="1147952"/>
            <a:ext cx="4879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39775" algn="l"/>
                <a:tab pos="1510665" algn="l"/>
                <a:tab pos="3333750" algn="l"/>
                <a:tab pos="4242435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04" dirty="0">
                <a:solidFill>
                  <a:srgbClr val="C00000"/>
                </a:solidFill>
                <a:latin typeface="Tahoma"/>
                <a:cs typeface="Tahoma"/>
              </a:rPr>
              <a:t>U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NIVE</a:t>
            </a:r>
            <a:r>
              <a:rPr sz="2000" spc="2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295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6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OGIC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40" dirty="0">
                <a:solidFill>
                  <a:srgbClr val="C00000"/>
                </a:solidFill>
                <a:latin typeface="Tahoma"/>
                <a:cs typeface="Tahoma"/>
              </a:rPr>
              <a:t>TE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3400" y="1752600"/>
            <a:ext cx="8615680" cy="5105400"/>
            <a:chOff x="533400" y="1752600"/>
            <a:chExt cx="8615680" cy="5105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" y="1752600"/>
              <a:ext cx="2647188" cy="46344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83635" y="1752600"/>
              <a:ext cx="5410200" cy="4648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</a:t>
            </a:r>
            <a:r>
              <a:rPr spc="-250" dirty="0"/>
              <a:t>A</a:t>
            </a:r>
            <a:r>
              <a:rPr spc="-254" dirty="0"/>
              <a:t>N</a:t>
            </a:r>
            <a:r>
              <a:rPr spc="45" dirty="0"/>
              <a:t>D</a:t>
            </a:r>
            <a:r>
              <a:rPr spc="-50" dirty="0"/>
              <a:t> </a:t>
            </a:r>
            <a:r>
              <a:rPr spc="-225" dirty="0"/>
              <a:t>&amp;</a:t>
            </a:r>
            <a:r>
              <a:rPr spc="-5" dirty="0"/>
              <a:t> </a:t>
            </a:r>
            <a:r>
              <a:rPr spc="-210" dirty="0"/>
              <a:t>N</a:t>
            </a:r>
            <a:r>
              <a:rPr spc="-50" dirty="0"/>
              <a:t>OR</a:t>
            </a:r>
            <a:r>
              <a:rPr spc="-35" dirty="0"/>
              <a:t> </a:t>
            </a:r>
            <a:r>
              <a:rPr spc="110" dirty="0"/>
              <a:t>I</a:t>
            </a:r>
            <a:r>
              <a:rPr spc="-25" dirty="0"/>
              <a:t>M</a:t>
            </a:r>
            <a:r>
              <a:rPr spc="-145" dirty="0"/>
              <a:t>PLEMENTATI</a:t>
            </a:r>
            <a:r>
              <a:rPr spc="-180" dirty="0"/>
              <a:t>O</a:t>
            </a:r>
            <a:r>
              <a:rPr spc="-220" dirty="0"/>
              <a:t>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4032" y="973351"/>
            <a:ext cx="8378825" cy="5443855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75"/>
              </a:spcBef>
              <a:tabLst>
                <a:tab pos="911860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NAND	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&amp;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NOR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IMPLEMETATION</a:t>
            </a:r>
            <a:endParaRPr sz="2000">
              <a:latin typeface="Tahoma"/>
              <a:cs typeface="Tahoma"/>
            </a:endParaRPr>
          </a:p>
          <a:p>
            <a:pPr marL="476884" marR="8890" indent="-464820" algn="just">
              <a:lnSpc>
                <a:spcPct val="100000"/>
              </a:lnSpc>
              <a:spcBef>
                <a:spcPts val="192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Digital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circuits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more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frequently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constructed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using </a:t>
            </a:r>
            <a:r>
              <a:rPr sz="2800" spc="265" dirty="0">
                <a:solidFill>
                  <a:srgbClr val="006FC0"/>
                </a:solidFill>
                <a:latin typeface="Tahoma"/>
                <a:cs typeface="Tahoma"/>
              </a:rPr>
              <a:t>NAND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260" dirty="0">
                <a:solidFill>
                  <a:srgbClr val="006FC0"/>
                </a:solidFill>
                <a:latin typeface="Tahoma"/>
                <a:cs typeface="Tahoma"/>
              </a:rPr>
              <a:t>NOR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gates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than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800" spc="229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4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NAND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260" dirty="0">
                <a:solidFill>
                  <a:srgbClr val="006FC0"/>
                </a:solidFill>
                <a:latin typeface="Tahoma"/>
                <a:cs typeface="Tahoma"/>
              </a:rPr>
              <a:t>NOR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easier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fabricated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other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electronics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components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these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the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basic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used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most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digital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IC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families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98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ease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conversion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204" dirty="0">
                <a:solidFill>
                  <a:srgbClr val="006FC0"/>
                </a:solidFill>
                <a:latin typeface="Tahoma"/>
                <a:cs typeface="Tahoma"/>
              </a:rPr>
              <a:t>NAND, </a:t>
            </a:r>
            <a:r>
              <a:rPr sz="2800" spc="260" dirty="0">
                <a:solidFill>
                  <a:srgbClr val="006FC0"/>
                </a:solidFill>
                <a:latin typeface="Tahoma"/>
                <a:cs typeface="Tahoma"/>
              </a:rPr>
              <a:t>NOR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it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convenient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define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other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graphical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symbol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these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7380" y="1147952"/>
            <a:ext cx="37668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NAND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&amp;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NOR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IMPLEMETATION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4672" y="1799844"/>
            <a:ext cx="8344534" cy="5058410"/>
            <a:chOff x="804672" y="1799844"/>
            <a:chExt cx="8344534" cy="505841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4672" y="1799844"/>
              <a:ext cx="7534656" cy="45247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</a:t>
            </a:r>
            <a:r>
              <a:rPr spc="-250" dirty="0"/>
              <a:t>A</a:t>
            </a:r>
            <a:r>
              <a:rPr spc="-254" dirty="0"/>
              <a:t>N</a:t>
            </a:r>
            <a:r>
              <a:rPr spc="45" dirty="0"/>
              <a:t>D</a:t>
            </a:r>
            <a:r>
              <a:rPr spc="-50" dirty="0"/>
              <a:t> </a:t>
            </a:r>
            <a:r>
              <a:rPr spc="-225" dirty="0"/>
              <a:t>&amp;</a:t>
            </a:r>
            <a:r>
              <a:rPr spc="-5" dirty="0"/>
              <a:t> </a:t>
            </a:r>
            <a:r>
              <a:rPr spc="-210" dirty="0"/>
              <a:t>N</a:t>
            </a:r>
            <a:r>
              <a:rPr spc="-50" dirty="0"/>
              <a:t>OR</a:t>
            </a:r>
            <a:r>
              <a:rPr spc="-35" dirty="0"/>
              <a:t> </a:t>
            </a:r>
            <a:r>
              <a:rPr spc="110" dirty="0"/>
              <a:t>I</a:t>
            </a:r>
            <a:r>
              <a:rPr spc="-25" dirty="0"/>
              <a:t>M</a:t>
            </a:r>
            <a:r>
              <a:rPr spc="-145" dirty="0"/>
              <a:t>PLEMENTATI</a:t>
            </a:r>
            <a:r>
              <a:rPr spc="-180" dirty="0"/>
              <a:t>O</a:t>
            </a:r>
            <a:r>
              <a:rPr spc="-220" dirty="0"/>
              <a:t>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27920"/>
            <a:ext cx="8378190" cy="189928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R="36830" algn="ctr">
              <a:lnSpc>
                <a:spcPct val="100000"/>
              </a:lnSpc>
              <a:spcBef>
                <a:spcPts val="1050"/>
              </a:spcBef>
              <a:tabLst>
                <a:tab pos="911860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NAND	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IMPLEMETATION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131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Implement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following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logical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expression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into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equivalent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NAND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based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circuit</a:t>
            </a:r>
            <a:endParaRPr sz="2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800" spc="145" dirty="0">
                <a:latin typeface="Tahoma"/>
                <a:cs typeface="Tahoma"/>
              </a:rPr>
              <a:t>F=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85" dirty="0">
                <a:latin typeface="Tahoma"/>
                <a:cs typeface="Tahoma"/>
              </a:rPr>
              <a:t>AB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+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165" dirty="0">
                <a:latin typeface="Tahoma"/>
                <a:cs typeface="Tahoma"/>
              </a:rPr>
              <a:t>C</a:t>
            </a:r>
            <a:r>
              <a:rPr sz="2800" spc="135" dirty="0">
                <a:latin typeface="Tahoma"/>
                <a:cs typeface="Tahoma"/>
              </a:rPr>
              <a:t>D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+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90800" y="2971800"/>
            <a:ext cx="6558280" cy="3886200"/>
            <a:chOff x="2590800" y="2971800"/>
            <a:chExt cx="6558280" cy="38862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0800" y="2971800"/>
              <a:ext cx="4267200" cy="34000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</a:t>
            </a:r>
            <a:r>
              <a:rPr spc="-250" dirty="0"/>
              <a:t>A</a:t>
            </a:r>
            <a:r>
              <a:rPr spc="-254" dirty="0"/>
              <a:t>N</a:t>
            </a:r>
            <a:r>
              <a:rPr spc="45" dirty="0"/>
              <a:t>D</a:t>
            </a:r>
            <a:r>
              <a:rPr spc="-50" dirty="0"/>
              <a:t> </a:t>
            </a:r>
            <a:r>
              <a:rPr spc="-225" dirty="0"/>
              <a:t>&amp;</a:t>
            </a:r>
            <a:r>
              <a:rPr spc="-5" dirty="0"/>
              <a:t> </a:t>
            </a:r>
            <a:r>
              <a:rPr spc="-210" dirty="0"/>
              <a:t>N</a:t>
            </a:r>
            <a:r>
              <a:rPr spc="-50" dirty="0"/>
              <a:t>OR</a:t>
            </a:r>
            <a:r>
              <a:rPr spc="-35" dirty="0"/>
              <a:t> </a:t>
            </a:r>
            <a:r>
              <a:rPr spc="110" dirty="0"/>
              <a:t>I</a:t>
            </a:r>
            <a:r>
              <a:rPr spc="-25" dirty="0"/>
              <a:t>M</a:t>
            </a:r>
            <a:r>
              <a:rPr spc="-145" dirty="0"/>
              <a:t>PLEMENTATI</a:t>
            </a:r>
            <a:r>
              <a:rPr spc="-180" dirty="0"/>
              <a:t>O</a:t>
            </a:r>
            <a:r>
              <a:rPr spc="-220" dirty="0"/>
              <a:t>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81908" y="1147952"/>
            <a:ext cx="2936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560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NAND	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IMPLEMETATION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286000" y="1752600"/>
            <a:ext cx="6863080" cy="5105400"/>
            <a:chOff x="2286000" y="1752600"/>
            <a:chExt cx="6863080" cy="5105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6000" y="1752600"/>
              <a:ext cx="4515611" cy="3581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3540" y="5508447"/>
            <a:ext cx="81114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95"/>
              </a:spcBef>
            </a:pPr>
            <a:r>
              <a:rPr sz="2800" spc="23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replaced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by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NAND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4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replaced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by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NAND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inverted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4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1908" y="1147952"/>
            <a:ext cx="2936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560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NAND	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IMPLEMETATION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8200" y="1600200"/>
            <a:ext cx="8310880" cy="5257800"/>
            <a:chOff x="838200" y="1600200"/>
            <a:chExt cx="8310880" cy="52578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09800" y="1600200"/>
              <a:ext cx="4664963" cy="41239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200" y="5791200"/>
              <a:ext cx="7162800" cy="6111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1908" y="1147952"/>
            <a:ext cx="2936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560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NAND	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IMPLEMETATION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63495" y="1828800"/>
            <a:ext cx="7085330" cy="5029200"/>
            <a:chOff x="2063495" y="1828800"/>
            <a:chExt cx="7085330" cy="50292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03219" y="1828800"/>
              <a:ext cx="3293363" cy="51968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63495" y="2590800"/>
              <a:ext cx="4629911" cy="3753612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1908" y="1147952"/>
            <a:ext cx="2936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560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NAND	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IMPLEMETATION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77824" y="1981200"/>
            <a:ext cx="8271509" cy="4876800"/>
            <a:chOff x="877824" y="1981200"/>
            <a:chExt cx="8271509" cy="48768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7824" y="1981200"/>
              <a:ext cx="7056120" cy="371856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1908" y="1147952"/>
            <a:ext cx="2936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560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NAND	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IMPLEMETATION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50847" y="1981200"/>
            <a:ext cx="7698105" cy="4876800"/>
            <a:chOff x="1450847" y="1981200"/>
            <a:chExt cx="7698105" cy="48768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50847" y="1981200"/>
              <a:ext cx="6198108" cy="373380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8042" y="1147952"/>
            <a:ext cx="43668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560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185" dirty="0">
                <a:solidFill>
                  <a:srgbClr val="C00000"/>
                </a:solidFill>
                <a:latin typeface="Tahoma"/>
                <a:cs typeface="Tahoma"/>
              </a:rPr>
              <a:t>ND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MPLEM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18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TI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21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PL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08532" y="1574291"/>
            <a:ext cx="7940675" cy="5283835"/>
            <a:chOff x="1208532" y="1574291"/>
            <a:chExt cx="7940675" cy="528383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08532" y="1981200"/>
              <a:ext cx="6879335" cy="411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30068" y="1574291"/>
              <a:ext cx="3636263" cy="813815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8042" y="1147952"/>
            <a:ext cx="43668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560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185" dirty="0">
                <a:solidFill>
                  <a:srgbClr val="C00000"/>
                </a:solidFill>
                <a:latin typeface="Tahoma"/>
                <a:cs typeface="Tahoma"/>
              </a:rPr>
              <a:t>ND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MPLEM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18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TI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21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PL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09827" y="2522220"/>
            <a:ext cx="8239125" cy="4335780"/>
            <a:chOff x="909827" y="2522220"/>
            <a:chExt cx="8239125" cy="433578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9827" y="2522220"/>
              <a:ext cx="7437120" cy="362864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8042" y="1147952"/>
            <a:ext cx="43668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4560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185" dirty="0">
                <a:solidFill>
                  <a:srgbClr val="C00000"/>
                </a:solidFill>
                <a:latin typeface="Tahoma"/>
                <a:cs typeface="Tahoma"/>
              </a:rPr>
              <a:t>ND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1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75" dirty="0">
                <a:solidFill>
                  <a:srgbClr val="C00000"/>
                </a:solidFill>
                <a:latin typeface="Tahoma"/>
                <a:cs typeface="Tahoma"/>
              </a:rPr>
              <a:t>MPLEM</a:t>
            </a:r>
            <a:r>
              <a:rPr sz="2000" spc="5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18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TI</a:t>
            </a: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215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PL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84859" y="1752600"/>
            <a:ext cx="8364220" cy="5105400"/>
            <a:chOff x="784859" y="1752600"/>
            <a:chExt cx="8364220" cy="5105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4859" y="1752600"/>
              <a:ext cx="7626095" cy="403860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</a:t>
            </a:r>
            <a:r>
              <a:rPr spc="-250" dirty="0"/>
              <a:t>A</a:t>
            </a:r>
            <a:r>
              <a:rPr spc="-254" dirty="0"/>
              <a:t>N</a:t>
            </a:r>
            <a:r>
              <a:rPr spc="45" dirty="0"/>
              <a:t>D</a:t>
            </a:r>
            <a:r>
              <a:rPr spc="-50" dirty="0"/>
              <a:t> </a:t>
            </a:r>
            <a:r>
              <a:rPr spc="-225" dirty="0"/>
              <a:t>&amp;</a:t>
            </a:r>
            <a:r>
              <a:rPr spc="-5" dirty="0"/>
              <a:t> </a:t>
            </a:r>
            <a:r>
              <a:rPr spc="-210" dirty="0"/>
              <a:t>N</a:t>
            </a:r>
            <a:r>
              <a:rPr spc="-50" dirty="0"/>
              <a:t>OR</a:t>
            </a:r>
            <a:r>
              <a:rPr spc="-35" dirty="0"/>
              <a:t> </a:t>
            </a:r>
            <a:r>
              <a:rPr spc="110" dirty="0"/>
              <a:t>I</a:t>
            </a:r>
            <a:r>
              <a:rPr spc="-25" dirty="0"/>
              <a:t>M</a:t>
            </a:r>
            <a:r>
              <a:rPr spc="-145" dirty="0"/>
              <a:t>PLEMENTATI</a:t>
            </a:r>
            <a:r>
              <a:rPr spc="-180" dirty="0"/>
              <a:t>O</a:t>
            </a:r>
            <a:r>
              <a:rPr spc="-220" dirty="0"/>
              <a:t>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47952"/>
            <a:ext cx="8378825" cy="5280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9370" algn="ctr">
              <a:lnSpc>
                <a:spcPct val="100000"/>
              </a:lnSpc>
              <a:spcBef>
                <a:spcPts val="105"/>
              </a:spcBef>
              <a:tabLst>
                <a:tab pos="727075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NOR	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IMPLEMETATION</a:t>
            </a:r>
            <a:endParaRPr sz="2000">
              <a:latin typeface="Tahoma"/>
              <a:cs typeface="Tahoma"/>
            </a:endParaRPr>
          </a:p>
          <a:p>
            <a:pPr marL="476884" marR="8255" indent="-464820" algn="just">
              <a:lnSpc>
                <a:spcPct val="100000"/>
              </a:lnSpc>
              <a:spcBef>
                <a:spcPts val="8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245" dirty="0">
                <a:solidFill>
                  <a:srgbClr val="006FC0"/>
                </a:solidFill>
                <a:latin typeface="Tahoma"/>
                <a:cs typeface="Tahoma"/>
              </a:rPr>
              <a:t>NOR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function </a:t>
            </a:r>
            <a:r>
              <a:rPr sz="2600" spc="-105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dual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600" spc="250" dirty="0">
                <a:solidFill>
                  <a:srgbClr val="006FC0"/>
                </a:solidFill>
                <a:latin typeface="Tahoma"/>
                <a:cs typeface="Tahoma"/>
              </a:rPr>
              <a:t>NAND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function, 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so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procedures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rules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followed </a:t>
            </a:r>
            <a:r>
              <a:rPr sz="2600" spc="45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600" spc="245" dirty="0">
                <a:solidFill>
                  <a:srgbClr val="006FC0"/>
                </a:solidFill>
                <a:latin typeface="Tahoma"/>
                <a:cs typeface="Tahoma"/>
              </a:rPr>
              <a:t>NOR </a:t>
            </a:r>
            <a:r>
              <a:rPr sz="2600" spc="110" dirty="0">
                <a:solidFill>
                  <a:srgbClr val="006FC0"/>
                </a:solidFill>
                <a:latin typeface="Tahoma"/>
                <a:cs typeface="Tahoma"/>
              </a:rPr>
              <a:t>will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dual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6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60" dirty="0">
                <a:solidFill>
                  <a:srgbClr val="006FC0"/>
                </a:solidFill>
                <a:latin typeface="Tahoma"/>
                <a:cs typeface="Tahoma"/>
              </a:rPr>
              <a:t>NAND</a:t>
            </a:r>
            <a:r>
              <a:rPr sz="26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realization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5" dirty="0">
                <a:solidFill>
                  <a:srgbClr val="006FC0"/>
                </a:solidFill>
                <a:latin typeface="Tahoma"/>
                <a:cs typeface="Tahoma"/>
              </a:rPr>
              <a:t>Implementation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boolean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function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5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600" spc="240" dirty="0">
                <a:solidFill>
                  <a:srgbClr val="006FC0"/>
                </a:solidFill>
                <a:latin typeface="Tahoma"/>
                <a:cs typeface="Tahoma"/>
              </a:rPr>
              <a:t>NOR </a:t>
            </a:r>
            <a:r>
              <a:rPr sz="2600" spc="-120" dirty="0">
                <a:solidFill>
                  <a:srgbClr val="006FC0"/>
                </a:solidFill>
                <a:latin typeface="Tahoma"/>
                <a:cs typeface="Tahoma"/>
              </a:rPr>
              <a:t>gates </a:t>
            </a:r>
            <a:r>
              <a:rPr sz="2600" spc="-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requires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26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function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simplified</a:t>
            </a:r>
            <a:r>
              <a:rPr sz="2600" spc="8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POS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ahoma"/>
                <a:cs typeface="Tahoma"/>
              </a:rPr>
              <a:t>forms</a:t>
            </a:r>
            <a:endParaRPr sz="2600">
              <a:latin typeface="Tahoma"/>
              <a:cs typeface="Tahoma"/>
            </a:endParaRPr>
          </a:p>
          <a:p>
            <a:pPr marL="476884" marR="8255" indent="-464820" algn="just">
              <a:lnSpc>
                <a:spcPct val="100000"/>
              </a:lnSpc>
              <a:spcBef>
                <a:spcPts val="144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POS 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specifies 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600" dirty="0">
                <a:solidFill>
                  <a:srgbClr val="006FC0"/>
                </a:solidFill>
                <a:latin typeface="Tahoma"/>
                <a:cs typeface="Tahoma"/>
              </a:rPr>
              <a:t>group </a:t>
            </a:r>
            <a:r>
              <a:rPr sz="2600" spc="6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600" spc="195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600" spc="-114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r>
              <a:rPr sz="2600" spc="5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sum 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terms,</a:t>
            </a:r>
            <a:r>
              <a:rPr sz="26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006FC0"/>
                </a:solidFill>
                <a:latin typeface="Tahoma"/>
                <a:cs typeface="Tahoma"/>
              </a:rPr>
              <a:t>followed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40" dirty="0">
                <a:solidFill>
                  <a:srgbClr val="006FC0"/>
                </a:solidFill>
                <a:latin typeface="Tahoma"/>
                <a:cs typeface="Tahoma"/>
              </a:rPr>
              <a:t>by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2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110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6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Tahoma"/>
                <a:cs typeface="Tahoma"/>
              </a:rPr>
              <a:t>produce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product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550">
              <a:latin typeface="Tahoma"/>
              <a:cs typeface="Tahoma"/>
            </a:endParaRPr>
          </a:p>
          <a:p>
            <a:pPr marL="476884" marR="698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So,</a:t>
            </a:r>
            <a:r>
              <a:rPr sz="26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006FC0"/>
                </a:solidFill>
                <a:latin typeface="Tahoma"/>
                <a:cs typeface="Tahoma"/>
              </a:rPr>
              <a:t>it</a:t>
            </a:r>
            <a:r>
              <a:rPr sz="26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transfers</a:t>
            </a:r>
            <a:r>
              <a:rPr sz="26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20" dirty="0">
                <a:solidFill>
                  <a:srgbClr val="006FC0"/>
                </a:solidFill>
                <a:latin typeface="Tahoma"/>
                <a:cs typeface="Tahoma"/>
              </a:rPr>
              <a:t>OR-AND </a:t>
            </a:r>
            <a:r>
              <a:rPr sz="2600" spc="10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50" dirty="0">
                <a:solidFill>
                  <a:srgbClr val="006FC0"/>
                </a:solidFill>
                <a:latin typeface="Tahoma"/>
                <a:cs typeface="Tahoma"/>
              </a:rPr>
              <a:t>circuits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006FC0"/>
                </a:solidFill>
                <a:latin typeface="Tahoma"/>
                <a:cs typeface="Tahoma"/>
              </a:rPr>
              <a:t>into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6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75" dirty="0">
                <a:solidFill>
                  <a:srgbClr val="006FC0"/>
                </a:solidFill>
                <a:latin typeface="Tahoma"/>
                <a:cs typeface="Tahoma"/>
              </a:rPr>
              <a:t>NOR-NOR</a:t>
            </a:r>
            <a:r>
              <a:rPr sz="26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6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Tahoma"/>
                <a:cs typeface="Tahoma"/>
              </a:rPr>
              <a:t>circuits.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73348" y="1147952"/>
            <a:ext cx="275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39775" algn="l"/>
              </a:tabLst>
            </a:pPr>
            <a:r>
              <a:rPr sz="2000" spc="195" dirty="0">
                <a:solidFill>
                  <a:srgbClr val="C00000"/>
                </a:solidFill>
                <a:latin typeface="Tahoma"/>
                <a:cs typeface="Tahoma"/>
              </a:rPr>
              <a:t>NOR	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IMPLEMETATION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28600" y="2743200"/>
            <a:ext cx="8920480" cy="4114800"/>
            <a:chOff x="228600" y="2743200"/>
            <a:chExt cx="8920480" cy="41148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95600" y="5715000"/>
              <a:ext cx="2891028" cy="381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8600" y="2743200"/>
              <a:ext cx="8682228" cy="24673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2954" y="1147952"/>
            <a:ext cx="4784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41680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150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MP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17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5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h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amp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145" dirty="0">
                <a:solidFill>
                  <a:srgbClr val="C00000"/>
                </a:solidFill>
                <a:latin typeface="Tahoma"/>
                <a:cs typeface="Tahoma"/>
              </a:rPr>
              <a:t>es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85900" y="2107692"/>
            <a:ext cx="7663180" cy="4750435"/>
            <a:chOff x="1485900" y="2107692"/>
            <a:chExt cx="7663180" cy="475043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3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5900" y="2209800"/>
              <a:ext cx="6172200" cy="40614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87239" y="2107692"/>
              <a:ext cx="3750564" cy="728472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2954" y="1147952"/>
            <a:ext cx="4784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41680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150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MP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17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5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h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amp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145" dirty="0">
                <a:solidFill>
                  <a:srgbClr val="C00000"/>
                </a:solidFill>
                <a:latin typeface="Tahoma"/>
                <a:cs typeface="Tahoma"/>
              </a:rPr>
              <a:t>es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24000" y="1828800"/>
            <a:ext cx="7625080" cy="5029200"/>
            <a:chOff x="1524000" y="1828800"/>
            <a:chExt cx="7625080" cy="50292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4000" y="1828800"/>
              <a:ext cx="6096000" cy="4509516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2954" y="1147952"/>
            <a:ext cx="4784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41680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150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MP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17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5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h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amp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145" dirty="0">
                <a:solidFill>
                  <a:srgbClr val="C00000"/>
                </a:solidFill>
                <a:latin typeface="Tahoma"/>
                <a:cs typeface="Tahoma"/>
              </a:rPr>
              <a:t>es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06067" y="1905000"/>
            <a:ext cx="7842884" cy="4953000"/>
            <a:chOff x="1306067" y="1905000"/>
            <a:chExt cx="7842884" cy="4953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06067" y="1905000"/>
              <a:ext cx="6562343" cy="4338828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2954" y="1147952"/>
            <a:ext cx="4784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41680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150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MP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17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5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h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amp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145" dirty="0">
                <a:solidFill>
                  <a:srgbClr val="C00000"/>
                </a:solidFill>
                <a:latin typeface="Tahoma"/>
                <a:cs typeface="Tahoma"/>
              </a:rPr>
              <a:t>es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33044" y="1752600"/>
            <a:ext cx="8416290" cy="5105400"/>
            <a:chOff x="733044" y="1752600"/>
            <a:chExt cx="8416290" cy="5105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33600" y="1752600"/>
              <a:ext cx="4131564" cy="6385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3044" y="2590800"/>
              <a:ext cx="7496556" cy="3543300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2954" y="1147952"/>
            <a:ext cx="4784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41680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150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MP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17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5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h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amp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145" dirty="0">
                <a:solidFill>
                  <a:srgbClr val="C00000"/>
                </a:solidFill>
                <a:latin typeface="Tahoma"/>
                <a:cs typeface="Tahoma"/>
              </a:rPr>
              <a:t>es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6863" y="2514600"/>
            <a:ext cx="8332470" cy="4343400"/>
            <a:chOff x="816863" y="2514600"/>
            <a:chExt cx="8332470" cy="43434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7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6863" y="2514600"/>
              <a:ext cx="7734300" cy="335280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239" y="202679"/>
              <a:ext cx="6059424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3305" y="321386"/>
            <a:ext cx="55149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250" dirty="0">
                <a:latin typeface="Trebuchet MS"/>
                <a:cs typeface="Trebuchet MS"/>
              </a:rPr>
              <a:t>A</a:t>
            </a:r>
            <a:r>
              <a:rPr sz="3200" b="1" spc="-254" dirty="0">
                <a:latin typeface="Trebuchet MS"/>
                <a:cs typeface="Trebuchet MS"/>
              </a:rPr>
              <a:t>N</a:t>
            </a:r>
            <a:r>
              <a:rPr sz="3200" b="1" spc="45" dirty="0">
                <a:latin typeface="Trebuchet MS"/>
                <a:cs typeface="Trebuchet MS"/>
              </a:rPr>
              <a:t>D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&amp;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b="1" spc="-210" dirty="0">
                <a:latin typeface="Trebuchet MS"/>
                <a:cs typeface="Trebuchet MS"/>
              </a:rPr>
              <a:t>N</a:t>
            </a:r>
            <a:r>
              <a:rPr sz="3200" b="1" spc="-50" dirty="0">
                <a:latin typeface="Trebuchet MS"/>
                <a:cs typeface="Trebuchet MS"/>
              </a:rPr>
              <a:t>OR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110" dirty="0">
                <a:latin typeface="Trebuchet MS"/>
                <a:cs typeface="Trebuchet MS"/>
              </a:rPr>
              <a:t>I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145" dirty="0">
                <a:latin typeface="Trebuchet MS"/>
                <a:cs typeface="Trebuchet MS"/>
              </a:rPr>
              <a:t>PLEMENTATI</a:t>
            </a:r>
            <a:r>
              <a:rPr sz="3200" b="1" spc="-180" dirty="0">
                <a:latin typeface="Trebuchet MS"/>
                <a:cs typeface="Trebuchet MS"/>
              </a:rPr>
              <a:t>O</a:t>
            </a:r>
            <a:r>
              <a:rPr sz="3200" b="1" spc="-22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2954" y="1147952"/>
            <a:ext cx="4784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41680" algn="l"/>
              </a:tabLst>
            </a:pP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000" spc="-150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MP</a:t>
            </a:r>
            <a:r>
              <a:rPr sz="2000" spc="8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5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17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5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5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h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35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amp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-145" dirty="0">
                <a:solidFill>
                  <a:srgbClr val="C00000"/>
                </a:solidFill>
                <a:latin typeface="Tahoma"/>
                <a:cs typeface="Tahoma"/>
              </a:rPr>
              <a:t>es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3504" y="2209800"/>
            <a:ext cx="8545830" cy="4648200"/>
            <a:chOff x="603504" y="2209800"/>
            <a:chExt cx="8545830" cy="46482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4608" y="6556242"/>
              <a:ext cx="469392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504" y="2209800"/>
              <a:ext cx="7773924" cy="3505200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1455419"/>
            <a:ext cx="6983730" cy="41780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4" dirty="0"/>
              <a:t>ELECTRICAL</a:t>
            </a:r>
            <a:r>
              <a:rPr sz="3400" spc="-25" dirty="0"/>
              <a:t> </a:t>
            </a:r>
            <a:r>
              <a:rPr sz="3400" spc="-70" dirty="0"/>
              <a:t>CHARACTERISTICS</a:t>
            </a:r>
            <a:endParaRPr sz="34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468881"/>
            <a:ext cx="8374380" cy="4643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2220595" algn="l"/>
                <a:tab pos="3742054" algn="l"/>
                <a:tab pos="6010275" algn="l"/>
                <a:tab pos="6508750" algn="l"/>
                <a:tab pos="7636509" algn="l"/>
              </a:tabLst>
            </a:pP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elect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ical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ch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ara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teri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ti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2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l	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lo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ic 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IC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families:</a:t>
            </a:r>
            <a:endParaRPr sz="2800">
              <a:latin typeface="Tahoma"/>
              <a:cs typeface="Tahoma"/>
            </a:endParaRPr>
          </a:p>
          <a:p>
            <a:pPr marL="1391920" lvl="1" indent="-465455">
              <a:lnSpc>
                <a:spcPct val="100000"/>
              </a:lnSpc>
              <a:spcBef>
                <a:spcPts val="1080"/>
              </a:spcBef>
              <a:buClr>
                <a:srgbClr val="E36C09"/>
              </a:buClr>
              <a:buFont typeface="Wingdings"/>
              <a:buChar char=""/>
              <a:tabLst>
                <a:tab pos="1391920" algn="l"/>
                <a:tab pos="1392555" algn="l"/>
              </a:tabLst>
            </a:pPr>
            <a:r>
              <a:rPr sz="2800" spc="150" dirty="0">
                <a:latin typeface="Tahoma"/>
                <a:cs typeface="Tahoma"/>
              </a:rPr>
              <a:t>DC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Voltage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Supply</a:t>
            </a:r>
            <a:endParaRPr sz="2800">
              <a:latin typeface="Tahoma"/>
              <a:cs typeface="Tahoma"/>
            </a:endParaRPr>
          </a:p>
          <a:p>
            <a:pPr marL="1391920" lvl="1" indent="-465455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"/>
              <a:tabLst>
                <a:tab pos="1391920" algn="l"/>
                <a:tab pos="1392555" algn="l"/>
              </a:tabLst>
            </a:pPr>
            <a:r>
              <a:rPr sz="2800" spc="-20" dirty="0">
                <a:latin typeface="Tahoma"/>
                <a:cs typeface="Tahoma"/>
              </a:rPr>
              <a:t>Logic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Levels</a:t>
            </a:r>
            <a:endParaRPr sz="2800">
              <a:latin typeface="Tahoma"/>
              <a:cs typeface="Tahoma"/>
            </a:endParaRPr>
          </a:p>
          <a:p>
            <a:pPr marL="1391920" lvl="1" indent="-465455">
              <a:lnSpc>
                <a:spcPct val="100000"/>
              </a:lnSpc>
              <a:spcBef>
                <a:spcPts val="1685"/>
              </a:spcBef>
              <a:buClr>
                <a:srgbClr val="E36C09"/>
              </a:buClr>
              <a:buFont typeface="Wingdings"/>
              <a:buChar char=""/>
              <a:tabLst>
                <a:tab pos="1391920" algn="l"/>
                <a:tab pos="1392555" algn="l"/>
              </a:tabLst>
            </a:pPr>
            <a:r>
              <a:rPr sz="2800" spc="45" dirty="0">
                <a:latin typeface="Tahoma"/>
                <a:cs typeface="Tahoma"/>
              </a:rPr>
              <a:t>Noise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Margin</a:t>
            </a:r>
            <a:endParaRPr sz="2800">
              <a:latin typeface="Tahoma"/>
              <a:cs typeface="Tahoma"/>
            </a:endParaRPr>
          </a:p>
          <a:p>
            <a:pPr marL="1391920" lvl="1" indent="-465455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"/>
              <a:tabLst>
                <a:tab pos="1391920" algn="l"/>
                <a:tab pos="1392555" algn="l"/>
              </a:tabLst>
            </a:pPr>
            <a:r>
              <a:rPr sz="2800" spc="30" dirty="0">
                <a:latin typeface="Tahoma"/>
                <a:cs typeface="Tahoma"/>
              </a:rPr>
              <a:t>Power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Dissipation</a:t>
            </a:r>
            <a:endParaRPr sz="2800">
              <a:latin typeface="Tahoma"/>
              <a:cs typeface="Tahoma"/>
            </a:endParaRPr>
          </a:p>
          <a:p>
            <a:pPr marL="1391920" lvl="1" indent="-465455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"/>
              <a:tabLst>
                <a:tab pos="1391920" algn="l"/>
                <a:tab pos="1392555" algn="l"/>
              </a:tabLst>
            </a:pPr>
            <a:r>
              <a:rPr sz="2800" dirty="0">
                <a:latin typeface="Tahoma"/>
                <a:cs typeface="Tahoma"/>
              </a:rPr>
              <a:t>Propagation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Delay</a:t>
            </a:r>
            <a:endParaRPr sz="2800">
              <a:latin typeface="Tahoma"/>
              <a:cs typeface="Tahoma"/>
            </a:endParaRPr>
          </a:p>
          <a:p>
            <a:pPr marL="1391920" lvl="1" indent="-465455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"/>
              <a:tabLst>
                <a:tab pos="1391920" algn="l"/>
                <a:tab pos="1392555" algn="l"/>
              </a:tabLst>
            </a:pPr>
            <a:r>
              <a:rPr sz="2800" spc="-30" dirty="0">
                <a:latin typeface="Tahoma"/>
                <a:cs typeface="Tahoma"/>
              </a:rPr>
              <a:t>Fan-out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4" dirty="0"/>
              <a:t>ELECTRICAL</a:t>
            </a:r>
            <a:r>
              <a:rPr sz="3400" spc="-25" dirty="0"/>
              <a:t> </a:t>
            </a:r>
            <a:r>
              <a:rPr sz="3400" spc="-70" dirty="0"/>
              <a:t>CHARACTERISTICS</a:t>
            </a:r>
            <a:endParaRPr sz="34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39535"/>
            <a:ext cx="8377555" cy="538797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582295" algn="ctr">
              <a:lnSpc>
                <a:spcPct val="100000"/>
              </a:lnSpc>
              <a:spcBef>
                <a:spcPts val="1295"/>
              </a:spcBef>
            </a:pPr>
            <a:r>
              <a:rPr sz="2000" spc="114" dirty="0">
                <a:solidFill>
                  <a:srgbClr val="C00000"/>
                </a:solidFill>
                <a:latin typeface="Tahoma"/>
                <a:cs typeface="Tahoma"/>
              </a:rPr>
              <a:t>DC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POWER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SUPPLY</a:t>
            </a:r>
            <a:endParaRPr sz="2000">
              <a:latin typeface="Tahoma"/>
              <a:cs typeface="Tahoma"/>
            </a:endParaRPr>
          </a:p>
          <a:p>
            <a:pPr marL="476884" marR="6985" indent="-464820" algn="just">
              <a:lnSpc>
                <a:spcPct val="100000"/>
              </a:lnSpc>
              <a:spcBef>
                <a:spcPts val="166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Digital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chips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have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C00000"/>
                </a:solidFill>
                <a:latin typeface="Tahoma"/>
                <a:cs typeface="Tahoma"/>
              </a:rPr>
              <a:t>power 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pin(s)</a:t>
            </a:r>
            <a:r>
              <a:rPr sz="28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ahoma"/>
                <a:cs typeface="Tahoma"/>
              </a:rPr>
              <a:t>and</a:t>
            </a:r>
            <a:r>
              <a:rPr sz="28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C00000"/>
                </a:solidFill>
                <a:latin typeface="Tahoma"/>
                <a:cs typeface="Tahoma"/>
              </a:rPr>
              <a:t>a </a:t>
            </a:r>
            <a:r>
              <a:rPr sz="28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Tahoma"/>
                <a:cs typeface="Tahoma"/>
              </a:rPr>
              <a:t>ground</a:t>
            </a:r>
            <a:r>
              <a:rPr sz="28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C00000"/>
                </a:solidFill>
                <a:latin typeface="Tahoma"/>
                <a:cs typeface="Tahoma"/>
              </a:rPr>
              <a:t>pin(s)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These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ahoma"/>
                <a:cs typeface="Tahoma"/>
              </a:rPr>
              <a:t>supply</a:t>
            </a:r>
            <a:r>
              <a:rPr sz="28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C00000"/>
                </a:solidFill>
                <a:latin typeface="Tahoma"/>
                <a:cs typeface="Tahoma"/>
              </a:rPr>
              <a:t>voltages</a:t>
            </a:r>
            <a:r>
              <a:rPr sz="2800" spc="-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Tahoma"/>
                <a:cs typeface="Tahoma"/>
              </a:rPr>
              <a:t>have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90" dirty="0">
                <a:solidFill>
                  <a:srgbClr val="C00000"/>
                </a:solidFill>
                <a:latin typeface="Tahoma"/>
                <a:cs typeface="Tahoma"/>
              </a:rPr>
              <a:t>names</a:t>
            </a:r>
            <a:r>
              <a:rPr sz="2800" spc="6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which 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based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on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type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transistors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used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construction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particular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family.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0" dirty="0">
                <a:solidFill>
                  <a:srgbClr val="C00000"/>
                </a:solidFill>
                <a:latin typeface="Tahoma"/>
                <a:cs typeface="Tahoma"/>
              </a:rPr>
              <a:t>TTL </a:t>
            </a:r>
            <a:r>
              <a:rPr sz="2800" spc="-125" dirty="0">
                <a:solidFill>
                  <a:srgbClr val="C00000"/>
                </a:solidFill>
                <a:latin typeface="Tahoma"/>
                <a:cs typeface="Tahoma"/>
              </a:rPr>
              <a:t>gates 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are </a:t>
            </a:r>
            <a:r>
              <a:rPr sz="2800" spc="-25" dirty="0">
                <a:solidFill>
                  <a:srgbClr val="C00000"/>
                </a:solidFill>
                <a:latin typeface="Tahoma"/>
                <a:cs typeface="Tahoma"/>
              </a:rPr>
              <a:t>made </a:t>
            </a:r>
            <a:r>
              <a:rPr sz="2800" spc="60" dirty="0">
                <a:solidFill>
                  <a:srgbClr val="C00000"/>
                </a:solidFill>
                <a:latin typeface="Tahoma"/>
                <a:cs typeface="Tahoma"/>
              </a:rPr>
              <a:t>with </a:t>
            </a:r>
            <a:r>
              <a:rPr sz="2800" spc="45" dirty="0">
                <a:solidFill>
                  <a:srgbClr val="C00000"/>
                </a:solidFill>
                <a:latin typeface="Tahoma"/>
                <a:cs typeface="Tahoma"/>
              </a:rPr>
              <a:t>bipolar </a:t>
            </a:r>
            <a:r>
              <a:rPr sz="2800" spc="-65" dirty="0">
                <a:solidFill>
                  <a:srgbClr val="C00000"/>
                </a:solidFill>
                <a:latin typeface="Tahoma"/>
                <a:cs typeface="Tahoma"/>
              </a:rPr>
              <a:t>transistors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,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which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have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collector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emitter;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so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supply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voltages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shown </a:t>
            </a:r>
            <a:r>
              <a:rPr sz="2800" spc="-180" dirty="0">
                <a:solidFill>
                  <a:srgbClr val="006FC0"/>
                </a:solidFill>
                <a:latin typeface="Tahoma"/>
                <a:cs typeface="Tahoma"/>
              </a:rPr>
              <a:t>as </a:t>
            </a:r>
            <a:r>
              <a:rPr sz="2800" spc="155" dirty="0">
                <a:solidFill>
                  <a:srgbClr val="C00000"/>
                </a:solidFill>
                <a:latin typeface="Tahoma"/>
                <a:cs typeface="Tahoma"/>
              </a:rPr>
              <a:t>VCC </a:t>
            </a:r>
            <a:r>
              <a:rPr sz="2800" spc="20" dirty="0">
                <a:solidFill>
                  <a:srgbClr val="C00000"/>
                </a:solidFill>
                <a:latin typeface="Tahoma"/>
                <a:cs typeface="Tahoma"/>
              </a:rPr>
              <a:t>(power) </a:t>
            </a:r>
            <a:r>
              <a:rPr sz="2800" dirty="0">
                <a:solidFill>
                  <a:srgbClr val="C00000"/>
                </a:solidFill>
                <a:latin typeface="Tahoma"/>
                <a:cs typeface="Tahoma"/>
              </a:rPr>
              <a:t>and </a:t>
            </a:r>
            <a:r>
              <a:rPr sz="2800" spc="50" dirty="0">
                <a:solidFill>
                  <a:srgbClr val="C00000"/>
                </a:solidFill>
                <a:latin typeface="Tahoma"/>
                <a:cs typeface="Tahoma"/>
              </a:rPr>
              <a:t>Ground </a:t>
            </a:r>
            <a:r>
              <a:rPr sz="2800" spc="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(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cc</a:t>
            </a:r>
            <a:r>
              <a:rPr sz="2800" spc="-204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17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lly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110" dirty="0">
                <a:solidFill>
                  <a:srgbClr val="006FC0"/>
                </a:solidFill>
                <a:latin typeface="Tahoma"/>
                <a:cs typeface="Tahoma"/>
              </a:rPr>
              <a:t>wn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70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EE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)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29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4" dirty="0"/>
              <a:t>ELECTRICAL</a:t>
            </a:r>
            <a:r>
              <a:rPr sz="3400" spc="-25" dirty="0"/>
              <a:t> </a:t>
            </a:r>
            <a:r>
              <a:rPr sz="3400" spc="-70" dirty="0"/>
              <a:t>CHARACTERISTICS</a:t>
            </a:r>
            <a:endParaRPr sz="34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939535"/>
            <a:ext cx="8377555" cy="538797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581660" algn="ctr">
              <a:lnSpc>
                <a:spcPct val="100000"/>
              </a:lnSpc>
              <a:spcBef>
                <a:spcPts val="1295"/>
              </a:spcBef>
            </a:pPr>
            <a:r>
              <a:rPr sz="2000" spc="114" dirty="0">
                <a:solidFill>
                  <a:srgbClr val="C00000"/>
                </a:solidFill>
                <a:latin typeface="Tahoma"/>
                <a:cs typeface="Tahoma"/>
              </a:rPr>
              <a:t>DC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POWER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SUPPLY</a:t>
            </a:r>
            <a:endParaRPr sz="2000">
              <a:latin typeface="Tahoma"/>
              <a:cs typeface="Tahoma"/>
            </a:endParaRPr>
          </a:p>
          <a:p>
            <a:pPr marL="476884" marR="7620" indent="-464820" algn="just">
              <a:lnSpc>
                <a:spcPct val="100000"/>
              </a:lnSpc>
              <a:spcBef>
                <a:spcPts val="166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nominal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value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dc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supply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voltage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TTL(transistor-transistor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logic)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devices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C00000"/>
                </a:solidFill>
                <a:latin typeface="Tahoma"/>
                <a:cs typeface="Tahoma"/>
              </a:rPr>
              <a:t>+5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C00000"/>
                </a:solidFill>
                <a:latin typeface="Tahoma"/>
                <a:cs typeface="Tahoma"/>
              </a:rPr>
              <a:t>V.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70" dirty="0">
                <a:solidFill>
                  <a:srgbClr val="C00000"/>
                </a:solidFill>
                <a:latin typeface="Tahoma"/>
                <a:cs typeface="Tahoma"/>
              </a:rPr>
              <a:t>CMOS </a:t>
            </a:r>
            <a:r>
              <a:rPr sz="2800" spc="-125" dirty="0">
                <a:solidFill>
                  <a:srgbClr val="C00000"/>
                </a:solidFill>
                <a:latin typeface="Tahoma"/>
                <a:cs typeface="Tahoma"/>
              </a:rPr>
              <a:t>gates 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are </a:t>
            </a:r>
            <a:r>
              <a:rPr sz="2800" spc="20" dirty="0">
                <a:solidFill>
                  <a:srgbClr val="C00000"/>
                </a:solidFill>
                <a:latin typeface="Tahoma"/>
                <a:cs typeface="Tahoma"/>
              </a:rPr>
              <a:t>built </a:t>
            </a:r>
            <a:r>
              <a:rPr sz="2800" spc="60" dirty="0">
                <a:solidFill>
                  <a:srgbClr val="C00000"/>
                </a:solidFill>
                <a:latin typeface="Tahoma"/>
                <a:cs typeface="Tahoma"/>
              </a:rPr>
              <a:t>with </a:t>
            </a:r>
            <a:r>
              <a:rPr sz="2800" spc="-35" dirty="0">
                <a:solidFill>
                  <a:srgbClr val="C00000"/>
                </a:solidFill>
                <a:latin typeface="Tahoma"/>
                <a:cs typeface="Tahoma"/>
              </a:rPr>
              <a:t>field-effect </a:t>
            </a:r>
            <a:r>
              <a:rPr sz="2800" spc="-65" dirty="0">
                <a:solidFill>
                  <a:srgbClr val="C00000"/>
                </a:solidFill>
                <a:latin typeface="Tahoma"/>
                <a:cs typeface="Tahoma"/>
              </a:rPr>
              <a:t>transistors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,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which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have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drain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source;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so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supply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voltages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shown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800" spc="-1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45" dirty="0">
                <a:solidFill>
                  <a:srgbClr val="C00000"/>
                </a:solidFill>
                <a:latin typeface="Tahoma"/>
                <a:cs typeface="Tahoma"/>
              </a:rPr>
              <a:t>VDD </a:t>
            </a:r>
            <a:r>
              <a:rPr sz="2800" spc="25" dirty="0">
                <a:solidFill>
                  <a:srgbClr val="C00000"/>
                </a:solidFill>
                <a:latin typeface="Tahoma"/>
                <a:cs typeface="Tahoma"/>
              </a:rPr>
              <a:t>(power)</a:t>
            </a:r>
            <a:r>
              <a:rPr sz="2800" spc="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ahoma"/>
                <a:cs typeface="Tahoma"/>
              </a:rPr>
              <a:t>and</a:t>
            </a:r>
            <a:r>
              <a:rPr sz="28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210" dirty="0">
                <a:solidFill>
                  <a:srgbClr val="C00000"/>
                </a:solidFill>
                <a:latin typeface="Tahoma"/>
                <a:cs typeface="Tahoma"/>
              </a:rPr>
              <a:t>VSS </a:t>
            </a:r>
            <a:r>
              <a:rPr sz="2800" spc="-20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(ground)</a:t>
            </a:r>
            <a:r>
              <a:rPr sz="28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most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data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sheets.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  <a:tab pos="2727325" algn="l"/>
                <a:tab pos="6516370" algn="l"/>
              </a:tabLst>
            </a:pPr>
            <a:r>
              <a:rPr sz="2800" spc="28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38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3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35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(c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pl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ent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eta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-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95" dirty="0">
                <a:solidFill>
                  <a:srgbClr val="006FC0"/>
                </a:solidFill>
                <a:latin typeface="Tahoma"/>
                <a:cs typeface="Tahoma"/>
              </a:rPr>
              <a:t>x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ide 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semiconductor)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devices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available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different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supply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voltage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: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C00000"/>
                </a:solidFill>
                <a:latin typeface="Tahoma"/>
                <a:cs typeface="Tahoma"/>
              </a:rPr>
              <a:t>+5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C00000"/>
                </a:solidFill>
                <a:latin typeface="Tahoma"/>
                <a:cs typeface="Tahoma"/>
              </a:rPr>
              <a:t>V,</a:t>
            </a:r>
            <a:r>
              <a:rPr sz="28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+3.3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C00000"/>
                </a:solidFill>
                <a:latin typeface="Tahoma"/>
                <a:cs typeface="Tahoma"/>
              </a:rPr>
              <a:t>V,</a:t>
            </a:r>
            <a:r>
              <a:rPr sz="28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C00000"/>
                </a:solidFill>
                <a:latin typeface="Tahoma"/>
                <a:cs typeface="Tahoma"/>
              </a:rPr>
              <a:t>2.5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C00000"/>
                </a:solidFill>
                <a:latin typeface="Tahoma"/>
                <a:cs typeface="Tahoma"/>
              </a:rPr>
              <a:t>V,</a:t>
            </a:r>
            <a:r>
              <a:rPr sz="2800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30" dirty="0">
                <a:solidFill>
                  <a:srgbClr val="C00000"/>
                </a:solidFill>
                <a:latin typeface="Tahoma"/>
                <a:cs typeface="Tahoma"/>
              </a:rPr>
              <a:t>1.8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C00000"/>
                </a:solidFill>
                <a:latin typeface="Tahoma"/>
                <a:cs typeface="Tahoma"/>
              </a:rPr>
              <a:t>V.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4" dirty="0"/>
              <a:t>ELECTRICAL</a:t>
            </a:r>
            <a:r>
              <a:rPr sz="3400" spc="-25" dirty="0"/>
              <a:t> </a:t>
            </a:r>
            <a:r>
              <a:rPr sz="3400" spc="-70" dirty="0"/>
              <a:t>CHARACTERISTICS</a:t>
            </a:r>
            <a:endParaRPr sz="340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58140" y="4590669"/>
            <a:ext cx="1609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53085" algn="l"/>
              </a:tabLst>
            </a:pPr>
            <a:r>
              <a:rPr sz="4200" spc="15" baseline="13888" dirty="0">
                <a:solidFill>
                  <a:srgbClr val="E36C09"/>
                </a:solidFill>
                <a:latin typeface="Tahoma"/>
                <a:cs typeface="Tahoma"/>
              </a:rPr>
              <a:t>3.	</a:t>
            </a:r>
            <a:r>
              <a:rPr sz="4200" spc="187" baseline="13888" dirty="0">
                <a:solidFill>
                  <a:srgbClr val="C00000"/>
                </a:solidFill>
                <a:latin typeface="Tahoma"/>
                <a:cs typeface="Tahoma"/>
              </a:rPr>
              <a:t>V</a:t>
            </a:r>
            <a:r>
              <a:rPr sz="1850" spc="125" dirty="0">
                <a:solidFill>
                  <a:srgbClr val="C00000"/>
                </a:solidFill>
                <a:latin typeface="Tahoma"/>
                <a:cs typeface="Tahoma"/>
              </a:rPr>
              <a:t>OHmin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03094" y="4503801"/>
            <a:ext cx="63588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0090" algn="l"/>
                <a:tab pos="1695450" algn="l"/>
                <a:tab pos="3669029" algn="l"/>
                <a:tab pos="5199380" algn="l"/>
              </a:tabLst>
            </a:pPr>
            <a:r>
              <a:rPr sz="2800" spc="-160" dirty="0">
                <a:latin typeface="Tahoma"/>
                <a:cs typeface="Tahoma"/>
              </a:rPr>
              <a:t>--	</a:t>
            </a:r>
            <a:r>
              <a:rPr sz="2800" spc="-50" dirty="0">
                <a:latin typeface="Tahoma"/>
                <a:cs typeface="Tahoma"/>
              </a:rPr>
              <a:t>the	</a:t>
            </a:r>
            <a:r>
              <a:rPr sz="2800" spc="25" dirty="0">
                <a:latin typeface="Tahoma"/>
                <a:cs typeface="Tahoma"/>
              </a:rPr>
              <a:t>minimum	</a:t>
            </a:r>
            <a:r>
              <a:rPr sz="2800" spc="15" dirty="0">
                <a:latin typeface="Tahoma"/>
                <a:cs typeface="Tahoma"/>
              </a:rPr>
              <a:t>output	</a:t>
            </a:r>
            <a:r>
              <a:rPr sz="2800" dirty="0">
                <a:latin typeface="Tahoma"/>
                <a:cs typeface="Tahoma"/>
              </a:rPr>
              <a:t>voltage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8652" y="4930521"/>
            <a:ext cx="4204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5" dirty="0">
                <a:latin typeface="Tahoma"/>
                <a:cs typeface="Tahoma"/>
              </a:rPr>
              <a:t>r</a:t>
            </a:r>
            <a:r>
              <a:rPr sz="2800" spc="-100" dirty="0">
                <a:latin typeface="Tahoma"/>
                <a:cs typeface="Tahoma"/>
              </a:rPr>
              <a:t>e</a:t>
            </a:r>
            <a:r>
              <a:rPr sz="2800" spc="80" dirty="0">
                <a:latin typeface="Tahoma"/>
                <a:cs typeface="Tahoma"/>
              </a:rPr>
              <a:t>p</a:t>
            </a:r>
            <a:r>
              <a:rPr sz="2800" spc="5" dirty="0">
                <a:latin typeface="Tahoma"/>
                <a:cs typeface="Tahoma"/>
              </a:rPr>
              <a:t>r</a:t>
            </a:r>
            <a:r>
              <a:rPr sz="2800" spc="-100" dirty="0">
                <a:latin typeface="Tahoma"/>
                <a:cs typeface="Tahoma"/>
              </a:rPr>
              <a:t>e</a:t>
            </a:r>
            <a:r>
              <a:rPr sz="2800" spc="-285" dirty="0">
                <a:latin typeface="Tahoma"/>
                <a:cs typeface="Tahoma"/>
              </a:rPr>
              <a:t>s</a:t>
            </a:r>
            <a:r>
              <a:rPr sz="2800" spc="-20" dirty="0">
                <a:latin typeface="Tahoma"/>
                <a:cs typeface="Tahoma"/>
              </a:rPr>
              <a:t>ent</a:t>
            </a:r>
            <a:r>
              <a:rPr sz="2800" spc="5" dirty="0">
                <a:latin typeface="Tahoma"/>
                <a:cs typeface="Tahoma"/>
              </a:rPr>
              <a:t>i</a:t>
            </a:r>
            <a:r>
              <a:rPr sz="2800" spc="-70" dirty="0">
                <a:latin typeface="Tahoma"/>
                <a:cs typeface="Tahoma"/>
              </a:rPr>
              <a:t>ng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70" dirty="0">
                <a:latin typeface="Tahoma"/>
                <a:cs typeface="Tahoma"/>
              </a:rPr>
              <a:t>l</a:t>
            </a:r>
            <a:r>
              <a:rPr sz="2800" spc="185" dirty="0">
                <a:latin typeface="Tahoma"/>
                <a:cs typeface="Tahoma"/>
              </a:rPr>
              <a:t>o</a:t>
            </a:r>
            <a:r>
              <a:rPr sz="2800" spc="-140" dirty="0">
                <a:latin typeface="Tahoma"/>
                <a:cs typeface="Tahoma"/>
              </a:rPr>
              <a:t>g</a:t>
            </a:r>
            <a:r>
              <a:rPr sz="2800" spc="70" dirty="0">
                <a:latin typeface="Tahoma"/>
                <a:cs typeface="Tahoma"/>
              </a:rPr>
              <a:t>i</a:t>
            </a:r>
            <a:r>
              <a:rPr sz="2800" spc="-110" dirty="0">
                <a:latin typeface="Tahoma"/>
                <a:cs typeface="Tahoma"/>
              </a:rPr>
              <a:t>c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420" dirty="0">
                <a:latin typeface="Tahoma"/>
                <a:cs typeface="Tahoma"/>
              </a:rPr>
              <a:t>1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285" dirty="0">
                <a:latin typeface="Tahoma"/>
                <a:cs typeface="Tahoma"/>
              </a:rPr>
              <a:t>s</a:t>
            </a:r>
            <a:r>
              <a:rPr sz="2800" spc="-10" dirty="0">
                <a:latin typeface="Tahoma"/>
                <a:cs typeface="Tahoma"/>
              </a:rPr>
              <a:t>t</a:t>
            </a:r>
            <a:r>
              <a:rPr sz="2800" spc="-75" dirty="0">
                <a:latin typeface="Tahoma"/>
                <a:cs typeface="Tahoma"/>
              </a:rPr>
              <a:t>a</a:t>
            </a:r>
            <a:r>
              <a:rPr sz="2800" spc="-10" dirty="0">
                <a:latin typeface="Tahoma"/>
                <a:cs typeface="Tahoma"/>
              </a:rPr>
              <a:t>t</a:t>
            </a:r>
            <a:r>
              <a:rPr sz="2800" spc="-90" dirty="0">
                <a:latin typeface="Tahoma"/>
                <a:cs typeface="Tahoma"/>
              </a:rPr>
              <a:t>e</a:t>
            </a:r>
            <a:r>
              <a:rPr sz="2800" spc="-55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8140" y="5718149"/>
            <a:ext cx="1576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53085" algn="l"/>
              </a:tabLst>
            </a:pPr>
            <a:r>
              <a:rPr sz="4200" spc="15" baseline="13888" dirty="0">
                <a:solidFill>
                  <a:srgbClr val="E36C09"/>
                </a:solidFill>
                <a:latin typeface="Tahoma"/>
                <a:cs typeface="Tahoma"/>
              </a:rPr>
              <a:t>4.	</a:t>
            </a:r>
            <a:r>
              <a:rPr sz="4200" spc="97" baseline="13888" dirty="0">
                <a:solidFill>
                  <a:srgbClr val="C00000"/>
                </a:solidFill>
                <a:latin typeface="Tahoma"/>
                <a:cs typeface="Tahoma"/>
              </a:rPr>
              <a:t>V</a:t>
            </a:r>
            <a:r>
              <a:rPr sz="1850" spc="65" dirty="0">
                <a:solidFill>
                  <a:srgbClr val="C00000"/>
                </a:solidFill>
                <a:latin typeface="Tahoma"/>
                <a:cs typeface="Tahoma"/>
              </a:rPr>
              <a:t>OLmax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1945" y="5631281"/>
            <a:ext cx="6398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2470" algn="l"/>
                <a:tab pos="1681480" algn="l"/>
                <a:tab pos="3714750" algn="l"/>
                <a:tab pos="5237480" algn="l"/>
              </a:tabLst>
            </a:pPr>
            <a:r>
              <a:rPr sz="2800" spc="-155" dirty="0">
                <a:latin typeface="Tahoma"/>
                <a:cs typeface="Tahoma"/>
              </a:rPr>
              <a:t>--	</a:t>
            </a:r>
            <a:r>
              <a:rPr sz="2800" spc="-50" dirty="0">
                <a:latin typeface="Tahoma"/>
                <a:cs typeface="Tahoma"/>
              </a:rPr>
              <a:t>the	</a:t>
            </a:r>
            <a:r>
              <a:rPr sz="2800" spc="10" dirty="0">
                <a:latin typeface="Tahoma"/>
                <a:cs typeface="Tahoma"/>
              </a:rPr>
              <a:t>maximum	</a:t>
            </a:r>
            <a:r>
              <a:rPr sz="2800" spc="20" dirty="0">
                <a:latin typeface="Tahoma"/>
                <a:cs typeface="Tahoma"/>
              </a:rPr>
              <a:t>output	</a:t>
            </a:r>
            <a:r>
              <a:rPr sz="2800" dirty="0">
                <a:latin typeface="Tahoma"/>
                <a:cs typeface="Tahoma"/>
              </a:rPr>
              <a:t>voltage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8652" y="6058611"/>
            <a:ext cx="4272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Tahoma"/>
                <a:cs typeface="Tahoma"/>
              </a:rPr>
              <a:t>representing</a:t>
            </a:r>
            <a:r>
              <a:rPr sz="2800" spc="-80" dirty="0">
                <a:latin typeface="Tahoma"/>
                <a:cs typeface="Tahoma"/>
              </a:rPr>
              <a:t> 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15" dirty="0">
                <a:latin typeface="Tahoma"/>
                <a:cs typeface="Tahoma"/>
              </a:rPr>
              <a:t>logic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114" dirty="0">
                <a:latin typeface="Tahoma"/>
                <a:cs typeface="Tahoma"/>
              </a:rPr>
              <a:t>0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85" dirty="0">
                <a:latin typeface="Tahoma"/>
                <a:cs typeface="Tahoma"/>
              </a:rPr>
              <a:t>state.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2740" y="939535"/>
            <a:ext cx="8491855" cy="33147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R="36830" algn="ctr">
              <a:lnSpc>
                <a:spcPct val="100000"/>
              </a:lnSpc>
              <a:spcBef>
                <a:spcPts val="1295"/>
              </a:spcBef>
            </a:pP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1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LEVELS</a:t>
            </a:r>
            <a:endParaRPr sz="2000">
              <a:latin typeface="Tahoma"/>
              <a:cs typeface="Tahoma"/>
            </a:endParaRPr>
          </a:p>
          <a:p>
            <a:pPr marL="528320" indent="-464820">
              <a:lnSpc>
                <a:spcPct val="100000"/>
              </a:lnSpc>
              <a:spcBef>
                <a:spcPts val="1660"/>
              </a:spcBef>
              <a:buClr>
                <a:srgbClr val="E36C09"/>
              </a:buClr>
              <a:buFont typeface="Wingdings"/>
              <a:buChar char=""/>
              <a:tabLst>
                <a:tab pos="527685" algn="l"/>
                <a:tab pos="528320" algn="l"/>
              </a:tabLst>
            </a:pP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There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four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different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logic-level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specifications:</a:t>
            </a:r>
            <a:endParaRPr sz="2800">
              <a:latin typeface="Tahoma"/>
              <a:cs typeface="Tahoma"/>
            </a:endParaRPr>
          </a:p>
          <a:p>
            <a:pPr marL="578485" marR="68580" indent="-515620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AutoNum type="arabicPeriod"/>
              <a:tabLst>
                <a:tab pos="578485" algn="l"/>
                <a:tab pos="579120" algn="l"/>
              </a:tabLst>
            </a:pPr>
            <a:r>
              <a:rPr sz="2800" spc="60" dirty="0">
                <a:solidFill>
                  <a:srgbClr val="C00000"/>
                </a:solidFill>
                <a:latin typeface="Tahoma"/>
                <a:cs typeface="Tahoma"/>
              </a:rPr>
              <a:t>V</a:t>
            </a:r>
            <a:r>
              <a:rPr sz="2775" spc="89" baseline="-21021" dirty="0">
                <a:solidFill>
                  <a:srgbClr val="C00000"/>
                </a:solidFill>
                <a:latin typeface="Tahoma"/>
                <a:cs typeface="Tahoma"/>
              </a:rPr>
              <a:t>IHmin</a:t>
            </a:r>
            <a:r>
              <a:rPr sz="2775" spc="502" baseline="-21021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--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the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minimum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input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voltage</a:t>
            </a:r>
            <a:r>
              <a:rPr sz="2800" spc="70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which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spc="110" dirty="0">
                <a:latin typeface="Tahoma"/>
                <a:cs typeface="Tahoma"/>
              </a:rPr>
              <a:t>will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be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a</a:t>
            </a:r>
            <a:r>
              <a:rPr sz="2800" spc="-100" dirty="0">
                <a:latin typeface="Tahoma"/>
                <a:cs typeface="Tahoma"/>
              </a:rPr>
              <a:t>cc</a:t>
            </a:r>
            <a:r>
              <a:rPr sz="2800" spc="-20" dirty="0">
                <a:latin typeface="Tahoma"/>
                <a:cs typeface="Tahoma"/>
              </a:rPr>
              <a:t>e</a:t>
            </a:r>
            <a:r>
              <a:rPr sz="2800" spc="-5" dirty="0">
                <a:latin typeface="Tahoma"/>
                <a:cs typeface="Tahoma"/>
              </a:rPr>
              <a:t>p</a:t>
            </a:r>
            <a:r>
              <a:rPr sz="2800" spc="-20" dirty="0">
                <a:latin typeface="Tahoma"/>
                <a:cs typeface="Tahoma"/>
              </a:rPr>
              <a:t>te</a:t>
            </a:r>
            <a:r>
              <a:rPr sz="2800" spc="-15" dirty="0">
                <a:latin typeface="Tahoma"/>
                <a:cs typeface="Tahoma"/>
              </a:rPr>
              <a:t>d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a</a:t>
            </a:r>
            <a:r>
              <a:rPr sz="2800" spc="-170" dirty="0">
                <a:latin typeface="Tahoma"/>
                <a:cs typeface="Tahoma"/>
              </a:rPr>
              <a:t>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70" dirty="0">
                <a:latin typeface="Tahoma"/>
                <a:cs typeface="Tahoma"/>
              </a:rPr>
              <a:t>l</a:t>
            </a:r>
            <a:r>
              <a:rPr sz="2800" spc="185" dirty="0">
                <a:latin typeface="Tahoma"/>
                <a:cs typeface="Tahoma"/>
              </a:rPr>
              <a:t>o</a:t>
            </a:r>
            <a:r>
              <a:rPr sz="2800" spc="-140" dirty="0">
                <a:latin typeface="Tahoma"/>
                <a:cs typeface="Tahoma"/>
              </a:rPr>
              <a:t>g</a:t>
            </a:r>
            <a:r>
              <a:rPr sz="2800" spc="75" dirty="0">
                <a:latin typeface="Tahoma"/>
                <a:cs typeface="Tahoma"/>
              </a:rPr>
              <a:t>i</a:t>
            </a:r>
            <a:r>
              <a:rPr sz="2800" spc="-110" dirty="0">
                <a:latin typeface="Tahoma"/>
                <a:cs typeface="Tahoma"/>
              </a:rPr>
              <a:t>c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415" dirty="0">
                <a:latin typeface="Tahoma"/>
                <a:cs typeface="Tahoma"/>
              </a:rPr>
              <a:t>1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90" dirty="0">
                <a:latin typeface="Tahoma"/>
                <a:cs typeface="Tahoma"/>
              </a:rPr>
              <a:t>s</a:t>
            </a:r>
            <a:r>
              <a:rPr sz="2800" spc="-10" dirty="0">
                <a:latin typeface="Tahoma"/>
                <a:cs typeface="Tahoma"/>
              </a:rPr>
              <a:t>t</a:t>
            </a:r>
            <a:r>
              <a:rPr sz="2800" spc="-75" dirty="0">
                <a:latin typeface="Tahoma"/>
                <a:cs typeface="Tahoma"/>
              </a:rPr>
              <a:t>a</a:t>
            </a:r>
            <a:r>
              <a:rPr sz="2800" spc="-10" dirty="0">
                <a:latin typeface="Tahoma"/>
                <a:cs typeface="Tahoma"/>
              </a:rPr>
              <a:t>t</a:t>
            </a:r>
            <a:r>
              <a:rPr sz="2800" spc="-95" dirty="0">
                <a:latin typeface="Tahoma"/>
                <a:cs typeface="Tahoma"/>
              </a:rPr>
              <a:t>e</a:t>
            </a:r>
            <a:r>
              <a:rPr sz="2800" spc="-50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578485" marR="66675" indent="-515620">
              <a:lnSpc>
                <a:spcPct val="100000"/>
              </a:lnSpc>
              <a:spcBef>
                <a:spcPts val="2165"/>
              </a:spcBef>
              <a:buClr>
                <a:srgbClr val="E36C09"/>
              </a:buClr>
              <a:buAutoNum type="arabicPeriod"/>
              <a:tabLst>
                <a:tab pos="578485" algn="l"/>
                <a:tab pos="579120" algn="l"/>
              </a:tabLst>
            </a:pPr>
            <a:r>
              <a:rPr sz="2800" dirty="0">
                <a:solidFill>
                  <a:srgbClr val="C00000"/>
                </a:solidFill>
                <a:latin typeface="Tahoma"/>
                <a:cs typeface="Tahoma"/>
              </a:rPr>
              <a:t>V</a:t>
            </a:r>
            <a:r>
              <a:rPr sz="2775" baseline="-21021" dirty="0">
                <a:solidFill>
                  <a:srgbClr val="C00000"/>
                </a:solidFill>
                <a:latin typeface="Tahoma"/>
                <a:cs typeface="Tahoma"/>
              </a:rPr>
              <a:t>ILmax</a:t>
            </a:r>
            <a:r>
              <a:rPr sz="2775" spc="434" baseline="-21021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--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the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maximum </a:t>
            </a:r>
            <a:r>
              <a:rPr sz="2800" spc="20" dirty="0">
                <a:latin typeface="Tahoma"/>
                <a:cs typeface="Tahoma"/>
              </a:rPr>
              <a:t>input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voltage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which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110" dirty="0">
                <a:latin typeface="Tahoma"/>
                <a:cs typeface="Tahoma"/>
              </a:rPr>
              <a:t>will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be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a</a:t>
            </a:r>
            <a:r>
              <a:rPr sz="2800" spc="-100" dirty="0">
                <a:latin typeface="Tahoma"/>
                <a:cs typeface="Tahoma"/>
              </a:rPr>
              <a:t>cce</a:t>
            </a:r>
            <a:r>
              <a:rPr sz="2800" spc="80" dirty="0">
                <a:latin typeface="Tahoma"/>
                <a:cs typeface="Tahoma"/>
              </a:rPr>
              <a:t>p</a:t>
            </a:r>
            <a:r>
              <a:rPr sz="2800" spc="-20" dirty="0">
                <a:latin typeface="Tahoma"/>
                <a:cs typeface="Tahoma"/>
              </a:rPr>
              <a:t>ted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a</a:t>
            </a:r>
            <a:r>
              <a:rPr sz="2800" spc="-170" dirty="0">
                <a:latin typeface="Tahoma"/>
                <a:cs typeface="Tahoma"/>
              </a:rPr>
              <a:t>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a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70" dirty="0">
                <a:latin typeface="Tahoma"/>
                <a:cs typeface="Tahoma"/>
              </a:rPr>
              <a:t>l</a:t>
            </a:r>
            <a:r>
              <a:rPr sz="2800" spc="185" dirty="0">
                <a:latin typeface="Tahoma"/>
                <a:cs typeface="Tahoma"/>
              </a:rPr>
              <a:t>o</a:t>
            </a:r>
            <a:r>
              <a:rPr sz="2800" spc="-140" dirty="0">
                <a:latin typeface="Tahoma"/>
                <a:cs typeface="Tahoma"/>
              </a:rPr>
              <a:t>g</a:t>
            </a:r>
            <a:r>
              <a:rPr sz="2800" spc="70" dirty="0">
                <a:latin typeface="Tahoma"/>
                <a:cs typeface="Tahoma"/>
              </a:rPr>
              <a:t>i</a:t>
            </a:r>
            <a:r>
              <a:rPr sz="2800" spc="-110" dirty="0">
                <a:latin typeface="Tahoma"/>
                <a:cs typeface="Tahoma"/>
              </a:rPr>
              <a:t>c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114" dirty="0">
                <a:latin typeface="Tahoma"/>
                <a:cs typeface="Tahoma"/>
              </a:rPr>
              <a:t>0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285" dirty="0">
                <a:latin typeface="Tahoma"/>
                <a:cs typeface="Tahoma"/>
              </a:rPr>
              <a:t>s</a:t>
            </a:r>
            <a:r>
              <a:rPr sz="2800" spc="-10" dirty="0">
                <a:latin typeface="Tahoma"/>
                <a:cs typeface="Tahoma"/>
              </a:rPr>
              <a:t>t</a:t>
            </a:r>
            <a:r>
              <a:rPr sz="2800" spc="-75" dirty="0">
                <a:latin typeface="Tahoma"/>
                <a:cs typeface="Tahoma"/>
              </a:rPr>
              <a:t>a</a:t>
            </a:r>
            <a:r>
              <a:rPr sz="2800" spc="-10" dirty="0">
                <a:latin typeface="Tahoma"/>
                <a:cs typeface="Tahoma"/>
              </a:rPr>
              <a:t>t</a:t>
            </a:r>
            <a:r>
              <a:rPr sz="2800" spc="-105" dirty="0">
                <a:latin typeface="Tahoma"/>
                <a:cs typeface="Tahoma"/>
              </a:rPr>
              <a:t>e</a:t>
            </a:r>
            <a:r>
              <a:rPr sz="2800" spc="-55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114" dirty="0">
                <a:latin typeface="Trebuchet MS"/>
                <a:cs typeface="Trebuchet MS"/>
              </a:rPr>
              <a:t>ELECTRICAL</a:t>
            </a:r>
            <a:r>
              <a:rPr sz="3400" b="1" spc="-25" dirty="0">
                <a:latin typeface="Trebuchet MS"/>
                <a:cs typeface="Trebuchet MS"/>
              </a:rPr>
              <a:t> </a:t>
            </a:r>
            <a:r>
              <a:rPr sz="3400" b="1" spc="-70" dirty="0">
                <a:latin typeface="Trebuchet MS"/>
                <a:cs typeface="Trebuchet MS"/>
              </a:rPr>
              <a:t>CHARACTERISTICS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6975" y="1090930"/>
            <a:ext cx="1638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1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LEVELS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8867" y="1501139"/>
            <a:ext cx="7477125" cy="4859020"/>
            <a:chOff x="848867" y="1501139"/>
            <a:chExt cx="7477125" cy="485902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8867" y="1501139"/>
              <a:ext cx="7476743" cy="4305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09800" y="5858255"/>
              <a:ext cx="5248656" cy="501395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114" dirty="0">
                <a:latin typeface="Trebuchet MS"/>
                <a:cs typeface="Trebuchet MS"/>
              </a:rPr>
              <a:t>ELECTRICAL</a:t>
            </a:r>
            <a:r>
              <a:rPr sz="3400" b="1" spc="-25" dirty="0">
                <a:latin typeface="Trebuchet MS"/>
                <a:cs typeface="Trebuchet MS"/>
              </a:rPr>
              <a:t> </a:t>
            </a:r>
            <a:r>
              <a:rPr sz="3400" b="1" spc="-70" dirty="0">
                <a:latin typeface="Trebuchet MS"/>
                <a:cs typeface="Trebuchet MS"/>
              </a:rPr>
              <a:t>CHARACTERISTICS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6975" y="1090930"/>
            <a:ext cx="1638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1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LEVELS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37260" y="1600200"/>
            <a:ext cx="7444740" cy="4879975"/>
            <a:chOff x="937260" y="1600200"/>
            <a:chExt cx="7444740" cy="487997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7260" y="1600200"/>
              <a:ext cx="7444740" cy="441655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25396" y="5943600"/>
              <a:ext cx="5074920" cy="53644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114" dirty="0">
                <a:latin typeface="Trebuchet MS"/>
                <a:cs typeface="Trebuchet MS"/>
              </a:rPr>
              <a:t>ELECTRICAL</a:t>
            </a:r>
            <a:r>
              <a:rPr sz="3400" b="1" spc="-25" dirty="0">
                <a:latin typeface="Trebuchet MS"/>
                <a:cs typeface="Trebuchet MS"/>
              </a:rPr>
              <a:t> </a:t>
            </a:r>
            <a:r>
              <a:rPr sz="3400" b="1" spc="-70" dirty="0">
                <a:latin typeface="Trebuchet MS"/>
                <a:cs typeface="Trebuchet MS"/>
              </a:rPr>
              <a:t>CHARACTERISTICS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6975" y="1090930"/>
            <a:ext cx="1638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1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LEVELS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5695" y="1752600"/>
            <a:ext cx="7739380" cy="4794885"/>
            <a:chOff x="615695" y="1752600"/>
            <a:chExt cx="7739380" cy="479488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5695" y="1752600"/>
              <a:ext cx="7738872" cy="41818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0804" y="5975603"/>
              <a:ext cx="5404104" cy="57150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4" dirty="0"/>
              <a:t>ELECTRICAL</a:t>
            </a:r>
            <a:r>
              <a:rPr sz="3400" spc="-25" dirty="0"/>
              <a:t> </a:t>
            </a:r>
            <a:r>
              <a:rPr sz="3400" spc="-70" dirty="0"/>
              <a:t>CHARACTERISTICS</a:t>
            </a:r>
            <a:endParaRPr sz="34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5440" y="939535"/>
            <a:ext cx="8452485" cy="496125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03200" algn="ctr">
              <a:lnSpc>
                <a:spcPct val="100000"/>
              </a:lnSpc>
              <a:spcBef>
                <a:spcPts val="1295"/>
              </a:spcBef>
            </a:pPr>
            <a:r>
              <a:rPr sz="2000" spc="10" dirty="0">
                <a:solidFill>
                  <a:srgbClr val="C00000"/>
                </a:solidFill>
                <a:latin typeface="Tahoma"/>
                <a:cs typeface="Tahoma"/>
              </a:rPr>
              <a:t>NOISE</a:t>
            </a:r>
            <a:r>
              <a:rPr sz="2000" spc="-1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MARGIN</a:t>
            </a:r>
            <a:endParaRPr sz="2000">
              <a:latin typeface="Tahoma"/>
              <a:cs typeface="Tahoma"/>
            </a:endParaRPr>
          </a:p>
          <a:p>
            <a:pPr marL="514984" marR="42545" indent="-464820" algn="just">
              <a:lnSpc>
                <a:spcPct val="100000"/>
              </a:lnSpc>
              <a:spcBef>
                <a:spcPts val="1660"/>
              </a:spcBef>
              <a:buClr>
                <a:srgbClr val="E36C09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40" dirty="0">
                <a:solidFill>
                  <a:srgbClr val="C00000"/>
                </a:solidFill>
                <a:latin typeface="Tahoma"/>
                <a:cs typeface="Tahoma"/>
              </a:rPr>
              <a:t>Noise </a:t>
            </a:r>
            <a:r>
              <a:rPr sz="2800" spc="25" dirty="0">
                <a:solidFill>
                  <a:srgbClr val="C00000"/>
                </a:solidFill>
                <a:latin typeface="Tahoma"/>
                <a:cs typeface="Tahoma"/>
              </a:rPr>
              <a:t>immunity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ability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tolerate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certain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amount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unwanted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voltage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fluctuation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its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inputs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without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changing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its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output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state.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514984" marR="42545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measure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circuit’s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noise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immunity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called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C00000"/>
                </a:solidFill>
                <a:latin typeface="Tahoma"/>
                <a:cs typeface="Tahoma"/>
              </a:rPr>
              <a:t>noise</a:t>
            </a:r>
            <a:r>
              <a:rPr sz="28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Tahoma"/>
                <a:cs typeface="Tahoma"/>
              </a:rPr>
              <a:t>margin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which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expressed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volts.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514984" marR="431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There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two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values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noise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margin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specified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given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circuit: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45" dirty="0">
                <a:solidFill>
                  <a:srgbClr val="C00000"/>
                </a:solidFill>
                <a:latin typeface="Tahoma"/>
                <a:cs typeface="Tahoma"/>
              </a:rPr>
              <a:t>HIGH-level </a:t>
            </a:r>
            <a:r>
              <a:rPr sz="2800" spc="-30" dirty="0">
                <a:solidFill>
                  <a:srgbClr val="C00000"/>
                </a:solidFill>
                <a:latin typeface="Tahoma"/>
                <a:cs typeface="Tahoma"/>
              </a:rPr>
              <a:t>noise </a:t>
            </a:r>
            <a:r>
              <a:rPr sz="2800" spc="-20" dirty="0">
                <a:solidFill>
                  <a:srgbClr val="C00000"/>
                </a:solidFill>
                <a:latin typeface="Tahoma"/>
                <a:cs typeface="Tahoma"/>
              </a:rPr>
              <a:t>margin 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50" dirty="0">
                <a:solidFill>
                  <a:srgbClr val="C00000"/>
                </a:solidFill>
                <a:latin typeface="Tahoma"/>
                <a:cs typeface="Tahoma"/>
              </a:rPr>
              <a:t>(V</a:t>
            </a:r>
            <a:r>
              <a:rPr sz="2775" spc="225" baseline="-21021" dirty="0">
                <a:solidFill>
                  <a:srgbClr val="C00000"/>
                </a:solidFill>
                <a:latin typeface="Tahoma"/>
                <a:cs typeface="Tahoma"/>
              </a:rPr>
              <a:t>NH</a:t>
            </a:r>
            <a:r>
              <a:rPr sz="2775" spc="315" baseline="-21021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90" dirty="0">
                <a:solidFill>
                  <a:srgbClr val="C00000"/>
                </a:solidFill>
                <a:latin typeface="Tahoma"/>
                <a:cs typeface="Tahoma"/>
              </a:rPr>
              <a:t>)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Tahoma"/>
                <a:cs typeface="Tahoma"/>
              </a:rPr>
              <a:t>and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C00000"/>
                </a:solidFill>
                <a:latin typeface="Tahoma"/>
                <a:cs typeface="Tahoma"/>
              </a:rPr>
              <a:t>the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C00000"/>
                </a:solidFill>
                <a:latin typeface="Tahoma"/>
                <a:cs typeface="Tahoma"/>
              </a:rPr>
              <a:t>LOW-level</a:t>
            </a:r>
            <a:r>
              <a:rPr sz="28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C00000"/>
                </a:solidFill>
                <a:latin typeface="Tahoma"/>
                <a:cs typeface="Tahoma"/>
              </a:rPr>
              <a:t>noise</a:t>
            </a:r>
            <a:r>
              <a:rPr sz="28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margin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C00000"/>
                </a:solidFill>
                <a:latin typeface="Tahoma"/>
                <a:cs typeface="Tahoma"/>
              </a:rPr>
              <a:t>(V</a:t>
            </a:r>
            <a:r>
              <a:rPr sz="2775" spc="120" baseline="-21021" dirty="0">
                <a:solidFill>
                  <a:srgbClr val="C00000"/>
                </a:solidFill>
                <a:latin typeface="Tahoma"/>
                <a:cs typeface="Tahoma"/>
              </a:rPr>
              <a:t>NL</a:t>
            </a:r>
            <a:r>
              <a:rPr sz="2775" spc="315" baseline="-21021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C00000"/>
                </a:solidFill>
                <a:latin typeface="Tahoma"/>
                <a:cs typeface="Tahoma"/>
              </a:rPr>
              <a:t>).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4" dirty="0"/>
              <a:t>ELECTRICAL</a:t>
            </a:r>
            <a:r>
              <a:rPr sz="3400" spc="-25" dirty="0"/>
              <a:t> </a:t>
            </a:r>
            <a:r>
              <a:rPr sz="3400" spc="-70" dirty="0"/>
              <a:t>CHARACTERISTICS</a:t>
            </a:r>
            <a:endParaRPr sz="3400"/>
          </a:p>
        </p:txBody>
      </p:sp>
      <p:sp>
        <p:nvSpPr>
          <p:cNvPr id="12" name="object 12"/>
          <p:cNvSpPr txBox="1"/>
          <p:nvPr/>
        </p:nvSpPr>
        <p:spPr>
          <a:xfrm>
            <a:off x="4777866" y="4167962"/>
            <a:ext cx="1356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between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1180" y="4167962"/>
            <a:ext cx="2357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3115" algn="l"/>
              </a:tabLst>
            </a:pP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x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mum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3546" y="4595240"/>
            <a:ext cx="19964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9000" algn="l"/>
                <a:tab pos="1334135" algn="l"/>
              </a:tabLst>
            </a:pP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tha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41032" y="4595240"/>
            <a:ext cx="2019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9625" algn="l"/>
              </a:tabLst>
            </a:pP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	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tolerate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340" y="4167962"/>
            <a:ext cx="425450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3085" marR="5588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553085" algn="l"/>
                <a:tab pos="553720" algn="l"/>
                <a:tab pos="1381125" algn="l"/>
                <a:tab pos="1887220" algn="l"/>
                <a:tab pos="2042795" algn="l"/>
                <a:tab pos="2530475" algn="l"/>
                <a:tab pos="2667635" algn="l"/>
                <a:tab pos="3134360" algn="l"/>
                <a:tab pos="3425190" algn="l"/>
              </a:tabLst>
            </a:pPr>
            <a:r>
              <a:rPr sz="2800" spc="160" dirty="0">
                <a:solidFill>
                  <a:srgbClr val="C00000"/>
                </a:solidFill>
                <a:latin typeface="Tahoma"/>
                <a:cs typeface="Tahoma"/>
              </a:rPr>
              <a:t>V</a:t>
            </a:r>
            <a:r>
              <a:rPr sz="2775" spc="179" baseline="-21021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775" spc="135" baseline="-21021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775" baseline="-21021" dirty="0">
                <a:solidFill>
                  <a:srgbClr val="C00000"/>
                </a:solidFill>
                <a:latin typeface="Tahoma"/>
                <a:cs typeface="Tahoma"/>
              </a:rPr>
              <a:t>	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5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	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ff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eren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e 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possible		</a:t>
            </a:r>
            <a:r>
              <a:rPr sz="2800" spc="190" dirty="0">
                <a:solidFill>
                  <a:srgbClr val="006FC0"/>
                </a:solidFill>
                <a:latin typeface="Tahoma"/>
                <a:cs typeface="Tahoma"/>
              </a:rPr>
              <a:t>LOW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input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(VIL(max))	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	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18786" y="5021960"/>
            <a:ext cx="4241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75155" algn="l"/>
                <a:tab pos="3405504" algn="l"/>
              </a:tabLst>
            </a:pP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xi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10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2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ib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1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295" dirty="0">
                <a:solidFill>
                  <a:srgbClr val="006FC0"/>
                </a:solidFill>
                <a:latin typeface="Tahoma"/>
                <a:cs typeface="Tahoma"/>
              </a:rPr>
              <a:t>W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8360" y="5448401"/>
            <a:ext cx="6109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output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driving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(VOL(max)).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8140" y="939535"/>
            <a:ext cx="8427085" cy="24003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03200" algn="ctr">
              <a:lnSpc>
                <a:spcPct val="100000"/>
              </a:lnSpc>
              <a:spcBef>
                <a:spcPts val="1295"/>
              </a:spcBef>
            </a:pPr>
            <a:r>
              <a:rPr sz="2000" spc="10" dirty="0">
                <a:solidFill>
                  <a:srgbClr val="C00000"/>
                </a:solidFill>
                <a:latin typeface="Tahoma"/>
                <a:cs typeface="Tahoma"/>
              </a:rPr>
              <a:t>NOISE</a:t>
            </a:r>
            <a:r>
              <a:rPr sz="2000" spc="-1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MARGIN</a:t>
            </a:r>
            <a:endParaRPr sz="2000">
              <a:latin typeface="Tahoma"/>
              <a:cs typeface="Tahoma"/>
            </a:endParaRPr>
          </a:p>
          <a:p>
            <a:pPr marL="502284" marR="30480" indent="-464820" algn="just">
              <a:lnSpc>
                <a:spcPct val="100000"/>
              </a:lnSpc>
              <a:spcBef>
                <a:spcPts val="1660"/>
              </a:spcBef>
              <a:buClr>
                <a:srgbClr val="E36C09"/>
              </a:buClr>
              <a:buFont typeface="Wingdings"/>
              <a:buChar char=""/>
              <a:tabLst>
                <a:tab pos="502920" algn="l"/>
              </a:tabLst>
            </a:pPr>
            <a:r>
              <a:rPr sz="2800" spc="220" dirty="0">
                <a:solidFill>
                  <a:srgbClr val="C00000"/>
                </a:solidFill>
                <a:latin typeface="Tahoma"/>
                <a:cs typeface="Tahoma"/>
              </a:rPr>
              <a:t>V</a:t>
            </a:r>
            <a:r>
              <a:rPr sz="2775" spc="330" baseline="-21021" dirty="0">
                <a:solidFill>
                  <a:srgbClr val="C00000"/>
                </a:solidFill>
                <a:latin typeface="Tahoma"/>
                <a:cs typeface="Tahoma"/>
              </a:rPr>
              <a:t>NH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difference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between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lowest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possible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5" dirty="0">
                <a:solidFill>
                  <a:srgbClr val="006FC0"/>
                </a:solidFill>
                <a:latin typeface="Tahoma"/>
                <a:cs typeface="Tahoma"/>
              </a:rPr>
              <a:t>HIGH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output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driving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gate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(V</a:t>
            </a:r>
            <a:r>
              <a:rPr sz="2775" spc="67" baseline="-21021" dirty="0">
                <a:solidFill>
                  <a:srgbClr val="006FC0"/>
                </a:solidFill>
                <a:latin typeface="Tahoma"/>
                <a:cs typeface="Tahoma"/>
              </a:rPr>
              <a:t>OH(min)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)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lowest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possible </a:t>
            </a:r>
            <a:r>
              <a:rPr sz="2800" spc="155" dirty="0">
                <a:solidFill>
                  <a:srgbClr val="006FC0"/>
                </a:solidFill>
                <a:latin typeface="Tahoma"/>
                <a:cs typeface="Tahoma"/>
              </a:rPr>
              <a:t>HIGH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input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load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gate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tolerate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(V</a:t>
            </a:r>
            <a:r>
              <a:rPr sz="2775" spc="7" baseline="-21021" dirty="0">
                <a:solidFill>
                  <a:srgbClr val="006FC0"/>
                </a:solidFill>
                <a:latin typeface="Tahoma"/>
                <a:cs typeface="Tahoma"/>
              </a:rPr>
              <a:t>IH(min)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).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18004" y="3439667"/>
            <a:ext cx="4083050" cy="3124200"/>
            <a:chOff x="2318004" y="3439667"/>
            <a:chExt cx="4083050" cy="3124200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7816" y="3439667"/>
              <a:ext cx="4062983" cy="61112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8004" y="5963411"/>
              <a:ext cx="3802379" cy="600456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114" dirty="0">
                <a:latin typeface="Trebuchet MS"/>
                <a:cs typeface="Trebuchet MS"/>
              </a:rPr>
              <a:t>ELECTRICAL</a:t>
            </a:r>
            <a:r>
              <a:rPr sz="3400" b="1" spc="-25" dirty="0">
                <a:latin typeface="Trebuchet MS"/>
                <a:cs typeface="Trebuchet MS"/>
              </a:rPr>
              <a:t> </a:t>
            </a:r>
            <a:r>
              <a:rPr sz="3400" b="1" spc="-70" dirty="0">
                <a:latin typeface="Trebuchet MS"/>
                <a:cs typeface="Trebuchet MS"/>
              </a:rPr>
              <a:t>CHARACTERISTICS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6975" y="1090930"/>
            <a:ext cx="187261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solidFill>
                  <a:srgbClr val="C00000"/>
                </a:solidFill>
                <a:latin typeface="Tahoma"/>
                <a:cs typeface="Tahoma"/>
              </a:rPr>
              <a:t>NOISE</a:t>
            </a:r>
            <a:r>
              <a:rPr sz="2000" spc="-1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MARGIN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92480" y="1743455"/>
            <a:ext cx="8008620" cy="4810125"/>
            <a:chOff x="792480" y="1743455"/>
            <a:chExt cx="8008620" cy="481012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400" y="2590800"/>
              <a:ext cx="7848600" cy="32628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2480" y="6039611"/>
              <a:ext cx="8008620" cy="5135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12391" y="1743455"/>
              <a:ext cx="5919216" cy="737615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4" dirty="0"/>
              <a:t>ELECTRICAL</a:t>
            </a:r>
            <a:r>
              <a:rPr sz="3400" spc="-25" dirty="0"/>
              <a:t> </a:t>
            </a:r>
            <a:r>
              <a:rPr sz="3400" spc="-70" dirty="0"/>
              <a:t>CHARACTERISTICS</a:t>
            </a:r>
            <a:endParaRPr sz="3400"/>
          </a:p>
        </p:txBody>
      </p:sp>
      <p:sp>
        <p:nvSpPr>
          <p:cNvPr id="12" name="object 12"/>
          <p:cNvSpPr txBox="1"/>
          <p:nvPr/>
        </p:nvSpPr>
        <p:spPr>
          <a:xfrm>
            <a:off x="822960" y="4254830"/>
            <a:ext cx="621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spc="187" baseline="13888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1850" spc="125" dirty="0">
                <a:solidFill>
                  <a:srgbClr val="006FC0"/>
                </a:solidFill>
                <a:latin typeface="Tahoma"/>
                <a:cs typeface="Tahoma"/>
              </a:rPr>
              <a:t>CC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7566" y="4167962"/>
            <a:ext cx="7151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8784" algn="l"/>
                <a:tab pos="856615" algn="l"/>
                <a:tab pos="1304925" algn="l"/>
                <a:tab pos="2103755" algn="l"/>
                <a:tab pos="2519680" algn="l"/>
                <a:tab pos="3221990" algn="l"/>
                <a:tab pos="4084954" algn="l"/>
                <a:tab pos="4511675" algn="l"/>
                <a:tab pos="5016500" algn="l"/>
                <a:tab pos="5407660" algn="l"/>
                <a:tab pos="6398895" algn="l"/>
              </a:tabLst>
            </a:pP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	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5	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V	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if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7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ati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(n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0259" y="4595240"/>
            <a:ext cx="79629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17780">
              <a:lnSpc>
                <a:spcPct val="100000"/>
              </a:lnSpc>
              <a:spcBef>
                <a:spcPts val="95"/>
              </a:spcBef>
              <a:tabLst>
                <a:tab pos="1967864" algn="l"/>
                <a:tab pos="3319779" algn="l"/>
                <a:tab pos="4783455" algn="l"/>
                <a:tab pos="6013450" algn="l"/>
                <a:tab pos="6922134" algn="l"/>
              </a:tabLst>
            </a:pP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g)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33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IG</a:t>
            </a:r>
            <a:r>
              <a:rPr sz="2800" spc="325" dirty="0">
                <a:solidFill>
                  <a:srgbClr val="006FC0"/>
                </a:solidFill>
                <a:latin typeface="Tahoma"/>
                <a:cs typeface="Tahoma"/>
              </a:rPr>
              <a:t>H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ut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7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10" dirty="0">
                <a:solidFill>
                  <a:srgbClr val="C00000"/>
                </a:solidFill>
                <a:latin typeface="Tahoma"/>
                <a:cs typeface="Tahoma"/>
              </a:rPr>
              <a:t>p</a:t>
            </a:r>
            <a:r>
              <a:rPr sz="2800" spc="12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800" spc="30" dirty="0">
                <a:solidFill>
                  <a:srgbClr val="C00000"/>
                </a:solidFill>
                <a:latin typeface="Tahoma"/>
                <a:cs typeface="Tahoma"/>
              </a:rPr>
              <a:t>wer  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dissipation(P</a:t>
            </a:r>
            <a:r>
              <a:rPr sz="2775" spc="-22" baseline="-21021" dirty="0">
                <a:solidFill>
                  <a:srgbClr val="C00000"/>
                </a:solidFill>
                <a:latin typeface="Tahoma"/>
                <a:cs typeface="Tahoma"/>
              </a:rPr>
              <a:t>D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)</a:t>
            </a:r>
            <a:r>
              <a:rPr sz="28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C0000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C0000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C00000"/>
                </a:solidFill>
                <a:latin typeface="Tahoma"/>
                <a:cs typeface="Tahoma"/>
              </a:rPr>
              <a:t>gate</a:t>
            </a:r>
            <a:r>
              <a:rPr sz="2800" spc="-6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C00000"/>
                </a:solidFill>
                <a:latin typeface="Tahoma"/>
                <a:cs typeface="Tahoma"/>
              </a:rPr>
              <a:t>is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2740" y="939535"/>
            <a:ext cx="8489950" cy="325374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R="191770" algn="ctr">
              <a:lnSpc>
                <a:spcPct val="100000"/>
              </a:lnSpc>
              <a:spcBef>
                <a:spcPts val="1295"/>
              </a:spcBef>
            </a:pPr>
            <a:r>
              <a:rPr sz="2000" spc="80" dirty="0">
                <a:solidFill>
                  <a:srgbClr val="C00000"/>
                </a:solidFill>
                <a:latin typeface="Tahoma"/>
                <a:cs typeface="Tahoma"/>
              </a:rPr>
              <a:t>POWER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DISSIPATION</a:t>
            </a:r>
            <a:endParaRPr sz="2000">
              <a:latin typeface="Tahoma"/>
              <a:cs typeface="Tahoma"/>
            </a:endParaRPr>
          </a:p>
          <a:p>
            <a:pPr marL="527685" marR="66675" indent="-464820" algn="just">
              <a:lnSpc>
                <a:spcPct val="100000"/>
              </a:lnSpc>
              <a:spcBef>
                <a:spcPts val="1660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draws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current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dc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supply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voltage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source,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When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5" dirty="0">
                <a:solidFill>
                  <a:srgbClr val="006FC0"/>
                </a:solidFill>
                <a:latin typeface="Tahoma"/>
                <a:cs typeface="Tahoma"/>
              </a:rPr>
              <a:t>HIGH </a:t>
            </a:r>
            <a:r>
              <a:rPr sz="2800" spc="1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output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state,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current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775" spc="82" baseline="-21021" dirty="0">
                <a:solidFill>
                  <a:srgbClr val="C00000"/>
                </a:solidFill>
                <a:latin typeface="Tahoma"/>
                <a:cs typeface="Tahoma"/>
              </a:rPr>
              <a:t>CCH</a:t>
            </a:r>
            <a:r>
              <a:rPr sz="2775" spc="89" baseline="-21021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6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drawn;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95" dirty="0">
                <a:solidFill>
                  <a:srgbClr val="006FC0"/>
                </a:solidFill>
                <a:latin typeface="Tahoma"/>
                <a:cs typeface="Tahoma"/>
              </a:rPr>
              <a:t>LOW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output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state,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current,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775" spc="-22" baseline="-21021" dirty="0">
                <a:solidFill>
                  <a:srgbClr val="C00000"/>
                </a:solidFill>
                <a:latin typeface="Tahoma"/>
                <a:cs typeface="Tahoma"/>
              </a:rPr>
              <a:t>CCL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,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drawn.</a:t>
            </a:r>
            <a:endParaRPr sz="2800">
              <a:latin typeface="Tahoma"/>
              <a:cs typeface="Tahoma"/>
            </a:endParaRPr>
          </a:p>
          <a:p>
            <a:pPr marL="528320" indent="-464820">
              <a:lnSpc>
                <a:spcPct val="100000"/>
              </a:lnSpc>
              <a:spcBef>
                <a:spcPts val="3365"/>
              </a:spcBef>
              <a:buClr>
                <a:srgbClr val="E36C09"/>
              </a:buClr>
              <a:buFont typeface="Wingdings"/>
              <a:buChar char=""/>
              <a:tabLst>
                <a:tab pos="527685" algn="l"/>
                <a:tab pos="528320" algn="l"/>
              </a:tabLst>
            </a:pP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example,</a:t>
            </a:r>
            <a:r>
              <a:rPr sz="2800" spc="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if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775" spc="82" baseline="-21021" dirty="0">
                <a:solidFill>
                  <a:srgbClr val="006FC0"/>
                </a:solidFill>
                <a:latin typeface="Tahoma"/>
                <a:cs typeface="Tahoma"/>
              </a:rPr>
              <a:t>CCH</a:t>
            </a:r>
            <a:r>
              <a:rPr sz="2775" spc="615" baseline="-21021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specified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Tahoma"/>
                <a:cs typeface="Tahoma"/>
              </a:rPr>
              <a:t>as</a:t>
            </a:r>
            <a:r>
              <a:rPr sz="2800" spc="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1.5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0" dirty="0">
                <a:solidFill>
                  <a:srgbClr val="006FC0"/>
                </a:solidFill>
                <a:latin typeface="Tahoma"/>
                <a:cs typeface="Tahoma"/>
              </a:rPr>
              <a:t>mA</a:t>
            </a:r>
            <a:r>
              <a:rPr sz="2800" spc="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when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67967" y="5715000"/>
            <a:ext cx="6760464" cy="609600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4" dirty="0"/>
              <a:t>ELECTRICAL</a:t>
            </a:r>
            <a:r>
              <a:rPr sz="3400" spc="-25" dirty="0"/>
              <a:t> </a:t>
            </a:r>
            <a:r>
              <a:rPr sz="3400" spc="-70" dirty="0"/>
              <a:t>CHARACTERISTICS</a:t>
            </a:r>
            <a:endParaRPr sz="340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22960" y="3619627"/>
            <a:ext cx="2895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2775" spc="75" baseline="-21021" dirty="0">
                <a:solidFill>
                  <a:srgbClr val="C00000"/>
                </a:solidFill>
                <a:latin typeface="Tahoma"/>
                <a:cs typeface="Tahoma"/>
              </a:rPr>
              <a:t>PHL</a:t>
            </a:r>
            <a:endParaRPr sz="2775" baseline="-21021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3683" y="3706495"/>
            <a:ext cx="10496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spc="104" baseline="13888" dirty="0">
                <a:solidFill>
                  <a:srgbClr val="C00000"/>
                </a:solidFill>
                <a:latin typeface="Tahoma"/>
                <a:cs typeface="Tahoma"/>
              </a:rPr>
              <a:t>&amp;</a:t>
            </a:r>
            <a:r>
              <a:rPr sz="4200" spc="-179" baseline="13888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4200" spc="52" baseline="13888" dirty="0">
                <a:solidFill>
                  <a:srgbClr val="C00000"/>
                </a:solidFill>
                <a:latin typeface="Tahoma"/>
                <a:cs typeface="Tahoma"/>
              </a:rPr>
              <a:t>t</a:t>
            </a:r>
            <a:r>
              <a:rPr sz="1850" spc="35" dirty="0">
                <a:solidFill>
                  <a:srgbClr val="C00000"/>
                </a:solidFill>
                <a:latin typeface="Tahoma"/>
                <a:cs typeface="Tahoma"/>
              </a:rPr>
              <a:t>PLH.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140" y="4351401"/>
            <a:ext cx="8428355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2284" marR="31115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502284" algn="l"/>
                <a:tab pos="502920" algn="l"/>
                <a:tab pos="1360805" algn="l"/>
                <a:tab pos="2144395" algn="l"/>
                <a:tab pos="3030220" algn="l"/>
                <a:tab pos="4563110" algn="l"/>
                <a:tab pos="5570855" algn="l"/>
                <a:tab pos="6561455" algn="l"/>
                <a:tab pos="7346315" algn="l"/>
              </a:tabLst>
            </a:pPr>
            <a:r>
              <a:rPr sz="2800" spc="-15" dirty="0">
                <a:latin typeface="Tahoma"/>
                <a:cs typeface="Tahoma"/>
              </a:rPr>
              <a:t>t</a:t>
            </a:r>
            <a:r>
              <a:rPr sz="2775" spc="89" baseline="-21021" dirty="0">
                <a:latin typeface="Tahoma"/>
                <a:cs typeface="Tahoma"/>
              </a:rPr>
              <a:t>PHL</a:t>
            </a:r>
            <a:r>
              <a:rPr sz="2800" spc="-130" dirty="0">
                <a:latin typeface="Tahoma"/>
                <a:cs typeface="Tahoma"/>
              </a:rPr>
              <a:t>:	</a:t>
            </a:r>
            <a:r>
              <a:rPr sz="2800" spc="-35" dirty="0">
                <a:latin typeface="Tahoma"/>
                <a:cs typeface="Tahoma"/>
              </a:rPr>
              <a:t>Th</a:t>
            </a:r>
            <a:r>
              <a:rPr sz="2800" spc="-30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25" dirty="0">
                <a:latin typeface="Tahoma"/>
                <a:cs typeface="Tahoma"/>
              </a:rPr>
              <a:t>t</a:t>
            </a:r>
            <a:r>
              <a:rPr sz="2800" spc="30" dirty="0">
                <a:latin typeface="Tahoma"/>
                <a:cs typeface="Tahoma"/>
              </a:rPr>
              <a:t>im</a:t>
            </a:r>
            <a:r>
              <a:rPr sz="2800" spc="-105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15" dirty="0">
                <a:latin typeface="Tahoma"/>
                <a:cs typeface="Tahoma"/>
              </a:rPr>
              <a:t>b</a:t>
            </a:r>
            <a:r>
              <a:rPr sz="2800" spc="-20" dirty="0">
                <a:latin typeface="Tahoma"/>
                <a:cs typeface="Tahoma"/>
              </a:rPr>
              <a:t>etwee</a:t>
            </a:r>
            <a:r>
              <a:rPr sz="2800" spc="-15" dirty="0">
                <a:latin typeface="Tahoma"/>
                <a:cs typeface="Tahoma"/>
              </a:rPr>
              <a:t>n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25" dirty="0">
                <a:latin typeface="Tahoma"/>
                <a:cs typeface="Tahoma"/>
              </a:rPr>
              <a:t>inp</a:t>
            </a:r>
            <a:r>
              <a:rPr sz="2800" spc="40" dirty="0">
                <a:latin typeface="Tahoma"/>
                <a:cs typeface="Tahoma"/>
              </a:rPr>
              <a:t>u</a:t>
            </a:r>
            <a:r>
              <a:rPr sz="2800" spc="-15" dirty="0">
                <a:latin typeface="Tahoma"/>
                <a:cs typeface="Tahoma"/>
              </a:rPr>
              <a:t>t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50" dirty="0">
                <a:latin typeface="Tahoma"/>
                <a:cs typeface="Tahoma"/>
              </a:rPr>
              <a:t>pul</a:t>
            </a:r>
            <a:r>
              <a:rPr sz="2800" spc="-35" dirty="0">
                <a:latin typeface="Tahoma"/>
                <a:cs typeface="Tahoma"/>
              </a:rPr>
              <a:t>s</a:t>
            </a:r>
            <a:r>
              <a:rPr sz="2800" spc="-105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40" dirty="0">
                <a:latin typeface="Tahoma"/>
                <a:cs typeface="Tahoma"/>
              </a:rPr>
              <a:t>a</a:t>
            </a:r>
            <a:r>
              <a:rPr sz="2800" spc="-25" dirty="0">
                <a:latin typeface="Tahoma"/>
                <a:cs typeface="Tahoma"/>
              </a:rPr>
              <a:t>n</a:t>
            </a:r>
            <a:r>
              <a:rPr sz="2800" spc="70" dirty="0">
                <a:latin typeface="Tahoma"/>
                <a:cs typeface="Tahoma"/>
              </a:rPr>
              <a:t>d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15" dirty="0">
                <a:latin typeface="Tahoma"/>
                <a:cs typeface="Tahoma"/>
              </a:rPr>
              <a:t>output  </a:t>
            </a:r>
            <a:r>
              <a:rPr sz="2800" spc="-50" dirty="0">
                <a:latin typeface="Tahoma"/>
                <a:cs typeface="Tahoma"/>
              </a:rPr>
              <a:t>pulse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when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45" dirty="0">
                <a:latin typeface="Tahoma"/>
                <a:cs typeface="Tahoma"/>
              </a:rPr>
              <a:t>the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output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is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changing </a:t>
            </a:r>
            <a:r>
              <a:rPr sz="2800" spc="155" dirty="0">
                <a:latin typeface="Tahoma"/>
                <a:cs typeface="Tahoma"/>
              </a:rPr>
              <a:t>HIGH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75" dirty="0">
                <a:latin typeface="Tahoma"/>
                <a:cs typeface="Tahoma"/>
              </a:rPr>
              <a:t>to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LOW.</a:t>
            </a:r>
            <a:endParaRPr sz="2800">
              <a:latin typeface="Tahoma"/>
              <a:cs typeface="Tahoma"/>
            </a:endParaRPr>
          </a:p>
          <a:p>
            <a:pPr marL="502284" marR="30480" indent="-464820">
              <a:lnSpc>
                <a:spcPct val="100000"/>
              </a:lnSpc>
              <a:spcBef>
                <a:spcPts val="2400"/>
              </a:spcBef>
              <a:buClr>
                <a:srgbClr val="E36C09"/>
              </a:buClr>
              <a:buFont typeface="Wingdings"/>
              <a:buChar char=""/>
              <a:tabLst>
                <a:tab pos="502284" algn="l"/>
                <a:tab pos="502920" algn="l"/>
                <a:tab pos="1976755" algn="l"/>
                <a:tab pos="2897505" algn="l"/>
                <a:tab pos="4462780" algn="l"/>
                <a:tab pos="5503545" algn="l"/>
                <a:tab pos="6527800" algn="l"/>
                <a:tab pos="7346315" algn="l"/>
              </a:tabLst>
            </a:pPr>
            <a:r>
              <a:rPr sz="2800" spc="-15" dirty="0">
                <a:latin typeface="Tahoma"/>
                <a:cs typeface="Tahoma"/>
              </a:rPr>
              <a:t>t</a:t>
            </a:r>
            <a:r>
              <a:rPr sz="2775" spc="89" baseline="-21021" dirty="0">
                <a:latin typeface="Tahoma"/>
                <a:cs typeface="Tahoma"/>
              </a:rPr>
              <a:t>PLH</a:t>
            </a:r>
            <a:r>
              <a:rPr sz="2800" spc="-120" dirty="0">
                <a:latin typeface="Tahoma"/>
                <a:cs typeface="Tahoma"/>
              </a:rPr>
              <a:t>:</a:t>
            </a:r>
            <a:r>
              <a:rPr sz="2800" spc="-35" dirty="0">
                <a:latin typeface="Tahoma"/>
                <a:cs typeface="Tahoma"/>
              </a:rPr>
              <a:t>Th</a:t>
            </a:r>
            <a:r>
              <a:rPr sz="2800" spc="-30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25" dirty="0">
                <a:latin typeface="Tahoma"/>
                <a:cs typeface="Tahoma"/>
              </a:rPr>
              <a:t>ti</a:t>
            </a:r>
            <a:r>
              <a:rPr sz="2800" spc="-50" dirty="0">
                <a:latin typeface="Tahoma"/>
                <a:cs typeface="Tahoma"/>
              </a:rPr>
              <a:t>m</a:t>
            </a:r>
            <a:r>
              <a:rPr sz="2800" spc="-30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45" dirty="0">
                <a:latin typeface="Tahoma"/>
                <a:cs typeface="Tahoma"/>
              </a:rPr>
              <a:t>be</a:t>
            </a:r>
            <a:r>
              <a:rPr sz="2800" spc="-35" dirty="0">
                <a:latin typeface="Tahoma"/>
                <a:cs typeface="Tahoma"/>
              </a:rPr>
              <a:t>t</a:t>
            </a:r>
            <a:r>
              <a:rPr sz="2800" spc="70" dirty="0">
                <a:latin typeface="Tahoma"/>
                <a:cs typeface="Tahoma"/>
              </a:rPr>
              <a:t>w</a:t>
            </a:r>
            <a:r>
              <a:rPr sz="2800" spc="55" dirty="0">
                <a:latin typeface="Tahoma"/>
                <a:cs typeface="Tahoma"/>
              </a:rPr>
              <a:t>e</a:t>
            </a:r>
            <a:r>
              <a:rPr sz="2800" spc="-50" dirty="0">
                <a:latin typeface="Tahoma"/>
                <a:cs typeface="Tahoma"/>
              </a:rPr>
              <a:t>en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25" dirty="0">
                <a:latin typeface="Tahoma"/>
                <a:cs typeface="Tahoma"/>
              </a:rPr>
              <a:t>inp</a:t>
            </a:r>
            <a:r>
              <a:rPr sz="2800" spc="40" dirty="0">
                <a:latin typeface="Tahoma"/>
                <a:cs typeface="Tahoma"/>
              </a:rPr>
              <a:t>u</a:t>
            </a:r>
            <a:r>
              <a:rPr sz="2800" spc="-15" dirty="0">
                <a:latin typeface="Tahoma"/>
                <a:cs typeface="Tahoma"/>
              </a:rPr>
              <a:t>t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50" dirty="0">
                <a:latin typeface="Tahoma"/>
                <a:cs typeface="Tahoma"/>
              </a:rPr>
              <a:t>pul</a:t>
            </a:r>
            <a:r>
              <a:rPr sz="2800" spc="-40" dirty="0">
                <a:latin typeface="Tahoma"/>
                <a:cs typeface="Tahoma"/>
              </a:rPr>
              <a:t>s</a:t>
            </a:r>
            <a:r>
              <a:rPr sz="2800" spc="-100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40" dirty="0">
                <a:latin typeface="Tahoma"/>
                <a:cs typeface="Tahoma"/>
              </a:rPr>
              <a:t>a</a:t>
            </a:r>
            <a:r>
              <a:rPr sz="2800" spc="-30" dirty="0">
                <a:latin typeface="Tahoma"/>
                <a:cs typeface="Tahoma"/>
              </a:rPr>
              <a:t>n</a:t>
            </a:r>
            <a:r>
              <a:rPr sz="2800" spc="70" dirty="0">
                <a:latin typeface="Tahoma"/>
                <a:cs typeface="Tahoma"/>
              </a:rPr>
              <a:t>d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15" dirty="0">
                <a:latin typeface="Tahoma"/>
                <a:cs typeface="Tahoma"/>
              </a:rPr>
              <a:t>output  </a:t>
            </a:r>
            <a:r>
              <a:rPr sz="2800" spc="-50" dirty="0">
                <a:latin typeface="Tahoma"/>
                <a:cs typeface="Tahoma"/>
              </a:rPr>
              <a:t>pulse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when</a:t>
            </a:r>
            <a:r>
              <a:rPr sz="2800" spc="-45" dirty="0">
                <a:latin typeface="Tahoma"/>
                <a:cs typeface="Tahoma"/>
              </a:rPr>
              <a:t> the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output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is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changing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190" dirty="0">
                <a:latin typeface="Tahoma"/>
                <a:cs typeface="Tahoma"/>
              </a:rPr>
              <a:t>LOW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75" dirty="0">
                <a:latin typeface="Tahoma"/>
                <a:cs typeface="Tahoma"/>
              </a:rPr>
              <a:t>to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114" dirty="0">
                <a:latin typeface="Tahoma"/>
                <a:cs typeface="Tahoma"/>
              </a:rPr>
              <a:t>HIGH.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3540" y="939535"/>
            <a:ext cx="8376284" cy="27051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03835" algn="ctr">
              <a:lnSpc>
                <a:spcPct val="100000"/>
              </a:lnSpc>
              <a:spcBef>
                <a:spcPts val="1295"/>
              </a:spcBef>
            </a:pPr>
            <a:r>
              <a:rPr sz="2000" spc="70" dirty="0">
                <a:solidFill>
                  <a:srgbClr val="C00000"/>
                </a:solidFill>
                <a:latin typeface="Tahoma"/>
                <a:cs typeface="Tahoma"/>
              </a:rPr>
              <a:t>PROPAGATION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Tahoma"/>
                <a:cs typeface="Tahoma"/>
              </a:rPr>
              <a:t>DELAY</a:t>
            </a:r>
            <a:endParaRPr sz="20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66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When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signal </a:t>
            </a:r>
            <a:r>
              <a:rPr sz="2800" spc="-165" dirty="0">
                <a:solidFill>
                  <a:srgbClr val="006FC0"/>
                </a:solidFill>
                <a:latin typeface="Tahoma"/>
                <a:cs typeface="Tahoma"/>
              </a:rPr>
              <a:t>passes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(propagates)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through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circuit,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it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always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experiences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time,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this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delay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called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C00000"/>
                </a:solidFill>
                <a:latin typeface="Tahoma"/>
                <a:cs typeface="Tahoma"/>
              </a:rPr>
              <a:t>propagation</a:t>
            </a:r>
            <a:r>
              <a:rPr sz="28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C00000"/>
                </a:solidFill>
                <a:latin typeface="Tahoma"/>
                <a:cs typeface="Tahoma"/>
              </a:rPr>
              <a:t>delay</a:t>
            </a:r>
            <a:r>
              <a:rPr sz="28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Tahoma"/>
                <a:cs typeface="Tahoma"/>
              </a:rPr>
              <a:t>time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240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533525" algn="l"/>
                <a:tab pos="2182495" algn="l"/>
                <a:tab pos="2976880" algn="l"/>
                <a:tab pos="5051425" algn="l"/>
                <a:tab pos="6057265" algn="l"/>
                <a:tab pos="7036434" algn="l"/>
              </a:tabLst>
            </a:pP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There	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	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two	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propagation	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delay	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times	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specified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4" dirty="0"/>
              <a:t>ELECTRICAL</a:t>
            </a:r>
            <a:r>
              <a:rPr sz="3400" spc="-25" dirty="0"/>
              <a:t> </a:t>
            </a:r>
            <a:r>
              <a:rPr sz="3400" spc="-70" dirty="0"/>
              <a:t>CHARACTERISTICS</a:t>
            </a:r>
            <a:endParaRPr sz="3400"/>
          </a:p>
        </p:txBody>
      </p:sp>
      <p:sp>
        <p:nvSpPr>
          <p:cNvPr id="12" name="object 12"/>
          <p:cNvSpPr txBox="1"/>
          <p:nvPr/>
        </p:nvSpPr>
        <p:spPr>
          <a:xfrm>
            <a:off x="3355975" y="1090930"/>
            <a:ext cx="26352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0" dirty="0">
                <a:solidFill>
                  <a:srgbClr val="C00000"/>
                </a:solidFill>
                <a:latin typeface="Tahoma"/>
                <a:cs typeface="Tahoma"/>
              </a:rPr>
              <a:t>PROPAGATION</a:t>
            </a:r>
            <a:r>
              <a:rPr sz="2000" spc="-1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Tahoma"/>
                <a:cs typeface="Tahoma"/>
              </a:rPr>
              <a:t>DELAY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06395" y="1467611"/>
            <a:ext cx="4267200" cy="423672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788157" y="5724550"/>
            <a:ext cx="3600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latin typeface="Calibri"/>
                <a:cs typeface="Calibri"/>
              </a:rPr>
              <a:t>Propagation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delay</a:t>
            </a:r>
            <a:r>
              <a:rPr sz="2800" b="1" spc="-5" dirty="0">
                <a:latin typeface="Calibri"/>
                <a:cs typeface="Calibri"/>
              </a:rPr>
              <a:t> times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178282"/>
              <a:ext cx="6504431" cy="9875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6041" y="306146"/>
            <a:ext cx="59302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14" dirty="0"/>
              <a:t>ELECTRICAL</a:t>
            </a:r>
            <a:r>
              <a:rPr sz="3400" spc="-25" dirty="0"/>
              <a:t> </a:t>
            </a:r>
            <a:r>
              <a:rPr sz="3400" spc="-70" dirty="0"/>
              <a:t>CHARACTERISTICS</a:t>
            </a:r>
            <a:endParaRPr sz="3400"/>
          </a:p>
        </p:txBody>
      </p:sp>
      <p:sp>
        <p:nvSpPr>
          <p:cNvPr id="12" name="object 12"/>
          <p:cNvSpPr txBox="1"/>
          <p:nvPr/>
        </p:nvSpPr>
        <p:spPr>
          <a:xfrm>
            <a:off x="383540" y="1010830"/>
            <a:ext cx="8378190" cy="360934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sz="2000" spc="95" dirty="0">
                <a:solidFill>
                  <a:srgbClr val="C00000"/>
                </a:solidFill>
                <a:latin typeface="Tahoma"/>
                <a:cs typeface="Tahoma"/>
              </a:rPr>
              <a:t>FAN-OUT</a:t>
            </a:r>
            <a:endParaRPr sz="200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spcBef>
                <a:spcPts val="133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When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output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gate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connected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one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more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inputs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other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gates,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load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driving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created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There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45" dirty="0">
                <a:solidFill>
                  <a:srgbClr val="C00000"/>
                </a:solidFill>
                <a:latin typeface="Tahoma"/>
                <a:cs typeface="Tahoma"/>
              </a:rPr>
              <a:t>limit </a:t>
            </a:r>
            <a:r>
              <a:rPr sz="2800" spc="70" dirty="0">
                <a:solidFill>
                  <a:srgbClr val="C00000"/>
                </a:solidFill>
                <a:latin typeface="Tahoma"/>
                <a:cs typeface="Tahoma"/>
              </a:rPr>
              <a:t>to </a:t>
            </a:r>
            <a:r>
              <a:rPr sz="2800" spc="-50" dirty="0">
                <a:solidFill>
                  <a:srgbClr val="C00000"/>
                </a:solidFill>
                <a:latin typeface="Tahoma"/>
                <a:cs typeface="Tahoma"/>
              </a:rPr>
              <a:t>the </a:t>
            </a:r>
            <a:r>
              <a:rPr sz="2800" spc="-20" dirty="0">
                <a:solidFill>
                  <a:srgbClr val="C00000"/>
                </a:solidFill>
                <a:latin typeface="Tahoma"/>
                <a:cs typeface="Tahoma"/>
              </a:rPr>
              <a:t>number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C00000"/>
                </a:solidFill>
                <a:latin typeface="Tahoma"/>
                <a:cs typeface="Tahoma"/>
              </a:rPr>
              <a:t>of </a:t>
            </a:r>
            <a:r>
              <a:rPr sz="2800" spc="60" dirty="0">
                <a:solidFill>
                  <a:srgbClr val="C00000"/>
                </a:solidFill>
                <a:latin typeface="Tahoma"/>
                <a:cs typeface="Tahoma"/>
              </a:rPr>
              <a:t>load </a:t>
            </a:r>
            <a:r>
              <a:rPr sz="2800" spc="-80" dirty="0">
                <a:solidFill>
                  <a:srgbClr val="C00000"/>
                </a:solidFill>
                <a:latin typeface="Tahoma"/>
                <a:cs typeface="Tahoma"/>
              </a:rPr>
              <a:t>gate </a:t>
            </a:r>
            <a:r>
              <a:rPr sz="2800" spc="-35" dirty="0">
                <a:solidFill>
                  <a:srgbClr val="C00000"/>
                </a:solidFill>
                <a:latin typeface="Tahoma"/>
                <a:cs typeface="Tahoma"/>
              </a:rPr>
              <a:t>inputs </a:t>
            </a:r>
            <a:r>
              <a:rPr sz="2800" spc="-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C00000"/>
                </a:solidFill>
                <a:latin typeface="Tahoma"/>
                <a:cs typeface="Tahoma"/>
              </a:rPr>
              <a:t>that </a:t>
            </a:r>
            <a:r>
              <a:rPr sz="2800" spc="-80" dirty="0">
                <a:solidFill>
                  <a:srgbClr val="C00000"/>
                </a:solidFill>
                <a:latin typeface="Tahoma"/>
                <a:cs typeface="Tahoma"/>
              </a:rPr>
              <a:t>a </a:t>
            </a:r>
            <a:r>
              <a:rPr sz="2800" spc="-15" dirty="0">
                <a:solidFill>
                  <a:srgbClr val="C00000"/>
                </a:solidFill>
                <a:latin typeface="Tahoma"/>
                <a:cs typeface="Tahoma"/>
              </a:rPr>
              <a:t>given </a:t>
            </a:r>
            <a:r>
              <a:rPr sz="2800" spc="-85" dirty="0">
                <a:solidFill>
                  <a:srgbClr val="C00000"/>
                </a:solidFill>
                <a:latin typeface="Tahoma"/>
                <a:cs typeface="Tahoma"/>
              </a:rPr>
              <a:t>gate </a:t>
            </a:r>
            <a:r>
              <a:rPr sz="2800" spc="-55" dirty="0">
                <a:solidFill>
                  <a:srgbClr val="C00000"/>
                </a:solidFill>
                <a:latin typeface="Tahoma"/>
                <a:cs typeface="Tahoma"/>
              </a:rPr>
              <a:t>can </a:t>
            </a:r>
            <a:r>
              <a:rPr sz="2800" spc="15" dirty="0">
                <a:solidFill>
                  <a:srgbClr val="C00000"/>
                </a:solidFill>
                <a:latin typeface="Tahoma"/>
                <a:cs typeface="Tahoma"/>
              </a:rPr>
              <a:t>drive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.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This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limit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called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fan-out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gate.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5047" y="4191000"/>
            <a:ext cx="3325367" cy="215646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1455419"/>
            <a:ext cx="6983730" cy="41780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28388"/>
            <a:ext cx="8377555" cy="535749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1435" algn="ctr">
              <a:lnSpc>
                <a:spcPct val="100000"/>
              </a:lnSpc>
              <a:spcBef>
                <a:spcPts val="1195"/>
              </a:spcBef>
            </a:pP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INTRODUCTION</a:t>
            </a:r>
            <a:endParaRPr sz="200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spcBef>
                <a:spcPts val="152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Digital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Electronics,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family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refers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digital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integrated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circuit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devices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which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constructed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combination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electronic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gates.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There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different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families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gates.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Each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family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has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its </a:t>
            </a:r>
            <a:r>
              <a:rPr sz="2800" spc="130" dirty="0">
                <a:solidFill>
                  <a:srgbClr val="006FC0"/>
                </a:solidFill>
                <a:latin typeface="Tahoma"/>
                <a:cs typeface="Tahoma"/>
              </a:rPr>
              <a:t>own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characteristics,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limitations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advantages.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Some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families also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have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common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characteristics.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Also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within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each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family,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there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range</a:t>
            </a:r>
            <a:r>
              <a:rPr sz="2800" spc="7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voltages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which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may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high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level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or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60" dirty="0">
                <a:solidFill>
                  <a:srgbClr val="006FC0"/>
                </a:solidFill>
                <a:latin typeface="Tahoma"/>
                <a:cs typeface="Tahoma"/>
              </a:rPr>
              <a:t>low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level.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224152"/>
            <a:ext cx="6212205" cy="4888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61030">
              <a:lnSpc>
                <a:spcPct val="100000"/>
              </a:lnSpc>
              <a:spcBef>
                <a:spcPts val="105"/>
              </a:spcBef>
            </a:pP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INTRODUCTION</a:t>
            </a:r>
            <a:endParaRPr sz="20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These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families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listed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below:</a:t>
            </a:r>
            <a:endParaRPr sz="2800">
              <a:latin typeface="Tahoma"/>
              <a:cs typeface="Tahoma"/>
            </a:endParaRPr>
          </a:p>
          <a:p>
            <a:pPr marL="1384300" lvl="1" indent="-457834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1384300" algn="l"/>
                <a:tab pos="1384935" algn="l"/>
              </a:tabLst>
            </a:pPr>
            <a:r>
              <a:rPr sz="2800" spc="70" dirty="0">
                <a:latin typeface="Tahoma"/>
                <a:cs typeface="Tahoma"/>
              </a:rPr>
              <a:t>Diode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Logic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(DL)</a:t>
            </a:r>
            <a:endParaRPr sz="2800">
              <a:latin typeface="Tahoma"/>
              <a:cs typeface="Tahoma"/>
            </a:endParaRPr>
          </a:p>
          <a:p>
            <a:pPr marL="1384300" lvl="1" indent="-457834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1384300" algn="l"/>
                <a:tab pos="1384935" algn="l"/>
              </a:tabLst>
            </a:pPr>
            <a:r>
              <a:rPr sz="2800" spc="-110" dirty="0">
                <a:latin typeface="Tahoma"/>
                <a:cs typeface="Tahoma"/>
              </a:rPr>
              <a:t>Resistor-Transistor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Logic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(RTL)</a:t>
            </a:r>
            <a:endParaRPr sz="2800">
              <a:latin typeface="Tahoma"/>
              <a:cs typeface="Tahoma"/>
            </a:endParaRPr>
          </a:p>
          <a:p>
            <a:pPr marL="1384300" lvl="1" indent="-457834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1384300" algn="l"/>
                <a:tab pos="1384935" algn="l"/>
              </a:tabLst>
            </a:pPr>
            <a:r>
              <a:rPr sz="2800" spc="-70" dirty="0">
                <a:latin typeface="Tahoma"/>
                <a:cs typeface="Tahoma"/>
              </a:rPr>
              <a:t>Diode-Transistor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Logic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(DTL)</a:t>
            </a:r>
            <a:endParaRPr sz="2800">
              <a:latin typeface="Tahoma"/>
              <a:cs typeface="Tahoma"/>
            </a:endParaRPr>
          </a:p>
          <a:p>
            <a:pPr marL="1384300" lvl="1" indent="-457834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1384300" algn="l"/>
                <a:tab pos="1384935" algn="l"/>
              </a:tabLst>
            </a:pPr>
            <a:r>
              <a:rPr sz="2800" spc="-25" dirty="0">
                <a:latin typeface="Tahoma"/>
                <a:cs typeface="Tahoma"/>
              </a:rPr>
              <a:t>Emitter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Coupled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Logic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(ECL)</a:t>
            </a:r>
            <a:endParaRPr sz="2800">
              <a:latin typeface="Tahoma"/>
              <a:cs typeface="Tahoma"/>
            </a:endParaRPr>
          </a:p>
          <a:p>
            <a:pPr marL="1384300" lvl="1" indent="-457834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1384300" algn="l"/>
                <a:tab pos="1384935" algn="l"/>
              </a:tabLst>
            </a:pPr>
            <a:r>
              <a:rPr sz="2800" spc="-114" dirty="0">
                <a:latin typeface="Tahoma"/>
                <a:cs typeface="Tahoma"/>
              </a:rPr>
              <a:t>Transistor-Transistor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Logic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(TTL)</a:t>
            </a:r>
            <a:endParaRPr sz="2800">
              <a:latin typeface="Tahoma"/>
              <a:cs typeface="Tahoma"/>
            </a:endParaRPr>
          </a:p>
          <a:p>
            <a:pPr marL="1384300" marR="238125" lvl="1" indent="-457200">
              <a:lnSpc>
                <a:spcPct val="100000"/>
              </a:lnSpc>
              <a:spcBef>
                <a:spcPts val="605"/>
              </a:spcBef>
              <a:buFont typeface="Wingdings"/>
              <a:buChar char=""/>
              <a:tabLst>
                <a:tab pos="1384300" algn="l"/>
                <a:tab pos="1384935" algn="l"/>
              </a:tabLst>
            </a:pPr>
            <a:r>
              <a:rPr sz="2800" spc="30" dirty="0">
                <a:latin typeface="Tahoma"/>
                <a:cs typeface="Tahoma"/>
              </a:rPr>
              <a:t>Complementary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Metal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90" dirty="0">
                <a:latin typeface="Tahoma"/>
                <a:cs typeface="Tahoma"/>
              </a:rPr>
              <a:t>Oxide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Semiconductor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Logic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(CMOS)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26101"/>
            <a:ext cx="8377555" cy="513715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R="52069" algn="ctr">
              <a:lnSpc>
                <a:spcPct val="100000"/>
              </a:lnSpc>
              <a:spcBef>
                <a:spcPts val="1060"/>
              </a:spcBef>
            </a:pPr>
            <a:r>
              <a:rPr sz="2000" spc="45" dirty="0">
                <a:solidFill>
                  <a:srgbClr val="C00000"/>
                </a:solidFill>
                <a:latin typeface="Tahoma"/>
                <a:cs typeface="Tahoma"/>
              </a:rPr>
              <a:t>DIODE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C00000"/>
                </a:solidFill>
                <a:latin typeface="Tahoma"/>
                <a:cs typeface="Tahoma"/>
              </a:rPr>
              <a:t>(DL)</a:t>
            </a:r>
            <a:endParaRPr sz="20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34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Diode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logic,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all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implemented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use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resistors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diodes.</a:t>
            </a:r>
            <a:endParaRPr sz="2800">
              <a:latin typeface="Tahoma"/>
              <a:cs typeface="Tahoma"/>
            </a:endParaRPr>
          </a:p>
          <a:p>
            <a:pPr marL="476884" marR="5715" indent="-464820" algn="just">
              <a:lnSpc>
                <a:spcPct val="100000"/>
              </a:lnSpc>
              <a:spcBef>
                <a:spcPts val="168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diode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logic,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purpose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diodes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perform </a:t>
            </a:r>
            <a:r>
              <a:rPr sz="2800" spc="204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229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operations.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It is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essential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diode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forward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biased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so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it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conduct.</a:t>
            </a:r>
            <a:endParaRPr sz="28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Disadvantage:</a:t>
            </a:r>
            <a:endParaRPr sz="2800">
              <a:latin typeface="Tahoma"/>
              <a:cs typeface="Tahoma"/>
            </a:endParaRPr>
          </a:p>
          <a:p>
            <a:pPr marL="934719" lvl="1" indent="-465455">
              <a:lnSpc>
                <a:spcPct val="100000"/>
              </a:lnSpc>
              <a:spcBef>
                <a:spcPts val="20"/>
              </a:spcBef>
              <a:buClr>
                <a:srgbClr val="E36C09"/>
              </a:buClr>
              <a:buFont typeface="Wingdings"/>
              <a:buChar char=""/>
              <a:tabLst>
                <a:tab pos="934719" algn="l"/>
                <a:tab pos="935355" algn="l"/>
              </a:tabLst>
            </a:pPr>
            <a:r>
              <a:rPr sz="2400" spc="-10" dirty="0">
                <a:solidFill>
                  <a:srgbClr val="006FC0"/>
                </a:solidFill>
                <a:latin typeface="Tahoma"/>
                <a:cs typeface="Tahoma"/>
              </a:rPr>
              <a:t>they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Tahoma"/>
                <a:cs typeface="Tahoma"/>
              </a:rPr>
              <a:t>tend</a:t>
            </a:r>
            <a:r>
              <a:rPr sz="24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degrade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75" dirty="0">
                <a:solidFill>
                  <a:srgbClr val="006FC0"/>
                </a:solidFill>
                <a:latin typeface="Tahoma"/>
                <a:cs typeface="Tahoma"/>
              </a:rPr>
              <a:t>signals</a:t>
            </a:r>
            <a:r>
              <a:rPr sz="24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Tahoma"/>
                <a:cs typeface="Tahoma"/>
              </a:rPr>
              <a:t>quickly.</a:t>
            </a:r>
            <a:endParaRPr sz="2400">
              <a:latin typeface="Tahoma"/>
              <a:cs typeface="Tahoma"/>
            </a:endParaRPr>
          </a:p>
          <a:p>
            <a:pPr marL="927100" lvl="1" indent="-457834">
              <a:lnSpc>
                <a:spcPct val="100000"/>
              </a:lnSpc>
              <a:buClr>
                <a:srgbClr val="E36C09"/>
              </a:buClr>
              <a:buFont typeface="Wingdings"/>
              <a:buChar char=""/>
              <a:tabLst>
                <a:tab pos="927100" algn="l"/>
                <a:tab pos="927735" algn="l"/>
              </a:tabLst>
            </a:pP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cannot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85" dirty="0">
                <a:solidFill>
                  <a:srgbClr val="006FC0"/>
                </a:solidFill>
                <a:latin typeface="Tahoma"/>
                <a:cs typeface="Tahoma"/>
              </a:rPr>
              <a:t>work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006FC0"/>
                </a:solidFill>
                <a:latin typeface="Tahoma"/>
                <a:cs typeface="Tahoma"/>
              </a:rPr>
              <a:t>multiple</a:t>
            </a:r>
            <a:r>
              <a:rPr sz="24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Tahoma"/>
                <a:cs typeface="Tahoma"/>
              </a:rPr>
              <a:t>stages</a:t>
            </a:r>
            <a:endParaRPr sz="2400">
              <a:latin typeface="Tahoma"/>
              <a:cs typeface="Tahoma"/>
            </a:endParaRPr>
          </a:p>
          <a:p>
            <a:pPr marL="934719" lvl="1" indent="-465455">
              <a:lnSpc>
                <a:spcPct val="100000"/>
              </a:lnSpc>
              <a:buClr>
                <a:srgbClr val="E36C09"/>
              </a:buClr>
              <a:buFont typeface="Wingdings"/>
              <a:buChar char=""/>
              <a:tabLst>
                <a:tab pos="934719" algn="l"/>
                <a:tab pos="935355" algn="l"/>
              </a:tabLst>
            </a:pPr>
            <a:r>
              <a:rPr sz="2400" dirty="0">
                <a:solidFill>
                  <a:srgbClr val="006FC0"/>
                </a:solidFill>
                <a:latin typeface="Tahoma"/>
                <a:cs typeface="Tahoma"/>
              </a:rPr>
              <a:t>cannot</a:t>
            </a:r>
            <a:r>
              <a:rPr sz="24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0" dirty="0">
                <a:solidFill>
                  <a:srgbClr val="006FC0"/>
                </a:solidFill>
                <a:latin typeface="Tahoma"/>
                <a:cs typeface="Tahoma"/>
              </a:rPr>
              <a:t>perform</a:t>
            </a:r>
            <a:r>
              <a:rPr sz="24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4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25" dirty="0">
                <a:solidFill>
                  <a:srgbClr val="006FC0"/>
                </a:solidFill>
                <a:latin typeface="Tahoma"/>
                <a:cs typeface="Tahoma"/>
              </a:rPr>
              <a:t>NOT</a:t>
            </a:r>
            <a:r>
              <a:rPr sz="24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400" spc="25" dirty="0">
                <a:solidFill>
                  <a:srgbClr val="006FC0"/>
                </a:solidFill>
                <a:latin typeface="Tahoma"/>
                <a:cs typeface="Tahoma"/>
              </a:rPr>
              <a:t>operation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72390" algn="ctr">
              <a:lnSpc>
                <a:spcPct val="100000"/>
              </a:lnSpc>
              <a:spcBef>
                <a:spcPts val="940"/>
              </a:spcBef>
            </a:pPr>
            <a:r>
              <a:rPr spc="-45" dirty="0"/>
              <a:t>RESISTOR-TRANSISTOR</a:t>
            </a:r>
            <a:r>
              <a:rPr spc="-100" dirty="0"/>
              <a:t> </a:t>
            </a:r>
            <a:r>
              <a:rPr spc="65" dirty="0"/>
              <a:t>LOGIC</a:t>
            </a:r>
            <a:r>
              <a:rPr spc="-95" dirty="0"/>
              <a:t> </a:t>
            </a:r>
            <a:r>
              <a:rPr spc="-50" dirty="0"/>
              <a:t>(RTL)</a:t>
            </a:r>
          </a:p>
          <a:p>
            <a:pPr marL="476884" marR="5080" indent="-464820">
              <a:lnSpc>
                <a:spcPct val="100000"/>
              </a:lnSpc>
              <a:spcBef>
                <a:spcPts val="117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</a:rPr>
              <a:t>In</a:t>
            </a:r>
            <a:r>
              <a:rPr sz="2800" spc="-35" dirty="0">
                <a:solidFill>
                  <a:srgbClr val="006FC0"/>
                </a:solidFill>
              </a:rPr>
              <a:t> </a:t>
            </a:r>
            <a:r>
              <a:rPr sz="2800" spc="-65" dirty="0">
                <a:solidFill>
                  <a:srgbClr val="006FC0"/>
                </a:solidFill>
              </a:rPr>
              <a:t>RTL,</a:t>
            </a:r>
            <a:r>
              <a:rPr sz="2800" spc="-25" dirty="0">
                <a:solidFill>
                  <a:srgbClr val="006FC0"/>
                </a:solidFill>
              </a:rPr>
              <a:t> </a:t>
            </a:r>
            <a:r>
              <a:rPr sz="2800" spc="25" dirty="0">
                <a:solidFill>
                  <a:srgbClr val="006FC0"/>
                </a:solidFill>
              </a:rPr>
              <a:t>all</a:t>
            </a:r>
            <a:r>
              <a:rPr sz="2800" spc="-40" dirty="0">
                <a:solidFill>
                  <a:srgbClr val="006FC0"/>
                </a:solidFill>
              </a:rPr>
              <a:t> </a:t>
            </a:r>
            <a:r>
              <a:rPr sz="2800" spc="-45" dirty="0">
                <a:solidFill>
                  <a:srgbClr val="006FC0"/>
                </a:solidFill>
              </a:rPr>
              <a:t>the</a:t>
            </a:r>
            <a:r>
              <a:rPr sz="2800" spc="-40" dirty="0">
                <a:solidFill>
                  <a:srgbClr val="006FC0"/>
                </a:solidFill>
              </a:rPr>
              <a:t> </a:t>
            </a:r>
            <a:r>
              <a:rPr sz="2800" spc="10" dirty="0">
                <a:solidFill>
                  <a:srgbClr val="006FC0"/>
                </a:solidFill>
              </a:rPr>
              <a:t>logic</a:t>
            </a:r>
            <a:r>
              <a:rPr sz="2800" spc="-25" dirty="0">
                <a:solidFill>
                  <a:srgbClr val="006FC0"/>
                </a:solidFill>
              </a:rPr>
              <a:t> </a:t>
            </a:r>
            <a:r>
              <a:rPr sz="2800" spc="-114" dirty="0">
                <a:solidFill>
                  <a:srgbClr val="006FC0"/>
                </a:solidFill>
              </a:rPr>
              <a:t>is</a:t>
            </a:r>
            <a:r>
              <a:rPr sz="2800" spc="-20" dirty="0">
                <a:solidFill>
                  <a:srgbClr val="006FC0"/>
                </a:solidFill>
              </a:rPr>
              <a:t> </a:t>
            </a:r>
            <a:r>
              <a:rPr sz="2800" dirty="0">
                <a:solidFill>
                  <a:srgbClr val="006FC0"/>
                </a:solidFill>
              </a:rPr>
              <a:t>implemented</a:t>
            </a:r>
            <a:r>
              <a:rPr sz="2800" spc="-15" dirty="0">
                <a:solidFill>
                  <a:srgbClr val="006FC0"/>
                </a:solidFill>
              </a:rPr>
              <a:t> </a:t>
            </a:r>
            <a:r>
              <a:rPr sz="2800" spc="60" dirty="0">
                <a:solidFill>
                  <a:srgbClr val="006FC0"/>
                </a:solidFill>
              </a:rPr>
              <a:t>with</a:t>
            </a:r>
            <a:r>
              <a:rPr sz="2800" spc="-30" dirty="0">
                <a:solidFill>
                  <a:srgbClr val="006FC0"/>
                </a:solidFill>
              </a:rPr>
              <a:t> </a:t>
            </a:r>
            <a:r>
              <a:rPr sz="2800" spc="-50" dirty="0">
                <a:solidFill>
                  <a:srgbClr val="006FC0"/>
                </a:solidFill>
              </a:rPr>
              <a:t>the</a:t>
            </a:r>
            <a:r>
              <a:rPr sz="2800" spc="-35" dirty="0">
                <a:solidFill>
                  <a:srgbClr val="006FC0"/>
                </a:solidFill>
              </a:rPr>
              <a:t> </a:t>
            </a:r>
            <a:r>
              <a:rPr sz="2800" spc="-145" dirty="0">
                <a:solidFill>
                  <a:srgbClr val="006FC0"/>
                </a:solidFill>
              </a:rPr>
              <a:t>use</a:t>
            </a:r>
            <a:r>
              <a:rPr sz="2800" spc="-30" dirty="0">
                <a:solidFill>
                  <a:srgbClr val="006FC0"/>
                </a:solidFill>
              </a:rPr>
              <a:t> </a:t>
            </a:r>
            <a:r>
              <a:rPr sz="2800" spc="75" dirty="0">
                <a:solidFill>
                  <a:srgbClr val="006FC0"/>
                </a:solidFill>
              </a:rPr>
              <a:t>of </a:t>
            </a:r>
            <a:r>
              <a:rPr sz="2800" spc="-860" dirty="0">
                <a:solidFill>
                  <a:srgbClr val="006FC0"/>
                </a:solidFill>
              </a:rPr>
              <a:t> </a:t>
            </a:r>
            <a:r>
              <a:rPr sz="2800" spc="-65" dirty="0">
                <a:solidFill>
                  <a:srgbClr val="006FC0"/>
                </a:solidFill>
              </a:rPr>
              <a:t>transistors</a:t>
            </a:r>
            <a:r>
              <a:rPr sz="2800" spc="-90" dirty="0">
                <a:solidFill>
                  <a:srgbClr val="006FC0"/>
                </a:solidFill>
              </a:rPr>
              <a:t> </a:t>
            </a:r>
            <a:r>
              <a:rPr sz="2800" spc="5" dirty="0">
                <a:solidFill>
                  <a:srgbClr val="006FC0"/>
                </a:solidFill>
              </a:rPr>
              <a:t>and</a:t>
            </a:r>
            <a:r>
              <a:rPr sz="2800" spc="-55" dirty="0">
                <a:solidFill>
                  <a:srgbClr val="006FC0"/>
                </a:solidFill>
              </a:rPr>
              <a:t> </a:t>
            </a:r>
            <a:r>
              <a:rPr sz="2800" spc="-80" dirty="0">
                <a:solidFill>
                  <a:srgbClr val="006FC0"/>
                </a:solidFill>
              </a:rPr>
              <a:t>resistors.</a:t>
            </a:r>
            <a:endParaRPr sz="280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04837" y="3988244"/>
          <a:ext cx="4223381" cy="18539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BD4A47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R="29591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9525">
                      <a:solidFill>
                        <a:srgbClr val="BD4A47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77"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9525">
                      <a:solidFill>
                        <a:srgbClr val="BD4A47"/>
                      </a:solidFill>
                      <a:prstDash val="solid"/>
                    </a:lnL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051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241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OFF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OFF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R w="9525">
                      <a:solidFill>
                        <a:srgbClr val="BD4A47"/>
                      </a:solidFill>
                      <a:prstDash val="solid"/>
                    </a:lnR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BD4A47"/>
                      </a:solidFill>
                      <a:prstDash val="solid"/>
                    </a:lnL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765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241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OFF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BD4A47"/>
                      </a:solidFill>
                      <a:prstDash val="solid"/>
                    </a:lnL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051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OFF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10"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BD4A47"/>
                      </a:solidFill>
                      <a:prstDash val="solid"/>
                    </a:lnL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765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1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5181600" y="2362200"/>
            <a:ext cx="3657600" cy="4099560"/>
            <a:chOff x="5181600" y="2362200"/>
            <a:chExt cx="3657600" cy="409956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81600" y="2362200"/>
              <a:ext cx="3657600" cy="32857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72200" y="5937503"/>
              <a:ext cx="2503931" cy="524256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457313" y="2338197"/>
            <a:ext cx="1355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bet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w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255" y="1167130"/>
            <a:ext cx="6683375" cy="2049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12620">
              <a:lnSpc>
                <a:spcPct val="100000"/>
              </a:lnSpc>
              <a:spcBef>
                <a:spcPts val="105"/>
              </a:spcBef>
            </a:pP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RESISTOR-TRANSISTOR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(RTL)</a:t>
            </a:r>
            <a:endParaRPr sz="2000">
              <a:latin typeface="Tahoma"/>
              <a:cs typeface="Tahoma"/>
            </a:endParaRPr>
          </a:p>
          <a:p>
            <a:pPr marL="477520" indent="-465455">
              <a:lnSpc>
                <a:spcPct val="100000"/>
              </a:lnSpc>
              <a:spcBef>
                <a:spcPts val="9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  <a:tab pos="478155" algn="l"/>
              </a:tabLst>
            </a:pP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Advantages:</a:t>
            </a:r>
            <a:endParaRPr sz="2800">
              <a:latin typeface="Tahoma"/>
              <a:cs typeface="Tahoma"/>
            </a:endParaRPr>
          </a:p>
          <a:p>
            <a:pPr marL="934719" lvl="1" indent="-465455">
              <a:lnSpc>
                <a:spcPct val="100000"/>
              </a:lnSpc>
              <a:buClr>
                <a:srgbClr val="E36C09"/>
              </a:buClr>
              <a:buFont typeface="Wingdings"/>
              <a:buChar char=""/>
              <a:tabLst>
                <a:tab pos="934719" algn="l"/>
                <a:tab pos="935355" algn="l"/>
              </a:tabLst>
            </a:pP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105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ers</a:t>
            </a:r>
            <a:endParaRPr sz="2800">
              <a:latin typeface="Tahoma"/>
              <a:cs typeface="Tahoma"/>
            </a:endParaRPr>
          </a:p>
          <a:p>
            <a:pPr marL="934719" marR="5080" lvl="1" indent="-464820">
              <a:lnSpc>
                <a:spcPct val="100000"/>
              </a:lnSpc>
              <a:buClr>
                <a:srgbClr val="E36C09"/>
              </a:buClr>
              <a:buFont typeface="Wingdings"/>
              <a:buChar char=""/>
              <a:tabLst>
                <a:tab pos="934719" algn="l"/>
                <a:tab pos="935355" algn="l"/>
                <a:tab pos="1717675" algn="l"/>
                <a:tab pos="2579370" algn="l"/>
                <a:tab pos="3207385" algn="l"/>
                <a:tab pos="4159885" algn="l"/>
                <a:tab pos="4714875" algn="l"/>
                <a:tab pos="5345430" algn="l"/>
              </a:tabLst>
            </a:pP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al</a:t>
            </a:r>
            <a:r>
              <a:rPr sz="2800" spc="-13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15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85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04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nter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ace 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digital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linear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circuits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4040" y="3192017"/>
            <a:ext cx="8237220" cy="3218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4240" marR="508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"/>
              <a:tabLst>
                <a:tab pos="903605" algn="l"/>
                <a:tab pos="904240" algn="l"/>
                <a:tab pos="1652270" algn="l"/>
                <a:tab pos="2557780" algn="l"/>
                <a:tab pos="4283075" algn="l"/>
                <a:tab pos="5085080" algn="l"/>
                <a:tab pos="5781040" algn="l"/>
                <a:tab pos="6686550" algn="l"/>
                <a:tab pos="7893684" algn="l"/>
              </a:tabLst>
            </a:pP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x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pensi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nd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ar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v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8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pl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to 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construct</a:t>
            </a:r>
            <a:endParaRPr sz="2800">
              <a:latin typeface="Tahoma"/>
              <a:cs typeface="Tahoma"/>
            </a:endParaRPr>
          </a:p>
          <a:p>
            <a:pPr marL="477520" indent="-465455">
              <a:lnSpc>
                <a:spcPct val="100000"/>
              </a:lnSpc>
              <a:spcBef>
                <a:spcPts val="162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  <a:tab pos="478155" algn="l"/>
              </a:tabLst>
            </a:pP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Disadvantages:</a:t>
            </a:r>
            <a:endParaRPr sz="2800">
              <a:latin typeface="Tahoma"/>
              <a:cs typeface="Tahoma"/>
            </a:endParaRPr>
          </a:p>
          <a:p>
            <a:pPr marL="934719" marR="254000" lvl="1" indent="-464820">
              <a:lnSpc>
                <a:spcPct val="100000"/>
              </a:lnSpc>
              <a:buClr>
                <a:srgbClr val="E36C09"/>
              </a:buClr>
              <a:buFont typeface="Wingdings"/>
              <a:buChar char=""/>
              <a:tabLst>
                <a:tab pos="934719" algn="l"/>
                <a:tab pos="935355" algn="l"/>
                <a:tab pos="1888489" algn="l"/>
                <a:tab pos="3490595" algn="l"/>
                <a:tab pos="3885565" algn="l"/>
                <a:tab pos="5203825" algn="l"/>
                <a:tab pos="5718810" algn="l"/>
                <a:tab pos="7487284" algn="l"/>
              </a:tabLst>
            </a:pPr>
            <a:r>
              <a:rPr sz="2800" spc="-16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xt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ra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ran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sis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eed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50" dirty="0">
                <a:solidFill>
                  <a:srgbClr val="006FC0"/>
                </a:solidFill>
                <a:latin typeface="Tahoma"/>
                <a:cs typeface="Tahoma"/>
              </a:rPr>
              <a:t>-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mpl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 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signal</a:t>
            </a:r>
            <a:endParaRPr sz="2800">
              <a:latin typeface="Tahoma"/>
              <a:cs typeface="Tahoma"/>
            </a:endParaRPr>
          </a:p>
          <a:p>
            <a:pPr marL="934719" lvl="1" indent="-465455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"/>
              <a:tabLst>
                <a:tab pos="934719" algn="l"/>
                <a:tab pos="935355" algn="l"/>
              </a:tabLst>
            </a:pP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they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draw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great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amount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current</a:t>
            </a:r>
            <a:endParaRPr sz="2800">
              <a:latin typeface="Tahoma"/>
              <a:cs typeface="Tahoma"/>
            </a:endParaRPr>
          </a:p>
          <a:p>
            <a:pPr marL="934719" lvl="1" indent="-465455">
              <a:lnSpc>
                <a:spcPct val="100000"/>
              </a:lnSpc>
              <a:buClr>
                <a:srgbClr val="E36C09"/>
              </a:buClr>
              <a:buFont typeface="Wingdings"/>
              <a:buChar char=""/>
              <a:tabLst>
                <a:tab pos="934719" algn="l"/>
                <a:tab pos="935355" algn="l"/>
              </a:tabLst>
            </a:pP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they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cannot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switch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at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high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speeds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379969" y="1589912"/>
            <a:ext cx="13823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3795" algn="l"/>
              </a:tabLst>
            </a:pP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gic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540" y="2870454"/>
            <a:ext cx="8378825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DTL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has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some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advantages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over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DL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RTL. As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diodes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perform </a:t>
            </a:r>
            <a:r>
              <a:rPr sz="2800" spc="229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200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operations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but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along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transistor the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output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signal can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amplified.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DTL,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signal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restored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full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levels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if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we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add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transistor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at the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output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gates.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This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results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inversion.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540" y="1050082"/>
            <a:ext cx="6894830" cy="141859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2210435">
              <a:lnSpc>
                <a:spcPct val="100000"/>
              </a:lnSpc>
              <a:spcBef>
                <a:spcPts val="875"/>
              </a:spcBef>
            </a:pP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DIODE-TRANSISTOR</a:t>
            </a:r>
            <a:r>
              <a:rPr sz="2000" spc="-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(DTL)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107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196975" algn="l"/>
                <a:tab pos="4086860" algn="l"/>
                <a:tab pos="5328920" algn="l"/>
                <a:tab pos="610616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	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Diode-transistor	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logic,	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all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implemented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diodes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transistors.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6234" y="6644741"/>
            <a:ext cx="2504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55" dirty="0">
                <a:solidFill>
                  <a:srgbClr val="C00000"/>
                </a:solidFill>
                <a:latin typeface="Cambria"/>
                <a:cs typeface="Cambria"/>
              </a:rPr>
              <a:t>BECE102L</a:t>
            </a:r>
            <a:r>
              <a:rPr sz="1000" b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130" dirty="0">
                <a:solidFill>
                  <a:srgbClr val="C00000"/>
                </a:solidFill>
                <a:latin typeface="Trebuchet MS"/>
                <a:cs typeface="Trebuchet MS"/>
              </a:rPr>
              <a:t>–</a:t>
            </a:r>
            <a:r>
              <a:rPr sz="1000" b="1" spc="1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DIGITAL</a:t>
            </a:r>
            <a:r>
              <a:rPr sz="10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60" dirty="0">
                <a:solidFill>
                  <a:srgbClr val="C00000"/>
                </a:solidFill>
                <a:latin typeface="Cambria"/>
                <a:cs typeface="Cambria"/>
              </a:rPr>
              <a:t>SYSTEM</a:t>
            </a:r>
            <a:r>
              <a:rPr sz="10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DESIGN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39" y="6631330"/>
            <a:ext cx="1441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45" dirty="0">
                <a:solidFill>
                  <a:srgbClr val="C00000"/>
                </a:solidFill>
                <a:latin typeface="Cambria"/>
                <a:cs typeface="Cambria"/>
              </a:rPr>
              <a:t>UNIT-II</a:t>
            </a:r>
            <a:r>
              <a:rPr sz="1000" b="1" spc="11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40" dirty="0">
                <a:solidFill>
                  <a:srgbClr val="C00000"/>
                </a:solidFill>
                <a:latin typeface="Cambria"/>
                <a:cs typeface="Cambria"/>
              </a:rPr>
              <a:t>:</a:t>
            </a:r>
            <a:r>
              <a:rPr sz="1000" b="1" spc="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60" dirty="0">
                <a:solidFill>
                  <a:srgbClr val="C00000"/>
                </a:solidFill>
                <a:latin typeface="Cambria"/>
                <a:cs typeface="Cambria"/>
              </a:rPr>
              <a:t>LECTURE-11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R="69850" algn="ctr">
              <a:lnSpc>
                <a:spcPct val="100000"/>
              </a:lnSpc>
              <a:spcBef>
                <a:spcPts val="1475"/>
              </a:spcBef>
            </a:pPr>
            <a:r>
              <a:rPr spc="-10" dirty="0"/>
              <a:t>DIODE-TRANSISTOR</a:t>
            </a:r>
            <a:r>
              <a:rPr spc="-100" dirty="0"/>
              <a:t> </a:t>
            </a:r>
            <a:r>
              <a:rPr spc="65" dirty="0"/>
              <a:t>LOGIC</a:t>
            </a:r>
            <a:r>
              <a:rPr spc="-90" dirty="0"/>
              <a:t> </a:t>
            </a:r>
            <a:r>
              <a:rPr spc="-10" dirty="0"/>
              <a:t>(DTL)</a:t>
            </a:r>
          </a:p>
          <a:p>
            <a:pPr marL="476884" marR="5080" indent="-464820" algn="just">
              <a:lnSpc>
                <a:spcPct val="100000"/>
              </a:lnSpc>
              <a:spcBef>
                <a:spcPts val="192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0" dirty="0">
                <a:solidFill>
                  <a:srgbClr val="006FC0"/>
                </a:solidFill>
              </a:rPr>
              <a:t>Another</a:t>
            </a:r>
            <a:r>
              <a:rPr sz="2800" spc="35" dirty="0">
                <a:solidFill>
                  <a:srgbClr val="006FC0"/>
                </a:solidFill>
              </a:rPr>
              <a:t> </a:t>
            </a:r>
            <a:r>
              <a:rPr sz="2800" spc="-35" dirty="0">
                <a:solidFill>
                  <a:srgbClr val="006FC0"/>
                </a:solidFill>
              </a:rPr>
              <a:t>advantage</a:t>
            </a:r>
            <a:r>
              <a:rPr sz="2800" spc="-30" dirty="0">
                <a:solidFill>
                  <a:srgbClr val="006FC0"/>
                </a:solidFill>
              </a:rPr>
              <a:t> </a:t>
            </a:r>
            <a:r>
              <a:rPr sz="2800" spc="65" dirty="0">
                <a:solidFill>
                  <a:srgbClr val="006FC0"/>
                </a:solidFill>
              </a:rPr>
              <a:t>of</a:t>
            </a:r>
            <a:r>
              <a:rPr sz="2800" spc="70" dirty="0">
                <a:solidFill>
                  <a:srgbClr val="006FC0"/>
                </a:solidFill>
              </a:rPr>
              <a:t> </a:t>
            </a:r>
            <a:r>
              <a:rPr sz="2800" spc="25" dirty="0">
                <a:solidFill>
                  <a:srgbClr val="006FC0"/>
                </a:solidFill>
              </a:rPr>
              <a:t>DTL</a:t>
            </a:r>
            <a:r>
              <a:rPr sz="2800" spc="30" dirty="0">
                <a:solidFill>
                  <a:srgbClr val="006FC0"/>
                </a:solidFill>
              </a:rPr>
              <a:t> </a:t>
            </a:r>
            <a:r>
              <a:rPr sz="2800" spc="-114" dirty="0">
                <a:solidFill>
                  <a:srgbClr val="006FC0"/>
                </a:solidFill>
              </a:rPr>
              <a:t>is</a:t>
            </a:r>
            <a:r>
              <a:rPr sz="2800" spc="650" dirty="0">
                <a:solidFill>
                  <a:srgbClr val="006FC0"/>
                </a:solidFill>
              </a:rPr>
              <a:t> </a:t>
            </a:r>
            <a:r>
              <a:rPr sz="2800" spc="-35" dirty="0">
                <a:solidFill>
                  <a:srgbClr val="006FC0"/>
                </a:solidFill>
              </a:rPr>
              <a:t>that</a:t>
            </a:r>
            <a:r>
              <a:rPr sz="2800" spc="-30" dirty="0">
                <a:solidFill>
                  <a:srgbClr val="006FC0"/>
                </a:solidFill>
              </a:rPr>
              <a:t> </a:t>
            </a:r>
            <a:r>
              <a:rPr sz="2800" spc="-50" dirty="0">
                <a:solidFill>
                  <a:srgbClr val="006FC0"/>
                </a:solidFill>
              </a:rPr>
              <a:t>the</a:t>
            </a:r>
            <a:r>
              <a:rPr sz="2800" spc="-45" dirty="0">
                <a:solidFill>
                  <a:srgbClr val="006FC0"/>
                </a:solidFill>
              </a:rPr>
              <a:t> </a:t>
            </a:r>
            <a:r>
              <a:rPr sz="2800" spc="210" dirty="0">
                <a:solidFill>
                  <a:srgbClr val="006FC0"/>
                </a:solidFill>
              </a:rPr>
              <a:t>OR </a:t>
            </a:r>
            <a:r>
              <a:rPr sz="2800" spc="215" dirty="0">
                <a:solidFill>
                  <a:srgbClr val="006FC0"/>
                </a:solidFill>
              </a:rPr>
              <a:t> </a:t>
            </a:r>
            <a:r>
              <a:rPr sz="2800" spc="30" dirty="0">
                <a:solidFill>
                  <a:srgbClr val="006FC0"/>
                </a:solidFill>
              </a:rPr>
              <a:t>operation </a:t>
            </a:r>
            <a:r>
              <a:rPr sz="2800" spc="-60" dirty="0">
                <a:solidFill>
                  <a:srgbClr val="006FC0"/>
                </a:solidFill>
              </a:rPr>
              <a:t>can </a:t>
            </a:r>
            <a:r>
              <a:rPr sz="2800" spc="-50" dirty="0">
                <a:solidFill>
                  <a:srgbClr val="006FC0"/>
                </a:solidFill>
              </a:rPr>
              <a:t>be </a:t>
            </a:r>
            <a:r>
              <a:rPr sz="2800" spc="10" dirty="0">
                <a:solidFill>
                  <a:srgbClr val="006FC0"/>
                </a:solidFill>
              </a:rPr>
              <a:t>performed </a:t>
            </a:r>
            <a:r>
              <a:rPr sz="2800" spc="35" dirty="0">
                <a:solidFill>
                  <a:srgbClr val="006FC0"/>
                </a:solidFill>
              </a:rPr>
              <a:t>by </a:t>
            </a:r>
            <a:r>
              <a:rPr sz="2800" spc="-50" dirty="0">
                <a:solidFill>
                  <a:srgbClr val="006FC0"/>
                </a:solidFill>
              </a:rPr>
              <a:t>the </a:t>
            </a:r>
            <a:r>
              <a:rPr sz="2800" spc="-5" dirty="0">
                <a:solidFill>
                  <a:srgbClr val="006FC0"/>
                </a:solidFill>
              </a:rPr>
              <a:t>diodes </a:t>
            </a:r>
            <a:r>
              <a:rPr sz="2800" spc="-50" dirty="0">
                <a:solidFill>
                  <a:srgbClr val="006FC0"/>
                </a:solidFill>
              </a:rPr>
              <a:t>instead </a:t>
            </a:r>
            <a:r>
              <a:rPr sz="2800" spc="-860" dirty="0">
                <a:solidFill>
                  <a:srgbClr val="006FC0"/>
                </a:solidFill>
              </a:rPr>
              <a:t> </a:t>
            </a:r>
            <a:r>
              <a:rPr sz="2800" spc="70" dirty="0">
                <a:solidFill>
                  <a:srgbClr val="006FC0"/>
                </a:solidFill>
              </a:rPr>
              <a:t>of</a:t>
            </a:r>
            <a:r>
              <a:rPr sz="2800" spc="75" dirty="0">
                <a:solidFill>
                  <a:srgbClr val="006FC0"/>
                </a:solidFill>
              </a:rPr>
              <a:t> </a:t>
            </a:r>
            <a:r>
              <a:rPr sz="2800" spc="-80" dirty="0">
                <a:solidFill>
                  <a:srgbClr val="006FC0"/>
                </a:solidFill>
              </a:rPr>
              <a:t>resistors.</a:t>
            </a:r>
            <a:r>
              <a:rPr sz="2800" spc="-75" dirty="0">
                <a:solidFill>
                  <a:srgbClr val="006FC0"/>
                </a:solidFill>
              </a:rPr>
              <a:t> </a:t>
            </a:r>
            <a:r>
              <a:rPr sz="2800" spc="-20" dirty="0">
                <a:solidFill>
                  <a:srgbClr val="006FC0"/>
                </a:solidFill>
              </a:rPr>
              <a:t>But</a:t>
            </a:r>
            <a:r>
              <a:rPr sz="2800" spc="-15" dirty="0">
                <a:solidFill>
                  <a:srgbClr val="006FC0"/>
                </a:solidFill>
              </a:rPr>
              <a:t> </a:t>
            </a:r>
            <a:r>
              <a:rPr sz="2800" spc="-50" dirty="0">
                <a:solidFill>
                  <a:srgbClr val="006FC0"/>
                </a:solidFill>
              </a:rPr>
              <a:t>the</a:t>
            </a:r>
            <a:r>
              <a:rPr sz="2800" spc="-45" dirty="0">
                <a:solidFill>
                  <a:srgbClr val="006FC0"/>
                </a:solidFill>
              </a:rPr>
              <a:t> </a:t>
            </a:r>
            <a:r>
              <a:rPr sz="2800" spc="-25" dirty="0">
                <a:solidFill>
                  <a:srgbClr val="006FC0"/>
                </a:solidFill>
              </a:rPr>
              <a:t>switching</a:t>
            </a:r>
            <a:r>
              <a:rPr sz="2800" spc="-20" dirty="0">
                <a:solidFill>
                  <a:srgbClr val="006FC0"/>
                </a:solidFill>
              </a:rPr>
              <a:t> </a:t>
            </a:r>
            <a:r>
              <a:rPr sz="2800" spc="-70" dirty="0">
                <a:solidFill>
                  <a:srgbClr val="006FC0"/>
                </a:solidFill>
              </a:rPr>
              <a:t>speed</a:t>
            </a:r>
            <a:r>
              <a:rPr sz="2800" spc="-65" dirty="0">
                <a:solidFill>
                  <a:srgbClr val="006FC0"/>
                </a:solidFill>
              </a:rPr>
              <a:t> </a:t>
            </a:r>
            <a:r>
              <a:rPr sz="2800" spc="70" dirty="0">
                <a:solidFill>
                  <a:srgbClr val="006FC0"/>
                </a:solidFill>
              </a:rPr>
              <a:t>of</a:t>
            </a:r>
            <a:r>
              <a:rPr sz="2800" spc="75" dirty="0">
                <a:solidFill>
                  <a:srgbClr val="006FC0"/>
                </a:solidFill>
              </a:rPr>
              <a:t> </a:t>
            </a:r>
            <a:r>
              <a:rPr sz="2800" spc="-50" dirty="0">
                <a:solidFill>
                  <a:srgbClr val="006FC0"/>
                </a:solidFill>
              </a:rPr>
              <a:t>the </a:t>
            </a:r>
            <a:r>
              <a:rPr sz="2800" spc="-45" dirty="0">
                <a:solidFill>
                  <a:srgbClr val="006FC0"/>
                </a:solidFill>
              </a:rPr>
              <a:t> </a:t>
            </a:r>
            <a:r>
              <a:rPr sz="2800" spc="-40" dirty="0">
                <a:solidFill>
                  <a:srgbClr val="006FC0"/>
                </a:solidFill>
              </a:rPr>
              <a:t>transistor</a:t>
            </a:r>
            <a:r>
              <a:rPr sz="2800" spc="-90" dirty="0">
                <a:solidFill>
                  <a:srgbClr val="006FC0"/>
                </a:solidFill>
              </a:rPr>
              <a:t> </a:t>
            </a:r>
            <a:r>
              <a:rPr sz="2800" spc="-110" dirty="0">
                <a:solidFill>
                  <a:srgbClr val="006FC0"/>
                </a:solidFill>
              </a:rPr>
              <a:t>is</a:t>
            </a:r>
            <a:r>
              <a:rPr sz="2800" spc="-60" dirty="0">
                <a:solidFill>
                  <a:srgbClr val="006FC0"/>
                </a:solidFill>
              </a:rPr>
              <a:t> </a:t>
            </a:r>
            <a:r>
              <a:rPr sz="2800" spc="25" dirty="0">
                <a:solidFill>
                  <a:srgbClr val="006FC0"/>
                </a:solidFill>
              </a:rPr>
              <a:t>limited.</a:t>
            </a:r>
            <a:endParaRPr sz="2800"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90615" y="3332988"/>
            <a:ext cx="3124199" cy="3098292"/>
          </a:xfrm>
          <a:prstGeom prst="rect">
            <a:avLst/>
          </a:prstGeom>
        </p:spPr>
      </p:pic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98450" y="3948557"/>
          <a:ext cx="5067300" cy="1854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FB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FB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OFF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FB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OFF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FB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OFF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DD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224152"/>
            <a:ext cx="8379459" cy="4937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9850" algn="ctr">
              <a:lnSpc>
                <a:spcPct val="100000"/>
              </a:lnSpc>
              <a:spcBef>
                <a:spcPts val="105"/>
              </a:spcBef>
            </a:pP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EMITTER-COUPLED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(ECL)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Emitter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coupled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logic,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transistors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prevented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going 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into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deep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saturation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so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that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there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no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storage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delays.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98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This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used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applications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high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speed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environment.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fact,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it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fastest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bi-polar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circuit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available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today.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This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family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bypasses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TTL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terms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speed.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2204" y="1113669"/>
            <a:ext cx="8376284" cy="144907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R="24130" algn="ctr">
              <a:lnSpc>
                <a:spcPct val="100000"/>
              </a:lnSpc>
              <a:spcBef>
                <a:spcPts val="969"/>
              </a:spcBef>
            </a:pPr>
            <a:r>
              <a:rPr sz="2000" spc="30" dirty="0">
                <a:solidFill>
                  <a:srgbClr val="C00000"/>
                </a:solidFill>
                <a:latin typeface="Tahoma"/>
                <a:cs typeface="Tahoma"/>
              </a:rPr>
              <a:t>EMITTER-COUPLED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C00000"/>
                </a:solidFill>
                <a:latin typeface="Tahoma"/>
                <a:cs typeface="Tahoma"/>
              </a:rPr>
              <a:t>(ECL)</a:t>
            </a:r>
            <a:endParaRPr sz="2000">
              <a:latin typeface="Tahoma"/>
              <a:cs typeface="Tahoma"/>
            </a:endParaRPr>
          </a:p>
          <a:p>
            <a:pPr marL="477520" marR="5080" indent="-464820">
              <a:lnSpc>
                <a:spcPct val="100000"/>
              </a:lnSpc>
              <a:spcBef>
                <a:spcPts val="121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248410" algn="l"/>
                <a:tab pos="2164715" algn="l"/>
                <a:tab pos="3201035" algn="l"/>
                <a:tab pos="3842385" algn="l"/>
                <a:tab pos="4612640" algn="l"/>
                <a:tab pos="5281295" algn="l"/>
                <a:tab pos="6863715" algn="l"/>
                <a:tab pos="7908925" algn="l"/>
              </a:tabLst>
            </a:pP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gic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lev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ls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EC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mall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55" dirty="0">
                <a:solidFill>
                  <a:srgbClr val="006FC0"/>
                </a:solidFill>
                <a:latin typeface="Tahoma"/>
                <a:cs typeface="Tahoma"/>
              </a:rPr>
              <a:t>-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0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.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9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 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high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Tahoma"/>
                <a:cs typeface="Tahoma"/>
              </a:rPr>
              <a:t>-1.6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60" dirty="0">
                <a:solidFill>
                  <a:srgbClr val="006FC0"/>
                </a:solidFill>
                <a:latin typeface="Tahoma"/>
                <a:cs typeface="Tahoma"/>
              </a:rPr>
              <a:t>low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logic.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0600" y="2877311"/>
            <a:ext cx="7315200" cy="344728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75945" y="5559958"/>
            <a:ext cx="2133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ECL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225" dirty="0">
                <a:latin typeface="Tahoma"/>
                <a:cs typeface="Tahoma"/>
              </a:rPr>
              <a:t>NOT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5" dirty="0">
                <a:latin typeface="Tahoma"/>
                <a:cs typeface="Tahoma"/>
              </a:rPr>
              <a:t>GATE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58688"/>
            <a:ext cx="8378825" cy="51828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R="76835" algn="ctr">
              <a:lnSpc>
                <a:spcPct val="100000"/>
              </a:lnSpc>
              <a:spcBef>
                <a:spcPts val="620"/>
              </a:spcBef>
            </a:pPr>
            <a:r>
              <a:rPr sz="2000" spc="-15" dirty="0">
                <a:solidFill>
                  <a:srgbClr val="C00000"/>
                </a:solidFill>
                <a:latin typeface="Tahoma"/>
                <a:cs typeface="Tahoma"/>
              </a:rPr>
              <a:t>TRANSISTOR-TRANSISTOR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(TTL)</a:t>
            </a:r>
            <a:endParaRPr sz="2000">
              <a:latin typeface="Tahoma"/>
              <a:cs typeface="Tahoma"/>
            </a:endParaRPr>
          </a:p>
          <a:p>
            <a:pPr marL="476884" marR="7620" indent="-464820" algn="just">
              <a:lnSpc>
                <a:spcPct val="100000"/>
              </a:lnSpc>
              <a:spcBef>
                <a:spcPts val="71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TTL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has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become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standard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circuit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many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application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for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number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years.</a:t>
            </a:r>
            <a:endParaRPr sz="28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68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TTL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greatly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decreases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manufacturing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costs 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because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multiple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emitters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added  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in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input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so </a:t>
            </a:r>
            <a:r>
              <a:rPr sz="2800" spc="85" dirty="0">
                <a:solidFill>
                  <a:srgbClr val="006FC0"/>
                </a:solidFill>
                <a:latin typeface="Tahoma"/>
                <a:cs typeface="Tahoma"/>
              </a:rPr>
              <a:t>no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extra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space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needed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multiple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 input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can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constructed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easily.</a:t>
            </a:r>
            <a:endParaRPr sz="2800">
              <a:latin typeface="Tahoma"/>
              <a:cs typeface="Tahoma"/>
            </a:endParaRPr>
          </a:p>
          <a:p>
            <a:pPr marL="476884" marR="6350" indent="-464820" algn="just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A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commercial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IC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package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TTL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includes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three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three-input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gates,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four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two-input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gates,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or 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two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four-input </a:t>
            </a:r>
            <a:r>
              <a:rPr sz="2800" spc="-110" dirty="0">
                <a:solidFill>
                  <a:srgbClr val="006FC0"/>
                </a:solidFill>
                <a:latin typeface="Tahoma"/>
                <a:cs typeface="Tahoma"/>
              </a:rPr>
              <a:t>gates.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structure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IC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always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remains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same.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49551"/>
            <a:ext cx="8376920" cy="5017135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R="74930" algn="ctr">
              <a:lnSpc>
                <a:spcPct val="100000"/>
              </a:lnSpc>
              <a:spcBef>
                <a:spcPts val="1475"/>
              </a:spcBef>
            </a:pPr>
            <a:r>
              <a:rPr sz="2000" spc="-15" dirty="0">
                <a:solidFill>
                  <a:srgbClr val="C00000"/>
                </a:solidFill>
                <a:latin typeface="Tahoma"/>
                <a:cs typeface="Tahoma"/>
              </a:rPr>
              <a:t>TRANSISTOR-TRANSISTOR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(TTL)</a:t>
            </a:r>
            <a:endParaRPr sz="20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192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007744" algn="l"/>
                <a:tab pos="4168775" algn="l"/>
                <a:tab pos="5222240" algn="l"/>
                <a:tab pos="5934075" algn="l"/>
                <a:tab pos="6886575" algn="l"/>
                <a:tab pos="7883525" algn="l"/>
              </a:tabLst>
            </a:pP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trans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17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55" dirty="0">
                <a:solidFill>
                  <a:srgbClr val="006FC0"/>
                </a:solidFill>
                <a:latin typeface="Tahoma"/>
                <a:cs typeface="Tahoma"/>
              </a:rPr>
              <a:t>-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35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is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lo</a:t>
            </a:r>
            <a:r>
              <a:rPr sz="2800" spc="5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ic,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gic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ate</a:t>
            </a:r>
            <a:r>
              <a:rPr sz="2800" spc="-12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 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constructed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around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transistors.</a:t>
            </a:r>
            <a:endParaRPr sz="2800">
              <a:latin typeface="Tahoma"/>
              <a:cs typeface="Tahoma"/>
            </a:endParaRPr>
          </a:p>
          <a:p>
            <a:pPr marL="476884" marR="5080" indent="-464820">
              <a:lnSpc>
                <a:spcPct val="100000"/>
              </a:lnSpc>
              <a:spcBef>
                <a:spcPts val="168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403985" algn="l"/>
                <a:tab pos="2344420" algn="l"/>
                <a:tab pos="3780154" algn="l"/>
                <a:tab pos="5648960" algn="l"/>
                <a:tab pos="6308725" algn="l"/>
                <a:tab pos="8032750" algn="l"/>
              </a:tabLst>
            </a:pPr>
            <a:r>
              <a:rPr sz="2800" spc="9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85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22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-18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105" dirty="0">
                <a:solidFill>
                  <a:srgbClr val="006FC0"/>
                </a:solidFill>
                <a:latin typeface="Tahoma"/>
                <a:cs typeface="Tahoma"/>
              </a:rPr>
              <a:t>p</a:t>
            </a:r>
            <a:r>
              <a:rPr sz="2800" spc="16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sist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150" dirty="0">
                <a:solidFill>
                  <a:srgbClr val="006FC0"/>
                </a:solidFill>
                <a:latin typeface="Tahoma"/>
                <a:cs typeface="Tahoma"/>
              </a:rPr>
              <a:t>rs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onst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uct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235" dirty="0">
                <a:solidFill>
                  <a:srgbClr val="006FC0"/>
                </a:solidFill>
                <a:latin typeface="Tahoma"/>
                <a:cs typeface="Tahoma"/>
              </a:rPr>
              <a:t>s 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integrated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circuits.</a:t>
            </a:r>
            <a:endParaRPr sz="2800">
              <a:latin typeface="Tahoma"/>
              <a:cs typeface="Tahoma"/>
            </a:endParaRPr>
          </a:p>
          <a:p>
            <a:pPr marL="477520" indent="-464820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There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have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been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different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versions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TTL:</a:t>
            </a:r>
            <a:endParaRPr sz="2800">
              <a:latin typeface="Tahoma"/>
              <a:cs typeface="Tahoma"/>
            </a:endParaRPr>
          </a:p>
          <a:p>
            <a:pPr marL="1209675" lvl="1" indent="-283210">
              <a:lnSpc>
                <a:spcPct val="100000"/>
              </a:lnSpc>
              <a:buSzPct val="96428"/>
              <a:buFont typeface="Wingdings"/>
              <a:buChar char=""/>
              <a:tabLst>
                <a:tab pos="1210310" algn="l"/>
              </a:tabLst>
            </a:pP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Standard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TTL.</a:t>
            </a:r>
            <a:endParaRPr sz="2800">
              <a:latin typeface="Tahoma"/>
              <a:cs typeface="Tahoma"/>
            </a:endParaRPr>
          </a:p>
          <a:p>
            <a:pPr marL="1210310" lvl="1" indent="-283845">
              <a:lnSpc>
                <a:spcPct val="100000"/>
              </a:lnSpc>
              <a:buSzPct val="96428"/>
              <a:buFont typeface="Wingdings"/>
              <a:buChar char=""/>
              <a:tabLst>
                <a:tab pos="1210945" algn="l"/>
              </a:tabLst>
            </a:pP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High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speed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TTL.</a:t>
            </a:r>
            <a:endParaRPr sz="2800">
              <a:latin typeface="Tahoma"/>
              <a:cs typeface="Tahoma"/>
            </a:endParaRPr>
          </a:p>
          <a:p>
            <a:pPr marL="1209675" lvl="1" indent="-283210">
              <a:lnSpc>
                <a:spcPct val="100000"/>
              </a:lnSpc>
              <a:spcBef>
                <a:spcPts val="5"/>
              </a:spcBef>
              <a:buSzPct val="96428"/>
              <a:buFont typeface="Wingdings"/>
              <a:buChar char=""/>
              <a:tabLst>
                <a:tab pos="1210310" algn="l"/>
              </a:tabLst>
            </a:pPr>
            <a:r>
              <a:rPr sz="2800" spc="100" dirty="0">
                <a:solidFill>
                  <a:srgbClr val="006FC0"/>
                </a:solidFill>
                <a:latin typeface="Tahoma"/>
                <a:cs typeface="Tahoma"/>
              </a:rPr>
              <a:t>Low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power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TTL.</a:t>
            </a:r>
            <a:endParaRPr sz="2800">
              <a:latin typeface="Tahoma"/>
              <a:cs typeface="Tahoma"/>
            </a:endParaRPr>
          </a:p>
          <a:p>
            <a:pPr marL="1209675" lvl="1" indent="-283210">
              <a:lnSpc>
                <a:spcPct val="100000"/>
              </a:lnSpc>
              <a:buSzPct val="96428"/>
              <a:buFont typeface="Wingdings"/>
              <a:buChar char=""/>
              <a:tabLst>
                <a:tab pos="1210310" algn="l"/>
              </a:tabLst>
            </a:pP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Schcottky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TTL.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80" dirty="0">
                <a:latin typeface="Trebuchet MS"/>
                <a:cs typeface="Trebuchet MS"/>
              </a:rPr>
              <a:t>R</a:t>
            </a:r>
            <a:r>
              <a:rPr sz="3200" b="1" spc="-120" dirty="0">
                <a:latin typeface="Trebuchet MS"/>
                <a:cs typeface="Trebuchet MS"/>
              </a:rPr>
              <a:t>EV</a:t>
            </a:r>
            <a:r>
              <a:rPr sz="3200" b="1" spc="-55" dirty="0">
                <a:latin typeface="Trebuchet MS"/>
                <a:cs typeface="Trebuchet MS"/>
              </a:rPr>
              <a:t>I</a:t>
            </a:r>
            <a:r>
              <a:rPr sz="3200" b="1" spc="-220" dirty="0">
                <a:latin typeface="Trebuchet MS"/>
                <a:cs typeface="Trebuchet MS"/>
              </a:rPr>
              <a:t>EW</a:t>
            </a:r>
            <a:r>
              <a:rPr sz="3200" b="1" spc="-25" dirty="0">
                <a:latin typeface="Trebuchet MS"/>
                <a:cs typeface="Trebuchet MS"/>
              </a:rPr>
              <a:t> </a:t>
            </a:r>
            <a:r>
              <a:rPr sz="3200" b="1" spc="-220" dirty="0">
                <a:latin typeface="Trebuchet MS"/>
                <a:cs typeface="Trebuchet MS"/>
              </a:rPr>
              <a:t>OF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b="1" spc="-130" dirty="0">
                <a:latin typeface="Trebuchet MS"/>
                <a:cs typeface="Trebuchet MS"/>
              </a:rPr>
              <a:t>L</a:t>
            </a:r>
            <a:r>
              <a:rPr sz="3200" b="1" spc="-155" dirty="0">
                <a:latin typeface="Trebuchet MS"/>
                <a:cs typeface="Trebuchet MS"/>
              </a:rPr>
              <a:t>O</a:t>
            </a:r>
            <a:r>
              <a:rPr sz="3200" b="1" spc="-135" dirty="0">
                <a:latin typeface="Trebuchet MS"/>
                <a:cs typeface="Trebuchet MS"/>
              </a:rPr>
              <a:t>G</a:t>
            </a:r>
            <a:r>
              <a:rPr sz="3200" b="1" spc="30" dirty="0">
                <a:latin typeface="Trebuchet MS"/>
                <a:cs typeface="Trebuchet MS"/>
              </a:rPr>
              <a:t>IC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G</a:t>
            </a:r>
            <a:r>
              <a:rPr sz="3200" b="1" spc="-200" dirty="0">
                <a:latin typeface="Trebuchet MS"/>
                <a:cs typeface="Trebuchet MS"/>
              </a:rPr>
              <a:t>A</a:t>
            </a:r>
            <a:r>
              <a:rPr sz="3200" b="1" spc="-220" dirty="0">
                <a:latin typeface="Trebuchet MS"/>
                <a:cs typeface="Trebuchet MS"/>
              </a:rPr>
              <a:t>T</a:t>
            </a:r>
            <a:r>
              <a:rPr sz="3200" b="1" spc="-200" dirty="0">
                <a:latin typeface="Trebuchet MS"/>
                <a:cs typeface="Trebuchet MS"/>
              </a:rPr>
              <a:t>E</a:t>
            </a:r>
            <a:r>
              <a:rPr sz="3200" b="1" spc="-10" dirty="0">
                <a:latin typeface="Trebuchet MS"/>
                <a:cs typeface="Trebuchet MS"/>
              </a:rPr>
              <a:t> </a:t>
            </a:r>
            <a:r>
              <a:rPr sz="3200" b="1" spc="-270" dirty="0">
                <a:latin typeface="Trebuchet MS"/>
                <a:cs typeface="Trebuchet MS"/>
              </a:rPr>
              <a:t>F</a:t>
            </a:r>
            <a:r>
              <a:rPr sz="3200" b="1" spc="-290" dirty="0">
                <a:latin typeface="Trebuchet MS"/>
                <a:cs typeface="Trebuchet MS"/>
              </a:rPr>
              <a:t>A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15" dirty="0">
                <a:latin typeface="Trebuchet MS"/>
                <a:cs typeface="Trebuchet MS"/>
              </a:rPr>
              <a:t>ILIES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7358" y="1224152"/>
            <a:ext cx="45866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solidFill>
                  <a:srgbClr val="C00000"/>
                </a:solidFill>
                <a:latin typeface="Tahoma"/>
                <a:cs typeface="Tahoma"/>
              </a:rPr>
              <a:t>TRANSISTOR-TRANSISTOR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Tahoma"/>
                <a:cs typeface="Tahoma"/>
              </a:rPr>
              <a:t>(TTL)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2624" y="1752600"/>
            <a:ext cx="6931152" cy="46482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26282"/>
            <a:ext cx="8378825" cy="525970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875"/>
              </a:spcBef>
            </a:pP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CMOS</a:t>
            </a:r>
            <a:r>
              <a:rPr sz="2000" spc="-11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endParaRPr sz="2000">
              <a:latin typeface="Tahoma"/>
              <a:cs typeface="Tahoma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07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70" dirty="0">
                <a:solidFill>
                  <a:srgbClr val="006FC0"/>
                </a:solidFill>
                <a:latin typeface="Tahoma"/>
                <a:cs typeface="Tahoma"/>
              </a:rPr>
              <a:t>CMOS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known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for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its </a:t>
            </a:r>
            <a:r>
              <a:rPr sz="2800" spc="150" dirty="0">
                <a:solidFill>
                  <a:srgbClr val="006FC0"/>
                </a:solidFill>
                <a:latin typeface="Tahoma"/>
                <a:cs typeface="Tahoma"/>
              </a:rPr>
              <a:t>low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power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consumption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high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fan-out. </a:t>
            </a:r>
            <a:r>
              <a:rPr sz="2800" spc="-125" dirty="0">
                <a:solidFill>
                  <a:srgbClr val="006FC0"/>
                </a:solidFill>
                <a:latin typeface="Tahoma"/>
                <a:cs typeface="Tahoma"/>
              </a:rPr>
              <a:t>It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is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also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considered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be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one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most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reliable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logic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family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today.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98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transistors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inside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CMOS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made 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from 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an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25" dirty="0">
                <a:solidFill>
                  <a:srgbClr val="006FC0"/>
                </a:solidFill>
                <a:latin typeface="Tahoma"/>
                <a:cs typeface="Tahoma"/>
              </a:rPr>
              <a:t>NMOS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transistor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25" dirty="0">
                <a:solidFill>
                  <a:srgbClr val="006FC0"/>
                </a:solidFill>
                <a:latin typeface="Tahoma"/>
                <a:cs typeface="Tahoma"/>
              </a:rPr>
              <a:t>PMOS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transistor.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2750">
              <a:latin typeface="Tahoma"/>
              <a:cs typeface="Tahoma"/>
            </a:endParaRPr>
          </a:p>
          <a:p>
            <a:pPr marL="476884" marR="698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To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realize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logical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functions,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both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P-type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and </a:t>
            </a:r>
            <a:r>
              <a:rPr sz="2800" spc="105" dirty="0">
                <a:solidFill>
                  <a:srgbClr val="006FC0"/>
                </a:solidFill>
                <a:latin typeface="Tahoma"/>
                <a:cs typeface="Tahoma"/>
              </a:rPr>
              <a:t>N-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type 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transistors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used. 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It is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currently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being 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used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microprocessor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technology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Application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Specific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Integrated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Circuits(ASIC).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26282"/>
            <a:ext cx="8377555" cy="264985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875"/>
              </a:spcBef>
            </a:pP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CMOS</a:t>
            </a:r>
            <a:r>
              <a:rPr sz="2000" spc="-11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LOGIC</a:t>
            </a:r>
            <a:endParaRPr sz="20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1070"/>
              </a:spcBef>
              <a:buClr>
                <a:srgbClr val="E36C09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2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gate</a:t>
            </a:r>
            <a:r>
              <a:rPr sz="2800" spc="2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of</a:t>
            </a:r>
            <a:r>
              <a:rPr sz="2800" spc="2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2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70" dirty="0">
                <a:solidFill>
                  <a:srgbClr val="006FC0"/>
                </a:solidFill>
                <a:latin typeface="Tahoma"/>
                <a:cs typeface="Tahoma"/>
              </a:rPr>
              <a:t>MOS</a:t>
            </a: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transistor</a:t>
            </a:r>
            <a:r>
              <a:rPr sz="2800" spc="2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controls</a:t>
            </a:r>
            <a:r>
              <a:rPr sz="2800" spc="2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2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5" dirty="0">
                <a:solidFill>
                  <a:srgbClr val="006FC0"/>
                </a:solidFill>
                <a:latin typeface="Tahoma"/>
                <a:cs typeface="Tahoma"/>
              </a:rPr>
              <a:t>flow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current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between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drain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source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E36C09"/>
              </a:buClr>
              <a:buFont typeface="Wingdings"/>
              <a:buChar char=""/>
            </a:pPr>
            <a:endParaRPr sz="245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355600" algn="l"/>
                <a:tab pos="1152525" algn="l"/>
                <a:tab pos="2158365" algn="l"/>
                <a:tab pos="3792220" algn="l"/>
                <a:tab pos="4536440" algn="l"/>
                <a:tab pos="5123180" algn="l"/>
                <a:tab pos="6468745" algn="l"/>
                <a:tab pos="6984365" algn="l"/>
                <a:tab pos="7376159" algn="l"/>
              </a:tabLst>
            </a:pP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509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OS	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35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2800" spc="-9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isto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r	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ca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120" dirty="0">
                <a:solidFill>
                  <a:srgbClr val="006FC0"/>
                </a:solidFill>
                <a:latin typeface="Tahoma"/>
                <a:cs typeface="Tahoma"/>
              </a:rPr>
              <a:t>v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wed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9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70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si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ple  </a:t>
            </a:r>
            <a:r>
              <a:rPr sz="2800" spc="180" dirty="0">
                <a:solidFill>
                  <a:srgbClr val="006FC0"/>
                </a:solidFill>
                <a:latin typeface="Tahoma"/>
                <a:cs typeface="Tahoma"/>
              </a:rPr>
              <a:t>ON/OFF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switch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59939" y="4025900"/>
            <a:ext cx="5054600" cy="2348230"/>
            <a:chOff x="2059939" y="4025900"/>
            <a:chExt cx="5054600" cy="234823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2639" y="4038600"/>
              <a:ext cx="5029200" cy="23225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066289" y="4032250"/>
              <a:ext cx="5041900" cy="2335530"/>
            </a:xfrm>
            <a:custGeom>
              <a:avLst/>
              <a:gdLst/>
              <a:ahLst/>
              <a:cxnLst/>
              <a:rect l="l" t="t" r="r" b="b"/>
              <a:pathLst>
                <a:path w="5041900" h="2335529">
                  <a:moveTo>
                    <a:pt x="0" y="2335276"/>
                  </a:moveTo>
                  <a:lnTo>
                    <a:pt x="5041900" y="2335276"/>
                  </a:lnTo>
                  <a:lnTo>
                    <a:pt x="5041900" y="0"/>
                  </a:lnTo>
                  <a:lnTo>
                    <a:pt x="0" y="0"/>
                  </a:lnTo>
                  <a:lnTo>
                    <a:pt x="0" y="233527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56866"/>
            <a:ext cx="8377555" cy="527177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630"/>
              </a:spcBef>
            </a:pP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MO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ve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ter</a:t>
            </a:r>
            <a:endParaRPr sz="2000">
              <a:latin typeface="Tahoma"/>
              <a:cs typeface="Tahoma"/>
            </a:endParaRPr>
          </a:p>
          <a:p>
            <a:pPr marL="469900" marR="5080" indent="-457200">
              <a:lnSpc>
                <a:spcPts val="3020"/>
              </a:lnSpc>
              <a:spcBef>
                <a:spcPts val="1120"/>
              </a:spcBef>
              <a:buClr>
                <a:srgbClr val="E36C09"/>
              </a:buClr>
              <a:buFont typeface="Wingdings"/>
              <a:buChar char=""/>
              <a:tabLst>
                <a:tab pos="469265" algn="l"/>
                <a:tab pos="469900" algn="l"/>
                <a:tab pos="1677035" algn="l"/>
                <a:tab pos="2630805" algn="l"/>
                <a:tab pos="3292475" algn="l"/>
                <a:tab pos="4167504" algn="l"/>
                <a:tab pos="5461635" algn="l"/>
                <a:tab pos="6130290" algn="l"/>
                <a:tab pos="8037195" algn="l"/>
              </a:tabLst>
            </a:pPr>
            <a:r>
              <a:rPr sz="2800" spc="28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380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spc="36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35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14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140" dirty="0">
                <a:solidFill>
                  <a:srgbClr val="006FC0"/>
                </a:solidFill>
                <a:latin typeface="Tahoma"/>
                <a:cs typeface="Tahoma"/>
              </a:rPr>
              <a:t>tes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2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b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u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ilt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ou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d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echno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20" dirty="0">
                <a:solidFill>
                  <a:srgbClr val="006FC0"/>
                </a:solidFill>
                <a:latin typeface="Tahoma"/>
                <a:cs typeface="Tahoma"/>
              </a:rPr>
              <a:t>ogy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of 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basic </a:t>
            </a:r>
            <a:r>
              <a:rPr sz="2800" spc="170" dirty="0">
                <a:solidFill>
                  <a:srgbClr val="006FC0"/>
                </a:solidFill>
                <a:latin typeface="Tahoma"/>
                <a:cs typeface="Tahoma"/>
              </a:rPr>
              <a:t>CMOS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inverter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36C09"/>
              </a:buClr>
              <a:buFont typeface="Wingdings"/>
              <a:buChar char=""/>
            </a:pPr>
            <a:endParaRPr sz="3600">
              <a:latin typeface="Tahoma"/>
              <a:cs typeface="Tahoma"/>
            </a:endParaRPr>
          </a:p>
          <a:p>
            <a:pPr marL="469900" marR="6985" indent="-457200">
              <a:lnSpc>
                <a:spcPts val="3020"/>
              </a:lnSpc>
              <a:buClr>
                <a:srgbClr val="E36C09"/>
              </a:buClr>
              <a:buFont typeface="Wingdings"/>
              <a:buChar char=""/>
              <a:tabLst>
                <a:tab pos="469265" algn="l"/>
                <a:tab pos="469900" algn="l"/>
                <a:tab pos="5908040" algn="l"/>
              </a:tabLst>
            </a:pP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Two</a:t>
            </a:r>
            <a:r>
              <a:rPr sz="2800" spc="1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Transistors</a:t>
            </a:r>
            <a:r>
              <a:rPr sz="2800" spc="1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are</a:t>
            </a:r>
            <a:r>
              <a:rPr sz="2800" spc="1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enhancement	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mode</a:t>
            </a:r>
            <a:r>
              <a:rPr sz="2800" spc="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MOSFETs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" dirty="0">
                <a:solidFill>
                  <a:srgbClr val="006FC0"/>
                </a:solidFill>
                <a:latin typeface="Tahoma"/>
                <a:cs typeface="Tahoma"/>
              </a:rPr>
              <a:t>and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Transistors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come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006FC0"/>
                </a:solidFill>
                <a:latin typeface="Tahoma"/>
                <a:cs typeface="Tahoma"/>
              </a:rPr>
              <a:t>complementary</a:t>
            </a: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pairs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36C09"/>
              </a:buClr>
              <a:buFont typeface="Wingdings"/>
              <a:buChar char=""/>
            </a:pPr>
            <a:endParaRPr sz="3600">
              <a:latin typeface="Tahoma"/>
              <a:cs typeface="Tahoma"/>
            </a:endParaRPr>
          </a:p>
          <a:p>
            <a:pPr marL="469900" marR="6350" indent="-457200">
              <a:lnSpc>
                <a:spcPts val="3020"/>
              </a:lnSpc>
              <a:buClr>
                <a:srgbClr val="E36C0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N-Channel</a:t>
            </a:r>
            <a:r>
              <a:rPr sz="2800" spc="3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800" spc="3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its</a:t>
            </a:r>
            <a:r>
              <a:rPr sz="2800" spc="3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source</a:t>
            </a:r>
            <a:r>
              <a:rPr sz="2800" spc="3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grounded</a:t>
            </a:r>
            <a:r>
              <a:rPr sz="2800" spc="3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&amp;</a:t>
            </a:r>
            <a:r>
              <a:rPr sz="2800" spc="3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P-Channel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with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its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source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connected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+V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3600">
              <a:latin typeface="Tahoma"/>
              <a:cs typeface="Tahoma"/>
            </a:endParaRPr>
          </a:p>
          <a:p>
            <a:pPr marL="469900" marR="8255" indent="-457200">
              <a:lnSpc>
                <a:spcPts val="3020"/>
              </a:lnSpc>
              <a:buClr>
                <a:srgbClr val="E36C0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5" dirty="0">
                <a:solidFill>
                  <a:srgbClr val="006FC0"/>
                </a:solidFill>
                <a:latin typeface="Tahoma"/>
                <a:cs typeface="Tahoma"/>
              </a:rPr>
              <a:t>Input: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Tahoma"/>
                <a:cs typeface="Tahoma"/>
              </a:rPr>
              <a:t>gates</a:t>
            </a:r>
            <a:r>
              <a:rPr sz="2800" spc="3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Tahoma"/>
                <a:cs typeface="Tahoma"/>
              </a:rPr>
              <a:t>connected</a:t>
            </a:r>
            <a:r>
              <a:rPr sz="2800" spc="2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Tahoma"/>
                <a:cs typeface="Tahoma"/>
              </a:rPr>
              <a:t>together</a:t>
            </a:r>
            <a:r>
              <a:rPr sz="2800" spc="30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&amp;</a:t>
            </a:r>
            <a:r>
              <a:rPr sz="2800" spc="30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Output: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drains </a:t>
            </a:r>
            <a:r>
              <a:rPr sz="2800" spc="-8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connected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97098" y="1224152"/>
            <a:ext cx="26841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MO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i</a:t>
            </a:r>
            <a:r>
              <a:rPr sz="2000" spc="2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dirty="0">
                <a:solidFill>
                  <a:srgbClr val="C00000"/>
                </a:solidFill>
                <a:latin typeface="Tahoma"/>
                <a:cs typeface="Tahoma"/>
              </a:rPr>
              <a:t>ve</a:t>
            </a:r>
            <a:r>
              <a:rPr sz="2000" spc="5" dirty="0">
                <a:solidFill>
                  <a:srgbClr val="C00000"/>
                </a:solidFill>
                <a:latin typeface="Tahoma"/>
                <a:cs typeface="Tahoma"/>
              </a:rPr>
              <a:t>r</a:t>
            </a:r>
            <a:r>
              <a:rPr sz="2000" spc="-30" dirty="0">
                <a:solidFill>
                  <a:srgbClr val="C00000"/>
                </a:solidFill>
                <a:latin typeface="Tahoma"/>
                <a:cs typeface="Tahoma"/>
              </a:rPr>
              <a:t>ter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60701" y="3189985"/>
            <a:ext cx="470534" cy="482600"/>
            <a:chOff x="2060701" y="3189985"/>
            <a:chExt cx="470534" cy="4826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79217" y="3354577"/>
              <a:ext cx="151892" cy="15341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073401" y="3202685"/>
              <a:ext cx="304800" cy="457200"/>
            </a:xfrm>
            <a:custGeom>
              <a:avLst/>
              <a:gdLst/>
              <a:ahLst/>
              <a:cxnLst/>
              <a:rect l="l" t="t" r="r" b="b"/>
              <a:pathLst>
                <a:path w="304800" h="457200">
                  <a:moveTo>
                    <a:pt x="304800" y="228600"/>
                  </a:moveTo>
                  <a:lnTo>
                    <a:pt x="0" y="0"/>
                  </a:lnTo>
                </a:path>
                <a:path w="304800" h="457200">
                  <a:moveTo>
                    <a:pt x="304800" y="228600"/>
                  </a:moveTo>
                  <a:lnTo>
                    <a:pt x="0" y="457200"/>
                  </a:lnTo>
                </a:path>
                <a:path w="304800" h="457200">
                  <a:moveTo>
                    <a:pt x="0" y="45720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517139" y="3152012"/>
            <a:ext cx="7112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8135" algn="l"/>
              </a:tabLst>
            </a:pPr>
            <a:r>
              <a:rPr sz="16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</a:t>
            </a:r>
            <a:r>
              <a:rPr sz="1600" u="sng" spc="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7428" y="3152012"/>
            <a:ext cx="558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4830" algn="l"/>
              </a:tabLst>
            </a:pPr>
            <a:r>
              <a:rPr sz="16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	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84250" y="4641850"/>
          <a:ext cx="304800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5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p1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n1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0600" y="4648200"/>
            <a:ext cx="3048000" cy="121920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839967" y="2871216"/>
            <a:ext cx="1099185" cy="2769235"/>
            <a:chOff x="5839967" y="2871216"/>
            <a:chExt cx="1099185" cy="276923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31051" y="3506724"/>
              <a:ext cx="106616" cy="139598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186677" y="3542538"/>
              <a:ext cx="0" cy="1301750"/>
            </a:xfrm>
            <a:custGeom>
              <a:avLst/>
              <a:gdLst/>
              <a:ahLst/>
              <a:cxnLst/>
              <a:rect l="l" t="t" r="r" b="b"/>
              <a:pathLst>
                <a:path h="1301750">
                  <a:moveTo>
                    <a:pt x="0" y="1301495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39967" y="4102608"/>
              <a:ext cx="385610" cy="10807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95593" y="4138422"/>
              <a:ext cx="292100" cy="1270"/>
            </a:xfrm>
            <a:custGeom>
              <a:avLst/>
              <a:gdLst/>
              <a:ahLst/>
              <a:cxnLst/>
              <a:rect l="l" t="t" r="r" b="b"/>
              <a:pathLst>
                <a:path w="292100" h="1270">
                  <a:moveTo>
                    <a:pt x="291845" y="126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18147" y="4477524"/>
              <a:ext cx="108075" cy="79399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573773" y="4499610"/>
              <a:ext cx="1270" cy="702310"/>
            </a:xfrm>
            <a:custGeom>
              <a:avLst/>
              <a:gdLst/>
              <a:ahLst/>
              <a:cxnLst/>
              <a:rect l="l" t="t" r="r" b="b"/>
              <a:pathLst>
                <a:path w="1270" h="702310">
                  <a:moveTo>
                    <a:pt x="1270" y="0"/>
                  </a:moveTo>
                  <a:lnTo>
                    <a:pt x="0" y="701801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02323" y="4603965"/>
              <a:ext cx="108076" cy="53953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457949" y="4626101"/>
              <a:ext cx="1270" cy="447040"/>
            </a:xfrm>
            <a:custGeom>
              <a:avLst/>
              <a:gdLst/>
              <a:ahLst/>
              <a:cxnLst/>
              <a:rect l="l" t="t" r="r" b="b"/>
              <a:pathLst>
                <a:path w="1270" h="447039">
                  <a:moveTo>
                    <a:pt x="1270" y="0"/>
                  </a:moveTo>
                  <a:lnTo>
                    <a:pt x="0" y="44653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09715" y="4812792"/>
              <a:ext cx="385610" cy="10807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65341" y="4848605"/>
              <a:ext cx="292100" cy="1270"/>
            </a:xfrm>
            <a:custGeom>
              <a:avLst/>
              <a:gdLst/>
              <a:ahLst/>
              <a:cxnLst/>
              <a:rect l="l" t="t" r="r" b="b"/>
              <a:pathLst>
                <a:path w="292100" h="1270">
                  <a:moveTo>
                    <a:pt x="291846" y="127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19671" y="4590288"/>
              <a:ext cx="385610" cy="10807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575297" y="4626101"/>
              <a:ext cx="292100" cy="1270"/>
            </a:xfrm>
            <a:custGeom>
              <a:avLst/>
              <a:gdLst/>
              <a:ahLst/>
              <a:cxnLst/>
              <a:rect l="l" t="t" r="r" b="b"/>
              <a:pathLst>
                <a:path w="292100" h="1270">
                  <a:moveTo>
                    <a:pt x="291846" y="127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19671" y="5036820"/>
              <a:ext cx="385610" cy="10807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575297" y="5072633"/>
              <a:ext cx="292100" cy="1270"/>
            </a:xfrm>
            <a:custGeom>
              <a:avLst/>
              <a:gdLst/>
              <a:ahLst/>
              <a:cxnLst/>
              <a:rect l="l" t="t" r="r" b="b"/>
              <a:pathLst>
                <a:path w="292100" h="1270">
                  <a:moveTo>
                    <a:pt x="291846" y="127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10755" y="5050536"/>
              <a:ext cx="108075" cy="53953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866381" y="5072633"/>
              <a:ext cx="1270" cy="447040"/>
            </a:xfrm>
            <a:custGeom>
              <a:avLst/>
              <a:gdLst/>
              <a:ahLst/>
              <a:cxnLst/>
              <a:rect l="l" t="t" r="r" b="b"/>
              <a:pathLst>
                <a:path w="1270" h="447039">
                  <a:moveTo>
                    <a:pt x="1270" y="0"/>
                  </a:moveTo>
                  <a:lnTo>
                    <a:pt x="0" y="446532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10755" y="4157433"/>
              <a:ext cx="108075" cy="53953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866381" y="4179569"/>
              <a:ext cx="1270" cy="447040"/>
            </a:xfrm>
            <a:custGeom>
              <a:avLst/>
              <a:gdLst/>
              <a:ahLst/>
              <a:cxnLst/>
              <a:rect l="l" t="t" r="r" b="b"/>
              <a:pathLst>
                <a:path w="1270" h="447039">
                  <a:moveTo>
                    <a:pt x="1270" y="0"/>
                  </a:moveTo>
                  <a:lnTo>
                    <a:pt x="0" y="44653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90943" y="5486400"/>
              <a:ext cx="147916" cy="15383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38187" y="5510783"/>
              <a:ext cx="57911" cy="6400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33425" y="5506021"/>
              <a:ext cx="67436" cy="735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22719" y="3186684"/>
              <a:ext cx="108075" cy="76352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578345" y="3208782"/>
              <a:ext cx="1270" cy="670560"/>
            </a:xfrm>
            <a:custGeom>
              <a:avLst/>
              <a:gdLst/>
              <a:ahLst/>
              <a:cxnLst/>
              <a:rect l="l" t="t" r="r" b="b"/>
              <a:pathLst>
                <a:path w="1270" h="670560">
                  <a:moveTo>
                    <a:pt x="1270" y="0"/>
                  </a:moveTo>
                  <a:lnTo>
                    <a:pt x="0" y="670051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06895" y="3308629"/>
              <a:ext cx="108075" cy="51965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462521" y="3330702"/>
              <a:ext cx="1270" cy="426720"/>
            </a:xfrm>
            <a:custGeom>
              <a:avLst/>
              <a:gdLst/>
              <a:ahLst/>
              <a:cxnLst/>
              <a:rect l="l" t="t" r="r" b="b"/>
              <a:pathLst>
                <a:path w="1270" h="426720">
                  <a:moveTo>
                    <a:pt x="1269" y="0"/>
                  </a:moveTo>
                  <a:lnTo>
                    <a:pt x="0" y="42633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15811" y="3506724"/>
              <a:ext cx="384098" cy="10807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171437" y="3542538"/>
              <a:ext cx="290830" cy="1270"/>
            </a:xfrm>
            <a:custGeom>
              <a:avLst/>
              <a:gdLst/>
              <a:ahLst/>
              <a:cxnLst/>
              <a:rect l="l" t="t" r="r" b="b"/>
              <a:pathLst>
                <a:path w="290829" h="1270">
                  <a:moveTo>
                    <a:pt x="290449" y="127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24243" y="3294888"/>
              <a:ext cx="384098" cy="10807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579869" y="3330702"/>
              <a:ext cx="290830" cy="1270"/>
            </a:xfrm>
            <a:custGeom>
              <a:avLst/>
              <a:gdLst/>
              <a:ahLst/>
              <a:cxnLst/>
              <a:rect l="l" t="t" r="r" b="b"/>
              <a:pathLst>
                <a:path w="290829" h="1270">
                  <a:moveTo>
                    <a:pt x="290449" y="127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24243" y="3720083"/>
              <a:ext cx="384098" cy="108076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579869" y="3755898"/>
              <a:ext cx="290830" cy="1270"/>
            </a:xfrm>
            <a:custGeom>
              <a:avLst/>
              <a:gdLst/>
              <a:ahLst/>
              <a:cxnLst/>
              <a:rect l="l" t="t" r="r" b="b"/>
              <a:pathLst>
                <a:path w="290829" h="1270">
                  <a:moveTo>
                    <a:pt x="290449" y="126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12279" y="3733825"/>
              <a:ext cx="108075" cy="51965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867905" y="3755898"/>
              <a:ext cx="1270" cy="426720"/>
            </a:xfrm>
            <a:custGeom>
              <a:avLst/>
              <a:gdLst/>
              <a:ahLst/>
              <a:cxnLst/>
              <a:rect l="l" t="t" r="r" b="b"/>
              <a:pathLst>
                <a:path w="1270" h="426720">
                  <a:moveTo>
                    <a:pt x="1270" y="0"/>
                  </a:moveTo>
                  <a:lnTo>
                    <a:pt x="0" y="42633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12279" y="2881909"/>
              <a:ext cx="108075" cy="51965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867905" y="2903982"/>
              <a:ext cx="1270" cy="426720"/>
            </a:xfrm>
            <a:custGeom>
              <a:avLst/>
              <a:gdLst/>
              <a:ahLst/>
              <a:cxnLst/>
              <a:rect l="l" t="t" r="r" b="b"/>
              <a:pathLst>
                <a:path w="1270" h="426720">
                  <a:moveTo>
                    <a:pt x="1270" y="0"/>
                  </a:moveTo>
                  <a:lnTo>
                    <a:pt x="0" y="42633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90943" y="2871216"/>
              <a:ext cx="147916" cy="15087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38187" y="2895600"/>
              <a:ext cx="57911" cy="6096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833425" y="2890837"/>
              <a:ext cx="67436" cy="7048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15455" y="3462489"/>
              <a:ext cx="182994" cy="20425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362699" y="3489960"/>
              <a:ext cx="92963" cy="1143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357937" y="3485197"/>
              <a:ext cx="102488" cy="123825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5642228" y="3990594"/>
            <a:ext cx="2051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50456" y="2972511"/>
            <a:ext cx="378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Calibri"/>
                <a:cs typeface="Calibri"/>
              </a:rPr>
              <a:t>v</a:t>
            </a:r>
            <a:r>
              <a:rPr sz="1800" b="1" dirty="0">
                <a:latin typeface="Calibri"/>
                <a:cs typeface="Calibri"/>
              </a:rPr>
              <a:t>dd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186676" y="4003040"/>
            <a:ext cx="351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u</a:t>
            </a:r>
            <a:r>
              <a:rPr sz="1800" b="1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807707" y="4110228"/>
            <a:ext cx="386080" cy="108585"/>
            <a:chOff x="6807707" y="4110228"/>
            <a:chExt cx="386080" cy="108585"/>
          </a:xfrm>
        </p:grpSpPr>
        <p:pic>
          <p:nvPicPr>
            <p:cNvPr id="66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07707" y="4110228"/>
              <a:ext cx="385610" cy="10807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6863333" y="4146042"/>
              <a:ext cx="292100" cy="1270"/>
            </a:xfrm>
            <a:custGeom>
              <a:avLst/>
              <a:gdLst/>
              <a:ahLst/>
              <a:cxnLst/>
              <a:rect l="l" t="t" r="r" b="b"/>
              <a:pathLst>
                <a:path w="292100" h="1270">
                  <a:moveTo>
                    <a:pt x="291846" y="126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620636" y="3421507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p1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6632829" y="4710429"/>
            <a:ext cx="642620" cy="9378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n1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>
              <a:latin typeface="Calibri"/>
              <a:cs typeface="Calibri"/>
            </a:endParaRPr>
          </a:p>
          <a:p>
            <a:pPr marL="33909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vss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456944" y="4893538"/>
            <a:ext cx="745490" cy="1289685"/>
            <a:chOff x="1456944" y="4893538"/>
            <a:chExt cx="745490" cy="128968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18132" y="5167883"/>
              <a:ext cx="108076" cy="69649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73758" y="5189981"/>
              <a:ext cx="1270" cy="604520"/>
            </a:xfrm>
            <a:custGeom>
              <a:avLst/>
              <a:gdLst/>
              <a:ahLst/>
              <a:cxnLst/>
              <a:rect l="l" t="t" r="r" b="b"/>
              <a:pathLst>
                <a:path w="1269" h="604520">
                  <a:moveTo>
                    <a:pt x="1016" y="0"/>
                  </a:moveTo>
                  <a:lnTo>
                    <a:pt x="0" y="604291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4500" y="5279135"/>
              <a:ext cx="108076" cy="47703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70126" y="5301233"/>
              <a:ext cx="1270" cy="384810"/>
            </a:xfrm>
            <a:custGeom>
              <a:avLst/>
              <a:gdLst/>
              <a:ahLst/>
              <a:cxnLst/>
              <a:rect l="l" t="t" r="r" b="b"/>
              <a:pathLst>
                <a:path w="1269" h="384810">
                  <a:moveTo>
                    <a:pt x="1016" y="0"/>
                  </a:moveTo>
                  <a:lnTo>
                    <a:pt x="0" y="38454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6944" y="5455919"/>
              <a:ext cx="352044" cy="10807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12570" y="5491733"/>
              <a:ext cx="259079" cy="1270"/>
            </a:xfrm>
            <a:custGeom>
              <a:avLst/>
              <a:gdLst/>
              <a:ahLst/>
              <a:cxnLst/>
              <a:rect l="l" t="t" r="r" b="b"/>
              <a:pathLst>
                <a:path w="259080" h="1270">
                  <a:moveTo>
                    <a:pt x="258572" y="1142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19656" y="5265419"/>
              <a:ext cx="352044" cy="10807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75281" y="5301233"/>
              <a:ext cx="259079" cy="1270"/>
            </a:xfrm>
            <a:custGeom>
              <a:avLst/>
              <a:gdLst/>
              <a:ahLst/>
              <a:cxnLst/>
              <a:rect l="l" t="t" r="r" b="b"/>
              <a:pathLst>
                <a:path w="259080" h="1270">
                  <a:moveTo>
                    <a:pt x="258572" y="1142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19656" y="5649467"/>
              <a:ext cx="352044" cy="10807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875281" y="5685281"/>
              <a:ext cx="259079" cy="1270"/>
            </a:xfrm>
            <a:custGeom>
              <a:avLst/>
              <a:gdLst/>
              <a:ahLst/>
              <a:cxnLst/>
              <a:rect l="l" t="t" r="r" b="b"/>
              <a:pathLst>
                <a:path w="259080" h="1270">
                  <a:moveTo>
                    <a:pt x="258572" y="1143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77212" y="5663183"/>
              <a:ext cx="108076" cy="47703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132838" y="5685281"/>
              <a:ext cx="1270" cy="384810"/>
            </a:xfrm>
            <a:custGeom>
              <a:avLst/>
              <a:gdLst/>
              <a:ahLst/>
              <a:cxnLst/>
              <a:rect l="l" t="t" r="r" b="b"/>
              <a:pathLst>
                <a:path w="1269" h="384810">
                  <a:moveTo>
                    <a:pt x="1016" y="0"/>
                  </a:moveTo>
                  <a:lnTo>
                    <a:pt x="0" y="38454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77212" y="4893538"/>
              <a:ext cx="108076" cy="47703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132838" y="4915661"/>
              <a:ext cx="1270" cy="384810"/>
            </a:xfrm>
            <a:custGeom>
              <a:avLst/>
              <a:gdLst/>
              <a:ahLst/>
              <a:cxnLst/>
              <a:rect l="l" t="t" r="r" b="b"/>
              <a:pathLst>
                <a:path w="1269" h="384810">
                  <a:moveTo>
                    <a:pt x="1016" y="0"/>
                  </a:moveTo>
                  <a:lnTo>
                    <a:pt x="0" y="38455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60448" y="6038087"/>
              <a:ext cx="141731" cy="14467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07692" y="6062471"/>
              <a:ext cx="51815" cy="5486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107692" y="6062471"/>
              <a:ext cx="52069" cy="55244"/>
            </a:xfrm>
            <a:custGeom>
              <a:avLst/>
              <a:gdLst/>
              <a:ahLst/>
              <a:cxnLst/>
              <a:rect l="l" t="t" r="r" b="b"/>
              <a:pathLst>
                <a:path w="52069" h="55245">
                  <a:moveTo>
                    <a:pt x="25907" y="0"/>
                  </a:moveTo>
                  <a:lnTo>
                    <a:pt x="36010" y="2155"/>
                  </a:lnTo>
                  <a:lnTo>
                    <a:pt x="44243" y="8034"/>
                  </a:lnTo>
                  <a:lnTo>
                    <a:pt x="49785" y="16753"/>
                  </a:lnTo>
                  <a:lnTo>
                    <a:pt x="51815" y="27431"/>
                  </a:lnTo>
                  <a:lnTo>
                    <a:pt x="49785" y="38110"/>
                  </a:lnTo>
                  <a:lnTo>
                    <a:pt x="44243" y="46829"/>
                  </a:lnTo>
                  <a:lnTo>
                    <a:pt x="36010" y="52708"/>
                  </a:lnTo>
                  <a:lnTo>
                    <a:pt x="25907" y="54863"/>
                  </a:lnTo>
                  <a:lnTo>
                    <a:pt x="15805" y="52708"/>
                  </a:lnTo>
                  <a:lnTo>
                    <a:pt x="7572" y="46829"/>
                  </a:lnTo>
                  <a:lnTo>
                    <a:pt x="2030" y="38110"/>
                  </a:lnTo>
                  <a:lnTo>
                    <a:pt x="0" y="27431"/>
                  </a:lnTo>
                  <a:lnTo>
                    <a:pt x="2030" y="16753"/>
                  </a:lnTo>
                  <a:lnTo>
                    <a:pt x="7572" y="8034"/>
                  </a:lnTo>
                  <a:lnTo>
                    <a:pt x="15805" y="2155"/>
                  </a:lnTo>
                  <a:lnTo>
                    <a:pt x="259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923669" y="6077508"/>
            <a:ext cx="31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vss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63039" y="3794747"/>
            <a:ext cx="725805" cy="1195070"/>
            <a:chOff x="1463039" y="3794747"/>
            <a:chExt cx="725805" cy="1195070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22703" y="4056875"/>
              <a:ext cx="108076" cy="67057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878329" y="4078986"/>
              <a:ext cx="1270" cy="577215"/>
            </a:xfrm>
            <a:custGeom>
              <a:avLst/>
              <a:gdLst/>
              <a:ahLst/>
              <a:cxnLst/>
              <a:rect l="l" t="t" r="r" b="b"/>
              <a:pathLst>
                <a:path w="1269" h="577214">
                  <a:moveTo>
                    <a:pt x="1015" y="0"/>
                  </a:moveTo>
                  <a:lnTo>
                    <a:pt x="0" y="576961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19071" y="4162031"/>
              <a:ext cx="108076" cy="46026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774697" y="4184142"/>
              <a:ext cx="1270" cy="367665"/>
            </a:xfrm>
            <a:custGeom>
              <a:avLst/>
              <a:gdLst/>
              <a:ahLst/>
              <a:cxnLst/>
              <a:rect l="l" t="t" r="r" b="b"/>
              <a:pathLst>
                <a:path w="1269" h="367664">
                  <a:moveTo>
                    <a:pt x="1015" y="0"/>
                  </a:moveTo>
                  <a:lnTo>
                    <a:pt x="0" y="36715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63039" y="4331208"/>
              <a:ext cx="350545" cy="10807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518665" y="4367022"/>
              <a:ext cx="257810" cy="1270"/>
            </a:xfrm>
            <a:custGeom>
              <a:avLst/>
              <a:gdLst/>
              <a:ahLst/>
              <a:cxnLst/>
              <a:rect l="l" t="t" r="r" b="b"/>
              <a:pathLst>
                <a:path w="257810" h="1270">
                  <a:moveTo>
                    <a:pt x="257302" y="1142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22703" y="4148328"/>
              <a:ext cx="350545" cy="10807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878329" y="4184142"/>
              <a:ext cx="257810" cy="1270"/>
            </a:xfrm>
            <a:custGeom>
              <a:avLst/>
              <a:gdLst/>
              <a:ahLst/>
              <a:cxnLst/>
              <a:rect l="l" t="t" r="r" b="b"/>
              <a:pathLst>
                <a:path w="257810" h="1270">
                  <a:moveTo>
                    <a:pt x="257301" y="1142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22703" y="4515612"/>
              <a:ext cx="350545" cy="10807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878329" y="4551426"/>
              <a:ext cx="257810" cy="1270"/>
            </a:xfrm>
            <a:custGeom>
              <a:avLst/>
              <a:gdLst/>
              <a:ahLst/>
              <a:cxnLst/>
              <a:rect l="l" t="t" r="r" b="b"/>
              <a:pathLst>
                <a:path w="257810" h="1270">
                  <a:moveTo>
                    <a:pt x="257301" y="11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80259" y="4529315"/>
              <a:ext cx="108076" cy="46026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135885" y="4551426"/>
              <a:ext cx="1270" cy="367665"/>
            </a:xfrm>
            <a:custGeom>
              <a:avLst/>
              <a:gdLst/>
              <a:ahLst/>
              <a:cxnLst/>
              <a:rect l="l" t="t" r="r" b="b"/>
              <a:pathLst>
                <a:path w="1269" h="367664">
                  <a:moveTo>
                    <a:pt x="1015" y="0"/>
                  </a:moveTo>
                  <a:lnTo>
                    <a:pt x="0" y="36715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80259" y="3794747"/>
              <a:ext cx="108076" cy="46026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135885" y="3816858"/>
              <a:ext cx="1270" cy="367665"/>
            </a:xfrm>
            <a:custGeom>
              <a:avLst/>
              <a:gdLst/>
              <a:ahLst/>
              <a:cxnLst/>
              <a:rect l="l" t="t" r="r" b="b"/>
              <a:pathLst>
                <a:path w="1269" h="367664">
                  <a:moveTo>
                    <a:pt x="1015" y="0"/>
                  </a:moveTo>
                  <a:lnTo>
                    <a:pt x="0" y="36715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244600" y="4193285"/>
            <a:ext cx="13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16023" y="3676269"/>
            <a:ext cx="351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u</a:t>
            </a:r>
            <a:r>
              <a:rPr sz="1800" b="1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293875" y="2028482"/>
            <a:ext cx="1696720" cy="1938655"/>
            <a:chOff x="1293875" y="2028482"/>
            <a:chExt cx="1696720" cy="1938655"/>
          </a:xfrm>
        </p:grpSpPr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76399" y="3383280"/>
              <a:ext cx="932713" cy="10807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719833" y="3419094"/>
              <a:ext cx="838200" cy="1270"/>
            </a:xfrm>
            <a:custGeom>
              <a:avLst/>
              <a:gdLst/>
              <a:ahLst/>
              <a:cxnLst/>
              <a:rect l="l" t="t" r="r" b="b"/>
              <a:pathLst>
                <a:path w="838200" h="1270">
                  <a:moveTo>
                    <a:pt x="0" y="0"/>
                  </a:moveTo>
                  <a:lnTo>
                    <a:pt x="838200" y="126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83307" y="3416782"/>
              <a:ext cx="106616" cy="55018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138933" y="3438906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0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16607" y="3105861"/>
              <a:ext cx="108076" cy="38409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872233" y="3128010"/>
              <a:ext cx="1905" cy="292100"/>
            </a:xfrm>
            <a:custGeom>
              <a:avLst/>
              <a:gdLst/>
              <a:ahLst/>
              <a:cxnLst/>
              <a:rect l="l" t="t" r="r" b="b"/>
              <a:pathLst>
                <a:path w="1905" h="292100">
                  <a:moveTo>
                    <a:pt x="1651" y="0"/>
                  </a:moveTo>
                  <a:lnTo>
                    <a:pt x="0" y="29171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50008" y="3105861"/>
              <a:ext cx="108076" cy="38409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405633" y="3128010"/>
              <a:ext cx="1905" cy="292100"/>
            </a:xfrm>
            <a:custGeom>
              <a:avLst/>
              <a:gdLst/>
              <a:ahLst/>
              <a:cxnLst/>
              <a:rect l="l" t="t" r="r" b="b"/>
              <a:pathLst>
                <a:path w="1905" h="292100">
                  <a:moveTo>
                    <a:pt x="1651" y="0"/>
                  </a:moveTo>
                  <a:lnTo>
                    <a:pt x="0" y="29171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62200" y="3092196"/>
              <a:ext cx="627875" cy="10807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405633" y="3128010"/>
              <a:ext cx="533400" cy="1270"/>
            </a:xfrm>
            <a:custGeom>
              <a:avLst/>
              <a:gdLst/>
              <a:ahLst/>
              <a:cxnLst/>
              <a:rect l="l" t="t" r="r" b="b"/>
              <a:pathLst>
                <a:path w="533400" h="1269">
                  <a:moveTo>
                    <a:pt x="0" y="0"/>
                  </a:moveTo>
                  <a:lnTo>
                    <a:pt x="533400" y="126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95399" y="3092196"/>
              <a:ext cx="627875" cy="10807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338833" y="3128010"/>
              <a:ext cx="533400" cy="1270"/>
            </a:xfrm>
            <a:custGeom>
              <a:avLst/>
              <a:gdLst/>
              <a:ahLst/>
              <a:cxnLst/>
              <a:rect l="l" t="t" r="r" b="b"/>
              <a:pathLst>
                <a:path w="533400" h="1269">
                  <a:moveTo>
                    <a:pt x="0" y="0"/>
                  </a:moveTo>
                  <a:lnTo>
                    <a:pt x="533399" y="126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52827" y="3802329"/>
              <a:ext cx="166192" cy="14940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00071" y="3826764"/>
              <a:ext cx="76200" cy="5943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095309" y="3822001"/>
              <a:ext cx="85725" cy="6896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3351" y="2353056"/>
              <a:ext cx="928115" cy="108076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728977" y="2388870"/>
              <a:ext cx="833755" cy="1270"/>
            </a:xfrm>
            <a:custGeom>
              <a:avLst/>
              <a:gdLst/>
              <a:ahLst/>
              <a:cxnLst/>
              <a:rect l="l" t="t" r="r" b="b"/>
              <a:pathLst>
                <a:path w="833755" h="1269">
                  <a:moveTo>
                    <a:pt x="833628" y="126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089403" y="2058873"/>
              <a:ext cx="108076" cy="384098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145029" y="2094738"/>
              <a:ext cx="1905" cy="290830"/>
            </a:xfrm>
            <a:custGeom>
              <a:avLst/>
              <a:gdLst/>
              <a:ahLst/>
              <a:cxnLst/>
              <a:rect l="l" t="t" r="r" b="b"/>
              <a:pathLst>
                <a:path w="1905" h="290830">
                  <a:moveTo>
                    <a:pt x="0" y="290322"/>
                  </a:moveTo>
                  <a:lnTo>
                    <a:pt x="15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53055" y="2354529"/>
              <a:ext cx="108076" cy="384098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2408681" y="2390394"/>
              <a:ext cx="1905" cy="290830"/>
            </a:xfrm>
            <a:custGeom>
              <a:avLst/>
              <a:gdLst/>
              <a:ahLst/>
              <a:cxnLst/>
              <a:rect l="l" t="t" r="r" b="b"/>
              <a:pathLst>
                <a:path w="1905" h="290830">
                  <a:moveTo>
                    <a:pt x="0" y="290321"/>
                  </a:moveTo>
                  <a:lnTo>
                    <a:pt x="15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22703" y="2354529"/>
              <a:ext cx="108076" cy="384098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878329" y="2390394"/>
              <a:ext cx="1905" cy="290830"/>
            </a:xfrm>
            <a:custGeom>
              <a:avLst/>
              <a:gdLst/>
              <a:ahLst/>
              <a:cxnLst/>
              <a:rect l="l" t="t" r="r" b="b"/>
              <a:pathLst>
                <a:path w="1905" h="290830">
                  <a:moveTo>
                    <a:pt x="0" y="290321"/>
                  </a:moveTo>
                  <a:lnTo>
                    <a:pt x="15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93875" y="2642616"/>
              <a:ext cx="624852" cy="10807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349501" y="2678430"/>
              <a:ext cx="530860" cy="1270"/>
            </a:xfrm>
            <a:custGeom>
              <a:avLst/>
              <a:gdLst/>
              <a:ahLst/>
              <a:cxnLst/>
              <a:rect l="l" t="t" r="r" b="b"/>
              <a:pathLst>
                <a:path w="530860" h="1269">
                  <a:moveTo>
                    <a:pt x="530479" y="127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354579" y="2642616"/>
              <a:ext cx="624852" cy="108076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2410205" y="2678430"/>
              <a:ext cx="530860" cy="1270"/>
            </a:xfrm>
            <a:custGeom>
              <a:avLst/>
              <a:gdLst/>
              <a:ahLst/>
              <a:cxnLst/>
              <a:rect l="l" t="t" r="r" b="b"/>
              <a:pathLst>
                <a:path w="530860" h="1269">
                  <a:moveTo>
                    <a:pt x="530479" y="127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58923" y="2028482"/>
              <a:ext cx="166192" cy="14791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106167" y="2052828"/>
              <a:ext cx="76200" cy="5791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101405" y="2048065"/>
              <a:ext cx="85725" cy="67437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1895094" y="1224152"/>
            <a:ext cx="3936365" cy="782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250">
              <a:lnSpc>
                <a:spcPct val="100000"/>
              </a:lnSpc>
              <a:spcBef>
                <a:spcPts val="105"/>
              </a:spcBef>
            </a:pP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MO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185" dirty="0">
                <a:solidFill>
                  <a:srgbClr val="C00000"/>
                </a:solidFill>
                <a:latin typeface="Tahoma"/>
                <a:cs typeface="Tahoma"/>
              </a:rPr>
              <a:t>ND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800" b="1" spc="-5" dirty="0">
                <a:latin typeface="Calibri"/>
                <a:cs typeface="Calibri"/>
              </a:rPr>
              <a:t>vdd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296924" y="2636507"/>
            <a:ext cx="1704339" cy="2382520"/>
            <a:chOff x="1296924" y="2636507"/>
            <a:chExt cx="1704339" cy="2382520"/>
          </a:xfrm>
        </p:grpSpPr>
        <p:pic>
          <p:nvPicPr>
            <p:cNvPr id="81" name="object 8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96924" y="2636507"/>
              <a:ext cx="117231" cy="55170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352804" y="2672333"/>
              <a:ext cx="11430" cy="458470"/>
            </a:xfrm>
            <a:custGeom>
              <a:avLst/>
              <a:gdLst/>
              <a:ahLst/>
              <a:cxnLst/>
              <a:rect l="l" t="t" r="r" b="b"/>
              <a:pathLst>
                <a:path w="11430" h="458469">
                  <a:moveTo>
                    <a:pt x="0" y="458215"/>
                  </a:moveTo>
                  <a:lnTo>
                    <a:pt x="11176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883408" y="2636507"/>
              <a:ext cx="117231" cy="5517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46732" y="4870742"/>
              <a:ext cx="166192" cy="14791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093976" y="4895088"/>
              <a:ext cx="76200" cy="57912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089213" y="4890325"/>
              <a:ext cx="85725" cy="67437"/>
            </a:xfrm>
            <a:prstGeom prst="rect">
              <a:avLst/>
            </a:prstGeom>
          </p:spPr>
        </p:pic>
      </p:grpSp>
      <p:sp>
        <p:nvSpPr>
          <p:cNvPr id="87" name="object 87"/>
          <p:cNvSpPr txBox="1"/>
          <p:nvPr/>
        </p:nvSpPr>
        <p:spPr>
          <a:xfrm>
            <a:off x="1209243" y="5288407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227326" y="4752213"/>
            <a:ext cx="121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941832" y="2658745"/>
            <a:ext cx="2390140" cy="505459"/>
            <a:chOff x="941832" y="2658745"/>
            <a:chExt cx="2390140" cy="505459"/>
          </a:xfrm>
        </p:grpSpPr>
        <p:pic>
          <p:nvPicPr>
            <p:cNvPr id="90" name="object 9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99388" y="2700515"/>
              <a:ext cx="108077" cy="46026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1255014" y="2722626"/>
              <a:ext cx="1270" cy="367665"/>
            </a:xfrm>
            <a:custGeom>
              <a:avLst/>
              <a:gdLst/>
              <a:ahLst/>
              <a:cxnLst/>
              <a:rect l="l" t="t" r="r" b="b"/>
              <a:pathLst>
                <a:path w="1269" h="367664">
                  <a:moveTo>
                    <a:pt x="1079" y="0"/>
                  </a:moveTo>
                  <a:lnTo>
                    <a:pt x="0" y="36715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1832" y="2869692"/>
              <a:ext cx="350545" cy="108076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997458" y="2905506"/>
              <a:ext cx="257810" cy="1270"/>
            </a:xfrm>
            <a:custGeom>
              <a:avLst/>
              <a:gdLst/>
              <a:ahLst/>
              <a:cxnLst/>
              <a:rect l="l" t="t" r="r" b="b"/>
              <a:pathLst>
                <a:path w="257809" h="1269">
                  <a:moveTo>
                    <a:pt x="257365" y="1143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25699" y="2658745"/>
              <a:ext cx="163321" cy="505078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3036570" y="2725674"/>
              <a:ext cx="1270" cy="367665"/>
            </a:xfrm>
            <a:custGeom>
              <a:avLst/>
              <a:gdLst/>
              <a:ahLst/>
              <a:cxnLst/>
              <a:rect l="l" t="t" r="r" b="b"/>
              <a:pathLst>
                <a:path w="1269" h="367664">
                  <a:moveTo>
                    <a:pt x="1016" y="0"/>
                  </a:moveTo>
                  <a:lnTo>
                    <a:pt x="0" y="36715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80944" y="2878836"/>
              <a:ext cx="350545" cy="108076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3036570" y="2914650"/>
              <a:ext cx="257810" cy="1270"/>
            </a:xfrm>
            <a:custGeom>
              <a:avLst/>
              <a:gdLst/>
              <a:ahLst/>
              <a:cxnLst/>
              <a:rect l="l" t="t" r="r" b="b"/>
              <a:pathLst>
                <a:path w="257810" h="1269">
                  <a:moveTo>
                    <a:pt x="257302" y="1142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724306" y="2731134"/>
            <a:ext cx="13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334892" y="2745740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1115567" y="2792031"/>
            <a:ext cx="2070100" cy="242570"/>
            <a:chOff x="1115567" y="2792031"/>
            <a:chExt cx="2070100" cy="242570"/>
          </a:xfrm>
        </p:grpSpPr>
        <p:pic>
          <p:nvPicPr>
            <p:cNvPr id="101" name="object 10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15567" y="2792031"/>
              <a:ext cx="182994" cy="227012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62811" y="2819400"/>
              <a:ext cx="92963" cy="13716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58049" y="2814637"/>
              <a:ext cx="102488" cy="14668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02279" y="2807271"/>
              <a:ext cx="182994" cy="227012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049523" y="2834640"/>
              <a:ext cx="92963" cy="13716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044761" y="2829877"/>
              <a:ext cx="102488" cy="146685"/>
            </a:xfrm>
            <a:prstGeom prst="rect">
              <a:avLst/>
            </a:prstGeom>
          </p:spPr>
        </p:pic>
      </p:grpSp>
      <p:sp>
        <p:nvSpPr>
          <p:cNvPr id="107" name="object 107"/>
          <p:cNvSpPr txBox="1"/>
          <p:nvPr/>
        </p:nvSpPr>
        <p:spPr>
          <a:xfrm>
            <a:off x="1437894" y="2727452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p1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2584195" y="2712846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p2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910333" y="4190745"/>
            <a:ext cx="266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n1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895094" y="5309742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n2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11" name="object 111"/>
          <p:cNvGraphicFramePr>
            <a:graphicFrameLocks noGrp="1"/>
          </p:cNvGraphicFramePr>
          <p:nvPr/>
        </p:nvGraphicFramePr>
        <p:xfrm>
          <a:off x="3956050" y="2977133"/>
          <a:ext cx="4573901" cy="2956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3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3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34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p1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p2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5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n1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n2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2" name="object 11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962400" y="2983483"/>
            <a:ext cx="4572000" cy="2956547"/>
          </a:xfrm>
          <a:prstGeom prst="rect">
            <a:avLst/>
          </a:prstGeom>
        </p:spPr>
      </p:pic>
      <p:sp>
        <p:nvSpPr>
          <p:cNvPr id="113" name="object 1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40734" y="1224152"/>
            <a:ext cx="23996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MO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59779" y="3893858"/>
            <a:ext cx="2388235" cy="1938655"/>
            <a:chOff x="5859779" y="3893858"/>
            <a:chExt cx="2388235" cy="193865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2823" y="5248655"/>
              <a:ext cx="932713" cy="10807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636257" y="5284469"/>
              <a:ext cx="838200" cy="1270"/>
            </a:xfrm>
            <a:custGeom>
              <a:avLst/>
              <a:gdLst/>
              <a:ahLst/>
              <a:cxnLst/>
              <a:rect l="l" t="t" r="r" b="b"/>
              <a:pathLst>
                <a:path w="838200" h="1270">
                  <a:moveTo>
                    <a:pt x="0" y="0"/>
                  </a:moveTo>
                  <a:lnTo>
                    <a:pt x="838200" y="126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99731" y="5282183"/>
              <a:ext cx="106616" cy="55018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055357" y="5304281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09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33031" y="4971237"/>
              <a:ext cx="108075" cy="38409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788657" y="4993386"/>
              <a:ext cx="1905" cy="292100"/>
            </a:xfrm>
            <a:custGeom>
              <a:avLst/>
              <a:gdLst/>
              <a:ahLst/>
              <a:cxnLst/>
              <a:rect l="l" t="t" r="r" b="b"/>
              <a:pathLst>
                <a:path w="1904" h="292100">
                  <a:moveTo>
                    <a:pt x="1524" y="0"/>
                  </a:moveTo>
                  <a:lnTo>
                    <a:pt x="0" y="29171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66431" y="4971237"/>
              <a:ext cx="108075" cy="3840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322057" y="4993386"/>
              <a:ext cx="1905" cy="292100"/>
            </a:xfrm>
            <a:custGeom>
              <a:avLst/>
              <a:gdLst/>
              <a:ahLst/>
              <a:cxnLst/>
              <a:rect l="l" t="t" r="r" b="b"/>
              <a:pathLst>
                <a:path w="1904" h="292100">
                  <a:moveTo>
                    <a:pt x="1524" y="0"/>
                  </a:moveTo>
                  <a:lnTo>
                    <a:pt x="0" y="29171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78623" y="4957572"/>
              <a:ext cx="627875" cy="10807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322057" y="4993386"/>
              <a:ext cx="533400" cy="1270"/>
            </a:xfrm>
            <a:custGeom>
              <a:avLst/>
              <a:gdLst/>
              <a:ahLst/>
              <a:cxnLst/>
              <a:rect l="l" t="t" r="r" b="b"/>
              <a:pathLst>
                <a:path w="533400" h="1270">
                  <a:moveTo>
                    <a:pt x="0" y="0"/>
                  </a:moveTo>
                  <a:lnTo>
                    <a:pt x="533400" y="126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1823" y="4957572"/>
              <a:ext cx="627875" cy="10807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55257" y="4993386"/>
              <a:ext cx="533400" cy="1270"/>
            </a:xfrm>
            <a:custGeom>
              <a:avLst/>
              <a:gdLst/>
              <a:ahLst/>
              <a:cxnLst/>
              <a:rect l="l" t="t" r="r" b="b"/>
              <a:pathLst>
                <a:path w="533400" h="1270">
                  <a:moveTo>
                    <a:pt x="0" y="0"/>
                  </a:moveTo>
                  <a:lnTo>
                    <a:pt x="533399" y="126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69251" y="5669279"/>
              <a:ext cx="166192" cy="14791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16495" y="5693663"/>
              <a:ext cx="76200" cy="579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11733" y="5688901"/>
              <a:ext cx="85725" cy="6743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89775" y="4218431"/>
              <a:ext cx="928116" cy="10807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645401" y="4254245"/>
              <a:ext cx="833755" cy="1270"/>
            </a:xfrm>
            <a:custGeom>
              <a:avLst/>
              <a:gdLst/>
              <a:ahLst/>
              <a:cxnLst/>
              <a:rect l="l" t="t" r="r" b="b"/>
              <a:pathLst>
                <a:path w="833754" h="1270">
                  <a:moveTo>
                    <a:pt x="833627" y="126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05827" y="3925773"/>
              <a:ext cx="108075" cy="38409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061453" y="3961637"/>
              <a:ext cx="1905" cy="290830"/>
            </a:xfrm>
            <a:custGeom>
              <a:avLst/>
              <a:gdLst/>
              <a:ahLst/>
              <a:cxnLst/>
              <a:rect l="l" t="t" r="r" b="b"/>
              <a:pathLst>
                <a:path w="1904" h="290829">
                  <a:moveTo>
                    <a:pt x="0" y="290322"/>
                  </a:moveTo>
                  <a:lnTo>
                    <a:pt x="15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71003" y="4219905"/>
              <a:ext cx="108075" cy="38409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326629" y="4255769"/>
              <a:ext cx="1905" cy="290830"/>
            </a:xfrm>
            <a:custGeom>
              <a:avLst/>
              <a:gdLst/>
              <a:ahLst/>
              <a:cxnLst/>
              <a:rect l="l" t="t" r="r" b="b"/>
              <a:pathLst>
                <a:path w="1904" h="290829">
                  <a:moveTo>
                    <a:pt x="0" y="290321"/>
                  </a:moveTo>
                  <a:lnTo>
                    <a:pt x="15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39127" y="4219905"/>
              <a:ext cx="108075" cy="38409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794753" y="4255769"/>
              <a:ext cx="1905" cy="290830"/>
            </a:xfrm>
            <a:custGeom>
              <a:avLst/>
              <a:gdLst/>
              <a:ahLst/>
              <a:cxnLst/>
              <a:rect l="l" t="t" r="r" b="b"/>
              <a:pathLst>
                <a:path w="1904" h="290829">
                  <a:moveTo>
                    <a:pt x="0" y="290321"/>
                  </a:moveTo>
                  <a:lnTo>
                    <a:pt x="15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10299" y="4509515"/>
              <a:ext cx="624852" cy="10807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265925" y="4545329"/>
              <a:ext cx="530860" cy="1270"/>
            </a:xfrm>
            <a:custGeom>
              <a:avLst/>
              <a:gdLst/>
              <a:ahLst/>
              <a:cxnLst/>
              <a:rect l="l" t="t" r="r" b="b"/>
              <a:pathLst>
                <a:path w="530859" h="1270">
                  <a:moveTo>
                    <a:pt x="530478" y="127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72527" y="4509515"/>
              <a:ext cx="624852" cy="10807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328153" y="4545329"/>
              <a:ext cx="530860" cy="1270"/>
            </a:xfrm>
            <a:custGeom>
              <a:avLst/>
              <a:gdLst/>
              <a:ahLst/>
              <a:cxnLst/>
              <a:rect l="l" t="t" r="r" b="b"/>
              <a:pathLst>
                <a:path w="530859" h="1270">
                  <a:moveTo>
                    <a:pt x="530478" y="127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76871" y="3893858"/>
              <a:ext cx="164706" cy="14791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24115" y="3918203"/>
              <a:ext cx="74675" cy="5791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19353" y="3913441"/>
              <a:ext cx="84200" cy="6743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14871" y="4501895"/>
              <a:ext cx="117229" cy="55321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269862" y="4537963"/>
              <a:ext cx="11430" cy="458470"/>
            </a:xfrm>
            <a:custGeom>
              <a:avLst/>
              <a:gdLst/>
              <a:ahLst/>
              <a:cxnLst/>
              <a:rect l="l" t="t" r="r" b="b"/>
              <a:pathLst>
                <a:path w="11429" h="458470">
                  <a:moveTo>
                    <a:pt x="0" y="458343"/>
                  </a:moveTo>
                  <a:lnTo>
                    <a:pt x="11175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99831" y="4501883"/>
              <a:ext cx="117231" cy="5517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115811" y="4565891"/>
              <a:ext cx="108076" cy="46026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171437" y="4588001"/>
              <a:ext cx="1270" cy="367665"/>
            </a:xfrm>
            <a:custGeom>
              <a:avLst/>
              <a:gdLst/>
              <a:ahLst/>
              <a:cxnLst/>
              <a:rect l="l" t="t" r="r" b="b"/>
              <a:pathLst>
                <a:path w="1270" h="367664">
                  <a:moveTo>
                    <a:pt x="1015" y="0"/>
                  </a:moveTo>
                  <a:lnTo>
                    <a:pt x="0" y="36715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59779" y="4735067"/>
              <a:ext cx="350545" cy="10807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915405" y="4770881"/>
              <a:ext cx="257810" cy="1270"/>
            </a:xfrm>
            <a:custGeom>
              <a:avLst/>
              <a:gdLst/>
              <a:ahLst/>
              <a:cxnLst/>
              <a:rect l="l" t="t" r="r" b="b"/>
              <a:pathLst>
                <a:path w="257810" h="1270">
                  <a:moveTo>
                    <a:pt x="257302" y="11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42757" y="4524374"/>
              <a:ext cx="162685" cy="50482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952994" y="4591049"/>
              <a:ext cx="1270" cy="367665"/>
            </a:xfrm>
            <a:custGeom>
              <a:avLst/>
              <a:gdLst/>
              <a:ahLst/>
              <a:cxnLst/>
              <a:rect l="l" t="t" r="r" b="b"/>
              <a:pathLst>
                <a:path w="1270" h="367664">
                  <a:moveTo>
                    <a:pt x="1015" y="0"/>
                  </a:moveTo>
                  <a:lnTo>
                    <a:pt x="0" y="36715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97367" y="4744211"/>
              <a:ext cx="350545" cy="108076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952994" y="4780025"/>
              <a:ext cx="257810" cy="1270"/>
            </a:xfrm>
            <a:custGeom>
              <a:avLst/>
              <a:gdLst/>
              <a:ahLst/>
              <a:cxnLst/>
              <a:rect l="l" t="t" r="r" b="b"/>
              <a:pathLst>
                <a:path w="257809" h="1270">
                  <a:moveTo>
                    <a:pt x="257301" y="11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206742" y="1542034"/>
            <a:ext cx="378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Calibri"/>
                <a:cs typeface="Calibri"/>
              </a:rPr>
              <a:t>v</a:t>
            </a:r>
            <a:r>
              <a:rPr sz="1800" b="1" dirty="0">
                <a:latin typeface="Calibri"/>
                <a:cs typeface="Calibri"/>
              </a:rPr>
              <a:t>dd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642228" y="4597145"/>
            <a:ext cx="13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252586" y="4612004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387084" y="1661147"/>
            <a:ext cx="755015" cy="2388235"/>
            <a:chOff x="6387084" y="1661147"/>
            <a:chExt cx="755015" cy="2388235"/>
          </a:xfrm>
        </p:grpSpPr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573012" y="2132101"/>
              <a:ext cx="182994" cy="22552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620256" y="2159507"/>
              <a:ext cx="92964" cy="13563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615493" y="2154745"/>
              <a:ext cx="102489" cy="14516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548628" y="3258375"/>
              <a:ext cx="182994" cy="22701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595872" y="3285743"/>
              <a:ext cx="92963" cy="13715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91109" y="3280981"/>
              <a:ext cx="102488" cy="14668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748272" y="3034258"/>
              <a:ext cx="108075" cy="696493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803898" y="3056381"/>
              <a:ext cx="1270" cy="604520"/>
            </a:xfrm>
            <a:custGeom>
              <a:avLst/>
              <a:gdLst/>
              <a:ahLst/>
              <a:cxnLst/>
              <a:rect l="l" t="t" r="r" b="b"/>
              <a:pathLst>
                <a:path w="1270" h="604520">
                  <a:moveTo>
                    <a:pt x="1016" y="0"/>
                  </a:moveTo>
                  <a:lnTo>
                    <a:pt x="0" y="604265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644640" y="3145510"/>
              <a:ext cx="108075" cy="47703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700266" y="3167633"/>
              <a:ext cx="1270" cy="384810"/>
            </a:xfrm>
            <a:custGeom>
              <a:avLst/>
              <a:gdLst/>
              <a:ahLst/>
              <a:cxnLst/>
              <a:rect l="l" t="t" r="r" b="b"/>
              <a:pathLst>
                <a:path w="1270" h="384810">
                  <a:moveTo>
                    <a:pt x="1015" y="0"/>
                  </a:moveTo>
                  <a:lnTo>
                    <a:pt x="0" y="38455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387084" y="3322319"/>
              <a:ext cx="352043" cy="10807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442710" y="3358133"/>
              <a:ext cx="259079" cy="1270"/>
            </a:xfrm>
            <a:custGeom>
              <a:avLst/>
              <a:gdLst/>
              <a:ahLst/>
              <a:cxnLst/>
              <a:rect l="l" t="t" r="r" b="b"/>
              <a:pathLst>
                <a:path w="259079" h="1270">
                  <a:moveTo>
                    <a:pt x="258571" y="1142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749796" y="3131819"/>
              <a:ext cx="352044" cy="108076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805422" y="3167633"/>
              <a:ext cx="259079" cy="1270"/>
            </a:xfrm>
            <a:custGeom>
              <a:avLst/>
              <a:gdLst/>
              <a:ahLst/>
              <a:cxnLst/>
              <a:rect l="l" t="t" r="r" b="b"/>
              <a:pathLst>
                <a:path w="259079" h="1269">
                  <a:moveTo>
                    <a:pt x="258572" y="1142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749796" y="3515867"/>
              <a:ext cx="352044" cy="108077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805422" y="3551681"/>
              <a:ext cx="259079" cy="1270"/>
            </a:xfrm>
            <a:custGeom>
              <a:avLst/>
              <a:gdLst/>
              <a:ahLst/>
              <a:cxnLst/>
              <a:rect l="l" t="t" r="r" b="b"/>
              <a:pathLst>
                <a:path w="259079" h="1270">
                  <a:moveTo>
                    <a:pt x="258572" y="1142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007352" y="3529558"/>
              <a:ext cx="108075" cy="477037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062978" y="3551681"/>
              <a:ext cx="1270" cy="384810"/>
            </a:xfrm>
            <a:custGeom>
              <a:avLst/>
              <a:gdLst/>
              <a:ahLst/>
              <a:cxnLst/>
              <a:rect l="l" t="t" r="r" b="b"/>
              <a:pathLst>
                <a:path w="1270" h="384810">
                  <a:moveTo>
                    <a:pt x="1016" y="0"/>
                  </a:moveTo>
                  <a:lnTo>
                    <a:pt x="0" y="38455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007352" y="2759938"/>
              <a:ext cx="108075" cy="477037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7062978" y="2782061"/>
              <a:ext cx="1270" cy="384810"/>
            </a:xfrm>
            <a:custGeom>
              <a:avLst/>
              <a:gdLst/>
              <a:ahLst/>
              <a:cxnLst/>
              <a:rect l="l" t="t" r="r" b="b"/>
              <a:pathLst>
                <a:path w="1270" h="384810">
                  <a:moveTo>
                    <a:pt x="1016" y="0"/>
                  </a:moveTo>
                  <a:lnTo>
                    <a:pt x="0" y="38455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990588" y="3904462"/>
              <a:ext cx="141731" cy="14467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037832" y="3928872"/>
              <a:ext cx="51816" cy="54863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7037832" y="3928872"/>
              <a:ext cx="52069" cy="55244"/>
            </a:xfrm>
            <a:custGeom>
              <a:avLst/>
              <a:gdLst/>
              <a:ahLst/>
              <a:cxnLst/>
              <a:rect l="l" t="t" r="r" b="b"/>
              <a:pathLst>
                <a:path w="52070" h="55245">
                  <a:moveTo>
                    <a:pt x="25908" y="0"/>
                  </a:moveTo>
                  <a:lnTo>
                    <a:pt x="36010" y="2160"/>
                  </a:lnTo>
                  <a:lnTo>
                    <a:pt x="44243" y="8048"/>
                  </a:lnTo>
                  <a:lnTo>
                    <a:pt x="49785" y="16769"/>
                  </a:lnTo>
                  <a:lnTo>
                    <a:pt x="51816" y="27431"/>
                  </a:lnTo>
                  <a:lnTo>
                    <a:pt x="49785" y="38094"/>
                  </a:lnTo>
                  <a:lnTo>
                    <a:pt x="44243" y="46815"/>
                  </a:lnTo>
                  <a:lnTo>
                    <a:pt x="36010" y="52703"/>
                  </a:lnTo>
                  <a:lnTo>
                    <a:pt x="25908" y="54863"/>
                  </a:lnTo>
                  <a:lnTo>
                    <a:pt x="15805" y="52703"/>
                  </a:lnTo>
                  <a:lnTo>
                    <a:pt x="7572" y="46815"/>
                  </a:lnTo>
                  <a:lnTo>
                    <a:pt x="2030" y="38094"/>
                  </a:lnTo>
                  <a:lnTo>
                    <a:pt x="0" y="27431"/>
                  </a:lnTo>
                  <a:lnTo>
                    <a:pt x="2030" y="16769"/>
                  </a:lnTo>
                  <a:lnTo>
                    <a:pt x="7572" y="8048"/>
                  </a:lnTo>
                  <a:lnTo>
                    <a:pt x="15805" y="2160"/>
                  </a:lnTo>
                  <a:lnTo>
                    <a:pt x="25908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752844" y="1923275"/>
              <a:ext cx="108075" cy="670572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6808470" y="1945385"/>
              <a:ext cx="1270" cy="577215"/>
            </a:xfrm>
            <a:custGeom>
              <a:avLst/>
              <a:gdLst/>
              <a:ahLst/>
              <a:cxnLst/>
              <a:rect l="l" t="t" r="r" b="b"/>
              <a:pathLst>
                <a:path w="1270" h="577214">
                  <a:moveTo>
                    <a:pt x="1015" y="0"/>
                  </a:moveTo>
                  <a:lnTo>
                    <a:pt x="0" y="576961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49212" y="2028431"/>
              <a:ext cx="108075" cy="46026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6704838" y="2050541"/>
              <a:ext cx="1270" cy="367665"/>
            </a:xfrm>
            <a:custGeom>
              <a:avLst/>
              <a:gdLst/>
              <a:ahLst/>
              <a:cxnLst/>
              <a:rect l="l" t="t" r="r" b="b"/>
              <a:pathLst>
                <a:path w="1270" h="367664">
                  <a:moveTo>
                    <a:pt x="1015" y="0"/>
                  </a:moveTo>
                  <a:lnTo>
                    <a:pt x="0" y="36715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391656" y="2197607"/>
              <a:ext cx="350545" cy="108076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6447282" y="2233421"/>
              <a:ext cx="257810" cy="1270"/>
            </a:xfrm>
            <a:custGeom>
              <a:avLst/>
              <a:gdLst/>
              <a:ahLst/>
              <a:cxnLst/>
              <a:rect l="l" t="t" r="r" b="b"/>
              <a:pathLst>
                <a:path w="257809" h="1269">
                  <a:moveTo>
                    <a:pt x="257301" y="1142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52844" y="2014727"/>
              <a:ext cx="350545" cy="10807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808470" y="2050541"/>
              <a:ext cx="257810" cy="1270"/>
            </a:xfrm>
            <a:custGeom>
              <a:avLst/>
              <a:gdLst/>
              <a:ahLst/>
              <a:cxnLst/>
              <a:rect l="l" t="t" r="r" b="b"/>
              <a:pathLst>
                <a:path w="257809" h="1269">
                  <a:moveTo>
                    <a:pt x="257301" y="1143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52844" y="2382011"/>
              <a:ext cx="350545" cy="108076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808470" y="2417825"/>
              <a:ext cx="257810" cy="1270"/>
            </a:xfrm>
            <a:custGeom>
              <a:avLst/>
              <a:gdLst/>
              <a:ahLst/>
              <a:cxnLst/>
              <a:rect l="l" t="t" r="r" b="b"/>
              <a:pathLst>
                <a:path w="257809" h="1269">
                  <a:moveTo>
                    <a:pt x="257301" y="1143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08876" y="2395715"/>
              <a:ext cx="108075" cy="460260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064502" y="2417825"/>
              <a:ext cx="1270" cy="367665"/>
            </a:xfrm>
            <a:custGeom>
              <a:avLst/>
              <a:gdLst/>
              <a:ahLst/>
              <a:cxnLst/>
              <a:rect l="l" t="t" r="r" b="b"/>
              <a:pathLst>
                <a:path w="1270" h="367664">
                  <a:moveTo>
                    <a:pt x="1016" y="0"/>
                  </a:moveTo>
                  <a:lnTo>
                    <a:pt x="0" y="36715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08876" y="1661147"/>
              <a:ext cx="108075" cy="460260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7064502" y="1683257"/>
              <a:ext cx="1270" cy="367665"/>
            </a:xfrm>
            <a:custGeom>
              <a:avLst/>
              <a:gdLst/>
              <a:ahLst/>
              <a:cxnLst/>
              <a:rect l="l" t="t" r="r" b="b"/>
              <a:pathLst>
                <a:path w="1270" h="367664">
                  <a:moveTo>
                    <a:pt x="1016" y="0"/>
                  </a:moveTo>
                  <a:lnTo>
                    <a:pt x="0" y="36715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75348" y="2737142"/>
              <a:ext cx="166192" cy="14791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22592" y="2761487"/>
              <a:ext cx="76200" cy="57912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017829" y="2756725"/>
              <a:ext cx="85725" cy="67437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6355460" y="4593717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n1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501890" y="4578857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n2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206742" y="5733999"/>
            <a:ext cx="31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vss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175375" y="2059304"/>
            <a:ext cx="13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206742" y="3752469"/>
            <a:ext cx="351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u</a:t>
            </a:r>
            <a:r>
              <a:rPr sz="1800" b="1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139688" y="3153866"/>
            <a:ext cx="148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840981" y="2056891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p1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825488" y="3175761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p2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6542531" y="2145817"/>
            <a:ext cx="215265" cy="1346200"/>
            <a:chOff x="6542531" y="2145817"/>
            <a:chExt cx="215265" cy="1346200"/>
          </a:xfrm>
        </p:grpSpPr>
        <p:pic>
          <p:nvPicPr>
            <p:cNvPr id="108" name="object 10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574535" y="2145817"/>
              <a:ext cx="182994" cy="225526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617017" y="2168461"/>
              <a:ext cx="102489" cy="145161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542531" y="3264471"/>
              <a:ext cx="182994" cy="227012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585013" y="3287077"/>
              <a:ext cx="102489" cy="146685"/>
            </a:xfrm>
            <a:prstGeom prst="rect">
              <a:avLst/>
            </a:prstGeom>
          </p:spPr>
        </p:pic>
      </p:grpSp>
      <p:graphicFrame>
        <p:nvGraphicFramePr>
          <p:cNvPr id="112" name="object 112"/>
          <p:cNvGraphicFramePr>
            <a:graphicFrameLocks noGrp="1"/>
          </p:cNvGraphicFramePr>
          <p:nvPr/>
        </p:nvGraphicFramePr>
        <p:xfrm>
          <a:off x="755650" y="2508250"/>
          <a:ext cx="4573901" cy="29565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3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3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34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p1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p2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n1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n2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1E1C11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OFF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3" name="object 11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62000" y="2514600"/>
            <a:ext cx="4572000" cy="2956560"/>
          </a:xfrm>
          <a:prstGeom prst="rect">
            <a:avLst/>
          </a:prstGeom>
        </p:spPr>
      </p:pic>
      <p:sp>
        <p:nvSpPr>
          <p:cNvPr id="114" name="object 1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26791" y="1224152"/>
            <a:ext cx="30219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32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30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AMPL</a:t>
            </a: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1473" y="5679135"/>
            <a:ext cx="163703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3545">
              <a:lnSpc>
                <a:spcPct val="12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4 INPUT 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CMOS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NOR</a:t>
            </a:r>
            <a:r>
              <a:rPr sz="18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40" dirty="0">
                <a:solidFill>
                  <a:srgbClr val="C00000"/>
                </a:solidFill>
                <a:latin typeface="Calibri"/>
                <a:cs typeface="Calibri"/>
              </a:rPr>
              <a:t>GATE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3198" y="1324737"/>
            <a:ext cx="23799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MO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000" spc="280" dirty="0">
                <a:solidFill>
                  <a:srgbClr val="C00000"/>
                </a:solidFill>
                <a:latin typeface="Tahoma"/>
                <a:cs typeface="Tahoma"/>
              </a:rPr>
              <a:t>N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D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4320" y="1728216"/>
            <a:ext cx="8564880" cy="4441190"/>
            <a:chOff x="274320" y="1728216"/>
            <a:chExt cx="8564880" cy="444119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320" y="1728216"/>
              <a:ext cx="4221480" cy="40629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000" y="5731763"/>
              <a:ext cx="4114800" cy="4373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29199" y="1888236"/>
              <a:ext cx="3787140" cy="36743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9720" y="5695187"/>
              <a:ext cx="3459479" cy="35814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995796" y="1524762"/>
            <a:ext cx="21977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5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MO</a:t>
            </a: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160" dirty="0">
                <a:solidFill>
                  <a:srgbClr val="C00000"/>
                </a:solidFill>
                <a:latin typeface="Tahoma"/>
                <a:cs typeface="Tahoma"/>
              </a:rPr>
              <a:t>OR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80" dirty="0">
                <a:latin typeface="Trebuchet MS"/>
                <a:cs typeface="Trebuchet MS"/>
              </a:rPr>
              <a:t>R</a:t>
            </a:r>
            <a:r>
              <a:rPr sz="3200" b="1" spc="-120" dirty="0">
                <a:latin typeface="Trebuchet MS"/>
                <a:cs typeface="Trebuchet MS"/>
              </a:rPr>
              <a:t>EV</a:t>
            </a:r>
            <a:r>
              <a:rPr sz="3200" b="1" spc="-55" dirty="0">
                <a:latin typeface="Trebuchet MS"/>
                <a:cs typeface="Trebuchet MS"/>
              </a:rPr>
              <a:t>I</a:t>
            </a:r>
            <a:r>
              <a:rPr sz="3200" b="1" spc="-220" dirty="0">
                <a:latin typeface="Trebuchet MS"/>
                <a:cs typeface="Trebuchet MS"/>
              </a:rPr>
              <a:t>EW</a:t>
            </a:r>
            <a:r>
              <a:rPr sz="3200" b="1" spc="-25" dirty="0">
                <a:latin typeface="Trebuchet MS"/>
                <a:cs typeface="Trebuchet MS"/>
              </a:rPr>
              <a:t> </a:t>
            </a:r>
            <a:r>
              <a:rPr sz="3200" b="1" spc="-220" dirty="0">
                <a:latin typeface="Trebuchet MS"/>
                <a:cs typeface="Trebuchet MS"/>
              </a:rPr>
              <a:t>OF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b="1" spc="-130" dirty="0">
                <a:latin typeface="Trebuchet MS"/>
                <a:cs typeface="Trebuchet MS"/>
              </a:rPr>
              <a:t>L</a:t>
            </a:r>
            <a:r>
              <a:rPr sz="3200" b="1" spc="-155" dirty="0">
                <a:latin typeface="Trebuchet MS"/>
                <a:cs typeface="Trebuchet MS"/>
              </a:rPr>
              <a:t>O</a:t>
            </a:r>
            <a:r>
              <a:rPr sz="3200" b="1" spc="-135" dirty="0">
                <a:latin typeface="Trebuchet MS"/>
                <a:cs typeface="Trebuchet MS"/>
              </a:rPr>
              <a:t>G</a:t>
            </a:r>
            <a:r>
              <a:rPr sz="3200" b="1" spc="30" dirty="0">
                <a:latin typeface="Trebuchet MS"/>
                <a:cs typeface="Trebuchet MS"/>
              </a:rPr>
              <a:t>IC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G</a:t>
            </a:r>
            <a:r>
              <a:rPr sz="3200" b="1" spc="-200" dirty="0">
                <a:latin typeface="Trebuchet MS"/>
                <a:cs typeface="Trebuchet MS"/>
              </a:rPr>
              <a:t>A</a:t>
            </a:r>
            <a:r>
              <a:rPr sz="3200" b="1" spc="-220" dirty="0">
                <a:latin typeface="Trebuchet MS"/>
                <a:cs typeface="Trebuchet MS"/>
              </a:rPr>
              <a:t>T</a:t>
            </a:r>
            <a:r>
              <a:rPr sz="3200" b="1" spc="-200" dirty="0">
                <a:latin typeface="Trebuchet MS"/>
                <a:cs typeface="Trebuchet MS"/>
              </a:rPr>
              <a:t>E</a:t>
            </a:r>
            <a:r>
              <a:rPr sz="3200" b="1" spc="-10" dirty="0">
                <a:latin typeface="Trebuchet MS"/>
                <a:cs typeface="Trebuchet MS"/>
              </a:rPr>
              <a:t> </a:t>
            </a:r>
            <a:r>
              <a:rPr sz="3200" b="1" spc="-270" dirty="0">
                <a:latin typeface="Trebuchet MS"/>
                <a:cs typeface="Trebuchet MS"/>
              </a:rPr>
              <a:t>F</a:t>
            </a:r>
            <a:r>
              <a:rPr sz="3200" b="1" spc="-290" dirty="0">
                <a:latin typeface="Trebuchet MS"/>
                <a:cs typeface="Trebuchet MS"/>
              </a:rPr>
              <a:t>A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15" dirty="0">
                <a:latin typeface="Trebuchet MS"/>
                <a:cs typeface="Trebuchet MS"/>
              </a:rPr>
              <a:t>ILIES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26791" y="1147952"/>
            <a:ext cx="30219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32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30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AMPL</a:t>
            </a: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39467" y="1676400"/>
            <a:ext cx="5617463" cy="462838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80" dirty="0">
                <a:latin typeface="Trebuchet MS"/>
                <a:cs typeface="Trebuchet MS"/>
              </a:rPr>
              <a:t>R</a:t>
            </a:r>
            <a:r>
              <a:rPr sz="3200" b="1" spc="-120" dirty="0">
                <a:latin typeface="Trebuchet MS"/>
                <a:cs typeface="Trebuchet MS"/>
              </a:rPr>
              <a:t>EV</a:t>
            </a:r>
            <a:r>
              <a:rPr sz="3200" b="1" spc="-55" dirty="0">
                <a:latin typeface="Trebuchet MS"/>
                <a:cs typeface="Trebuchet MS"/>
              </a:rPr>
              <a:t>I</a:t>
            </a:r>
            <a:r>
              <a:rPr sz="3200" b="1" spc="-220" dirty="0">
                <a:latin typeface="Trebuchet MS"/>
                <a:cs typeface="Trebuchet MS"/>
              </a:rPr>
              <a:t>EW</a:t>
            </a:r>
            <a:r>
              <a:rPr sz="3200" b="1" spc="-25" dirty="0">
                <a:latin typeface="Trebuchet MS"/>
                <a:cs typeface="Trebuchet MS"/>
              </a:rPr>
              <a:t> </a:t>
            </a:r>
            <a:r>
              <a:rPr sz="3200" b="1" spc="-220" dirty="0">
                <a:latin typeface="Trebuchet MS"/>
                <a:cs typeface="Trebuchet MS"/>
              </a:rPr>
              <a:t>OF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b="1" spc="-130" dirty="0">
                <a:latin typeface="Trebuchet MS"/>
                <a:cs typeface="Trebuchet MS"/>
              </a:rPr>
              <a:t>L</a:t>
            </a:r>
            <a:r>
              <a:rPr sz="3200" b="1" spc="-155" dirty="0">
                <a:latin typeface="Trebuchet MS"/>
                <a:cs typeface="Trebuchet MS"/>
              </a:rPr>
              <a:t>O</a:t>
            </a:r>
            <a:r>
              <a:rPr sz="3200" b="1" spc="-135" dirty="0">
                <a:latin typeface="Trebuchet MS"/>
                <a:cs typeface="Trebuchet MS"/>
              </a:rPr>
              <a:t>G</a:t>
            </a:r>
            <a:r>
              <a:rPr sz="3200" b="1" spc="30" dirty="0">
                <a:latin typeface="Trebuchet MS"/>
                <a:cs typeface="Trebuchet MS"/>
              </a:rPr>
              <a:t>IC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G</a:t>
            </a:r>
            <a:r>
              <a:rPr sz="3200" b="1" spc="-200" dirty="0">
                <a:latin typeface="Trebuchet MS"/>
                <a:cs typeface="Trebuchet MS"/>
              </a:rPr>
              <a:t>A</a:t>
            </a:r>
            <a:r>
              <a:rPr sz="3200" b="1" spc="-220" dirty="0">
                <a:latin typeface="Trebuchet MS"/>
                <a:cs typeface="Trebuchet MS"/>
              </a:rPr>
              <a:t>T</a:t>
            </a:r>
            <a:r>
              <a:rPr sz="3200" b="1" spc="-200" dirty="0">
                <a:latin typeface="Trebuchet MS"/>
                <a:cs typeface="Trebuchet MS"/>
              </a:rPr>
              <a:t>E</a:t>
            </a:r>
            <a:r>
              <a:rPr sz="3200" b="1" spc="-10" dirty="0">
                <a:latin typeface="Trebuchet MS"/>
                <a:cs typeface="Trebuchet MS"/>
              </a:rPr>
              <a:t> </a:t>
            </a:r>
            <a:r>
              <a:rPr sz="3200" b="1" spc="-270" dirty="0">
                <a:latin typeface="Trebuchet MS"/>
                <a:cs typeface="Trebuchet MS"/>
              </a:rPr>
              <a:t>F</a:t>
            </a:r>
            <a:r>
              <a:rPr sz="3200" b="1" spc="-290" dirty="0">
                <a:latin typeface="Trebuchet MS"/>
                <a:cs typeface="Trebuchet MS"/>
              </a:rPr>
              <a:t>A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15" dirty="0">
                <a:latin typeface="Trebuchet MS"/>
                <a:cs typeface="Trebuchet MS"/>
              </a:rPr>
              <a:t>ILIES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26791" y="1147952"/>
            <a:ext cx="30219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30" dirty="0">
                <a:solidFill>
                  <a:srgbClr val="C00000"/>
                </a:solidFill>
                <a:latin typeface="Tahoma"/>
                <a:cs typeface="Tahoma"/>
              </a:rPr>
              <a:t>C</a:t>
            </a:r>
            <a:r>
              <a:rPr sz="2000" spc="320" dirty="0">
                <a:solidFill>
                  <a:srgbClr val="C00000"/>
                </a:solidFill>
                <a:latin typeface="Tahoma"/>
                <a:cs typeface="Tahoma"/>
              </a:rPr>
              <a:t>M</a:t>
            </a:r>
            <a:r>
              <a:rPr sz="2000" spc="305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r>
              <a:rPr sz="2000" spc="-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C00000"/>
                </a:solidFill>
                <a:latin typeface="Tahoma"/>
                <a:cs typeface="Tahoma"/>
              </a:rPr>
              <a:t>L</a:t>
            </a:r>
            <a:r>
              <a:rPr sz="2000" spc="270" dirty="0">
                <a:solidFill>
                  <a:srgbClr val="C00000"/>
                </a:solidFill>
                <a:latin typeface="Tahoma"/>
                <a:cs typeface="Tahoma"/>
              </a:rPr>
              <a:t>O</a:t>
            </a:r>
            <a:r>
              <a:rPr sz="2000" spc="150" dirty="0">
                <a:solidFill>
                  <a:srgbClr val="C00000"/>
                </a:solidFill>
                <a:latin typeface="Tahoma"/>
                <a:cs typeface="Tahoma"/>
              </a:rPr>
              <a:t>G</a:t>
            </a:r>
            <a:r>
              <a:rPr sz="2000" spc="-25" dirty="0">
                <a:solidFill>
                  <a:srgbClr val="C00000"/>
                </a:solidFill>
                <a:latin typeface="Tahoma"/>
                <a:cs typeface="Tahoma"/>
              </a:rPr>
              <a:t>IC</a:t>
            </a:r>
            <a:r>
              <a:rPr sz="2000" spc="-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r>
              <a:rPr sz="2000" spc="-4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120" dirty="0">
                <a:solidFill>
                  <a:srgbClr val="C00000"/>
                </a:solidFill>
                <a:latin typeface="Tahoma"/>
                <a:cs typeface="Tahoma"/>
              </a:rPr>
              <a:t>X</a:t>
            </a:r>
            <a:r>
              <a:rPr sz="2000" spc="65" dirty="0">
                <a:solidFill>
                  <a:srgbClr val="C00000"/>
                </a:solidFill>
                <a:latin typeface="Tahoma"/>
                <a:cs typeface="Tahoma"/>
              </a:rPr>
              <a:t>AMPL</a:t>
            </a:r>
            <a:r>
              <a:rPr sz="2000" spc="50" dirty="0">
                <a:solidFill>
                  <a:srgbClr val="C00000"/>
                </a:solidFill>
                <a:latin typeface="Tahoma"/>
                <a:cs typeface="Tahoma"/>
              </a:rPr>
              <a:t>E</a:t>
            </a:r>
            <a:r>
              <a:rPr sz="2000" spc="-254" dirty="0">
                <a:solidFill>
                  <a:srgbClr val="C00000"/>
                </a:solidFill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2396" y="1723644"/>
            <a:ext cx="7331964" cy="45720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</a:t>
            </a:r>
            <a:r>
              <a:rPr spc="-120" dirty="0"/>
              <a:t>EV</a:t>
            </a:r>
            <a:r>
              <a:rPr spc="-55" dirty="0"/>
              <a:t>I</a:t>
            </a:r>
            <a:r>
              <a:rPr spc="-220" dirty="0"/>
              <a:t>EW</a:t>
            </a:r>
            <a:r>
              <a:rPr spc="-25" dirty="0"/>
              <a:t> </a:t>
            </a:r>
            <a:r>
              <a:rPr spc="-220" dirty="0"/>
              <a:t>OF</a:t>
            </a:r>
            <a:r>
              <a:rPr spc="-20" dirty="0"/>
              <a:t> </a:t>
            </a:r>
            <a:r>
              <a:rPr spc="-130" dirty="0"/>
              <a:t>L</a:t>
            </a:r>
            <a:r>
              <a:rPr spc="-155" dirty="0"/>
              <a:t>O</a:t>
            </a:r>
            <a:r>
              <a:rPr spc="-135" dirty="0"/>
              <a:t>G</a:t>
            </a:r>
            <a:r>
              <a:rPr spc="30" dirty="0"/>
              <a:t>IC</a:t>
            </a:r>
            <a:r>
              <a:rPr spc="-35" dirty="0"/>
              <a:t> </a:t>
            </a:r>
            <a:r>
              <a:rPr spc="-225" dirty="0"/>
              <a:t>G</a:t>
            </a:r>
            <a:r>
              <a:rPr spc="-200" dirty="0"/>
              <a:t>A</a:t>
            </a:r>
            <a:r>
              <a:rPr spc="-220" dirty="0"/>
              <a:t>T</a:t>
            </a:r>
            <a:r>
              <a:rPr spc="-200" dirty="0"/>
              <a:t>E</a:t>
            </a:r>
            <a:r>
              <a:rPr spc="-10" dirty="0"/>
              <a:t> </a:t>
            </a:r>
            <a:r>
              <a:rPr spc="-270" dirty="0"/>
              <a:t>F</a:t>
            </a:r>
            <a:r>
              <a:rPr spc="-290" dirty="0"/>
              <a:t>A</a:t>
            </a:r>
            <a:r>
              <a:rPr spc="-25" dirty="0"/>
              <a:t>M</a:t>
            </a:r>
            <a:r>
              <a:rPr spc="15" dirty="0"/>
              <a:t>ILIES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82488"/>
            <a:ext cx="8300084" cy="51066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620"/>
              </a:spcBef>
            </a:pPr>
            <a:r>
              <a:rPr sz="2000" spc="-50" dirty="0">
                <a:solidFill>
                  <a:srgbClr val="C00000"/>
                </a:solidFill>
                <a:latin typeface="Tahoma"/>
                <a:cs typeface="Tahoma"/>
              </a:rPr>
              <a:t>EXERCISE</a:t>
            </a:r>
            <a:r>
              <a:rPr sz="2000" spc="-10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C00000"/>
                </a:solidFill>
                <a:latin typeface="Tahoma"/>
                <a:cs typeface="Tahoma"/>
              </a:rPr>
              <a:t>PROBLEMS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715"/>
              </a:spcBef>
              <a:tabLst>
                <a:tab pos="1334135" algn="l"/>
                <a:tab pos="3051810" algn="l"/>
                <a:tab pos="4281805" algn="l"/>
                <a:tab pos="6244590" algn="l"/>
                <a:tab pos="7263130" algn="l"/>
              </a:tabLst>
            </a:pP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R</a:t>
            </a:r>
            <a:r>
              <a:rPr sz="2800" spc="-45" dirty="0">
                <a:solidFill>
                  <a:srgbClr val="006FC0"/>
                </a:solidFill>
                <a:latin typeface="Tahoma"/>
                <a:cs typeface="Tahoma"/>
              </a:rPr>
              <a:t>ea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2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65" dirty="0">
                <a:solidFill>
                  <a:srgbClr val="006FC0"/>
                </a:solidFill>
                <a:latin typeface="Tahoma"/>
                <a:cs typeface="Tahoma"/>
              </a:rPr>
              <a:t>z</a:t>
            </a:r>
            <a:r>
              <a:rPr sz="2800" spc="-100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45" dirty="0">
                <a:solidFill>
                  <a:srgbClr val="006FC0"/>
                </a:solidFill>
                <a:latin typeface="Tahoma"/>
                <a:cs typeface="Tahoma"/>
              </a:rPr>
              <a:t>f</a:t>
            </a:r>
            <a:r>
              <a:rPr sz="2800" spc="90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ll</a:t>
            </a: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wing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70" dirty="0">
                <a:solidFill>
                  <a:srgbClr val="006FC0"/>
                </a:solidFill>
                <a:latin typeface="Tahoma"/>
                <a:cs typeface="Tahoma"/>
              </a:rPr>
              <a:t>l</a:t>
            </a:r>
            <a:r>
              <a:rPr sz="2800" spc="185" dirty="0">
                <a:solidFill>
                  <a:srgbClr val="006FC0"/>
                </a:solidFill>
                <a:latin typeface="Tahoma"/>
                <a:cs typeface="Tahoma"/>
              </a:rPr>
              <a:t>o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gic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al	</a:t>
            </a:r>
            <a:r>
              <a:rPr sz="2800" spc="-155"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r>
              <a:rPr sz="2800" spc="35" dirty="0">
                <a:solidFill>
                  <a:srgbClr val="006FC0"/>
                </a:solidFill>
                <a:latin typeface="Tahoma"/>
                <a:cs typeface="Tahoma"/>
              </a:rPr>
              <a:t>x</a:t>
            </a:r>
            <a:r>
              <a:rPr sz="2800" spc="-105" dirty="0">
                <a:solidFill>
                  <a:srgbClr val="006FC0"/>
                </a:solidFill>
                <a:latin typeface="Tahoma"/>
                <a:cs typeface="Tahoma"/>
              </a:rPr>
              <a:t>press</a:t>
            </a:r>
            <a:r>
              <a:rPr sz="2800" spc="-40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z="2800" spc="-50" dirty="0">
                <a:solidFill>
                  <a:srgbClr val="006FC0"/>
                </a:solidFill>
                <a:latin typeface="Tahoma"/>
                <a:cs typeface="Tahoma"/>
              </a:rPr>
              <a:t>on</a:t>
            </a:r>
            <a:r>
              <a:rPr sz="2800" spc="-35"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usi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n</a:t>
            </a:r>
            <a:r>
              <a:rPr sz="2800" spc="-145" dirty="0">
                <a:solidFill>
                  <a:srgbClr val="006FC0"/>
                </a:solidFill>
                <a:latin typeface="Tahoma"/>
                <a:cs typeface="Tahoma"/>
              </a:rPr>
              <a:t>g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	</a:t>
            </a:r>
            <a:r>
              <a:rPr sz="2800" spc="280" dirty="0">
                <a:solidFill>
                  <a:srgbClr val="006FC0"/>
                </a:solidFill>
                <a:latin typeface="Tahoma"/>
                <a:cs typeface="Tahoma"/>
              </a:rPr>
              <a:t>C</a:t>
            </a:r>
            <a:r>
              <a:rPr sz="2800" spc="375" dirty="0">
                <a:solidFill>
                  <a:srgbClr val="006FC0"/>
                </a:solidFill>
                <a:latin typeface="Tahoma"/>
                <a:cs typeface="Tahoma"/>
              </a:rPr>
              <a:t>M</a:t>
            </a:r>
            <a:r>
              <a:rPr sz="2800" dirty="0">
                <a:solidFill>
                  <a:srgbClr val="006FC0"/>
                </a:solidFill>
                <a:latin typeface="Tahoma"/>
                <a:cs typeface="Tahoma"/>
              </a:rPr>
              <a:t>OS  </a:t>
            </a:r>
            <a:r>
              <a:rPr sz="2800" spc="-5" dirty="0">
                <a:solidFill>
                  <a:srgbClr val="006FC0"/>
                </a:solidFill>
                <a:latin typeface="Tahoma"/>
                <a:cs typeface="Tahoma"/>
              </a:rPr>
              <a:t>logic: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085"/>
              </a:spcBef>
              <a:tabLst>
                <a:tab pos="1442085" algn="l"/>
              </a:tabLst>
            </a:pPr>
            <a:r>
              <a:rPr sz="2800" spc="-235" dirty="0">
                <a:solidFill>
                  <a:srgbClr val="E36C09"/>
                </a:solidFill>
                <a:latin typeface="Tahoma"/>
                <a:cs typeface="Tahoma"/>
              </a:rPr>
              <a:t>1.	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006FC0"/>
                </a:solidFill>
                <a:latin typeface="Tahoma"/>
                <a:cs typeface="Tahoma"/>
              </a:rPr>
              <a:t>(AB+C)’</a:t>
            </a:r>
            <a:endParaRPr sz="2800">
              <a:latin typeface="Tahoma"/>
              <a:cs typeface="Tahoma"/>
            </a:endParaRPr>
          </a:p>
          <a:p>
            <a:pPr marL="1442085" indent="-515620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AutoNum type="arabicPeriod" startAt="2"/>
              <a:tabLst>
                <a:tab pos="1442085" algn="l"/>
                <a:tab pos="1442720" algn="l"/>
              </a:tabLst>
            </a:pP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spc="-9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7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006FC0"/>
                </a:solidFill>
                <a:latin typeface="Tahoma"/>
                <a:cs typeface="Tahoma"/>
              </a:rPr>
              <a:t>AB’+A’B</a:t>
            </a:r>
            <a:endParaRPr sz="2800">
              <a:latin typeface="Tahoma"/>
              <a:cs typeface="Tahoma"/>
            </a:endParaRPr>
          </a:p>
          <a:p>
            <a:pPr marL="1442085" indent="-515620">
              <a:lnSpc>
                <a:spcPct val="100000"/>
              </a:lnSpc>
              <a:spcBef>
                <a:spcPts val="1680"/>
              </a:spcBef>
              <a:buClr>
                <a:srgbClr val="E36C09"/>
              </a:buClr>
              <a:buAutoNum type="arabicPeriod" startAt="2"/>
              <a:tabLst>
                <a:tab pos="1442085" algn="l"/>
                <a:tab pos="1442720" algn="l"/>
              </a:tabLst>
            </a:pP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B’C+</a:t>
            </a:r>
            <a:r>
              <a:rPr sz="2800" spc="-7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35" dirty="0">
                <a:solidFill>
                  <a:srgbClr val="006FC0"/>
                </a:solidFill>
                <a:latin typeface="Tahoma"/>
                <a:cs typeface="Tahoma"/>
              </a:rPr>
              <a:t>ABC’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  <a:tabLst>
                <a:tab pos="1442085" algn="l"/>
              </a:tabLst>
            </a:pPr>
            <a:r>
              <a:rPr sz="2800" spc="10" dirty="0">
                <a:solidFill>
                  <a:srgbClr val="E36C09"/>
                </a:solidFill>
                <a:latin typeface="Tahoma"/>
                <a:cs typeface="Tahoma"/>
              </a:rPr>
              <a:t>4.	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(A(BC+D))’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685"/>
              </a:spcBef>
              <a:tabLst>
                <a:tab pos="1442085" algn="l"/>
              </a:tabLst>
            </a:pPr>
            <a:r>
              <a:rPr sz="2800" spc="10" dirty="0">
                <a:solidFill>
                  <a:srgbClr val="E36C09"/>
                </a:solidFill>
                <a:latin typeface="Tahoma"/>
                <a:cs typeface="Tahoma"/>
              </a:rPr>
              <a:t>5.	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spc="-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6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15" dirty="0">
                <a:solidFill>
                  <a:srgbClr val="006FC0"/>
                </a:solidFill>
                <a:latin typeface="Tahoma"/>
                <a:cs typeface="Tahoma"/>
              </a:rPr>
              <a:t>(AB+A(C+D))’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680"/>
              </a:spcBef>
              <a:tabLst>
                <a:tab pos="1442085" algn="l"/>
              </a:tabLst>
            </a:pPr>
            <a:r>
              <a:rPr sz="2800" spc="10" dirty="0">
                <a:solidFill>
                  <a:srgbClr val="E36C09"/>
                </a:solidFill>
                <a:latin typeface="Tahoma"/>
                <a:cs typeface="Tahoma"/>
              </a:rPr>
              <a:t>6.	</a:t>
            </a:r>
            <a:r>
              <a:rPr sz="2800" spc="50" dirty="0">
                <a:solidFill>
                  <a:srgbClr val="006FC0"/>
                </a:solidFill>
                <a:latin typeface="Tahoma"/>
                <a:cs typeface="Tahoma"/>
              </a:rPr>
              <a:t>Y</a:t>
            </a:r>
            <a:r>
              <a:rPr sz="2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29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2800" spc="-6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006FC0"/>
                </a:solidFill>
                <a:latin typeface="Tahoma"/>
                <a:cs typeface="Tahoma"/>
              </a:rPr>
              <a:t>(ABC+DE+F)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6736" y="202679"/>
              <a:ext cx="6504431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90802" y="321386"/>
            <a:ext cx="5958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80" dirty="0">
                <a:latin typeface="Trebuchet MS"/>
                <a:cs typeface="Trebuchet MS"/>
              </a:rPr>
              <a:t>R</a:t>
            </a:r>
            <a:r>
              <a:rPr sz="3200" b="1" spc="-120" dirty="0">
                <a:latin typeface="Trebuchet MS"/>
                <a:cs typeface="Trebuchet MS"/>
              </a:rPr>
              <a:t>EV</a:t>
            </a:r>
            <a:r>
              <a:rPr sz="3200" b="1" spc="-55" dirty="0">
                <a:latin typeface="Trebuchet MS"/>
                <a:cs typeface="Trebuchet MS"/>
              </a:rPr>
              <a:t>I</a:t>
            </a:r>
            <a:r>
              <a:rPr sz="3200" b="1" spc="-220" dirty="0">
                <a:latin typeface="Trebuchet MS"/>
                <a:cs typeface="Trebuchet MS"/>
              </a:rPr>
              <a:t>EW</a:t>
            </a:r>
            <a:r>
              <a:rPr sz="3200" b="1" spc="-25" dirty="0">
                <a:latin typeface="Trebuchet MS"/>
                <a:cs typeface="Trebuchet MS"/>
              </a:rPr>
              <a:t> </a:t>
            </a:r>
            <a:r>
              <a:rPr sz="3200" b="1" spc="-220" dirty="0">
                <a:latin typeface="Trebuchet MS"/>
                <a:cs typeface="Trebuchet MS"/>
              </a:rPr>
              <a:t>OF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b="1" spc="-130" dirty="0">
                <a:latin typeface="Trebuchet MS"/>
                <a:cs typeface="Trebuchet MS"/>
              </a:rPr>
              <a:t>L</a:t>
            </a:r>
            <a:r>
              <a:rPr sz="3200" b="1" spc="-155" dirty="0">
                <a:latin typeface="Trebuchet MS"/>
                <a:cs typeface="Trebuchet MS"/>
              </a:rPr>
              <a:t>O</a:t>
            </a:r>
            <a:r>
              <a:rPr sz="3200" b="1" spc="-135" dirty="0">
                <a:latin typeface="Trebuchet MS"/>
                <a:cs typeface="Trebuchet MS"/>
              </a:rPr>
              <a:t>G</a:t>
            </a:r>
            <a:r>
              <a:rPr sz="3200" b="1" spc="30" dirty="0">
                <a:latin typeface="Trebuchet MS"/>
                <a:cs typeface="Trebuchet MS"/>
              </a:rPr>
              <a:t>IC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spc="-225" dirty="0">
                <a:latin typeface="Trebuchet MS"/>
                <a:cs typeface="Trebuchet MS"/>
              </a:rPr>
              <a:t>G</a:t>
            </a:r>
            <a:r>
              <a:rPr sz="3200" b="1" spc="-200" dirty="0">
                <a:latin typeface="Trebuchet MS"/>
                <a:cs typeface="Trebuchet MS"/>
              </a:rPr>
              <a:t>A</a:t>
            </a:r>
            <a:r>
              <a:rPr sz="3200" b="1" spc="-220" dirty="0">
                <a:latin typeface="Trebuchet MS"/>
                <a:cs typeface="Trebuchet MS"/>
              </a:rPr>
              <a:t>T</a:t>
            </a:r>
            <a:r>
              <a:rPr sz="3200" b="1" spc="-200" dirty="0">
                <a:latin typeface="Trebuchet MS"/>
                <a:cs typeface="Trebuchet MS"/>
              </a:rPr>
              <a:t>E</a:t>
            </a:r>
            <a:r>
              <a:rPr sz="3200" b="1" spc="-10" dirty="0">
                <a:latin typeface="Trebuchet MS"/>
                <a:cs typeface="Trebuchet MS"/>
              </a:rPr>
              <a:t> </a:t>
            </a:r>
            <a:r>
              <a:rPr sz="3200" b="1" spc="-270" dirty="0">
                <a:latin typeface="Trebuchet MS"/>
                <a:cs typeface="Trebuchet MS"/>
              </a:rPr>
              <a:t>F</a:t>
            </a:r>
            <a:r>
              <a:rPr sz="3200" b="1" spc="-290" dirty="0">
                <a:latin typeface="Trebuchet MS"/>
                <a:cs typeface="Trebuchet MS"/>
              </a:rPr>
              <a:t>A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15" dirty="0">
                <a:latin typeface="Trebuchet MS"/>
                <a:cs typeface="Trebuchet MS"/>
              </a:rPr>
              <a:t>ILIES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08552" y="1147952"/>
            <a:ext cx="12757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00" dirty="0">
                <a:solidFill>
                  <a:srgbClr val="C00000"/>
                </a:solidFill>
                <a:latin typeface="Tahoma"/>
                <a:cs typeface="Tahoma"/>
              </a:rPr>
              <a:t>SUMMARY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8159" y="1752600"/>
            <a:ext cx="8168640" cy="46863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A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289" y="2601423"/>
            <a:ext cx="5013268" cy="30519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762000"/>
            <a:ext cx="7848600" cy="2758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266943"/>
            <a:ext cx="2057399" cy="1591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9723</Words>
  <Application>Microsoft Office PowerPoint</Application>
  <PresentationFormat>On-screen Show (4:3)</PresentationFormat>
  <Paragraphs>1422</Paragraphs>
  <Slides>215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215</vt:i4>
      </vt:variant>
    </vt:vector>
  </HeadingPairs>
  <TitlesOfParts>
    <vt:vector size="224" baseType="lpstr">
      <vt:lpstr>Arial</vt:lpstr>
      <vt:lpstr>Calibri</vt:lpstr>
      <vt:lpstr>Cambria</vt:lpstr>
      <vt:lpstr>Microsoft Sans Serif</vt:lpstr>
      <vt:lpstr>Tahoma</vt:lpstr>
      <vt:lpstr>Times New Roman</vt:lpstr>
      <vt:lpstr>Trebuchet MS</vt:lpstr>
      <vt:lpstr>Wingdings</vt:lpstr>
      <vt:lpstr>Office Theme</vt:lpstr>
      <vt:lpstr>PowerPoint Presentation</vt:lpstr>
      <vt:lpstr>TOPIC -1</vt:lpstr>
      <vt:lpstr>PowerPoint Presentation</vt:lpstr>
      <vt:lpstr>PowerPoint Presentation</vt:lpstr>
      <vt:lpstr>INTRODUCTION TO DIGITAL SYSTEMS</vt:lpstr>
      <vt:lpstr>INTRODUCTION TO DIGITAL SYSTEMS</vt:lpstr>
      <vt:lpstr>PowerPoint Presentation</vt:lpstr>
      <vt:lpstr>PowerPoint Presentation</vt:lpstr>
      <vt:lpstr>INTRODUCTION TO DIGITAL SYSTEMS</vt:lpstr>
      <vt:lpstr>PowerPoint Presentation</vt:lpstr>
      <vt:lpstr>PowerPoint Presentation</vt:lpstr>
      <vt:lpstr>INTRODUCTION TO DIGITAL SYSTEMS</vt:lpstr>
      <vt:lpstr>INTRODUCTION TO DIGITAL SYSTEMS</vt:lpstr>
      <vt:lpstr>INTRODUCTION TO DIGITAL SYSTEMS</vt:lpstr>
      <vt:lpstr>INTRODUCTION TO DIGITAL SYSTEMS</vt:lpstr>
      <vt:lpstr>PowerPoint Presentation</vt:lpstr>
      <vt:lpstr>PowerPoint Presentation</vt:lpstr>
      <vt:lpstr>PowerPoint Presentation</vt:lpstr>
      <vt:lpstr>PowerPoint Presentation</vt:lpstr>
      <vt:lpstr>BINARY NUMBERS</vt:lpstr>
      <vt:lpstr>BINARY NUMBERS</vt:lpstr>
      <vt:lpstr>BINARY NUMBERS</vt:lpstr>
      <vt:lpstr>PowerPoint Presentation</vt:lpstr>
      <vt:lpstr>NUMBER BASE CONVERSIONS</vt:lpstr>
      <vt:lpstr>NUMBER BASE CONVERSIONS</vt:lpstr>
      <vt:lpstr>NUMBER BASE CONVERSIONS</vt:lpstr>
      <vt:lpstr>NUMBER BASE CONVERSIONS</vt:lpstr>
      <vt:lpstr>NUMBER BASE CONVERSIONS</vt:lpstr>
      <vt:lpstr>NUMBER BASE CONVERSIONS</vt:lpstr>
      <vt:lpstr>PowerPoint Presentation</vt:lpstr>
      <vt:lpstr>PowerPoint Presentation</vt:lpstr>
      <vt:lpstr>NUMBER BASE CONVERSIONS</vt:lpstr>
      <vt:lpstr>NUMBER BASE CONVERSIONS</vt:lpstr>
      <vt:lpstr>NUMBER BASE CONVERSIONS</vt:lpstr>
      <vt:lpstr>NUMBER BASE CONVERSIONS</vt:lpstr>
      <vt:lpstr>NUMBER BASE CONVERSIONS</vt:lpstr>
      <vt:lpstr>NUMBER BASE CONVERSIONS</vt:lpstr>
      <vt:lpstr>PowerPoint Presentation</vt:lpstr>
      <vt:lpstr>PowerPoint Presentation</vt:lpstr>
      <vt:lpstr>BINARY ARITHMETIC</vt:lpstr>
      <vt:lpstr>BINARY ARITHMETIC</vt:lpstr>
      <vt:lpstr>BINARY ARITHMETIC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REPRESENTATION OF NEGATIVE NUMBERS</vt:lpstr>
      <vt:lpstr>REPRESENTATION OF NEGATIVE NUMBERS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-2</vt:lpstr>
      <vt:lpstr>PowerPoint Presentation</vt:lpstr>
      <vt:lpstr>BOOLEAN ALGEBRA</vt:lpstr>
      <vt:lpstr>BOOLEAN ALGEBRA</vt:lpstr>
      <vt:lpstr>BOOLEAN ALGEBRA</vt:lpstr>
      <vt:lpstr>BOOLEAN ALGEBRA</vt:lpstr>
      <vt:lpstr>BOOLEAN ALGEBRA</vt:lpstr>
      <vt:lpstr>BOOLEAN ALGEBRA</vt:lpstr>
      <vt:lpstr>BOOLEAN ALGEBRA</vt:lpstr>
      <vt:lpstr>BOOLEAN ALGEBRA</vt:lpstr>
      <vt:lpstr>PowerPoint Presentation</vt:lpstr>
      <vt:lpstr>PowerPoint Presentation</vt:lpstr>
      <vt:lpstr>PowerPoint Presentation</vt:lpstr>
      <vt:lpstr>BOOLEAN ALGEBRA</vt:lpstr>
      <vt:lpstr>BOOLEAN ALGEBRA</vt:lpstr>
      <vt:lpstr>PowerPoint Presentation</vt:lpstr>
      <vt:lpstr>BOOLEAN ALGEBRA</vt:lpstr>
      <vt:lpstr>BOOLEAN ALGEBRA</vt:lpstr>
      <vt:lpstr>BOOLEAN ALGEBRA</vt:lpstr>
      <vt:lpstr>BOOLEAN ALGEBRA</vt:lpstr>
      <vt:lpstr>BOOLEAN ALGEBRA</vt:lpstr>
      <vt:lpstr>BOOLEAN ALGEBRA</vt:lpstr>
      <vt:lpstr>PowerPoint Presentation</vt:lpstr>
      <vt:lpstr>CANONICAL AND STANDARD FORMS</vt:lpstr>
      <vt:lpstr>CANONICAL AND STANDARD FORMS</vt:lpstr>
      <vt:lpstr>PowerPoint Presentation</vt:lpstr>
      <vt:lpstr>CANONICAL AND STANDARD FORMS</vt:lpstr>
      <vt:lpstr>CANONICAL AND STANDARD FORMS</vt:lpstr>
      <vt:lpstr>CANONICAL AND STANDARD FORMS</vt:lpstr>
      <vt:lpstr>CANONICAL AND STANDARD FORMS</vt:lpstr>
      <vt:lpstr>CANONICAL AND STANDARD FORMS</vt:lpstr>
      <vt:lpstr>PowerPoint Presentation</vt:lpstr>
      <vt:lpstr>CANONICAL AND STANDARD FORMS</vt:lpstr>
      <vt:lpstr>CANONICAL AND STANDARD FORMS</vt:lpstr>
      <vt:lpstr>CANONICAL AND STANDARD FORMS</vt:lpstr>
      <vt:lpstr>PowerPoint Presentation</vt:lpstr>
      <vt:lpstr>CANONICAL AND STANDARD FORMS</vt:lpstr>
      <vt:lpstr>CANONICAL AND STANDARD FORMS</vt:lpstr>
      <vt:lpstr>CANONICAL AND STANDARD FORMS</vt:lpstr>
      <vt:lpstr>CANONICAL AND STANDARD FORMS</vt:lpstr>
      <vt:lpstr>PowerPoint Presentation</vt:lpstr>
      <vt:lpstr>CANONICAL AND STANDARD FORMS</vt:lpstr>
      <vt:lpstr>CANONICAL AND STANDARD FORMS</vt:lpstr>
      <vt:lpstr>PowerPoint Presentation</vt:lpstr>
      <vt:lpstr>TOPIC-3</vt:lpstr>
      <vt:lpstr>PowerPoint Presentation</vt:lpstr>
      <vt:lpstr>SIMPLIFICATION USING BOOLEAN ALGEBRA</vt:lpstr>
      <vt:lpstr>SIMPLIFICATION USING BOOLEAN ALGEBRA</vt:lpstr>
      <vt:lpstr>SIMPLIFICATION USING BOOLEAN ALGEBRA</vt:lpstr>
      <vt:lpstr>SIMPLIFICATION USING BOOLEAN ALGEBRA</vt:lpstr>
      <vt:lpstr>PowerPoint Presentation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GATE MINIMIZATION USING K-MAP</vt:lpstr>
      <vt:lpstr>PowerPoint Presentation</vt:lpstr>
      <vt:lpstr>NAND &amp; NOR IMPLEMENTATION</vt:lpstr>
      <vt:lpstr>NAND &amp; NOR IMPLEMENTATION</vt:lpstr>
      <vt:lpstr>PowerPoint Presentation</vt:lpstr>
      <vt:lpstr>PowerPoint Presentation</vt:lpstr>
      <vt:lpstr>NAND &amp; NOR IMPLEMENTATION</vt:lpstr>
      <vt:lpstr>PowerPoint Presentation</vt:lpstr>
      <vt:lpstr>PowerPoint Presentation</vt:lpstr>
      <vt:lpstr>NAND &amp; NOR IMPLEMENTATION</vt:lpstr>
      <vt:lpstr>PowerPoint Presentation</vt:lpstr>
      <vt:lpstr>NAND &amp; NOR IMPLEMENTATION</vt:lpstr>
      <vt:lpstr>NAND &amp; NOR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NAND &amp; NOR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ELECTRICAL CHARACTERISTICS</vt:lpstr>
      <vt:lpstr>ELECTRICAL CHARACTERISTICS</vt:lpstr>
      <vt:lpstr>ELECTRICAL CHARACTERISTICS</vt:lpstr>
      <vt:lpstr>ELECTRICAL CHARACTERISTICS</vt:lpstr>
      <vt:lpstr>PowerPoint Presentation</vt:lpstr>
      <vt:lpstr>PowerPoint Presentation</vt:lpstr>
      <vt:lpstr>PowerPoint Presentation</vt:lpstr>
      <vt:lpstr>ELECTRICAL CHARACTERISTICS</vt:lpstr>
      <vt:lpstr>ELECTRICAL CHARACTERISTICS</vt:lpstr>
      <vt:lpstr>PowerPoint Presentation</vt:lpstr>
      <vt:lpstr>ELECTRICAL CHARACTERISTICS</vt:lpstr>
      <vt:lpstr>ELECTRICAL CHARACTERISTICS</vt:lpstr>
      <vt:lpstr>ELECTRICAL CHARACTERISTICS</vt:lpstr>
      <vt:lpstr>ELECTRICAL CHARACTERISTICS</vt:lpstr>
      <vt:lpstr>PowerPoint Presentation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PowerPoint Presentation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REVIEW OF LOGIC GATE FAMILIES</vt:lpstr>
      <vt:lpstr>PowerPoint Presentation</vt:lpstr>
      <vt:lpstr>PowerPoint Presentation</vt:lpstr>
      <vt:lpstr>REVIEW OF LOGIC GATE FAMILIES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PRAKASH</dc:creator>
  <cp:lastModifiedBy>Vidya Vinodh</cp:lastModifiedBy>
  <cp:revision>3</cp:revision>
  <dcterms:created xsi:type="dcterms:W3CDTF">2023-02-14T08:41:55Z</dcterms:created>
  <dcterms:modified xsi:type="dcterms:W3CDTF">2024-07-27T11:02:29Z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2023-02-14T00:00:00Z</vt:filetime>
  </property>
</Properties>
</file>