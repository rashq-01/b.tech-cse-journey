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1" d="100"/>
          <a:sy n="51" d="100"/>
        </p:scale>
        <p:origin x="1387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38" Type="http://schemas.openxmlformats.org/officeDocument/2006/relationships/slide" Target="slides/slide137.xml"/><Relationship Id="rId154" Type="http://schemas.openxmlformats.org/officeDocument/2006/relationships/slide" Target="slides/slide153.xml"/><Relationship Id="rId159" Type="http://schemas.openxmlformats.org/officeDocument/2006/relationships/slide" Target="slides/slide158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144" Type="http://schemas.openxmlformats.org/officeDocument/2006/relationships/slide" Target="slides/slide143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65" Type="http://schemas.openxmlformats.org/officeDocument/2006/relationships/slide" Target="slides/slide16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55" Type="http://schemas.openxmlformats.org/officeDocument/2006/relationships/slide" Target="slides/slide15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61" Type="http://schemas.openxmlformats.org/officeDocument/2006/relationships/slide" Target="slides/slide160.xml"/><Relationship Id="rId16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64" Type="http://schemas.openxmlformats.org/officeDocument/2006/relationships/slide" Target="slides/slide163.xml"/><Relationship Id="rId16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589908" y="321386"/>
            <a:ext cx="1964182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43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43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43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43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21741" y="1430274"/>
            <a:ext cx="8686800" cy="4057015"/>
          </a:xfrm>
          <a:custGeom>
            <a:avLst/>
            <a:gdLst/>
            <a:ahLst/>
            <a:cxnLst/>
            <a:rect l="l" t="t" r="r" b="b"/>
            <a:pathLst>
              <a:path w="8686800" h="4057015">
                <a:moveTo>
                  <a:pt x="8686800" y="0"/>
                </a:moveTo>
                <a:lnTo>
                  <a:pt x="0" y="0"/>
                </a:lnTo>
                <a:lnTo>
                  <a:pt x="0" y="4056888"/>
                </a:lnTo>
                <a:lnTo>
                  <a:pt x="8686800" y="4056888"/>
                </a:lnTo>
                <a:lnTo>
                  <a:pt x="86868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21741" y="1430274"/>
            <a:ext cx="8686800" cy="4057015"/>
          </a:xfrm>
          <a:custGeom>
            <a:avLst/>
            <a:gdLst/>
            <a:ahLst/>
            <a:cxnLst/>
            <a:rect l="l" t="t" r="r" b="b"/>
            <a:pathLst>
              <a:path w="8686800" h="4057015">
                <a:moveTo>
                  <a:pt x="0" y="4056888"/>
                </a:moveTo>
                <a:lnTo>
                  <a:pt x="8686800" y="4056888"/>
                </a:lnTo>
                <a:lnTo>
                  <a:pt x="8686800" y="0"/>
                </a:lnTo>
                <a:lnTo>
                  <a:pt x="0" y="0"/>
                </a:lnTo>
                <a:lnTo>
                  <a:pt x="0" y="405688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16764"/>
            <a:ext cx="9143999" cy="66827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13537" y="131826"/>
            <a:ext cx="8924925" cy="6457315"/>
          </a:xfrm>
          <a:custGeom>
            <a:avLst/>
            <a:gdLst/>
            <a:ahLst/>
            <a:cxnLst/>
            <a:rect l="l" t="t" r="r" b="b"/>
            <a:pathLst>
              <a:path w="8924925" h="6457315">
                <a:moveTo>
                  <a:pt x="1076210" y="0"/>
                </a:moveTo>
                <a:lnTo>
                  <a:pt x="7848345" y="0"/>
                </a:lnTo>
                <a:lnTo>
                  <a:pt x="7896283" y="1048"/>
                </a:lnTo>
                <a:lnTo>
                  <a:pt x="7943684" y="4165"/>
                </a:lnTo>
                <a:lnTo>
                  <a:pt x="7990503" y="9306"/>
                </a:lnTo>
                <a:lnTo>
                  <a:pt x="8036699" y="16427"/>
                </a:lnTo>
                <a:lnTo>
                  <a:pt x="8082226" y="25485"/>
                </a:lnTo>
                <a:lnTo>
                  <a:pt x="8127042" y="36437"/>
                </a:lnTo>
                <a:lnTo>
                  <a:pt x="8171102" y="49237"/>
                </a:lnTo>
                <a:lnTo>
                  <a:pt x="8214362" y="63843"/>
                </a:lnTo>
                <a:lnTo>
                  <a:pt x="8256780" y="80211"/>
                </a:lnTo>
                <a:lnTo>
                  <a:pt x="8298310" y="98297"/>
                </a:lnTo>
                <a:lnTo>
                  <a:pt x="8338910" y="118058"/>
                </a:lnTo>
                <a:lnTo>
                  <a:pt x="8378535" y="139449"/>
                </a:lnTo>
                <a:lnTo>
                  <a:pt x="8417143" y="162426"/>
                </a:lnTo>
                <a:lnTo>
                  <a:pt x="8454688" y="186947"/>
                </a:lnTo>
                <a:lnTo>
                  <a:pt x="8491128" y="212967"/>
                </a:lnTo>
                <a:lnTo>
                  <a:pt x="8526419" y="240443"/>
                </a:lnTo>
                <a:lnTo>
                  <a:pt x="8560516" y="269331"/>
                </a:lnTo>
                <a:lnTo>
                  <a:pt x="8593377" y="299586"/>
                </a:lnTo>
                <a:lnTo>
                  <a:pt x="8624957" y="331166"/>
                </a:lnTo>
                <a:lnTo>
                  <a:pt x="8655212" y="364027"/>
                </a:lnTo>
                <a:lnTo>
                  <a:pt x="8684100" y="398124"/>
                </a:lnTo>
                <a:lnTo>
                  <a:pt x="8711576" y="433415"/>
                </a:lnTo>
                <a:lnTo>
                  <a:pt x="8737596" y="469855"/>
                </a:lnTo>
                <a:lnTo>
                  <a:pt x="8762117" y="507400"/>
                </a:lnTo>
                <a:lnTo>
                  <a:pt x="8785094" y="546008"/>
                </a:lnTo>
                <a:lnTo>
                  <a:pt x="8806485" y="585633"/>
                </a:lnTo>
                <a:lnTo>
                  <a:pt x="8826246" y="626233"/>
                </a:lnTo>
                <a:lnTo>
                  <a:pt x="8844332" y="667763"/>
                </a:lnTo>
                <a:lnTo>
                  <a:pt x="8860700" y="710181"/>
                </a:lnTo>
                <a:lnTo>
                  <a:pt x="8875306" y="753441"/>
                </a:lnTo>
                <a:lnTo>
                  <a:pt x="8888106" y="797501"/>
                </a:lnTo>
                <a:lnTo>
                  <a:pt x="8899058" y="842317"/>
                </a:lnTo>
                <a:lnTo>
                  <a:pt x="8908116" y="887844"/>
                </a:lnTo>
                <a:lnTo>
                  <a:pt x="8915237" y="934040"/>
                </a:lnTo>
                <a:lnTo>
                  <a:pt x="8920378" y="980859"/>
                </a:lnTo>
                <a:lnTo>
                  <a:pt x="8923495" y="1028260"/>
                </a:lnTo>
                <a:lnTo>
                  <a:pt x="8924543" y="1076198"/>
                </a:lnTo>
                <a:lnTo>
                  <a:pt x="8924543" y="6457188"/>
                </a:lnTo>
                <a:lnTo>
                  <a:pt x="0" y="6457188"/>
                </a:lnTo>
                <a:lnTo>
                  <a:pt x="0" y="1076198"/>
                </a:lnTo>
                <a:lnTo>
                  <a:pt x="1048" y="1028260"/>
                </a:lnTo>
                <a:lnTo>
                  <a:pt x="4165" y="980859"/>
                </a:lnTo>
                <a:lnTo>
                  <a:pt x="9306" y="934040"/>
                </a:lnTo>
                <a:lnTo>
                  <a:pt x="16427" y="887844"/>
                </a:lnTo>
                <a:lnTo>
                  <a:pt x="25485" y="842317"/>
                </a:lnTo>
                <a:lnTo>
                  <a:pt x="36437" y="797501"/>
                </a:lnTo>
                <a:lnTo>
                  <a:pt x="49237" y="753441"/>
                </a:lnTo>
                <a:lnTo>
                  <a:pt x="63844" y="710181"/>
                </a:lnTo>
                <a:lnTo>
                  <a:pt x="80212" y="667763"/>
                </a:lnTo>
                <a:lnTo>
                  <a:pt x="98298" y="626233"/>
                </a:lnTo>
                <a:lnTo>
                  <a:pt x="118058" y="585633"/>
                </a:lnTo>
                <a:lnTo>
                  <a:pt x="139449" y="546008"/>
                </a:lnTo>
                <a:lnTo>
                  <a:pt x="162427" y="507400"/>
                </a:lnTo>
                <a:lnTo>
                  <a:pt x="186948" y="469855"/>
                </a:lnTo>
                <a:lnTo>
                  <a:pt x="212968" y="433415"/>
                </a:lnTo>
                <a:lnTo>
                  <a:pt x="240444" y="398124"/>
                </a:lnTo>
                <a:lnTo>
                  <a:pt x="269332" y="364027"/>
                </a:lnTo>
                <a:lnTo>
                  <a:pt x="299588" y="331166"/>
                </a:lnTo>
                <a:lnTo>
                  <a:pt x="331168" y="299586"/>
                </a:lnTo>
                <a:lnTo>
                  <a:pt x="364029" y="269331"/>
                </a:lnTo>
                <a:lnTo>
                  <a:pt x="398127" y="240443"/>
                </a:lnTo>
                <a:lnTo>
                  <a:pt x="433418" y="212967"/>
                </a:lnTo>
                <a:lnTo>
                  <a:pt x="469858" y="186947"/>
                </a:lnTo>
                <a:lnTo>
                  <a:pt x="507404" y="162426"/>
                </a:lnTo>
                <a:lnTo>
                  <a:pt x="546012" y="139449"/>
                </a:lnTo>
                <a:lnTo>
                  <a:pt x="585637" y="118058"/>
                </a:lnTo>
                <a:lnTo>
                  <a:pt x="626238" y="98297"/>
                </a:lnTo>
                <a:lnTo>
                  <a:pt x="667769" y="80211"/>
                </a:lnTo>
                <a:lnTo>
                  <a:pt x="710187" y="63843"/>
                </a:lnTo>
                <a:lnTo>
                  <a:pt x="753448" y="49237"/>
                </a:lnTo>
                <a:lnTo>
                  <a:pt x="797509" y="36437"/>
                </a:lnTo>
                <a:lnTo>
                  <a:pt x="842325" y="25485"/>
                </a:lnTo>
                <a:lnTo>
                  <a:pt x="887853" y="16427"/>
                </a:lnTo>
                <a:lnTo>
                  <a:pt x="934049" y="9306"/>
                </a:lnTo>
                <a:lnTo>
                  <a:pt x="980870" y="4165"/>
                </a:lnTo>
                <a:lnTo>
                  <a:pt x="1028272" y="1048"/>
                </a:lnTo>
                <a:lnTo>
                  <a:pt x="1076210" y="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43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93241" y="982217"/>
            <a:ext cx="7589519" cy="762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93241" y="982217"/>
            <a:ext cx="7589520" cy="76200"/>
          </a:xfrm>
          <a:custGeom>
            <a:avLst/>
            <a:gdLst/>
            <a:ahLst/>
            <a:cxnLst/>
            <a:rect l="l" t="t" r="r" b="b"/>
            <a:pathLst>
              <a:path w="7589520" h="76200">
                <a:moveTo>
                  <a:pt x="0" y="38100"/>
                </a:moveTo>
                <a:lnTo>
                  <a:pt x="43341" y="32313"/>
                </a:lnTo>
                <a:lnTo>
                  <a:pt x="87526" y="29914"/>
                </a:lnTo>
                <a:lnTo>
                  <a:pt x="146355" y="27571"/>
                </a:lnTo>
                <a:lnTo>
                  <a:pt x="193462" y="26042"/>
                </a:lnTo>
                <a:lnTo>
                  <a:pt x="246707" y="24541"/>
                </a:lnTo>
                <a:lnTo>
                  <a:pt x="305942" y="23070"/>
                </a:lnTo>
                <a:lnTo>
                  <a:pt x="371019" y="21631"/>
                </a:lnTo>
                <a:lnTo>
                  <a:pt x="441788" y="20224"/>
                </a:lnTo>
                <a:lnTo>
                  <a:pt x="518103" y="18852"/>
                </a:lnTo>
                <a:lnTo>
                  <a:pt x="558294" y="18179"/>
                </a:lnTo>
                <a:lnTo>
                  <a:pt x="599815" y="17515"/>
                </a:lnTo>
                <a:lnTo>
                  <a:pt x="642648" y="16861"/>
                </a:lnTo>
                <a:lnTo>
                  <a:pt x="686776" y="16216"/>
                </a:lnTo>
                <a:lnTo>
                  <a:pt x="732178" y="15581"/>
                </a:lnTo>
                <a:lnTo>
                  <a:pt x="778837" y="14956"/>
                </a:lnTo>
                <a:lnTo>
                  <a:pt x="826734" y="14340"/>
                </a:lnTo>
                <a:lnTo>
                  <a:pt x="875851" y="13735"/>
                </a:lnTo>
                <a:lnTo>
                  <a:pt x="926168" y="13140"/>
                </a:lnTo>
                <a:lnTo>
                  <a:pt x="977669" y="12556"/>
                </a:lnTo>
                <a:lnTo>
                  <a:pt x="1030333" y="11983"/>
                </a:lnTo>
                <a:lnTo>
                  <a:pt x="1084143" y="11421"/>
                </a:lnTo>
                <a:lnTo>
                  <a:pt x="1139080" y="10870"/>
                </a:lnTo>
                <a:lnTo>
                  <a:pt x="1195125" y="10330"/>
                </a:lnTo>
                <a:lnTo>
                  <a:pt x="1252261" y="9801"/>
                </a:lnTo>
                <a:lnTo>
                  <a:pt x="1310467" y="9285"/>
                </a:lnTo>
                <a:lnTo>
                  <a:pt x="1369727" y="8780"/>
                </a:lnTo>
                <a:lnTo>
                  <a:pt x="1430021" y="8287"/>
                </a:lnTo>
                <a:lnTo>
                  <a:pt x="1491331" y="7807"/>
                </a:lnTo>
                <a:lnTo>
                  <a:pt x="1553638" y="7339"/>
                </a:lnTo>
                <a:lnTo>
                  <a:pt x="1616924" y="6884"/>
                </a:lnTo>
                <a:lnTo>
                  <a:pt x="1681171" y="6441"/>
                </a:lnTo>
                <a:lnTo>
                  <a:pt x="1746359" y="6012"/>
                </a:lnTo>
                <a:lnTo>
                  <a:pt x="1812470" y="5595"/>
                </a:lnTo>
                <a:lnTo>
                  <a:pt x="1879487" y="5192"/>
                </a:lnTo>
                <a:lnTo>
                  <a:pt x="1947389" y="4803"/>
                </a:lnTo>
                <a:lnTo>
                  <a:pt x="2016159" y="4427"/>
                </a:lnTo>
                <a:lnTo>
                  <a:pt x="2085778" y="4065"/>
                </a:lnTo>
                <a:lnTo>
                  <a:pt x="2156228" y="3718"/>
                </a:lnTo>
                <a:lnTo>
                  <a:pt x="2227491" y="3384"/>
                </a:lnTo>
                <a:lnTo>
                  <a:pt x="2299546" y="3065"/>
                </a:lnTo>
                <a:lnTo>
                  <a:pt x="2372377" y="2761"/>
                </a:lnTo>
                <a:lnTo>
                  <a:pt x="2445964" y="2472"/>
                </a:lnTo>
                <a:lnTo>
                  <a:pt x="2520290" y="2197"/>
                </a:lnTo>
                <a:lnTo>
                  <a:pt x="2595335" y="1938"/>
                </a:lnTo>
                <a:lnTo>
                  <a:pt x="2671081" y="1694"/>
                </a:lnTo>
                <a:lnTo>
                  <a:pt x="2747509" y="1466"/>
                </a:lnTo>
                <a:lnTo>
                  <a:pt x="2824602" y="1253"/>
                </a:lnTo>
                <a:lnTo>
                  <a:pt x="2902340" y="1057"/>
                </a:lnTo>
                <a:lnTo>
                  <a:pt x="2980705" y="876"/>
                </a:lnTo>
                <a:lnTo>
                  <a:pt x="3059678" y="712"/>
                </a:lnTo>
                <a:lnTo>
                  <a:pt x="3139241" y="565"/>
                </a:lnTo>
                <a:lnTo>
                  <a:pt x="3219376" y="434"/>
                </a:lnTo>
                <a:lnTo>
                  <a:pt x="3300063" y="320"/>
                </a:lnTo>
                <a:lnTo>
                  <a:pt x="3381285" y="223"/>
                </a:lnTo>
                <a:lnTo>
                  <a:pt x="3463022" y="143"/>
                </a:lnTo>
                <a:lnTo>
                  <a:pt x="3545257" y="80"/>
                </a:lnTo>
                <a:lnTo>
                  <a:pt x="3627970" y="36"/>
                </a:lnTo>
                <a:lnTo>
                  <a:pt x="3711144" y="9"/>
                </a:lnTo>
                <a:lnTo>
                  <a:pt x="3794760" y="0"/>
                </a:lnTo>
                <a:lnTo>
                  <a:pt x="3878375" y="9"/>
                </a:lnTo>
                <a:lnTo>
                  <a:pt x="3961549" y="36"/>
                </a:lnTo>
                <a:lnTo>
                  <a:pt x="4044262" y="80"/>
                </a:lnTo>
                <a:lnTo>
                  <a:pt x="4126497" y="143"/>
                </a:lnTo>
                <a:lnTo>
                  <a:pt x="4208234" y="223"/>
                </a:lnTo>
                <a:lnTo>
                  <a:pt x="4289456" y="320"/>
                </a:lnTo>
                <a:lnTo>
                  <a:pt x="4370143" y="434"/>
                </a:lnTo>
                <a:lnTo>
                  <a:pt x="4450278" y="565"/>
                </a:lnTo>
                <a:lnTo>
                  <a:pt x="4529841" y="712"/>
                </a:lnTo>
                <a:lnTo>
                  <a:pt x="4608814" y="876"/>
                </a:lnTo>
                <a:lnTo>
                  <a:pt x="4687179" y="1057"/>
                </a:lnTo>
                <a:lnTo>
                  <a:pt x="4764917" y="1253"/>
                </a:lnTo>
                <a:lnTo>
                  <a:pt x="4842010" y="1466"/>
                </a:lnTo>
                <a:lnTo>
                  <a:pt x="4918438" y="1694"/>
                </a:lnTo>
                <a:lnTo>
                  <a:pt x="4994184" y="1938"/>
                </a:lnTo>
                <a:lnTo>
                  <a:pt x="5069229" y="2197"/>
                </a:lnTo>
                <a:lnTo>
                  <a:pt x="5143555" y="2472"/>
                </a:lnTo>
                <a:lnTo>
                  <a:pt x="5217142" y="2761"/>
                </a:lnTo>
                <a:lnTo>
                  <a:pt x="5289973" y="3065"/>
                </a:lnTo>
                <a:lnTo>
                  <a:pt x="5362028" y="3384"/>
                </a:lnTo>
                <a:lnTo>
                  <a:pt x="5433291" y="3718"/>
                </a:lnTo>
                <a:lnTo>
                  <a:pt x="5503741" y="4065"/>
                </a:lnTo>
                <a:lnTo>
                  <a:pt x="5573360" y="4427"/>
                </a:lnTo>
                <a:lnTo>
                  <a:pt x="5642130" y="4803"/>
                </a:lnTo>
                <a:lnTo>
                  <a:pt x="5710032" y="5192"/>
                </a:lnTo>
                <a:lnTo>
                  <a:pt x="5777049" y="5595"/>
                </a:lnTo>
                <a:lnTo>
                  <a:pt x="5843160" y="6012"/>
                </a:lnTo>
                <a:lnTo>
                  <a:pt x="5908348" y="6441"/>
                </a:lnTo>
                <a:lnTo>
                  <a:pt x="5972595" y="6884"/>
                </a:lnTo>
                <a:lnTo>
                  <a:pt x="6035881" y="7339"/>
                </a:lnTo>
                <a:lnTo>
                  <a:pt x="6098188" y="7807"/>
                </a:lnTo>
                <a:lnTo>
                  <a:pt x="6159498" y="8287"/>
                </a:lnTo>
                <a:lnTo>
                  <a:pt x="6219792" y="8780"/>
                </a:lnTo>
                <a:lnTo>
                  <a:pt x="6279052" y="9285"/>
                </a:lnTo>
                <a:lnTo>
                  <a:pt x="6337258" y="9801"/>
                </a:lnTo>
                <a:lnTo>
                  <a:pt x="6394394" y="10330"/>
                </a:lnTo>
                <a:lnTo>
                  <a:pt x="6450439" y="10870"/>
                </a:lnTo>
                <a:lnTo>
                  <a:pt x="6505376" y="11421"/>
                </a:lnTo>
                <a:lnTo>
                  <a:pt x="6559186" y="11983"/>
                </a:lnTo>
                <a:lnTo>
                  <a:pt x="6611850" y="12556"/>
                </a:lnTo>
                <a:lnTo>
                  <a:pt x="6663351" y="13140"/>
                </a:lnTo>
                <a:lnTo>
                  <a:pt x="6713668" y="13735"/>
                </a:lnTo>
                <a:lnTo>
                  <a:pt x="6762785" y="14340"/>
                </a:lnTo>
                <a:lnTo>
                  <a:pt x="6810682" y="14956"/>
                </a:lnTo>
                <a:lnTo>
                  <a:pt x="6857341" y="15581"/>
                </a:lnTo>
                <a:lnTo>
                  <a:pt x="6902743" y="16216"/>
                </a:lnTo>
                <a:lnTo>
                  <a:pt x="6946871" y="16861"/>
                </a:lnTo>
                <a:lnTo>
                  <a:pt x="6989704" y="17515"/>
                </a:lnTo>
                <a:lnTo>
                  <a:pt x="7031225" y="18179"/>
                </a:lnTo>
                <a:lnTo>
                  <a:pt x="7071416" y="18852"/>
                </a:lnTo>
                <a:lnTo>
                  <a:pt x="7110257" y="19534"/>
                </a:lnTo>
                <a:lnTo>
                  <a:pt x="7183818" y="20923"/>
                </a:lnTo>
                <a:lnTo>
                  <a:pt x="7251760" y="22347"/>
                </a:lnTo>
                <a:lnTo>
                  <a:pt x="7313934" y="23802"/>
                </a:lnTo>
                <a:lnTo>
                  <a:pt x="7370192" y="25288"/>
                </a:lnTo>
                <a:lnTo>
                  <a:pt x="7420387" y="26803"/>
                </a:lnTo>
                <a:lnTo>
                  <a:pt x="7464370" y="28345"/>
                </a:lnTo>
                <a:lnTo>
                  <a:pt x="7518373" y="30708"/>
                </a:lnTo>
                <a:lnTo>
                  <a:pt x="7557565" y="33124"/>
                </a:lnTo>
                <a:lnTo>
                  <a:pt x="7589519" y="38100"/>
                </a:lnTo>
                <a:lnTo>
                  <a:pt x="7588616" y="38941"/>
                </a:lnTo>
                <a:lnTo>
                  <a:pt x="7546178" y="43886"/>
                </a:lnTo>
                <a:lnTo>
                  <a:pt x="7501993" y="46285"/>
                </a:lnTo>
                <a:lnTo>
                  <a:pt x="7443164" y="48628"/>
                </a:lnTo>
                <a:lnTo>
                  <a:pt x="7396057" y="50157"/>
                </a:lnTo>
                <a:lnTo>
                  <a:pt x="7342812" y="51658"/>
                </a:lnTo>
                <a:lnTo>
                  <a:pt x="7283577" y="53129"/>
                </a:lnTo>
                <a:lnTo>
                  <a:pt x="7218500" y="54568"/>
                </a:lnTo>
                <a:lnTo>
                  <a:pt x="7147731" y="55975"/>
                </a:lnTo>
                <a:lnTo>
                  <a:pt x="7071416" y="57347"/>
                </a:lnTo>
                <a:lnTo>
                  <a:pt x="7031225" y="58020"/>
                </a:lnTo>
                <a:lnTo>
                  <a:pt x="6989704" y="58684"/>
                </a:lnTo>
                <a:lnTo>
                  <a:pt x="6946871" y="59338"/>
                </a:lnTo>
                <a:lnTo>
                  <a:pt x="6902743" y="59983"/>
                </a:lnTo>
                <a:lnTo>
                  <a:pt x="6857341" y="60618"/>
                </a:lnTo>
                <a:lnTo>
                  <a:pt x="6810682" y="61243"/>
                </a:lnTo>
                <a:lnTo>
                  <a:pt x="6762785" y="61859"/>
                </a:lnTo>
                <a:lnTo>
                  <a:pt x="6713668" y="62464"/>
                </a:lnTo>
                <a:lnTo>
                  <a:pt x="6663351" y="63059"/>
                </a:lnTo>
                <a:lnTo>
                  <a:pt x="6611850" y="63643"/>
                </a:lnTo>
                <a:lnTo>
                  <a:pt x="6559186" y="64216"/>
                </a:lnTo>
                <a:lnTo>
                  <a:pt x="6505376" y="64778"/>
                </a:lnTo>
                <a:lnTo>
                  <a:pt x="6450439" y="65329"/>
                </a:lnTo>
                <a:lnTo>
                  <a:pt x="6394394" y="65869"/>
                </a:lnTo>
                <a:lnTo>
                  <a:pt x="6337258" y="66398"/>
                </a:lnTo>
                <a:lnTo>
                  <a:pt x="6279052" y="66914"/>
                </a:lnTo>
                <a:lnTo>
                  <a:pt x="6219792" y="67419"/>
                </a:lnTo>
                <a:lnTo>
                  <a:pt x="6159498" y="67912"/>
                </a:lnTo>
                <a:lnTo>
                  <a:pt x="6098188" y="68392"/>
                </a:lnTo>
                <a:lnTo>
                  <a:pt x="6035881" y="68860"/>
                </a:lnTo>
                <a:lnTo>
                  <a:pt x="5972595" y="69315"/>
                </a:lnTo>
                <a:lnTo>
                  <a:pt x="5908348" y="69758"/>
                </a:lnTo>
                <a:lnTo>
                  <a:pt x="5843160" y="70187"/>
                </a:lnTo>
                <a:lnTo>
                  <a:pt x="5777049" y="70604"/>
                </a:lnTo>
                <a:lnTo>
                  <a:pt x="5710032" y="71007"/>
                </a:lnTo>
                <a:lnTo>
                  <a:pt x="5642130" y="71396"/>
                </a:lnTo>
                <a:lnTo>
                  <a:pt x="5573360" y="71772"/>
                </a:lnTo>
                <a:lnTo>
                  <a:pt x="5503741" y="72134"/>
                </a:lnTo>
                <a:lnTo>
                  <a:pt x="5433291" y="72481"/>
                </a:lnTo>
                <a:lnTo>
                  <a:pt x="5362028" y="72815"/>
                </a:lnTo>
                <a:lnTo>
                  <a:pt x="5289973" y="73134"/>
                </a:lnTo>
                <a:lnTo>
                  <a:pt x="5217142" y="73438"/>
                </a:lnTo>
                <a:lnTo>
                  <a:pt x="5143555" y="73727"/>
                </a:lnTo>
                <a:lnTo>
                  <a:pt x="5069229" y="74002"/>
                </a:lnTo>
                <a:lnTo>
                  <a:pt x="4994184" y="74261"/>
                </a:lnTo>
                <a:lnTo>
                  <a:pt x="4918438" y="74505"/>
                </a:lnTo>
                <a:lnTo>
                  <a:pt x="4842010" y="74733"/>
                </a:lnTo>
                <a:lnTo>
                  <a:pt x="4764917" y="74946"/>
                </a:lnTo>
                <a:lnTo>
                  <a:pt x="4687179" y="75142"/>
                </a:lnTo>
                <a:lnTo>
                  <a:pt x="4608814" y="75323"/>
                </a:lnTo>
                <a:lnTo>
                  <a:pt x="4529841" y="75487"/>
                </a:lnTo>
                <a:lnTo>
                  <a:pt x="4450278" y="75634"/>
                </a:lnTo>
                <a:lnTo>
                  <a:pt x="4370143" y="75765"/>
                </a:lnTo>
                <a:lnTo>
                  <a:pt x="4289456" y="75879"/>
                </a:lnTo>
                <a:lnTo>
                  <a:pt x="4208234" y="75976"/>
                </a:lnTo>
                <a:lnTo>
                  <a:pt x="4126497" y="76056"/>
                </a:lnTo>
                <a:lnTo>
                  <a:pt x="4044262" y="76119"/>
                </a:lnTo>
                <a:lnTo>
                  <a:pt x="3961549" y="76163"/>
                </a:lnTo>
                <a:lnTo>
                  <a:pt x="3878375" y="76190"/>
                </a:lnTo>
                <a:lnTo>
                  <a:pt x="3794760" y="76200"/>
                </a:lnTo>
                <a:lnTo>
                  <a:pt x="3711144" y="76190"/>
                </a:lnTo>
                <a:lnTo>
                  <a:pt x="3627970" y="76163"/>
                </a:lnTo>
                <a:lnTo>
                  <a:pt x="3545257" y="76119"/>
                </a:lnTo>
                <a:lnTo>
                  <a:pt x="3463022" y="76056"/>
                </a:lnTo>
                <a:lnTo>
                  <a:pt x="3381285" y="75976"/>
                </a:lnTo>
                <a:lnTo>
                  <a:pt x="3300063" y="75879"/>
                </a:lnTo>
                <a:lnTo>
                  <a:pt x="3219376" y="75765"/>
                </a:lnTo>
                <a:lnTo>
                  <a:pt x="3139241" y="75634"/>
                </a:lnTo>
                <a:lnTo>
                  <a:pt x="3059678" y="75487"/>
                </a:lnTo>
                <a:lnTo>
                  <a:pt x="2980705" y="75323"/>
                </a:lnTo>
                <a:lnTo>
                  <a:pt x="2902340" y="75142"/>
                </a:lnTo>
                <a:lnTo>
                  <a:pt x="2824602" y="74946"/>
                </a:lnTo>
                <a:lnTo>
                  <a:pt x="2747509" y="74733"/>
                </a:lnTo>
                <a:lnTo>
                  <a:pt x="2671081" y="74505"/>
                </a:lnTo>
                <a:lnTo>
                  <a:pt x="2595335" y="74261"/>
                </a:lnTo>
                <a:lnTo>
                  <a:pt x="2520290" y="74002"/>
                </a:lnTo>
                <a:lnTo>
                  <a:pt x="2445964" y="73727"/>
                </a:lnTo>
                <a:lnTo>
                  <a:pt x="2372377" y="73438"/>
                </a:lnTo>
                <a:lnTo>
                  <a:pt x="2299546" y="73134"/>
                </a:lnTo>
                <a:lnTo>
                  <a:pt x="2227491" y="72815"/>
                </a:lnTo>
                <a:lnTo>
                  <a:pt x="2156228" y="72481"/>
                </a:lnTo>
                <a:lnTo>
                  <a:pt x="2085778" y="72134"/>
                </a:lnTo>
                <a:lnTo>
                  <a:pt x="2016159" y="71772"/>
                </a:lnTo>
                <a:lnTo>
                  <a:pt x="1947389" y="71396"/>
                </a:lnTo>
                <a:lnTo>
                  <a:pt x="1879487" y="71007"/>
                </a:lnTo>
                <a:lnTo>
                  <a:pt x="1812470" y="70604"/>
                </a:lnTo>
                <a:lnTo>
                  <a:pt x="1746359" y="70187"/>
                </a:lnTo>
                <a:lnTo>
                  <a:pt x="1681171" y="69758"/>
                </a:lnTo>
                <a:lnTo>
                  <a:pt x="1616924" y="69315"/>
                </a:lnTo>
                <a:lnTo>
                  <a:pt x="1553638" y="68860"/>
                </a:lnTo>
                <a:lnTo>
                  <a:pt x="1491331" y="68392"/>
                </a:lnTo>
                <a:lnTo>
                  <a:pt x="1430021" y="67912"/>
                </a:lnTo>
                <a:lnTo>
                  <a:pt x="1369727" y="67419"/>
                </a:lnTo>
                <a:lnTo>
                  <a:pt x="1310467" y="66914"/>
                </a:lnTo>
                <a:lnTo>
                  <a:pt x="1252261" y="66398"/>
                </a:lnTo>
                <a:lnTo>
                  <a:pt x="1195125" y="65869"/>
                </a:lnTo>
                <a:lnTo>
                  <a:pt x="1139080" y="65329"/>
                </a:lnTo>
                <a:lnTo>
                  <a:pt x="1084143" y="64778"/>
                </a:lnTo>
                <a:lnTo>
                  <a:pt x="1030333" y="64216"/>
                </a:lnTo>
                <a:lnTo>
                  <a:pt x="977669" y="63643"/>
                </a:lnTo>
                <a:lnTo>
                  <a:pt x="926168" y="63059"/>
                </a:lnTo>
                <a:lnTo>
                  <a:pt x="875851" y="62464"/>
                </a:lnTo>
                <a:lnTo>
                  <a:pt x="826734" y="61859"/>
                </a:lnTo>
                <a:lnTo>
                  <a:pt x="778837" y="61243"/>
                </a:lnTo>
                <a:lnTo>
                  <a:pt x="732178" y="60618"/>
                </a:lnTo>
                <a:lnTo>
                  <a:pt x="686776" y="59983"/>
                </a:lnTo>
                <a:lnTo>
                  <a:pt x="642648" y="59338"/>
                </a:lnTo>
                <a:lnTo>
                  <a:pt x="599815" y="58684"/>
                </a:lnTo>
                <a:lnTo>
                  <a:pt x="558294" y="58020"/>
                </a:lnTo>
                <a:lnTo>
                  <a:pt x="518103" y="57347"/>
                </a:lnTo>
                <a:lnTo>
                  <a:pt x="479262" y="56665"/>
                </a:lnTo>
                <a:lnTo>
                  <a:pt x="405701" y="55276"/>
                </a:lnTo>
                <a:lnTo>
                  <a:pt x="337759" y="53852"/>
                </a:lnTo>
                <a:lnTo>
                  <a:pt x="275585" y="52397"/>
                </a:lnTo>
                <a:lnTo>
                  <a:pt x="219327" y="50911"/>
                </a:lnTo>
                <a:lnTo>
                  <a:pt x="169132" y="49396"/>
                </a:lnTo>
                <a:lnTo>
                  <a:pt x="125149" y="47854"/>
                </a:lnTo>
                <a:lnTo>
                  <a:pt x="71146" y="45491"/>
                </a:lnTo>
                <a:lnTo>
                  <a:pt x="31954" y="43075"/>
                </a:lnTo>
                <a:lnTo>
                  <a:pt x="0" y="38100"/>
                </a:lnTo>
                <a:close/>
              </a:path>
            </a:pathLst>
          </a:custGeom>
          <a:ln w="19050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16764"/>
            <a:ext cx="9143999" cy="668274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13537" y="131826"/>
            <a:ext cx="8924925" cy="6457315"/>
          </a:xfrm>
          <a:custGeom>
            <a:avLst/>
            <a:gdLst/>
            <a:ahLst/>
            <a:cxnLst/>
            <a:rect l="l" t="t" r="r" b="b"/>
            <a:pathLst>
              <a:path w="8924925" h="6457315">
                <a:moveTo>
                  <a:pt x="1076210" y="0"/>
                </a:moveTo>
                <a:lnTo>
                  <a:pt x="7848345" y="0"/>
                </a:lnTo>
                <a:lnTo>
                  <a:pt x="7896283" y="1048"/>
                </a:lnTo>
                <a:lnTo>
                  <a:pt x="7943684" y="4165"/>
                </a:lnTo>
                <a:lnTo>
                  <a:pt x="7990503" y="9306"/>
                </a:lnTo>
                <a:lnTo>
                  <a:pt x="8036699" y="16427"/>
                </a:lnTo>
                <a:lnTo>
                  <a:pt x="8082226" y="25485"/>
                </a:lnTo>
                <a:lnTo>
                  <a:pt x="8127042" y="36437"/>
                </a:lnTo>
                <a:lnTo>
                  <a:pt x="8171102" y="49237"/>
                </a:lnTo>
                <a:lnTo>
                  <a:pt x="8214362" y="63843"/>
                </a:lnTo>
                <a:lnTo>
                  <a:pt x="8256780" y="80211"/>
                </a:lnTo>
                <a:lnTo>
                  <a:pt x="8298310" y="98297"/>
                </a:lnTo>
                <a:lnTo>
                  <a:pt x="8338910" y="118058"/>
                </a:lnTo>
                <a:lnTo>
                  <a:pt x="8378535" y="139449"/>
                </a:lnTo>
                <a:lnTo>
                  <a:pt x="8417143" y="162426"/>
                </a:lnTo>
                <a:lnTo>
                  <a:pt x="8454688" y="186947"/>
                </a:lnTo>
                <a:lnTo>
                  <a:pt x="8491128" y="212967"/>
                </a:lnTo>
                <a:lnTo>
                  <a:pt x="8526419" y="240443"/>
                </a:lnTo>
                <a:lnTo>
                  <a:pt x="8560516" y="269331"/>
                </a:lnTo>
                <a:lnTo>
                  <a:pt x="8593377" y="299586"/>
                </a:lnTo>
                <a:lnTo>
                  <a:pt x="8624957" y="331166"/>
                </a:lnTo>
                <a:lnTo>
                  <a:pt x="8655212" y="364027"/>
                </a:lnTo>
                <a:lnTo>
                  <a:pt x="8684100" y="398124"/>
                </a:lnTo>
                <a:lnTo>
                  <a:pt x="8711576" y="433415"/>
                </a:lnTo>
                <a:lnTo>
                  <a:pt x="8737596" y="469855"/>
                </a:lnTo>
                <a:lnTo>
                  <a:pt x="8762117" y="507400"/>
                </a:lnTo>
                <a:lnTo>
                  <a:pt x="8785094" y="546008"/>
                </a:lnTo>
                <a:lnTo>
                  <a:pt x="8806485" y="585633"/>
                </a:lnTo>
                <a:lnTo>
                  <a:pt x="8826246" y="626233"/>
                </a:lnTo>
                <a:lnTo>
                  <a:pt x="8844332" y="667763"/>
                </a:lnTo>
                <a:lnTo>
                  <a:pt x="8860700" y="710181"/>
                </a:lnTo>
                <a:lnTo>
                  <a:pt x="8875306" y="753441"/>
                </a:lnTo>
                <a:lnTo>
                  <a:pt x="8888106" y="797501"/>
                </a:lnTo>
                <a:lnTo>
                  <a:pt x="8899058" y="842317"/>
                </a:lnTo>
                <a:lnTo>
                  <a:pt x="8908116" y="887844"/>
                </a:lnTo>
                <a:lnTo>
                  <a:pt x="8915237" y="934040"/>
                </a:lnTo>
                <a:lnTo>
                  <a:pt x="8920378" y="980859"/>
                </a:lnTo>
                <a:lnTo>
                  <a:pt x="8923495" y="1028260"/>
                </a:lnTo>
                <a:lnTo>
                  <a:pt x="8924543" y="1076198"/>
                </a:lnTo>
                <a:lnTo>
                  <a:pt x="8924543" y="6457188"/>
                </a:lnTo>
                <a:lnTo>
                  <a:pt x="0" y="6457188"/>
                </a:lnTo>
                <a:lnTo>
                  <a:pt x="0" y="1076198"/>
                </a:lnTo>
                <a:lnTo>
                  <a:pt x="1048" y="1028260"/>
                </a:lnTo>
                <a:lnTo>
                  <a:pt x="4165" y="980859"/>
                </a:lnTo>
                <a:lnTo>
                  <a:pt x="9306" y="934040"/>
                </a:lnTo>
                <a:lnTo>
                  <a:pt x="16427" y="887844"/>
                </a:lnTo>
                <a:lnTo>
                  <a:pt x="25485" y="842317"/>
                </a:lnTo>
                <a:lnTo>
                  <a:pt x="36437" y="797501"/>
                </a:lnTo>
                <a:lnTo>
                  <a:pt x="49237" y="753441"/>
                </a:lnTo>
                <a:lnTo>
                  <a:pt x="63844" y="710181"/>
                </a:lnTo>
                <a:lnTo>
                  <a:pt x="80212" y="667763"/>
                </a:lnTo>
                <a:lnTo>
                  <a:pt x="98298" y="626233"/>
                </a:lnTo>
                <a:lnTo>
                  <a:pt x="118058" y="585633"/>
                </a:lnTo>
                <a:lnTo>
                  <a:pt x="139449" y="546008"/>
                </a:lnTo>
                <a:lnTo>
                  <a:pt x="162427" y="507400"/>
                </a:lnTo>
                <a:lnTo>
                  <a:pt x="186948" y="469855"/>
                </a:lnTo>
                <a:lnTo>
                  <a:pt x="212968" y="433415"/>
                </a:lnTo>
                <a:lnTo>
                  <a:pt x="240444" y="398124"/>
                </a:lnTo>
                <a:lnTo>
                  <a:pt x="269332" y="364027"/>
                </a:lnTo>
                <a:lnTo>
                  <a:pt x="299588" y="331166"/>
                </a:lnTo>
                <a:lnTo>
                  <a:pt x="331168" y="299586"/>
                </a:lnTo>
                <a:lnTo>
                  <a:pt x="364029" y="269331"/>
                </a:lnTo>
                <a:lnTo>
                  <a:pt x="398127" y="240443"/>
                </a:lnTo>
                <a:lnTo>
                  <a:pt x="433418" y="212967"/>
                </a:lnTo>
                <a:lnTo>
                  <a:pt x="469858" y="186947"/>
                </a:lnTo>
                <a:lnTo>
                  <a:pt x="507404" y="162426"/>
                </a:lnTo>
                <a:lnTo>
                  <a:pt x="546012" y="139449"/>
                </a:lnTo>
                <a:lnTo>
                  <a:pt x="585637" y="118058"/>
                </a:lnTo>
                <a:lnTo>
                  <a:pt x="626238" y="98297"/>
                </a:lnTo>
                <a:lnTo>
                  <a:pt x="667769" y="80211"/>
                </a:lnTo>
                <a:lnTo>
                  <a:pt x="710187" y="63843"/>
                </a:lnTo>
                <a:lnTo>
                  <a:pt x="753448" y="49237"/>
                </a:lnTo>
                <a:lnTo>
                  <a:pt x="797509" y="36437"/>
                </a:lnTo>
                <a:lnTo>
                  <a:pt x="842325" y="25485"/>
                </a:lnTo>
                <a:lnTo>
                  <a:pt x="887853" y="16427"/>
                </a:lnTo>
                <a:lnTo>
                  <a:pt x="934049" y="9306"/>
                </a:lnTo>
                <a:lnTo>
                  <a:pt x="980870" y="4165"/>
                </a:lnTo>
                <a:lnTo>
                  <a:pt x="1028272" y="1048"/>
                </a:lnTo>
                <a:lnTo>
                  <a:pt x="1076210" y="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53439" y="320001"/>
            <a:ext cx="7434072" cy="57611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45409" y="321386"/>
            <a:ext cx="385318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65250" y="2508250"/>
            <a:ext cx="6381115" cy="34150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396234" y="6648941"/>
            <a:ext cx="2504440" cy="1746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8739" y="6635530"/>
            <a:ext cx="770890" cy="1746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43442" y="6649770"/>
            <a:ext cx="347345" cy="204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bg1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43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.png"/><Relationship Id="rId11" Type="http://schemas.openxmlformats.org/officeDocument/2006/relationships/image" Target="../media/image18.png"/><Relationship Id="rId5" Type="http://schemas.openxmlformats.org/officeDocument/2006/relationships/image" Target="../media/image13.png"/><Relationship Id="rId10" Type="http://schemas.openxmlformats.org/officeDocument/2006/relationships/image" Target="../media/image17.png"/><Relationship Id="rId4" Type="http://schemas.openxmlformats.org/officeDocument/2006/relationships/image" Target="../media/image12.png"/><Relationship Id="rId9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3.png"/><Relationship Id="rId9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26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16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14.png"/><Relationship Id="rId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3.png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34.png"/><Relationship Id="rId4" Type="http://schemas.openxmlformats.org/officeDocument/2006/relationships/image" Target="../media/image3.png"/><Relationship Id="rId9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34.png"/><Relationship Id="rId4" Type="http://schemas.openxmlformats.org/officeDocument/2006/relationships/image" Target="../media/image3.png"/><Relationship Id="rId9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36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14.png"/><Relationship Id="rId4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2.png"/><Relationship Id="rId7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36.png"/><Relationship Id="rId5" Type="http://schemas.openxmlformats.org/officeDocument/2006/relationships/image" Target="../media/image34.png"/><Relationship Id="rId10" Type="http://schemas.openxmlformats.org/officeDocument/2006/relationships/image" Target="../media/image44.png"/><Relationship Id="rId4" Type="http://schemas.openxmlformats.org/officeDocument/2006/relationships/image" Target="../media/image3.png"/><Relationship Id="rId9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23.png"/><Relationship Id="rId7" Type="http://schemas.openxmlformats.org/officeDocument/2006/relationships/image" Target="../media/image54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57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56.png"/><Relationship Id="rId10" Type="http://schemas.openxmlformats.org/officeDocument/2006/relationships/image" Target="../media/image59.png"/><Relationship Id="rId4" Type="http://schemas.openxmlformats.org/officeDocument/2006/relationships/image" Target="../media/image3.png"/><Relationship Id="rId9" Type="http://schemas.openxmlformats.org/officeDocument/2006/relationships/image" Target="../media/image5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56.png"/><Relationship Id="rId10" Type="http://schemas.openxmlformats.org/officeDocument/2006/relationships/image" Target="../media/image36.png"/><Relationship Id="rId4" Type="http://schemas.openxmlformats.org/officeDocument/2006/relationships/image" Target="../media/image3.png"/><Relationship Id="rId9" Type="http://schemas.openxmlformats.org/officeDocument/2006/relationships/image" Target="../media/image6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56.png"/><Relationship Id="rId4" Type="http://schemas.openxmlformats.org/officeDocument/2006/relationships/image" Target="../media/image3.png"/><Relationship Id="rId9" Type="http://schemas.openxmlformats.org/officeDocument/2006/relationships/image" Target="../media/image4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2.png"/><Relationship Id="rId7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16.png"/><Relationship Id="rId5" Type="http://schemas.openxmlformats.org/officeDocument/2006/relationships/image" Target="../media/image56.png"/><Relationship Id="rId10" Type="http://schemas.openxmlformats.org/officeDocument/2006/relationships/image" Target="../media/image67.png"/><Relationship Id="rId4" Type="http://schemas.openxmlformats.org/officeDocument/2006/relationships/image" Target="../media/image3.png"/><Relationship Id="rId9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36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5" Type="http://schemas.openxmlformats.org/officeDocument/2006/relationships/image" Target="../media/image14.png"/><Relationship Id="rId4" Type="http://schemas.openxmlformats.org/officeDocument/2006/relationships/image" Target="../media/image6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32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14.png"/><Relationship Id="rId4" Type="http://schemas.openxmlformats.org/officeDocument/2006/relationships/image" Target="../media/image7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56.png"/><Relationship Id="rId4" Type="http://schemas.openxmlformats.org/officeDocument/2006/relationships/image" Target="../media/image3.png"/><Relationship Id="rId9" Type="http://schemas.openxmlformats.org/officeDocument/2006/relationships/image" Target="../media/image5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16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5" Type="http://schemas.openxmlformats.org/officeDocument/2006/relationships/image" Target="../media/image14.png"/><Relationship Id="rId4" Type="http://schemas.openxmlformats.org/officeDocument/2006/relationships/image" Target="../media/image7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6.png"/><Relationship Id="rId4" Type="http://schemas.openxmlformats.org/officeDocument/2006/relationships/image" Target="../media/image7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16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5" Type="http://schemas.openxmlformats.org/officeDocument/2006/relationships/image" Target="../media/image14.png"/><Relationship Id="rId4" Type="http://schemas.openxmlformats.org/officeDocument/2006/relationships/image" Target="../media/image8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32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5" Type="http://schemas.openxmlformats.org/officeDocument/2006/relationships/image" Target="../media/image14.png"/><Relationship Id="rId4" Type="http://schemas.openxmlformats.org/officeDocument/2006/relationships/image" Target="../media/image8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16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5" Type="http://schemas.openxmlformats.org/officeDocument/2006/relationships/image" Target="../media/image14.png"/><Relationship Id="rId4" Type="http://schemas.openxmlformats.org/officeDocument/2006/relationships/image" Target="../media/image84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79.png"/><Relationship Id="rId10" Type="http://schemas.openxmlformats.org/officeDocument/2006/relationships/image" Target="../media/image36.png"/><Relationship Id="rId4" Type="http://schemas.openxmlformats.org/officeDocument/2006/relationships/image" Target="../media/image3.png"/><Relationship Id="rId9" Type="http://schemas.openxmlformats.org/officeDocument/2006/relationships/image" Target="../media/image88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79.png"/><Relationship Id="rId4" Type="http://schemas.openxmlformats.org/officeDocument/2006/relationships/image" Target="../media/image3.png"/><Relationship Id="rId9" Type="http://schemas.openxmlformats.org/officeDocument/2006/relationships/image" Target="../media/image3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91.png"/><Relationship Id="rId4" Type="http://schemas.openxmlformats.org/officeDocument/2006/relationships/image" Target="../media/image1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74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5" Type="http://schemas.openxmlformats.org/officeDocument/2006/relationships/image" Target="../media/image14.png"/><Relationship Id="rId4" Type="http://schemas.openxmlformats.org/officeDocument/2006/relationships/image" Target="../media/image92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79.png"/><Relationship Id="rId10" Type="http://schemas.openxmlformats.org/officeDocument/2006/relationships/image" Target="../media/image97.png"/><Relationship Id="rId4" Type="http://schemas.openxmlformats.org/officeDocument/2006/relationships/image" Target="../media/image3.png"/><Relationship Id="rId9" Type="http://schemas.openxmlformats.org/officeDocument/2006/relationships/image" Target="../media/image96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9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79.png"/><Relationship Id="rId10" Type="http://schemas.openxmlformats.org/officeDocument/2006/relationships/image" Target="../media/image46.png"/><Relationship Id="rId4" Type="http://schemas.openxmlformats.org/officeDocument/2006/relationships/image" Target="../media/image3.png"/><Relationship Id="rId9" Type="http://schemas.openxmlformats.org/officeDocument/2006/relationships/image" Target="../media/image9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102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png"/><Relationship Id="rId5" Type="http://schemas.openxmlformats.org/officeDocument/2006/relationships/image" Target="../media/image14.png"/><Relationship Id="rId4" Type="http://schemas.openxmlformats.org/officeDocument/2006/relationships/image" Target="../media/image10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03.png"/><Relationship Id="rId4" Type="http://schemas.openxmlformats.org/officeDocument/2006/relationships/image" Target="../media/image1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04.png"/><Relationship Id="rId4" Type="http://schemas.openxmlformats.org/officeDocument/2006/relationships/image" Target="../media/image1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106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05.png"/><Relationship Id="rId4" Type="http://schemas.openxmlformats.org/officeDocument/2006/relationships/image" Target="../media/image1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105.png"/><Relationship Id="rId4" Type="http://schemas.openxmlformats.org/officeDocument/2006/relationships/image" Target="../media/image1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8.png"/><Relationship Id="rId5" Type="http://schemas.openxmlformats.org/officeDocument/2006/relationships/image" Target="../media/image105.png"/><Relationship Id="rId4" Type="http://schemas.openxmlformats.org/officeDocument/2006/relationships/image" Target="../media/image1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1.png"/><Relationship Id="rId4" Type="http://schemas.openxmlformats.org/officeDocument/2006/relationships/image" Target="../media/image11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13.png"/><Relationship Id="rId4" Type="http://schemas.openxmlformats.org/officeDocument/2006/relationships/image" Target="../media/image1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115.jp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14.png"/><Relationship Id="rId4" Type="http://schemas.openxmlformats.org/officeDocument/2006/relationships/image" Target="../media/image14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117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16.png"/><Relationship Id="rId4" Type="http://schemas.openxmlformats.org/officeDocument/2006/relationships/image" Target="../media/image1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119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18.png"/><Relationship Id="rId4" Type="http://schemas.openxmlformats.org/officeDocument/2006/relationships/image" Target="../media/image1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121.jp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20.png"/><Relationship Id="rId4" Type="http://schemas.openxmlformats.org/officeDocument/2006/relationships/image" Target="../media/image14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3.png"/><Relationship Id="rId5" Type="http://schemas.openxmlformats.org/officeDocument/2006/relationships/image" Target="../media/image122.png"/><Relationship Id="rId4" Type="http://schemas.openxmlformats.org/officeDocument/2006/relationships/image" Target="../media/image14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124.png"/><Relationship Id="rId4" Type="http://schemas.openxmlformats.org/officeDocument/2006/relationships/image" Target="../media/image14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2.png"/><Relationship Id="rId4" Type="http://schemas.openxmlformats.org/officeDocument/2006/relationships/image" Target="../media/image126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127.png"/><Relationship Id="rId4" Type="http://schemas.openxmlformats.org/officeDocument/2006/relationships/image" Target="../media/image3.png"/><Relationship Id="rId9" Type="http://schemas.openxmlformats.org/officeDocument/2006/relationships/image" Target="../media/image46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130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129.png"/><Relationship Id="rId4" Type="http://schemas.openxmlformats.org/officeDocument/2006/relationships/image" Target="../media/image14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127.png"/><Relationship Id="rId4" Type="http://schemas.openxmlformats.org/officeDocument/2006/relationships/image" Target="../media/image3.png"/><Relationship Id="rId9" Type="http://schemas.openxmlformats.org/officeDocument/2006/relationships/image" Target="../media/image74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png"/><Relationship Id="rId3" Type="http://schemas.openxmlformats.org/officeDocument/2006/relationships/image" Target="../media/image23.png"/><Relationship Id="rId7" Type="http://schemas.openxmlformats.org/officeDocument/2006/relationships/image" Target="../media/image133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32.png"/><Relationship Id="rId4" Type="http://schemas.openxmlformats.org/officeDocument/2006/relationships/image" Target="../media/image14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127.png"/><Relationship Id="rId10" Type="http://schemas.openxmlformats.org/officeDocument/2006/relationships/image" Target="../media/image136.png"/><Relationship Id="rId4" Type="http://schemas.openxmlformats.org/officeDocument/2006/relationships/image" Target="../media/image3.png"/><Relationship Id="rId9" Type="http://schemas.openxmlformats.org/officeDocument/2006/relationships/image" Target="../media/image16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37.png"/><Relationship Id="rId4" Type="http://schemas.openxmlformats.org/officeDocument/2006/relationships/image" Target="../media/image14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139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38.png"/><Relationship Id="rId4" Type="http://schemas.openxmlformats.org/officeDocument/2006/relationships/image" Target="../media/image14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127.png"/><Relationship Id="rId10" Type="http://schemas.openxmlformats.org/officeDocument/2006/relationships/image" Target="../media/image141.png"/><Relationship Id="rId4" Type="http://schemas.openxmlformats.org/officeDocument/2006/relationships/image" Target="../media/image3.png"/><Relationship Id="rId9" Type="http://schemas.openxmlformats.org/officeDocument/2006/relationships/image" Target="../media/image16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127.png"/><Relationship Id="rId4" Type="http://schemas.openxmlformats.org/officeDocument/2006/relationships/image" Target="../media/image3.png"/><Relationship Id="rId9" Type="http://schemas.openxmlformats.org/officeDocument/2006/relationships/image" Target="../media/image16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43.png"/><Relationship Id="rId4" Type="http://schemas.openxmlformats.org/officeDocument/2006/relationships/image" Target="../media/image14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145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44.png"/><Relationship Id="rId4" Type="http://schemas.openxmlformats.org/officeDocument/2006/relationships/image" Target="../media/image14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46.png"/><Relationship Id="rId4" Type="http://schemas.openxmlformats.org/officeDocument/2006/relationships/image" Target="../media/image14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148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47.png"/><Relationship Id="rId4" Type="http://schemas.openxmlformats.org/officeDocument/2006/relationships/image" Target="../media/image14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9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127.png"/><Relationship Id="rId10" Type="http://schemas.openxmlformats.org/officeDocument/2006/relationships/image" Target="../media/image150.png"/><Relationship Id="rId4" Type="http://schemas.openxmlformats.org/officeDocument/2006/relationships/image" Target="../media/image3.png"/><Relationship Id="rId9" Type="http://schemas.openxmlformats.org/officeDocument/2006/relationships/image" Target="../media/image16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53.png"/><Relationship Id="rId4" Type="http://schemas.openxmlformats.org/officeDocument/2006/relationships/image" Target="../media/image152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154.png"/><Relationship Id="rId10" Type="http://schemas.openxmlformats.org/officeDocument/2006/relationships/image" Target="../media/image156.png"/><Relationship Id="rId4" Type="http://schemas.openxmlformats.org/officeDocument/2006/relationships/image" Target="../media/image3.png"/><Relationship Id="rId9" Type="http://schemas.openxmlformats.org/officeDocument/2006/relationships/image" Target="../media/image16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154.png"/><Relationship Id="rId4" Type="http://schemas.openxmlformats.org/officeDocument/2006/relationships/image" Target="../media/image3.png"/><Relationship Id="rId9" Type="http://schemas.openxmlformats.org/officeDocument/2006/relationships/image" Target="../media/image16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160.png"/><Relationship Id="rId5" Type="http://schemas.openxmlformats.org/officeDocument/2006/relationships/image" Target="../media/image154.png"/><Relationship Id="rId10" Type="http://schemas.openxmlformats.org/officeDocument/2006/relationships/image" Target="../media/image159.png"/><Relationship Id="rId4" Type="http://schemas.openxmlformats.org/officeDocument/2006/relationships/image" Target="../media/image3.png"/><Relationship Id="rId9" Type="http://schemas.openxmlformats.org/officeDocument/2006/relationships/image" Target="../media/image16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161.png"/><Relationship Id="rId4" Type="http://schemas.openxmlformats.org/officeDocument/2006/relationships/image" Target="../media/image14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7.png"/><Relationship Id="rId4" Type="http://schemas.openxmlformats.org/officeDocument/2006/relationships/image" Target="../media/image14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5" Type="http://schemas.openxmlformats.org/officeDocument/2006/relationships/image" Target="../media/image162.png"/><Relationship Id="rId4" Type="http://schemas.openxmlformats.org/officeDocument/2006/relationships/image" Target="../media/image14.pn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3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165.png"/><Relationship Id="rId5" Type="http://schemas.openxmlformats.org/officeDocument/2006/relationships/image" Target="../media/image154.png"/><Relationship Id="rId10" Type="http://schemas.openxmlformats.org/officeDocument/2006/relationships/image" Target="../media/image164.png"/><Relationship Id="rId4" Type="http://schemas.openxmlformats.org/officeDocument/2006/relationships/image" Target="../media/image3.png"/><Relationship Id="rId9" Type="http://schemas.openxmlformats.org/officeDocument/2006/relationships/image" Target="../media/image16.png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6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154.png"/><Relationship Id="rId10" Type="http://schemas.openxmlformats.org/officeDocument/2006/relationships/image" Target="../media/image167.jpg"/><Relationship Id="rId4" Type="http://schemas.openxmlformats.org/officeDocument/2006/relationships/image" Target="../media/image3.png"/><Relationship Id="rId9" Type="http://schemas.openxmlformats.org/officeDocument/2006/relationships/image" Target="../media/image16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169.jpg"/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68.png"/><Relationship Id="rId4" Type="http://schemas.openxmlformats.org/officeDocument/2006/relationships/image" Target="../media/image14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171.png"/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70.png"/><Relationship Id="rId4" Type="http://schemas.openxmlformats.org/officeDocument/2006/relationships/image" Target="../media/image14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3.png"/><Relationship Id="rId5" Type="http://schemas.openxmlformats.org/officeDocument/2006/relationships/image" Target="../media/image172.png"/><Relationship Id="rId4" Type="http://schemas.openxmlformats.org/officeDocument/2006/relationships/image" Target="../media/image14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174.png"/><Relationship Id="rId4" Type="http://schemas.openxmlformats.org/officeDocument/2006/relationships/image" Target="../media/image14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175.png"/><Relationship Id="rId4" Type="http://schemas.openxmlformats.org/officeDocument/2006/relationships/image" Target="../media/image14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177.png"/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2.png"/><Relationship Id="rId5" Type="http://schemas.openxmlformats.org/officeDocument/2006/relationships/image" Target="../media/image176.png"/><Relationship Id="rId4" Type="http://schemas.openxmlformats.org/officeDocument/2006/relationships/image" Target="../media/image14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179.png"/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78.png"/><Relationship Id="rId4" Type="http://schemas.openxmlformats.org/officeDocument/2006/relationships/image" Target="../media/image14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5" Type="http://schemas.openxmlformats.org/officeDocument/2006/relationships/image" Target="../media/image180.png"/><Relationship Id="rId4" Type="http://schemas.openxmlformats.org/officeDocument/2006/relationships/image" Target="../media/image14.png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154.png"/><Relationship Id="rId4" Type="http://schemas.openxmlformats.org/officeDocument/2006/relationships/image" Target="../media/image3.png"/><Relationship Id="rId9" Type="http://schemas.openxmlformats.org/officeDocument/2006/relationships/image" Target="../media/image16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183.png"/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82.png"/><Relationship Id="rId4" Type="http://schemas.openxmlformats.org/officeDocument/2006/relationships/image" Target="../media/image14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8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6.png"/><Relationship Id="rId4" Type="http://schemas.openxmlformats.org/officeDocument/2006/relationships/image" Target="../media/image185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87.png"/><Relationship Id="rId4" Type="http://schemas.openxmlformats.org/officeDocument/2006/relationships/image" Target="../media/image14.png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8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186.png"/><Relationship Id="rId4" Type="http://schemas.openxmlformats.org/officeDocument/2006/relationships/image" Target="../media/image3.png"/><Relationship Id="rId9" Type="http://schemas.openxmlformats.org/officeDocument/2006/relationships/image" Target="../media/image16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190.png"/><Relationship Id="rId2" Type="http://schemas.openxmlformats.org/officeDocument/2006/relationships/image" Target="../media/image1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89.png"/><Relationship Id="rId4" Type="http://schemas.openxmlformats.org/officeDocument/2006/relationships/image" Target="../media/image14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192.jpg"/><Relationship Id="rId2" Type="http://schemas.openxmlformats.org/officeDocument/2006/relationships/image" Target="../media/image18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91.png"/><Relationship Id="rId4" Type="http://schemas.openxmlformats.org/officeDocument/2006/relationships/image" Target="../media/image14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4.png"/><Relationship Id="rId5" Type="http://schemas.openxmlformats.org/officeDocument/2006/relationships/image" Target="../media/image193.png"/><Relationship Id="rId4" Type="http://schemas.openxmlformats.org/officeDocument/2006/relationships/image" Target="../media/image14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95.png"/><Relationship Id="rId4" Type="http://schemas.openxmlformats.org/officeDocument/2006/relationships/image" Target="../media/image14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96.png"/><Relationship Id="rId4" Type="http://schemas.openxmlformats.org/officeDocument/2006/relationships/image" Target="../media/image14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198.jpg"/><Relationship Id="rId2" Type="http://schemas.openxmlformats.org/officeDocument/2006/relationships/image" Target="../media/image18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97.png"/><Relationship Id="rId4" Type="http://schemas.openxmlformats.org/officeDocument/2006/relationships/image" Target="../media/image14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199.png"/><Relationship Id="rId4" Type="http://schemas.openxmlformats.org/officeDocument/2006/relationships/image" Target="../media/image14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00.png"/><Relationship Id="rId4" Type="http://schemas.openxmlformats.org/officeDocument/2006/relationships/image" Target="../media/image14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02.jpg"/><Relationship Id="rId2" Type="http://schemas.openxmlformats.org/officeDocument/2006/relationships/image" Target="../media/image18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201.png"/><Relationship Id="rId4" Type="http://schemas.openxmlformats.org/officeDocument/2006/relationships/image" Target="../media/image14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0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05.png"/><Relationship Id="rId4" Type="http://schemas.openxmlformats.org/officeDocument/2006/relationships/image" Target="../media/image204.png"/></Relationships>
</file>

<file path=ppt/slides/_rels/slide9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7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06.png"/><Relationship Id="rId10" Type="http://schemas.openxmlformats.org/officeDocument/2006/relationships/image" Target="../media/image208.png"/><Relationship Id="rId4" Type="http://schemas.openxmlformats.org/officeDocument/2006/relationships/image" Target="../media/image3.png"/><Relationship Id="rId9" Type="http://schemas.openxmlformats.org/officeDocument/2006/relationships/image" Target="../media/image16.png"/></Relationships>
</file>

<file path=ppt/slides/_rels/slide9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9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06.png"/><Relationship Id="rId10" Type="http://schemas.openxmlformats.org/officeDocument/2006/relationships/image" Target="../media/image210.png"/><Relationship Id="rId4" Type="http://schemas.openxmlformats.org/officeDocument/2006/relationships/image" Target="../media/image3.png"/><Relationship Id="rId9" Type="http://schemas.openxmlformats.org/officeDocument/2006/relationships/image" Target="../media/image16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12.jpg"/><Relationship Id="rId2" Type="http://schemas.openxmlformats.org/officeDocument/2006/relationships/image" Target="../media/image20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211.png"/><Relationship Id="rId4" Type="http://schemas.openxmlformats.org/officeDocument/2006/relationships/image" Target="../media/image14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14.png"/><Relationship Id="rId2" Type="http://schemas.openxmlformats.org/officeDocument/2006/relationships/image" Target="../media/image20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213.png"/><Relationship Id="rId4" Type="http://schemas.openxmlformats.org/officeDocument/2006/relationships/image" Target="../media/image14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6.png"/><Relationship Id="rId5" Type="http://schemas.openxmlformats.org/officeDocument/2006/relationships/image" Target="../media/image215.png"/><Relationship Id="rId4" Type="http://schemas.openxmlformats.org/officeDocument/2006/relationships/image" Target="../media/image14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217.png"/><Relationship Id="rId4" Type="http://schemas.openxmlformats.org/officeDocument/2006/relationships/image" Target="../media/image14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218.png"/><Relationship Id="rId4" Type="http://schemas.openxmlformats.org/officeDocument/2006/relationships/image" Target="../media/image14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219.png"/><Relationship Id="rId4" Type="http://schemas.openxmlformats.org/officeDocument/2006/relationships/image" Target="../media/image14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0.png"/><Relationship Id="rId5" Type="http://schemas.openxmlformats.org/officeDocument/2006/relationships/image" Target="../media/image219.png"/><Relationship Id="rId4" Type="http://schemas.openxmlformats.org/officeDocument/2006/relationships/image" Target="../media/image14.png"/></Relationships>
</file>

<file path=ppt/slides/_rels/slide10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9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06.png"/><Relationship Id="rId10" Type="http://schemas.openxmlformats.org/officeDocument/2006/relationships/image" Target="../media/image221.png"/><Relationship Id="rId4" Type="http://schemas.openxmlformats.org/officeDocument/2006/relationships/image" Target="../media/image3.png"/><Relationship Id="rId9" Type="http://schemas.openxmlformats.org/officeDocument/2006/relationships/image" Target="../media/image16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3.png"/><Relationship Id="rId5" Type="http://schemas.openxmlformats.org/officeDocument/2006/relationships/image" Target="../media/image222.png"/><Relationship Id="rId4" Type="http://schemas.openxmlformats.org/officeDocument/2006/relationships/image" Target="../media/image14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25.png"/><Relationship Id="rId2" Type="http://schemas.openxmlformats.org/officeDocument/2006/relationships/image" Target="../media/image20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224.png"/><Relationship Id="rId4" Type="http://schemas.openxmlformats.org/officeDocument/2006/relationships/image" Target="../media/image14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26.jpg"/><Relationship Id="rId2" Type="http://schemas.openxmlformats.org/officeDocument/2006/relationships/image" Target="../media/image20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224.png"/><Relationship Id="rId4" Type="http://schemas.openxmlformats.org/officeDocument/2006/relationships/image" Target="../media/image14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27.png"/><Relationship Id="rId2" Type="http://schemas.openxmlformats.org/officeDocument/2006/relationships/image" Target="../media/image20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224.png"/><Relationship Id="rId4" Type="http://schemas.openxmlformats.org/officeDocument/2006/relationships/image" Target="../media/image14.png"/></Relationships>
</file>

<file path=ppt/slides/_rels/slide1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8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06.png"/><Relationship Id="rId4" Type="http://schemas.openxmlformats.org/officeDocument/2006/relationships/image" Target="../media/image3.png"/><Relationship Id="rId9" Type="http://schemas.openxmlformats.org/officeDocument/2006/relationships/image" Target="../media/image16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28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30.png"/><Relationship Id="rId4" Type="http://schemas.openxmlformats.org/officeDocument/2006/relationships/image" Target="../media/image229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232.png"/><Relationship Id="rId4" Type="http://schemas.openxmlformats.org/officeDocument/2006/relationships/image" Target="../media/image14.png"/></Relationships>
</file>

<file path=ppt/slides/_rels/slide1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3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3.png"/><Relationship Id="rId5" Type="http://schemas.openxmlformats.org/officeDocument/2006/relationships/image" Target="../media/image231.png"/><Relationship Id="rId4" Type="http://schemas.openxmlformats.org/officeDocument/2006/relationships/image" Target="../media/image3.png"/><Relationship Id="rId9" Type="http://schemas.openxmlformats.org/officeDocument/2006/relationships/image" Target="../media/image234.png"/></Relationships>
</file>

<file path=ppt/slides/_rels/slide1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5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31.png"/><Relationship Id="rId4" Type="http://schemas.openxmlformats.org/officeDocument/2006/relationships/image" Target="../media/image3.png"/><Relationship Id="rId9" Type="http://schemas.openxmlformats.org/officeDocument/2006/relationships/image" Target="../media/image236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38.jpg"/><Relationship Id="rId2" Type="http://schemas.openxmlformats.org/officeDocument/2006/relationships/image" Target="../media/image23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png"/><Relationship Id="rId5" Type="http://schemas.openxmlformats.org/officeDocument/2006/relationships/image" Target="../media/image237.png"/><Relationship Id="rId4" Type="http://schemas.openxmlformats.org/officeDocument/2006/relationships/image" Target="../media/image14.png"/></Relationships>
</file>

<file path=ppt/slides/_rels/slide1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7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2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31.png"/><Relationship Id="rId10" Type="http://schemas.openxmlformats.org/officeDocument/2006/relationships/image" Target="../media/image241.png"/><Relationship Id="rId4" Type="http://schemas.openxmlformats.org/officeDocument/2006/relationships/image" Target="../media/image3.png"/><Relationship Id="rId9" Type="http://schemas.openxmlformats.org/officeDocument/2006/relationships/image" Target="../media/image240.png"/></Relationships>
</file>

<file path=ppt/slides/_rels/slide1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2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31.png"/><Relationship Id="rId4" Type="http://schemas.openxmlformats.org/officeDocument/2006/relationships/image" Target="../media/image3.png"/><Relationship Id="rId9" Type="http://schemas.openxmlformats.org/officeDocument/2006/relationships/image" Target="../media/image74.png"/></Relationships>
</file>

<file path=ppt/slides/_rels/slide1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3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png"/><Relationship Id="rId11" Type="http://schemas.openxmlformats.org/officeDocument/2006/relationships/image" Target="../media/image245.jpg"/><Relationship Id="rId5" Type="http://schemas.openxmlformats.org/officeDocument/2006/relationships/image" Target="../media/image231.png"/><Relationship Id="rId10" Type="http://schemas.openxmlformats.org/officeDocument/2006/relationships/image" Target="../media/image244.jpg"/><Relationship Id="rId4" Type="http://schemas.openxmlformats.org/officeDocument/2006/relationships/image" Target="../media/image3.png"/><Relationship Id="rId9" Type="http://schemas.openxmlformats.org/officeDocument/2006/relationships/image" Target="../media/image16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247.png"/><Relationship Id="rId4" Type="http://schemas.openxmlformats.org/officeDocument/2006/relationships/image" Target="../media/image14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49.png"/><Relationship Id="rId2" Type="http://schemas.openxmlformats.org/officeDocument/2006/relationships/image" Target="../media/image2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248.png"/><Relationship Id="rId4" Type="http://schemas.openxmlformats.org/officeDocument/2006/relationships/image" Target="../media/image14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51.png"/><Relationship Id="rId2" Type="http://schemas.openxmlformats.org/officeDocument/2006/relationships/image" Target="../media/image24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png"/><Relationship Id="rId5" Type="http://schemas.openxmlformats.org/officeDocument/2006/relationships/image" Target="../media/image250.png"/><Relationship Id="rId4" Type="http://schemas.openxmlformats.org/officeDocument/2006/relationships/image" Target="../media/image14.pn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53.jpg"/><Relationship Id="rId2" Type="http://schemas.openxmlformats.org/officeDocument/2006/relationships/image" Target="../media/image24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png"/><Relationship Id="rId5" Type="http://schemas.openxmlformats.org/officeDocument/2006/relationships/image" Target="../media/image252.png"/><Relationship Id="rId4" Type="http://schemas.openxmlformats.org/officeDocument/2006/relationships/image" Target="../media/image14.png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247.png"/><Relationship Id="rId4" Type="http://schemas.openxmlformats.org/officeDocument/2006/relationships/image" Target="../media/image14.png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5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56.png"/><Relationship Id="rId4" Type="http://schemas.openxmlformats.org/officeDocument/2006/relationships/image" Target="../media/image255.pn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258.png"/><Relationship Id="rId4" Type="http://schemas.openxmlformats.org/officeDocument/2006/relationships/image" Target="../media/image14.png"/></Relationships>
</file>

<file path=ppt/slides/_rels/slide1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9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57.png"/><Relationship Id="rId10" Type="http://schemas.openxmlformats.org/officeDocument/2006/relationships/image" Target="../media/image261.png"/><Relationship Id="rId4" Type="http://schemas.openxmlformats.org/officeDocument/2006/relationships/image" Target="../media/image3.png"/><Relationship Id="rId9" Type="http://schemas.openxmlformats.org/officeDocument/2006/relationships/image" Target="../media/image260.pn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5" Type="http://schemas.openxmlformats.org/officeDocument/2006/relationships/image" Target="../media/image262.png"/><Relationship Id="rId4" Type="http://schemas.openxmlformats.org/officeDocument/2006/relationships/image" Target="../media/image14.png"/></Relationships>
</file>

<file path=ppt/slides/_rels/slide1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3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12" Type="http://schemas.openxmlformats.org/officeDocument/2006/relationships/image" Target="../media/image266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65.png"/><Relationship Id="rId5" Type="http://schemas.openxmlformats.org/officeDocument/2006/relationships/image" Target="../media/image257.png"/><Relationship Id="rId10" Type="http://schemas.openxmlformats.org/officeDocument/2006/relationships/image" Target="../media/image264.png"/><Relationship Id="rId4" Type="http://schemas.openxmlformats.org/officeDocument/2006/relationships/image" Target="../media/image3.png"/><Relationship Id="rId9" Type="http://schemas.openxmlformats.org/officeDocument/2006/relationships/image" Target="../media/image16.png"/></Relationships>
</file>

<file path=ppt/slides/_rels/slide1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7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57.png"/><Relationship Id="rId4" Type="http://schemas.openxmlformats.org/officeDocument/2006/relationships/image" Target="../media/image3.png"/><Relationship Id="rId9" Type="http://schemas.openxmlformats.org/officeDocument/2006/relationships/image" Target="../media/image32.png"/></Relationships>
</file>

<file path=ppt/slides/_rels/slide1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8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57.png"/><Relationship Id="rId10" Type="http://schemas.openxmlformats.org/officeDocument/2006/relationships/image" Target="../media/image269.png"/><Relationship Id="rId4" Type="http://schemas.openxmlformats.org/officeDocument/2006/relationships/image" Target="../media/image3.png"/><Relationship Id="rId9" Type="http://schemas.openxmlformats.org/officeDocument/2006/relationships/image" Target="../media/image16.png"/></Relationships>
</file>

<file path=ppt/slides/_rels/slide1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0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57.png"/><Relationship Id="rId4" Type="http://schemas.openxmlformats.org/officeDocument/2006/relationships/image" Target="../media/image3.png"/><Relationship Id="rId9" Type="http://schemas.openxmlformats.org/officeDocument/2006/relationships/image" Target="../media/image16.png"/></Relationships>
</file>

<file path=ppt/slides/_rels/slide1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1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57.png"/><Relationship Id="rId10" Type="http://schemas.openxmlformats.org/officeDocument/2006/relationships/image" Target="../media/image272.png"/><Relationship Id="rId4" Type="http://schemas.openxmlformats.org/officeDocument/2006/relationships/image" Target="../media/image3.png"/><Relationship Id="rId9" Type="http://schemas.openxmlformats.org/officeDocument/2006/relationships/image" Target="../media/image16.png"/></Relationships>
</file>

<file path=ppt/slides/_rels/slide1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3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57.png"/><Relationship Id="rId4" Type="http://schemas.openxmlformats.org/officeDocument/2006/relationships/image" Target="../media/image3.png"/><Relationship Id="rId9" Type="http://schemas.openxmlformats.org/officeDocument/2006/relationships/image" Target="../media/image274.png"/></Relationships>
</file>

<file path=ppt/slides/_rels/slide1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5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57.png"/><Relationship Id="rId10" Type="http://schemas.openxmlformats.org/officeDocument/2006/relationships/image" Target="../media/image276.png"/><Relationship Id="rId4" Type="http://schemas.openxmlformats.org/officeDocument/2006/relationships/image" Target="../media/image3.png"/><Relationship Id="rId9" Type="http://schemas.openxmlformats.org/officeDocument/2006/relationships/image" Target="../media/image16.png"/></Relationships>
</file>

<file path=ppt/slides/_rels/slide1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7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57.png"/><Relationship Id="rId4" Type="http://schemas.openxmlformats.org/officeDocument/2006/relationships/image" Target="../media/image3.png"/><Relationship Id="rId9" Type="http://schemas.openxmlformats.org/officeDocument/2006/relationships/image" Target="../media/image16.png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278.png"/><Relationship Id="rId4" Type="http://schemas.openxmlformats.org/officeDocument/2006/relationships/image" Target="../media/image14.png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80.jpg"/><Relationship Id="rId2" Type="http://schemas.openxmlformats.org/officeDocument/2006/relationships/image" Target="../media/image2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4.png"/><Relationship Id="rId5" Type="http://schemas.openxmlformats.org/officeDocument/2006/relationships/image" Target="../media/image279.png"/><Relationship Id="rId4" Type="http://schemas.openxmlformats.org/officeDocument/2006/relationships/image" Target="../media/image14.png"/></Relationships>
</file>

<file path=ppt/slides/_rels/slide1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1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57.png"/><Relationship Id="rId4" Type="http://schemas.openxmlformats.org/officeDocument/2006/relationships/image" Target="../media/image3.png"/><Relationship Id="rId9" Type="http://schemas.openxmlformats.org/officeDocument/2006/relationships/image" Target="../media/image282.png"/></Relationships>
</file>

<file path=ppt/slides/_rels/slide1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3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57.png"/><Relationship Id="rId10" Type="http://schemas.openxmlformats.org/officeDocument/2006/relationships/image" Target="../media/image284.jpg"/><Relationship Id="rId4" Type="http://schemas.openxmlformats.org/officeDocument/2006/relationships/image" Target="../media/image3.png"/><Relationship Id="rId9" Type="http://schemas.openxmlformats.org/officeDocument/2006/relationships/image" Target="../media/image16.png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285.png"/><Relationship Id="rId4" Type="http://schemas.openxmlformats.org/officeDocument/2006/relationships/image" Target="../media/image14.png"/></Relationships>
</file>

<file path=ppt/slides/_rels/slide1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7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28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57.png"/><Relationship Id="rId10" Type="http://schemas.openxmlformats.org/officeDocument/2006/relationships/image" Target="../media/image288.jpg"/><Relationship Id="rId4" Type="http://schemas.openxmlformats.org/officeDocument/2006/relationships/image" Target="../media/image3.png"/><Relationship Id="rId9" Type="http://schemas.openxmlformats.org/officeDocument/2006/relationships/image" Target="../media/image25.png"/></Relationships>
</file>

<file path=ppt/slides/_rels/slide1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9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57.png"/><Relationship Id="rId4" Type="http://schemas.openxmlformats.org/officeDocument/2006/relationships/image" Target="../media/image3.png"/><Relationship Id="rId9" Type="http://schemas.openxmlformats.org/officeDocument/2006/relationships/image" Target="../media/image46.png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290.png"/><Relationship Id="rId4" Type="http://schemas.openxmlformats.org/officeDocument/2006/relationships/image" Target="../media/image14.png"/></Relationships>
</file>

<file path=ppt/slides/_rels/slide1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3.jpg"/><Relationship Id="rId3" Type="http://schemas.openxmlformats.org/officeDocument/2006/relationships/image" Target="../media/image23.png"/><Relationship Id="rId7" Type="http://schemas.openxmlformats.org/officeDocument/2006/relationships/image" Target="../media/image292.jpg"/><Relationship Id="rId2" Type="http://schemas.openxmlformats.org/officeDocument/2006/relationships/image" Target="../media/image2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291.png"/><Relationship Id="rId4" Type="http://schemas.openxmlformats.org/officeDocument/2006/relationships/image" Target="../media/image14.png"/><Relationship Id="rId9" Type="http://schemas.openxmlformats.org/officeDocument/2006/relationships/image" Target="../media/image294.jpg"/></Relationships>
</file>

<file path=ppt/slides/_rels/slide1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7.jpg"/><Relationship Id="rId3" Type="http://schemas.openxmlformats.org/officeDocument/2006/relationships/image" Target="../media/image23.png"/><Relationship Id="rId7" Type="http://schemas.openxmlformats.org/officeDocument/2006/relationships/image" Target="../media/image296.png"/><Relationship Id="rId2" Type="http://schemas.openxmlformats.org/officeDocument/2006/relationships/image" Target="../media/image25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295.png"/><Relationship Id="rId4" Type="http://schemas.openxmlformats.org/officeDocument/2006/relationships/image" Target="../media/image14.png"/><Relationship Id="rId9" Type="http://schemas.openxmlformats.org/officeDocument/2006/relationships/image" Target="../media/image298.png"/></Relationships>
</file>

<file path=ppt/slides/_rels/slide1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9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301.png"/><Relationship Id="rId5" Type="http://schemas.openxmlformats.org/officeDocument/2006/relationships/image" Target="../media/image257.png"/><Relationship Id="rId10" Type="http://schemas.openxmlformats.org/officeDocument/2006/relationships/image" Target="../media/image300.png"/><Relationship Id="rId4" Type="http://schemas.openxmlformats.org/officeDocument/2006/relationships/image" Target="../media/image3.png"/><Relationship Id="rId9" Type="http://schemas.openxmlformats.org/officeDocument/2006/relationships/image" Target="../media/image16.png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0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6.png"/><Relationship Id="rId4" Type="http://schemas.openxmlformats.org/officeDocument/2006/relationships/image" Target="../media/image303.png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307.png"/><Relationship Id="rId2" Type="http://schemas.openxmlformats.org/officeDocument/2006/relationships/image" Target="../media/image30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6.png"/><Relationship Id="rId5" Type="http://schemas.openxmlformats.org/officeDocument/2006/relationships/image" Target="../media/image305.png"/><Relationship Id="rId4" Type="http://schemas.openxmlformats.org/officeDocument/2006/relationships/image" Target="../media/image14.png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0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308.png"/><Relationship Id="rId4" Type="http://schemas.openxmlformats.org/officeDocument/2006/relationships/image" Target="../media/image14.png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310.png"/><Relationship Id="rId2" Type="http://schemas.openxmlformats.org/officeDocument/2006/relationships/image" Target="../media/image30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309.png"/><Relationship Id="rId4" Type="http://schemas.openxmlformats.org/officeDocument/2006/relationships/image" Target="../media/image14.png"/></Relationships>
</file>

<file path=ppt/slides/_rels/slide1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1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313.png"/><Relationship Id="rId5" Type="http://schemas.openxmlformats.org/officeDocument/2006/relationships/image" Target="../media/image304.png"/><Relationship Id="rId10" Type="http://schemas.openxmlformats.org/officeDocument/2006/relationships/image" Target="../media/image312.png"/><Relationship Id="rId4" Type="http://schemas.openxmlformats.org/officeDocument/2006/relationships/image" Target="../media/image3.png"/><Relationship Id="rId9" Type="http://schemas.openxmlformats.org/officeDocument/2006/relationships/image" Target="../media/image16.png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0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5" Type="http://schemas.openxmlformats.org/officeDocument/2006/relationships/image" Target="../media/image314.png"/><Relationship Id="rId4" Type="http://schemas.openxmlformats.org/officeDocument/2006/relationships/image" Target="../media/image14.png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316.png"/><Relationship Id="rId2" Type="http://schemas.openxmlformats.org/officeDocument/2006/relationships/image" Target="../media/image30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315.png"/><Relationship Id="rId4" Type="http://schemas.openxmlformats.org/officeDocument/2006/relationships/image" Target="../media/image14.png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0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317.png"/><Relationship Id="rId4" Type="http://schemas.openxmlformats.org/officeDocument/2006/relationships/image" Target="../media/image14.png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319.png"/><Relationship Id="rId2" Type="http://schemas.openxmlformats.org/officeDocument/2006/relationships/image" Target="../media/image30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318.png"/><Relationship Id="rId4" Type="http://schemas.openxmlformats.org/officeDocument/2006/relationships/image" Target="../media/image14.png"/></Relationships>
</file>

<file path=ppt/slides/_rels/slide1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0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304.png"/><Relationship Id="rId4" Type="http://schemas.openxmlformats.org/officeDocument/2006/relationships/image" Target="../media/image3.png"/><Relationship Id="rId9" Type="http://schemas.openxmlformats.org/officeDocument/2006/relationships/image" Target="../media/image16.png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0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321.png"/><Relationship Id="rId4" Type="http://schemas.openxmlformats.org/officeDocument/2006/relationships/image" Target="../media/image14.png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323.png"/><Relationship Id="rId2" Type="http://schemas.openxmlformats.org/officeDocument/2006/relationships/image" Target="../media/image30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322.png"/><Relationship Id="rId4" Type="http://schemas.openxmlformats.org/officeDocument/2006/relationships/image" Target="../media/image14.png"/></Relationships>
</file>

<file path=ppt/slides/_rels/slide1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4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304.png"/><Relationship Id="rId10" Type="http://schemas.openxmlformats.org/officeDocument/2006/relationships/image" Target="../media/image325.jpg"/><Relationship Id="rId4" Type="http://schemas.openxmlformats.org/officeDocument/2006/relationships/image" Target="../media/image3.png"/><Relationship Id="rId9" Type="http://schemas.openxmlformats.org/officeDocument/2006/relationships/image" Target="../media/image16.png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327.png"/><Relationship Id="rId2" Type="http://schemas.openxmlformats.org/officeDocument/2006/relationships/image" Target="../media/image30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326.png"/><Relationship Id="rId4" Type="http://schemas.openxmlformats.org/officeDocument/2006/relationships/image" Target="../media/image14.png"/></Relationships>
</file>

<file path=ppt/slides/_rels/slide1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9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3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304.png"/><Relationship Id="rId10" Type="http://schemas.openxmlformats.org/officeDocument/2006/relationships/image" Target="../media/image330.png"/><Relationship Id="rId4" Type="http://schemas.openxmlformats.org/officeDocument/2006/relationships/image" Target="../media/image3.png"/><Relationship Id="rId9" Type="http://schemas.openxmlformats.org/officeDocument/2006/relationships/image" Target="../media/image16.png"/></Relationships>
</file>

<file path=ppt/slides/_rels/slide1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1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304.png"/><Relationship Id="rId10" Type="http://schemas.openxmlformats.org/officeDocument/2006/relationships/image" Target="../media/image333.png"/><Relationship Id="rId4" Type="http://schemas.openxmlformats.org/officeDocument/2006/relationships/image" Target="../media/image3.png"/><Relationship Id="rId9" Type="http://schemas.openxmlformats.org/officeDocument/2006/relationships/image" Target="../media/image332.png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335.jpg"/><Relationship Id="rId2" Type="http://schemas.openxmlformats.org/officeDocument/2006/relationships/image" Target="../media/image30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334.png"/><Relationship Id="rId4" Type="http://schemas.openxmlformats.org/officeDocument/2006/relationships/image" Target="../media/image14.png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7.png"/><Relationship Id="rId2" Type="http://schemas.openxmlformats.org/officeDocument/2006/relationships/image" Target="../media/image33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5647" y="2420056"/>
            <a:ext cx="7569087" cy="30321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35051" y="111250"/>
            <a:ext cx="9070975" cy="6632575"/>
            <a:chOff x="35051" y="111250"/>
            <a:chExt cx="9070975" cy="6632575"/>
          </a:xfrm>
        </p:grpSpPr>
        <p:sp>
          <p:nvSpPr>
            <p:cNvPr id="4" name="object 4"/>
            <p:cNvSpPr/>
            <p:nvPr/>
          </p:nvSpPr>
          <p:spPr>
            <a:xfrm>
              <a:off x="474218" y="597661"/>
              <a:ext cx="8178800" cy="7874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38556" y="838212"/>
              <a:ext cx="2219706" cy="323837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948940" y="975360"/>
              <a:ext cx="242316" cy="5321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307080" y="768108"/>
              <a:ext cx="5182616" cy="392925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5051" y="111250"/>
              <a:ext cx="9070848" cy="6632448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3162" y="229362"/>
              <a:ext cx="8839200" cy="6400800"/>
            </a:xfrm>
            <a:custGeom>
              <a:avLst/>
              <a:gdLst/>
              <a:ahLst/>
              <a:cxnLst/>
              <a:rect l="l" t="t" r="r" b="b"/>
              <a:pathLst>
                <a:path w="8839200" h="6400800">
                  <a:moveTo>
                    <a:pt x="0" y="1066800"/>
                  </a:moveTo>
                  <a:lnTo>
                    <a:pt x="1097" y="1017969"/>
                  </a:lnTo>
                  <a:lnTo>
                    <a:pt x="4359" y="969703"/>
                  </a:lnTo>
                  <a:lnTo>
                    <a:pt x="9738" y="922046"/>
                  </a:lnTo>
                  <a:lnTo>
                    <a:pt x="17187" y="875047"/>
                  </a:lnTo>
                  <a:lnTo>
                    <a:pt x="26660" y="828753"/>
                  </a:lnTo>
                  <a:lnTo>
                    <a:pt x="38108" y="783210"/>
                  </a:lnTo>
                  <a:lnTo>
                    <a:pt x="51484" y="738466"/>
                  </a:lnTo>
                  <a:lnTo>
                    <a:pt x="66743" y="694568"/>
                  </a:lnTo>
                  <a:lnTo>
                    <a:pt x="83836" y="651563"/>
                  </a:lnTo>
                  <a:lnTo>
                    <a:pt x="102717" y="609498"/>
                  </a:lnTo>
                  <a:lnTo>
                    <a:pt x="123338" y="568420"/>
                  </a:lnTo>
                  <a:lnTo>
                    <a:pt x="145653" y="528376"/>
                  </a:lnTo>
                  <a:lnTo>
                    <a:pt x="169613" y="489413"/>
                  </a:lnTo>
                  <a:lnTo>
                    <a:pt x="195174" y="451579"/>
                  </a:lnTo>
                  <a:lnTo>
                    <a:pt x="222286" y="414920"/>
                  </a:lnTo>
                  <a:lnTo>
                    <a:pt x="250904" y="379484"/>
                  </a:lnTo>
                  <a:lnTo>
                    <a:pt x="280979" y="345317"/>
                  </a:lnTo>
                  <a:lnTo>
                    <a:pt x="312466" y="312467"/>
                  </a:lnTo>
                  <a:lnTo>
                    <a:pt x="345316" y="280981"/>
                  </a:lnTo>
                  <a:lnTo>
                    <a:pt x="379483" y="250906"/>
                  </a:lnTo>
                  <a:lnTo>
                    <a:pt x="414920" y="222288"/>
                  </a:lnTo>
                  <a:lnTo>
                    <a:pt x="451579" y="195176"/>
                  </a:lnTo>
                  <a:lnTo>
                    <a:pt x="489414" y="169615"/>
                  </a:lnTo>
                  <a:lnTo>
                    <a:pt x="528378" y="145654"/>
                  </a:lnTo>
                  <a:lnTo>
                    <a:pt x="568423" y="123340"/>
                  </a:lnTo>
                  <a:lnTo>
                    <a:pt x="609502" y="102718"/>
                  </a:lnTo>
                  <a:lnTo>
                    <a:pt x="651568" y="83837"/>
                  </a:lnTo>
                  <a:lnTo>
                    <a:pt x="694575" y="66744"/>
                  </a:lnTo>
                  <a:lnTo>
                    <a:pt x="738475" y="51485"/>
                  </a:lnTo>
                  <a:lnTo>
                    <a:pt x="783221" y="38108"/>
                  </a:lnTo>
                  <a:lnTo>
                    <a:pt x="828765" y="26660"/>
                  </a:lnTo>
                  <a:lnTo>
                    <a:pt x="875062" y="17188"/>
                  </a:lnTo>
                  <a:lnTo>
                    <a:pt x="922063" y="9739"/>
                  </a:lnTo>
                  <a:lnTo>
                    <a:pt x="969722" y="4359"/>
                  </a:lnTo>
                  <a:lnTo>
                    <a:pt x="1017992" y="1097"/>
                  </a:lnTo>
                  <a:lnTo>
                    <a:pt x="1066825" y="0"/>
                  </a:lnTo>
                  <a:lnTo>
                    <a:pt x="7772400" y="0"/>
                  </a:lnTo>
                  <a:lnTo>
                    <a:pt x="7821230" y="1097"/>
                  </a:lnTo>
                  <a:lnTo>
                    <a:pt x="7869496" y="4359"/>
                  </a:lnTo>
                  <a:lnTo>
                    <a:pt x="7917153" y="9739"/>
                  </a:lnTo>
                  <a:lnTo>
                    <a:pt x="7964152" y="17188"/>
                  </a:lnTo>
                  <a:lnTo>
                    <a:pt x="8010446" y="26660"/>
                  </a:lnTo>
                  <a:lnTo>
                    <a:pt x="8055989" y="38108"/>
                  </a:lnTo>
                  <a:lnTo>
                    <a:pt x="8100733" y="51485"/>
                  </a:lnTo>
                  <a:lnTo>
                    <a:pt x="8144631" y="66744"/>
                  </a:lnTo>
                  <a:lnTo>
                    <a:pt x="8187636" y="83837"/>
                  </a:lnTo>
                  <a:lnTo>
                    <a:pt x="8229701" y="102718"/>
                  </a:lnTo>
                  <a:lnTo>
                    <a:pt x="8270779" y="123340"/>
                  </a:lnTo>
                  <a:lnTo>
                    <a:pt x="8310823" y="145654"/>
                  </a:lnTo>
                  <a:lnTo>
                    <a:pt x="8349786" y="169615"/>
                  </a:lnTo>
                  <a:lnTo>
                    <a:pt x="8387620" y="195176"/>
                  </a:lnTo>
                  <a:lnTo>
                    <a:pt x="8424279" y="222288"/>
                  </a:lnTo>
                  <a:lnTo>
                    <a:pt x="8459715" y="250906"/>
                  </a:lnTo>
                  <a:lnTo>
                    <a:pt x="8493882" y="280981"/>
                  </a:lnTo>
                  <a:lnTo>
                    <a:pt x="8526732" y="312467"/>
                  </a:lnTo>
                  <a:lnTo>
                    <a:pt x="8558218" y="345317"/>
                  </a:lnTo>
                  <a:lnTo>
                    <a:pt x="8588293" y="379484"/>
                  </a:lnTo>
                  <a:lnTo>
                    <a:pt x="8616911" y="414920"/>
                  </a:lnTo>
                  <a:lnTo>
                    <a:pt x="8644023" y="451579"/>
                  </a:lnTo>
                  <a:lnTo>
                    <a:pt x="8669584" y="489413"/>
                  </a:lnTo>
                  <a:lnTo>
                    <a:pt x="8693545" y="528376"/>
                  </a:lnTo>
                  <a:lnTo>
                    <a:pt x="8715859" y="568420"/>
                  </a:lnTo>
                  <a:lnTo>
                    <a:pt x="8736481" y="609498"/>
                  </a:lnTo>
                  <a:lnTo>
                    <a:pt x="8755362" y="651563"/>
                  </a:lnTo>
                  <a:lnTo>
                    <a:pt x="8772455" y="694568"/>
                  </a:lnTo>
                  <a:lnTo>
                    <a:pt x="8787714" y="738466"/>
                  </a:lnTo>
                  <a:lnTo>
                    <a:pt x="8801091" y="783210"/>
                  </a:lnTo>
                  <a:lnTo>
                    <a:pt x="8812539" y="828753"/>
                  </a:lnTo>
                  <a:lnTo>
                    <a:pt x="8822011" y="875047"/>
                  </a:lnTo>
                  <a:lnTo>
                    <a:pt x="8829460" y="922046"/>
                  </a:lnTo>
                  <a:lnTo>
                    <a:pt x="8834840" y="969703"/>
                  </a:lnTo>
                  <a:lnTo>
                    <a:pt x="8838102" y="1017969"/>
                  </a:lnTo>
                  <a:lnTo>
                    <a:pt x="8839200" y="1066800"/>
                  </a:lnTo>
                  <a:lnTo>
                    <a:pt x="8839200" y="5334000"/>
                  </a:lnTo>
                  <a:lnTo>
                    <a:pt x="8838102" y="5382831"/>
                  </a:lnTo>
                  <a:lnTo>
                    <a:pt x="8834840" y="5431098"/>
                  </a:lnTo>
                  <a:lnTo>
                    <a:pt x="8829460" y="5478755"/>
                  </a:lnTo>
                  <a:lnTo>
                    <a:pt x="8822011" y="5525755"/>
                  </a:lnTo>
                  <a:lnTo>
                    <a:pt x="8812539" y="5572050"/>
                  </a:lnTo>
                  <a:lnTo>
                    <a:pt x="8801091" y="5617593"/>
                  </a:lnTo>
                  <a:lnTo>
                    <a:pt x="8787714" y="5662337"/>
                  </a:lnTo>
                  <a:lnTo>
                    <a:pt x="8772455" y="5706236"/>
                  </a:lnTo>
                  <a:lnTo>
                    <a:pt x="8755362" y="5749241"/>
                  </a:lnTo>
                  <a:lnTo>
                    <a:pt x="8736481" y="5791307"/>
                  </a:lnTo>
                  <a:lnTo>
                    <a:pt x="8715859" y="5832385"/>
                  </a:lnTo>
                  <a:lnTo>
                    <a:pt x="8693545" y="5872429"/>
                  </a:lnTo>
                  <a:lnTo>
                    <a:pt x="8669584" y="5911391"/>
                  </a:lnTo>
                  <a:lnTo>
                    <a:pt x="8644023" y="5949226"/>
                  </a:lnTo>
                  <a:lnTo>
                    <a:pt x="8616911" y="5985884"/>
                  </a:lnTo>
                  <a:lnTo>
                    <a:pt x="8588293" y="6021320"/>
                  </a:lnTo>
                  <a:lnTo>
                    <a:pt x="8558218" y="6055487"/>
                  </a:lnTo>
                  <a:lnTo>
                    <a:pt x="8526732" y="6088337"/>
                  </a:lnTo>
                  <a:lnTo>
                    <a:pt x="8493882" y="6119823"/>
                  </a:lnTo>
                  <a:lnTo>
                    <a:pt x="8459715" y="6149898"/>
                  </a:lnTo>
                  <a:lnTo>
                    <a:pt x="8424279" y="6178515"/>
                  </a:lnTo>
                  <a:lnTo>
                    <a:pt x="8387620" y="6205627"/>
                  </a:lnTo>
                  <a:lnTo>
                    <a:pt x="8349786" y="6231187"/>
                  </a:lnTo>
                  <a:lnTo>
                    <a:pt x="8310823" y="6255147"/>
                  </a:lnTo>
                  <a:lnTo>
                    <a:pt x="8270779" y="6277462"/>
                  </a:lnTo>
                  <a:lnTo>
                    <a:pt x="8229701" y="6298083"/>
                  </a:lnTo>
                  <a:lnTo>
                    <a:pt x="8187636" y="6316963"/>
                  </a:lnTo>
                  <a:lnTo>
                    <a:pt x="8144631" y="6334056"/>
                  </a:lnTo>
                  <a:lnTo>
                    <a:pt x="8100733" y="6349315"/>
                  </a:lnTo>
                  <a:lnTo>
                    <a:pt x="8055989" y="6362692"/>
                  </a:lnTo>
                  <a:lnTo>
                    <a:pt x="8010446" y="6374139"/>
                  </a:lnTo>
                  <a:lnTo>
                    <a:pt x="7964152" y="6383612"/>
                  </a:lnTo>
                  <a:lnTo>
                    <a:pt x="7917153" y="6391061"/>
                  </a:lnTo>
                  <a:lnTo>
                    <a:pt x="7869496" y="6396440"/>
                  </a:lnTo>
                  <a:lnTo>
                    <a:pt x="7821230" y="6399702"/>
                  </a:lnTo>
                  <a:lnTo>
                    <a:pt x="7772400" y="6400800"/>
                  </a:lnTo>
                  <a:lnTo>
                    <a:pt x="1066825" y="6400800"/>
                  </a:lnTo>
                  <a:lnTo>
                    <a:pt x="1017992" y="6399702"/>
                  </a:lnTo>
                  <a:lnTo>
                    <a:pt x="969722" y="6396440"/>
                  </a:lnTo>
                  <a:lnTo>
                    <a:pt x="922063" y="6391061"/>
                  </a:lnTo>
                  <a:lnTo>
                    <a:pt x="875062" y="6383612"/>
                  </a:lnTo>
                  <a:lnTo>
                    <a:pt x="828765" y="6374139"/>
                  </a:lnTo>
                  <a:lnTo>
                    <a:pt x="783221" y="6362692"/>
                  </a:lnTo>
                  <a:lnTo>
                    <a:pt x="738475" y="6349315"/>
                  </a:lnTo>
                  <a:lnTo>
                    <a:pt x="694575" y="6334056"/>
                  </a:lnTo>
                  <a:lnTo>
                    <a:pt x="651568" y="6316963"/>
                  </a:lnTo>
                  <a:lnTo>
                    <a:pt x="609502" y="6298083"/>
                  </a:lnTo>
                  <a:lnTo>
                    <a:pt x="568423" y="6277462"/>
                  </a:lnTo>
                  <a:lnTo>
                    <a:pt x="528378" y="6255147"/>
                  </a:lnTo>
                  <a:lnTo>
                    <a:pt x="489414" y="6231187"/>
                  </a:lnTo>
                  <a:lnTo>
                    <a:pt x="451579" y="6205627"/>
                  </a:lnTo>
                  <a:lnTo>
                    <a:pt x="414920" y="6178515"/>
                  </a:lnTo>
                  <a:lnTo>
                    <a:pt x="379483" y="6149898"/>
                  </a:lnTo>
                  <a:lnTo>
                    <a:pt x="345316" y="6119823"/>
                  </a:lnTo>
                  <a:lnTo>
                    <a:pt x="312466" y="6088337"/>
                  </a:lnTo>
                  <a:lnTo>
                    <a:pt x="280979" y="6055487"/>
                  </a:lnTo>
                  <a:lnTo>
                    <a:pt x="250904" y="6021320"/>
                  </a:lnTo>
                  <a:lnTo>
                    <a:pt x="222286" y="5985884"/>
                  </a:lnTo>
                  <a:lnTo>
                    <a:pt x="195174" y="5949226"/>
                  </a:lnTo>
                  <a:lnTo>
                    <a:pt x="169613" y="5911391"/>
                  </a:lnTo>
                  <a:lnTo>
                    <a:pt x="145653" y="5872429"/>
                  </a:lnTo>
                  <a:lnTo>
                    <a:pt x="123338" y="5832385"/>
                  </a:lnTo>
                  <a:lnTo>
                    <a:pt x="102717" y="5791307"/>
                  </a:lnTo>
                  <a:lnTo>
                    <a:pt x="83836" y="5749241"/>
                  </a:lnTo>
                  <a:lnTo>
                    <a:pt x="66743" y="5706236"/>
                  </a:lnTo>
                  <a:lnTo>
                    <a:pt x="51484" y="5662337"/>
                  </a:lnTo>
                  <a:lnTo>
                    <a:pt x="38108" y="5617593"/>
                  </a:lnTo>
                  <a:lnTo>
                    <a:pt x="26660" y="5572050"/>
                  </a:lnTo>
                  <a:lnTo>
                    <a:pt x="17187" y="5525755"/>
                  </a:lnTo>
                  <a:lnTo>
                    <a:pt x="9738" y="5478755"/>
                  </a:lnTo>
                  <a:lnTo>
                    <a:pt x="4359" y="5431098"/>
                  </a:lnTo>
                  <a:lnTo>
                    <a:pt x="1097" y="5382831"/>
                  </a:lnTo>
                  <a:lnTo>
                    <a:pt x="0" y="5334000"/>
                  </a:lnTo>
                  <a:lnTo>
                    <a:pt x="0" y="1066800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29436" y="905636"/>
            <a:ext cx="7700009" cy="95250"/>
            <a:chOff x="829436" y="905636"/>
            <a:chExt cx="7700009" cy="95250"/>
          </a:xfrm>
        </p:grpSpPr>
        <p:sp>
          <p:nvSpPr>
            <p:cNvPr id="3" name="object 3"/>
            <p:cNvSpPr/>
            <p:nvPr/>
          </p:nvSpPr>
          <p:spPr>
            <a:xfrm>
              <a:off x="838961" y="915170"/>
              <a:ext cx="7680959" cy="7618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38961" y="915161"/>
              <a:ext cx="7680959" cy="76200"/>
            </a:xfrm>
            <a:custGeom>
              <a:avLst/>
              <a:gdLst/>
              <a:ahLst/>
              <a:cxnLst/>
              <a:rect l="l" t="t" r="r" b="b"/>
              <a:pathLst>
                <a:path w="7680959" h="76200">
                  <a:moveTo>
                    <a:pt x="0" y="38100"/>
                  </a:moveTo>
                  <a:lnTo>
                    <a:pt x="42730" y="32388"/>
                  </a:lnTo>
                  <a:lnTo>
                    <a:pt x="86304" y="30018"/>
                  </a:lnTo>
                  <a:lnTo>
                    <a:pt x="144332" y="27703"/>
                  </a:lnTo>
                  <a:lnTo>
                    <a:pt x="190807" y="26191"/>
                  </a:lnTo>
                  <a:lnTo>
                    <a:pt x="243346" y="24707"/>
                  </a:lnTo>
                  <a:lnTo>
                    <a:pt x="301805" y="23252"/>
                  </a:lnTo>
                  <a:lnTo>
                    <a:pt x="366039" y="21828"/>
                  </a:lnTo>
                  <a:lnTo>
                    <a:pt x="435905" y="20435"/>
                  </a:lnTo>
                  <a:lnTo>
                    <a:pt x="511258" y="19075"/>
                  </a:lnTo>
                  <a:lnTo>
                    <a:pt x="550947" y="18408"/>
                  </a:lnTo>
                  <a:lnTo>
                    <a:pt x="591954" y="17750"/>
                  </a:lnTo>
                  <a:lnTo>
                    <a:pt x="634261" y="17101"/>
                  </a:lnTo>
                  <a:lnTo>
                    <a:pt x="677850" y="16461"/>
                  </a:lnTo>
                  <a:lnTo>
                    <a:pt x="722702" y="15830"/>
                  </a:lnTo>
                  <a:lnTo>
                    <a:pt x="768800" y="15209"/>
                  </a:lnTo>
                  <a:lnTo>
                    <a:pt x="816126" y="14598"/>
                  </a:lnTo>
                  <a:lnTo>
                    <a:pt x="864661" y="13997"/>
                  </a:lnTo>
                  <a:lnTo>
                    <a:pt x="914389" y="13405"/>
                  </a:lnTo>
                  <a:lnTo>
                    <a:pt x="965290" y="12824"/>
                  </a:lnTo>
                  <a:lnTo>
                    <a:pt x="1017346" y="12253"/>
                  </a:lnTo>
                  <a:lnTo>
                    <a:pt x="1070540" y="11693"/>
                  </a:lnTo>
                  <a:lnTo>
                    <a:pt x="1124854" y="11144"/>
                  </a:lnTo>
                  <a:lnTo>
                    <a:pt x="1180270" y="10605"/>
                  </a:lnTo>
                  <a:lnTo>
                    <a:pt x="1236769" y="10078"/>
                  </a:lnTo>
                  <a:lnTo>
                    <a:pt x="1294334" y="9562"/>
                  </a:lnTo>
                  <a:lnTo>
                    <a:pt x="1352946" y="9058"/>
                  </a:lnTo>
                  <a:lnTo>
                    <a:pt x="1412588" y="8565"/>
                  </a:lnTo>
                  <a:lnTo>
                    <a:pt x="1473242" y="8084"/>
                  </a:lnTo>
                  <a:lnTo>
                    <a:pt x="1534889" y="7615"/>
                  </a:lnTo>
                  <a:lnTo>
                    <a:pt x="1597512" y="7158"/>
                  </a:lnTo>
                  <a:lnTo>
                    <a:pt x="1661092" y="6713"/>
                  </a:lnTo>
                  <a:lnTo>
                    <a:pt x="1725612" y="6281"/>
                  </a:lnTo>
                  <a:lnTo>
                    <a:pt x="1791053" y="5862"/>
                  </a:lnTo>
                  <a:lnTo>
                    <a:pt x="1857398" y="5456"/>
                  </a:lnTo>
                  <a:lnTo>
                    <a:pt x="1924628" y="5063"/>
                  </a:lnTo>
                  <a:lnTo>
                    <a:pt x="1992726" y="4683"/>
                  </a:lnTo>
                  <a:lnTo>
                    <a:pt x="2061673" y="4316"/>
                  </a:lnTo>
                  <a:lnTo>
                    <a:pt x="2131452" y="3963"/>
                  </a:lnTo>
                  <a:lnTo>
                    <a:pt x="2202044" y="3624"/>
                  </a:lnTo>
                  <a:lnTo>
                    <a:pt x="2273431" y="3299"/>
                  </a:lnTo>
                  <a:lnTo>
                    <a:pt x="2345596" y="2988"/>
                  </a:lnTo>
                  <a:lnTo>
                    <a:pt x="2418521" y="2691"/>
                  </a:lnTo>
                  <a:lnTo>
                    <a:pt x="2492186" y="2409"/>
                  </a:lnTo>
                  <a:lnTo>
                    <a:pt x="2566575" y="2141"/>
                  </a:lnTo>
                  <a:lnTo>
                    <a:pt x="2641670" y="1889"/>
                  </a:lnTo>
                  <a:lnTo>
                    <a:pt x="2717451" y="1651"/>
                  </a:lnTo>
                  <a:lnTo>
                    <a:pt x="2793902" y="1428"/>
                  </a:lnTo>
                  <a:lnTo>
                    <a:pt x="2871005" y="1221"/>
                  </a:lnTo>
                  <a:lnTo>
                    <a:pt x="2948741" y="1030"/>
                  </a:lnTo>
                  <a:lnTo>
                    <a:pt x="3027092" y="854"/>
                  </a:lnTo>
                  <a:lnTo>
                    <a:pt x="3106040" y="694"/>
                  </a:lnTo>
                  <a:lnTo>
                    <a:pt x="3185567" y="550"/>
                  </a:lnTo>
                  <a:lnTo>
                    <a:pt x="3265656" y="422"/>
                  </a:lnTo>
                  <a:lnTo>
                    <a:pt x="3346288" y="311"/>
                  </a:lnTo>
                  <a:lnTo>
                    <a:pt x="3427445" y="217"/>
                  </a:lnTo>
                  <a:lnTo>
                    <a:pt x="3509110" y="139"/>
                  </a:lnTo>
                  <a:lnTo>
                    <a:pt x="3591263" y="78"/>
                  </a:lnTo>
                  <a:lnTo>
                    <a:pt x="3673888" y="35"/>
                  </a:lnTo>
                  <a:lnTo>
                    <a:pt x="3756966" y="8"/>
                  </a:lnTo>
                  <a:lnTo>
                    <a:pt x="3840479" y="0"/>
                  </a:lnTo>
                  <a:lnTo>
                    <a:pt x="3923993" y="8"/>
                  </a:lnTo>
                  <a:lnTo>
                    <a:pt x="4007071" y="35"/>
                  </a:lnTo>
                  <a:lnTo>
                    <a:pt x="4089696" y="78"/>
                  </a:lnTo>
                  <a:lnTo>
                    <a:pt x="4171849" y="139"/>
                  </a:lnTo>
                  <a:lnTo>
                    <a:pt x="4253514" y="217"/>
                  </a:lnTo>
                  <a:lnTo>
                    <a:pt x="4334671" y="311"/>
                  </a:lnTo>
                  <a:lnTo>
                    <a:pt x="4415303" y="422"/>
                  </a:lnTo>
                  <a:lnTo>
                    <a:pt x="4495392" y="550"/>
                  </a:lnTo>
                  <a:lnTo>
                    <a:pt x="4574919" y="694"/>
                  </a:lnTo>
                  <a:lnTo>
                    <a:pt x="4653867" y="854"/>
                  </a:lnTo>
                  <a:lnTo>
                    <a:pt x="4732218" y="1030"/>
                  </a:lnTo>
                  <a:lnTo>
                    <a:pt x="4809954" y="1221"/>
                  </a:lnTo>
                  <a:lnTo>
                    <a:pt x="4887057" y="1428"/>
                  </a:lnTo>
                  <a:lnTo>
                    <a:pt x="4963508" y="1651"/>
                  </a:lnTo>
                  <a:lnTo>
                    <a:pt x="5039289" y="1889"/>
                  </a:lnTo>
                  <a:lnTo>
                    <a:pt x="5114384" y="2141"/>
                  </a:lnTo>
                  <a:lnTo>
                    <a:pt x="5188773" y="2409"/>
                  </a:lnTo>
                  <a:lnTo>
                    <a:pt x="5262438" y="2691"/>
                  </a:lnTo>
                  <a:lnTo>
                    <a:pt x="5335363" y="2988"/>
                  </a:lnTo>
                  <a:lnTo>
                    <a:pt x="5407528" y="3299"/>
                  </a:lnTo>
                  <a:lnTo>
                    <a:pt x="5478915" y="3624"/>
                  </a:lnTo>
                  <a:lnTo>
                    <a:pt x="5549507" y="3963"/>
                  </a:lnTo>
                  <a:lnTo>
                    <a:pt x="5619286" y="4316"/>
                  </a:lnTo>
                  <a:lnTo>
                    <a:pt x="5688233" y="4683"/>
                  </a:lnTo>
                  <a:lnTo>
                    <a:pt x="5756331" y="5063"/>
                  </a:lnTo>
                  <a:lnTo>
                    <a:pt x="5823561" y="5456"/>
                  </a:lnTo>
                  <a:lnTo>
                    <a:pt x="5889906" y="5862"/>
                  </a:lnTo>
                  <a:lnTo>
                    <a:pt x="5955347" y="6281"/>
                  </a:lnTo>
                  <a:lnTo>
                    <a:pt x="6019867" y="6713"/>
                  </a:lnTo>
                  <a:lnTo>
                    <a:pt x="6083447" y="7158"/>
                  </a:lnTo>
                  <a:lnTo>
                    <a:pt x="6146070" y="7615"/>
                  </a:lnTo>
                  <a:lnTo>
                    <a:pt x="6207717" y="8084"/>
                  </a:lnTo>
                  <a:lnTo>
                    <a:pt x="6268371" y="8565"/>
                  </a:lnTo>
                  <a:lnTo>
                    <a:pt x="6328013" y="9058"/>
                  </a:lnTo>
                  <a:lnTo>
                    <a:pt x="6386625" y="9562"/>
                  </a:lnTo>
                  <a:lnTo>
                    <a:pt x="6444190" y="10078"/>
                  </a:lnTo>
                  <a:lnTo>
                    <a:pt x="6500689" y="10605"/>
                  </a:lnTo>
                  <a:lnTo>
                    <a:pt x="6556105" y="11144"/>
                  </a:lnTo>
                  <a:lnTo>
                    <a:pt x="6610419" y="11693"/>
                  </a:lnTo>
                  <a:lnTo>
                    <a:pt x="6663613" y="12253"/>
                  </a:lnTo>
                  <a:lnTo>
                    <a:pt x="6715669" y="12824"/>
                  </a:lnTo>
                  <a:lnTo>
                    <a:pt x="6766570" y="13405"/>
                  </a:lnTo>
                  <a:lnTo>
                    <a:pt x="6816298" y="13997"/>
                  </a:lnTo>
                  <a:lnTo>
                    <a:pt x="6864833" y="14598"/>
                  </a:lnTo>
                  <a:lnTo>
                    <a:pt x="6912159" y="15209"/>
                  </a:lnTo>
                  <a:lnTo>
                    <a:pt x="6958257" y="15830"/>
                  </a:lnTo>
                  <a:lnTo>
                    <a:pt x="7003109" y="16461"/>
                  </a:lnTo>
                  <a:lnTo>
                    <a:pt x="7046698" y="17101"/>
                  </a:lnTo>
                  <a:lnTo>
                    <a:pt x="7089005" y="17750"/>
                  </a:lnTo>
                  <a:lnTo>
                    <a:pt x="7130012" y="18408"/>
                  </a:lnTo>
                  <a:lnTo>
                    <a:pt x="7169701" y="19075"/>
                  </a:lnTo>
                  <a:lnTo>
                    <a:pt x="7208054" y="19751"/>
                  </a:lnTo>
                  <a:lnTo>
                    <a:pt x="7280682" y="21127"/>
                  </a:lnTo>
                  <a:lnTo>
                    <a:pt x="7347750" y="22536"/>
                  </a:lnTo>
                  <a:lnTo>
                    <a:pt x="7409114" y="23976"/>
                  </a:lnTo>
                  <a:lnTo>
                    <a:pt x="7464631" y="25446"/>
                  </a:lnTo>
                  <a:lnTo>
                    <a:pt x="7514156" y="26944"/>
                  </a:lnTo>
                  <a:lnTo>
                    <a:pt x="7557545" y="28468"/>
                  </a:lnTo>
                  <a:lnTo>
                    <a:pt x="7610810" y="30802"/>
                  </a:lnTo>
                  <a:lnTo>
                    <a:pt x="7649458" y="33189"/>
                  </a:lnTo>
                  <a:lnTo>
                    <a:pt x="7680959" y="38100"/>
                  </a:lnTo>
                  <a:lnTo>
                    <a:pt x="7680069" y="38930"/>
                  </a:lnTo>
                  <a:lnTo>
                    <a:pt x="7638229" y="43811"/>
                  </a:lnTo>
                  <a:lnTo>
                    <a:pt x="7594655" y="46181"/>
                  </a:lnTo>
                  <a:lnTo>
                    <a:pt x="7536627" y="48496"/>
                  </a:lnTo>
                  <a:lnTo>
                    <a:pt x="7490152" y="50008"/>
                  </a:lnTo>
                  <a:lnTo>
                    <a:pt x="7437613" y="51492"/>
                  </a:lnTo>
                  <a:lnTo>
                    <a:pt x="7379154" y="52947"/>
                  </a:lnTo>
                  <a:lnTo>
                    <a:pt x="7314920" y="54371"/>
                  </a:lnTo>
                  <a:lnTo>
                    <a:pt x="7245054" y="55764"/>
                  </a:lnTo>
                  <a:lnTo>
                    <a:pt x="7169701" y="57124"/>
                  </a:lnTo>
                  <a:lnTo>
                    <a:pt x="7130012" y="57791"/>
                  </a:lnTo>
                  <a:lnTo>
                    <a:pt x="7089005" y="58449"/>
                  </a:lnTo>
                  <a:lnTo>
                    <a:pt x="7046698" y="59098"/>
                  </a:lnTo>
                  <a:lnTo>
                    <a:pt x="7003109" y="59738"/>
                  </a:lnTo>
                  <a:lnTo>
                    <a:pt x="6958257" y="60369"/>
                  </a:lnTo>
                  <a:lnTo>
                    <a:pt x="6912159" y="60990"/>
                  </a:lnTo>
                  <a:lnTo>
                    <a:pt x="6864833" y="61601"/>
                  </a:lnTo>
                  <a:lnTo>
                    <a:pt x="6816298" y="62202"/>
                  </a:lnTo>
                  <a:lnTo>
                    <a:pt x="6766570" y="62794"/>
                  </a:lnTo>
                  <a:lnTo>
                    <a:pt x="6715669" y="63375"/>
                  </a:lnTo>
                  <a:lnTo>
                    <a:pt x="6663613" y="63946"/>
                  </a:lnTo>
                  <a:lnTo>
                    <a:pt x="6610419" y="64506"/>
                  </a:lnTo>
                  <a:lnTo>
                    <a:pt x="6556105" y="65055"/>
                  </a:lnTo>
                  <a:lnTo>
                    <a:pt x="6500689" y="65594"/>
                  </a:lnTo>
                  <a:lnTo>
                    <a:pt x="6444190" y="66121"/>
                  </a:lnTo>
                  <a:lnTo>
                    <a:pt x="6386625" y="66637"/>
                  </a:lnTo>
                  <a:lnTo>
                    <a:pt x="6328013" y="67141"/>
                  </a:lnTo>
                  <a:lnTo>
                    <a:pt x="6268371" y="67634"/>
                  </a:lnTo>
                  <a:lnTo>
                    <a:pt x="6207717" y="68115"/>
                  </a:lnTo>
                  <a:lnTo>
                    <a:pt x="6146070" y="68584"/>
                  </a:lnTo>
                  <a:lnTo>
                    <a:pt x="6083447" y="69041"/>
                  </a:lnTo>
                  <a:lnTo>
                    <a:pt x="6019867" y="69486"/>
                  </a:lnTo>
                  <a:lnTo>
                    <a:pt x="5955347" y="69918"/>
                  </a:lnTo>
                  <a:lnTo>
                    <a:pt x="5889906" y="70337"/>
                  </a:lnTo>
                  <a:lnTo>
                    <a:pt x="5823561" y="70743"/>
                  </a:lnTo>
                  <a:lnTo>
                    <a:pt x="5756331" y="71136"/>
                  </a:lnTo>
                  <a:lnTo>
                    <a:pt x="5688233" y="71516"/>
                  </a:lnTo>
                  <a:lnTo>
                    <a:pt x="5619286" y="71883"/>
                  </a:lnTo>
                  <a:lnTo>
                    <a:pt x="5549507" y="72236"/>
                  </a:lnTo>
                  <a:lnTo>
                    <a:pt x="5478915" y="72575"/>
                  </a:lnTo>
                  <a:lnTo>
                    <a:pt x="5407528" y="72900"/>
                  </a:lnTo>
                  <a:lnTo>
                    <a:pt x="5335363" y="73211"/>
                  </a:lnTo>
                  <a:lnTo>
                    <a:pt x="5262438" y="73508"/>
                  </a:lnTo>
                  <a:lnTo>
                    <a:pt x="5188773" y="73790"/>
                  </a:lnTo>
                  <a:lnTo>
                    <a:pt x="5114384" y="74058"/>
                  </a:lnTo>
                  <a:lnTo>
                    <a:pt x="5039289" y="74310"/>
                  </a:lnTo>
                  <a:lnTo>
                    <a:pt x="4963508" y="74548"/>
                  </a:lnTo>
                  <a:lnTo>
                    <a:pt x="4887057" y="74771"/>
                  </a:lnTo>
                  <a:lnTo>
                    <a:pt x="4809954" y="74978"/>
                  </a:lnTo>
                  <a:lnTo>
                    <a:pt x="4732218" y="75169"/>
                  </a:lnTo>
                  <a:lnTo>
                    <a:pt x="4653867" y="75345"/>
                  </a:lnTo>
                  <a:lnTo>
                    <a:pt x="4574919" y="75505"/>
                  </a:lnTo>
                  <a:lnTo>
                    <a:pt x="4495392" y="75649"/>
                  </a:lnTo>
                  <a:lnTo>
                    <a:pt x="4415303" y="75777"/>
                  </a:lnTo>
                  <a:lnTo>
                    <a:pt x="4334671" y="75888"/>
                  </a:lnTo>
                  <a:lnTo>
                    <a:pt x="4253514" y="75982"/>
                  </a:lnTo>
                  <a:lnTo>
                    <a:pt x="4171849" y="76060"/>
                  </a:lnTo>
                  <a:lnTo>
                    <a:pt x="4089696" y="76121"/>
                  </a:lnTo>
                  <a:lnTo>
                    <a:pt x="4007071" y="76164"/>
                  </a:lnTo>
                  <a:lnTo>
                    <a:pt x="3923993" y="76191"/>
                  </a:lnTo>
                  <a:lnTo>
                    <a:pt x="3840479" y="76200"/>
                  </a:lnTo>
                  <a:lnTo>
                    <a:pt x="3756966" y="76191"/>
                  </a:lnTo>
                  <a:lnTo>
                    <a:pt x="3673888" y="76164"/>
                  </a:lnTo>
                  <a:lnTo>
                    <a:pt x="3591263" y="76121"/>
                  </a:lnTo>
                  <a:lnTo>
                    <a:pt x="3509110" y="76060"/>
                  </a:lnTo>
                  <a:lnTo>
                    <a:pt x="3427445" y="75982"/>
                  </a:lnTo>
                  <a:lnTo>
                    <a:pt x="3346288" y="75888"/>
                  </a:lnTo>
                  <a:lnTo>
                    <a:pt x="3265656" y="75777"/>
                  </a:lnTo>
                  <a:lnTo>
                    <a:pt x="3185567" y="75649"/>
                  </a:lnTo>
                  <a:lnTo>
                    <a:pt x="3106040" y="75505"/>
                  </a:lnTo>
                  <a:lnTo>
                    <a:pt x="3027092" y="75345"/>
                  </a:lnTo>
                  <a:lnTo>
                    <a:pt x="2948741" y="75169"/>
                  </a:lnTo>
                  <a:lnTo>
                    <a:pt x="2871005" y="74978"/>
                  </a:lnTo>
                  <a:lnTo>
                    <a:pt x="2793902" y="74771"/>
                  </a:lnTo>
                  <a:lnTo>
                    <a:pt x="2717451" y="74548"/>
                  </a:lnTo>
                  <a:lnTo>
                    <a:pt x="2641670" y="74310"/>
                  </a:lnTo>
                  <a:lnTo>
                    <a:pt x="2566575" y="74058"/>
                  </a:lnTo>
                  <a:lnTo>
                    <a:pt x="2492186" y="73790"/>
                  </a:lnTo>
                  <a:lnTo>
                    <a:pt x="2418521" y="73508"/>
                  </a:lnTo>
                  <a:lnTo>
                    <a:pt x="2345596" y="73211"/>
                  </a:lnTo>
                  <a:lnTo>
                    <a:pt x="2273431" y="72900"/>
                  </a:lnTo>
                  <a:lnTo>
                    <a:pt x="2202044" y="72575"/>
                  </a:lnTo>
                  <a:lnTo>
                    <a:pt x="2131452" y="72236"/>
                  </a:lnTo>
                  <a:lnTo>
                    <a:pt x="2061673" y="71883"/>
                  </a:lnTo>
                  <a:lnTo>
                    <a:pt x="1992726" y="71516"/>
                  </a:lnTo>
                  <a:lnTo>
                    <a:pt x="1924628" y="71136"/>
                  </a:lnTo>
                  <a:lnTo>
                    <a:pt x="1857398" y="70743"/>
                  </a:lnTo>
                  <a:lnTo>
                    <a:pt x="1791053" y="70337"/>
                  </a:lnTo>
                  <a:lnTo>
                    <a:pt x="1725612" y="69918"/>
                  </a:lnTo>
                  <a:lnTo>
                    <a:pt x="1661092" y="69486"/>
                  </a:lnTo>
                  <a:lnTo>
                    <a:pt x="1597512" y="69041"/>
                  </a:lnTo>
                  <a:lnTo>
                    <a:pt x="1534889" y="68584"/>
                  </a:lnTo>
                  <a:lnTo>
                    <a:pt x="1473242" y="68115"/>
                  </a:lnTo>
                  <a:lnTo>
                    <a:pt x="1412588" y="67634"/>
                  </a:lnTo>
                  <a:lnTo>
                    <a:pt x="1352946" y="67141"/>
                  </a:lnTo>
                  <a:lnTo>
                    <a:pt x="1294334" y="66637"/>
                  </a:lnTo>
                  <a:lnTo>
                    <a:pt x="1236769" y="66121"/>
                  </a:lnTo>
                  <a:lnTo>
                    <a:pt x="1180270" y="65594"/>
                  </a:lnTo>
                  <a:lnTo>
                    <a:pt x="1124854" y="65055"/>
                  </a:lnTo>
                  <a:lnTo>
                    <a:pt x="1070540" y="64506"/>
                  </a:lnTo>
                  <a:lnTo>
                    <a:pt x="1017346" y="63946"/>
                  </a:lnTo>
                  <a:lnTo>
                    <a:pt x="965290" y="63375"/>
                  </a:lnTo>
                  <a:lnTo>
                    <a:pt x="914389" y="62794"/>
                  </a:lnTo>
                  <a:lnTo>
                    <a:pt x="864661" y="62202"/>
                  </a:lnTo>
                  <a:lnTo>
                    <a:pt x="816126" y="61601"/>
                  </a:lnTo>
                  <a:lnTo>
                    <a:pt x="768800" y="60990"/>
                  </a:lnTo>
                  <a:lnTo>
                    <a:pt x="722702" y="60369"/>
                  </a:lnTo>
                  <a:lnTo>
                    <a:pt x="677850" y="59738"/>
                  </a:lnTo>
                  <a:lnTo>
                    <a:pt x="634261" y="59098"/>
                  </a:lnTo>
                  <a:lnTo>
                    <a:pt x="591954" y="58449"/>
                  </a:lnTo>
                  <a:lnTo>
                    <a:pt x="550947" y="57791"/>
                  </a:lnTo>
                  <a:lnTo>
                    <a:pt x="511258" y="57124"/>
                  </a:lnTo>
                  <a:lnTo>
                    <a:pt x="472905" y="56448"/>
                  </a:lnTo>
                  <a:lnTo>
                    <a:pt x="400277" y="55072"/>
                  </a:lnTo>
                  <a:lnTo>
                    <a:pt x="333209" y="53663"/>
                  </a:lnTo>
                  <a:lnTo>
                    <a:pt x="271845" y="52223"/>
                  </a:lnTo>
                  <a:lnTo>
                    <a:pt x="216328" y="50753"/>
                  </a:lnTo>
                  <a:lnTo>
                    <a:pt x="166803" y="49255"/>
                  </a:lnTo>
                  <a:lnTo>
                    <a:pt x="123414" y="47731"/>
                  </a:lnTo>
                  <a:lnTo>
                    <a:pt x="70149" y="45397"/>
                  </a:lnTo>
                  <a:lnTo>
                    <a:pt x="31501" y="43010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1181094" y="99072"/>
            <a:ext cx="7082155" cy="1041400"/>
            <a:chOff x="1181094" y="99072"/>
            <a:chExt cx="7082155" cy="1041400"/>
          </a:xfrm>
        </p:grpSpPr>
        <p:sp>
          <p:nvSpPr>
            <p:cNvPr id="6" name="object 6"/>
            <p:cNvSpPr/>
            <p:nvPr/>
          </p:nvSpPr>
          <p:spPr>
            <a:xfrm>
              <a:off x="1181094" y="286511"/>
              <a:ext cx="7082039" cy="52885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361943" y="99072"/>
              <a:ext cx="2718816" cy="104087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19199" y="304799"/>
              <a:ext cx="7010400" cy="45720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19199" y="304799"/>
              <a:ext cx="7010400" cy="457200"/>
            </a:xfrm>
            <a:custGeom>
              <a:avLst/>
              <a:gdLst/>
              <a:ahLst/>
              <a:cxnLst/>
              <a:rect l="l" t="t" r="r" b="b"/>
              <a:pathLst>
                <a:path w="70104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6934200" y="0"/>
                  </a:lnTo>
                  <a:lnTo>
                    <a:pt x="6963840" y="5994"/>
                  </a:lnTo>
                  <a:lnTo>
                    <a:pt x="6988063" y="22336"/>
                  </a:lnTo>
                  <a:lnTo>
                    <a:pt x="7004405" y="46559"/>
                  </a:lnTo>
                  <a:lnTo>
                    <a:pt x="7010400" y="76200"/>
                  </a:lnTo>
                  <a:lnTo>
                    <a:pt x="7010400" y="381000"/>
                  </a:lnTo>
                  <a:lnTo>
                    <a:pt x="7004405" y="410640"/>
                  </a:lnTo>
                  <a:lnTo>
                    <a:pt x="6988063" y="434863"/>
                  </a:lnTo>
                  <a:lnTo>
                    <a:pt x="6963840" y="451205"/>
                  </a:lnTo>
                  <a:lnTo>
                    <a:pt x="69342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3666871" y="232359"/>
            <a:ext cx="211455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30" dirty="0"/>
              <a:t>MODULE-3</a:t>
            </a:r>
            <a:endParaRPr sz="3600"/>
          </a:p>
        </p:txBody>
      </p:sp>
      <p:grpSp>
        <p:nvGrpSpPr>
          <p:cNvPr id="11" name="object 11"/>
          <p:cNvGrpSpPr/>
          <p:nvPr/>
        </p:nvGrpSpPr>
        <p:grpSpPr>
          <a:xfrm>
            <a:off x="0" y="16764"/>
            <a:ext cx="9149080" cy="6841490"/>
            <a:chOff x="0" y="16764"/>
            <a:chExt cx="9149080" cy="6841490"/>
          </a:xfrm>
        </p:grpSpPr>
        <p:sp>
          <p:nvSpPr>
            <p:cNvPr id="12" name="object 12"/>
            <p:cNvSpPr/>
            <p:nvPr/>
          </p:nvSpPr>
          <p:spPr>
            <a:xfrm>
              <a:off x="0" y="16764"/>
              <a:ext cx="9143999" cy="668274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593835" y="6620254"/>
              <a:ext cx="550164" cy="23774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720328" y="6556243"/>
              <a:ext cx="384098" cy="30175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641080" y="6644640"/>
              <a:ext cx="502920" cy="18288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69747" y="1424939"/>
              <a:ext cx="8645652" cy="4671060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22325" y="2743962"/>
              <a:ext cx="7527290" cy="1981200"/>
            </a:xfrm>
            <a:custGeom>
              <a:avLst/>
              <a:gdLst/>
              <a:ahLst/>
              <a:cxnLst/>
              <a:rect l="l" t="t" r="r" b="b"/>
              <a:pathLst>
                <a:path w="7527290" h="1981200">
                  <a:moveTo>
                    <a:pt x="7196835" y="0"/>
                  </a:moveTo>
                  <a:lnTo>
                    <a:pt x="330200" y="0"/>
                  </a:lnTo>
                  <a:lnTo>
                    <a:pt x="281406" y="3580"/>
                  </a:lnTo>
                  <a:lnTo>
                    <a:pt x="234835" y="13979"/>
                  </a:lnTo>
                  <a:lnTo>
                    <a:pt x="190998" y="30688"/>
                  </a:lnTo>
                  <a:lnTo>
                    <a:pt x="150404" y="53195"/>
                  </a:lnTo>
                  <a:lnTo>
                    <a:pt x="113566" y="80989"/>
                  </a:lnTo>
                  <a:lnTo>
                    <a:pt x="80994" y="113561"/>
                  </a:lnTo>
                  <a:lnTo>
                    <a:pt x="53198" y="150399"/>
                  </a:lnTo>
                  <a:lnTo>
                    <a:pt x="30690" y="190992"/>
                  </a:lnTo>
                  <a:lnTo>
                    <a:pt x="13980" y="234831"/>
                  </a:lnTo>
                  <a:lnTo>
                    <a:pt x="3580" y="281403"/>
                  </a:lnTo>
                  <a:lnTo>
                    <a:pt x="0" y="330200"/>
                  </a:lnTo>
                  <a:lnTo>
                    <a:pt x="0" y="1651000"/>
                  </a:lnTo>
                  <a:lnTo>
                    <a:pt x="3580" y="1699796"/>
                  </a:lnTo>
                  <a:lnTo>
                    <a:pt x="13980" y="1746368"/>
                  </a:lnTo>
                  <a:lnTo>
                    <a:pt x="30690" y="1790207"/>
                  </a:lnTo>
                  <a:lnTo>
                    <a:pt x="53198" y="1830800"/>
                  </a:lnTo>
                  <a:lnTo>
                    <a:pt x="80994" y="1867638"/>
                  </a:lnTo>
                  <a:lnTo>
                    <a:pt x="113566" y="1900210"/>
                  </a:lnTo>
                  <a:lnTo>
                    <a:pt x="150404" y="1928004"/>
                  </a:lnTo>
                  <a:lnTo>
                    <a:pt x="190998" y="1950511"/>
                  </a:lnTo>
                  <a:lnTo>
                    <a:pt x="234835" y="1967220"/>
                  </a:lnTo>
                  <a:lnTo>
                    <a:pt x="281406" y="1977619"/>
                  </a:lnTo>
                  <a:lnTo>
                    <a:pt x="330200" y="1981200"/>
                  </a:lnTo>
                  <a:lnTo>
                    <a:pt x="7196835" y="1981200"/>
                  </a:lnTo>
                  <a:lnTo>
                    <a:pt x="7245632" y="1977619"/>
                  </a:lnTo>
                  <a:lnTo>
                    <a:pt x="7292204" y="1967220"/>
                  </a:lnTo>
                  <a:lnTo>
                    <a:pt x="7336043" y="1950511"/>
                  </a:lnTo>
                  <a:lnTo>
                    <a:pt x="7376636" y="1928004"/>
                  </a:lnTo>
                  <a:lnTo>
                    <a:pt x="7413474" y="1900210"/>
                  </a:lnTo>
                  <a:lnTo>
                    <a:pt x="7446046" y="1867638"/>
                  </a:lnTo>
                  <a:lnTo>
                    <a:pt x="7473840" y="1830800"/>
                  </a:lnTo>
                  <a:lnTo>
                    <a:pt x="7496347" y="1790207"/>
                  </a:lnTo>
                  <a:lnTo>
                    <a:pt x="7513056" y="1746368"/>
                  </a:lnTo>
                  <a:lnTo>
                    <a:pt x="7523455" y="1699796"/>
                  </a:lnTo>
                  <a:lnTo>
                    <a:pt x="7527035" y="1651000"/>
                  </a:lnTo>
                  <a:lnTo>
                    <a:pt x="7527035" y="330200"/>
                  </a:lnTo>
                  <a:lnTo>
                    <a:pt x="7523455" y="281403"/>
                  </a:lnTo>
                  <a:lnTo>
                    <a:pt x="7513056" y="234831"/>
                  </a:lnTo>
                  <a:lnTo>
                    <a:pt x="7496347" y="190992"/>
                  </a:lnTo>
                  <a:lnTo>
                    <a:pt x="7473840" y="150399"/>
                  </a:lnTo>
                  <a:lnTo>
                    <a:pt x="7446046" y="113561"/>
                  </a:lnTo>
                  <a:lnTo>
                    <a:pt x="7413474" y="80989"/>
                  </a:lnTo>
                  <a:lnTo>
                    <a:pt x="7376636" y="53195"/>
                  </a:lnTo>
                  <a:lnTo>
                    <a:pt x="7336043" y="30688"/>
                  </a:lnTo>
                  <a:lnTo>
                    <a:pt x="7292204" y="13979"/>
                  </a:lnTo>
                  <a:lnTo>
                    <a:pt x="7245632" y="3580"/>
                  </a:lnTo>
                  <a:lnTo>
                    <a:pt x="71968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22325" y="2743962"/>
              <a:ext cx="7527290" cy="1981200"/>
            </a:xfrm>
            <a:custGeom>
              <a:avLst/>
              <a:gdLst/>
              <a:ahLst/>
              <a:cxnLst/>
              <a:rect l="l" t="t" r="r" b="b"/>
              <a:pathLst>
                <a:path w="7527290" h="1981200">
                  <a:moveTo>
                    <a:pt x="0" y="330200"/>
                  </a:moveTo>
                  <a:lnTo>
                    <a:pt x="3580" y="281403"/>
                  </a:lnTo>
                  <a:lnTo>
                    <a:pt x="13980" y="234831"/>
                  </a:lnTo>
                  <a:lnTo>
                    <a:pt x="30690" y="190992"/>
                  </a:lnTo>
                  <a:lnTo>
                    <a:pt x="53198" y="150399"/>
                  </a:lnTo>
                  <a:lnTo>
                    <a:pt x="80994" y="113561"/>
                  </a:lnTo>
                  <a:lnTo>
                    <a:pt x="113566" y="80989"/>
                  </a:lnTo>
                  <a:lnTo>
                    <a:pt x="150404" y="53195"/>
                  </a:lnTo>
                  <a:lnTo>
                    <a:pt x="190998" y="30688"/>
                  </a:lnTo>
                  <a:lnTo>
                    <a:pt x="234835" y="13979"/>
                  </a:lnTo>
                  <a:lnTo>
                    <a:pt x="281406" y="3580"/>
                  </a:lnTo>
                  <a:lnTo>
                    <a:pt x="330200" y="0"/>
                  </a:lnTo>
                  <a:lnTo>
                    <a:pt x="7196835" y="0"/>
                  </a:lnTo>
                  <a:lnTo>
                    <a:pt x="7245632" y="3580"/>
                  </a:lnTo>
                  <a:lnTo>
                    <a:pt x="7292204" y="13979"/>
                  </a:lnTo>
                  <a:lnTo>
                    <a:pt x="7336043" y="30688"/>
                  </a:lnTo>
                  <a:lnTo>
                    <a:pt x="7376636" y="53195"/>
                  </a:lnTo>
                  <a:lnTo>
                    <a:pt x="7413474" y="80989"/>
                  </a:lnTo>
                  <a:lnTo>
                    <a:pt x="7446046" y="113561"/>
                  </a:lnTo>
                  <a:lnTo>
                    <a:pt x="7473840" y="150399"/>
                  </a:lnTo>
                  <a:lnTo>
                    <a:pt x="7496347" y="190992"/>
                  </a:lnTo>
                  <a:lnTo>
                    <a:pt x="7513056" y="234831"/>
                  </a:lnTo>
                  <a:lnTo>
                    <a:pt x="7523455" y="281403"/>
                  </a:lnTo>
                  <a:lnTo>
                    <a:pt x="7527035" y="330200"/>
                  </a:lnTo>
                  <a:lnTo>
                    <a:pt x="7527035" y="1651000"/>
                  </a:lnTo>
                  <a:lnTo>
                    <a:pt x="7523455" y="1699796"/>
                  </a:lnTo>
                  <a:lnTo>
                    <a:pt x="7513056" y="1746368"/>
                  </a:lnTo>
                  <a:lnTo>
                    <a:pt x="7496347" y="1790207"/>
                  </a:lnTo>
                  <a:lnTo>
                    <a:pt x="7473840" y="1830800"/>
                  </a:lnTo>
                  <a:lnTo>
                    <a:pt x="7446046" y="1867638"/>
                  </a:lnTo>
                  <a:lnTo>
                    <a:pt x="7413474" y="1900210"/>
                  </a:lnTo>
                  <a:lnTo>
                    <a:pt x="7376636" y="1928004"/>
                  </a:lnTo>
                  <a:lnTo>
                    <a:pt x="7336043" y="1950511"/>
                  </a:lnTo>
                  <a:lnTo>
                    <a:pt x="7292204" y="1967220"/>
                  </a:lnTo>
                  <a:lnTo>
                    <a:pt x="7245632" y="1977619"/>
                  </a:lnTo>
                  <a:lnTo>
                    <a:pt x="7196835" y="1981200"/>
                  </a:lnTo>
                  <a:lnTo>
                    <a:pt x="330200" y="1981200"/>
                  </a:lnTo>
                  <a:lnTo>
                    <a:pt x="281406" y="1977619"/>
                  </a:lnTo>
                  <a:lnTo>
                    <a:pt x="234835" y="1967220"/>
                  </a:lnTo>
                  <a:lnTo>
                    <a:pt x="190998" y="1950511"/>
                  </a:lnTo>
                  <a:lnTo>
                    <a:pt x="150404" y="1928004"/>
                  </a:lnTo>
                  <a:lnTo>
                    <a:pt x="113566" y="1900210"/>
                  </a:lnTo>
                  <a:lnTo>
                    <a:pt x="80994" y="1867638"/>
                  </a:lnTo>
                  <a:lnTo>
                    <a:pt x="53198" y="1830800"/>
                  </a:lnTo>
                  <a:lnTo>
                    <a:pt x="30690" y="1790207"/>
                  </a:lnTo>
                  <a:lnTo>
                    <a:pt x="13980" y="1746368"/>
                  </a:lnTo>
                  <a:lnTo>
                    <a:pt x="3580" y="1699796"/>
                  </a:lnTo>
                  <a:lnTo>
                    <a:pt x="0" y="1651000"/>
                  </a:lnTo>
                  <a:lnTo>
                    <a:pt x="0" y="330200"/>
                  </a:lnTo>
                  <a:close/>
                </a:path>
              </a:pathLst>
            </a:custGeom>
            <a:ln w="25400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69976" y="2845308"/>
              <a:ext cx="7021830" cy="1786889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8833739" y="6649770"/>
            <a:ext cx="167005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fld id="{81D60167-4931-47E6-BA6A-407CBD079E47}" type="slidenum">
              <a:rPr sz="1400" b="1" dirty="0">
                <a:solidFill>
                  <a:srgbClr val="FFFFFF"/>
                </a:solidFill>
                <a:latin typeface="Carlito"/>
                <a:cs typeface="Carlito"/>
              </a:rPr>
              <a:t>2</a:t>
            </a:fld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9080" cy="6841490"/>
            <a:chOff x="0" y="16764"/>
            <a:chExt cx="9149080" cy="6841490"/>
          </a:xfrm>
        </p:grpSpPr>
        <p:sp>
          <p:nvSpPr>
            <p:cNvPr id="3" name="object 3"/>
            <p:cNvSpPr/>
            <p:nvPr/>
          </p:nvSpPr>
          <p:spPr>
            <a:xfrm>
              <a:off x="1493519" y="1455419"/>
              <a:ext cx="6983730" cy="409270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593835" y="6620254"/>
              <a:ext cx="550164" cy="23774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720328" y="6556243"/>
              <a:ext cx="384098" cy="30175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641080" y="6644640"/>
              <a:ext cx="502920" cy="18288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833739" y="6649770"/>
            <a:ext cx="167005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fld id="{81D60167-4931-47E6-BA6A-407CBD079E47}" type="slidenum">
              <a:rPr sz="1400" b="1" dirty="0">
                <a:solidFill>
                  <a:srgbClr val="FFFFFF"/>
                </a:solidFill>
                <a:latin typeface="Carlito"/>
                <a:cs typeface="Carlito"/>
              </a:rPr>
              <a:t>3</a:t>
            </a:fld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793241" y="982217"/>
              <a:ext cx="7589519" cy="762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6764"/>
              <a:ext cx="9143999" cy="668274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53439" y="320001"/>
              <a:ext cx="7434072" cy="57611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11936" y="245364"/>
              <a:ext cx="7115556" cy="827531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83540" y="353390"/>
            <a:ext cx="8379459" cy="60686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84555">
              <a:lnSpc>
                <a:spcPct val="100000"/>
              </a:lnSpc>
              <a:spcBef>
                <a:spcPts val="95"/>
              </a:spcBef>
            </a:pPr>
            <a:r>
              <a:rPr sz="2800" b="1" spc="-100" dirty="0">
                <a:latin typeface="Trebuchet MS"/>
                <a:cs typeface="Trebuchet MS"/>
              </a:rPr>
              <a:t>INTRODUCTION </a:t>
            </a:r>
            <a:r>
              <a:rPr sz="2800" b="1" spc="-204" dirty="0">
                <a:latin typeface="Trebuchet MS"/>
                <a:cs typeface="Trebuchet MS"/>
              </a:rPr>
              <a:t>TO </a:t>
            </a:r>
            <a:r>
              <a:rPr sz="2800" b="1" spc="-110" dirty="0">
                <a:latin typeface="Trebuchet MS"/>
                <a:cs typeface="Trebuchet MS"/>
              </a:rPr>
              <a:t>COMBINATIONAL</a:t>
            </a:r>
            <a:r>
              <a:rPr sz="2800" b="1" spc="165" dirty="0">
                <a:latin typeface="Trebuchet MS"/>
                <a:cs typeface="Trebuchet MS"/>
              </a:rPr>
              <a:t> </a:t>
            </a:r>
            <a:r>
              <a:rPr sz="2800" b="1" spc="-70" dirty="0">
                <a:latin typeface="Trebuchet MS"/>
                <a:cs typeface="Trebuchet MS"/>
              </a:rPr>
              <a:t>LOGIC</a:t>
            </a:r>
            <a:endParaRPr sz="2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220"/>
              </a:spcBef>
            </a:pP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30" dirty="0">
                <a:solidFill>
                  <a:srgbClr val="006FC0"/>
                </a:solidFill>
                <a:latin typeface="Arial"/>
                <a:cs typeface="Arial"/>
              </a:rPr>
              <a:t>digital </a:t>
            </a:r>
            <a:r>
              <a:rPr sz="2800" spc="-285" dirty="0">
                <a:solidFill>
                  <a:srgbClr val="006FC0"/>
                </a:solidFill>
                <a:latin typeface="Arial"/>
                <a:cs typeface="Arial"/>
              </a:rPr>
              <a:t>system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consists 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120" dirty="0">
                <a:solidFill>
                  <a:srgbClr val="006FC0"/>
                </a:solidFill>
                <a:latin typeface="Arial"/>
                <a:cs typeface="Arial"/>
              </a:rPr>
              <a:t>two </a:t>
            </a:r>
            <a:r>
              <a:rPr sz="2800" spc="-225" dirty="0">
                <a:solidFill>
                  <a:srgbClr val="006FC0"/>
                </a:solidFill>
                <a:latin typeface="Arial"/>
                <a:cs typeface="Arial"/>
              </a:rPr>
              <a:t>types 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of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150" dirty="0">
                <a:solidFill>
                  <a:srgbClr val="006FC0"/>
                </a:solidFill>
                <a:latin typeface="Arial"/>
                <a:cs typeface="Arial"/>
              </a:rPr>
              <a:t>circuits,</a:t>
            </a:r>
            <a:endParaRPr sz="28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1680"/>
              </a:spcBef>
              <a:buClr>
                <a:srgbClr val="F79546"/>
              </a:buClr>
              <a:buFont typeface="Wingdings"/>
              <a:buChar char=""/>
              <a:tabLst>
                <a:tab pos="469265" algn="l"/>
                <a:tab pos="469900" algn="l"/>
              </a:tabLst>
            </a:pPr>
            <a:r>
              <a:rPr sz="2800" spc="-170" dirty="0">
                <a:latin typeface="Arial"/>
                <a:cs typeface="Arial"/>
              </a:rPr>
              <a:t>Combinational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80" dirty="0">
                <a:latin typeface="Arial"/>
                <a:cs typeface="Arial"/>
              </a:rPr>
              <a:t>circuit:</a:t>
            </a:r>
            <a:endParaRPr sz="2800">
              <a:latin typeface="Arial"/>
              <a:cs typeface="Arial"/>
            </a:endParaRPr>
          </a:p>
          <a:p>
            <a:pPr marL="927100" lvl="1" indent="-457834">
              <a:lnSpc>
                <a:spcPct val="100000"/>
              </a:lnSpc>
              <a:buClr>
                <a:srgbClr val="F79546"/>
              </a:buClr>
              <a:buFont typeface="Wingdings"/>
              <a:buChar char=""/>
              <a:tabLst>
                <a:tab pos="927100" algn="l"/>
                <a:tab pos="927735" algn="l"/>
              </a:tabLst>
            </a:pP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consists 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160" dirty="0">
                <a:solidFill>
                  <a:srgbClr val="C00000"/>
                </a:solidFill>
                <a:latin typeface="Arial"/>
                <a:cs typeface="Arial"/>
              </a:rPr>
              <a:t>logic</a:t>
            </a:r>
            <a:r>
              <a:rPr sz="2800" spc="-204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spc="-315" dirty="0">
                <a:solidFill>
                  <a:srgbClr val="C00000"/>
                </a:solidFill>
                <a:latin typeface="Arial"/>
                <a:cs typeface="Arial"/>
              </a:rPr>
              <a:t>gates</a:t>
            </a:r>
            <a:endParaRPr sz="2800">
              <a:latin typeface="Arial"/>
              <a:cs typeface="Arial"/>
            </a:endParaRPr>
          </a:p>
          <a:p>
            <a:pPr marL="927100" marR="5715" lvl="1" indent="-457834">
              <a:lnSpc>
                <a:spcPct val="100000"/>
              </a:lnSpc>
              <a:buClr>
                <a:srgbClr val="F79546"/>
              </a:buClr>
              <a:buFont typeface="Wingdings"/>
              <a:buChar char=""/>
              <a:tabLst>
                <a:tab pos="927100" algn="l"/>
                <a:tab pos="927735" algn="l"/>
                <a:tab pos="2007235" algn="l"/>
                <a:tab pos="2428240" algn="l"/>
                <a:tab pos="3077845" algn="l"/>
                <a:tab pos="3850640" algn="l"/>
                <a:tab pos="4208780" algn="l"/>
                <a:tab pos="5937250" algn="l"/>
                <a:tab pos="6769734" algn="l"/>
                <a:tab pos="7369809" algn="l"/>
              </a:tabLst>
            </a:pPr>
            <a:r>
              <a:rPr sz="2800" spc="-185" dirty="0">
                <a:solidFill>
                  <a:srgbClr val="006FC0"/>
                </a:solidFill>
                <a:latin typeface="Arial"/>
                <a:cs typeface="Arial"/>
              </a:rPr>
              <a:t>o</a:t>
            </a:r>
            <a:r>
              <a:rPr sz="2800" spc="-180" dirty="0">
                <a:solidFill>
                  <a:srgbClr val="006FC0"/>
                </a:solidFill>
                <a:latin typeface="Arial"/>
                <a:cs typeface="Arial"/>
              </a:rPr>
              <a:t>u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tpu</a:t>
            </a:r>
            <a:r>
              <a:rPr sz="2800" spc="-45" dirty="0">
                <a:solidFill>
                  <a:srgbClr val="006FC0"/>
                </a:solidFill>
                <a:latin typeface="Arial"/>
                <a:cs typeface="Arial"/>
              </a:rPr>
              <a:t>t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a</a:t>
            </a:r>
            <a:r>
              <a:rPr sz="2800" spc="-114" dirty="0">
                <a:solidFill>
                  <a:srgbClr val="006FC0"/>
                </a:solidFill>
                <a:latin typeface="Arial"/>
                <a:cs typeface="Arial"/>
              </a:rPr>
              <a:t>t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any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45" dirty="0">
                <a:solidFill>
                  <a:srgbClr val="006FC0"/>
                </a:solidFill>
                <a:latin typeface="Arial"/>
                <a:cs typeface="Arial"/>
              </a:rPr>
              <a:t>ti</a:t>
            </a:r>
            <a:r>
              <a:rPr sz="2800" spc="-120" dirty="0">
                <a:solidFill>
                  <a:srgbClr val="006FC0"/>
                </a:solidFill>
                <a:latin typeface="Arial"/>
                <a:cs typeface="Arial"/>
              </a:rPr>
              <a:t>m</a:t>
            </a:r>
            <a:r>
              <a:rPr sz="2800" spc="-350" dirty="0">
                <a:solidFill>
                  <a:srgbClr val="006FC0"/>
                </a:solidFill>
                <a:latin typeface="Arial"/>
                <a:cs typeface="Arial"/>
              </a:rPr>
              <a:t>e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i</a:t>
            </a:r>
            <a:r>
              <a:rPr sz="2800" spc="-370" dirty="0">
                <a:solidFill>
                  <a:srgbClr val="006FC0"/>
                </a:solidFill>
                <a:latin typeface="Arial"/>
                <a:cs typeface="Arial"/>
              </a:rPr>
              <a:t>s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180" dirty="0">
                <a:solidFill>
                  <a:srgbClr val="006FC0"/>
                </a:solidFill>
                <a:latin typeface="Arial"/>
                <a:cs typeface="Arial"/>
              </a:rPr>
              <a:t>de</a:t>
            </a:r>
            <a:r>
              <a:rPr sz="2800" spc="-85" dirty="0">
                <a:solidFill>
                  <a:srgbClr val="006FC0"/>
                </a:solidFill>
                <a:latin typeface="Arial"/>
                <a:cs typeface="Arial"/>
              </a:rPr>
              <a:t>t</a:t>
            </a:r>
            <a:r>
              <a:rPr sz="2800" spc="-160" dirty="0">
                <a:solidFill>
                  <a:srgbClr val="006FC0"/>
                </a:solidFill>
                <a:latin typeface="Arial"/>
                <a:cs typeface="Arial"/>
              </a:rPr>
              <a:t>er</a:t>
            </a:r>
            <a:r>
              <a:rPr sz="2800" spc="-280" dirty="0">
                <a:solidFill>
                  <a:srgbClr val="006FC0"/>
                </a:solidFill>
                <a:latin typeface="Arial"/>
                <a:cs typeface="Arial"/>
              </a:rPr>
              <a:t>m</a:t>
            </a:r>
            <a:r>
              <a:rPr sz="2800" spc="-185" dirty="0">
                <a:solidFill>
                  <a:srgbClr val="006FC0"/>
                </a:solidFill>
                <a:latin typeface="Arial"/>
                <a:cs typeface="Arial"/>
              </a:rPr>
              <a:t>ined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45" dirty="0">
                <a:solidFill>
                  <a:srgbClr val="006FC0"/>
                </a:solidFill>
                <a:latin typeface="Arial"/>
                <a:cs typeface="Arial"/>
              </a:rPr>
              <a:t>fr</a:t>
            </a:r>
            <a:r>
              <a:rPr sz="2800" spc="-65" dirty="0">
                <a:solidFill>
                  <a:srgbClr val="006FC0"/>
                </a:solidFill>
                <a:latin typeface="Arial"/>
                <a:cs typeface="Arial"/>
              </a:rPr>
              <a:t>o</a:t>
            </a:r>
            <a:r>
              <a:rPr sz="2800" spc="-240" dirty="0">
                <a:solidFill>
                  <a:srgbClr val="006FC0"/>
                </a:solidFill>
                <a:latin typeface="Arial"/>
                <a:cs typeface="Arial"/>
              </a:rPr>
              <a:t>m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45" dirty="0">
                <a:solidFill>
                  <a:srgbClr val="006FC0"/>
                </a:solidFill>
                <a:latin typeface="Arial"/>
                <a:cs typeface="Arial"/>
              </a:rPr>
              <a:t>t</a:t>
            </a:r>
            <a:r>
              <a:rPr sz="2800" spc="-285" dirty="0">
                <a:solidFill>
                  <a:srgbClr val="006FC0"/>
                </a:solidFill>
                <a:latin typeface="Arial"/>
                <a:cs typeface="Arial"/>
              </a:rPr>
              <a:t>h</a:t>
            </a:r>
            <a:r>
              <a:rPr sz="2800" spc="-280" dirty="0">
                <a:solidFill>
                  <a:srgbClr val="006FC0"/>
                </a:solidFill>
                <a:latin typeface="Arial"/>
                <a:cs typeface="Arial"/>
              </a:rPr>
              <a:t>e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100" dirty="0">
                <a:solidFill>
                  <a:srgbClr val="C00000"/>
                </a:solidFill>
                <a:latin typeface="Arial"/>
                <a:cs typeface="Arial"/>
              </a:rPr>
              <a:t>p</a:t>
            </a:r>
            <a:r>
              <a:rPr sz="2800" spc="-55" dirty="0">
                <a:solidFill>
                  <a:srgbClr val="C00000"/>
                </a:solidFill>
                <a:latin typeface="Arial"/>
                <a:cs typeface="Arial"/>
              </a:rPr>
              <a:t>r</a:t>
            </a:r>
            <a:r>
              <a:rPr sz="2800" spc="-245" dirty="0">
                <a:solidFill>
                  <a:srgbClr val="C00000"/>
                </a:solidFill>
                <a:latin typeface="Arial"/>
                <a:cs typeface="Arial"/>
              </a:rPr>
              <a:t>esent  </a:t>
            </a:r>
            <a:r>
              <a:rPr sz="2800" spc="-160" dirty="0">
                <a:solidFill>
                  <a:srgbClr val="C00000"/>
                </a:solidFill>
                <a:latin typeface="Arial"/>
                <a:cs typeface="Arial"/>
              </a:rPr>
              <a:t>combination </a:t>
            </a:r>
            <a:r>
              <a:rPr sz="2800" spc="-75" dirty="0">
                <a:solidFill>
                  <a:srgbClr val="C00000"/>
                </a:solidFill>
                <a:latin typeface="Arial"/>
                <a:cs typeface="Arial"/>
              </a:rPr>
              <a:t>of</a:t>
            </a:r>
            <a:r>
              <a:rPr sz="2800" spc="1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spc="-170" dirty="0">
                <a:solidFill>
                  <a:srgbClr val="C00000"/>
                </a:solidFill>
                <a:latin typeface="Arial"/>
                <a:cs typeface="Arial"/>
              </a:rPr>
              <a:t>inputs.</a:t>
            </a:r>
            <a:endParaRPr sz="28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30"/>
              </a:spcBef>
              <a:buClr>
                <a:srgbClr val="F79546"/>
              </a:buClr>
              <a:buFont typeface="Wingdings"/>
              <a:buChar char=""/>
            </a:pPr>
            <a:endParaRPr sz="2900">
              <a:latin typeface="Arial"/>
              <a:cs typeface="Arial"/>
            </a:endParaRPr>
          </a:p>
          <a:p>
            <a:pPr marL="469900" indent="-457200" algn="just">
              <a:lnSpc>
                <a:spcPct val="100000"/>
              </a:lnSpc>
              <a:buClr>
                <a:srgbClr val="F79546"/>
              </a:buClr>
              <a:buFont typeface="Wingdings"/>
              <a:buChar char=""/>
              <a:tabLst>
                <a:tab pos="469900" algn="l"/>
              </a:tabLst>
            </a:pPr>
            <a:r>
              <a:rPr sz="2800" spc="-225" dirty="0">
                <a:latin typeface="Arial"/>
                <a:cs typeface="Arial"/>
              </a:rPr>
              <a:t>Sequential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spc="-85" dirty="0">
                <a:latin typeface="Arial"/>
                <a:cs typeface="Arial"/>
              </a:rPr>
              <a:t>circuit:</a:t>
            </a:r>
            <a:endParaRPr sz="2800">
              <a:latin typeface="Arial"/>
              <a:cs typeface="Arial"/>
            </a:endParaRPr>
          </a:p>
          <a:p>
            <a:pPr marL="927100" marR="5715" lvl="1" indent="-457834" algn="just">
              <a:lnSpc>
                <a:spcPct val="100000"/>
              </a:lnSpc>
              <a:buClr>
                <a:srgbClr val="F79546"/>
              </a:buClr>
              <a:buFont typeface="Wingdings"/>
              <a:buChar char=""/>
              <a:tabLst>
                <a:tab pos="927735" algn="l"/>
              </a:tabLst>
            </a:pPr>
            <a:r>
              <a:rPr sz="2800" spc="-245" dirty="0">
                <a:solidFill>
                  <a:srgbClr val="006FC0"/>
                </a:solidFill>
                <a:latin typeface="Arial"/>
                <a:cs typeface="Arial"/>
              </a:rPr>
              <a:t>comprises </a:t>
            </a:r>
            <a:r>
              <a:rPr sz="2800" spc="-135" dirty="0">
                <a:solidFill>
                  <a:srgbClr val="006FC0"/>
                </a:solidFill>
                <a:latin typeface="Arial"/>
                <a:cs typeface="Arial"/>
              </a:rPr>
              <a:t>both </a:t>
            </a:r>
            <a:r>
              <a:rPr sz="2800" spc="-160" dirty="0">
                <a:solidFill>
                  <a:srgbClr val="C00000"/>
                </a:solidFill>
                <a:latin typeface="Arial"/>
                <a:cs typeface="Arial"/>
              </a:rPr>
              <a:t>logic </a:t>
            </a:r>
            <a:r>
              <a:rPr sz="2800" spc="-315" dirty="0">
                <a:solidFill>
                  <a:srgbClr val="C00000"/>
                </a:solidFill>
                <a:latin typeface="Arial"/>
                <a:cs typeface="Arial"/>
              </a:rPr>
              <a:t>gates </a:t>
            </a:r>
            <a:r>
              <a:rPr sz="2800" spc="-260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state 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245" dirty="0">
                <a:solidFill>
                  <a:srgbClr val="006FC0"/>
                </a:solidFill>
                <a:latin typeface="Arial"/>
                <a:cs typeface="Arial"/>
              </a:rPr>
              <a:t>storage  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elements </a:t>
            </a:r>
            <a:r>
              <a:rPr sz="2800" spc="-290" dirty="0">
                <a:solidFill>
                  <a:srgbClr val="006FC0"/>
                </a:solidFill>
                <a:latin typeface="Arial"/>
                <a:cs typeface="Arial"/>
              </a:rPr>
              <a:t>such </a:t>
            </a:r>
            <a:r>
              <a:rPr sz="2800" spc="-455" dirty="0">
                <a:solidFill>
                  <a:srgbClr val="006FC0"/>
                </a:solidFill>
                <a:latin typeface="Arial"/>
                <a:cs typeface="Arial"/>
              </a:rPr>
              <a:t>as</a:t>
            </a:r>
            <a:r>
              <a:rPr sz="2800" spc="-50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120" dirty="0">
                <a:solidFill>
                  <a:srgbClr val="C00000"/>
                </a:solidFill>
                <a:latin typeface="Arial"/>
                <a:cs typeface="Arial"/>
              </a:rPr>
              <a:t>flip-flops.</a:t>
            </a:r>
            <a:endParaRPr sz="2800">
              <a:latin typeface="Arial"/>
              <a:cs typeface="Arial"/>
            </a:endParaRPr>
          </a:p>
          <a:p>
            <a:pPr marL="927100" marR="5080" lvl="1" indent="-457834" algn="just">
              <a:lnSpc>
                <a:spcPct val="100000"/>
              </a:lnSpc>
              <a:buClr>
                <a:srgbClr val="F79546"/>
              </a:buClr>
              <a:buFont typeface="Wingdings"/>
              <a:buChar char=""/>
              <a:tabLst>
                <a:tab pos="927735" algn="l"/>
              </a:tabLst>
            </a:pP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output </a:t>
            </a:r>
            <a:r>
              <a:rPr sz="2800" spc="-80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395" dirty="0">
                <a:solidFill>
                  <a:srgbClr val="006FC0"/>
                </a:solidFill>
                <a:latin typeface="Arial"/>
                <a:cs typeface="Arial"/>
              </a:rPr>
              <a:t>a</a:t>
            </a:r>
            <a:r>
              <a:rPr sz="2800" spc="-1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225" dirty="0">
                <a:solidFill>
                  <a:srgbClr val="006FC0"/>
                </a:solidFill>
                <a:latin typeface="Arial"/>
                <a:cs typeface="Arial"/>
              </a:rPr>
              <a:t>sequential </a:t>
            </a:r>
            <a:r>
              <a:rPr sz="2800" spc="-95" dirty="0">
                <a:solidFill>
                  <a:srgbClr val="006FC0"/>
                </a:solidFill>
                <a:latin typeface="Arial"/>
                <a:cs typeface="Arial"/>
              </a:rPr>
              <a:t>circuit </a:t>
            </a:r>
            <a:r>
              <a:rPr sz="2800" spc="-275" dirty="0">
                <a:solidFill>
                  <a:srgbClr val="006FC0"/>
                </a:solidFill>
                <a:latin typeface="Arial"/>
                <a:cs typeface="Arial"/>
              </a:rPr>
              <a:t>depends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not </a:t>
            </a:r>
            <a:r>
              <a:rPr sz="2800" spc="-130" dirty="0">
                <a:solidFill>
                  <a:srgbClr val="006FC0"/>
                </a:solidFill>
                <a:latin typeface="Arial"/>
                <a:cs typeface="Arial"/>
              </a:rPr>
              <a:t>only  </a:t>
            </a:r>
            <a:r>
              <a:rPr sz="2800" spc="-180" dirty="0">
                <a:solidFill>
                  <a:srgbClr val="006FC0"/>
                </a:solidFill>
                <a:latin typeface="Arial"/>
                <a:cs typeface="Arial"/>
              </a:rPr>
              <a:t>on </a:t>
            </a:r>
            <a:r>
              <a:rPr sz="2800" spc="-220" dirty="0">
                <a:solidFill>
                  <a:srgbClr val="C00000"/>
                </a:solidFill>
                <a:latin typeface="Arial"/>
                <a:cs typeface="Arial"/>
              </a:rPr>
              <a:t>present </a:t>
            </a:r>
            <a:r>
              <a:rPr sz="2800" spc="-235" dirty="0">
                <a:solidFill>
                  <a:srgbClr val="C00000"/>
                </a:solidFill>
                <a:latin typeface="Arial"/>
                <a:cs typeface="Arial"/>
              </a:rPr>
              <a:t>value </a:t>
            </a:r>
            <a:r>
              <a:rPr sz="2800" spc="-80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inputs </a:t>
            </a:r>
            <a:r>
              <a:rPr sz="2800" spc="-120" dirty="0">
                <a:solidFill>
                  <a:srgbClr val="006FC0"/>
                </a:solidFill>
                <a:latin typeface="Arial"/>
                <a:cs typeface="Arial"/>
              </a:rPr>
              <a:t>but </a:t>
            </a:r>
            <a:r>
              <a:rPr sz="2800" spc="-275" dirty="0">
                <a:solidFill>
                  <a:srgbClr val="006FC0"/>
                </a:solidFill>
                <a:latin typeface="Arial"/>
                <a:cs typeface="Arial"/>
              </a:rPr>
              <a:t>also </a:t>
            </a:r>
            <a:r>
              <a:rPr sz="2800" spc="-180" dirty="0">
                <a:solidFill>
                  <a:srgbClr val="006FC0"/>
                </a:solidFill>
                <a:latin typeface="Arial"/>
                <a:cs typeface="Arial"/>
              </a:rPr>
              <a:t>on </a:t>
            </a:r>
            <a:r>
              <a:rPr sz="2800" spc="-254" dirty="0">
                <a:solidFill>
                  <a:srgbClr val="C00000"/>
                </a:solidFill>
                <a:latin typeface="Arial"/>
                <a:cs typeface="Arial"/>
              </a:rPr>
              <a:t>past </a:t>
            </a:r>
            <a:r>
              <a:rPr sz="2800" spc="-229" dirty="0">
                <a:solidFill>
                  <a:srgbClr val="C00000"/>
                </a:solidFill>
                <a:latin typeface="Arial"/>
                <a:cs typeface="Arial"/>
              </a:rPr>
              <a:t>state </a:t>
            </a:r>
            <a:r>
              <a:rPr sz="2800" spc="-70" dirty="0">
                <a:solidFill>
                  <a:srgbClr val="C00000"/>
                </a:solidFill>
                <a:latin typeface="Arial"/>
                <a:cs typeface="Arial"/>
              </a:rPr>
              <a:t>of  </a:t>
            </a:r>
            <a:r>
              <a:rPr sz="2800" spc="-170" dirty="0">
                <a:solidFill>
                  <a:srgbClr val="C00000"/>
                </a:solidFill>
                <a:latin typeface="Arial"/>
                <a:cs typeface="Arial"/>
              </a:rPr>
              <a:t>inputs.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sp>
          <p:nvSpPr>
            <p:cNvPr id="13" name="object 13"/>
            <p:cNvSpPr/>
            <p:nvPr/>
          </p:nvSpPr>
          <p:spPr>
            <a:xfrm>
              <a:off x="8593835" y="6620255"/>
              <a:ext cx="550164" cy="23774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720327" y="6556243"/>
              <a:ext cx="384098" cy="30175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8833739" y="6649770"/>
            <a:ext cx="167005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fld id="{81D60167-4931-47E6-BA6A-407CBD079E47}" type="slidenum">
              <a:rPr sz="1400" b="1" dirty="0">
                <a:solidFill>
                  <a:srgbClr val="FFFFFF"/>
                </a:solidFill>
                <a:latin typeface="Carlito"/>
                <a:cs typeface="Carlito"/>
              </a:rPr>
              <a:t>4</a:t>
            </a:fld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1011936" y="245364"/>
              <a:ext cx="7115556" cy="82753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55572" y="353390"/>
            <a:ext cx="663003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0" dirty="0"/>
              <a:t>INTRODUCTION </a:t>
            </a:r>
            <a:r>
              <a:rPr sz="2800" spc="-204" dirty="0"/>
              <a:t>TO </a:t>
            </a:r>
            <a:r>
              <a:rPr sz="2800" spc="-110" dirty="0"/>
              <a:t>COMBINATIONAL</a:t>
            </a:r>
            <a:r>
              <a:rPr sz="2800" spc="135" dirty="0"/>
              <a:t> </a:t>
            </a:r>
            <a:r>
              <a:rPr sz="2800" spc="-70" dirty="0"/>
              <a:t>LOGIC</a:t>
            </a:r>
            <a:endParaRPr sz="2800"/>
          </a:p>
        </p:txBody>
      </p:sp>
      <p:sp>
        <p:nvSpPr>
          <p:cNvPr id="7" name="object 7"/>
          <p:cNvSpPr txBox="1"/>
          <p:nvPr/>
        </p:nvSpPr>
        <p:spPr>
          <a:xfrm>
            <a:off x="383540" y="1209293"/>
            <a:ext cx="8378190" cy="51504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5715" indent="-457200" algn="just">
              <a:lnSpc>
                <a:spcPct val="100000"/>
              </a:lnSpc>
              <a:spcBef>
                <a:spcPts val="95"/>
              </a:spcBef>
              <a:buClr>
                <a:srgbClr val="F79546"/>
              </a:buClr>
              <a:buFont typeface="Wingdings"/>
              <a:buChar char=""/>
              <a:tabLst>
                <a:tab pos="469900" algn="l"/>
              </a:tabLst>
            </a:pPr>
            <a:r>
              <a:rPr sz="2800" spc="135" dirty="0">
                <a:solidFill>
                  <a:srgbClr val="006FC0"/>
                </a:solidFill>
                <a:latin typeface="Arial"/>
                <a:cs typeface="Arial"/>
              </a:rPr>
              <a:t>A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combinational </a:t>
            </a:r>
            <a:r>
              <a:rPr sz="2800" spc="-95" dirty="0">
                <a:solidFill>
                  <a:srgbClr val="006FC0"/>
                </a:solidFill>
                <a:latin typeface="Arial"/>
                <a:cs typeface="Arial"/>
              </a:rPr>
              <a:t>circuit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consists 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105" dirty="0">
                <a:solidFill>
                  <a:srgbClr val="C00000"/>
                </a:solidFill>
                <a:latin typeface="Arial"/>
                <a:cs typeface="Arial"/>
              </a:rPr>
              <a:t>input </a:t>
            </a:r>
            <a:r>
              <a:rPr sz="2800" spc="-225" dirty="0">
                <a:solidFill>
                  <a:srgbClr val="C00000"/>
                </a:solidFill>
                <a:latin typeface="Arial"/>
                <a:cs typeface="Arial"/>
              </a:rPr>
              <a:t>variables, </a:t>
            </a:r>
            <a:r>
              <a:rPr sz="2800" spc="-160" dirty="0">
                <a:solidFill>
                  <a:srgbClr val="C00000"/>
                </a:solidFill>
                <a:latin typeface="Arial"/>
                <a:cs typeface="Arial"/>
              </a:rPr>
              <a:t>logic  </a:t>
            </a:r>
            <a:r>
              <a:rPr sz="2800" spc="-285" dirty="0">
                <a:solidFill>
                  <a:srgbClr val="C00000"/>
                </a:solidFill>
                <a:latin typeface="Arial"/>
                <a:cs typeface="Arial"/>
              </a:rPr>
              <a:t>gates, </a:t>
            </a:r>
            <a:r>
              <a:rPr sz="2800" spc="-254" dirty="0">
                <a:solidFill>
                  <a:srgbClr val="C00000"/>
                </a:solidFill>
                <a:latin typeface="Arial"/>
                <a:cs typeface="Arial"/>
              </a:rPr>
              <a:t>and </a:t>
            </a:r>
            <a:r>
              <a:rPr sz="2800" spc="-105" dirty="0">
                <a:solidFill>
                  <a:srgbClr val="C00000"/>
                </a:solidFill>
                <a:latin typeface="Arial"/>
                <a:cs typeface="Arial"/>
              </a:rPr>
              <a:t>output</a:t>
            </a:r>
            <a:r>
              <a:rPr sz="2800" spc="-5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spc="-225" dirty="0">
                <a:solidFill>
                  <a:srgbClr val="C00000"/>
                </a:solidFill>
                <a:latin typeface="Arial"/>
                <a:cs typeface="Arial"/>
              </a:rPr>
              <a:t>variables</a:t>
            </a:r>
            <a:r>
              <a:rPr sz="2800" spc="-225" dirty="0">
                <a:solidFill>
                  <a:srgbClr val="006FC0"/>
                </a:solidFill>
                <a:latin typeface="Arial"/>
                <a:cs typeface="Arial"/>
              </a:rPr>
              <a:t>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F79546"/>
              </a:buClr>
              <a:buFont typeface="Wingdings"/>
              <a:buChar char=""/>
            </a:pPr>
            <a:endParaRPr sz="2900">
              <a:latin typeface="Arial"/>
              <a:cs typeface="Arial"/>
            </a:endParaRPr>
          </a:p>
          <a:p>
            <a:pPr marL="469900" marR="5080" indent="-457200" algn="just">
              <a:lnSpc>
                <a:spcPct val="100000"/>
              </a:lnSpc>
              <a:buClr>
                <a:srgbClr val="F79546"/>
              </a:buClr>
              <a:buFont typeface="Wingdings"/>
              <a:buChar char=""/>
              <a:tabLst>
                <a:tab pos="469900" algn="l"/>
              </a:tabLst>
            </a:pP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60" dirty="0">
                <a:solidFill>
                  <a:srgbClr val="006FC0"/>
                </a:solidFill>
                <a:latin typeface="Arial"/>
                <a:cs typeface="Arial"/>
              </a:rPr>
              <a:t>logic </a:t>
            </a:r>
            <a:r>
              <a:rPr sz="2800" spc="-315" dirty="0">
                <a:solidFill>
                  <a:srgbClr val="006FC0"/>
                </a:solidFill>
                <a:latin typeface="Arial"/>
                <a:cs typeface="Arial"/>
              </a:rPr>
              <a:t>gates </a:t>
            </a:r>
            <a:r>
              <a:rPr sz="2800" spc="-225" dirty="0">
                <a:solidFill>
                  <a:srgbClr val="006FC0"/>
                </a:solidFill>
                <a:latin typeface="Arial"/>
                <a:cs typeface="Arial"/>
              </a:rPr>
              <a:t>accept </a:t>
            </a:r>
            <a:r>
              <a:rPr sz="2800" spc="-290" dirty="0">
                <a:solidFill>
                  <a:srgbClr val="006FC0"/>
                </a:solidFill>
                <a:latin typeface="Arial"/>
                <a:cs typeface="Arial"/>
              </a:rPr>
              <a:t>signals </a:t>
            </a:r>
            <a:r>
              <a:rPr sz="2800" spc="-100" dirty="0">
                <a:solidFill>
                  <a:srgbClr val="006FC0"/>
                </a:solidFill>
                <a:latin typeface="Arial"/>
                <a:cs typeface="Arial"/>
              </a:rPr>
              <a:t>from </a:t>
            </a:r>
            <a:r>
              <a:rPr sz="2800" spc="-180" dirty="0">
                <a:solidFill>
                  <a:srgbClr val="006FC0"/>
                </a:solidFill>
                <a:latin typeface="Arial"/>
                <a:cs typeface="Arial"/>
              </a:rPr>
              <a:t>inputs </a:t>
            </a:r>
            <a:r>
              <a:rPr sz="2800" spc="-260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output  </a:t>
            </a:r>
            <a:r>
              <a:rPr sz="2800" spc="-290" dirty="0">
                <a:solidFill>
                  <a:srgbClr val="006FC0"/>
                </a:solidFill>
                <a:latin typeface="Arial"/>
                <a:cs typeface="Arial"/>
              </a:rPr>
              <a:t>signals 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are </a:t>
            </a:r>
            <a:r>
              <a:rPr sz="2800" spc="-235" dirty="0">
                <a:solidFill>
                  <a:srgbClr val="006FC0"/>
                </a:solidFill>
                <a:latin typeface="Arial"/>
                <a:cs typeface="Arial"/>
              </a:rPr>
              <a:t>generated </a:t>
            </a:r>
            <a:r>
              <a:rPr sz="2800" spc="-200" dirty="0">
                <a:solidFill>
                  <a:srgbClr val="006FC0"/>
                </a:solidFill>
                <a:latin typeface="Arial"/>
                <a:cs typeface="Arial"/>
              </a:rPr>
              <a:t>according </a:t>
            </a:r>
            <a:r>
              <a:rPr sz="2800" spc="-60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60" dirty="0">
                <a:solidFill>
                  <a:srgbClr val="C00000"/>
                </a:solidFill>
                <a:latin typeface="Arial"/>
                <a:cs typeface="Arial"/>
              </a:rPr>
              <a:t>logic </a:t>
            </a:r>
            <a:r>
              <a:rPr sz="2800" spc="-145" dirty="0">
                <a:solidFill>
                  <a:srgbClr val="C00000"/>
                </a:solidFill>
                <a:latin typeface="Arial"/>
                <a:cs typeface="Arial"/>
              </a:rPr>
              <a:t>circuits  </a:t>
            </a:r>
            <a:r>
              <a:rPr sz="2800" spc="-195" dirty="0">
                <a:solidFill>
                  <a:srgbClr val="C00000"/>
                </a:solidFill>
                <a:latin typeface="Arial"/>
                <a:cs typeface="Arial"/>
              </a:rPr>
              <a:t>employed </a:t>
            </a:r>
            <a:r>
              <a:rPr sz="2800" spc="-110" dirty="0">
                <a:solidFill>
                  <a:srgbClr val="006FC0"/>
                </a:solidFill>
                <a:latin typeface="Arial"/>
                <a:cs typeface="Arial"/>
              </a:rPr>
              <a:t>in</a:t>
            </a:r>
            <a:r>
              <a:rPr sz="2800" spc="17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40" dirty="0">
                <a:solidFill>
                  <a:srgbClr val="006FC0"/>
                </a:solidFill>
                <a:latin typeface="Arial"/>
                <a:cs typeface="Arial"/>
              </a:rPr>
              <a:t>it.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F79546"/>
              </a:buClr>
              <a:buFont typeface="Wingdings"/>
              <a:buChar char=""/>
            </a:pPr>
            <a:endParaRPr sz="2900">
              <a:latin typeface="Arial"/>
              <a:cs typeface="Arial"/>
            </a:endParaRPr>
          </a:p>
          <a:p>
            <a:pPr marL="469900" marR="5080" indent="-457200" algn="just">
              <a:lnSpc>
                <a:spcPct val="100000"/>
              </a:lnSpc>
              <a:buClr>
                <a:srgbClr val="F79546"/>
              </a:buClr>
              <a:buFont typeface="Wingdings"/>
              <a:buChar char=""/>
              <a:tabLst>
                <a:tab pos="469900" algn="l"/>
              </a:tabLst>
            </a:pPr>
            <a:r>
              <a:rPr sz="2800" spc="-200" dirty="0">
                <a:solidFill>
                  <a:srgbClr val="006FC0"/>
                </a:solidFill>
                <a:latin typeface="Arial"/>
                <a:cs typeface="Arial"/>
              </a:rPr>
              <a:t>Binary </a:t>
            </a:r>
            <a:r>
              <a:rPr sz="2800" spc="-120" dirty="0">
                <a:solidFill>
                  <a:srgbClr val="006FC0"/>
                </a:solidFill>
                <a:latin typeface="Arial"/>
                <a:cs typeface="Arial"/>
              </a:rPr>
              <a:t>information </a:t>
            </a:r>
            <a:r>
              <a:rPr sz="2800" spc="-100" dirty="0">
                <a:solidFill>
                  <a:srgbClr val="006FC0"/>
                </a:solidFill>
                <a:latin typeface="Arial"/>
                <a:cs typeface="Arial"/>
              </a:rPr>
              <a:t>from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225" dirty="0">
                <a:solidFill>
                  <a:srgbClr val="006FC0"/>
                </a:solidFill>
                <a:latin typeface="Arial"/>
                <a:cs typeface="Arial"/>
              </a:rPr>
              <a:t>given data </a:t>
            </a:r>
            <a:r>
              <a:rPr sz="2800" spc="-200" dirty="0">
                <a:solidFill>
                  <a:srgbClr val="006FC0"/>
                </a:solidFill>
                <a:latin typeface="Arial"/>
                <a:cs typeface="Arial"/>
              </a:rPr>
              <a:t>transforms </a:t>
            </a:r>
            <a:r>
              <a:rPr sz="2800" spc="-50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800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spc="-220" dirty="0">
                <a:solidFill>
                  <a:srgbClr val="C00000"/>
                </a:solidFill>
                <a:latin typeface="Arial"/>
                <a:cs typeface="Arial"/>
              </a:rPr>
              <a:t>desired </a:t>
            </a:r>
            <a:r>
              <a:rPr sz="2800" spc="-105" dirty="0">
                <a:solidFill>
                  <a:srgbClr val="C00000"/>
                </a:solidFill>
                <a:latin typeface="Arial"/>
                <a:cs typeface="Arial"/>
              </a:rPr>
              <a:t>output </a:t>
            </a:r>
            <a:r>
              <a:rPr sz="2800" spc="-220" dirty="0">
                <a:solidFill>
                  <a:srgbClr val="C00000"/>
                </a:solidFill>
                <a:latin typeface="Arial"/>
                <a:cs typeface="Arial"/>
              </a:rPr>
              <a:t>data </a:t>
            </a:r>
            <a:r>
              <a:rPr sz="2800" spc="-110" dirty="0">
                <a:solidFill>
                  <a:srgbClr val="006FC0"/>
                </a:solidFill>
                <a:latin typeface="Arial"/>
                <a:cs typeface="Arial"/>
              </a:rPr>
              <a:t>in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this</a:t>
            </a:r>
            <a:r>
              <a:rPr sz="2800" spc="-54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260" dirty="0">
                <a:solidFill>
                  <a:srgbClr val="006FC0"/>
                </a:solidFill>
                <a:latin typeface="Arial"/>
                <a:cs typeface="Arial"/>
              </a:rPr>
              <a:t>process.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F79546"/>
              </a:buClr>
              <a:buFont typeface="Wingdings"/>
              <a:buChar char=""/>
            </a:pPr>
            <a:endParaRPr sz="2900">
              <a:latin typeface="Arial"/>
              <a:cs typeface="Arial"/>
            </a:endParaRPr>
          </a:p>
          <a:p>
            <a:pPr marL="469900" indent="-457200">
              <a:lnSpc>
                <a:spcPts val="3285"/>
              </a:lnSpc>
              <a:buClr>
                <a:srgbClr val="F79546"/>
              </a:buClr>
              <a:buFont typeface="Wingdings"/>
              <a:buChar char=""/>
              <a:tabLst>
                <a:tab pos="469265" algn="l"/>
                <a:tab pos="469900" algn="l"/>
                <a:tab pos="1263650" algn="l"/>
                <a:tab pos="2121535" algn="l"/>
                <a:tab pos="2773045" algn="l"/>
                <a:tab pos="3837940" algn="l"/>
                <a:tab pos="4411345" algn="l"/>
                <a:tab pos="5847080" algn="l"/>
                <a:tab pos="6430645" algn="l"/>
                <a:tab pos="7433945" algn="l"/>
              </a:tabLst>
            </a:pPr>
            <a:r>
              <a:rPr sz="2800" spc="-185" dirty="0">
                <a:solidFill>
                  <a:srgbClr val="006FC0"/>
                </a:solidFill>
                <a:latin typeface="Arial"/>
                <a:cs typeface="Arial"/>
              </a:rPr>
              <a:t>Both	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input	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and	</a:t>
            </a:r>
            <a:r>
              <a:rPr sz="2800" spc="-105" dirty="0">
                <a:solidFill>
                  <a:srgbClr val="C00000"/>
                </a:solidFill>
                <a:latin typeface="Arial"/>
                <a:cs typeface="Arial"/>
              </a:rPr>
              <a:t>output	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are	</a:t>
            </a:r>
            <a:r>
              <a:rPr sz="2800" spc="-180" dirty="0">
                <a:solidFill>
                  <a:srgbClr val="006FC0"/>
                </a:solidFill>
                <a:latin typeface="Arial"/>
                <a:cs typeface="Arial"/>
              </a:rPr>
              <a:t>obviously	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the	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binary	</a:t>
            </a:r>
            <a:r>
              <a:rPr sz="2800" spc="-275" dirty="0">
                <a:solidFill>
                  <a:srgbClr val="006FC0"/>
                </a:solidFill>
                <a:latin typeface="Arial"/>
                <a:cs typeface="Arial"/>
              </a:rPr>
              <a:t>signals,</a:t>
            </a:r>
            <a:endParaRPr sz="2800">
              <a:latin typeface="Arial"/>
              <a:cs typeface="Arial"/>
            </a:endParaRPr>
          </a:p>
          <a:p>
            <a:pPr marL="469265">
              <a:lnSpc>
                <a:spcPts val="3465"/>
              </a:lnSpc>
            </a:pPr>
            <a:r>
              <a:rPr sz="2950" i="1" spc="-210" dirty="0">
                <a:solidFill>
                  <a:srgbClr val="006FC0"/>
                </a:solidFill>
                <a:latin typeface="Arial"/>
                <a:cs typeface="Arial"/>
              </a:rPr>
              <a:t>i.e.</a:t>
            </a:r>
            <a:r>
              <a:rPr sz="2800" spc="-210" dirty="0">
                <a:solidFill>
                  <a:srgbClr val="006FC0"/>
                </a:solidFill>
                <a:latin typeface="Arial"/>
                <a:cs typeface="Arial"/>
              </a:rPr>
              <a:t>, </a:t>
            </a:r>
            <a:r>
              <a:rPr sz="2800" spc="-145" dirty="0">
                <a:solidFill>
                  <a:srgbClr val="006FC0"/>
                </a:solidFill>
                <a:latin typeface="Arial"/>
                <a:cs typeface="Arial"/>
              </a:rPr>
              <a:t>either </a:t>
            </a:r>
            <a:r>
              <a:rPr sz="2800" spc="-160" dirty="0">
                <a:solidFill>
                  <a:srgbClr val="C00000"/>
                </a:solidFill>
                <a:latin typeface="Arial"/>
                <a:cs typeface="Arial"/>
              </a:rPr>
              <a:t>logic </a:t>
            </a:r>
            <a:r>
              <a:rPr sz="2800" spc="-400" dirty="0">
                <a:solidFill>
                  <a:srgbClr val="C00000"/>
                </a:solidFill>
                <a:latin typeface="Arial"/>
                <a:cs typeface="Arial"/>
              </a:rPr>
              <a:t>1 </a:t>
            </a:r>
            <a:r>
              <a:rPr sz="2800" spc="-80" dirty="0">
                <a:solidFill>
                  <a:srgbClr val="C00000"/>
                </a:solidFill>
                <a:latin typeface="Arial"/>
                <a:cs typeface="Arial"/>
              </a:rPr>
              <a:t>or </a:t>
            </a:r>
            <a:r>
              <a:rPr sz="2800" spc="-160" dirty="0">
                <a:solidFill>
                  <a:srgbClr val="C00000"/>
                </a:solidFill>
                <a:latin typeface="Arial"/>
                <a:cs typeface="Arial"/>
              </a:rPr>
              <a:t>logic</a:t>
            </a:r>
            <a:r>
              <a:rPr sz="2800" spc="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spc="-280" dirty="0">
                <a:solidFill>
                  <a:srgbClr val="C00000"/>
                </a:solidFill>
                <a:latin typeface="Arial"/>
                <a:cs typeface="Arial"/>
              </a:rPr>
              <a:t>0</a:t>
            </a:r>
            <a:r>
              <a:rPr sz="2800" spc="-280" dirty="0">
                <a:solidFill>
                  <a:srgbClr val="006FC0"/>
                </a:solidFill>
                <a:latin typeface="Arial"/>
                <a:cs typeface="Arial"/>
              </a:rPr>
              <a:t>.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sp>
          <p:nvSpPr>
            <p:cNvPr id="9" name="object 9"/>
            <p:cNvSpPr/>
            <p:nvPr/>
          </p:nvSpPr>
          <p:spPr>
            <a:xfrm>
              <a:off x="8593835" y="6620255"/>
              <a:ext cx="550164" cy="23774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720327" y="6556243"/>
              <a:ext cx="384098" cy="3017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833739" y="6649770"/>
            <a:ext cx="167005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rlito"/>
                <a:cs typeface="Carlito"/>
              </a:rPr>
              <a:t>6</a:t>
            </a:r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1011936" y="245364"/>
              <a:ext cx="7115556" cy="82753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55572" y="353390"/>
            <a:ext cx="663003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0" dirty="0"/>
              <a:t>INTRODUCTION </a:t>
            </a:r>
            <a:r>
              <a:rPr sz="2800" spc="-204" dirty="0"/>
              <a:t>TO </a:t>
            </a:r>
            <a:r>
              <a:rPr sz="2800" spc="-110" dirty="0"/>
              <a:t>COMBINATIONAL</a:t>
            </a:r>
            <a:r>
              <a:rPr sz="2800" spc="135" dirty="0"/>
              <a:t> </a:t>
            </a:r>
            <a:r>
              <a:rPr sz="2800" spc="-70" dirty="0"/>
              <a:t>LOGIC</a:t>
            </a:r>
            <a:endParaRPr sz="2800"/>
          </a:p>
        </p:txBody>
      </p:sp>
      <p:grpSp>
        <p:nvGrpSpPr>
          <p:cNvPr id="7" name="object 7"/>
          <p:cNvGrpSpPr/>
          <p:nvPr/>
        </p:nvGrpSpPr>
        <p:grpSpPr>
          <a:xfrm>
            <a:off x="685800" y="1752600"/>
            <a:ext cx="8463280" cy="5105400"/>
            <a:chOff x="685800" y="1752600"/>
            <a:chExt cx="8463280" cy="5105400"/>
          </a:xfrm>
        </p:grpSpPr>
        <p:sp>
          <p:nvSpPr>
            <p:cNvPr id="8" name="object 8"/>
            <p:cNvSpPr/>
            <p:nvPr/>
          </p:nvSpPr>
          <p:spPr>
            <a:xfrm>
              <a:off x="685800" y="1752600"/>
              <a:ext cx="7772400" cy="286054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593835" y="6620254"/>
              <a:ext cx="550164" cy="237743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720328" y="6556242"/>
              <a:ext cx="384098" cy="301755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41080" y="6644640"/>
              <a:ext cx="502920" cy="18288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628013" y="5131053"/>
            <a:ext cx="61106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rebuchet MS"/>
                <a:cs typeface="Trebuchet MS"/>
              </a:rPr>
              <a:t>Block </a:t>
            </a:r>
            <a:r>
              <a:rPr sz="2400" spc="-25" dirty="0">
                <a:latin typeface="Trebuchet MS"/>
                <a:cs typeface="Trebuchet MS"/>
              </a:rPr>
              <a:t>diagram </a:t>
            </a:r>
            <a:r>
              <a:rPr sz="2400" spc="5" dirty="0">
                <a:latin typeface="Trebuchet MS"/>
                <a:cs typeface="Trebuchet MS"/>
              </a:rPr>
              <a:t>of </a:t>
            </a:r>
            <a:r>
              <a:rPr sz="2400" spc="-70" dirty="0">
                <a:latin typeface="Trebuchet MS"/>
                <a:cs typeface="Trebuchet MS"/>
              </a:rPr>
              <a:t>a </a:t>
            </a:r>
            <a:r>
              <a:rPr sz="2400" spc="-25" dirty="0">
                <a:latin typeface="Trebuchet MS"/>
                <a:cs typeface="Trebuchet MS"/>
              </a:rPr>
              <a:t>combinational </a:t>
            </a:r>
            <a:r>
              <a:rPr sz="2400" spc="-35" dirty="0">
                <a:latin typeface="Trebuchet MS"/>
                <a:cs typeface="Trebuchet MS"/>
              </a:rPr>
              <a:t>logic</a:t>
            </a:r>
            <a:r>
              <a:rPr sz="2400" spc="-114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circuit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833739" y="6649770"/>
            <a:ext cx="167005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rlito"/>
                <a:cs typeface="Carlito"/>
              </a:rPr>
              <a:t>7</a:t>
            </a:r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793241" y="982217"/>
              <a:ext cx="7589519" cy="762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6764"/>
              <a:ext cx="9143999" cy="668274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53439" y="320001"/>
              <a:ext cx="7434072" cy="57611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11936" y="245364"/>
              <a:ext cx="7115556" cy="827531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45440" y="353390"/>
            <a:ext cx="8480425" cy="55391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22655">
              <a:lnSpc>
                <a:spcPct val="100000"/>
              </a:lnSpc>
              <a:spcBef>
                <a:spcPts val="95"/>
              </a:spcBef>
            </a:pPr>
            <a:r>
              <a:rPr sz="2800" b="1" spc="-100" dirty="0">
                <a:latin typeface="Trebuchet MS"/>
                <a:cs typeface="Trebuchet MS"/>
              </a:rPr>
              <a:t>INTRODUCTION </a:t>
            </a:r>
            <a:r>
              <a:rPr sz="2800" b="1" spc="-204" dirty="0">
                <a:latin typeface="Trebuchet MS"/>
                <a:cs typeface="Trebuchet MS"/>
              </a:rPr>
              <a:t>TO </a:t>
            </a:r>
            <a:r>
              <a:rPr sz="2800" b="1" spc="-110" dirty="0">
                <a:latin typeface="Trebuchet MS"/>
                <a:cs typeface="Trebuchet MS"/>
              </a:rPr>
              <a:t>COMBINATIONAL</a:t>
            </a:r>
            <a:r>
              <a:rPr sz="2800" b="1" spc="165" dirty="0">
                <a:latin typeface="Trebuchet MS"/>
                <a:cs typeface="Trebuchet MS"/>
              </a:rPr>
              <a:t> </a:t>
            </a:r>
            <a:r>
              <a:rPr sz="2800" b="1" spc="-70" dirty="0">
                <a:latin typeface="Trebuchet MS"/>
                <a:cs typeface="Trebuchet MS"/>
              </a:rPr>
              <a:t>LOGIC</a:t>
            </a:r>
            <a:endParaRPr sz="2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600">
              <a:latin typeface="Trebuchet MS"/>
              <a:cs typeface="Trebuchet MS"/>
            </a:endParaRPr>
          </a:p>
          <a:p>
            <a:pPr marL="508000" marR="68580" indent="-457200" algn="just">
              <a:lnSpc>
                <a:spcPct val="99600"/>
              </a:lnSpc>
              <a:spcBef>
                <a:spcPts val="5"/>
              </a:spcBef>
              <a:buClr>
                <a:srgbClr val="F79546"/>
              </a:buClr>
              <a:buFont typeface="Wingdings"/>
              <a:buChar char=""/>
              <a:tabLst>
                <a:tab pos="508000" algn="l"/>
              </a:tabLst>
            </a:pPr>
            <a:r>
              <a:rPr sz="2800" spc="-190" dirty="0">
                <a:solidFill>
                  <a:srgbClr val="006FC0"/>
                </a:solidFill>
                <a:latin typeface="Arial"/>
                <a:cs typeface="Arial"/>
              </a:rPr>
              <a:t>For</a:t>
            </a:r>
            <a:r>
              <a:rPr sz="2800" spc="39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950" i="1" spc="-290" dirty="0">
                <a:solidFill>
                  <a:srgbClr val="C00000"/>
                </a:solidFill>
                <a:latin typeface="Arial"/>
                <a:cs typeface="Arial"/>
              </a:rPr>
              <a:t>n </a:t>
            </a:r>
            <a:r>
              <a:rPr sz="2800" spc="-204" dirty="0">
                <a:solidFill>
                  <a:srgbClr val="C00000"/>
                </a:solidFill>
                <a:latin typeface="Arial"/>
                <a:cs typeface="Arial"/>
              </a:rPr>
              <a:t>number </a:t>
            </a:r>
            <a:r>
              <a:rPr sz="2800" spc="-75" dirty="0">
                <a:solidFill>
                  <a:srgbClr val="C00000"/>
                </a:solidFill>
                <a:latin typeface="Arial"/>
                <a:cs typeface="Arial"/>
              </a:rPr>
              <a:t>of </a:t>
            </a:r>
            <a:r>
              <a:rPr sz="2800" spc="-105" dirty="0">
                <a:solidFill>
                  <a:srgbClr val="C00000"/>
                </a:solidFill>
                <a:latin typeface="Arial"/>
                <a:cs typeface="Arial"/>
              </a:rPr>
              <a:t>input </a:t>
            </a:r>
            <a:r>
              <a:rPr sz="2800" spc="-235" dirty="0">
                <a:solidFill>
                  <a:srgbClr val="006FC0"/>
                </a:solidFill>
                <a:latin typeface="Arial"/>
                <a:cs typeface="Arial"/>
              </a:rPr>
              <a:t>variables </a:t>
            </a:r>
            <a:r>
              <a:rPr sz="2800" spc="-55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800" spc="-395" dirty="0">
                <a:solidFill>
                  <a:srgbClr val="006FC0"/>
                </a:solidFill>
                <a:latin typeface="Arial"/>
                <a:cs typeface="Arial"/>
              </a:rPr>
              <a:t>a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combinational  </a:t>
            </a:r>
            <a:r>
              <a:rPr sz="2800" spc="-100" dirty="0">
                <a:solidFill>
                  <a:srgbClr val="006FC0"/>
                </a:solidFill>
                <a:latin typeface="Arial"/>
                <a:cs typeface="Arial"/>
              </a:rPr>
              <a:t>circuit, </a:t>
            </a:r>
            <a:r>
              <a:rPr sz="2800" spc="-290" dirty="0">
                <a:solidFill>
                  <a:srgbClr val="C00000"/>
                </a:solidFill>
                <a:latin typeface="Arial"/>
                <a:cs typeface="Arial"/>
              </a:rPr>
              <a:t>2</a:t>
            </a:r>
            <a:r>
              <a:rPr sz="2925" i="1" spc="-434" baseline="24216" dirty="0">
                <a:solidFill>
                  <a:srgbClr val="C00000"/>
                </a:solidFill>
                <a:latin typeface="Arial"/>
                <a:cs typeface="Arial"/>
              </a:rPr>
              <a:t>n </a:t>
            </a:r>
            <a:r>
              <a:rPr sz="2800" spc="-240" dirty="0">
                <a:solidFill>
                  <a:srgbClr val="C00000"/>
                </a:solidFill>
                <a:latin typeface="Arial"/>
                <a:cs typeface="Arial"/>
              </a:rPr>
              <a:t>possible </a:t>
            </a:r>
            <a:r>
              <a:rPr sz="2800" spc="-190" dirty="0">
                <a:solidFill>
                  <a:srgbClr val="C00000"/>
                </a:solidFill>
                <a:latin typeface="Arial"/>
                <a:cs typeface="Arial"/>
              </a:rPr>
              <a:t>combinations 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binary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input </a:t>
            </a:r>
            <a:r>
              <a:rPr sz="2800" spc="-280" dirty="0">
                <a:solidFill>
                  <a:srgbClr val="006FC0"/>
                </a:solidFill>
                <a:latin typeface="Arial"/>
                <a:cs typeface="Arial"/>
              </a:rPr>
              <a:t>states 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are  </a:t>
            </a: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possible.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F79546"/>
              </a:buClr>
              <a:buFont typeface="Wingdings"/>
              <a:buChar char=""/>
            </a:pPr>
            <a:endParaRPr sz="2900">
              <a:latin typeface="Arial"/>
              <a:cs typeface="Arial"/>
            </a:endParaRPr>
          </a:p>
          <a:p>
            <a:pPr marL="508000" marR="67310" indent="-457200" algn="just">
              <a:lnSpc>
                <a:spcPct val="100000"/>
              </a:lnSpc>
              <a:spcBef>
                <a:spcPts val="5"/>
              </a:spcBef>
              <a:buClr>
                <a:srgbClr val="F79546"/>
              </a:buClr>
              <a:buFont typeface="Wingdings"/>
              <a:buChar char=""/>
              <a:tabLst>
                <a:tab pos="508000" algn="l"/>
              </a:tabLst>
            </a:pPr>
            <a:r>
              <a:rPr sz="2800" spc="-190" dirty="0">
                <a:solidFill>
                  <a:srgbClr val="006FC0"/>
                </a:solidFill>
                <a:latin typeface="Arial"/>
                <a:cs typeface="Arial"/>
              </a:rPr>
              <a:t>For </a:t>
            </a:r>
            <a:r>
              <a:rPr sz="2800" spc="-300" dirty="0">
                <a:solidFill>
                  <a:srgbClr val="006FC0"/>
                </a:solidFill>
                <a:latin typeface="Arial"/>
                <a:cs typeface="Arial"/>
              </a:rPr>
              <a:t>each </a:t>
            </a:r>
            <a:r>
              <a:rPr sz="2800" spc="-240" dirty="0">
                <a:solidFill>
                  <a:srgbClr val="006FC0"/>
                </a:solidFill>
                <a:latin typeface="Arial"/>
                <a:cs typeface="Arial"/>
              </a:rPr>
              <a:t>possible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combination,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there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800" spc="-240" dirty="0">
                <a:solidFill>
                  <a:srgbClr val="C00000"/>
                </a:solidFill>
                <a:latin typeface="Arial"/>
                <a:cs typeface="Arial"/>
              </a:rPr>
              <a:t>one </a:t>
            </a:r>
            <a:r>
              <a:rPr sz="2800" spc="-254" dirty="0">
                <a:solidFill>
                  <a:srgbClr val="C00000"/>
                </a:solidFill>
                <a:latin typeface="Arial"/>
                <a:cs typeface="Arial"/>
              </a:rPr>
              <a:t>and </a:t>
            </a:r>
            <a:r>
              <a:rPr sz="2800" spc="-130" dirty="0">
                <a:solidFill>
                  <a:srgbClr val="C00000"/>
                </a:solidFill>
                <a:latin typeface="Arial"/>
                <a:cs typeface="Arial"/>
              </a:rPr>
              <a:t>only </a:t>
            </a:r>
            <a:r>
              <a:rPr sz="2800" spc="-240" dirty="0">
                <a:solidFill>
                  <a:srgbClr val="C00000"/>
                </a:solidFill>
                <a:latin typeface="Arial"/>
                <a:cs typeface="Arial"/>
              </a:rPr>
              <a:t>one  possible </a:t>
            </a:r>
            <a:r>
              <a:rPr sz="2800" spc="-105" dirty="0">
                <a:solidFill>
                  <a:srgbClr val="C00000"/>
                </a:solidFill>
                <a:latin typeface="Arial"/>
                <a:cs typeface="Arial"/>
              </a:rPr>
              <a:t>output</a:t>
            </a:r>
            <a:r>
              <a:rPr sz="2800" spc="-3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spc="-160" dirty="0">
                <a:solidFill>
                  <a:srgbClr val="C00000"/>
                </a:solidFill>
                <a:latin typeface="Arial"/>
                <a:cs typeface="Arial"/>
              </a:rPr>
              <a:t>combination.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F79546"/>
              </a:buClr>
              <a:buFont typeface="Wingdings"/>
              <a:buChar char=""/>
            </a:pPr>
            <a:endParaRPr sz="2850">
              <a:latin typeface="Arial"/>
              <a:cs typeface="Arial"/>
            </a:endParaRPr>
          </a:p>
          <a:p>
            <a:pPr marL="508000" marR="68580" indent="-457200" algn="just">
              <a:lnSpc>
                <a:spcPct val="97400"/>
              </a:lnSpc>
              <a:buClr>
                <a:srgbClr val="F79546"/>
              </a:buClr>
              <a:buFont typeface="Wingdings"/>
              <a:buChar char=""/>
              <a:tabLst>
                <a:tab pos="508000" algn="l"/>
              </a:tabLst>
            </a:pPr>
            <a:r>
              <a:rPr sz="2800" spc="135" dirty="0">
                <a:solidFill>
                  <a:srgbClr val="006FC0"/>
                </a:solidFill>
                <a:latin typeface="Arial"/>
                <a:cs typeface="Arial"/>
              </a:rPr>
              <a:t>A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combinational </a:t>
            </a:r>
            <a:r>
              <a:rPr sz="2800" spc="-160" dirty="0">
                <a:solidFill>
                  <a:srgbClr val="006FC0"/>
                </a:solidFill>
                <a:latin typeface="Arial"/>
                <a:cs typeface="Arial"/>
              </a:rPr>
              <a:t>logic </a:t>
            </a:r>
            <a:r>
              <a:rPr sz="2800" spc="-95" dirty="0">
                <a:solidFill>
                  <a:srgbClr val="006FC0"/>
                </a:solidFill>
                <a:latin typeface="Arial"/>
                <a:cs typeface="Arial"/>
              </a:rPr>
              <a:t>circuit </a:t>
            </a:r>
            <a:r>
              <a:rPr sz="2800" spc="-285" dirty="0">
                <a:solidFill>
                  <a:srgbClr val="006FC0"/>
                </a:solidFill>
                <a:latin typeface="Arial"/>
                <a:cs typeface="Arial"/>
              </a:rPr>
              <a:t>can </a:t>
            </a:r>
            <a:r>
              <a:rPr sz="2800" spc="-280" dirty="0">
                <a:solidFill>
                  <a:srgbClr val="006FC0"/>
                </a:solidFill>
                <a:latin typeface="Arial"/>
                <a:cs typeface="Arial"/>
              </a:rPr>
              <a:t>be </a:t>
            </a:r>
            <a:r>
              <a:rPr sz="2800" spc="-225" dirty="0">
                <a:solidFill>
                  <a:srgbClr val="006FC0"/>
                </a:solidFill>
                <a:latin typeface="Arial"/>
                <a:cs typeface="Arial"/>
              </a:rPr>
              <a:t>described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by </a:t>
            </a:r>
            <a:r>
              <a:rPr sz="2950" i="1" spc="-365" dirty="0">
                <a:solidFill>
                  <a:srgbClr val="C00000"/>
                </a:solidFill>
                <a:latin typeface="Arial"/>
                <a:cs typeface="Arial"/>
              </a:rPr>
              <a:t>m  </a:t>
            </a:r>
            <a:r>
              <a:rPr sz="2800" spc="-245" dirty="0">
                <a:solidFill>
                  <a:srgbClr val="C00000"/>
                </a:solidFill>
                <a:latin typeface="Arial"/>
                <a:cs typeface="Arial"/>
              </a:rPr>
              <a:t>Boolean </a:t>
            </a:r>
            <a:r>
              <a:rPr sz="2800" spc="-170" dirty="0">
                <a:solidFill>
                  <a:srgbClr val="C00000"/>
                </a:solidFill>
                <a:latin typeface="Arial"/>
                <a:cs typeface="Arial"/>
              </a:rPr>
              <a:t>functions </a:t>
            </a:r>
            <a:r>
              <a:rPr sz="2800" spc="-260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spc="-300" dirty="0">
                <a:solidFill>
                  <a:srgbClr val="006FC0"/>
                </a:solidFill>
                <a:latin typeface="Arial"/>
                <a:cs typeface="Arial"/>
              </a:rPr>
              <a:t>each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output </a:t>
            </a:r>
            <a:r>
              <a:rPr sz="2800" spc="-285" dirty="0">
                <a:solidFill>
                  <a:srgbClr val="006FC0"/>
                </a:solidFill>
                <a:latin typeface="Arial"/>
                <a:cs typeface="Arial"/>
              </a:rPr>
              <a:t>can </a:t>
            </a:r>
            <a:r>
              <a:rPr sz="2800" spc="-275" dirty="0">
                <a:solidFill>
                  <a:srgbClr val="006FC0"/>
                </a:solidFill>
                <a:latin typeface="Arial"/>
                <a:cs typeface="Arial"/>
              </a:rPr>
              <a:t>be </a:t>
            </a:r>
            <a:r>
              <a:rPr sz="2800" spc="-290" dirty="0">
                <a:solidFill>
                  <a:srgbClr val="006FC0"/>
                </a:solidFill>
                <a:latin typeface="Arial"/>
                <a:cs typeface="Arial"/>
              </a:rPr>
              <a:t>expressed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in  </a:t>
            </a:r>
            <a:r>
              <a:rPr sz="2800" spc="-210" dirty="0">
                <a:solidFill>
                  <a:srgbClr val="006FC0"/>
                </a:solidFill>
                <a:latin typeface="Arial"/>
                <a:cs typeface="Arial"/>
              </a:rPr>
              <a:t>terms 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950" i="1" spc="-290" dirty="0">
                <a:solidFill>
                  <a:srgbClr val="C00000"/>
                </a:solidFill>
                <a:latin typeface="Arial"/>
                <a:cs typeface="Arial"/>
              </a:rPr>
              <a:t>n </a:t>
            </a:r>
            <a:r>
              <a:rPr sz="2800" spc="-105" dirty="0">
                <a:solidFill>
                  <a:srgbClr val="C00000"/>
                </a:solidFill>
                <a:latin typeface="Arial"/>
                <a:cs typeface="Arial"/>
              </a:rPr>
              <a:t>input</a:t>
            </a:r>
            <a:r>
              <a:rPr sz="2800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spc="-225" dirty="0">
                <a:solidFill>
                  <a:srgbClr val="C00000"/>
                </a:solidFill>
                <a:latin typeface="Arial"/>
                <a:cs typeface="Arial"/>
              </a:rPr>
              <a:t>variables.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sp>
          <p:nvSpPr>
            <p:cNvPr id="13" name="object 13"/>
            <p:cNvSpPr/>
            <p:nvPr/>
          </p:nvSpPr>
          <p:spPr>
            <a:xfrm>
              <a:off x="8593835" y="6620255"/>
              <a:ext cx="550164" cy="23774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720327" y="6556243"/>
              <a:ext cx="384098" cy="30175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8833739" y="6649770"/>
            <a:ext cx="167005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rlito"/>
                <a:cs typeface="Carlito"/>
              </a:rPr>
              <a:t>8</a:t>
            </a:r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9080" cy="6841490"/>
            <a:chOff x="0" y="16764"/>
            <a:chExt cx="9149080" cy="6841490"/>
          </a:xfrm>
        </p:grpSpPr>
        <p:sp>
          <p:nvSpPr>
            <p:cNvPr id="3" name="object 3"/>
            <p:cNvSpPr/>
            <p:nvPr/>
          </p:nvSpPr>
          <p:spPr>
            <a:xfrm>
              <a:off x="1493519" y="1455419"/>
              <a:ext cx="6983730" cy="409270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593835" y="6620254"/>
              <a:ext cx="550164" cy="23774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674607" y="6556243"/>
              <a:ext cx="469392" cy="30175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641080" y="6644640"/>
              <a:ext cx="502920" cy="18288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787638" y="6649770"/>
            <a:ext cx="25654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rlito"/>
                <a:cs typeface="Carlito"/>
              </a:rPr>
              <a:t>23</a:t>
            </a:r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793241" y="982217"/>
              <a:ext cx="7589519" cy="762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6764"/>
              <a:ext cx="9143999" cy="668274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53439" y="320001"/>
              <a:ext cx="7434072" cy="57611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189988" y="155460"/>
              <a:ext cx="4759452" cy="104087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494533" y="289382"/>
            <a:ext cx="41529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5" dirty="0"/>
              <a:t>DESIGN</a:t>
            </a:r>
            <a:r>
              <a:rPr sz="3600" spc="-100" dirty="0"/>
              <a:t> </a:t>
            </a:r>
            <a:r>
              <a:rPr sz="3600" spc="-60" dirty="0"/>
              <a:t>PROCEDURE</a:t>
            </a:r>
            <a:endParaRPr sz="3600"/>
          </a:p>
        </p:txBody>
      </p:sp>
      <p:sp>
        <p:nvSpPr>
          <p:cNvPr id="12" name="object 12"/>
          <p:cNvSpPr txBox="1"/>
          <p:nvPr/>
        </p:nvSpPr>
        <p:spPr>
          <a:xfrm>
            <a:off x="383540" y="1290573"/>
            <a:ext cx="83775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77520" indent="-464820">
              <a:lnSpc>
                <a:spcPct val="100000"/>
              </a:lnSpc>
              <a:spcBef>
                <a:spcPts val="95"/>
              </a:spcBef>
              <a:buClr>
                <a:srgbClr val="E36C09"/>
              </a:buClr>
              <a:buFont typeface="Wingdings"/>
              <a:buChar char=""/>
              <a:tabLst>
                <a:tab pos="476884" algn="l"/>
                <a:tab pos="477520" algn="l"/>
                <a:tab pos="1321435" algn="l"/>
                <a:tab pos="3498215" algn="l"/>
                <a:tab pos="4603115" algn="l"/>
                <a:tab pos="5325745" algn="l"/>
                <a:tab pos="5908040" algn="l"/>
                <a:tab pos="7343775" algn="l"/>
                <a:tab pos="7932420" algn="l"/>
              </a:tabLst>
            </a:pPr>
            <a:r>
              <a:rPr sz="2800" spc="-40" dirty="0">
                <a:solidFill>
                  <a:srgbClr val="006FC0"/>
                </a:solidFill>
                <a:latin typeface="Arial"/>
                <a:cs typeface="Arial"/>
              </a:rPr>
              <a:t>A</a:t>
            </a:r>
            <a:r>
              <a:rPr sz="2800" spc="-30" dirty="0">
                <a:solidFill>
                  <a:srgbClr val="006FC0"/>
                </a:solidFill>
                <a:latin typeface="Arial"/>
                <a:cs typeface="Arial"/>
              </a:rPr>
              <a:t>n</a:t>
            </a:r>
            <a:r>
              <a:rPr sz="2800" spc="-145" dirty="0">
                <a:solidFill>
                  <a:srgbClr val="006FC0"/>
                </a:solidFill>
                <a:latin typeface="Arial"/>
                <a:cs typeface="Arial"/>
              </a:rPr>
              <a:t>y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combi</a:t>
            </a:r>
            <a:r>
              <a:rPr sz="2800" spc="-180" dirty="0">
                <a:solidFill>
                  <a:srgbClr val="006FC0"/>
                </a:solidFill>
                <a:latin typeface="Arial"/>
                <a:cs typeface="Arial"/>
              </a:rPr>
              <a:t>n</a:t>
            </a:r>
            <a:r>
              <a:rPr sz="2800" spc="-160" dirty="0">
                <a:solidFill>
                  <a:srgbClr val="006FC0"/>
                </a:solidFill>
                <a:latin typeface="Arial"/>
                <a:cs typeface="Arial"/>
              </a:rPr>
              <a:t>ational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130" dirty="0">
                <a:solidFill>
                  <a:srgbClr val="006FC0"/>
                </a:solidFill>
                <a:latin typeface="Arial"/>
                <a:cs typeface="Arial"/>
              </a:rPr>
              <a:t>circ</a:t>
            </a:r>
            <a:r>
              <a:rPr sz="2800" spc="-180" dirty="0">
                <a:solidFill>
                  <a:srgbClr val="006FC0"/>
                </a:solidFill>
                <a:latin typeface="Arial"/>
                <a:cs typeface="Arial"/>
              </a:rPr>
              <a:t>u</a:t>
            </a:r>
            <a:r>
              <a:rPr sz="2800" spc="20" dirty="0">
                <a:solidFill>
                  <a:srgbClr val="006FC0"/>
                </a:solidFill>
                <a:latin typeface="Arial"/>
                <a:cs typeface="Arial"/>
              </a:rPr>
              <a:t>it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c</a:t>
            </a:r>
            <a:r>
              <a:rPr sz="2800" spc="-300" dirty="0">
                <a:solidFill>
                  <a:srgbClr val="006FC0"/>
                </a:solidFill>
                <a:latin typeface="Arial"/>
                <a:cs typeface="Arial"/>
              </a:rPr>
              <a:t>an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280" dirty="0">
                <a:solidFill>
                  <a:srgbClr val="006FC0"/>
                </a:solidFill>
                <a:latin typeface="Arial"/>
                <a:cs typeface="Arial"/>
              </a:rPr>
              <a:t>be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260" dirty="0">
                <a:solidFill>
                  <a:srgbClr val="006FC0"/>
                </a:solidFill>
                <a:latin typeface="Arial"/>
                <a:cs typeface="Arial"/>
              </a:rPr>
              <a:t>desig</a:t>
            </a:r>
            <a:r>
              <a:rPr sz="2800" spc="-295" dirty="0">
                <a:solidFill>
                  <a:srgbClr val="006FC0"/>
                </a:solidFill>
                <a:latin typeface="Arial"/>
                <a:cs typeface="Arial"/>
              </a:rPr>
              <a:t>n</a:t>
            </a:r>
            <a:r>
              <a:rPr sz="2800" spc="-260" dirty="0">
                <a:solidFill>
                  <a:srgbClr val="006FC0"/>
                </a:solidFill>
                <a:latin typeface="Arial"/>
                <a:cs typeface="Arial"/>
              </a:rPr>
              <a:t>e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d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by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</a:t>
            </a:r>
            <a:endParaRPr sz="2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48360" y="1548868"/>
            <a:ext cx="7635240" cy="2776220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800" spc="-125" dirty="0">
                <a:solidFill>
                  <a:srgbClr val="006FC0"/>
                </a:solidFill>
                <a:latin typeface="Arial"/>
                <a:cs typeface="Arial"/>
              </a:rPr>
              <a:t>following </a:t>
            </a:r>
            <a:r>
              <a:rPr sz="2800" spc="-295" dirty="0">
                <a:solidFill>
                  <a:srgbClr val="006FC0"/>
                </a:solidFill>
                <a:latin typeface="Arial"/>
                <a:cs typeface="Arial"/>
              </a:rPr>
              <a:t>steps </a:t>
            </a:r>
            <a:r>
              <a:rPr sz="2800" spc="-70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design</a:t>
            </a:r>
            <a:r>
              <a:rPr sz="2800" spc="-5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procedure.</a:t>
            </a:r>
            <a:endParaRPr sz="2800">
              <a:latin typeface="Arial"/>
              <a:cs typeface="Arial"/>
            </a:endParaRPr>
          </a:p>
          <a:p>
            <a:pPr marL="462280" indent="-226060">
              <a:lnSpc>
                <a:spcPct val="100000"/>
              </a:lnSpc>
              <a:spcBef>
                <a:spcPts val="1135"/>
              </a:spcBef>
              <a:buClr>
                <a:srgbClr val="C00000"/>
              </a:buClr>
              <a:buAutoNum type="arabicPeriod"/>
              <a:tabLst>
                <a:tab pos="462915" algn="l"/>
              </a:tabLst>
            </a:pPr>
            <a:r>
              <a:rPr sz="2400" spc="-200" dirty="0">
                <a:latin typeface="Arial"/>
                <a:cs typeface="Arial"/>
              </a:rPr>
              <a:t>The </a:t>
            </a:r>
            <a:r>
              <a:rPr sz="2400" spc="-140" dirty="0">
                <a:latin typeface="Arial"/>
                <a:cs typeface="Arial"/>
              </a:rPr>
              <a:t>problem</a:t>
            </a:r>
            <a:r>
              <a:rPr sz="2400" spc="-280" dirty="0">
                <a:latin typeface="Arial"/>
                <a:cs typeface="Arial"/>
              </a:rPr>
              <a:t> </a:t>
            </a:r>
            <a:r>
              <a:rPr sz="2400" spc="-175" dirty="0">
                <a:latin typeface="Arial"/>
                <a:cs typeface="Arial"/>
              </a:rPr>
              <a:t>statement.</a:t>
            </a:r>
            <a:endParaRPr sz="2400">
              <a:latin typeface="Arial"/>
              <a:cs typeface="Arial"/>
            </a:endParaRPr>
          </a:p>
          <a:p>
            <a:pPr marL="462280" indent="-226060">
              <a:lnSpc>
                <a:spcPct val="100000"/>
              </a:lnSpc>
              <a:spcBef>
                <a:spcPts val="1440"/>
              </a:spcBef>
              <a:buClr>
                <a:srgbClr val="C00000"/>
              </a:buClr>
              <a:buAutoNum type="arabicPeriod"/>
              <a:tabLst>
                <a:tab pos="462915" algn="l"/>
              </a:tabLst>
            </a:pPr>
            <a:r>
              <a:rPr sz="2400" spc="-90" dirty="0">
                <a:latin typeface="Arial"/>
                <a:cs typeface="Arial"/>
              </a:rPr>
              <a:t>Identify </a:t>
            </a:r>
            <a:r>
              <a:rPr sz="2400" spc="-145" dirty="0">
                <a:latin typeface="Arial"/>
                <a:cs typeface="Arial"/>
              </a:rPr>
              <a:t>the </a:t>
            </a:r>
            <a:r>
              <a:rPr sz="2400" spc="-170" dirty="0">
                <a:latin typeface="Arial"/>
                <a:cs typeface="Arial"/>
              </a:rPr>
              <a:t>number </a:t>
            </a:r>
            <a:r>
              <a:rPr sz="2400" spc="-65" dirty="0">
                <a:latin typeface="Arial"/>
                <a:cs typeface="Arial"/>
              </a:rPr>
              <a:t>of </a:t>
            </a:r>
            <a:r>
              <a:rPr sz="2400" spc="-90" dirty="0">
                <a:latin typeface="Arial"/>
                <a:cs typeface="Arial"/>
              </a:rPr>
              <a:t>input </a:t>
            </a:r>
            <a:r>
              <a:rPr sz="2400" spc="-215" dirty="0">
                <a:latin typeface="Arial"/>
                <a:cs typeface="Arial"/>
              </a:rPr>
              <a:t>and </a:t>
            </a:r>
            <a:r>
              <a:rPr sz="2400" spc="-85" dirty="0">
                <a:latin typeface="Arial"/>
                <a:cs typeface="Arial"/>
              </a:rPr>
              <a:t>output</a:t>
            </a:r>
            <a:r>
              <a:rPr sz="2400" spc="290" dirty="0">
                <a:latin typeface="Arial"/>
                <a:cs typeface="Arial"/>
              </a:rPr>
              <a:t> </a:t>
            </a:r>
            <a:r>
              <a:rPr sz="2400" spc="-195" dirty="0">
                <a:latin typeface="Arial"/>
                <a:cs typeface="Arial"/>
              </a:rPr>
              <a:t>variables.</a:t>
            </a:r>
            <a:endParaRPr sz="2400">
              <a:latin typeface="Arial"/>
              <a:cs typeface="Arial"/>
            </a:endParaRPr>
          </a:p>
          <a:p>
            <a:pPr marL="462280" indent="-226060">
              <a:lnSpc>
                <a:spcPct val="100000"/>
              </a:lnSpc>
              <a:spcBef>
                <a:spcPts val="1440"/>
              </a:spcBef>
              <a:buClr>
                <a:srgbClr val="C00000"/>
              </a:buClr>
              <a:buAutoNum type="arabicPeriod"/>
              <a:tabLst>
                <a:tab pos="462915" algn="l"/>
              </a:tabLst>
            </a:pPr>
            <a:r>
              <a:rPr sz="2400" spc="-195" dirty="0">
                <a:latin typeface="Arial"/>
                <a:cs typeface="Arial"/>
              </a:rPr>
              <a:t>The </a:t>
            </a:r>
            <a:r>
              <a:rPr sz="2400" spc="-90" dirty="0">
                <a:latin typeface="Arial"/>
                <a:cs typeface="Arial"/>
              </a:rPr>
              <a:t>input </a:t>
            </a:r>
            <a:r>
              <a:rPr sz="2400" spc="-215" dirty="0">
                <a:latin typeface="Arial"/>
                <a:cs typeface="Arial"/>
              </a:rPr>
              <a:t>and </a:t>
            </a:r>
            <a:r>
              <a:rPr sz="2400" spc="-85" dirty="0">
                <a:latin typeface="Arial"/>
                <a:cs typeface="Arial"/>
              </a:rPr>
              <a:t>output </a:t>
            </a:r>
            <a:r>
              <a:rPr sz="2400" spc="-204" dirty="0">
                <a:latin typeface="Arial"/>
                <a:cs typeface="Arial"/>
              </a:rPr>
              <a:t>variables </a:t>
            </a:r>
            <a:r>
              <a:rPr sz="2400" spc="-210" dirty="0">
                <a:latin typeface="Arial"/>
                <a:cs typeface="Arial"/>
              </a:rPr>
              <a:t>are </a:t>
            </a:r>
            <a:r>
              <a:rPr sz="2400" spc="-290" dirty="0">
                <a:latin typeface="Arial"/>
                <a:cs typeface="Arial"/>
              </a:rPr>
              <a:t>assign </a:t>
            </a:r>
            <a:r>
              <a:rPr sz="2400" spc="-90" dirty="0">
                <a:latin typeface="Arial"/>
                <a:cs typeface="Arial"/>
              </a:rPr>
              <a:t>with </a:t>
            </a:r>
            <a:r>
              <a:rPr sz="2400" spc="-85" dirty="0">
                <a:latin typeface="Arial"/>
                <a:cs typeface="Arial"/>
              </a:rPr>
              <a:t>letter</a:t>
            </a:r>
            <a:r>
              <a:rPr sz="2400" spc="-320" dirty="0">
                <a:latin typeface="Arial"/>
                <a:cs typeface="Arial"/>
              </a:rPr>
              <a:t> </a:t>
            </a:r>
            <a:r>
              <a:rPr sz="2400" spc="-215" dirty="0">
                <a:latin typeface="Arial"/>
                <a:cs typeface="Arial"/>
              </a:rPr>
              <a:t>symbols.</a:t>
            </a:r>
            <a:endParaRPr sz="2400">
              <a:latin typeface="Arial"/>
              <a:cs typeface="Arial"/>
            </a:endParaRPr>
          </a:p>
          <a:p>
            <a:pPr marL="462280" indent="-226060">
              <a:lnSpc>
                <a:spcPct val="100000"/>
              </a:lnSpc>
              <a:spcBef>
                <a:spcPts val="1445"/>
              </a:spcBef>
              <a:buClr>
                <a:srgbClr val="C00000"/>
              </a:buClr>
              <a:buAutoNum type="arabicPeriod"/>
              <a:tabLst>
                <a:tab pos="462915" algn="l"/>
              </a:tabLst>
            </a:pPr>
            <a:r>
              <a:rPr sz="2400" spc="-135" dirty="0">
                <a:latin typeface="Arial"/>
                <a:cs typeface="Arial"/>
              </a:rPr>
              <a:t>Construction </a:t>
            </a:r>
            <a:r>
              <a:rPr sz="2400" spc="-65" dirty="0">
                <a:latin typeface="Arial"/>
                <a:cs typeface="Arial"/>
              </a:rPr>
              <a:t>of </a:t>
            </a:r>
            <a:r>
              <a:rPr sz="2400" spc="-340" dirty="0">
                <a:latin typeface="Arial"/>
                <a:cs typeface="Arial"/>
              </a:rPr>
              <a:t>a </a:t>
            </a:r>
            <a:r>
              <a:rPr sz="2400" spc="-50" dirty="0">
                <a:latin typeface="Arial"/>
                <a:cs typeface="Arial"/>
              </a:rPr>
              <a:t>truth </a:t>
            </a:r>
            <a:r>
              <a:rPr sz="2400" spc="-160" dirty="0">
                <a:latin typeface="Arial"/>
                <a:cs typeface="Arial"/>
              </a:rPr>
              <a:t>table </a:t>
            </a:r>
            <a:r>
              <a:rPr sz="2400" spc="-45" dirty="0">
                <a:latin typeface="Arial"/>
                <a:cs typeface="Arial"/>
              </a:rPr>
              <a:t>for </a:t>
            </a:r>
            <a:r>
              <a:rPr sz="2400" spc="-145" dirty="0">
                <a:latin typeface="Arial"/>
                <a:cs typeface="Arial"/>
              </a:rPr>
              <a:t>the </a:t>
            </a:r>
            <a:r>
              <a:rPr sz="2400" spc="-190" dirty="0">
                <a:latin typeface="Arial"/>
                <a:cs typeface="Arial"/>
              </a:rPr>
              <a:t>given</a:t>
            </a:r>
            <a:r>
              <a:rPr sz="2400" spc="110" dirty="0">
                <a:latin typeface="Arial"/>
                <a:cs typeface="Arial"/>
              </a:rPr>
              <a:t> </a:t>
            </a:r>
            <a:r>
              <a:rPr sz="2400" spc="-135" dirty="0">
                <a:latin typeface="Arial"/>
                <a:cs typeface="Arial"/>
              </a:rPr>
              <a:t>logic.</a:t>
            </a:r>
            <a:endParaRPr sz="2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72692" y="4573904"/>
            <a:ext cx="7687945" cy="16567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8125" marR="5080" indent="-226060"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buAutoNum type="arabicPeriod" startAt="5"/>
              <a:tabLst>
                <a:tab pos="238760" algn="l"/>
              </a:tabLst>
            </a:pPr>
            <a:r>
              <a:rPr sz="2400" spc="-200" dirty="0">
                <a:latin typeface="Arial"/>
                <a:cs typeface="Arial"/>
              </a:rPr>
              <a:t>The </a:t>
            </a:r>
            <a:r>
              <a:rPr sz="2400" spc="-125" dirty="0">
                <a:latin typeface="Arial"/>
                <a:cs typeface="Arial"/>
              </a:rPr>
              <a:t>simplified </a:t>
            </a:r>
            <a:r>
              <a:rPr sz="2400" spc="-210" dirty="0">
                <a:latin typeface="Arial"/>
                <a:cs typeface="Arial"/>
              </a:rPr>
              <a:t>Boolean </a:t>
            </a:r>
            <a:r>
              <a:rPr sz="2400" spc="-215" dirty="0">
                <a:latin typeface="Arial"/>
                <a:cs typeface="Arial"/>
              </a:rPr>
              <a:t>expression </a:t>
            </a:r>
            <a:r>
              <a:rPr sz="2400" spc="-225" dirty="0">
                <a:latin typeface="Arial"/>
                <a:cs typeface="Arial"/>
              </a:rPr>
              <a:t>is </a:t>
            </a:r>
            <a:r>
              <a:rPr sz="2400" spc="-155" dirty="0">
                <a:latin typeface="Arial"/>
                <a:cs typeface="Arial"/>
              </a:rPr>
              <a:t>obtained </a:t>
            </a:r>
            <a:r>
              <a:rPr sz="2400" spc="-150" dirty="0">
                <a:latin typeface="Arial"/>
                <a:cs typeface="Arial"/>
              </a:rPr>
              <a:t>by </a:t>
            </a:r>
            <a:r>
              <a:rPr sz="2400" spc="-210" dirty="0">
                <a:latin typeface="Arial"/>
                <a:cs typeface="Arial"/>
              </a:rPr>
              <a:t>any </a:t>
            </a:r>
            <a:r>
              <a:rPr sz="2400" spc="-150" dirty="0">
                <a:latin typeface="Arial"/>
                <a:cs typeface="Arial"/>
              </a:rPr>
              <a:t>method  </a:t>
            </a:r>
            <a:r>
              <a:rPr sz="2400" spc="-65" dirty="0">
                <a:latin typeface="Arial"/>
                <a:cs typeface="Arial"/>
              </a:rPr>
              <a:t>of </a:t>
            </a:r>
            <a:r>
              <a:rPr sz="2400" spc="-150" dirty="0">
                <a:latin typeface="Arial"/>
                <a:cs typeface="Arial"/>
              </a:rPr>
              <a:t>minimization—algebraic </a:t>
            </a:r>
            <a:r>
              <a:rPr sz="2400" spc="-145" dirty="0">
                <a:latin typeface="Arial"/>
                <a:cs typeface="Arial"/>
              </a:rPr>
              <a:t>method, </a:t>
            </a:r>
            <a:r>
              <a:rPr sz="2400" spc="-204" dirty="0">
                <a:latin typeface="Arial"/>
                <a:cs typeface="Arial"/>
              </a:rPr>
              <a:t>Karnaugh </a:t>
            </a:r>
            <a:r>
              <a:rPr sz="2400" spc="-225" dirty="0">
                <a:latin typeface="Arial"/>
                <a:cs typeface="Arial"/>
              </a:rPr>
              <a:t>map</a:t>
            </a:r>
            <a:r>
              <a:rPr sz="2400" spc="-440" dirty="0">
                <a:latin typeface="Arial"/>
                <a:cs typeface="Arial"/>
              </a:rPr>
              <a:t> </a:t>
            </a:r>
            <a:r>
              <a:rPr sz="2400" spc="-145" dirty="0">
                <a:latin typeface="Arial"/>
                <a:cs typeface="Arial"/>
              </a:rPr>
              <a:t>method.</a:t>
            </a:r>
            <a:endParaRPr sz="2400">
              <a:latin typeface="Arial"/>
              <a:cs typeface="Arial"/>
            </a:endParaRPr>
          </a:p>
          <a:p>
            <a:pPr marL="238125" marR="6350" indent="-226060">
              <a:lnSpc>
                <a:spcPct val="100000"/>
              </a:lnSpc>
              <a:spcBef>
                <a:spcPts val="1320"/>
              </a:spcBef>
              <a:buClr>
                <a:srgbClr val="C00000"/>
              </a:buClr>
              <a:buAutoNum type="arabicPeriod" startAt="5"/>
              <a:tabLst>
                <a:tab pos="238760" algn="l"/>
                <a:tab pos="669290" algn="l"/>
                <a:tab pos="1424940" algn="l"/>
                <a:tab pos="2574290" algn="l"/>
                <a:tab pos="2949575" algn="l"/>
                <a:tab pos="4045585" algn="l"/>
                <a:tab pos="4828540" algn="l"/>
                <a:tab pos="5412740" algn="l"/>
                <a:tab pos="6738620" algn="l"/>
              </a:tabLst>
            </a:pPr>
            <a:r>
              <a:rPr sz="2400" spc="114" dirty="0">
                <a:latin typeface="Arial"/>
                <a:cs typeface="Arial"/>
              </a:rPr>
              <a:t>A	</a:t>
            </a:r>
            <a:r>
              <a:rPr sz="2400" spc="-135" dirty="0">
                <a:latin typeface="Arial"/>
                <a:cs typeface="Arial"/>
              </a:rPr>
              <a:t>logic	</a:t>
            </a:r>
            <a:r>
              <a:rPr sz="2400" spc="-130" dirty="0">
                <a:latin typeface="Arial"/>
                <a:cs typeface="Arial"/>
              </a:rPr>
              <a:t>d</a:t>
            </a:r>
            <a:r>
              <a:rPr sz="2400" spc="-175" dirty="0">
                <a:latin typeface="Arial"/>
                <a:cs typeface="Arial"/>
              </a:rPr>
              <a:t>iag</a:t>
            </a:r>
            <a:r>
              <a:rPr sz="2400" spc="-120" dirty="0">
                <a:latin typeface="Arial"/>
                <a:cs typeface="Arial"/>
              </a:rPr>
              <a:t>r</a:t>
            </a:r>
            <a:r>
              <a:rPr sz="2400" spc="-270" dirty="0">
                <a:latin typeface="Arial"/>
                <a:cs typeface="Arial"/>
              </a:rPr>
              <a:t>am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45" dirty="0">
                <a:latin typeface="Arial"/>
                <a:cs typeface="Arial"/>
              </a:rPr>
              <a:t>i</a:t>
            </a:r>
            <a:r>
              <a:rPr sz="2400" spc="-315" dirty="0">
                <a:latin typeface="Arial"/>
                <a:cs typeface="Arial"/>
              </a:rPr>
              <a:t>s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20" dirty="0">
                <a:latin typeface="Arial"/>
                <a:cs typeface="Arial"/>
              </a:rPr>
              <a:t>r</a:t>
            </a:r>
            <a:r>
              <a:rPr sz="2400" spc="-180" dirty="0">
                <a:latin typeface="Arial"/>
                <a:cs typeface="Arial"/>
              </a:rPr>
              <a:t>e</a:t>
            </a:r>
            <a:r>
              <a:rPr sz="2400" spc="-250" dirty="0">
                <a:latin typeface="Arial"/>
                <a:cs typeface="Arial"/>
              </a:rPr>
              <a:t>a</a:t>
            </a:r>
            <a:r>
              <a:rPr sz="2400" spc="-110" dirty="0">
                <a:latin typeface="Arial"/>
                <a:cs typeface="Arial"/>
              </a:rPr>
              <a:t>l</a:t>
            </a:r>
            <a:r>
              <a:rPr sz="2400" spc="-204" dirty="0">
                <a:latin typeface="Arial"/>
                <a:cs typeface="Arial"/>
              </a:rPr>
              <a:t>ized</a:t>
            </a:r>
            <a:r>
              <a:rPr sz="2400" dirty="0">
                <a:latin typeface="Arial"/>
                <a:cs typeface="Arial"/>
              </a:rPr>
              <a:t>	f</a:t>
            </a:r>
            <a:r>
              <a:rPr sz="2400" spc="10" dirty="0">
                <a:latin typeface="Arial"/>
                <a:cs typeface="Arial"/>
              </a:rPr>
              <a:t>r</a:t>
            </a:r>
            <a:r>
              <a:rPr sz="2400" spc="-170" dirty="0">
                <a:latin typeface="Arial"/>
                <a:cs typeface="Arial"/>
              </a:rPr>
              <a:t>om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30" dirty="0">
                <a:latin typeface="Arial"/>
                <a:cs typeface="Arial"/>
              </a:rPr>
              <a:t>th</a:t>
            </a:r>
            <a:r>
              <a:rPr sz="2400" spc="-170" dirty="0">
                <a:latin typeface="Arial"/>
                <a:cs typeface="Arial"/>
              </a:rPr>
              <a:t>e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315" dirty="0">
                <a:latin typeface="Arial"/>
                <a:cs typeface="Arial"/>
              </a:rPr>
              <a:t>s</a:t>
            </a:r>
            <a:r>
              <a:rPr sz="2400" spc="-150" dirty="0">
                <a:latin typeface="Arial"/>
                <a:cs typeface="Arial"/>
              </a:rPr>
              <a:t>i</a:t>
            </a:r>
            <a:r>
              <a:rPr sz="2400" spc="-204" dirty="0">
                <a:latin typeface="Arial"/>
                <a:cs typeface="Arial"/>
              </a:rPr>
              <a:t>m</a:t>
            </a:r>
            <a:r>
              <a:rPr sz="2400" spc="-130" dirty="0">
                <a:latin typeface="Arial"/>
                <a:cs typeface="Arial"/>
              </a:rPr>
              <a:t>p</a:t>
            </a:r>
            <a:r>
              <a:rPr sz="2400" spc="-80" dirty="0">
                <a:latin typeface="Arial"/>
                <a:cs typeface="Arial"/>
              </a:rPr>
              <a:t>lified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95" dirty="0">
                <a:latin typeface="Arial"/>
                <a:cs typeface="Arial"/>
              </a:rPr>
              <a:t>Boo</a:t>
            </a:r>
            <a:r>
              <a:rPr sz="2400" spc="-85" dirty="0">
                <a:latin typeface="Arial"/>
                <a:cs typeface="Arial"/>
              </a:rPr>
              <a:t>l</a:t>
            </a:r>
            <a:r>
              <a:rPr sz="2400" spc="-220" dirty="0">
                <a:latin typeface="Arial"/>
                <a:cs typeface="Arial"/>
              </a:rPr>
              <a:t>ean  </a:t>
            </a:r>
            <a:r>
              <a:rPr sz="2400" spc="-210" dirty="0">
                <a:latin typeface="Arial"/>
                <a:cs typeface="Arial"/>
              </a:rPr>
              <a:t>expression </a:t>
            </a:r>
            <a:r>
              <a:rPr sz="2400" spc="-225" dirty="0">
                <a:latin typeface="Arial"/>
                <a:cs typeface="Arial"/>
              </a:rPr>
              <a:t>using </a:t>
            </a:r>
            <a:r>
              <a:rPr sz="2400" spc="-135" dirty="0">
                <a:latin typeface="Arial"/>
                <a:cs typeface="Arial"/>
              </a:rPr>
              <a:t>logic</a:t>
            </a:r>
            <a:r>
              <a:rPr sz="2400" spc="-465" dirty="0">
                <a:latin typeface="Arial"/>
                <a:cs typeface="Arial"/>
              </a:rPr>
              <a:t> </a:t>
            </a:r>
            <a:r>
              <a:rPr sz="2400" spc="-245" dirty="0">
                <a:latin typeface="Arial"/>
                <a:cs typeface="Arial"/>
              </a:rPr>
              <a:t>gates.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sp>
          <p:nvSpPr>
            <p:cNvPr id="16" name="object 16"/>
            <p:cNvSpPr/>
            <p:nvPr/>
          </p:nvSpPr>
          <p:spPr>
            <a:xfrm>
              <a:off x="8593835" y="6620255"/>
              <a:ext cx="550164" cy="23774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674607" y="6556243"/>
              <a:ext cx="469392" cy="30175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8787638" y="6649770"/>
            <a:ext cx="25654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rlito"/>
                <a:cs typeface="Carlito"/>
              </a:rPr>
              <a:t>24</a:t>
            </a:r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793241" y="982217"/>
              <a:ext cx="7589519" cy="762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6764"/>
              <a:ext cx="9143999" cy="668274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53439" y="320001"/>
              <a:ext cx="7434072" cy="57611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189988" y="155460"/>
              <a:ext cx="4759452" cy="104087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494533" y="289382"/>
            <a:ext cx="41529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5" dirty="0"/>
              <a:t>DESIGN</a:t>
            </a:r>
            <a:r>
              <a:rPr sz="3600" spc="-100" dirty="0"/>
              <a:t> </a:t>
            </a:r>
            <a:r>
              <a:rPr sz="3600" spc="-60" dirty="0"/>
              <a:t>PROCEDURE</a:t>
            </a:r>
            <a:endParaRPr sz="3600"/>
          </a:p>
        </p:txBody>
      </p:sp>
      <p:sp>
        <p:nvSpPr>
          <p:cNvPr id="12" name="object 12"/>
          <p:cNvSpPr txBox="1"/>
          <p:nvPr/>
        </p:nvSpPr>
        <p:spPr>
          <a:xfrm>
            <a:off x="383540" y="1296670"/>
            <a:ext cx="8378190" cy="5025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55"/>
              </a:lnSpc>
              <a:spcBef>
                <a:spcPts val="100"/>
              </a:spcBef>
            </a:pPr>
            <a:r>
              <a:rPr sz="2400" spc="-195" dirty="0">
                <a:latin typeface="Arial"/>
                <a:cs typeface="Arial"/>
              </a:rPr>
              <a:t>EXAMPLE-1:</a:t>
            </a:r>
            <a:endParaRPr sz="2400">
              <a:latin typeface="Arial"/>
              <a:cs typeface="Arial"/>
            </a:endParaRPr>
          </a:p>
          <a:p>
            <a:pPr marL="477520" indent="-464820">
              <a:lnSpc>
                <a:spcPts val="3335"/>
              </a:lnSpc>
              <a:buClr>
                <a:srgbClr val="E36C09"/>
              </a:buClr>
              <a:buFont typeface="Wingdings"/>
              <a:buChar char=""/>
              <a:tabLst>
                <a:tab pos="476884" algn="l"/>
                <a:tab pos="477520" algn="l"/>
              </a:tabLst>
            </a:pPr>
            <a:r>
              <a:rPr sz="2800" spc="-280" dirty="0">
                <a:solidFill>
                  <a:srgbClr val="006FC0"/>
                </a:solidFill>
                <a:latin typeface="Arial"/>
                <a:cs typeface="Arial"/>
              </a:rPr>
              <a:t>Design </a:t>
            </a:r>
            <a:r>
              <a:rPr sz="2800" spc="-395" dirty="0">
                <a:solidFill>
                  <a:srgbClr val="006FC0"/>
                </a:solidFill>
                <a:latin typeface="Arial"/>
                <a:cs typeface="Arial"/>
              </a:rPr>
              <a:t>a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combinational </a:t>
            </a:r>
            <a:r>
              <a:rPr sz="2800" spc="-145" dirty="0">
                <a:solidFill>
                  <a:srgbClr val="006FC0"/>
                </a:solidFill>
                <a:latin typeface="Arial"/>
                <a:cs typeface="Arial"/>
              </a:rPr>
              <a:t>circuits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with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three </a:t>
            </a:r>
            <a:r>
              <a:rPr sz="2800" spc="-100" dirty="0">
                <a:solidFill>
                  <a:srgbClr val="006FC0"/>
                </a:solidFill>
                <a:latin typeface="Arial"/>
                <a:cs typeface="Arial"/>
              </a:rPr>
              <a:t>input</a:t>
            </a:r>
            <a:r>
              <a:rPr sz="2800" spc="29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variables</a:t>
            </a:r>
            <a:endParaRPr sz="2800">
              <a:latin typeface="Arial"/>
              <a:cs typeface="Arial"/>
            </a:endParaRPr>
          </a:p>
          <a:p>
            <a:pPr marL="476884" marR="412115">
              <a:lnSpc>
                <a:spcPct val="100000"/>
              </a:lnSpc>
            </a:pPr>
            <a:r>
              <a:rPr sz="2800" spc="-120" dirty="0">
                <a:solidFill>
                  <a:srgbClr val="006FC0"/>
                </a:solidFill>
                <a:latin typeface="Arial"/>
                <a:cs typeface="Arial"/>
              </a:rPr>
              <a:t>that 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will </a:t>
            </a:r>
            <a:r>
              <a:rPr sz="2800" spc="-180" dirty="0">
                <a:solidFill>
                  <a:srgbClr val="006FC0"/>
                </a:solidFill>
                <a:latin typeface="Arial"/>
                <a:cs typeface="Arial"/>
              </a:rPr>
              <a:t>produce </a:t>
            </a:r>
            <a:r>
              <a:rPr sz="2800" spc="-395" dirty="0">
                <a:solidFill>
                  <a:srgbClr val="006FC0"/>
                </a:solidFill>
                <a:latin typeface="Arial"/>
                <a:cs typeface="Arial"/>
              </a:rPr>
              <a:t>a </a:t>
            </a:r>
            <a:r>
              <a:rPr sz="2800" spc="-195" dirty="0">
                <a:solidFill>
                  <a:srgbClr val="006FC0"/>
                </a:solidFill>
                <a:latin typeface="Arial"/>
                <a:cs typeface="Arial"/>
              </a:rPr>
              <a:t>logic-1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output 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when </a:t>
            </a:r>
            <a:r>
              <a:rPr sz="2800" spc="-190" dirty="0">
                <a:solidFill>
                  <a:srgbClr val="006FC0"/>
                </a:solidFill>
                <a:latin typeface="Arial"/>
                <a:cs typeface="Arial"/>
              </a:rPr>
              <a:t>more than </a:t>
            </a:r>
            <a:r>
              <a:rPr sz="2800" spc="-240" dirty="0">
                <a:solidFill>
                  <a:srgbClr val="006FC0"/>
                </a:solidFill>
                <a:latin typeface="Arial"/>
                <a:cs typeface="Arial"/>
              </a:rPr>
              <a:t>one 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input </a:t>
            </a: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variables 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are </a:t>
            </a:r>
            <a:r>
              <a:rPr sz="2800" spc="-110" dirty="0">
                <a:solidFill>
                  <a:srgbClr val="006FC0"/>
                </a:solidFill>
                <a:latin typeface="Arial"/>
                <a:cs typeface="Arial"/>
              </a:rPr>
              <a:t>HIGH</a:t>
            </a:r>
            <a:r>
              <a:rPr sz="2800" spc="-509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220" dirty="0">
                <a:solidFill>
                  <a:srgbClr val="006FC0"/>
                </a:solidFill>
                <a:latin typeface="Arial"/>
                <a:cs typeface="Arial"/>
              </a:rPr>
              <a:t>state.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2400" u="heavy" spc="-1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Solution: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spc="-305" dirty="0">
                <a:latin typeface="Arial"/>
                <a:cs typeface="Arial"/>
              </a:rPr>
              <a:t>STEP1: </a:t>
            </a:r>
            <a:r>
              <a:rPr sz="2400" spc="-195" dirty="0">
                <a:latin typeface="Arial"/>
                <a:cs typeface="Arial"/>
              </a:rPr>
              <a:t>The </a:t>
            </a:r>
            <a:r>
              <a:rPr sz="2400" spc="-135" dirty="0">
                <a:latin typeface="Arial"/>
                <a:cs typeface="Arial"/>
              </a:rPr>
              <a:t>problem</a:t>
            </a:r>
            <a:r>
              <a:rPr sz="2400" spc="-335" dirty="0">
                <a:latin typeface="Arial"/>
                <a:cs typeface="Arial"/>
              </a:rPr>
              <a:t> </a:t>
            </a:r>
            <a:r>
              <a:rPr sz="2400" spc="-175" dirty="0">
                <a:latin typeface="Arial"/>
                <a:cs typeface="Arial"/>
              </a:rPr>
              <a:t>statement.</a:t>
            </a:r>
            <a:endParaRPr sz="2400">
              <a:latin typeface="Arial"/>
              <a:cs typeface="Arial"/>
            </a:endParaRPr>
          </a:p>
          <a:p>
            <a:pPr marL="12700" marR="5080" algn="just">
              <a:lnSpc>
                <a:spcPct val="100000"/>
              </a:lnSpc>
            </a:pPr>
            <a:r>
              <a:rPr sz="2400" spc="-245" dirty="0">
                <a:solidFill>
                  <a:srgbClr val="006FC0"/>
                </a:solidFill>
                <a:latin typeface="Arial"/>
                <a:cs typeface="Arial"/>
              </a:rPr>
              <a:t>Design </a:t>
            </a:r>
            <a:r>
              <a:rPr sz="2400" spc="-340" dirty="0">
                <a:solidFill>
                  <a:srgbClr val="006FC0"/>
                </a:solidFill>
                <a:latin typeface="Arial"/>
                <a:cs typeface="Arial"/>
              </a:rPr>
              <a:t>a </a:t>
            </a:r>
            <a:r>
              <a:rPr sz="2400" spc="-145" dirty="0">
                <a:solidFill>
                  <a:srgbClr val="006FC0"/>
                </a:solidFill>
                <a:latin typeface="Arial"/>
                <a:cs typeface="Arial"/>
              </a:rPr>
              <a:t>combinational </a:t>
            </a:r>
            <a:r>
              <a:rPr sz="2400" spc="-125" dirty="0">
                <a:solidFill>
                  <a:srgbClr val="006FC0"/>
                </a:solidFill>
                <a:latin typeface="Arial"/>
                <a:cs typeface="Arial"/>
              </a:rPr>
              <a:t>circuits </a:t>
            </a:r>
            <a:r>
              <a:rPr sz="2400" spc="-85" dirty="0">
                <a:solidFill>
                  <a:srgbClr val="006FC0"/>
                </a:solidFill>
                <a:latin typeface="Arial"/>
                <a:cs typeface="Arial"/>
              </a:rPr>
              <a:t>with </a:t>
            </a:r>
            <a:r>
              <a:rPr sz="2400" spc="-145" dirty="0">
                <a:solidFill>
                  <a:srgbClr val="006FC0"/>
                </a:solidFill>
                <a:latin typeface="Arial"/>
                <a:cs typeface="Arial"/>
              </a:rPr>
              <a:t>three </a:t>
            </a:r>
            <a:r>
              <a:rPr sz="2400" spc="-90" dirty="0">
                <a:solidFill>
                  <a:srgbClr val="006FC0"/>
                </a:solidFill>
                <a:latin typeface="Arial"/>
                <a:cs typeface="Arial"/>
              </a:rPr>
              <a:t>input </a:t>
            </a:r>
            <a:r>
              <a:rPr sz="2400" spc="-200" dirty="0">
                <a:solidFill>
                  <a:srgbClr val="006FC0"/>
                </a:solidFill>
                <a:latin typeface="Arial"/>
                <a:cs typeface="Arial"/>
              </a:rPr>
              <a:t>variables </a:t>
            </a:r>
            <a:r>
              <a:rPr sz="2400" spc="-100" dirty="0">
                <a:solidFill>
                  <a:srgbClr val="006FC0"/>
                </a:solidFill>
                <a:latin typeface="Arial"/>
                <a:cs typeface="Arial"/>
              </a:rPr>
              <a:t>that </a:t>
            </a:r>
            <a:r>
              <a:rPr sz="2400" spc="-60" dirty="0">
                <a:solidFill>
                  <a:srgbClr val="006FC0"/>
                </a:solidFill>
                <a:latin typeface="Arial"/>
                <a:cs typeface="Arial"/>
              </a:rPr>
              <a:t>will  </a:t>
            </a:r>
            <a:r>
              <a:rPr sz="2400" spc="-155" dirty="0">
                <a:solidFill>
                  <a:srgbClr val="006FC0"/>
                </a:solidFill>
                <a:latin typeface="Arial"/>
                <a:cs typeface="Arial"/>
              </a:rPr>
              <a:t>produce </a:t>
            </a:r>
            <a:r>
              <a:rPr sz="2400" spc="-340" dirty="0">
                <a:solidFill>
                  <a:srgbClr val="006FC0"/>
                </a:solidFill>
                <a:latin typeface="Arial"/>
                <a:cs typeface="Arial"/>
              </a:rPr>
              <a:t>a </a:t>
            </a:r>
            <a:r>
              <a:rPr sz="2400" spc="-165" dirty="0">
                <a:solidFill>
                  <a:srgbClr val="006FC0"/>
                </a:solidFill>
                <a:latin typeface="Arial"/>
                <a:cs typeface="Arial"/>
              </a:rPr>
              <a:t>logic-1 </a:t>
            </a:r>
            <a:r>
              <a:rPr sz="2400" spc="-65" dirty="0">
                <a:solidFill>
                  <a:srgbClr val="006FC0"/>
                </a:solidFill>
                <a:latin typeface="Arial"/>
                <a:cs typeface="Arial"/>
              </a:rPr>
              <a:t>Output </a:t>
            </a:r>
            <a:r>
              <a:rPr sz="2400" spc="-215" dirty="0">
                <a:solidFill>
                  <a:srgbClr val="006FC0"/>
                </a:solidFill>
                <a:latin typeface="Arial"/>
                <a:cs typeface="Arial"/>
              </a:rPr>
              <a:t>when </a:t>
            </a:r>
            <a:r>
              <a:rPr sz="2400" spc="-160" dirty="0">
                <a:solidFill>
                  <a:srgbClr val="006FC0"/>
                </a:solidFill>
                <a:latin typeface="Arial"/>
                <a:cs typeface="Arial"/>
              </a:rPr>
              <a:t>more </a:t>
            </a:r>
            <a:r>
              <a:rPr sz="2400" spc="-165" dirty="0">
                <a:solidFill>
                  <a:srgbClr val="006FC0"/>
                </a:solidFill>
                <a:latin typeface="Arial"/>
                <a:cs typeface="Arial"/>
              </a:rPr>
              <a:t>than </a:t>
            </a:r>
            <a:r>
              <a:rPr sz="2400" spc="-204" dirty="0">
                <a:solidFill>
                  <a:srgbClr val="006FC0"/>
                </a:solidFill>
                <a:latin typeface="Arial"/>
                <a:cs typeface="Arial"/>
              </a:rPr>
              <a:t>one </a:t>
            </a:r>
            <a:r>
              <a:rPr sz="2400" spc="-90" dirty="0">
                <a:solidFill>
                  <a:srgbClr val="006FC0"/>
                </a:solidFill>
                <a:latin typeface="Arial"/>
                <a:cs typeface="Arial"/>
              </a:rPr>
              <a:t>input </a:t>
            </a:r>
            <a:r>
              <a:rPr sz="2400" spc="-200" dirty="0">
                <a:solidFill>
                  <a:srgbClr val="006FC0"/>
                </a:solidFill>
                <a:latin typeface="Arial"/>
                <a:cs typeface="Arial"/>
              </a:rPr>
              <a:t>variables </a:t>
            </a:r>
            <a:r>
              <a:rPr sz="2400" spc="-210" dirty="0">
                <a:solidFill>
                  <a:srgbClr val="006FC0"/>
                </a:solidFill>
                <a:latin typeface="Arial"/>
                <a:cs typeface="Arial"/>
              </a:rPr>
              <a:t>are  </a:t>
            </a:r>
            <a:r>
              <a:rPr sz="2400" spc="-100" dirty="0">
                <a:solidFill>
                  <a:srgbClr val="006FC0"/>
                </a:solidFill>
                <a:latin typeface="Arial"/>
                <a:cs typeface="Arial"/>
              </a:rPr>
              <a:t>HIGH.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900">
              <a:latin typeface="Arial"/>
              <a:cs typeface="Arial"/>
            </a:endParaRPr>
          </a:p>
          <a:p>
            <a:pPr marL="927100" marR="2946400" indent="-915035">
              <a:lnSpc>
                <a:spcPct val="100000"/>
              </a:lnSpc>
            </a:pPr>
            <a:r>
              <a:rPr sz="2400" spc="-305" dirty="0">
                <a:latin typeface="Arial"/>
                <a:cs typeface="Arial"/>
              </a:rPr>
              <a:t>STEP2: </a:t>
            </a:r>
            <a:r>
              <a:rPr sz="2400" spc="-90" dirty="0">
                <a:latin typeface="Arial"/>
                <a:cs typeface="Arial"/>
              </a:rPr>
              <a:t>Identify </a:t>
            </a:r>
            <a:r>
              <a:rPr sz="2400" spc="-145" dirty="0">
                <a:latin typeface="Arial"/>
                <a:cs typeface="Arial"/>
              </a:rPr>
              <a:t>the </a:t>
            </a:r>
            <a:r>
              <a:rPr sz="2400" spc="-90" dirty="0">
                <a:latin typeface="Arial"/>
                <a:cs typeface="Arial"/>
              </a:rPr>
              <a:t>input </a:t>
            </a:r>
            <a:r>
              <a:rPr sz="2400" spc="-215" dirty="0">
                <a:latin typeface="Arial"/>
                <a:cs typeface="Arial"/>
              </a:rPr>
              <a:t>and </a:t>
            </a:r>
            <a:r>
              <a:rPr sz="2400" spc="-85" dirty="0">
                <a:latin typeface="Arial"/>
                <a:cs typeface="Arial"/>
              </a:rPr>
              <a:t>output </a:t>
            </a:r>
            <a:r>
              <a:rPr sz="2400" spc="-204" dirty="0">
                <a:latin typeface="Arial"/>
                <a:cs typeface="Arial"/>
              </a:rPr>
              <a:t>variables  </a:t>
            </a:r>
            <a:r>
              <a:rPr sz="2400" spc="-85" dirty="0">
                <a:solidFill>
                  <a:srgbClr val="006FC0"/>
                </a:solidFill>
                <a:latin typeface="Arial"/>
                <a:cs typeface="Arial"/>
              </a:rPr>
              <a:t>No. </a:t>
            </a:r>
            <a:r>
              <a:rPr sz="2400" spc="-6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400" spc="-150" dirty="0">
                <a:solidFill>
                  <a:srgbClr val="006FC0"/>
                </a:solidFill>
                <a:latin typeface="Arial"/>
                <a:cs typeface="Arial"/>
              </a:rPr>
              <a:t>inputs </a:t>
            </a:r>
            <a:r>
              <a:rPr sz="2400" spc="-120" dirty="0">
                <a:solidFill>
                  <a:srgbClr val="006FC0"/>
                </a:solidFill>
                <a:latin typeface="Arial"/>
                <a:cs typeface="Arial"/>
              </a:rPr>
              <a:t>required:</a:t>
            </a:r>
            <a:r>
              <a:rPr sz="2400" spc="24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400" spc="-340" dirty="0">
                <a:solidFill>
                  <a:srgbClr val="006FC0"/>
                </a:solidFill>
                <a:latin typeface="Arial"/>
                <a:cs typeface="Arial"/>
              </a:rPr>
              <a:t>3</a:t>
            </a:r>
            <a:endParaRPr sz="24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</a:pPr>
            <a:r>
              <a:rPr sz="2400" spc="-85" dirty="0">
                <a:solidFill>
                  <a:srgbClr val="006FC0"/>
                </a:solidFill>
                <a:latin typeface="Arial"/>
                <a:cs typeface="Arial"/>
              </a:rPr>
              <a:t>No. </a:t>
            </a:r>
            <a:r>
              <a:rPr sz="2400" spc="-6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400" spc="-85" dirty="0">
                <a:solidFill>
                  <a:srgbClr val="006FC0"/>
                </a:solidFill>
                <a:latin typeface="Arial"/>
                <a:cs typeface="Arial"/>
              </a:rPr>
              <a:t>output </a:t>
            </a:r>
            <a:r>
              <a:rPr sz="2400" spc="-125" dirty="0">
                <a:solidFill>
                  <a:srgbClr val="006FC0"/>
                </a:solidFill>
                <a:latin typeface="Arial"/>
                <a:cs typeface="Arial"/>
              </a:rPr>
              <a:t>required:</a:t>
            </a:r>
            <a:r>
              <a:rPr sz="2400" spc="18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400" spc="-340" dirty="0">
                <a:solidFill>
                  <a:srgbClr val="006FC0"/>
                </a:solidFill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sp>
          <p:nvSpPr>
            <p:cNvPr id="14" name="object 14"/>
            <p:cNvSpPr/>
            <p:nvPr/>
          </p:nvSpPr>
          <p:spPr>
            <a:xfrm>
              <a:off x="8593835" y="6620255"/>
              <a:ext cx="550164" cy="23774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674607" y="6556243"/>
              <a:ext cx="469392" cy="30175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8787638" y="6649770"/>
            <a:ext cx="25654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rlito"/>
                <a:cs typeface="Carlito"/>
              </a:rPr>
              <a:t>25</a:t>
            </a:r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2189988" y="155460"/>
              <a:ext cx="4759452" cy="104087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494533" y="289382"/>
            <a:ext cx="41529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5" dirty="0"/>
              <a:t>DESIGN</a:t>
            </a:r>
            <a:r>
              <a:rPr sz="3600" spc="-100" dirty="0"/>
              <a:t> </a:t>
            </a:r>
            <a:r>
              <a:rPr sz="3600" spc="-60" dirty="0"/>
              <a:t>PROCEDURE</a:t>
            </a:r>
            <a:endParaRPr sz="3600"/>
          </a:p>
        </p:txBody>
      </p:sp>
      <p:sp>
        <p:nvSpPr>
          <p:cNvPr id="7" name="object 7"/>
          <p:cNvSpPr txBox="1"/>
          <p:nvPr/>
        </p:nvSpPr>
        <p:spPr>
          <a:xfrm>
            <a:off x="383540" y="1429258"/>
            <a:ext cx="6808470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7100" marR="5080" indent="-915035">
              <a:lnSpc>
                <a:spcPct val="100000"/>
              </a:lnSpc>
              <a:spcBef>
                <a:spcPts val="100"/>
              </a:spcBef>
            </a:pPr>
            <a:r>
              <a:rPr sz="2400" spc="-305" dirty="0">
                <a:latin typeface="Arial"/>
                <a:cs typeface="Arial"/>
              </a:rPr>
              <a:t>STEP3: </a:t>
            </a:r>
            <a:r>
              <a:rPr sz="2400" spc="-200" dirty="0">
                <a:latin typeface="Arial"/>
                <a:cs typeface="Arial"/>
              </a:rPr>
              <a:t>The </a:t>
            </a:r>
            <a:r>
              <a:rPr sz="2400" spc="-90" dirty="0">
                <a:latin typeface="Arial"/>
                <a:cs typeface="Arial"/>
              </a:rPr>
              <a:t>input </a:t>
            </a:r>
            <a:r>
              <a:rPr sz="2400" spc="-65" dirty="0">
                <a:latin typeface="Arial"/>
                <a:cs typeface="Arial"/>
              </a:rPr>
              <a:t>&amp; </a:t>
            </a:r>
            <a:r>
              <a:rPr sz="2400" spc="-140" dirty="0">
                <a:latin typeface="Arial"/>
                <a:cs typeface="Arial"/>
              </a:rPr>
              <a:t>outputs </a:t>
            </a:r>
            <a:r>
              <a:rPr sz="2400" spc="-210" dirty="0">
                <a:latin typeface="Arial"/>
                <a:cs typeface="Arial"/>
              </a:rPr>
              <a:t>are </a:t>
            </a:r>
            <a:r>
              <a:rPr sz="2400" spc="-290" dirty="0">
                <a:latin typeface="Arial"/>
                <a:cs typeface="Arial"/>
              </a:rPr>
              <a:t>assign </a:t>
            </a:r>
            <a:r>
              <a:rPr sz="2400" spc="-95" dirty="0">
                <a:latin typeface="Arial"/>
                <a:cs typeface="Arial"/>
              </a:rPr>
              <a:t>with </a:t>
            </a:r>
            <a:r>
              <a:rPr sz="2400" spc="-85" dirty="0">
                <a:latin typeface="Arial"/>
                <a:cs typeface="Arial"/>
              </a:rPr>
              <a:t>letter </a:t>
            </a:r>
            <a:r>
              <a:rPr sz="2400" spc="-220" dirty="0">
                <a:latin typeface="Arial"/>
                <a:cs typeface="Arial"/>
              </a:rPr>
              <a:t>symbols  </a:t>
            </a:r>
            <a:r>
              <a:rPr sz="2400" spc="-114" dirty="0">
                <a:solidFill>
                  <a:srgbClr val="006FC0"/>
                </a:solidFill>
                <a:latin typeface="Arial"/>
                <a:cs typeface="Arial"/>
              </a:rPr>
              <a:t>Letter </a:t>
            </a:r>
            <a:r>
              <a:rPr sz="2400" spc="-185" dirty="0">
                <a:solidFill>
                  <a:srgbClr val="006FC0"/>
                </a:solidFill>
                <a:latin typeface="Arial"/>
                <a:cs typeface="Arial"/>
              </a:rPr>
              <a:t>symbol </a:t>
            </a:r>
            <a:r>
              <a:rPr sz="2400" spc="-40" dirty="0">
                <a:solidFill>
                  <a:srgbClr val="006FC0"/>
                </a:solidFill>
                <a:latin typeface="Arial"/>
                <a:cs typeface="Arial"/>
              </a:rPr>
              <a:t>for </a:t>
            </a:r>
            <a:r>
              <a:rPr sz="2400" spc="-135" dirty="0">
                <a:solidFill>
                  <a:srgbClr val="006FC0"/>
                </a:solidFill>
                <a:latin typeface="Arial"/>
                <a:cs typeface="Arial"/>
              </a:rPr>
              <a:t>inputs: </a:t>
            </a:r>
            <a:r>
              <a:rPr sz="2400" spc="-10" dirty="0">
                <a:solidFill>
                  <a:srgbClr val="006FC0"/>
                </a:solidFill>
                <a:latin typeface="Arial"/>
                <a:cs typeface="Arial"/>
              </a:rPr>
              <a:t>A, </a:t>
            </a:r>
            <a:r>
              <a:rPr sz="2400" spc="-250" dirty="0">
                <a:solidFill>
                  <a:srgbClr val="006FC0"/>
                </a:solidFill>
                <a:latin typeface="Arial"/>
                <a:cs typeface="Arial"/>
              </a:rPr>
              <a:t>B,</a:t>
            </a:r>
            <a:r>
              <a:rPr sz="2400" spc="-6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400" spc="-254" dirty="0">
                <a:solidFill>
                  <a:srgbClr val="006FC0"/>
                </a:solidFill>
                <a:latin typeface="Arial"/>
                <a:cs typeface="Arial"/>
              </a:rPr>
              <a:t>C</a:t>
            </a:r>
            <a:endParaRPr sz="24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</a:pPr>
            <a:r>
              <a:rPr sz="2400" spc="-114" dirty="0">
                <a:solidFill>
                  <a:srgbClr val="006FC0"/>
                </a:solidFill>
                <a:latin typeface="Arial"/>
                <a:cs typeface="Arial"/>
              </a:rPr>
              <a:t>Letter </a:t>
            </a:r>
            <a:r>
              <a:rPr sz="2400" spc="-185" dirty="0">
                <a:solidFill>
                  <a:srgbClr val="006FC0"/>
                </a:solidFill>
                <a:latin typeface="Arial"/>
                <a:cs typeface="Arial"/>
              </a:rPr>
              <a:t>symbol </a:t>
            </a:r>
            <a:r>
              <a:rPr sz="2400" spc="-45" dirty="0">
                <a:solidFill>
                  <a:srgbClr val="006FC0"/>
                </a:solidFill>
                <a:latin typeface="Arial"/>
                <a:cs typeface="Arial"/>
              </a:rPr>
              <a:t>for </a:t>
            </a:r>
            <a:r>
              <a:rPr sz="2400" spc="-75" dirty="0">
                <a:solidFill>
                  <a:srgbClr val="006FC0"/>
                </a:solidFill>
                <a:latin typeface="Arial"/>
                <a:cs typeface="Arial"/>
              </a:rPr>
              <a:t>output:</a:t>
            </a:r>
            <a:r>
              <a:rPr sz="2400" spc="-17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400" spc="-204" dirty="0">
                <a:solidFill>
                  <a:srgbClr val="006FC0"/>
                </a:solidFill>
                <a:latin typeface="Arial"/>
                <a:cs typeface="Arial"/>
              </a:rPr>
              <a:t>Y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spc="-305" dirty="0">
                <a:latin typeface="Arial"/>
                <a:cs typeface="Arial"/>
              </a:rPr>
              <a:t>STEP4: </a:t>
            </a:r>
            <a:r>
              <a:rPr sz="2400" spc="-135" dirty="0">
                <a:latin typeface="Arial"/>
                <a:cs typeface="Arial"/>
              </a:rPr>
              <a:t>Construction </a:t>
            </a:r>
            <a:r>
              <a:rPr sz="2400" spc="-65" dirty="0">
                <a:latin typeface="Arial"/>
                <a:cs typeface="Arial"/>
              </a:rPr>
              <a:t>of </a:t>
            </a:r>
            <a:r>
              <a:rPr sz="2400" spc="-340" dirty="0">
                <a:latin typeface="Arial"/>
                <a:cs typeface="Arial"/>
              </a:rPr>
              <a:t>a </a:t>
            </a:r>
            <a:r>
              <a:rPr sz="2400" spc="-55" dirty="0">
                <a:latin typeface="Arial"/>
                <a:cs typeface="Arial"/>
              </a:rPr>
              <a:t>truth </a:t>
            </a:r>
            <a:r>
              <a:rPr sz="2400" spc="-160" dirty="0">
                <a:latin typeface="Arial"/>
                <a:cs typeface="Arial"/>
              </a:rPr>
              <a:t>table </a:t>
            </a:r>
            <a:r>
              <a:rPr sz="2400" spc="-45" dirty="0">
                <a:latin typeface="Arial"/>
                <a:cs typeface="Arial"/>
              </a:rPr>
              <a:t>for </a:t>
            </a:r>
            <a:r>
              <a:rPr sz="2400" spc="-145" dirty="0">
                <a:latin typeface="Arial"/>
                <a:cs typeface="Arial"/>
              </a:rPr>
              <a:t>the </a:t>
            </a:r>
            <a:r>
              <a:rPr sz="2400" spc="-195" dirty="0">
                <a:latin typeface="Arial"/>
                <a:cs typeface="Arial"/>
              </a:rPr>
              <a:t>given</a:t>
            </a:r>
            <a:r>
              <a:rPr sz="2400" spc="95" dirty="0">
                <a:latin typeface="Arial"/>
                <a:cs typeface="Arial"/>
              </a:rPr>
              <a:t> </a:t>
            </a:r>
            <a:r>
              <a:rPr sz="2400" spc="-135" dirty="0">
                <a:latin typeface="Arial"/>
                <a:cs typeface="Arial"/>
              </a:rPr>
              <a:t>logic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209800" y="3307079"/>
            <a:ext cx="6939280" cy="3550920"/>
            <a:chOff x="2209800" y="3307079"/>
            <a:chExt cx="6939280" cy="3550920"/>
          </a:xfrm>
        </p:grpSpPr>
        <p:sp>
          <p:nvSpPr>
            <p:cNvPr id="9" name="object 9"/>
            <p:cNvSpPr/>
            <p:nvPr/>
          </p:nvSpPr>
          <p:spPr>
            <a:xfrm>
              <a:off x="2209800" y="3307079"/>
              <a:ext cx="3505200" cy="317601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593835" y="6620254"/>
              <a:ext cx="550164" cy="237743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74608" y="6556242"/>
              <a:ext cx="469392" cy="301755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641079" y="6644639"/>
              <a:ext cx="502920" cy="18288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641079" y="6644639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787638" y="6649770"/>
            <a:ext cx="25654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rlito"/>
                <a:cs typeface="Carlito"/>
              </a:rPr>
              <a:t>26</a:t>
            </a:r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793241" y="982217"/>
              <a:ext cx="7589519" cy="762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6764"/>
              <a:ext cx="9143999" cy="668274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53439" y="320001"/>
              <a:ext cx="7434072" cy="57611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189988" y="155460"/>
              <a:ext cx="4759452" cy="104087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494533" y="289382"/>
            <a:ext cx="41529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5" dirty="0"/>
              <a:t>DESIGN</a:t>
            </a:r>
            <a:r>
              <a:rPr sz="3600" spc="-100" dirty="0"/>
              <a:t> </a:t>
            </a:r>
            <a:r>
              <a:rPr sz="3600" spc="-60" dirty="0"/>
              <a:t>PROCEDURE</a:t>
            </a:r>
            <a:endParaRPr sz="3600"/>
          </a:p>
        </p:txBody>
      </p:sp>
      <p:sp>
        <p:nvSpPr>
          <p:cNvPr id="12" name="object 12"/>
          <p:cNvSpPr txBox="1"/>
          <p:nvPr/>
        </p:nvSpPr>
        <p:spPr>
          <a:xfrm>
            <a:off x="383540" y="1525270"/>
            <a:ext cx="837438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7100" marR="5080" indent="-915035">
              <a:lnSpc>
                <a:spcPct val="100000"/>
              </a:lnSpc>
              <a:spcBef>
                <a:spcPts val="100"/>
              </a:spcBef>
              <a:tabLst>
                <a:tab pos="1019810" algn="l"/>
                <a:tab pos="1938655" algn="l"/>
                <a:tab pos="2496820" algn="l"/>
                <a:tab pos="3795395" algn="l"/>
                <a:tab pos="5190490" algn="l"/>
                <a:tab pos="5717540" algn="l"/>
                <a:tab pos="6685280" algn="l"/>
                <a:tab pos="7772400" algn="l"/>
              </a:tabLst>
            </a:pPr>
            <a:r>
              <a:rPr sz="2400" spc="-310" dirty="0">
                <a:latin typeface="Arial"/>
                <a:cs typeface="Arial"/>
              </a:rPr>
              <a:t>S</a:t>
            </a:r>
            <a:r>
              <a:rPr sz="2400" spc="-295" dirty="0">
                <a:latin typeface="Arial"/>
                <a:cs typeface="Arial"/>
              </a:rPr>
              <a:t>T</a:t>
            </a:r>
            <a:r>
              <a:rPr sz="2400" spc="-400" dirty="0">
                <a:latin typeface="Arial"/>
                <a:cs typeface="Arial"/>
              </a:rPr>
              <a:t>E</a:t>
            </a:r>
            <a:r>
              <a:rPr sz="2400" spc="-490" dirty="0">
                <a:latin typeface="Arial"/>
                <a:cs typeface="Arial"/>
              </a:rPr>
              <a:t>P</a:t>
            </a:r>
            <a:r>
              <a:rPr sz="2400" spc="-330" dirty="0">
                <a:latin typeface="Arial"/>
                <a:cs typeface="Arial"/>
              </a:rPr>
              <a:t>5</a:t>
            </a:r>
            <a:r>
              <a:rPr sz="2400" spc="-5" dirty="0">
                <a:latin typeface="Arial"/>
                <a:cs typeface="Arial"/>
              </a:rPr>
              <a:t>:</a:t>
            </a:r>
            <a:r>
              <a:rPr sz="2400" dirty="0">
                <a:latin typeface="Arial"/>
                <a:cs typeface="Arial"/>
              </a:rPr>
              <a:t>		</a:t>
            </a:r>
            <a:r>
              <a:rPr sz="2400" spc="-145" dirty="0">
                <a:latin typeface="Arial"/>
                <a:cs typeface="Arial"/>
              </a:rPr>
              <a:t>obt</a:t>
            </a:r>
            <a:r>
              <a:rPr sz="2400" spc="-165" dirty="0">
                <a:latin typeface="Arial"/>
                <a:cs typeface="Arial"/>
              </a:rPr>
              <a:t>a</a:t>
            </a:r>
            <a:r>
              <a:rPr sz="2400" spc="-95" dirty="0">
                <a:latin typeface="Arial"/>
                <a:cs typeface="Arial"/>
              </a:rPr>
              <a:t>in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30" dirty="0">
                <a:latin typeface="Arial"/>
                <a:cs typeface="Arial"/>
              </a:rPr>
              <a:t>th</a:t>
            </a:r>
            <a:r>
              <a:rPr sz="2400" spc="-170" dirty="0">
                <a:latin typeface="Arial"/>
                <a:cs typeface="Arial"/>
              </a:rPr>
              <a:t>e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315" dirty="0">
                <a:latin typeface="Arial"/>
                <a:cs typeface="Arial"/>
              </a:rPr>
              <a:t>s</a:t>
            </a:r>
            <a:r>
              <a:rPr sz="2400" spc="-150" dirty="0">
                <a:latin typeface="Arial"/>
                <a:cs typeface="Arial"/>
              </a:rPr>
              <a:t>i</a:t>
            </a:r>
            <a:r>
              <a:rPr sz="2400" spc="-204" dirty="0">
                <a:latin typeface="Arial"/>
                <a:cs typeface="Arial"/>
              </a:rPr>
              <a:t>m</a:t>
            </a:r>
            <a:r>
              <a:rPr sz="2400" spc="-125" dirty="0">
                <a:latin typeface="Arial"/>
                <a:cs typeface="Arial"/>
              </a:rPr>
              <a:t>p</a:t>
            </a:r>
            <a:r>
              <a:rPr sz="2400" spc="-15" dirty="0">
                <a:latin typeface="Arial"/>
                <a:cs typeface="Arial"/>
              </a:rPr>
              <a:t>l</a:t>
            </a:r>
            <a:r>
              <a:rPr sz="2400" spc="-25" dirty="0">
                <a:latin typeface="Arial"/>
                <a:cs typeface="Arial"/>
              </a:rPr>
              <a:t>i</a:t>
            </a:r>
            <a:r>
              <a:rPr sz="2400" spc="-100" dirty="0">
                <a:latin typeface="Arial"/>
                <a:cs typeface="Arial"/>
              </a:rPr>
              <a:t>fie</a:t>
            </a:r>
            <a:r>
              <a:rPr sz="2400" spc="-150" dirty="0">
                <a:latin typeface="Arial"/>
                <a:cs typeface="Arial"/>
              </a:rPr>
              <a:t>d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245" dirty="0">
                <a:latin typeface="Arial"/>
                <a:cs typeface="Arial"/>
              </a:rPr>
              <a:t>e</a:t>
            </a:r>
            <a:r>
              <a:rPr sz="2400" spc="-215" dirty="0">
                <a:latin typeface="Arial"/>
                <a:cs typeface="Arial"/>
              </a:rPr>
              <a:t>x</a:t>
            </a:r>
            <a:r>
              <a:rPr sz="2400" spc="-135" dirty="0">
                <a:latin typeface="Arial"/>
                <a:cs typeface="Arial"/>
              </a:rPr>
              <a:t>pr</a:t>
            </a:r>
            <a:r>
              <a:rPr sz="2400" spc="-160" dirty="0">
                <a:latin typeface="Arial"/>
                <a:cs typeface="Arial"/>
              </a:rPr>
              <a:t>e</a:t>
            </a:r>
            <a:r>
              <a:rPr sz="2400" spc="-459" dirty="0">
                <a:latin typeface="Arial"/>
                <a:cs typeface="Arial"/>
              </a:rPr>
              <a:t>s</a:t>
            </a:r>
            <a:r>
              <a:rPr sz="2400" spc="-315" dirty="0">
                <a:latin typeface="Arial"/>
                <a:cs typeface="Arial"/>
              </a:rPr>
              <a:t>s</a:t>
            </a:r>
            <a:r>
              <a:rPr sz="2400" spc="-150" dirty="0">
                <a:latin typeface="Arial"/>
                <a:cs typeface="Arial"/>
              </a:rPr>
              <a:t>i</a:t>
            </a:r>
            <a:r>
              <a:rPr sz="2400" spc="-155" dirty="0">
                <a:latin typeface="Arial"/>
                <a:cs typeface="Arial"/>
              </a:rPr>
              <a:t>on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50" dirty="0">
                <a:latin typeface="Arial"/>
                <a:cs typeface="Arial"/>
              </a:rPr>
              <a:t>fo</a:t>
            </a:r>
            <a:r>
              <a:rPr sz="2400" spc="-35" dirty="0">
                <a:latin typeface="Arial"/>
                <a:cs typeface="Arial"/>
              </a:rPr>
              <a:t>r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55" dirty="0">
                <a:latin typeface="Arial"/>
                <a:cs typeface="Arial"/>
              </a:rPr>
              <a:t>o</a:t>
            </a:r>
            <a:r>
              <a:rPr sz="2400" spc="-165" dirty="0">
                <a:latin typeface="Arial"/>
                <a:cs typeface="Arial"/>
              </a:rPr>
              <a:t>u</a:t>
            </a:r>
            <a:r>
              <a:rPr sz="2400" spc="-65" dirty="0">
                <a:latin typeface="Arial"/>
                <a:cs typeface="Arial"/>
              </a:rPr>
              <a:t>tpu</a:t>
            </a:r>
            <a:r>
              <a:rPr sz="2400" spc="-35" dirty="0">
                <a:latin typeface="Arial"/>
                <a:cs typeface="Arial"/>
              </a:rPr>
              <a:t>t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95" dirty="0">
                <a:latin typeface="Arial"/>
                <a:cs typeface="Arial"/>
              </a:rPr>
              <a:t>va</a:t>
            </a:r>
            <a:r>
              <a:rPr sz="2400" spc="-114" dirty="0">
                <a:latin typeface="Arial"/>
                <a:cs typeface="Arial"/>
              </a:rPr>
              <a:t>r</a:t>
            </a:r>
            <a:r>
              <a:rPr sz="2400" spc="-155" dirty="0">
                <a:latin typeface="Arial"/>
                <a:cs typeface="Arial"/>
              </a:rPr>
              <a:t>ia</a:t>
            </a:r>
            <a:r>
              <a:rPr sz="2400" spc="-210" dirty="0">
                <a:latin typeface="Arial"/>
                <a:cs typeface="Arial"/>
              </a:rPr>
              <a:t>b</a:t>
            </a:r>
            <a:r>
              <a:rPr sz="2400" spc="-10" dirty="0">
                <a:latin typeface="Arial"/>
                <a:cs typeface="Arial"/>
              </a:rPr>
              <a:t>l</a:t>
            </a:r>
            <a:r>
              <a:rPr sz="2400" spc="-300" dirty="0">
                <a:latin typeface="Arial"/>
                <a:cs typeface="Arial"/>
              </a:rPr>
              <a:t>e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200" dirty="0">
                <a:latin typeface="Arial"/>
                <a:cs typeface="Arial"/>
              </a:rPr>
              <a:t>using  </a:t>
            </a:r>
            <a:r>
              <a:rPr sz="2400" spc="-190" dirty="0">
                <a:latin typeface="Arial"/>
                <a:cs typeface="Arial"/>
              </a:rPr>
              <a:t>K-map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120" dirty="0">
                <a:latin typeface="Arial"/>
                <a:cs typeface="Arial"/>
              </a:rPr>
              <a:t>simplification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3540" y="2622930"/>
            <a:ext cx="2009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33780" algn="l"/>
                <a:tab pos="1450975" algn="l"/>
              </a:tabLst>
            </a:pPr>
            <a:r>
              <a:rPr sz="2400" spc="-310" dirty="0">
                <a:latin typeface="Arial"/>
                <a:cs typeface="Arial"/>
              </a:rPr>
              <a:t>S</a:t>
            </a:r>
            <a:r>
              <a:rPr sz="2400" spc="-295" dirty="0">
                <a:latin typeface="Arial"/>
                <a:cs typeface="Arial"/>
              </a:rPr>
              <a:t>T</a:t>
            </a:r>
            <a:r>
              <a:rPr sz="2400" spc="-400" dirty="0">
                <a:latin typeface="Arial"/>
                <a:cs typeface="Arial"/>
              </a:rPr>
              <a:t>E</a:t>
            </a:r>
            <a:r>
              <a:rPr sz="2400" spc="-490" dirty="0">
                <a:latin typeface="Arial"/>
                <a:cs typeface="Arial"/>
              </a:rPr>
              <a:t>P</a:t>
            </a:r>
            <a:r>
              <a:rPr sz="2400" spc="-330" dirty="0">
                <a:latin typeface="Arial"/>
                <a:cs typeface="Arial"/>
              </a:rPr>
              <a:t>6</a:t>
            </a:r>
            <a:r>
              <a:rPr sz="2400" spc="-5" dirty="0">
                <a:latin typeface="Arial"/>
                <a:cs typeface="Arial"/>
              </a:rPr>
              <a:t>: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114" dirty="0">
                <a:latin typeface="Arial"/>
                <a:cs typeface="Arial"/>
              </a:rPr>
              <a:t>A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30" dirty="0">
                <a:latin typeface="Arial"/>
                <a:cs typeface="Arial"/>
              </a:rPr>
              <a:t>lo</a:t>
            </a:r>
            <a:r>
              <a:rPr sz="2400" spc="-175" dirty="0">
                <a:latin typeface="Arial"/>
                <a:cs typeface="Arial"/>
              </a:rPr>
              <a:t>g</a:t>
            </a:r>
            <a:r>
              <a:rPr sz="2400" spc="-110" dirty="0">
                <a:latin typeface="Arial"/>
                <a:cs typeface="Arial"/>
              </a:rPr>
              <a:t>ic</a:t>
            </a:r>
            <a:endParaRPr sz="2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564638" y="2622930"/>
            <a:ext cx="61956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48080" algn="l"/>
                <a:tab pos="1510665" algn="l"/>
                <a:tab pos="2594610" algn="l"/>
                <a:tab pos="3362960" algn="l"/>
                <a:tab pos="3932554" algn="l"/>
                <a:tab pos="5248275" algn="l"/>
              </a:tabLst>
            </a:pPr>
            <a:r>
              <a:rPr sz="2400" spc="-190" dirty="0">
                <a:latin typeface="Arial"/>
                <a:cs typeface="Arial"/>
              </a:rPr>
              <a:t>diagram	</a:t>
            </a:r>
            <a:r>
              <a:rPr sz="2400" spc="-225" dirty="0">
                <a:latin typeface="Arial"/>
                <a:cs typeface="Arial"/>
              </a:rPr>
              <a:t>is	</a:t>
            </a:r>
            <a:r>
              <a:rPr sz="2400" spc="-185" dirty="0">
                <a:latin typeface="Arial"/>
                <a:cs typeface="Arial"/>
              </a:rPr>
              <a:t>realized	</a:t>
            </a:r>
            <a:r>
              <a:rPr sz="2400" spc="-80" dirty="0">
                <a:latin typeface="Arial"/>
                <a:cs typeface="Arial"/>
              </a:rPr>
              <a:t>from	</a:t>
            </a:r>
            <a:r>
              <a:rPr sz="2400" spc="-145" dirty="0">
                <a:latin typeface="Arial"/>
                <a:cs typeface="Arial"/>
              </a:rPr>
              <a:t>the	</a:t>
            </a:r>
            <a:r>
              <a:rPr sz="2400" spc="-130" dirty="0">
                <a:latin typeface="Arial"/>
                <a:cs typeface="Arial"/>
              </a:rPr>
              <a:t>simplified	</a:t>
            </a:r>
            <a:r>
              <a:rPr sz="2400" spc="-215" dirty="0">
                <a:latin typeface="Arial"/>
                <a:cs typeface="Arial"/>
              </a:rPr>
              <a:t>Boolean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029200" y="3505200"/>
            <a:ext cx="3505200" cy="22098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" name="object 16"/>
          <p:cNvGrpSpPr/>
          <p:nvPr/>
        </p:nvGrpSpPr>
        <p:grpSpPr>
          <a:xfrm>
            <a:off x="1179575" y="3637775"/>
            <a:ext cx="559435" cy="561340"/>
            <a:chOff x="1179575" y="3637775"/>
            <a:chExt cx="559435" cy="561340"/>
          </a:xfrm>
        </p:grpSpPr>
        <p:sp>
          <p:nvSpPr>
            <p:cNvPr id="17" name="object 17"/>
            <p:cNvSpPr/>
            <p:nvPr/>
          </p:nvSpPr>
          <p:spPr>
            <a:xfrm>
              <a:off x="1179575" y="3637775"/>
              <a:ext cx="559333" cy="560844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35201" y="3673601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199" y="457200"/>
                  </a:moveTo>
                  <a:lnTo>
                    <a:pt x="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1670050" y="4108450"/>
          <a:ext cx="1924050" cy="21831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27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97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72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2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2544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3200" dirty="0">
                          <a:latin typeface="Arial"/>
                          <a:cs typeface="Arial"/>
                        </a:rPr>
                        <a:t>0</a:t>
                      </a:r>
                      <a:endParaRPr sz="32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3200" dirty="0">
                          <a:latin typeface="Arial"/>
                          <a:cs typeface="Arial"/>
                        </a:rPr>
                        <a:t>0</a:t>
                      </a:r>
                      <a:endParaRPr sz="32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544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3200" dirty="0">
                          <a:latin typeface="Arial"/>
                          <a:cs typeface="Arial"/>
                        </a:rPr>
                        <a:t>0</a:t>
                      </a:r>
                      <a:endParaRPr sz="32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3200" dirty="0">
                          <a:latin typeface="Arial"/>
                          <a:cs typeface="Arial"/>
                        </a:rPr>
                        <a:t>1</a:t>
                      </a:r>
                      <a:endParaRPr sz="32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634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C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C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C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C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877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C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2995"/>
                        </a:lnSpc>
                      </a:pPr>
                      <a:r>
                        <a:rPr sz="3200" dirty="0">
                          <a:latin typeface="Arial"/>
                          <a:cs typeface="Arial"/>
                        </a:rPr>
                        <a:t>1</a:t>
                      </a:r>
                      <a:endParaRPr sz="3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C00000"/>
                      </a:solidFill>
                      <a:prstDash val="solid"/>
                    </a:lnT>
                    <a:lnB w="38100">
                      <a:solidFill>
                        <a:srgbClr val="C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0525">
                        <a:lnSpc>
                          <a:spcPts val="2995"/>
                        </a:lnSpc>
                      </a:pPr>
                      <a:r>
                        <a:rPr sz="3200" dirty="0">
                          <a:latin typeface="Arial"/>
                          <a:cs typeface="Arial"/>
                        </a:rPr>
                        <a:t>1</a:t>
                      </a:r>
                      <a:endParaRPr sz="3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C00000"/>
                      </a:solidFill>
                      <a:prstDash val="solid"/>
                    </a:lnT>
                    <a:lnB w="38100">
                      <a:solidFill>
                        <a:srgbClr val="C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C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674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3200" dirty="0">
                          <a:latin typeface="Arial"/>
                          <a:cs typeface="Arial"/>
                        </a:rPr>
                        <a:t>0</a:t>
                      </a:r>
                      <a:endParaRPr sz="32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3200" dirty="0">
                          <a:latin typeface="Arial"/>
                          <a:cs typeface="Arial"/>
                        </a:rPr>
                        <a:t>1</a:t>
                      </a:r>
                      <a:endParaRPr sz="32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object 20"/>
          <p:cNvSpPr txBox="1"/>
          <p:nvPr/>
        </p:nvSpPr>
        <p:spPr>
          <a:xfrm>
            <a:off x="1298194" y="2873426"/>
            <a:ext cx="3201670" cy="868044"/>
          </a:xfrm>
          <a:prstGeom prst="rect">
            <a:avLst/>
          </a:prstGeom>
        </p:spPr>
        <p:txBody>
          <a:bodyPr vert="horz" wrap="square" lIns="0" tIns="127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sz="2400" spc="-210" dirty="0">
                <a:latin typeface="Arial"/>
                <a:cs typeface="Arial"/>
              </a:rPr>
              <a:t>expression </a:t>
            </a:r>
            <a:r>
              <a:rPr sz="2400" spc="-225" dirty="0">
                <a:latin typeface="Arial"/>
                <a:cs typeface="Arial"/>
              </a:rPr>
              <a:t>using </a:t>
            </a:r>
            <a:r>
              <a:rPr sz="2400" spc="-135" dirty="0">
                <a:latin typeface="Arial"/>
                <a:cs typeface="Arial"/>
              </a:rPr>
              <a:t>logic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70" dirty="0">
                <a:latin typeface="Arial"/>
                <a:cs typeface="Arial"/>
              </a:rPr>
              <a:t>gates</a:t>
            </a:r>
            <a:endParaRPr sz="2400">
              <a:latin typeface="Arial"/>
              <a:cs typeface="Arial"/>
            </a:endParaRPr>
          </a:p>
          <a:p>
            <a:pPr marL="165100">
              <a:lnSpc>
                <a:spcPct val="100000"/>
              </a:lnSpc>
              <a:spcBef>
                <a:spcPts val="685"/>
              </a:spcBef>
            </a:pPr>
            <a:r>
              <a:rPr sz="1800" spc="-190" dirty="0">
                <a:latin typeface="Arial"/>
                <a:cs typeface="Arial"/>
              </a:rPr>
              <a:t>C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359153" y="5849823"/>
            <a:ext cx="21462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60" dirty="0">
                <a:latin typeface="Arial"/>
                <a:cs typeface="Arial"/>
              </a:rPr>
              <a:t>10</a:t>
            </a:r>
            <a:endParaRPr sz="1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93444" y="3670172"/>
            <a:ext cx="2178050" cy="1927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2665">
              <a:lnSpc>
                <a:spcPts val="1980"/>
              </a:lnSpc>
              <a:spcBef>
                <a:spcPts val="100"/>
              </a:spcBef>
              <a:tabLst>
                <a:tab pos="2070100" algn="l"/>
              </a:tabLst>
            </a:pPr>
            <a:r>
              <a:rPr sz="1800" spc="-254" dirty="0">
                <a:latin typeface="Arial"/>
                <a:cs typeface="Arial"/>
              </a:rPr>
              <a:t>0	1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1980"/>
              </a:lnSpc>
            </a:pPr>
            <a:r>
              <a:rPr sz="1800" spc="-90" dirty="0">
                <a:latin typeface="Arial"/>
                <a:cs typeface="Arial"/>
              </a:rPr>
              <a:t>AB</a:t>
            </a:r>
            <a:endParaRPr sz="1800">
              <a:latin typeface="Arial"/>
              <a:cs typeface="Arial"/>
            </a:endParaRPr>
          </a:p>
          <a:p>
            <a:pPr marL="377825">
              <a:lnSpc>
                <a:spcPct val="100000"/>
              </a:lnSpc>
              <a:spcBef>
                <a:spcPts val="215"/>
              </a:spcBef>
            </a:pPr>
            <a:r>
              <a:rPr sz="1800" spc="-260" dirty="0">
                <a:latin typeface="Arial"/>
                <a:cs typeface="Arial"/>
              </a:rPr>
              <a:t>00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50">
              <a:latin typeface="Arial"/>
              <a:cs typeface="Arial"/>
            </a:endParaRPr>
          </a:p>
          <a:p>
            <a:pPr marL="377825">
              <a:lnSpc>
                <a:spcPct val="100000"/>
              </a:lnSpc>
            </a:pPr>
            <a:r>
              <a:rPr sz="1800" spc="-260" dirty="0">
                <a:latin typeface="Arial"/>
                <a:cs typeface="Arial"/>
              </a:rPr>
              <a:t>01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850">
              <a:latin typeface="Arial"/>
              <a:cs typeface="Arial"/>
            </a:endParaRPr>
          </a:p>
          <a:p>
            <a:pPr marL="377825">
              <a:lnSpc>
                <a:spcPct val="100000"/>
              </a:lnSpc>
              <a:spcBef>
                <a:spcPts val="5"/>
              </a:spcBef>
            </a:pPr>
            <a:r>
              <a:rPr sz="1800" spc="-260" dirty="0">
                <a:latin typeface="Arial"/>
                <a:cs typeface="Arial"/>
              </a:rPr>
              <a:t>11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914142" y="4759705"/>
            <a:ext cx="452120" cy="1532890"/>
            <a:chOff x="2914142" y="4759705"/>
            <a:chExt cx="452120" cy="1532890"/>
          </a:xfrm>
        </p:grpSpPr>
        <p:sp>
          <p:nvSpPr>
            <p:cNvPr id="24" name="object 24"/>
            <p:cNvSpPr/>
            <p:nvPr/>
          </p:nvSpPr>
          <p:spPr>
            <a:xfrm>
              <a:off x="2926842" y="4772405"/>
              <a:ext cx="381000" cy="975360"/>
            </a:xfrm>
            <a:custGeom>
              <a:avLst/>
              <a:gdLst/>
              <a:ahLst/>
              <a:cxnLst/>
              <a:rect l="l" t="t" r="r" b="b"/>
              <a:pathLst>
                <a:path w="381000" h="975360">
                  <a:moveTo>
                    <a:pt x="0" y="63500"/>
                  </a:moveTo>
                  <a:lnTo>
                    <a:pt x="4992" y="38790"/>
                  </a:lnTo>
                  <a:lnTo>
                    <a:pt x="18605" y="18605"/>
                  </a:lnTo>
                  <a:lnTo>
                    <a:pt x="38790" y="4992"/>
                  </a:lnTo>
                  <a:lnTo>
                    <a:pt x="63500" y="0"/>
                  </a:lnTo>
                  <a:lnTo>
                    <a:pt x="317500" y="0"/>
                  </a:lnTo>
                  <a:lnTo>
                    <a:pt x="342209" y="4992"/>
                  </a:lnTo>
                  <a:lnTo>
                    <a:pt x="362394" y="18605"/>
                  </a:lnTo>
                  <a:lnTo>
                    <a:pt x="376007" y="38790"/>
                  </a:lnTo>
                  <a:lnTo>
                    <a:pt x="380999" y="63500"/>
                  </a:lnTo>
                  <a:lnTo>
                    <a:pt x="380999" y="911860"/>
                  </a:lnTo>
                  <a:lnTo>
                    <a:pt x="376007" y="936574"/>
                  </a:lnTo>
                  <a:lnTo>
                    <a:pt x="362394" y="956759"/>
                  </a:lnTo>
                  <a:lnTo>
                    <a:pt x="342209" y="970369"/>
                  </a:lnTo>
                  <a:lnTo>
                    <a:pt x="317500" y="975360"/>
                  </a:lnTo>
                  <a:lnTo>
                    <a:pt x="63500" y="975360"/>
                  </a:lnTo>
                  <a:lnTo>
                    <a:pt x="38790" y="970369"/>
                  </a:lnTo>
                  <a:lnTo>
                    <a:pt x="18605" y="956759"/>
                  </a:lnTo>
                  <a:lnTo>
                    <a:pt x="4992" y="936574"/>
                  </a:lnTo>
                  <a:lnTo>
                    <a:pt x="0" y="911860"/>
                  </a:lnTo>
                  <a:lnTo>
                    <a:pt x="0" y="63500"/>
                  </a:lnTo>
                  <a:close/>
                </a:path>
              </a:pathLst>
            </a:custGeom>
            <a:ln w="25400">
              <a:solidFill>
                <a:srgbClr val="008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972562" y="5304281"/>
              <a:ext cx="381000" cy="975360"/>
            </a:xfrm>
            <a:custGeom>
              <a:avLst/>
              <a:gdLst/>
              <a:ahLst/>
              <a:cxnLst/>
              <a:rect l="l" t="t" r="r" b="b"/>
              <a:pathLst>
                <a:path w="381000" h="975360">
                  <a:moveTo>
                    <a:pt x="0" y="63500"/>
                  </a:moveTo>
                  <a:lnTo>
                    <a:pt x="4992" y="38790"/>
                  </a:lnTo>
                  <a:lnTo>
                    <a:pt x="18605" y="18605"/>
                  </a:lnTo>
                  <a:lnTo>
                    <a:pt x="38790" y="4992"/>
                  </a:lnTo>
                  <a:lnTo>
                    <a:pt x="63500" y="0"/>
                  </a:lnTo>
                  <a:lnTo>
                    <a:pt x="317500" y="0"/>
                  </a:lnTo>
                  <a:lnTo>
                    <a:pt x="342209" y="4992"/>
                  </a:lnTo>
                  <a:lnTo>
                    <a:pt x="362394" y="18605"/>
                  </a:lnTo>
                  <a:lnTo>
                    <a:pt x="376007" y="38790"/>
                  </a:lnTo>
                  <a:lnTo>
                    <a:pt x="381000" y="63500"/>
                  </a:lnTo>
                  <a:lnTo>
                    <a:pt x="381000" y="911860"/>
                  </a:lnTo>
                  <a:lnTo>
                    <a:pt x="376007" y="936574"/>
                  </a:lnTo>
                  <a:lnTo>
                    <a:pt x="362394" y="956759"/>
                  </a:lnTo>
                  <a:lnTo>
                    <a:pt x="342209" y="970369"/>
                  </a:lnTo>
                  <a:lnTo>
                    <a:pt x="317500" y="975360"/>
                  </a:lnTo>
                  <a:lnTo>
                    <a:pt x="63500" y="975360"/>
                  </a:lnTo>
                  <a:lnTo>
                    <a:pt x="38790" y="970369"/>
                  </a:lnTo>
                  <a:lnTo>
                    <a:pt x="18605" y="956759"/>
                  </a:lnTo>
                  <a:lnTo>
                    <a:pt x="4992" y="936574"/>
                  </a:lnTo>
                  <a:lnTo>
                    <a:pt x="0" y="911860"/>
                  </a:lnTo>
                  <a:lnTo>
                    <a:pt x="0" y="6350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5489828" y="5863538"/>
            <a:ext cx="29254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40" dirty="0">
                <a:solidFill>
                  <a:srgbClr val="006FC0"/>
                </a:solidFill>
                <a:latin typeface="Arial"/>
                <a:cs typeface="Arial"/>
              </a:rPr>
              <a:t>Y </a:t>
            </a:r>
            <a:r>
              <a:rPr sz="2800" spc="70" dirty="0">
                <a:solidFill>
                  <a:srgbClr val="006FC0"/>
                </a:solidFill>
                <a:latin typeface="Arial"/>
                <a:cs typeface="Arial"/>
              </a:rPr>
              <a:t>=</a:t>
            </a:r>
            <a:r>
              <a:rPr sz="2800" spc="-35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180" dirty="0">
                <a:solidFill>
                  <a:srgbClr val="006FC0"/>
                </a:solidFill>
                <a:latin typeface="Arial"/>
                <a:cs typeface="Arial"/>
              </a:rPr>
              <a:t>(AB)+(AC)+(BC)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sp>
          <p:nvSpPr>
            <p:cNvPr id="28" name="object 28"/>
            <p:cNvSpPr/>
            <p:nvPr/>
          </p:nvSpPr>
          <p:spPr>
            <a:xfrm>
              <a:off x="8593835" y="6620255"/>
              <a:ext cx="550164" cy="237743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674607" y="6556243"/>
              <a:ext cx="469392" cy="301755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33" name="object 3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8787638" y="6649770"/>
            <a:ext cx="25654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rlito"/>
                <a:cs typeface="Carlito"/>
              </a:rPr>
              <a:t>27</a:t>
            </a:r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2189988" y="155460"/>
              <a:ext cx="4759452" cy="104087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494533" y="289382"/>
            <a:ext cx="41529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5" dirty="0"/>
              <a:t>DESIGN</a:t>
            </a:r>
            <a:r>
              <a:rPr sz="3600" spc="-100" dirty="0"/>
              <a:t> </a:t>
            </a:r>
            <a:r>
              <a:rPr sz="3600" spc="-60" dirty="0"/>
              <a:t>PROCEDURE</a:t>
            </a:r>
            <a:endParaRPr sz="3600"/>
          </a:p>
        </p:txBody>
      </p:sp>
      <p:sp>
        <p:nvSpPr>
          <p:cNvPr id="7" name="object 7"/>
          <p:cNvSpPr txBox="1"/>
          <p:nvPr/>
        </p:nvSpPr>
        <p:spPr>
          <a:xfrm>
            <a:off x="383540" y="1220470"/>
            <a:ext cx="8377555" cy="5079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855"/>
              </a:lnSpc>
              <a:spcBef>
                <a:spcPts val="100"/>
              </a:spcBef>
            </a:pPr>
            <a:r>
              <a:rPr sz="2400" spc="-325" dirty="0">
                <a:solidFill>
                  <a:srgbClr val="C00000"/>
                </a:solidFill>
                <a:latin typeface="Arial"/>
                <a:cs typeface="Arial"/>
              </a:rPr>
              <a:t>EXERCISES</a:t>
            </a:r>
            <a:endParaRPr sz="2400">
              <a:latin typeface="Arial"/>
              <a:cs typeface="Arial"/>
            </a:endParaRPr>
          </a:p>
          <a:p>
            <a:pPr marL="476884" indent="-464820" algn="just">
              <a:lnSpc>
                <a:spcPts val="3335"/>
              </a:lnSpc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-280" dirty="0">
                <a:solidFill>
                  <a:srgbClr val="006FC0"/>
                </a:solidFill>
                <a:latin typeface="Arial"/>
                <a:cs typeface="Arial"/>
              </a:rPr>
              <a:t>Design   </a:t>
            </a:r>
            <a:r>
              <a:rPr sz="2800" spc="-395" dirty="0">
                <a:solidFill>
                  <a:srgbClr val="006FC0"/>
                </a:solidFill>
                <a:latin typeface="Arial"/>
                <a:cs typeface="Arial"/>
              </a:rPr>
              <a:t>a    </a:t>
            </a:r>
            <a:r>
              <a:rPr sz="2800" spc="-95" dirty="0">
                <a:solidFill>
                  <a:srgbClr val="006FC0"/>
                </a:solidFill>
                <a:latin typeface="Arial"/>
                <a:cs typeface="Arial"/>
              </a:rPr>
              <a:t>circuit  </a:t>
            </a:r>
            <a:r>
              <a:rPr sz="2800" spc="-110" dirty="0">
                <a:solidFill>
                  <a:srgbClr val="006FC0"/>
                </a:solidFill>
                <a:latin typeface="Arial"/>
                <a:cs typeface="Arial"/>
              </a:rPr>
              <a:t>with  </a:t>
            </a:r>
            <a:r>
              <a:rPr sz="2800" spc="-400" dirty="0">
                <a:solidFill>
                  <a:srgbClr val="006FC0"/>
                </a:solidFill>
                <a:latin typeface="Arial"/>
                <a:cs typeface="Arial"/>
              </a:rPr>
              <a:t>4   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inputs  </a:t>
            </a:r>
            <a:r>
              <a:rPr sz="2800" spc="-125" dirty="0">
                <a:solidFill>
                  <a:srgbClr val="006FC0"/>
                </a:solidFill>
                <a:latin typeface="Arial"/>
                <a:cs typeface="Arial"/>
              </a:rPr>
              <a:t>that  </a:t>
            </a:r>
            <a:r>
              <a:rPr sz="2800" spc="-375" dirty="0">
                <a:solidFill>
                  <a:srgbClr val="006FC0"/>
                </a:solidFill>
                <a:latin typeface="Arial"/>
                <a:cs typeface="Arial"/>
              </a:rPr>
              <a:t>has   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outputs  </a:t>
            </a:r>
            <a:r>
              <a:rPr sz="2800" spc="-110" dirty="0">
                <a:solidFill>
                  <a:srgbClr val="006FC0"/>
                </a:solidFill>
                <a:latin typeface="Arial"/>
                <a:cs typeface="Arial"/>
              </a:rPr>
              <a:t>with</a:t>
            </a:r>
            <a:r>
              <a:rPr sz="2800" spc="27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395" dirty="0">
                <a:solidFill>
                  <a:srgbClr val="006FC0"/>
                </a:solidFill>
                <a:latin typeface="Arial"/>
                <a:cs typeface="Arial"/>
              </a:rPr>
              <a:t>a</a:t>
            </a:r>
            <a:endParaRPr sz="2800">
              <a:latin typeface="Arial"/>
              <a:cs typeface="Arial"/>
            </a:endParaRPr>
          </a:p>
          <a:p>
            <a:pPr marL="476884" marR="5715">
              <a:lnSpc>
                <a:spcPct val="100000"/>
              </a:lnSpc>
              <a:tabLst>
                <a:tab pos="1525905" algn="l"/>
                <a:tab pos="2429510" algn="l"/>
                <a:tab pos="3352165" algn="l"/>
                <a:tab pos="3835400" algn="l"/>
                <a:tab pos="4465955" algn="l"/>
                <a:tab pos="5718810" algn="l"/>
                <a:tab pos="6196330" algn="l"/>
                <a:tab pos="7212965" algn="l"/>
                <a:tab pos="7943215" algn="l"/>
              </a:tabLst>
            </a:pP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b</a:t>
            </a:r>
            <a:r>
              <a:rPr sz="2800" spc="-55" dirty="0">
                <a:solidFill>
                  <a:srgbClr val="006FC0"/>
                </a:solidFill>
                <a:latin typeface="Arial"/>
                <a:cs typeface="Arial"/>
              </a:rPr>
              <a:t>i</a:t>
            </a:r>
            <a:r>
              <a:rPr sz="2800" spc="-305" dirty="0">
                <a:solidFill>
                  <a:srgbClr val="006FC0"/>
                </a:solidFill>
                <a:latin typeface="Arial"/>
                <a:cs typeface="Arial"/>
              </a:rPr>
              <a:t>n</a:t>
            </a:r>
            <a:r>
              <a:rPr sz="2800" spc="-300" dirty="0">
                <a:solidFill>
                  <a:srgbClr val="006FC0"/>
                </a:solidFill>
                <a:latin typeface="Arial"/>
                <a:cs typeface="Arial"/>
              </a:rPr>
              <a:t>a</a:t>
            </a:r>
            <a:r>
              <a:rPr sz="2800" spc="-65" dirty="0">
                <a:solidFill>
                  <a:srgbClr val="006FC0"/>
                </a:solidFill>
                <a:latin typeface="Arial"/>
                <a:cs typeface="Arial"/>
              </a:rPr>
              <a:t>r</a:t>
            </a:r>
            <a:r>
              <a:rPr sz="2800" spc="-85" dirty="0">
                <a:solidFill>
                  <a:srgbClr val="006FC0"/>
                </a:solidFill>
                <a:latin typeface="Arial"/>
                <a:cs typeface="Arial"/>
              </a:rPr>
              <a:t>y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valu</a:t>
            </a:r>
            <a:r>
              <a:rPr sz="2800" spc="-270" dirty="0">
                <a:solidFill>
                  <a:srgbClr val="006FC0"/>
                </a:solidFill>
                <a:latin typeface="Arial"/>
                <a:cs typeface="Arial"/>
              </a:rPr>
              <a:t>e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275" dirty="0">
                <a:solidFill>
                  <a:srgbClr val="006FC0"/>
                </a:solidFill>
                <a:latin typeface="Arial"/>
                <a:cs typeface="Arial"/>
              </a:rPr>
              <a:t>equa</a:t>
            </a:r>
            <a:r>
              <a:rPr sz="2800" spc="-110" dirty="0">
                <a:solidFill>
                  <a:srgbClr val="006FC0"/>
                </a:solidFill>
                <a:latin typeface="Arial"/>
                <a:cs typeface="Arial"/>
              </a:rPr>
              <a:t>l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50" dirty="0">
                <a:solidFill>
                  <a:srgbClr val="006FC0"/>
                </a:solidFill>
                <a:latin typeface="Arial"/>
                <a:cs typeface="Arial"/>
              </a:rPr>
              <a:t>t</a:t>
            </a:r>
            <a:r>
              <a:rPr sz="2800" spc="-65" dirty="0">
                <a:solidFill>
                  <a:srgbClr val="006FC0"/>
                </a:solidFill>
                <a:latin typeface="Arial"/>
                <a:cs typeface="Arial"/>
              </a:rPr>
              <a:t>o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155" dirty="0">
                <a:solidFill>
                  <a:srgbClr val="006FC0"/>
                </a:solidFill>
                <a:latin typeface="Arial"/>
                <a:cs typeface="Arial"/>
              </a:rPr>
              <a:t>th</a:t>
            </a:r>
            <a:r>
              <a:rPr sz="2800" spc="-200" dirty="0">
                <a:solidFill>
                  <a:srgbClr val="006FC0"/>
                </a:solidFill>
                <a:latin typeface="Arial"/>
                <a:cs typeface="Arial"/>
              </a:rPr>
              <a:t>e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215" dirty="0">
                <a:solidFill>
                  <a:srgbClr val="006FC0"/>
                </a:solidFill>
                <a:latin typeface="Arial"/>
                <a:cs typeface="Arial"/>
              </a:rPr>
              <a:t>n</a:t>
            </a: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u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m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b</a:t>
            </a:r>
            <a:r>
              <a:rPr sz="2800" spc="-225" dirty="0">
                <a:solidFill>
                  <a:srgbClr val="006FC0"/>
                </a:solidFill>
                <a:latin typeface="Arial"/>
                <a:cs typeface="Arial"/>
              </a:rPr>
              <a:t>e</a:t>
            </a:r>
            <a:r>
              <a:rPr sz="2800" spc="-130" dirty="0">
                <a:solidFill>
                  <a:srgbClr val="006FC0"/>
                </a:solidFill>
                <a:latin typeface="Arial"/>
                <a:cs typeface="Arial"/>
              </a:rPr>
              <a:t>r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95" dirty="0">
                <a:solidFill>
                  <a:srgbClr val="006FC0"/>
                </a:solidFill>
                <a:latin typeface="Arial"/>
                <a:cs typeface="Arial"/>
              </a:rPr>
              <a:t>o</a:t>
            </a:r>
            <a:r>
              <a:rPr sz="2800" spc="-50" dirty="0">
                <a:solidFill>
                  <a:srgbClr val="006FC0"/>
                </a:solidFill>
                <a:latin typeface="Arial"/>
                <a:cs typeface="Arial"/>
              </a:rPr>
              <a:t>f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inputs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45" dirty="0">
                <a:solidFill>
                  <a:srgbClr val="006FC0"/>
                </a:solidFill>
                <a:latin typeface="Arial"/>
                <a:cs typeface="Arial"/>
              </a:rPr>
              <a:t>t</a:t>
            </a:r>
            <a:r>
              <a:rPr sz="2800" spc="-220" dirty="0">
                <a:solidFill>
                  <a:srgbClr val="006FC0"/>
                </a:solidFill>
                <a:latin typeface="Arial"/>
                <a:cs typeface="Arial"/>
              </a:rPr>
              <a:t>ha</a:t>
            </a:r>
            <a:r>
              <a:rPr sz="2800" spc="-110" dirty="0">
                <a:solidFill>
                  <a:srgbClr val="006FC0"/>
                </a:solidFill>
                <a:latin typeface="Arial"/>
                <a:cs typeface="Arial"/>
              </a:rPr>
              <a:t>t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204" dirty="0">
                <a:solidFill>
                  <a:srgbClr val="006FC0"/>
                </a:solidFill>
                <a:latin typeface="Arial"/>
                <a:cs typeface="Arial"/>
              </a:rPr>
              <a:t>are  </a:t>
            </a:r>
            <a:r>
              <a:rPr sz="2800" spc="-125" dirty="0">
                <a:solidFill>
                  <a:srgbClr val="006FC0"/>
                </a:solidFill>
                <a:latin typeface="Arial"/>
                <a:cs typeface="Arial"/>
              </a:rPr>
              <a:t>HIGH.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00">
              <a:latin typeface="Arial"/>
              <a:cs typeface="Arial"/>
            </a:endParaRPr>
          </a:p>
          <a:p>
            <a:pPr marL="476884" marR="5080" indent="-464820" algn="just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135" dirty="0">
                <a:solidFill>
                  <a:srgbClr val="006FC0"/>
                </a:solidFill>
                <a:latin typeface="Arial"/>
                <a:cs typeface="Arial"/>
              </a:rPr>
              <a:t>A </a:t>
            </a:r>
            <a:r>
              <a:rPr sz="2800" spc="-155" dirty="0">
                <a:solidFill>
                  <a:srgbClr val="006FC0"/>
                </a:solidFill>
                <a:latin typeface="Arial"/>
                <a:cs typeface="Arial"/>
              </a:rPr>
              <a:t>logic </a:t>
            </a:r>
            <a:r>
              <a:rPr sz="2800" spc="-95" dirty="0">
                <a:solidFill>
                  <a:srgbClr val="006FC0"/>
                </a:solidFill>
                <a:latin typeface="Arial"/>
                <a:cs typeface="Arial"/>
              </a:rPr>
              <a:t>circuit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accepts </a:t>
            </a:r>
            <a:r>
              <a:rPr sz="2800" spc="-120" dirty="0">
                <a:solidFill>
                  <a:srgbClr val="006FC0"/>
                </a:solidFill>
                <a:latin typeface="Arial"/>
                <a:cs typeface="Arial"/>
              </a:rPr>
              <a:t>two </a:t>
            </a:r>
            <a:r>
              <a:rPr sz="2800" spc="-145" dirty="0">
                <a:solidFill>
                  <a:srgbClr val="006FC0"/>
                </a:solidFill>
                <a:latin typeface="Arial"/>
                <a:cs typeface="Arial"/>
              </a:rPr>
              <a:t>3-bit 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numbers </a:t>
            </a:r>
            <a:r>
              <a:rPr sz="2800" spc="-260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spc="-280" dirty="0">
                <a:solidFill>
                  <a:srgbClr val="006FC0"/>
                </a:solidFill>
                <a:latin typeface="Arial"/>
                <a:cs typeface="Arial"/>
              </a:rPr>
              <a:t>generates </a:t>
            </a:r>
            <a:r>
              <a:rPr sz="2800" spc="-395" dirty="0">
                <a:solidFill>
                  <a:srgbClr val="006FC0"/>
                </a:solidFill>
                <a:latin typeface="Arial"/>
                <a:cs typeface="Arial"/>
              </a:rPr>
              <a:t>a  </a:t>
            </a:r>
            <a:r>
              <a:rPr sz="2800" spc="-155" dirty="0">
                <a:solidFill>
                  <a:srgbClr val="006FC0"/>
                </a:solidFill>
                <a:latin typeface="Arial"/>
                <a:cs typeface="Arial"/>
              </a:rPr>
              <a:t>logic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output </a:t>
            </a:r>
            <a:r>
              <a:rPr sz="2800" spc="-135" dirty="0">
                <a:solidFill>
                  <a:srgbClr val="006FC0"/>
                </a:solidFill>
                <a:latin typeface="Arial"/>
                <a:cs typeface="Arial"/>
              </a:rPr>
              <a:t>only </a:t>
            </a:r>
            <a:r>
              <a:rPr sz="2800" spc="-260" dirty="0">
                <a:solidFill>
                  <a:srgbClr val="006FC0"/>
                </a:solidFill>
                <a:latin typeface="Arial"/>
                <a:cs typeface="Arial"/>
              </a:rPr>
              <a:t>when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20" dirty="0">
                <a:solidFill>
                  <a:srgbClr val="006FC0"/>
                </a:solidFill>
                <a:latin typeface="Arial"/>
                <a:cs typeface="Arial"/>
              </a:rPr>
              <a:t>two </a:t>
            </a:r>
            <a:r>
              <a:rPr sz="2800" spc="-145" dirty="0">
                <a:solidFill>
                  <a:srgbClr val="006FC0"/>
                </a:solidFill>
                <a:latin typeface="Arial"/>
                <a:cs typeface="Arial"/>
              </a:rPr>
              <a:t>3-bit 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numbers </a:t>
            </a:r>
            <a:r>
              <a:rPr sz="2800" spc="-180" dirty="0">
                <a:solidFill>
                  <a:srgbClr val="006FC0"/>
                </a:solidFill>
                <a:latin typeface="Arial"/>
                <a:cs typeface="Arial"/>
              </a:rPr>
              <a:t>applied </a:t>
            </a:r>
            <a:r>
              <a:rPr sz="2800" spc="-50" dirty="0">
                <a:solidFill>
                  <a:srgbClr val="006FC0"/>
                </a:solidFill>
                <a:latin typeface="Arial"/>
                <a:cs typeface="Arial"/>
              </a:rPr>
              <a:t>to 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95" dirty="0">
                <a:solidFill>
                  <a:srgbClr val="006FC0"/>
                </a:solidFill>
                <a:latin typeface="Arial"/>
                <a:cs typeface="Arial"/>
              </a:rPr>
              <a:t>circuit 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are </a:t>
            </a:r>
            <a:r>
              <a:rPr sz="2800" spc="-225" dirty="0">
                <a:solidFill>
                  <a:srgbClr val="006FC0"/>
                </a:solidFill>
                <a:latin typeface="Arial"/>
                <a:cs typeface="Arial"/>
              </a:rPr>
              <a:t>equal. </a:t>
            </a:r>
            <a:r>
              <a:rPr sz="2800" spc="-285" dirty="0">
                <a:solidFill>
                  <a:srgbClr val="006FC0"/>
                </a:solidFill>
                <a:latin typeface="Arial"/>
                <a:cs typeface="Arial"/>
              </a:rPr>
              <a:t>Design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60" dirty="0">
                <a:solidFill>
                  <a:srgbClr val="006FC0"/>
                </a:solidFill>
                <a:latin typeface="Arial"/>
                <a:cs typeface="Arial"/>
              </a:rPr>
              <a:t>logic</a:t>
            </a:r>
            <a:r>
              <a:rPr sz="2800" spc="-409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circuit.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E36C09"/>
              </a:buClr>
              <a:buFont typeface="Wingdings"/>
              <a:buChar char=""/>
            </a:pPr>
            <a:endParaRPr sz="2900">
              <a:latin typeface="Arial"/>
              <a:cs typeface="Arial"/>
            </a:endParaRPr>
          </a:p>
          <a:p>
            <a:pPr marL="476884" marR="5715" indent="-464820" algn="just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-280" dirty="0">
                <a:solidFill>
                  <a:srgbClr val="006FC0"/>
                </a:solidFill>
                <a:latin typeface="Arial"/>
                <a:cs typeface="Arial"/>
              </a:rPr>
              <a:t>Design </a:t>
            </a:r>
            <a:r>
              <a:rPr sz="2800" spc="-395" dirty="0">
                <a:solidFill>
                  <a:srgbClr val="006FC0"/>
                </a:solidFill>
                <a:latin typeface="Arial"/>
                <a:cs typeface="Arial"/>
              </a:rPr>
              <a:t>a </a:t>
            </a:r>
            <a:r>
              <a:rPr sz="2800" spc="-155" dirty="0">
                <a:solidFill>
                  <a:srgbClr val="006FC0"/>
                </a:solidFill>
                <a:latin typeface="Arial"/>
                <a:cs typeface="Arial"/>
              </a:rPr>
              <a:t>logic </a:t>
            </a:r>
            <a:r>
              <a:rPr sz="2800" spc="-95" dirty="0">
                <a:solidFill>
                  <a:srgbClr val="006FC0"/>
                </a:solidFill>
                <a:latin typeface="Arial"/>
                <a:cs typeface="Arial"/>
              </a:rPr>
              <a:t>circuit </a:t>
            </a:r>
            <a:r>
              <a:rPr sz="2800" spc="-125" dirty="0">
                <a:solidFill>
                  <a:srgbClr val="006FC0"/>
                </a:solidFill>
                <a:latin typeface="Arial"/>
                <a:cs typeface="Arial"/>
              </a:rPr>
              <a:t>that 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will </a:t>
            </a:r>
            <a:r>
              <a:rPr sz="2800" spc="-180" dirty="0">
                <a:solidFill>
                  <a:srgbClr val="006FC0"/>
                </a:solidFill>
                <a:latin typeface="Arial"/>
                <a:cs typeface="Arial"/>
              </a:rPr>
              <a:t>produce </a:t>
            </a:r>
            <a:r>
              <a:rPr sz="2800" spc="-395" dirty="0">
                <a:solidFill>
                  <a:srgbClr val="006FC0"/>
                </a:solidFill>
                <a:latin typeface="Arial"/>
                <a:cs typeface="Arial"/>
              </a:rPr>
              <a:t>a </a:t>
            </a:r>
            <a:r>
              <a:rPr sz="2800" spc="-400" dirty="0">
                <a:solidFill>
                  <a:srgbClr val="006FC0"/>
                </a:solidFill>
                <a:latin typeface="Arial"/>
                <a:cs typeface="Arial"/>
              </a:rPr>
              <a:t>1 </a:t>
            </a:r>
            <a:r>
              <a:rPr sz="2800" spc="-130" dirty="0">
                <a:solidFill>
                  <a:srgbClr val="006FC0"/>
                </a:solidFill>
                <a:latin typeface="Arial"/>
                <a:cs typeface="Arial"/>
              </a:rPr>
              <a:t>only </a:t>
            </a:r>
            <a:r>
              <a:rPr sz="2800" spc="-260" dirty="0">
                <a:solidFill>
                  <a:srgbClr val="006FC0"/>
                </a:solidFill>
                <a:latin typeface="Arial"/>
                <a:cs typeface="Arial"/>
              </a:rPr>
              <a:t>when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 </a:t>
            </a:r>
            <a:r>
              <a:rPr sz="2800" spc="-200" dirty="0">
                <a:solidFill>
                  <a:srgbClr val="006FC0"/>
                </a:solidFill>
                <a:latin typeface="Arial"/>
                <a:cs typeface="Arial"/>
              </a:rPr>
              <a:t>number 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1’s </a:t>
            </a:r>
            <a:r>
              <a:rPr sz="2800" spc="-114" dirty="0">
                <a:solidFill>
                  <a:srgbClr val="006FC0"/>
                </a:solidFill>
                <a:latin typeface="Arial"/>
                <a:cs typeface="Arial"/>
              </a:rPr>
              <a:t>in </a:t>
            </a:r>
            <a:r>
              <a:rPr sz="2800" spc="-395" dirty="0">
                <a:solidFill>
                  <a:srgbClr val="006FC0"/>
                </a:solidFill>
                <a:latin typeface="Arial"/>
                <a:cs typeface="Arial"/>
              </a:rPr>
              <a:t>a </a:t>
            </a:r>
            <a:r>
              <a:rPr sz="2800" spc="-270" dirty="0">
                <a:solidFill>
                  <a:srgbClr val="006FC0"/>
                </a:solidFill>
                <a:latin typeface="Arial"/>
                <a:cs typeface="Arial"/>
              </a:rPr>
              <a:t>set 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95" dirty="0">
                <a:solidFill>
                  <a:srgbClr val="006FC0"/>
                </a:solidFill>
                <a:latin typeface="Arial"/>
                <a:cs typeface="Arial"/>
              </a:rPr>
              <a:t>four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inputs </a:t>
            </a: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variables, </a:t>
            </a:r>
            <a:r>
              <a:rPr sz="2800" spc="-15" dirty="0">
                <a:solidFill>
                  <a:srgbClr val="006FC0"/>
                </a:solidFill>
                <a:latin typeface="Arial"/>
                <a:cs typeface="Arial"/>
              </a:rPr>
              <a:t>A, </a:t>
            </a:r>
            <a:r>
              <a:rPr sz="2800" spc="-295" dirty="0">
                <a:solidFill>
                  <a:srgbClr val="006FC0"/>
                </a:solidFill>
                <a:latin typeface="Arial"/>
                <a:cs typeface="Arial"/>
              </a:rPr>
              <a:t>B, 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and  </a:t>
            </a: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C, 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D 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are </a:t>
            </a:r>
            <a:r>
              <a:rPr sz="2800" spc="-275" dirty="0">
                <a:solidFill>
                  <a:srgbClr val="006FC0"/>
                </a:solidFill>
                <a:latin typeface="Arial"/>
                <a:cs typeface="Arial"/>
              </a:rPr>
              <a:t>even </a:t>
            </a:r>
            <a:r>
              <a:rPr sz="2800" spc="-185" dirty="0">
                <a:solidFill>
                  <a:srgbClr val="006FC0"/>
                </a:solidFill>
                <a:latin typeface="Arial"/>
                <a:cs typeface="Arial"/>
              </a:rPr>
              <a:t>(i.e. </a:t>
            </a:r>
            <a:r>
              <a:rPr sz="2800" spc="-305" dirty="0">
                <a:solidFill>
                  <a:srgbClr val="006FC0"/>
                </a:solidFill>
                <a:latin typeface="Arial"/>
                <a:cs typeface="Arial"/>
              </a:rPr>
              <a:t>an </a:t>
            </a:r>
            <a:r>
              <a:rPr sz="2800" spc="-275" dirty="0">
                <a:solidFill>
                  <a:srgbClr val="006FC0"/>
                </a:solidFill>
                <a:latin typeface="Arial"/>
                <a:cs typeface="Arial"/>
              </a:rPr>
              <a:t>even </a:t>
            </a:r>
            <a:r>
              <a:rPr sz="2800" spc="-110" dirty="0">
                <a:solidFill>
                  <a:srgbClr val="006FC0"/>
                </a:solidFill>
                <a:latin typeface="Arial"/>
                <a:cs typeface="Arial"/>
              </a:rPr>
              <a:t>parity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220" dirty="0">
                <a:solidFill>
                  <a:srgbClr val="006FC0"/>
                </a:solidFill>
                <a:latin typeface="Arial"/>
                <a:cs typeface="Arial"/>
              </a:rPr>
              <a:t>checker).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sp>
          <p:nvSpPr>
            <p:cNvPr id="9" name="object 9"/>
            <p:cNvSpPr/>
            <p:nvPr/>
          </p:nvSpPr>
          <p:spPr>
            <a:xfrm>
              <a:off x="8593835" y="6620255"/>
              <a:ext cx="550164" cy="23774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674607" y="6556243"/>
              <a:ext cx="469392" cy="3017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787638" y="6649770"/>
            <a:ext cx="256540" cy="234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75"/>
              </a:lnSpc>
            </a:pPr>
            <a:r>
              <a:rPr sz="1400" b="1" dirty="0">
                <a:solidFill>
                  <a:srgbClr val="FFFFFF"/>
                </a:solidFill>
                <a:latin typeface="Carlito"/>
                <a:cs typeface="Carlito"/>
              </a:rPr>
              <a:t>31</a:t>
            </a:r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9080" cy="6841490"/>
            <a:chOff x="0" y="16764"/>
            <a:chExt cx="9149080" cy="6841490"/>
          </a:xfrm>
        </p:grpSpPr>
        <p:sp>
          <p:nvSpPr>
            <p:cNvPr id="3" name="object 3"/>
            <p:cNvSpPr/>
            <p:nvPr/>
          </p:nvSpPr>
          <p:spPr>
            <a:xfrm>
              <a:off x="1493519" y="1455419"/>
              <a:ext cx="6983730" cy="409270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593835" y="6620254"/>
              <a:ext cx="550164" cy="23774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674607" y="6556243"/>
              <a:ext cx="469392" cy="30175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641080" y="6644640"/>
              <a:ext cx="502920" cy="18288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787638" y="6649770"/>
            <a:ext cx="256540" cy="234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75"/>
              </a:lnSpc>
            </a:pPr>
            <a:r>
              <a:rPr sz="1400" b="1" dirty="0">
                <a:solidFill>
                  <a:srgbClr val="FFFFFF"/>
                </a:solidFill>
                <a:latin typeface="Carlito"/>
                <a:cs typeface="Carlito"/>
              </a:rPr>
              <a:t>32</a:t>
            </a:r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2756916" y="155460"/>
              <a:ext cx="3625596" cy="104087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061842" y="289382"/>
            <a:ext cx="302069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5" dirty="0"/>
              <a:t>BINARY</a:t>
            </a:r>
            <a:r>
              <a:rPr sz="3600" spc="-114" dirty="0"/>
              <a:t> </a:t>
            </a:r>
            <a:r>
              <a:rPr sz="3600" spc="-55" dirty="0"/>
              <a:t>ADDER</a:t>
            </a:r>
            <a:endParaRPr sz="3600"/>
          </a:p>
        </p:txBody>
      </p:sp>
      <p:sp>
        <p:nvSpPr>
          <p:cNvPr id="7" name="object 7"/>
          <p:cNvSpPr txBox="1"/>
          <p:nvPr/>
        </p:nvSpPr>
        <p:spPr>
          <a:xfrm>
            <a:off x="383540" y="1129664"/>
            <a:ext cx="8378190" cy="28232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7465" algn="ctr">
              <a:lnSpc>
                <a:spcPts val="2130"/>
              </a:lnSpc>
              <a:spcBef>
                <a:spcPts val="105"/>
              </a:spcBef>
            </a:pPr>
            <a:r>
              <a:rPr sz="2000" b="1" spc="-155" dirty="0">
                <a:solidFill>
                  <a:srgbClr val="C00000"/>
                </a:solidFill>
                <a:latin typeface="Arial"/>
                <a:cs typeface="Arial"/>
              </a:rPr>
              <a:t>HALF</a:t>
            </a:r>
            <a:r>
              <a:rPr sz="2000" b="1" spc="-5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200" dirty="0">
                <a:solidFill>
                  <a:srgbClr val="C00000"/>
                </a:solidFill>
                <a:latin typeface="Arial"/>
                <a:cs typeface="Arial"/>
              </a:rPr>
              <a:t>ADDER</a:t>
            </a:r>
            <a:endParaRPr sz="2000">
              <a:latin typeface="Arial"/>
              <a:cs typeface="Arial"/>
            </a:endParaRPr>
          </a:p>
          <a:p>
            <a:pPr marL="477520" indent="-464820">
              <a:lnSpc>
                <a:spcPts val="3090"/>
              </a:lnSpc>
              <a:buClr>
                <a:srgbClr val="E36C09"/>
              </a:buClr>
              <a:buFont typeface="Wingdings"/>
              <a:buChar char=""/>
              <a:tabLst>
                <a:tab pos="476884" algn="l"/>
                <a:tab pos="477520" algn="l"/>
              </a:tabLst>
            </a:pPr>
            <a:r>
              <a:rPr sz="2800" spc="135" dirty="0">
                <a:solidFill>
                  <a:srgbClr val="006FC0"/>
                </a:solidFill>
                <a:latin typeface="Arial"/>
                <a:cs typeface="Arial"/>
              </a:rPr>
              <a:t>A </a:t>
            </a:r>
            <a:r>
              <a:rPr sz="2800" spc="-185" dirty="0">
                <a:latin typeface="Arial"/>
                <a:cs typeface="Arial"/>
              </a:rPr>
              <a:t>half-adder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800" spc="-395" dirty="0">
                <a:solidFill>
                  <a:srgbClr val="006FC0"/>
                </a:solidFill>
                <a:latin typeface="Arial"/>
                <a:cs typeface="Arial"/>
              </a:rPr>
              <a:t>a</a:t>
            </a:r>
            <a:r>
              <a:rPr sz="2800" spc="-1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combinational </a:t>
            </a:r>
            <a:r>
              <a:rPr sz="2800" spc="-95" dirty="0">
                <a:solidFill>
                  <a:srgbClr val="006FC0"/>
                </a:solidFill>
                <a:latin typeface="Arial"/>
                <a:cs typeface="Arial"/>
              </a:rPr>
              <a:t>circuit </a:t>
            </a:r>
            <a:r>
              <a:rPr sz="2800" spc="-130" dirty="0">
                <a:solidFill>
                  <a:srgbClr val="006FC0"/>
                </a:solidFill>
                <a:latin typeface="Arial"/>
                <a:cs typeface="Arial"/>
              </a:rPr>
              <a:t>that </a:t>
            </a:r>
            <a:r>
              <a:rPr sz="2800" spc="-285" dirty="0">
                <a:solidFill>
                  <a:srgbClr val="006FC0"/>
                </a:solidFill>
                <a:latin typeface="Arial"/>
                <a:cs typeface="Arial"/>
              </a:rPr>
              <a:t>can </a:t>
            </a:r>
            <a:r>
              <a:rPr sz="2800" spc="-280" dirty="0">
                <a:solidFill>
                  <a:srgbClr val="006FC0"/>
                </a:solidFill>
                <a:latin typeface="Arial"/>
                <a:cs typeface="Arial"/>
              </a:rPr>
              <a:t>be</a:t>
            </a:r>
            <a:r>
              <a:rPr sz="2800" spc="-33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310" dirty="0">
                <a:solidFill>
                  <a:srgbClr val="006FC0"/>
                </a:solidFill>
                <a:latin typeface="Arial"/>
                <a:cs typeface="Arial"/>
              </a:rPr>
              <a:t>used</a:t>
            </a:r>
            <a:endParaRPr sz="2800">
              <a:latin typeface="Arial"/>
              <a:cs typeface="Arial"/>
            </a:endParaRPr>
          </a:p>
          <a:p>
            <a:pPr marL="476884">
              <a:lnSpc>
                <a:spcPct val="100000"/>
              </a:lnSpc>
            </a:pPr>
            <a:r>
              <a:rPr sz="2800" spc="-50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800" spc="-240" dirty="0">
                <a:latin typeface="Arial"/>
                <a:cs typeface="Arial"/>
              </a:rPr>
              <a:t>add </a:t>
            </a:r>
            <a:r>
              <a:rPr sz="2800" spc="-120" dirty="0">
                <a:latin typeface="Arial"/>
                <a:cs typeface="Arial"/>
              </a:rPr>
              <a:t>two </a:t>
            </a:r>
            <a:r>
              <a:rPr sz="2800" spc="-165" dirty="0">
                <a:latin typeface="Arial"/>
                <a:cs typeface="Arial"/>
              </a:rPr>
              <a:t>binary</a:t>
            </a:r>
            <a:r>
              <a:rPr sz="2800" spc="-150" dirty="0">
                <a:latin typeface="Arial"/>
                <a:cs typeface="Arial"/>
              </a:rPr>
              <a:t> </a:t>
            </a:r>
            <a:r>
              <a:rPr sz="2800" spc="-170" dirty="0">
                <a:latin typeface="Arial"/>
                <a:cs typeface="Arial"/>
              </a:rPr>
              <a:t>bits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00">
              <a:latin typeface="Arial"/>
              <a:cs typeface="Arial"/>
            </a:endParaRPr>
          </a:p>
          <a:p>
            <a:pPr marL="476884" marR="5080" indent="-464820" algn="just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35" dirty="0">
                <a:solidFill>
                  <a:srgbClr val="006FC0"/>
                </a:solidFill>
                <a:latin typeface="Arial"/>
                <a:cs typeface="Arial"/>
              </a:rPr>
              <a:t>It </a:t>
            </a:r>
            <a:r>
              <a:rPr sz="2800" spc="-375" dirty="0">
                <a:solidFill>
                  <a:srgbClr val="006FC0"/>
                </a:solidFill>
                <a:latin typeface="Arial"/>
                <a:cs typeface="Arial"/>
              </a:rPr>
              <a:t>has </a:t>
            </a:r>
            <a:r>
              <a:rPr sz="2800" spc="-120" dirty="0">
                <a:solidFill>
                  <a:srgbClr val="006FC0"/>
                </a:solidFill>
                <a:latin typeface="Arial"/>
                <a:cs typeface="Arial"/>
              </a:rPr>
              <a:t>two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inputs </a:t>
            </a:r>
            <a:r>
              <a:rPr sz="2800" spc="-125" dirty="0">
                <a:solidFill>
                  <a:srgbClr val="006FC0"/>
                </a:solidFill>
                <a:latin typeface="Arial"/>
                <a:cs typeface="Arial"/>
              </a:rPr>
              <a:t>that </a:t>
            </a:r>
            <a:r>
              <a:rPr sz="2800" spc="-210" dirty="0">
                <a:solidFill>
                  <a:srgbClr val="006FC0"/>
                </a:solidFill>
                <a:latin typeface="Arial"/>
                <a:cs typeface="Arial"/>
              </a:rPr>
              <a:t>represent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25" dirty="0">
                <a:solidFill>
                  <a:srgbClr val="006FC0"/>
                </a:solidFill>
                <a:latin typeface="Arial"/>
                <a:cs typeface="Arial"/>
              </a:rPr>
              <a:t>two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bits </a:t>
            </a:r>
            <a:r>
              <a:rPr sz="2800" spc="-50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800" spc="-280" dirty="0">
                <a:solidFill>
                  <a:srgbClr val="006FC0"/>
                </a:solidFill>
                <a:latin typeface="Arial"/>
                <a:cs typeface="Arial"/>
              </a:rPr>
              <a:t>be </a:t>
            </a:r>
            <a:r>
              <a:rPr sz="2800" spc="-245" dirty="0">
                <a:solidFill>
                  <a:srgbClr val="006FC0"/>
                </a:solidFill>
                <a:latin typeface="Arial"/>
                <a:cs typeface="Arial"/>
              </a:rPr>
              <a:t>added  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spc="-120" dirty="0">
                <a:solidFill>
                  <a:srgbClr val="006FC0"/>
                </a:solidFill>
                <a:latin typeface="Arial"/>
                <a:cs typeface="Arial"/>
              </a:rPr>
              <a:t>two </a:t>
            </a:r>
            <a:r>
              <a:rPr sz="2800" spc="-160" dirty="0">
                <a:solidFill>
                  <a:srgbClr val="006FC0"/>
                </a:solidFill>
                <a:latin typeface="Arial"/>
                <a:cs typeface="Arial"/>
              </a:rPr>
              <a:t>outputs, </a:t>
            </a:r>
            <a:r>
              <a:rPr sz="2800" spc="-110" dirty="0">
                <a:solidFill>
                  <a:srgbClr val="006FC0"/>
                </a:solidFill>
                <a:latin typeface="Arial"/>
                <a:cs typeface="Arial"/>
              </a:rPr>
              <a:t>with </a:t>
            </a:r>
            <a:r>
              <a:rPr sz="2800" spc="-240" dirty="0">
                <a:solidFill>
                  <a:srgbClr val="006FC0"/>
                </a:solidFill>
                <a:latin typeface="Arial"/>
                <a:cs typeface="Arial"/>
              </a:rPr>
              <a:t>one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producing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95" dirty="0">
                <a:latin typeface="Arial"/>
                <a:cs typeface="Arial"/>
              </a:rPr>
              <a:t>SUM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output  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30" dirty="0">
                <a:solidFill>
                  <a:srgbClr val="006FC0"/>
                </a:solidFill>
                <a:latin typeface="Arial"/>
                <a:cs typeface="Arial"/>
              </a:rPr>
              <a:t>other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producing the</a:t>
            </a:r>
            <a:r>
              <a:rPr sz="2800" spc="15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240" dirty="0">
                <a:latin typeface="Arial"/>
                <a:cs typeface="Arial"/>
              </a:rPr>
              <a:t>CARRY.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648200" y="4137659"/>
            <a:ext cx="4114800" cy="67817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381000" y="4495800"/>
            <a:ext cx="8768080" cy="2367280"/>
            <a:chOff x="381000" y="4495800"/>
            <a:chExt cx="8768080" cy="2367280"/>
          </a:xfrm>
        </p:grpSpPr>
        <p:sp>
          <p:nvSpPr>
            <p:cNvPr id="10" name="object 10"/>
            <p:cNvSpPr/>
            <p:nvPr/>
          </p:nvSpPr>
          <p:spPr>
            <a:xfrm>
              <a:off x="381000" y="4495800"/>
              <a:ext cx="3657600" cy="121920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593835" y="6650732"/>
              <a:ext cx="550164" cy="20726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674607" y="6586730"/>
              <a:ext cx="469392" cy="271267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641080" y="6675120"/>
              <a:ext cx="502920" cy="182880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641080" y="667512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4641850" y="4131309"/>
          <a:ext cx="4133850" cy="20472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78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53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66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9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9089">
                <a:tc gridSpan="2">
                  <a:txBody>
                    <a:bodyPr/>
                    <a:lstStyle/>
                    <a:p>
                      <a:pPr marL="43370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2000" b="1" spc="-215" dirty="0">
                          <a:latin typeface="Arial"/>
                          <a:cs typeface="Arial"/>
                        </a:rPr>
                        <a:t>Inputs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2000" b="1" spc="-195" dirty="0">
                          <a:latin typeface="Arial"/>
                          <a:cs typeface="Arial"/>
                        </a:rPr>
                        <a:t>Outputs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08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A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4325" algn="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B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000" b="1" spc="-180" dirty="0">
                          <a:latin typeface="Arial"/>
                          <a:cs typeface="Arial"/>
                        </a:rPr>
                        <a:t>Carry</a:t>
                      </a:r>
                      <a:r>
                        <a:rPr sz="2000" b="1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175" dirty="0">
                          <a:latin typeface="Arial"/>
                          <a:cs typeface="Arial"/>
                        </a:rPr>
                        <a:t>(C)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000" b="1" spc="-305" dirty="0">
                          <a:latin typeface="Arial"/>
                          <a:cs typeface="Arial"/>
                        </a:rPr>
                        <a:t>Sum</a:t>
                      </a:r>
                      <a:r>
                        <a:rPr sz="2000" b="1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240" dirty="0">
                          <a:latin typeface="Arial"/>
                          <a:cs typeface="Arial"/>
                        </a:rPr>
                        <a:t>(S)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09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26390" algn="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08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26390" algn="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09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26390" algn="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09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26390" algn="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" name="object 1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8787638" y="6649770"/>
            <a:ext cx="256540" cy="234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75"/>
              </a:lnSpc>
            </a:pPr>
            <a:r>
              <a:rPr sz="1400" b="1" dirty="0">
                <a:solidFill>
                  <a:srgbClr val="FFFFFF"/>
                </a:solidFill>
                <a:latin typeface="Carlito"/>
                <a:cs typeface="Carlito"/>
              </a:rPr>
              <a:t>33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320154" y="6213449"/>
            <a:ext cx="1438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0" dirty="0">
                <a:latin typeface="Arial"/>
                <a:cs typeface="Arial"/>
              </a:rPr>
              <a:t>TRUTH </a:t>
            </a:r>
            <a:r>
              <a:rPr sz="1800" b="1" spc="-195" dirty="0">
                <a:latin typeface="Arial"/>
                <a:cs typeface="Arial"/>
              </a:rPr>
              <a:t>TABLE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69644" y="5953455"/>
            <a:ext cx="18014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90" dirty="0">
                <a:latin typeface="Arial"/>
                <a:cs typeface="Arial"/>
              </a:rPr>
              <a:t>BLOCK</a:t>
            </a:r>
            <a:r>
              <a:rPr sz="1800" b="1" spc="-85" dirty="0">
                <a:latin typeface="Arial"/>
                <a:cs typeface="Arial"/>
              </a:rPr>
              <a:t> DIAGRAM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793241" y="982217"/>
              <a:ext cx="7589519" cy="762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6764"/>
              <a:ext cx="9143999" cy="668274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53439" y="320001"/>
              <a:ext cx="7434072" cy="57611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951988" y="202679"/>
              <a:ext cx="3233928" cy="93422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226435" y="321386"/>
            <a:ext cx="269049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95" dirty="0"/>
              <a:t>BINARY </a:t>
            </a:r>
            <a:r>
              <a:rPr spc="-45" dirty="0"/>
              <a:t>ADDER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14953" y="1129664"/>
            <a:ext cx="147066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55" dirty="0">
                <a:solidFill>
                  <a:srgbClr val="C00000"/>
                </a:solidFill>
                <a:latin typeface="Arial"/>
                <a:cs typeface="Arial"/>
              </a:rPr>
              <a:t>HALF</a:t>
            </a:r>
            <a:r>
              <a:rPr sz="2000" b="1" spc="-1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200" dirty="0">
                <a:solidFill>
                  <a:srgbClr val="C00000"/>
                </a:solidFill>
                <a:latin typeface="Arial"/>
                <a:cs typeface="Arial"/>
              </a:rPr>
              <a:t>ADDER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752600" y="1752600"/>
            <a:ext cx="7396480" cy="5105400"/>
            <a:chOff x="1752600" y="1752600"/>
            <a:chExt cx="7396480" cy="5105400"/>
          </a:xfrm>
        </p:grpSpPr>
        <p:sp>
          <p:nvSpPr>
            <p:cNvPr id="14" name="object 14"/>
            <p:cNvSpPr/>
            <p:nvPr/>
          </p:nvSpPr>
          <p:spPr>
            <a:xfrm>
              <a:off x="1752600" y="1752600"/>
              <a:ext cx="5105400" cy="243840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593835" y="6620254"/>
              <a:ext cx="550164" cy="237743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674607" y="6556242"/>
              <a:ext cx="469392" cy="301755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641080" y="6644640"/>
              <a:ext cx="502920" cy="182880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83540" y="4491609"/>
            <a:ext cx="7386320" cy="1732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17830" marR="5080" indent="-405765">
              <a:lnSpc>
                <a:spcPct val="100000"/>
              </a:lnSpc>
              <a:spcBef>
                <a:spcPts val="95"/>
              </a:spcBef>
              <a:buClr>
                <a:srgbClr val="E36C09"/>
              </a:buClr>
              <a:buFont typeface="Wingdings"/>
              <a:buChar char=""/>
              <a:tabLst>
                <a:tab pos="418465" algn="l"/>
              </a:tabLst>
            </a:pP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245" dirty="0">
                <a:solidFill>
                  <a:srgbClr val="006FC0"/>
                </a:solidFill>
                <a:latin typeface="Arial"/>
                <a:cs typeface="Arial"/>
              </a:rPr>
              <a:t>Boolean </a:t>
            </a:r>
            <a:r>
              <a:rPr sz="2800" spc="-275" dirty="0">
                <a:solidFill>
                  <a:srgbClr val="006FC0"/>
                </a:solidFill>
                <a:latin typeface="Arial"/>
                <a:cs typeface="Arial"/>
              </a:rPr>
              <a:t>expressions </a:t>
            </a:r>
            <a:r>
              <a:rPr sz="2800" spc="-55" dirty="0">
                <a:solidFill>
                  <a:srgbClr val="006FC0"/>
                </a:solidFill>
                <a:latin typeface="Arial"/>
                <a:cs typeface="Arial"/>
              </a:rPr>
              <a:t>for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95" dirty="0">
                <a:solidFill>
                  <a:srgbClr val="006FC0"/>
                </a:solidFill>
                <a:latin typeface="Arial"/>
                <a:cs typeface="Arial"/>
              </a:rPr>
              <a:t>SUM 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spc="-260" dirty="0">
                <a:solidFill>
                  <a:srgbClr val="006FC0"/>
                </a:solidFill>
                <a:latin typeface="Arial"/>
                <a:cs typeface="Arial"/>
              </a:rPr>
              <a:t>CARRY 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outputs 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are </a:t>
            </a:r>
            <a:r>
              <a:rPr sz="2800" spc="-225" dirty="0">
                <a:solidFill>
                  <a:srgbClr val="006FC0"/>
                </a:solidFill>
                <a:latin typeface="Arial"/>
                <a:cs typeface="Arial"/>
              </a:rPr>
              <a:t>given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by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the</a:t>
            </a:r>
            <a:r>
              <a:rPr sz="2800" spc="-32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220" dirty="0">
                <a:solidFill>
                  <a:srgbClr val="006FC0"/>
                </a:solidFill>
                <a:latin typeface="Arial"/>
                <a:cs typeface="Arial"/>
              </a:rPr>
              <a:t>equations,</a:t>
            </a:r>
            <a:endParaRPr sz="2800">
              <a:latin typeface="Arial"/>
              <a:cs typeface="Arial"/>
            </a:endParaRPr>
          </a:p>
          <a:p>
            <a:pPr marL="1841500">
              <a:lnSpc>
                <a:spcPts val="3329"/>
              </a:lnSpc>
              <a:spcBef>
                <a:spcPts val="60"/>
              </a:spcBef>
              <a:tabLst>
                <a:tab pos="2987040" algn="l"/>
              </a:tabLst>
            </a:pPr>
            <a:r>
              <a:rPr sz="2800" spc="-290" dirty="0">
                <a:latin typeface="Arial"/>
                <a:cs typeface="Arial"/>
              </a:rPr>
              <a:t>Sum,</a:t>
            </a:r>
            <a:r>
              <a:rPr sz="2800" dirty="0">
                <a:latin typeface="Arial"/>
                <a:cs typeface="Arial"/>
              </a:rPr>
              <a:t> </a:t>
            </a:r>
            <a:r>
              <a:rPr sz="2800" spc="-565" dirty="0">
                <a:latin typeface="Arial"/>
                <a:cs typeface="Arial"/>
              </a:rPr>
              <a:t>S	</a:t>
            </a:r>
            <a:r>
              <a:rPr sz="2800" spc="70" dirty="0">
                <a:latin typeface="Arial"/>
                <a:cs typeface="Arial"/>
              </a:rPr>
              <a:t>= </a:t>
            </a:r>
            <a:r>
              <a:rPr sz="2800" spc="-15" dirty="0">
                <a:latin typeface="Arial"/>
                <a:cs typeface="Arial"/>
              </a:rPr>
              <a:t>A’B+ AB’=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-95" dirty="0">
                <a:latin typeface="Arial"/>
                <a:cs typeface="Arial"/>
              </a:rPr>
              <a:t>A</a:t>
            </a:r>
            <a:r>
              <a:rPr sz="2800" spc="-95" dirty="0">
                <a:latin typeface="Symbol"/>
                <a:cs typeface="Symbol"/>
              </a:rPr>
              <a:t></a:t>
            </a:r>
            <a:r>
              <a:rPr sz="2800" spc="-95" dirty="0">
                <a:latin typeface="Arial"/>
                <a:cs typeface="Arial"/>
              </a:rPr>
              <a:t>B</a:t>
            </a:r>
            <a:endParaRPr sz="2800">
              <a:latin typeface="Arial"/>
              <a:cs typeface="Arial"/>
            </a:endParaRPr>
          </a:p>
          <a:p>
            <a:pPr marL="1841500">
              <a:lnSpc>
                <a:spcPts val="3329"/>
              </a:lnSpc>
            </a:pPr>
            <a:r>
              <a:rPr sz="2800" spc="-170" dirty="0">
                <a:latin typeface="Arial"/>
                <a:cs typeface="Arial"/>
              </a:rPr>
              <a:t>Carry, </a:t>
            </a:r>
            <a:r>
              <a:rPr sz="2800" spc="-300" dirty="0">
                <a:latin typeface="Arial"/>
                <a:cs typeface="Arial"/>
              </a:rPr>
              <a:t>C </a:t>
            </a:r>
            <a:r>
              <a:rPr sz="2800" spc="70" dirty="0">
                <a:latin typeface="Arial"/>
                <a:cs typeface="Arial"/>
              </a:rPr>
              <a:t>= </a:t>
            </a:r>
            <a:r>
              <a:rPr sz="2800" spc="135" dirty="0">
                <a:latin typeface="Arial"/>
                <a:cs typeface="Arial"/>
              </a:rPr>
              <a:t>A </a:t>
            </a:r>
            <a:r>
              <a:rPr sz="2800" spc="-160" dirty="0">
                <a:latin typeface="Arial"/>
                <a:cs typeface="Arial"/>
              </a:rPr>
              <a:t>.</a:t>
            </a:r>
            <a:r>
              <a:rPr sz="2800" spc="-225" dirty="0">
                <a:latin typeface="Arial"/>
                <a:cs typeface="Arial"/>
              </a:rPr>
              <a:t> </a:t>
            </a:r>
            <a:r>
              <a:rPr sz="2800" spc="-425" dirty="0">
                <a:latin typeface="Arial"/>
                <a:cs typeface="Arial"/>
              </a:rPr>
              <a:t>B</a:t>
            </a:r>
            <a:endParaRPr sz="2800">
              <a:latin typeface="Arial"/>
              <a:cs typeface="Aria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8787638" y="6649770"/>
            <a:ext cx="256540" cy="234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75"/>
              </a:lnSpc>
            </a:pPr>
            <a:r>
              <a:rPr sz="1400" b="1" dirty="0">
                <a:solidFill>
                  <a:srgbClr val="FFFFFF"/>
                </a:solidFill>
                <a:latin typeface="Carlito"/>
                <a:cs typeface="Carlito"/>
              </a:rPr>
              <a:t>34</a:t>
            </a:r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793241" y="982217"/>
              <a:ext cx="7589519" cy="762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6764"/>
              <a:ext cx="9143999" cy="668274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53439" y="320001"/>
              <a:ext cx="7434072" cy="57611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951988" y="202679"/>
              <a:ext cx="3233928" cy="93422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226435" y="321386"/>
            <a:ext cx="269049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95" dirty="0"/>
              <a:t>BINARY </a:t>
            </a:r>
            <a:r>
              <a:rPr spc="-45" dirty="0"/>
              <a:t>ADDER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3540" y="1129664"/>
            <a:ext cx="8377555" cy="16052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6195" algn="ctr">
              <a:lnSpc>
                <a:spcPts val="2375"/>
              </a:lnSpc>
              <a:spcBef>
                <a:spcPts val="105"/>
              </a:spcBef>
            </a:pPr>
            <a:r>
              <a:rPr sz="2000" b="1" spc="-155" dirty="0">
                <a:solidFill>
                  <a:srgbClr val="C00000"/>
                </a:solidFill>
                <a:latin typeface="Arial"/>
                <a:cs typeface="Arial"/>
              </a:rPr>
              <a:t>HALF</a:t>
            </a:r>
            <a:r>
              <a:rPr sz="2000" b="1" spc="-5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200" dirty="0">
                <a:solidFill>
                  <a:srgbClr val="C00000"/>
                </a:solidFill>
                <a:latin typeface="Arial"/>
                <a:cs typeface="Arial"/>
              </a:rPr>
              <a:t>ADDER</a:t>
            </a:r>
            <a:endParaRPr sz="2000">
              <a:latin typeface="Arial"/>
              <a:cs typeface="Arial"/>
            </a:endParaRPr>
          </a:p>
          <a:p>
            <a:pPr marL="476884" marR="5080" indent="-464820" algn="just">
              <a:lnSpc>
                <a:spcPts val="3360"/>
              </a:lnSpc>
              <a:spcBef>
                <a:spcPts val="85"/>
              </a:spcBef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95" dirty="0">
                <a:solidFill>
                  <a:srgbClr val="006FC0"/>
                </a:solidFill>
                <a:latin typeface="Arial"/>
                <a:cs typeface="Arial"/>
              </a:rPr>
              <a:t>first </a:t>
            </a:r>
            <a:r>
              <a:rPr sz="2800" spc="-240" dirty="0">
                <a:solidFill>
                  <a:srgbClr val="006FC0"/>
                </a:solidFill>
                <a:latin typeface="Arial"/>
                <a:cs typeface="Arial"/>
              </a:rPr>
              <a:t>one </a:t>
            </a:r>
            <a:r>
              <a:rPr sz="2800" spc="-210" dirty="0">
                <a:solidFill>
                  <a:srgbClr val="006FC0"/>
                </a:solidFill>
                <a:latin typeface="Arial"/>
                <a:cs typeface="Arial"/>
              </a:rPr>
              <a:t>representing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200" dirty="0">
                <a:latin typeface="Arial"/>
                <a:cs typeface="Arial"/>
              </a:rPr>
              <a:t>SUM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output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800" spc="-125" dirty="0">
                <a:solidFill>
                  <a:srgbClr val="006FC0"/>
                </a:solidFill>
                <a:latin typeface="Arial"/>
                <a:cs typeface="Arial"/>
              </a:rPr>
              <a:t>that </a:t>
            </a:r>
            <a:r>
              <a:rPr sz="2800" spc="-80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305" dirty="0">
                <a:solidFill>
                  <a:srgbClr val="006FC0"/>
                </a:solidFill>
                <a:latin typeface="Arial"/>
                <a:cs typeface="Arial"/>
              </a:rPr>
              <a:t>an  </a:t>
            </a:r>
            <a:r>
              <a:rPr sz="2800" spc="-240" dirty="0">
                <a:solidFill>
                  <a:srgbClr val="006FC0"/>
                </a:solidFill>
                <a:latin typeface="Arial"/>
                <a:cs typeface="Arial"/>
              </a:rPr>
              <a:t>EX-OR</a:t>
            </a:r>
            <a:r>
              <a:rPr sz="2800" spc="29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245" dirty="0">
                <a:solidFill>
                  <a:srgbClr val="006FC0"/>
                </a:solidFill>
                <a:latin typeface="Arial"/>
                <a:cs typeface="Arial"/>
              </a:rPr>
              <a:t>gate,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275" dirty="0">
                <a:solidFill>
                  <a:srgbClr val="006FC0"/>
                </a:solidFill>
                <a:latin typeface="Arial"/>
                <a:cs typeface="Arial"/>
              </a:rPr>
              <a:t>second </a:t>
            </a:r>
            <a:r>
              <a:rPr sz="2800" spc="-235" dirty="0">
                <a:solidFill>
                  <a:srgbClr val="006FC0"/>
                </a:solidFill>
                <a:latin typeface="Arial"/>
                <a:cs typeface="Arial"/>
              </a:rPr>
              <a:t>one </a:t>
            </a:r>
            <a:r>
              <a:rPr sz="2800" spc="-210" dirty="0">
                <a:solidFill>
                  <a:srgbClr val="006FC0"/>
                </a:solidFill>
                <a:latin typeface="Arial"/>
                <a:cs typeface="Arial"/>
              </a:rPr>
              <a:t>representing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260" dirty="0">
                <a:latin typeface="Arial"/>
                <a:cs typeface="Arial"/>
              </a:rPr>
              <a:t>CARRY </a:t>
            </a:r>
            <a:r>
              <a:rPr sz="2800" spc="-26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output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800" spc="-125" dirty="0">
                <a:solidFill>
                  <a:srgbClr val="006FC0"/>
                </a:solidFill>
                <a:latin typeface="Arial"/>
                <a:cs typeface="Arial"/>
              </a:rPr>
              <a:t>that 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305" dirty="0">
                <a:solidFill>
                  <a:srgbClr val="006FC0"/>
                </a:solidFill>
                <a:latin typeface="Arial"/>
                <a:cs typeface="Arial"/>
              </a:rPr>
              <a:t>an </a:t>
            </a:r>
            <a:r>
              <a:rPr sz="2800" spc="-30" dirty="0">
                <a:solidFill>
                  <a:srgbClr val="006FC0"/>
                </a:solidFill>
                <a:latin typeface="Arial"/>
                <a:cs typeface="Arial"/>
              </a:rPr>
              <a:t>AND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240" dirty="0">
                <a:solidFill>
                  <a:srgbClr val="006FC0"/>
                </a:solidFill>
                <a:latin typeface="Arial"/>
                <a:cs typeface="Arial"/>
              </a:rPr>
              <a:t>gate.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071116" y="3276600"/>
            <a:ext cx="7077709" cy="3581400"/>
            <a:chOff x="2071116" y="3276600"/>
            <a:chExt cx="7077709" cy="3581400"/>
          </a:xfrm>
        </p:grpSpPr>
        <p:sp>
          <p:nvSpPr>
            <p:cNvPr id="14" name="object 14"/>
            <p:cNvSpPr/>
            <p:nvPr/>
          </p:nvSpPr>
          <p:spPr>
            <a:xfrm>
              <a:off x="2071116" y="3276600"/>
              <a:ext cx="5015483" cy="1923288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593835" y="6620254"/>
              <a:ext cx="550164" cy="237743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674608" y="6556242"/>
              <a:ext cx="469392" cy="301755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641080" y="6644640"/>
              <a:ext cx="502920" cy="182880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974594" y="5496255"/>
            <a:ext cx="17697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5" dirty="0">
                <a:latin typeface="Arial"/>
                <a:cs typeface="Arial"/>
              </a:rPr>
              <a:t>LOGIC</a:t>
            </a:r>
            <a:r>
              <a:rPr sz="1800" b="1" spc="-100" dirty="0">
                <a:latin typeface="Arial"/>
                <a:cs typeface="Arial"/>
              </a:rPr>
              <a:t> </a:t>
            </a:r>
            <a:r>
              <a:rPr sz="1800" b="1" spc="-80" dirty="0">
                <a:latin typeface="Arial"/>
                <a:cs typeface="Arial"/>
              </a:rPr>
              <a:t>DIAGRAM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8787638" y="6649770"/>
            <a:ext cx="256540" cy="234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75"/>
              </a:lnSpc>
            </a:pPr>
            <a:r>
              <a:rPr sz="1400" b="1" dirty="0">
                <a:solidFill>
                  <a:srgbClr val="FFFFFF"/>
                </a:solidFill>
                <a:latin typeface="Carlito"/>
                <a:cs typeface="Carlito"/>
              </a:rPr>
              <a:t>35</a:t>
            </a:r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793241" y="982217"/>
              <a:ext cx="7589519" cy="762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6764"/>
              <a:ext cx="9143999" cy="668274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53439" y="320001"/>
              <a:ext cx="7434072" cy="57611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951988" y="202679"/>
              <a:ext cx="3233928" cy="93422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226435" y="321386"/>
            <a:ext cx="269049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95" dirty="0"/>
              <a:t>BINARY </a:t>
            </a:r>
            <a:r>
              <a:rPr spc="-45" dirty="0"/>
              <a:t>ADDER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3540" y="1069387"/>
            <a:ext cx="8378825" cy="5169535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R="37465" algn="ctr">
              <a:lnSpc>
                <a:spcPct val="100000"/>
              </a:lnSpc>
              <a:spcBef>
                <a:spcPts val="575"/>
              </a:spcBef>
            </a:pPr>
            <a:r>
              <a:rPr sz="2000" b="1" spc="-200" dirty="0">
                <a:solidFill>
                  <a:srgbClr val="C00000"/>
                </a:solidFill>
                <a:latin typeface="Arial"/>
                <a:cs typeface="Arial"/>
              </a:rPr>
              <a:t>FULL</a:t>
            </a:r>
            <a:r>
              <a:rPr sz="2000" b="1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200" dirty="0">
                <a:solidFill>
                  <a:srgbClr val="C00000"/>
                </a:solidFill>
                <a:latin typeface="Arial"/>
                <a:cs typeface="Arial"/>
              </a:rPr>
              <a:t>ADDER</a:t>
            </a:r>
            <a:endParaRPr sz="2000">
              <a:latin typeface="Arial"/>
              <a:cs typeface="Arial"/>
            </a:endParaRPr>
          </a:p>
          <a:p>
            <a:pPr marL="476884" marR="7620" indent="-464820">
              <a:lnSpc>
                <a:spcPct val="100000"/>
              </a:lnSpc>
              <a:spcBef>
                <a:spcPts val="660"/>
              </a:spcBef>
              <a:buClr>
                <a:srgbClr val="E36C09"/>
              </a:buClr>
              <a:buFont typeface="Wingdings"/>
              <a:buChar char=""/>
              <a:tabLst>
                <a:tab pos="476884" algn="l"/>
                <a:tab pos="477520" algn="l"/>
                <a:tab pos="1181735" algn="l"/>
                <a:tab pos="1786255" algn="l"/>
                <a:tab pos="2739390" algn="l"/>
                <a:tab pos="3763645" algn="l"/>
                <a:tab pos="5403850" algn="l"/>
                <a:tab pos="6013450" algn="l"/>
                <a:tab pos="7476490" algn="l"/>
                <a:tab pos="7932420" algn="l"/>
              </a:tabLst>
            </a:pPr>
            <a:r>
              <a:rPr sz="2800" spc="-180" dirty="0">
                <a:solidFill>
                  <a:srgbClr val="006FC0"/>
                </a:solidFill>
                <a:latin typeface="Arial"/>
                <a:cs typeface="Arial"/>
              </a:rPr>
              <a:t>T</a:t>
            </a:r>
            <a:r>
              <a:rPr sz="2800" spc="-155" dirty="0">
                <a:solidFill>
                  <a:srgbClr val="006FC0"/>
                </a:solidFill>
                <a:latin typeface="Arial"/>
                <a:cs typeface="Arial"/>
              </a:rPr>
              <a:t>h</a:t>
            </a:r>
            <a:r>
              <a:rPr sz="2800" spc="-350" dirty="0">
                <a:solidFill>
                  <a:srgbClr val="006FC0"/>
                </a:solidFill>
                <a:latin typeface="Arial"/>
                <a:cs typeface="Arial"/>
              </a:rPr>
              <a:t>e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90" dirty="0">
                <a:solidFill>
                  <a:srgbClr val="006FC0"/>
                </a:solidFill>
                <a:latin typeface="Arial"/>
                <a:cs typeface="Arial"/>
              </a:rPr>
              <a:t>fu</a:t>
            </a:r>
            <a:r>
              <a:rPr sz="2800" spc="-40" dirty="0">
                <a:solidFill>
                  <a:srgbClr val="006FC0"/>
                </a:solidFill>
                <a:latin typeface="Arial"/>
                <a:cs typeface="Arial"/>
              </a:rPr>
              <a:t>l</a:t>
            </a:r>
            <a:r>
              <a:rPr sz="2800" spc="-20" dirty="0">
                <a:solidFill>
                  <a:srgbClr val="006FC0"/>
                </a:solidFill>
                <a:latin typeface="Arial"/>
                <a:cs typeface="Arial"/>
              </a:rPr>
              <a:t>l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409" dirty="0">
                <a:solidFill>
                  <a:srgbClr val="006FC0"/>
                </a:solidFill>
                <a:latin typeface="Arial"/>
                <a:cs typeface="Arial"/>
              </a:rPr>
              <a:t>a</a:t>
            </a:r>
            <a:r>
              <a:rPr sz="2800" spc="-160" dirty="0">
                <a:solidFill>
                  <a:srgbClr val="006FC0"/>
                </a:solidFill>
                <a:latin typeface="Arial"/>
                <a:cs typeface="Arial"/>
              </a:rPr>
              <a:t>d</a:t>
            </a:r>
            <a:r>
              <a:rPr sz="2800" spc="-155" dirty="0">
                <a:solidFill>
                  <a:srgbClr val="006FC0"/>
                </a:solidFill>
                <a:latin typeface="Arial"/>
                <a:cs typeface="Arial"/>
              </a:rPr>
              <a:t>d</a:t>
            </a:r>
            <a:r>
              <a:rPr sz="2800" spc="-225" dirty="0">
                <a:solidFill>
                  <a:srgbClr val="006FC0"/>
                </a:solidFill>
                <a:latin typeface="Arial"/>
                <a:cs typeface="Arial"/>
              </a:rPr>
              <a:t>e</a:t>
            </a:r>
            <a:r>
              <a:rPr sz="2800" spc="-130" dirty="0">
                <a:solidFill>
                  <a:srgbClr val="006FC0"/>
                </a:solidFill>
                <a:latin typeface="Arial"/>
                <a:cs typeface="Arial"/>
              </a:rPr>
              <a:t>r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130" dirty="0">
                <a:solidFill>
                  <a:srgbClr val="006FC0"/>
                </a:solidFill>
                <a:latin typeface="Arial"/>
                <a:cs typeface="Arial"/>
              </a:rPr>
              <a:t>circ</a:t>
            </a:r>
            <a:r>
              <a:rPr sz="2800" spc="-180" dirty="0">
                <a:solidFill>
                  <a:srgbClr val="006FC0"/>
                </a:solidFill>
                <a:latin typeface="Arial"/>
                <a:cs typeface="Arial"/>
              </a:rPr>
              <a:t>u</a:t>
            </a:r>
            <a:r>
              <a:rPr sz="2800" spc="20" dirty="0">
                <a:solidFill>
                  <a:srgbClr val="006FC0"/>
                </a:solidFill>
                <a:latin typeface="Arial"/>
                <a:cs typeface="Arial"/>
              </a:rPr>
              <a:t>it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229" dirty="0">
                <a:latin typeface="Arial"/>
                <a:cs typeface="Arial"/>
              </a:rPr>
              <a:t>ov</a:t>
            </a:r>
            <a:r>
              <a:rPr sz="2800" spc="-235" dirty="0">
                <a:latin typeface="Arial"/>
                <a:cs typeface="Arial"/>
              </a:rPr>
              <a:t>e</a:t>
            </a:r>
            <a:r>
              <a:rPr sz="2800" spc="-125" dirty="0">
                <a:latin typeface="Arial"/>
                <a:cs typeface="Arial"/>
              </a:rPr>
              <a:t>rc</a:t>
            </a:r>
            <a:r>
              <a:rPr sz="2800" spc="-160" dirty="0">
                <a:latin typeface="Arial"/>
                <a:cs typeface="Arial"/>
              </a:rPr>
              <a:t>o</a:t>
            </a:r>
            <a:r>
              <a:rPr sz="2800" spc="-250" dirty="0">
                <a:latin typeface="Arial"/>
                <a:cs typeface="Arial"/>
              </a:rPr>
              <a:t>m</a:t>
            </a:r>
            <a:r>
              <a:rPr sz="2800" spc="-459" dirty="0">
                <a:latin typeface="Arial"/>
                <a:cs typeface="Arial"/>
              </a:rPr>
              <a:t>e</a:t>
            </a:r>
            <a:r>
              <a:rPr sz="2800" spc="-409" dirty="0">
                <a:latin typeface="Arial"/>
                <a:cs typeface="Arial"/>
              </a:rPr>
              <a:t>s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155" dirty="0">
                <a:latin typeface="Arial"/>
                <a:cs typeface="Arial"/>
              </a:rPr>
              <a:t>th</a:t>
            </a:r>
            <a:r>
              <a:rPr sz="2800" spc="-200" dirty="0">
                <a:latin typeface="Arial"/>
                <a:cs typeface="Arial"/>
              </a:rPr>
              <a:t>e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20" dirty="0">
                <a:latin typeface="Arial"/>
                <a:cs typeface="Arial"/>
              </a:rPr>
              <a:t>l</a:t>
            </a:r>
            <a:r>
              <a:rPr sz="2800" spc="-15" dirty="0">
                <a:latin typeface="Arial"/>
                <a:cs typeface="Arial"/>
              </a:rPr>
              <a:t>i</a:t>
            </a:r>
            <a:r>
              <a:rPr sz="2800" spc="-114" dirty="0">
                <a:latin typeface="Arial"/>
                <a:cs typeface="Arial"/>
              </a:rPr>
              <a:t>mitation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95" dirty="0">
                <a:latin typeface="Arial"/>
                <a:cs typeface="Arial"/>
              </a:rPr>
              <a:t>o</a:t>
            </a:r>
            <a:r>
              <a:rPr sz="2800" spc="-50" dirty="0">
                <a:latin typeface="Arial"/>
                <a:cs typeface="Arial"/>
              </a:rPr>
              <a:t>f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45" dirty="0">
                <a:latin typeface="Arial"/>
                <a:cs typeface="Arial"/>
              </a:rPr>
              <a:t>t</a:t>
            </a:r>
            <a:r>
              <a:rPr sz="2800" spc="-215" dirty="0">
                <a:latin typeface="Arial"/>
                <a:cs typeface="Arial"/>
              </a:rPr>
              <a:t>he  </a:t>
            </a:r>
            <a:r>
              <a:rPr sz="2800" spc="-180" dirty="0">
                <a:latin typeface="Arial"/>
                <a:cs typeface="Arial"/>
              </a:rPr>
              <a:t>half-adder</a:t>
            </a:r>
            <a:r>
              <a:rPr sz="2800" spc="-180" dirty="0">
                <a:solidFill>
                  <a:srgbClr val="006FC0"/>
                </a:solidFill>
                <a:latin typeface="Arial"/>
                <a:cs typeface="Arial"/>
              </a:rPr>
              <a:t>, </a:t>
            </a:r>
            <a:r>
              <a:rPr sz="2800" spc="-185" dirty="0">
                <a:solidFill>
                  <a:srgbClr val="006FC0"/>
                </a:solidFill>
                <a:latin typeface="Arial"/>
                <a:cs typeface="Arial"/>
              </a:rPr>
              <a:t>which </a:t>
            </a:r>
            <a:r>
              <a:rPr sz="2800" spc="-285" dirty="0">
                <a:solidFill>
                  <a:srgbClr val="006FC0"/>
                </a:solidFill>
                <a:latin typeface="Arial"/>
                <a:cs typeface="Arial"/>
              </a:rPr>
              <a:t>can </a:t>
            </a:r>
            <a:r>
              <a:rPr sz="2800" spc="-280" dirty="0">
                <a:solidFill>
                  <a:srgbClr val="006FC0"/>
                </a:solidFill>
                <a:latin typeface="Arial"/>
                <a:cs typeface="Arial"/>
              </a:rPr>
              <a:t>be </a:t>
            </a:r>
            <a:r>
              <a:rPr sz="2800" spc="-310" dirty="0">
                <a:solidFill>
                  <a:srgbClr val="006FC0"/>
                </a:solidFill>
                <a:latin typeface="Arial"/>
                <a:cs typeface="Arial"/>
              </a:rPr>
              <a:t>used </a:t>
            </a:r>
            <a:r>
              <a:rPr sz="2800" spc="-50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800" spc="-240" dirty="0">
                <a:solidFill>
                  <a:srgbClr val="006FC0"/>
                </a:solidFill>
                <a:latin typeface="Arial"/>
                <a:cs typeface="Arial"/>
              </a:rPr>
              <a:t>add </a:t>
            </a:r>
            <a:r>
              <a:rPr sz="2800" spc="-120" dirty="0">
                <a:solidFill>
                  <a:srgbClr val="006FC0"/>
                </a:solidFill>
                <a:latin typeface="Arial"/>
                <a:cs typeface="Arial"/>
              </a:rPr>
              <a:t>two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bits</a:t>
            </a:r>
            <a:r>
              <a:rPr sz="2800" spc="-44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135" dirty="0">
                <a:solidFill>
                  <a:srgbClr val="006FC0"/>
                </a:solidFill>
                <a:latin typeface="Arial"/>
                <a:cs typeface="Arial"/>
              </a:rPr>
              <a:t>only.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E36C09"/>
              </a:buClr>
              <a:buFont typeface="Wingdings"/>
              <a:buChar char=""/>
            </a:pPr>
            <a:endParaRPr sz="2900">
              <a:latin typeface="Arial"/>
              <a:cs typeface="Arial"/>
            </a:endParaRPr>
          </a:p>
          <a:p>
            <a:pPr marL="476884" marR="7620" indent="-464820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476884" algn="l"/>
                <a:tab pos="477520" algn="l"/>
                <a:tab pos="908685" algn="l"/>
                <a:tab pos="1511935" algn="l"/>
                <a:tab pos="2464435" algn="l"/>
                <a:tab pos="2832100" algn="l"/>
                <a:tab pos="3155315" algn="l"/>
                <a:tab pos="5249545" algn="l"/>
                <a:tab pos="6273800" algn="l"/>
                <a:tab pos="6981190" algn="l"/>
                <a:tab pos="7932420" algn="l"/>
              </a:tabLst>
            </a:pPr>
            <a:r>
              <a:rPr sz="2800" spc="135" dirty="0">
                <a:solidFill>
                  <a:srgbClr val="006FC0"/>
                </a:solidFill>
                <a:latin typeface="Arial"/>
                <a:cs typeface="Arial"/>
              </a:rPr>
              <a:t>A	</a:t>
            </a:r>
            <a:r>
              <a:rPr sz="2800" spc="-90" dirty="0">
                <a:solidFill>
                  <a:srgbClr val="006FC0"/>
                </a:solidFill>
                <a:latin typeface="Arial"/>
                <a:cs typeface="Arial"/>
              </a:rPr>
              <a:t>fu</a:t>
            </a:r>
            <a:r>
              <a:rPr sz="2800" spc="-40" dirty="0">
                <a:solidFill>
                  <a:srgbClr val="006FC0"/>
                </a:solidFill>
                <a:latin typeface="Arial"/>
                <a:cs typeface="Arial"/>
              </a:rPr>
              <a:t>l</a:t>
            </a:r>
            <a:r>
              <a:rPr sz="2800" spc="-20" dirty="0">
                <a:solidFill>
                  <a:srgbClr val="006FC0"/>
                </a:solidFill>
                <a:latin typeface="Arial"/>
                <a:cs typeface="Arial"/>
              </a:rPr>
              <a:t>l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215" dirty="0">
                <a:solidFill>
                  <a:srgbClr val="006FC0"/>
                </a:solidFill>
                <a:latin typeface="Arial"/>
                <a:cs typeface="Arial"/>
              </a:rPr>
              <a:t>adder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160" dirty="0">
                <a:solidFill>
                  <a:srgbClr val="006FC0"/>
                </a:solidFill>
                <a:latin typeface="Arial"/>
                <a:cs typeface="Arial"/>
              </a:rPr>
              <a:t>i</a:t>
            </a:r>
            <a:r>
              <a:rPr sz="2800" spc="-370" dirty="0">
                <a:solidFill>
                  <a:srgbClr val="006FC0"/>
                </a:solidFill>
                <a:latin typeface="Arial"/>
                <a:cs typeface="Arial"/>
              </a:rPr>
              <a:t>s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395" dirty="0">
                <a:solidFill>
                  <a:srgbClr val="006FC0"/>
                </a:solidFill>
                <a:latin typeface="Arial"/>
                <a:cs typeface="Arial"/>
              </a:rPr>
              <a:t>a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c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ombi</a:t>
            </a:r>
            <a:r>
              <a:rPr sz="2800" spc="-160" dirty="0">
                <a:solidFill>
                  <a:srgbClr val="006FC0"/>
                </a:solidFill>
                <a:latin typeface="Arial"/>
                <a:cs typeface="Arial"/>
              </a:rPr>
              <a:t>n</a:t>
            </a:r>
            <a:r>
              <a:rPr sz="2800" spc="-180" dirty="0">
                <a:solidFill>
                  <a:srgbClr val="006FC0"/>
                </a:solidFill>
                <a:latin typeface="Arial"/>
                <a:cs typeface="Arial"/>
              </a:rPr>
              <a:t>ation</a:t>
            </a:r>
            <a:r>
              <a:rPr sz="2800" spc="-240" dirty="0">
                <a:solidFill>
                  <a:srgbClr val="006FC0"/>
                </a:solidFill>
                <a:latin typeface="Arial"/>
                <a:cs typeface="Arial"/>
              </a:rPr>
              <a:t>a</a:t>
            </a:r>
            <a:r>
              <a:rPr sz="2800" spc="-20" dirty="0">
                <a:solidFill>
                  <a:srgbClr val="006FC0"/>
                </a:solidFill>
                <a:latin typeface="Arial"/>
                <a:cs typeface="Arial"/>
              </a:rPr>
              <a:t>l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130" dirty="0">
                <a:solidFill>
                  <a:srgbClr val="006FC0"/>
                </a:solidFill>
                <a:latin typeface="Arial"/>
                <a:cs typeface="Arial"/>
              </a:rPr>
              <a:t>circ</a:t>
            </a:r>
            <a:r>
              <a:rPr sz="2800" spc="-180" dirty="0">
                <a:solidFill>
                  <a:srgbClr val="006FC0"/>
                </a:solidFill>
                <a:latin typeface="Arial"/>
                <a:cs typeface="Arial"/>
              </a:rPr>
              <a:t>u</a:t>
            </a:r>
            <a:r>
              <a:rPr sz="2800" spc="20" dirty="0">
                <a:solidFill>
                  <a:srgbClr val="006FC0"/>
                </a:solidFill>
                <a:latin typeface="Arial"/>
                <a:cs typeface="Arial"/>
              </a:rPr>
              <a:t>it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45" dirty="0">
                <a:solidFill>
                  <a:srgbClr val="006FC0"/>
                </a:solidFill>
                <a:latin typeface="Arial"/>
                <a:cs typeface="Arial"/>
              </a:rPr>
              <a:t>t</a:t>
            </a:r>
            <a:r>
              <a:rPr sz="2800" spc="-305" dirty="0">
                <a:solidFill>
                  <a:srgbClr val="006FC0"/>
                </a:solidFill>
                <a:latin typeface="Arial"/>
                <a:cs typeface="Arial"/>
              </a:rPr>
              <a:t>h</a:t>
            </a:r>
            <a:r>
              <a:rPr sz="2800" spc="-310" dirty="0">
                <a:solidFill>
                  <a:srgbClr val="006FC0"/>
                </a:solidFill>
                <a:latin typeface="Arial"/>
                <a:cs typeface="Arial"/>
              </a:rPr>
              <a:t>a</a:t>
            </a:r>
            <a:r>
              <a:rPr sz="2800" spc="60" dirty="0">
                <a:solidFill>
                  <a:srgbClr val="006FC0"/>
                </a:solidFill>
                <a:latin typeface="Arial"/>
                <a:cs typeface="Arial"/>
              </a:rPr>
              <a:t>t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5" dirty="0">
                <a:solidFill>
                  <a:srgbClr val="006FC0"/>
                </a:solidFill>
                <a:latin typeface="Arial"/>
                <a:cs typeface="Arial"/>
              </a:rPr>
              <a:t>f</a:t>
            </a:r>
            <a:r>
              <a:rPr sz="2800" spc="-100" dirty="0">
                <a:solidFill>
                  <a:srgbClr val="006FC0"/>
                </a:solidFill>
                <a:latin typeface="Arial"/>
                <a:cs typeface="Arial"/>
              </a:rPr>
              <a:t>o</a:t>
            </a:r>
            <a:r>
              <a:rPr sz="2800" spc="-55" dirty="0">
                <a:solidFill>
                  <a:srgbClr val="006FC0"/>
                </a:solidFill>
                <a:latin typeface="Arial"/>
                <a:cs typeface="Arial"/>
              </a:rPr>
              <a:t>r</a:t>
            </a:r>
            <a:r>
              <a:rPr sz="2800" spc="-375" dirty="0">
                <a:solidFill>
                  <a:srgbClr val="006FC0"/>
                </a:solidFill>
                <a:latin typeface="Arial"/>
                <a:cs typeface="Arial"/>
              </a:rPr>
              <a:t>ms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45" dirty="0">
                <a:solidFill>
                  <a:srgbClr val="006FC0"/>
                </a:solidFill>
                <a:latin typeface="Arial"/>
                <a:cs typeface="Arial"/>
              </a:rPr>
              <a:t>t</a:t>
            </a:r>
            <a:r>
              <a:rPr sz="2800" spc="-215" dirty="0">
                <a:solidFill>
                  <a:srgbClr val="006FC0"/>
                </a:solidFill>
                <a:latin typeface="Arial"/>
                <a:cs typeface="Arial"/>
              </a:rPr>
              <a:t>he  </a:t>
            </a:r>
            <a:r>
              <a:rPr sz="2800" spc="-135" dirty="0">
                <a:solidFill>
                  <a:srgbClr val="006FC0"/>
                </a:solidFill>
                <a:latin typeface="Arial"/>
                <a:cs typeface="Arial"/>
              </a:rPr>
              <a:t>arithmetic </a:t>
            </a:r>
            <a:r>
              <a:rPr sz="2800" spc="-320" dirty="0">
                <a:solidFill>
                  <a:srgbClr val="006FC0"/>
                </a:solidFill>
                <a:latin typeface="Arial"/>
                <a:cs typeface="Arial"/>
              </a:rPr>
              <a:t>sum </a:t>
            </a:r>
            <a:r>
              <a:rPr sz="2800" spc="-70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170" dirty="0">
                <a:latin typeface="Arial"/>
                <a:cs typeface="Arial"/>
              </a:rPr>
              <a:t>three </a:t>
            </a:r>
            <a:r>
              <a:rPr sz="2800" spc="-100" dirty="0">
                <a:latin typeface="Arial"/>
                <a:cs typeface="Arial"/>
              </a:rPr>
              <a:t>input</a:t>
            </a:r>
            <a:r>
              <a:rPr sz="2800" spc="155" dirty="0">
                <a:latin typeface="Arial"/>
                <a:cs typeface="Arial"/>
              </a:rPr>
              <a:t> </a:t>
            </a:r>
            <a:r>
              <a:rPr sz="2800" spc="-170" dirty="0">
                <a:latin typeface="Arial"/>
                <a:cs typeface="Arial"/>
              </a:rPr>
              <a:t>bits.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E36C09"/>
              </a:buClr>
              <a:buFont typeface="Wingdings"/>
              <a:buChar char=""/>
            </a:pPr>
            <a:endParaRPr sz="2900">
              <a:latin typeface="Arial"/>
              <a:cs typeface="Arial"/>
            </a:endParaRPr>
          </a:p>
          <a:p>
            <a:pPr marL="476884" marR="5080" indent="-464820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476884" algn="l"/>
                <a:tab pos="477520" algn="l"/>
                <a:tab pos="835660" algn="l"/>
                <a:tab pos="2002789" algn="l"/>
                <a:tab pos="2432685" algn="l"/>
                <a:tab pos="2730500" algn="l"/>
                <a:tab pos="3696335" algn="l"/>
                <a:tab pos="4344035" algn="l"/>
                <a:tab pos="4641215" algn="l"/>
                <a:tab pos="5894070" algn="l"/>
                <a:tab pos="6648450" algn="l"/>
                <a:tab pos="7077075" algn="l"/>
                <a:tab pos="7659370" algn="l"/>
              </a:tabLst>
            </a:pPr>
            <a:r>
              <a:rPr sz="2800" spc="35" dirty="0">
                <a:solidFill>
                  <a:srgbClr val="006FC0"/>
                </a:solidFill>
                <a:latin typeface="Arial"/>
                <a:cs typeface="Arial"/>
              </a:rPr>
              <a:t>It	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c</a:t>
            </a:r>
            <a:r>
              <a:rPr sz="2800" spc="-185" dirty="0">
                <a:solidFill>
                  <a:srgbClr val="006FC0"/>
                </a:solidFill>
                <a:latin typeface="Arial"/>
                <a:cs typeface="Arial"/>
              </a:rPr>
              <a:t>o</a:t>
            </a:r>
            <a:r>
              <a:rPr sz="2800" spc="-180" dirty="0">
                <a:solidFill>
                  <a:srgbClr val="006FC0"/>
                </a:solidFill>
                <a:latin typeface="Arial"/>
                <a:cs typeface="Arial"/>
              </a:rPr>
              <a:t>n</a:t>
            </a:r>
            <a:r>
              <a:rPr sz="2800" spc="-310" dirty="0">
                <a:solidFill>
                  <a:srgbClr val="006FC0"/>
                </a:solidFill>
                <a:latin typeface="Arial"/>
                <a:cs typeface="Arial"/>
              </a:rPr>
              <a:t>si</a:t>
            </a:r>
            <a:r>
              <a:rPr sz="2800" spc="-425" dirty="0">
                <a:solidFill>
                  <a:srgbClr val="006FC0"/>
                </a:solidFill>
                <a:latin typeface="Arial"/>
                <a:cs typeface="Arial"/>
              </a:rPr>
              <a:t>s</a:t>
            </a:r>
            <a:r>
              <a:rPr sz="2800" spc="45" dirty="0">
                <a:solidFill>
                  <a:srgbClr val="006FC0"/>
                </a:solidFill>
                <a:latin typeface="Arial"/>
                <a:cs typeface="Arial"/>
              </a:rPr>
              <a:t>t</a:t>
            </a:r>
            <a:r>
              <a:rPr sz="2800" spc="-515" dirty="0">
                <a:solidFill>
                  <a:srgbClr val="006FC0"/>
                </a:solidFill>
                <a:latin typeface="Arial"/>
                <a:cs typeface="Arial"/>
              </a:rPr>
              <a:t>s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95" dirty="0">
                <a:solidFill>
                  <a:srgbClr val="006FC0"/>
                </a:solidFill>
                <a:latin typeface="Arial"/>
                <a:cs typeface="Arial"/>
              </a:rPr>
              <a:t>o</a:t>
            </a:r>
            <a:r>
              <a:rPr sz="2800" spc="-50" dirty="0">
                <a:solidFill>
                  <a:srgbClr val="006FC0"/>
                </a:solidFill>
                <a:latin typeface="Arial"/>
                <a:cs typeface="Arial"/>
              </a:rPr>
              <a:t>f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400" dirty="0">
                <a:latin typeface="Arial"/>
                <a:cs typeface="Arial"/>
              </a:rPr>
              <a:t>3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175" dirty="0">
                <a:latin typeface="Arial"/>
                <a:cs typeface="Arial"/>
              </a:rPr>
              <a:t>inputs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300" dirty="0">
                <a:latin typeface="Arial"/>
                <a:cs typeface="Arial"/>
              </a:rPr>
              <a:t>a</a:t>
            </a:r>
            <a:r>
              <a:rPr sz="2800" spc="-310" dirty="0">
                <a:latin typeface="Arial"/>
                <a:cs typeface="Arial"/>
              </a:rPr>
              <a:t>n</a:t>
            </a:r>
            <a:r>
              <a:rPr sz="2800" spc="-160" dirty="0">
                <a:latin typeface="Arial"/>
                <a:cs typeface="Arial"/>
              </a:rPr>
              <a:t>d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400" dirty="0">
                <a:latin typeface="Arial"/>
                <a:cs typeface="Arial"/>
              </a:rPr>
              <a:t>2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130" dirty="0">
                <a:latin typeface="Arial"/>
                <a:cs typeface="Arial"/>
              </a:rPr>
              <a:t>outp</a:t>
            </a:r>
            <a:r>
              <a:rPr sz="2800" spc="-145" dirty="0">
                <a:latin typeface="Arial"/>
                <a:cs typeface="Arial"/>
              </a:rPr>
              <a:t>u</a:t>
            </a:r>
            <a:r>
              <a:rPr sz="2800" spc="-170" dirty="0">
                <a:latin typeface="Arial"/>
                <a:cs typeface="Arial"/>
              </a:rPr>
              <a:t>t</a:t>
            </a:r>
            <a:r>
              <a:rPr sz="2800" spc="-305" dirty="0">
                <a:latin typeface="Arial"/>
                <a:cs typeface="Arial"/>
              </a:rPr>
              <a:t>s</a:t>
            </a:r>
            <a:r>
              <a:rPr sz="2800" spc="-160" dirty="0">
                <a:solidFill>
                  <a:srgbClr val="006FC0"/>
                </a:solidFill>
                <a:latin typeface="Arial"/>
                <a:cs typeface="Arial"/>
              </a:rPr>
              <a:t>.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195" dirty="0">
                <a:solidFill>
                  <a:srgbClr val="006FC0"/>
                </a:solidFill>
                <a:latin typeface="Arial"/>
                <a:cs typeface="Arial"/>
              </a:rPr>
              <a:t>Tw</a:t>
            </a:r>
            <a:r>
              <a:rPr sz="2800" spc="-160" dirty="0">
                <a:solidFill>
                  <a:srgbClr val="006FC0"/>
                </a:solidFill>
                <a:latin typeface="Arial"/>
                <a:cs typeface="Arial"/>
              </a:rPr>
              <a:t>o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95" dirty="0">
                <a:solidFill>
                  <a:srgbClr val="006FC0"/>
                </a:solidFill>
                <a:latin typeface="Arial"/>
                <a:cs typeface="Arial"/>
              </a:rPr>
              <a:t>o</a:t>
            </a:r>
            <a:r>
              <a:rPr sz="2800" spc="-50" dirty="0">
                <a:solidFill>
                  <a:srgbClr val="006FC0"/>
                </a:solidFill>
                <a:latin typeface="Arial"/>
                <a:cs typeface="Arial"/>
              </a:rPr>
              <a:t>f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155" dirty="0">
                <a:solidFill>
                  <a:srgbClr val="006FC0"/>
                </a:solidFill>
                <a:latin typeface="Arial"/>
                <a:cs typeface="Arial"/>
              </a:rPr>
              <a:t>th</a:t>
            </a:r>
            <a:r>
              <a:rPr sz="2800" spc="-200" dirty="0">
                <a:solidFill>
                  <a:srgbClr val="006FC0"/>
                </a:solidFill>
                <a:latin typeface="Arial"/>
                <a:cs typeface="Arial"/>
              </a:rPr>
              <a:t>e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65" dirty="0">
                <a:solidFill>
                  <a:srgbClr val="006FC0"/>
                </a:solidFill>
                <a:latin typeface="Arial"/>
                <a:cs typeface="Arial"/>
              </a:rPr>
              <a:t>i</a:t>
            </a:r>
            <a:r>
              <a:rPr sz="2800" spc="-155" dirty="0">
                <a:solidFill>
                  <a:srgbClr val="006FC0"/>
                </a:solidFill>
                <a:latin typeface="Arial"/>
                <a:cs typeface="Arial"/>
              </a:rPr>
              <a:t>n</a:t>
            </a:r>
            <a:r>
              <a:rPr sz="2800" spc="-85" dirty="0">
                <a:solidFill>
                  <a:srgbClr val="006FC0"/>
                </a:solidFill>
                <a:latin typeface="Arial"/>
                <a:cs typeface="Arial"/>
              </a:rPr>
              <a:t>put  </a:t>
            </a:r>
            <a:r>
              <a:rPr sz="2800" spc="-225" dirty="0">
                <a:solidFill>
                  <a:srgbClr val="006FC0"/>
                </a:solidFill>
                <a:latin typeface="Arial"/>
                <a:cs typeface="Arial"/>
              </a:rPr>
              <a:t>variables, </a:t>
            </a:r>
            <a:r>
              <a:rPr sz="2800" spc="-210" dirty="0">
                <a:solidFill>
                  <a:srgbClr val="006FC0"/>
                </a:solidFill>
                <a:latin typeface="Arial"/>
                <a:cs typeface="Arial"/>
              </a:rPr>
              <a:t>represent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significant bits </a:t>
            </a:r>
            <a:r>
              <a:rPr sz="2800" spc="-50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800" spc="-280" dirty="0">
                <a:solidFill>
                  <a:srgbClr val="006FC0"/>
                </a:solidFill>
                <a:latin typeface="Arial"/>
                <a:cs typeface="Arial"/>
              </a:rPr>
              <a:t>be</a:t>
            </a:r>
            <a:r>
              <a:rPr sz="2800" spc="-18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added.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E36C09"/>
              </a:buClr>
              <a:buFont typeface="Wingdings"/>
              <a:buChar char=""/>
            </a:pPr>
            <a:endParaRPr sz="2900">
              <a:latin typeface="Arial"/>
              <a:cs typeface="Arial"/>
            </a:endParaRPr>
          </a:p>
          <a:p>
            <a:pPr marL="476884" marR="6985" indent="-464820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476884" algn="l"/>
                <a:tab pos="477520" algn="l"/>
                <a:tab pos="1199515" algn="l"/>
                <a:tab pos="2047239" algn="l"/>
                <a:tab pos="2948305" algn="l"/>
                <a:tab pos="4523740" algn="l"/>
                <a:tab pos="5411470" algn="l"/>
                <a:tab pos="6270625" algn="l"/>
                <a:tab pos="7610475" algn="l"/>
              </a:tabLst>
            </a:pPr>
            <a:r>
              <a:rPr sz="2800" spc="-180" dirty="0">
                <a:solidFill>
                  <a:srgbClr val="006FC0"/>
                </a:solidFill>
                <a:latin typeface="Arial"/>
                <a:cs typeface="Arial"/>
              </a:rPr>
              <a:t>T</a:t>
            </a:r>
            <a:r>
              <a:rPr sz="2800" spc="-155" dirty="0">
                <a:solidFill>
                  <a:srgbClr val="006FC0"/>
                </a:solidFill>
                <a:latin typeface="Arial"/>
                <a:cs typeface="Arial"/>
              </a:rPr>
              <a:t>h</a:t>
            </a:r>
            <a:r>
              <a:rPr sz="2800" spc="-350" dirty="0">
                <a:solidFill>
                  <a:srgbClr val="006FC0"/>
                </a:solidFill>
                <a:latin typeface="Arial"/>
                <a:cs typeface="Arial"/>
              </a:rPr>
              <a:t>e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70" dirty="0">
                <a:latin typeface="Arial"/>
                <a:cs typeface="Arial"/>
              </a:rPr>
              <a:t>th</a:t>
            </a:r>
            <a:r>
              <a:rPr sz="2800" spc="-30" dirty="0">
                <a:latin typeface="Arial"/>
                <a:cs typeface="Arial"/>
              </a:rPr>
              <a:t>i</a:t>
            </a:r>
            <a:r>
              <a:rPr sz="2800" spc="-65" dirty="0">
                <a:latin typeface="Arial"/>
                <a:cs typeface="Arial"/>
              </a:rPr>
              <a:t>r</a:t>
            </a:r>
            <a:r>
              <a:rPr sz="2800" spc="-100" dirty="0">
                <a:latin typeface="Arial"/>
                <a:cs typeface="Arial"/>
              </a:rPr>
              <a:t>d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65" dirty="0">
                <a:latin typeface="Arial"/>
                <a:cs typeface="Arial"/>
              </a:rPr>
              <a:t>i</a:t>
            </a:r>
            <a:r>
              <a:rPr sz="2800" spc="-155" dirty="0">
                <a:latin typeface="Arial"/>
                <a:cs typeface="Arial"/>
              </a:rPr>
              <a:t>n</a:t>
            </a:r>
            <a:r>
              <a:rPr sz="2800" spc="-105" dirty="0">
                <a:latin typeface="Arial"/>
                <a:cs typeface="Arial"/>
              </a:rPr>
              <a:t>put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245" dirty="0">
                <a:solidFill>
                  <a:srgbClr val="006FC0"/>
                </a:solidFill>
                <a:latin typeface="Arial"/>
                <a:cs typeface="Arial"/>
              </a:rPr>
              <a:t>repres</a:t>
            </a:r>
            <a:r>
              <a:rPr sz="2800" spc="-285" dirty="0">
                <a:solidFill>
                  <a:srgbClr val="006FC0"/>
                </a:solidFill>
                <a:latin typeface="Arial"/>
                <a:cs typeface="Arial"/>
              </a:rPr>
              <a:t>e</a:t>
            </a:r>
            <a:r>
              <a:rPr sz="2800" spc="-215" dirty="0">
                <a:solidFill>
                  <a:srgbClr val="006FC0"/>
                </a:solidFill>
                <a:latin typeface="Arial"/>
                <a:cs typeface="Arial"/>
              </a:rPr>
              <a:t>nt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s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240" dirty="0">
                <a:latin typeface="Arial"/>
                <a:cs typeface="Arial"/>
              </a:rPr>
              <a:t>ca</a:t>
            </a:r>
            <a:r>
              <a:rPr sz="2800" spc="-165" dirty="0">
                <a:latin typeface="Arial"/>
                <a:cs typeface="Arial"/>
              </a:rPr>
              <a:t>r</a:t>
            </a:r>
            <a:r>
              <a:rPr sz="2800" spc="-65" dirty="0">
                <a:latin typeface="Arial"/>
                <a:cs typeface="Arial"/>
              </a:rPr>
              <a:t>r</a:t>
            </a:r>
            <a:r>
              <a:rPr sz="2800" spc="-85" dirty="0">
                <a:latin typeface="Arial"/>
                <a:cs typeface="Arial"/>
              </a:rPr>
              <a:t>y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45" dirty="0">
                <a:solidFill>
                  <a:srgbClr val="006FC0"/>
                </a:solidFill>
                <a:latin typeface="Arial"/>
                <a:cs typeface="Arial"/>
              </a:rPr>
              <a:t>fr</a:t>
            </a:r>
            <a:r>
              <a:rPr sz="2800" spc="-65" dirty="0">
                <a:solidFill>
                  <a:srgbClr val="006FC0"/>
                </a:solidFill>
                <a:latin typeface="Arial"/>
                <a:cs typeface="Arial"/>
              </a:rPr>
              <a:t>o</a:t>
            </a:r>
            <a:r>
              <a:rPr sz="2800" spc="-240" dirty="0">
                <a:solidFill>
                  <a:srgbClr val="006FC0"/>
                </a:solidFill>
                <a:latin typeface="Arial"/>
                <a:cs typeface="Arial"/>
              </a:rPr>
              <a:t>m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140" dirty="0">
                <a:solidFill>
                  <a:srgbClr val="006FC0"/>
                </a:solidFill>
                <a:latin typeface="Arial"/>
                <a:cs typeface="Arial"/>
              </a:rPr>
              <a:t>previ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o</a:t>
            </a:r>
            <a:r>
              <a:rPr sz="2800" spc="-385" dirty="0">
                <a:solidFill>
                  <a:srgbClr val="006FC0"/>
                </a:solidFill>
                <a:latin typeface="Arial"/>
                <a:cs typeface="Arial"/>
              </a:rPr>
              <a:t>u</a:t>
            </a:r>
            <a:r>
              <a:rPr sz="2800" spc="-345" dirty="0">
                <a:solidFill>
                  <a:srgbClr val="006FC0"/>
                </a:solidFill>
                <a:latin typeface="Arial"/>
                <a:cs typeface="Arial"/>
              </a:rPr>
              <a:t>s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140" dirty="0">
                <a:solidFill>
                  <a:srgbClr val="006FC0"/>
                </a:solidFill>
                <a:latin typeface="Arial"/>
                <a:cs typeface="Arial"/>
              </a:rPr>
              <a:t>lower 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significant</a:t>
            </a:r>
            <a:r>
              <a:rPr sz="2800" spc="-3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145" dirty="0">
                <a:solidFill>
                  <a:srgbClr val="006FC0"/>
                </a:solidFill>
                <a:latin typeface="Arial"/>
                <a:cs typeface="Arial"/>
              </a:rPr>
              <a:t>position.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sp>
          <p:nvSpPr>
            <p:cNvPr id="14" name="object 14"/>
            <p:cNvSpPr/>
            <p:nvPr/>
          </p:nvSpPr>
          <p:spPr>
            <a:xfrm>
              <a:off x="8593835" y="6620255"/>
              <a:ext cx="550164" cy="23774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674607" y="6556243"/>
              <a:ext cx="469392" cy="30175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8787638" y="6649770"/>
            <a:ext cx="256540" cy="234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75"/>
              </a:lnSpc>
            </a:pPr>
            <a:r>
              <a:rPr sz="1400" b="1" dirty="0">
                <a:solidFill>
                  <a:srgbClr val="FFFFFF"/>
                </a:solidFill>
                <a:latin typeface="Carlito"/>
                <a:cs typeface="Carlito"/>
              </a:rPr>
              <a:t>36</a:t>
            </a:r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793241" y="982217"/>
              <a:ext cx="7589519" cy="762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6764"/>
              <a:ext cx="9143999" cy="668274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53439" y="320001"/>
              <a:ext cx="7434072" cy="57611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951988" y="202679"/>
              <a:ext cx="3233928" cy="93422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226435" y="321386"/>
            <a:ext cx="269049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95" dirty="0"/>
              <a:t>BINARY </a:t>
            </a:r>
            <a:r>
              <a:rPr spc="-45" dirty="0"/>
              <a:t>ADDER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40607" y="1129664"/>
            <a:ext cx="141922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00" dirty="0">
                <a:solidFill>
                  <a:srgbClr val="C00000"/>
                </a:solidFill>
                <a:latin typeface="Arial"/>
                <a:cs typeface="Arial"/>
              </a:rPr>
              <a:t>FULL</a:t>
            </a:r>
            <a:r>
              <a:rPr sz="2000" b="1" spc="-1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200" dirty="0">
                <a:solidFill>
                  <a:srgbClr val="C00000"/>
                </a:solidFill>
                <a:latin typeface="Arial"/>
                <a:cs typeface="Arial"/>
              </a:rPr>
              <a:t>ADDER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042409" y="2057400"/>
            <a:ext cx="4719828" cy="101193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14"/>
          <p:cNvGrpSpPr/>
          <p:nvPr/>
        </p:nvGrpSpPr>
        <p:grpSpPr>
          <a:xfrm>
            <a:off x="304800" y="3048000"/>
            <a:ext cx="8844280" cy="3810000"/>
            <a:chOff x="304800" y="3048000"/>
            <a:chExt cx="8844280" cy="3810000"/>
          </a:xfrm>
        </p:grpSpPr>
        <p:sp>
          <p:nvSpPr>
            <p:cNvPr id="15" name="object 15"/>
            <p:cNvSpPr/>
            <p:nvPr/>
          </p:nvSpPr>
          <p:spPr>
            <a:xfrm>
              <a:off x="304800" y="3048000"/>
              <a:ext cx="3547872" cy="2447544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593835" y="6620254"/>
              <a:ext cx="550164" cy="237743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674607" y="6556242"/>
              <a:ext cx="469392" cy="301755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641080" y="6644640"/>
              <a:ext cx="502920" cy="182880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4036059" y="2051050"/>
          <a:ext cx="4739640" cy="3677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3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85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85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50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46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0708"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b="1" spc="-5" dirty="0">
                          <a:latin typeface="Palladio Uralic"/>
                          <a:cs typeface="Palladio Uralic"/>
                        </a:rPr>
                        <a:t>Inputs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67945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b="1" dirty="0">
                          <a:latin typeface="Palladio Uralic"/>
                          <a:cs typeface="Palladio Uralic"/>
                        </a:rPr>
                        <a:t>Outputs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1227">
                <a:tc>
                  <a:txBody>
                    <a:bodyPr/>
                    <a:lstStyle/>
                    <a:p>
                      <a:pPr marL="283210">
                        <a:lnSpc>
                          <a:spcPct val="100000"/>
                        </a:lnSpc>
                        <a:spcBef>
                          <a:spcPts val="1460"/>
                        </a:spcBef>
                      </a:pPr>
                      <a:r>
                        <a:rPr sz="2000" b="1" dirty="0">
                          <a:latin typeface="Palladio Uralic"/>
                          <a:cs typeface="Palladio Uralic"/>
                        </a:rPr>
                        <a:t>A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854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5120">
                        <a:lnSpc>
                          <a:spcPct val="100000"/>
                        </a:lnSpc>
                        <a:spcBef>
                          <a:spcPts val="1460"/>
                        </a:spcBef>
                      </a:pPr>
                      <a:r>
                        <a:rPr sz="2000" b="1" dirty="0">
                          <a:latin typeface="Palladio Uralic"/>
                          <a:cs typeface="Palladio Uralic"/>
                        </a:rPr>
                        <a:t>B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854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0"/>
                        </a:spcBef>
                      </a:pPr>
                      <a:r>
                        <a:rPr sz="3000" b="1" spc="15" baseline="13888" dirty="0">
                          <a:latin typeface="Palladio Uralic"/>
                          <a:cs typeface="Palladio Uralic"/>
                        </a:rPr>
                        <a:t>C</a:t>
                      </a:r>
                      <a:r>
                        <a:rPr sz="1300" b="1" spc="10" dirty="0">
                          <a:latin typeface="Palladio Uralic"/>
                          <a:cs typeface="Palladio Uralic"/>
                        </a:rPr>
                        <a:t>in</a:t>
                      </a:r>
                      <a:endParaRPr sz="1300">
                        <a:latin typeface="Palladio Uralic"/>
                        <a:cs typeface="Palladio Uralic"/>
                      </a:endParaRPr>
                    </a:p>
                  </a:txBody>
                  <a:tcPr marL="0" marR="0" marT="2476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955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b="1" dirty="0">
                          <a:latin typeface="Palladio Uralic"/>
                          <a:cs typeface="Palladio Uralic"/>
                        </a:rPr>
                        <a:t>Sum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  <a:p>
                      <a:pPr marL="31496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000" b="1" dirty="0">
                          <a:latin typeface="Palladio Uralic"/>
                          <a:cs typeface="Palladio Uralic"/>
                        </a:rPr>
                        <a:t>(S)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623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b="1" spc="-5" dirty="0">
                          <a:latin typeface="Palladio Uralic"/>
                          <a:cs typeface="Palladio Uralic"/>
                        </a:rPr>
                        <a:t>Carry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  <a:p>
                      <a:pPr marL="37719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000" b="1" spc="5" dirty="0">
                          <a:latin typeface="Palladio Uralic"/>
                          <a:cs typeface="Palladio Uralic"/>
                        </a:rPr>
                        <a:t>(C</a:t>
                      </a:r>
                      <a:r>
                        <a:rPr sz="1950" b="1" spc="7" baseline="-21367" dirty="0">
                          <a:latin typeface="Palladio Uralic"/>
                          <a:cs typeface="Palladio Uralic"/>
                        </a:rPr>
                        <a:t>out</a:t>
                      </a:r>
                      <a:r>
                        <a:rPr sz="2000" b="1" spc="5" dirty="0">
                          <a:latin typeface="Palladio Uralic"/>
                          <a:cs typeface="Palladio Uralic"/>
                        </a:rPr>
                        <a:t>)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597">
                <a:tc>
                  <a:txBody>
                    <a:bodyPr/>
                    <a:lstStyle/>
                    <a:p>
                      <a:pPr marL="31813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480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785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596">
                <a:tc>
                  <a:txBody>
                    <a:bodyPr/>
                    <a:lstStyle/>
                    <a:p>
                      <a:pPr marL="31813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480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1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1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785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1596">
                <a:tc>
                  <a:txBody>
                    <a:bodyPr/>
                    <a:lstStyle/>
                    <a:p>
                      <a:pPr marL="31813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480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1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1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785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1597">
                <a:tc>
                  <a:txBody>
                    <a:bodyPr/>
                    <a:lstStyle/>
                    <a:p>
                      <a:pPr marL="31813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480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1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1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78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1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1596">
                <a:tc>
                  <a:txBody>
                    <a:bodyPr/>
                    <a:lstStyle/>
                    <a:p>
                      <a:pPr marL="31813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1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480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1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78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1597">
                <a:tc>
                  <a:txBody>
                    <a:bodyPr/>
                    <a:lstStyle/>
                    <a:p>
                      <a:pPr marL="31813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1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480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1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78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1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1597">
                <a:tc>
                  <a:txBody>
                    <a:bodyPr/>
                    <a:lstStyle/>
                    <a:p>
                      <a:pPr marL="31813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1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480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1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78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1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1597">
                <a:tc>
                  <a:txBody>
                    <a:bodyPr/>
                    <a:lstStyle/>
                    <a:p>
                      <a:pPr marL="31813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1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480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1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1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1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78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1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3" name="object 2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8787638" y="6649770"/>
            <a:ext cx="256540" cy="234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75"/>
              </a:lnSpc>
            </a:pPr>
            <a:r>
              <a:rPr sz="1400" b="1" dirty="0">
                <a:solidFill>
                  <a:srgbClr val="FFFFFF"/>
                </a:solidFill>
                <a:latin typeface="Carlito"/>
                <a:cs typeface="Carlito"/>
              </a:rPr>
              <a:t>37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22044" y="5648655"/>
            <a:ext cx="17672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5" dirty="0">
                <a:latin typeface="Arial"/>
                <a:cs typeface="Arial"/>
              </a:rPr>
              <a:t>LOGIC</a:t>
            </a:r>
            <a:r>
              <a:rPr sz="1800" b="1" spc="-75" dirty="0">
                <a:latin typeface="Arial"/>
                <a:cs typeface="Arial"/>
              </a:rPr>
              <a:t> </a:t>
            </a:r>
            <a:r>
              <a:rPr sz="1800" b="1" spc="-85" dirty="0">
                <a:latin typeface="Arial"/>
                <a:cs typeface="Arial"/>
              </a:rPr>
              <a:t>DIAGRAM</a:t>
            </a:r>
            <a:endParaRPr sz="1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642228" y="6182055"/>
            <a:ext cx="1438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0" dirty="0">
                <a:latin typeface="Arial"/>
                <a:cs typeface="Arial"/>
              </a:rPr>
              <a:t>TRUTH </a:t>
            </a:r>
            <a:r>
              <a:rPr sz="1800" b="1" spc="-195" dirty="0">
                <a:latin typeface="Arial"/>
                <a:cs typeface="Arial"/>
              </a:rPr>
              <a:t>TABLE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2951988" y="202679"/>
              <a:ext cx="3233928" cy="9342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226435" y="321386"/>
            <a:ext cx="269049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95" dirty="0"/>
              <a:t>BINARY </a:t>
            </a:r>
            <a:r>
              <a:rPr spc="-45" dirty="0"/>
              <a:t>ADDER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840607" y="1129664"/>
            <a:ext cx="141922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00" dirty="0">
                <a:solidFill>
                  <a:srgbClr val="C00000"/>
                </a:solidFill>
                <a:latin typeface="Arial"/>
                <a:cs typeface="Arial"/>
              </a:rPr>
              <a:t>FULL</a:t>
            </a:r>
            <a:r>
              <a:rPr sz="2000" b="1" spc="-1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200" dirty="0">
                <a:solidFill>
                  <a:srgbClr val="C00000"/>
                </a:solidFill>
                <a:latin typeface="Arial"/>
                <a:cs typeface="Arial"/>
              </a:rPr>
              <a:t>ADDER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2140" y="1456690"/>
            <a:ext cx="6959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75" dirty="0">
                <a:latin typeface="Arial"/>
                <a:cs typeface="Arial"/>
              </a:rPr>
              <a:t>K</a:t>
            </a:r>
            <a:r>
              <a:rPr sz="1800" b="1" spc="-90" dirty="0">
                <a:latin typeface="Arial"/>
                <a:cs typeface="Arial"/>
              </a:rPr>
              <a:t>-</a:t>
            </a:r>
            <a:r>
              <a:rPr sz="1800" b="1" dirty="0">
                <a:latin typeface="Arial"/>
                <a:cs typeface="Arial"/>
              </a:rPr>
              <a:t>M</a:t>
            </a:r>
            <a:r>
              <a:rPr sz="1800" b="1" spc="-10" dirty="0">
                <a:latin typeface="Arial"/>
                <a:cs typeface="Arial"/>
              </a:rPr>
              <a:t>A</a:t>
            </a:r>
            <a:r>
              <a:rPr sz="1800" b="1" spc="-365" dirty="0">
                <a:latin typeface="Arial"/>
                <a:cs typeface="Arial"/>
              </a:rPr>
              <a:t>P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33400" y="2057400"/>
            <a:ext cx="8615680" cy="4800600"/>
            <a:chOff x="533400" y="2057400"/>
            <a:chExt cx="8615680" cy="4800600"/>
          </a:xfrm>
        </p:grpSpPr>
        <p:sp>
          <p:nvSpPr>
            <p:cNvPr id="10" name="object 10"/>
            <p:cNvSpPr/>
            <p:nvPr/>
          </p:nvSpPr>
          <p:spPr>
            <a:xfrm>
              <a:off x="533400" y="2057400"/>
              <a:ext cx="8305800" cy="22098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593835" y="6620254"/>
              <a:ext cx="550164" cy="237743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674607" y="6556242"/>
              <a:ext cx="469392" cy="301755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641080" y="6644640"/>
              <a:ext cx="502920" cy="18288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45440" y="4580890"/>
            <a:ext cx="7532370" cy="1732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14984" marR="43180" indent="-464820">
              <a:lnSpc>
                <a:spcPct val="100000"/>
              </a:lnSpc>
              <a:spcBef>
                <a:spcPts val="95"/>
              </a:spcBef>
              <a:buClr>
                <a:srgbClr val="E36C09"/>
              </a:buClr>
              <a:buFont typeface="Wingdings"/>
              <a:buChar char=""/>
              <a:tabLst>
                <a:tab pos="514984" algn="l"/>
                <a:tab pos="515620" algn="l"/>
              </a:tabLst>
            </a:pP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245" dirty="0">
                <a:solidFill>
                  <a:srgbClr val="006FC0"/>
                </a:solidFill>
                <a:latin typeface="Arial"/>
                <a:cs typeface="Arial"/>
              </a:rPr>
              <a:t>Boolean </a:t>
            </a:r>
            <a:r>
              <a:rPr sz="2800" spc="-270" dirty="0">
                <a:solidFill>
                  <a:srgbClr val="006FC0"/>
                </a:solidFill>
                <a:latin typeface="Arial"/>
                <a:cs typeface="Arial"/>
              </a:rPr>
              <a:t>expressions </a:t>
            </a:r>
            <a:r>
              <a:rPr sz="2800" spc="-50" dirty="0">
                <a:solidFill>
                  <a:srgbClr val="006FC0"/>
                </a:solidFill>
                <a:latin typeface="Arial"/>
                <a:cs typeface="Arial"/>
              </a:rPr>
              <a:t>for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95" dirty="0">
                <a:solidFill>
                  <a:srgbClr val="006FC0"/>
                </a:solidFill>
                <a:latin typeface="Arial"/>
                <a:cs typeface="Arial"/>
              </a:rPr>
              <a:t>SUM 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spc="-260" dirty="0">
                <a:solidFill>
                  <a:srgbClr val="006FC0"/>
                </a:solidFill>
                <a:latin typeface="Arial"/>
                <a:cs typeface="Arial"/>
              </a:rPr>
              <a:t>CARRY  </a:t>
            </a:r>
            <a:r>
              <a:rPr sz="2800" spc="-160" dirty="0">
                <a:solidFill>
                  <a:srgbClr val="006FC0"/>
                </a:solidFill>
                <a:latin typeface="Arial"/>
                <a:cs typeface="Arial"/>
              </a:rPr>
              <a:t>outputs 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are </a:t>
            </a:r>
            <a:r>
              <a:rPr sz="2800" spc="-220" dirty="0">
                <a:solidFill>
                  <a:srgbClr val="006FC0"/>
                </a:solidFill>
                <a:latin typeface="Arial"/>
                <a:cs typeface="Arial"/>
              </a:rPr>
              <a:t>given </a:t>
            </a:r>
            <a:r>
              <a:rPr sz="2800" spc="-180" dirty="0">
                <a:solidFill>
                  <a:srgbClr val="006FC0"/>
                </a:solidFill>
                <a:latin typeface="Arial"/>
                <a:cs typeface="Arial"/>
              </a:rPr>
              <a:t>by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the</a:t>
            </a:r>
            <a:r>
              <a:rPr sz="2800" spc="-31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215" dirty="0">
                <a:solidFill>
                  <a:srgbClr val="006FC0"/>
                </a:solidFill>
                <a:latin typeface="Arial"/>
                <a:cs typeface="Arial"/>
              </a:rPr>
              <a:t>equations,</a:t>
            </a:r>
            <a:endParaRPr sz="2800">
              <a:latin typeface="Arial"/>
              <a:cs typeface="Arial"/>
            </a:endParaRPr>
          </a:p>
          <a:p>
            <a:pPr marL="965200">
              <a:lnSpc>
                <a:spcPct val="100000"/>
              </a:lnSpc>
              <a:tabLst>
                <a:tab pos="1879600" algn="l"/>
              </a:tabLst>
            </a:pPr>
            <a:r>
              <a:rPr sz="2800" spc="-290" dirty="0">
                <a:latin typeface="Arial"/>
                <a:cs typeface="Arial"/>
              </a:rPr>
              <a:t>Sum,	</a:t>
            </a:r>
            <a:r>
              <a:rPr sz="2800" spc="-250" dirty="0">
                <a:latin typeface="Arial"/>
                <a:cs typeface="Arial"/>
              </a:rPr>
              <a:t>S= </a:t>
            </a:r>
            <a:r>
              <a:rPr sz="2800" spc="-40" dirty="0">
                <a:latin typeface="Arial"/>
                <a:cs typeface="Arial"/>
              </a:rPr>
              <a:t>A’B’C</a:t>
            </a:r>
            <a:r>
              <a:rPr sz="2775" spc="-60" baseline="-21021" dirty="0">
                <a:latin typeface="Arial"/>
                <a:cs typeface="Arial"/>
              </a:rPr>
              <a:t>in</a:t>
            </a:r>
            <a:r>
              <a:rPr sz="2800" spc="-40" dirty="0">
                <a:latin typeface="Arial"/>
                <a:cs typeface="Arial"/>
              </a:rPr>
              <a:t>+ </a:t>
            </a:r>
            <a:r>
              <a:rPr sz="2800" spc="-55" dirty="0">
                <a:latin typeface="Arial"/>
                <a:cs typeface="Arial"/>
              </a:rPr>
              <a:t>A’BC’</a:t>
            </a:r>
            <a:r>
              <a:rPr sz="2775" spc="-82" baseline="-21021" dirty="0">
                <a:latin typeface="Arial"/>
                <a:cs typeface="Arial"/>
              </a:rPr>
              <a:t>in </a:t>
            </a:r>
            <a:r>
              <a:rPr sz="2800" spc="70" dirty="0">
                <a:latin typeface="Arial"/>
                <a:cs typeface="Arial"/>
              </a:rPr>
              <a:t>+ </a:t>
            </a:r>
            <a:r>
              <a:rPr sz="2800" spc="-55" dirty="0">
                <a:latin typeface="Arial"/>
                <a:cs typeface="Arial"/>
              </a:rPr>
              <a:t>AB’C’</a:t>
            </a:r>
            <a:r>
              <a:rPr sz="2775" spc="-82" baseline="-21021" dirty="0">
                <a:latin typeface="Arial"/>
                <a:cs typeface="Arial"/>
              </a:rPr>
              <a:t>in </a:t>
            </a:r>
            <a:r>
              <a:rPr sz="2800" spc="70" dirty="0">
                <a:latin typeface="Arial"/>
                <a:cs typeface="Arial"/>
              </a:rPr>
              <a:t>+</a:t>
            </a:r>
            <a:r>
              <a:rPr sz="2800" spc="-455" dirty="0">
                <a:latin typeface="Arial"/>
                <a:cs typeface="Arial"/>
              </a:rPr>
              <a:t> </a:t>
            </a:r>
            <a:r>
              <a:rPr sz="2800" spc="-145" dirty="0">
                <a:latin typeface="Arial"/>
                <a:cs typeface="Arial"/>
              </a:rPr>
              <a:t>ABC</a:t>
            </a:r>
            <a:r>
              <a:rPr sz="2775" spc="-217" baseline="-21021" dirty="0">
                <a:latin typeface="Arial"/>
                <a:cs typeface="Arial"/>
              </a:rPr>
              <a:t>in</a:t>
            </a:r>
            <a:endParaRPr sz="2775" baseline="-21021">
              <a:latin typeface="Arial"/>
              <a:cs typeface="Arial"/>
            </a:endParaRPr>
          </a:p>
          <a:p>
            <a:pPr marL="965200">
              <a:lnSpc>
                <a:spcPct val="100000"/>
              </a:lnSpc>
            </a:pPr>
            <a:r>
              <a:rPr sz="2800" spc="-165" dirty="0">
                <a:latin typeface="Arial"/>
                <a:cs typeface="Arial"/>
              </a:rPr>
              <a:t>Carry, </a:t>
            </a:r>
            <a:r>
              <a:rPr sz="2800" spc="-120" dirty="0">
                <a:latin typeface="Arial"/>
                <a:cs typeface="Arial"/>
              </a:rPr>
              <a:t>C</a:t>
            </a:r>
            <a:r>
              <a:rPr sz="2775" spc="-179" baseline="-21021" dirty="0">
                <a:latin typeface="Arial"/>
                <a:cs typeface="Arial"/>
              </a:rPr>
              <a:t>out </a:t>
            </a:r>
            <a:r>
              <a:rPr sz="2800" spc="70" dirty="0">
                <a:latin typeface="Arial"/>
                <a:cs typeface="Arial"/>
              </a:rPr>
              <a:t>= </a:t>
            </a:r>
            <a:r>
              <a:rPr sz="2800" spc="-75" dirty="0">
                <a:latin typeface="Arial"/>
                <a:cs typeface="Arial"/>
              </a:rPr>
              <a:t>AB+ AC</a:t>
            </a:r>
            <a:r>
              <a:rPr sz="2775" spc="-112" baseline="-21021" dirty="0">
                <a:latin typeface="Arial"/>
                <a:cs typeface="Arial"/>
              </a:rPr>
              <a:t>in </a:t>
            </a:r>
            <a:r>
              <a:rPr sz="2800" spc="70" dirty="0">
                <a:latin typeface="Arial"/>
                <a:cs typeface="Arial"/>
              </a:rPr>
              <a:t>+ </a:t>
            </a:r>
            <a:r>
              <a:rPr sz="2800" spc="-215" dirty="0">
                <a:latin typeface="Arial"/>
                <a:cs typeface="Arial"/>
              </a:rPr>
              <a:t>BC</a:t>
            </a:r>
            <a:r>
              <a:rPr sz="2775" spc="-322" baseline="-21021" dirty="0">
                <a:latin typeface="Arial"/>
                <a:cs typeface="Arial"/>
              </a:rPr>
              <a:t>in</a:t>
            </a:r>
            <a:r>
              <a:rPr sz="2775" spc="-315" baseline="-21021" dirty="0">
                <a:latin typeface="Arial"/>
                <a:cs typeface="Arial"/>
              </a:rPr>
              <a:t> </a:t>
            </a:r>
            <a:r>
              <a:rPr sz="2775" spc="-150" baseline="-21021" dirty="0">
                <a:latin typeface="Arial"/>
                <a:cs typeface="Arial"/>
              </a:rPr>
              <a:t>.</a:t>
            </a:r>
            <a:endParaRPr sz="2775" baseline="-21021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8787638" y="6649770"/>
            <a:ext cx="256540" cy="234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75"/>
              </a:lnSpc>
            </a:pPr>
            <a:r>
              <a:rPr sz="1400" b="1" dirty="0">
                <a:solidFill>
                  <a:srgbClr val="FFFFFF"/>
                </a:solidFill>
                <a:latin typeface="Carlito"/>
                <a:cs typeface="Carlito"/>
              </a:rPr>
              <a:t>38</a:t>
            </a:r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2951988" y="202679"/>
              <a:ext cx="3233928" cy="9342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226435" y="321386"/>
            <a:ext cx="269049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95" dirty="0"/>
              <a:t>BINARY </a:t>
            </a:r>
            <a:r>
              <a:rPr spc="-45" dirty="0"/>
              <a:t>ADDER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83540" y="1069387"/>
            <a:ext cx="7897495" cy="90170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435609" algn="ctr">
              <a:lnSpc>
                <a:spcPct val="100000"/>
              </a:lnSpc>
              <a:spcBef>
                <a:spcPts val="575"/>
              </a:spcBef>
            </a:pPr>
            <a:r>
              <a:rPr sz="2000" b="1" spc="-200" dirty="0">
                <a:solidFill>
                  <a:srgbClr val="C00000"/>
                </a:solidFill>
                <a:latin typeface="Arial"/>
                <a:cs typeface="Arial"/>
              </a:rPr>
              <a:t>FULL</a:t>
            </a:r>
            <a:r>
              <a:rPr sz="2000" b="1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200" dirty="0">
                <a:solidFill>
                  <a:srgbClr val="C00000"/>
                </a:solidFill>
                <a:latin typeface="Arial"/>
                <a:cs typeface="Arial"/>
              </a:rPr>
              <a:t>ADDER</a:t>
            </a:r>
            <a:endParaRPr sz="2000">
              <a:latin typeface="Arial"/>
              <a:cs typeface="Arial"/>
            </a:endParaRPr>
          </a:p>
          <a:p>
            <a:pPr marL="477520" indent="-464820">
              <a:lnSpc>
                <a:spcPct val="100000"/>
              </a:lnSpc>
              <a:spcBef>
                <a:spcPts val="660"/>
              </a:spcBef>
              <a:buClr>
                <a:srgbClr val="E36C09"/>
              </a:buClr>
              <a:buFont typeface="Wingdings"/>
              <a:buChar char=""/>
              <a:tabLst>
                <a:tab pos="476884" algn="l"/>
                <a:tab pos="477520" algn="l"/>
              </a:tabLst>
            </a:pP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55" dirty="0">
                <a:solidFill>
                  <a:srgbClr val="006FC0"/>
                </a:solidFill>
                <a:latin typeface="Arial"/>
                <a:cs typeface="Arial"/>
              </a:rPr>
              <a:t>logic </a:t>
            </a:r>
            <a:r>
              <a:rPr sz="2800" spc="-220" dirty="0">
                <a:solidFill>
                  <a:srgbClr val="006FC0"/>
                </a:solidFill>
                <a:latin typeface="Arial"/>
                <a:cs typeface="Arial"/>
              </a:rPr>
              <a:t>diagram </a:t>
            </a:r>
            <a:r>
              <a:rPr sz="2800" spc="-55" dirty="0">
                <a:solidFill>
                  <a:srgbClr val="006FC0"/>
                </a:solidFill>
                <a:latin typeface="Arial"/>
                <a:cs typeface="Arial"/>
              </a:rPr>
              <a:t>for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260" dirty="0">
                <a:solidFill>
                  <a:srgbClr val="006FC0"/>
                </a:solidFill>
                <a:latin typeface="Arial"/>
                <a:cs typeface="Arial"/>
              </a:rPr>
              <a:t>above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functions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800" spc="-270" dirty="0">
                <a:solidFill>
                  <a:srgbClr val="006FC0"/>
                </a:solidFill>
                <a:latin typeface="Arial"/>
                <a:cs typeface="Arial"/>
              </a:rPr>
              <a:t>shown</a:t>
            </a:r>
            <a:r>
              <a:rPr sz="2800" spc="-4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360" dirty="0">
                <a:solidFill>
                  <a:srgbClr val="006FC0"/>
                </a:solidFill>
                <a:latin typeface="Arial"/>
                <a:cs typeface="Arial"/>
              </a:rPr>
              <a:t>as,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066800" y="2362200"/>
            <a:ext cx="8082280" cy="4495800"/>
            <a:chOff x="1066800" y="2362200"/>
            <a:chExt cx="8082280" cy="4495800"/>
          </a:xfrm>
        </p:grpSpPr>
        <p:sp>
          <p:nvSpPr>
            <p:cNvPr id="9" name="object 9"/>
            <p:cNvSpPr/>
            <p:nvPr/>
          </p:nvSpPr>
          <p:spPr>
            <a:xfrm>
              <a:off x="1066800" y="2362200"/>
              <a:ext cx="7543800" cy="35052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593835" y="6620254"/>
              <a:ext cx="550164" cy="237743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74607" y="6556242"/>
              <a:ext cx="469392" cy="301755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641080" y="6644640"/>
              <a:ext cx="502920" cy="18288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706626" y="6040323"/>
            <a:ext cx="572643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u="heavy" spc="-5" dirty="0">
                <a:uFill>
                  <a:solidFill>
                    <a:srgbClr val="000000"/>
                  </a:solidFill>
                </a:uFill>
                <a:latin typeface="Palladio Uralic"/>
                <a:cs typeface="Palladio Uralic"/>
              </a:rPr>
              <a:t>Implementation </a:t>
            </a:r>
            <a:r>
              <a:rPr sz="2000" b="1" u="heavy" dirty="0">
                <a:uFill>
                  <a:solidFill>
                    <a:srgbClr val="000000"/>
                  </a:solidFill>
                </a:uFill>
                <a:latin typeface="Palladio Uralic"/>
                <a:cs typeface="Palladio Uralic"/>
              </a:rPr>
              <a:t>of full-adder in Sum of</a:t>
            </a:r>
            <a:r>
              <a:rPr sz="2000" b="1" u="heavy" spc="-120" dirty="0">
                <a:uFill>
                  <a:solidFill>
                    <a:srgbClr val="000000"/>
                  </a:solidFill>
                </a:uFill>
                <a:latin typeface="Palladio Uralic"/>
                <a:cs typeface="Palladio Uralic"/>
              </a:rPr>
              <a:t> </a:t>
            </a:r>
            <a:r>
              <a:rPr sz="2000" b="1" u="heavy" dirty="0">
                <a:uFill>
                  <a:solidFill>
                    <a:srgbClr val="000000"/>
                  </a:solidFill>
                </a:uFill>
                <a:latin typeface="Palladio Uralic"/>
                <a:cs typeface="Palladio Uralic"/>
              </a:rPr>
              <a:t>Products</a:t>
            </a:r>
            <a:endParaRPr sz="2000">
              <a:latin typeface="Palladio Uralic"/>
              <a:cs typeface="Palladio Uralic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8787638" y="6649770"/>
            <a:ext cx="256540" cy="234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75"/>
              </a:lnSpc>
            </a:pPr>
            <a:r>
              <a:rPr sz="1400" b="1" dirty="0">
                <a:solidFill>
                  <a:srgbClr val="FFFFFF"/>
                </a:solidFill>
                <a:latin typeface="Carlito"/>
                <a:cs typeface="Carlito"/>
              </a:rPr>
              <a:t>39</a:t>
            </a:r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793241" y="982217"/>
              <a:ext cx="7589519" cy="762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6764"/>
              <a:ext cx="9143999" cy="668274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53439" y="320001"/>
              <a:ext cx="7434072" cy="57611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951988" y="202679"/>
              <a:ext cx="3233928" cy="93422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226435" y="321386"/>
            <a:ext cx="269049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95" dirty="0"/>
              <a:t>BINARY </a:t>
            </a:r>
            <a:r>
              <a:rPr spc="-45" dirty="0"/>
              <a:t>ADDER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32740" y="1069387"/>
            <a:ext cx="8476615" cy="5177155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R="34290" algn="ctr">
              <a:lnSpc>
                <a:spcPct val="100000"/>
              </a:lnSpc>
              <a:spcBef>
                <a:spcPts val="575"/>
              </a:spcBef>
            </a:pPr>
            <a:r>
              <a:rPr sz="2000" b="1" spc="-200" dirty="0">
                <a:solidFill>
                  <a:srgbClr val="C00000"/>
                </a:solidFill>
                <a:latin typeface="Arial"/>
                <a:cs typeface="Arial"/>
              </a:rPr>
              <a:t>FULL</a:t>
            </a:r>
            <a:r>
              <a:rPr sz="2000" b="1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200" dirty="0">
                <a:solidFill>
                  <a:srgbClr val="C00000"/>
                </a:solidFill>
                <a:latin typeface="Arial"/>
                <a:cs typeface="Arial"/>
              </a:rPr>
              <a:t>ADDER</a:t>
            </a:r>
            <a:endParaRPr sz="2000">
              <a:latin typeface="Arial"/>
              <a:cs typeface="Arial"/>
            </a:endParaRPr>
          </a:p>
          <a:p>
            <a:pPr marL="527685" marR="54610" indent="-464820">
              <a:lnSpc>
                <a:spcPct val="100000"/>
              </a:lnSpc>
              <a:spcBef>
                <a:spcPts val="660"/>
              </a:spcBef>
              <a:buClr>
                <a:srgbClr val="E36C09"/>
              </a:buClr>
              <a:buFont typeface="Wingdings"/>
              <a:buChar char=""/>
              <a:tabLst>
                <a:tab pos="527685" algn="l"/>
                <a:tab pos="528320" algn="l"/>
                <a:tab pos="1323975" algn="l"/>
                <a:tab pos="2225675" algn="l"/>
                <a:tab pos="3583940" algn="l"/>
                <a:tab pos="4131310" algn="l"/>
                <a:tab pos="4829810" algn="l"/>
                <a:tab pos="5525770" algn="l"/>
                <a:tab pos="6568440" algn="l"/>
                <a:tab pos="7305040" algn="l"/>
                <a:tab pos="8086725" algn="l"/>
              </a:tabLst>
            </a:pPr>
            <a:r>
              <a:rPr sz="2800" spc="-180" dirty="0">
                <a:solidFill>
                  <a:srgbClr val="006FC0"/>
                </a:solidFill>
                <a:latin typeface="Arial"/>
                <a:cs typeface="Arial"/>
              </a:rPr>
              <a:t>T</a:t>
            </a:r>
            <a:r>
              <a:rPr sz="2800" spc="-155" dirty="0">
                <a:solidFill>
                  <a:srgbClr val="006FC0"/>
                </a:solidFill>
                <a:latin typeface="Arial"/>
                <a:cs typeface="Arial"/>
              </a:rPr>
              <a:t>h</a:t>
            </a:r>
            <a:r>
              <a:rPr sz="2800" spc="-350" dirty="0">
                <a:solidFill>
                  <a:srgbClr val="006FC0"/>
                </a:solidFill>
                <a:latin typeface="Arial"/>
                <a:cs typeface="Arial"/>
              </a:rPr>
              <a:t>e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50" dirty="0">
                <a:solidFill>
                  <a:srgbClr val="006FC0"/>
                </a:solidFill>
                <a:latin typeface="Arial"/>
                <a:cs typeface="Arial"/>
              </a:rPr>
              <a:t>l</a:t>
            </a:r>
            <a:r>
              <a:rPr sz="2800" spc="-125" dirty="0">
                <a:solidFill>
                  <a:srgbClr val="006FC0"/>
                </a:solidFill>
                <a:latin typeface="Arial"/>
                <a:cs typeface="Arial"/>
              </a:rPr>
              <a:t>o</a:t>
            </a:r>
            <a:r>
              <a:rPr sz="2800" spc="-190" dirty="0">
                <a:solidFill>
                  <a:srgbClr val="006FC0"/>
                </a:solidFill>
                <a:latin typeface="Arial"/>
                <a:cs typeface="Arial"/>
              </a:rPr>
              <a:t>gi</a:t>
            </a:r>
            <a:r>
              <a:rPr sz="2800" spc="-235" dirty="0">
                <a:solidFill>
                  <a:srgbClr val="006FC0"/>
                </a:solidFill>
                <a:latin typeface="Arial"/>
                <a:cs typeface="Arial"/>
              </a:rPr>
              <a:t>c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130" dirty="0">
                <a:solidFill>
                  <a:srgbClr val="006FC0"/>
                </a:solidFill>
                <a:latin typeface="Arial"/>
                <a:cs typeface="Arial"/>
              </a:rPr>
              <a:t>d</a:t>
            </a:r>
            <a:r>
              <a:rPr sz="2800" spc="-45" dirty="0">
                <a:solidFill>
                  <a:srgbClr val="006FC0"/>
                </a:solidFill>
                <a:latin typeface="Arial"/>
                <a:cs typeface="Arial"/>
              </a:rPr>
              <a:t>i</a:t>
            </a:r>
            <a:r>
              <a:rPr sz="2800" spc="-275" dirty="0">
                <a:solidFill>
                  <a:srgbClr val="006FC0"/>
                </a:solidFill>
                <a:latin typeface="Arial"/>
                <a:cs typeface="Arial"/>
              </a:rPr>
              <a:t>agram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95" dirty="0">
                <a:solidFill>
                  <a:srgbClr val="006FC0"/>
                </a:solidFill>
                <a:latin typeface="Arial"/>
                <a:cs typeface="Arial"/>
              </a:rPr>
              <a:t>o</a:t>
            </a:r>
            <a:r>
              <a:rPr sz="2800" spc="-50" dirty="0">
                <a:solidFill>
                  <a:srgbClr val="006FC0"/>
                </a:solidFill>
                <a:latin typeface="Arial"/>
                <a:cs typeface="Arial"/>
              </a:rPr>
              <a:t>f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45" dirty="0">
                <a:solidFill>
                  <a:srgbClr val="006FC0"/>
                </a:solidFill>
                <a:latin typeface="Arial"/>
                <a:cs typeface="Arial"/>
              </a:rPr>
              <a:t>t</a:t>
            </a:r>
            <a:r>
              <a:rPr sz="2800" spc="-285" dirty="0">
                <a:solidFill>
                  <a:srgbClr val="006FC0"/>
                </a:solidFill>
                <a:latin typeface="Arial"/>
                <a:cs typeface="Arial"/>
              </a:rPr>
              <a:t>h</a:t>
            </a:r>
            <a:r>
              <a:rPr sz="2800" spc="-280" dirty="0">
                <a:solidFill>
                  <a:srgbClr val="006FC0"/>
                </a:solidFill>
                <a:latin typeface="Arial"/>
                <a:cs typeface="Arial"/>
              </a:rPr>
              <a:t>e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90" dirty="0">
                <a:solidFill>
                  <a:srgbClr val="006FC0"/>
                </a:solidFill>
                <a:latin typeface="Arial"/>
                <a:cs typeface="Arial"/>
              </a:rPr>
              <a:t>fu</a:t>
            </a:r>
            <a:r>
              <a:rPr sz="2800" spc="-40" dirty="0">
                <a:solidFill>
                  <a:srgbClr val="006FC0"/>
                </a:solidFill>
                <a:latin typeface="Arial"/>
                <a:cs typeface="Arial"/>
              </a:rPr>
              <a:t>l</a:t>
            </a:r>
            <a:r>
              <a:rPr sz="2800" spc="-20" dirty="0">
                <a:solidFill>
                  <a:srgbClr val="006FC0"/>
                </a:solidFill>
                <a:latin typeface="Arial"/>
                <a:cs typeface="Arial"/>
              </a:rPr>
              <a:t>l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215" dirty="0">
                <a:solidFill>
                  <a:srgbClr val="006FC0"/>
                </a:solidFill>
                <a:latin typeface="Arial"/>
                <a:cs typeface="Arial"/>
              </a:rPr>
              <a:t>adder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280" dirty="0">
                <a:solidFill>
                  <a:srgbClr val="006FC0"/>
                </a:solidFill>
                <a:latin typeface="Arial"/>
                <a:cs typeface="Arial"/>
              </a:rPr>
              <a:t>ca</a:t>
            </a:r>
            <a:r>
              <a:rPr sz="2800" spc="-290" dirty="0">
                <a:solidFill>
                  <a:srgbClr val="006FC0"/>
                </a:solidFill>
                <a:latin typeface="Arial"/>
                <a:cs typeface="Arial"/>
              </a:rPr>
              <a:t>n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275" dirty="0">
                <a:solidFill>
                  <a:srgbClr val="006FC0"/>
                </a:solidFill>
                <a:latin typeface="Arial"/>
                <a:cs typeface="Arial"/>
              </a:rPr>
              <a:t>also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210" dirty="0">
                <a:solidFill>
                  <a:srgbClr val="006FC0"/>
                </a:solidFill>
                <a:latin typeface="Arial"/>
                <a:cs typeface="Arial"/>
              </a:rPr>
              <a:t>be  </a:t>
            </a:r>
            <a:r>
              <a:rPr sz="2800" spc="-185" dirty="0">
                <a:solidFill>
                  <a:srgbClr val="006FC0"/>
                </a:solidFill>
                <a:latin typeface="Arial"/>
                <a:cs typeface="Arial"/>
              </a:rPr>
              <a:t>implemented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with </a:t>
            </a:r>
            <a:r>
              <a:rPr sz="2800" spc="-120" dirty="0">
                <a:latin typeface="Arial"/>
                <a:cs typeface="Arial"/>
              </a:rPr>
              <a:t>two </a:t>
            </a:r>
            <a:r>
              <a:rPr sz="2800" spc="-215" dirty="0">
                <a:latin typeface="Arial"/>
                <a:cs typeface="Arial"/>
              </a:rPr>
              <a:t>half-adders </a:t>
            </a:r>
            <a:r>
              <a:rPr sz="2800" spc="-254" dirty="0">
                <a:latin typeface="Arial"/>
                <a:cs typeface="Arial"/>
              </a:rPr>
              <a:t>and </a:t>
            </a:r>
            <a:r>
              <a:rPr sz="2800" spc="-235" dirty="0">
                <a:latin typeface="Arial"/>
                <a:cs typeface="Arial"/>
              </a:rPr>
              <a:t>one </a:t>
            </a:r>
            <a:r>
              <a:rPr sz="2800" spc="-215" dirty="0">
                <a:latin typeface="Arial"/>
                <a:cs typeface="Arial"/>
              </a:rPr>
              <a:t>OR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spc="-240" dirty="0">
                <a:latin typeface="Arial"/>
                <a:cs typeface="Arial"/>
              </a:rPr>
              <a:t>gate.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E36C09"/>
              </a:buClr>
              <a:buFont typeface="Wingdings"/>
              <a:buChar char=""/>
            </a:pPr>
            <a:endParaRPr sz="2900">
              <a:latin typeface="Arial"/>
              <a:cs typeface="Arial"/>
            </a:endParaRPr>
          </a:p>
          <a:p>
            <a:pPr marL="527685" marR="55880" indent="-464820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527685" algn="l"/>
                <a:tab pos="528320" algn="l"/>
              </a:tabLst>
            </a:pP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565" dirty="0">
                <a:solidFill>
                  <a:srgbClr val="006FC0"/>
                </a:solidFill>
                <a:latin typeface="Arial"/>
                <a:cs typeface="Arial"/>
              </a:rPr>
              <a:t>S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output </a:t>
            </a:r>
            <a:r>
              <a:rPr sz="2800" spc="-100" dirty="0">
                <a:solidFill>
                  <a:srgbClr val="006FC0"/>
                </a:solidFill>
                <a:latin typeface="Arial"/>
                <a:cs typeface="Arial"/>
              </a:rPr>
              <a:t>from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270" dirty="0">
                <a:solidFill>
                  <a:srgbClr val="006FC0"/>
                </a:solidFill>
                <a:latin typeface="Arial"/>
                <a:cs typeface="Arial"/>
              </a:rPr>
              <a:t>second </a:t>
            </a:r>
            <a:r>
              <a:rPr sz="2800" spc="-155" dirty="0">
                <a:solidFill>
                  <a:srgbClr val="006FC0"/>
                </a:solidFill>
                <a:latin typeface="Arial"/>
                <a:cs typeface="Arial"/>
              </a:rPr>
              <a:t>half </a:t>
            </a:r>
            <a:r>
              <a:rPr sz="2800" spc="-215" dirty="0">
                <a:solidFill>
                  <a:srgbClr val="006FC0"/>
                </a:solidFill>
                <a:latin typeface="Arial"/>
                <a:cs typeface="Arial"/>
              </a:rPr>
              <a:t>adder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exclusive-  </a:t>
            </a:r>
            <a:r>
              <a:rPr sz="2800" spc="-210" dirty="0">
                <a:solidFill>
                  <a:srgbClr val="006FC0"/>
                </a:solidFill>
                <a:latin typeface="Arial"/>
                <a:cs typeface="Arial"/>
              </a:rPr>
              <a:t>OR 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145" dirty="0">
                <a:solidFill>
                  <a:srgbClr val="006FC0"/>
                </a:solidFill>
                <a:latin typeface="Arial"/>
                <a:cs typeface="Arial"/>
              </a:rPr>
              <a:t>C</a:t>
            </a:r>
            <a:r>
              <a:rPr sz="2775" spc="-217" baseline="-21021" dirty="0">
                <a:solidFill>
                  <a:srgbClr val="006FC0"/>
                </a:solidFill>
                <a:latin typeface="Arial"/>
                <a:cs typeface="Arial"/>
              </a:rPr>
              <a:t>in 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output 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95" dirty="0">
                <a:solidFill>
                  <a:srgbClr val="006FC0"/>
                </a:solidFill>
                <a:latin typeface="Arial"/>
                <a:cs typeface="Arial"/>
              </a:rPr>
              <a:t>first </a:t>
            </a:r>
            <a:r>
              <a:rPr sz="2800" spc="-180" dirty="0">
                <a:solidFill>
                  <a:srgbClr val="006FC0"/>
                </a:solidFill>
                <a:latin typeface="Arial"/>
                <a:cs typeface="Arial"/>
              </a:rPr>
              <a:t>half-adder,</a:t>
            </a:r>
            <a:r>
              <a:rPr sz="2800" spc="-4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190" dirty="0">
                <a:solidFill>
                  <a:srgbClr val="006FC0"/>
                </a:solidFill>
                <a:latin typeface="Arial"/>
                <a:cs typeface="Arial"/>
              </a:rPr>
              <a:t>giving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00">
              <a:latin typeface="Arial"/>
              <a:cs typeface="Arial"/>
            </a:endParaRPr>
          </a:p>
          <a:p>
            <a:pPr marR="235585" algn="ctr">
              <a:lnSpc>
                <a:spcPct val="100000"/>
              </a:lnSpc>
            </a:pPr>
            <a:r>
              <a:rPr sz="2800" b="1" spc="-434" dirty="0">
                <a:latin typeface="Arial"/>
                <a:cs typeface="Arial"/>
              </a:rPr>
              <a:t>Sum </a:t>
            </a:r>
            <a:r>
              <a:rPr sz="2800" spc="70" dirty="0">
                <a:latin typeface="Arial"/>
                <a:cs typeface="Arial"/>
              </a:rPr>
              <a:t>= </a:t>
            </a:r>
            <a:r>
              <a:rPr sz="2800" spc="-55" dirty="0">
                <a:latin typeface="Arial"/>
                <a:cs typeface="Arial"/>
              </a:rPr>
              <a:t>A’BC’</a:t>
            </a:r>
            <a:r>
              <a:rPr sz="2775" spc="-82" baseline="-21021" dirty="0">
                <a:latin typeface="Arial"/>
                <a:cs typeface="Arial"/>
              </a:rPr>
              <a:t>in </a:t>
            </a:r>
            <a:r>
              <a:rPr sz="2800" spc="70" dirty="0">
                <a:latin typeface="Arial"/>
                <a:cs typeface="Arial"/>
              </a:rPr>
              <a:t>+ </a:t>
            </a:r>
            <a:r>
              <a:rPr sz="2800" spc="-55" dirty="0">
                <a:latin typeface="Arial"/>
                <a:cs typeface="Arial"/>
              </a:rPr>
              <a:t>AB’C’</a:t>
            </a:r>
            <a:r>
              <a:rPr sz="2775" spc="-82" baseline="-21021" dirty="0">
                <a:latin typeface="Arial"/>
                <a:cs typeface="Arial"/>
              </a:rPr>
              <a:t>in </a:t>
            </a:r>
            <a:r>
              <a:rPr sz="2800" spc="70" dirty="0">
                <a:latin typeface="Arial"/>
                <a:cs typeface="Arial"/>
              </a:rPr>
              <a:t>+ </a:t>
            </a:r>
            <a:r>
              <a:rPr sz="2800" spc="-145" dirty="0">
                <a:latin typeface="Arial"/>
                <a:cs typeface="Arial"/>
              </a:rPr>
              <a:t>ABC</a:t>
            </a:r>
            <a:r>
              <a:rPr sz="2775" spc="-217" baseline="-21021" dirty="0">
                <a:latin typeface="Arial"/>
                <a:cs typeface="Arial"/>
              </a:rPr>
              <a:t>in </a:t>
            </a:r>
            <a:r>
              <a:rPr sz="2800" spc="70" dirty="0">
                <a:latin typeface="Arial"/>
                <a:cs typeface="Arial"/>
              </a:rPr>
              <a:t>+ </a:t>
            </a:r>
            <a:r>
              <a:rPr sz="2800" spc="-55" dirty="0">
                <a:latin typeface="Arial"/>
                <a:cs typeface="Arial"/>
              </a:rPr>
              <a:t>A’B’C</a:t>
            </a:r>
            <a:r>
              <a:rPr sz="2775" spc="-82" baseline="-21021" dirty="0">
                <a:latin typeface="Arial"/>
                <a:cs typeface="Arial"/>
              </a:rPr>
              <a:t>in</a:t>
            </a:r>
            <a:r>
              <a:rPr sz="2775" spc="-75" baseline="-21021" dirty="0">
                <a:latin typeface="Arial"/>
                <a:cs typeface="Arial"/>
              </a:rPr>
              <a:t> </a:t>
            </a:r>
            <a:r>
              <a:rPr sz="2775" spc="-150" baseline="-21021" dirty="0">
                <a:latin typeface="Arial"/>
                <a:cs typeface="Arial"/>
              </a:rPr>
              <a:t>.</a:t>
            </a:r>
            <a:endParaRPr sz="2775" baseline="-21021">
              <a:latin typeface="Arial"/>
              <a:cs typeface="Arial"/>
            </a:endParaRPr>
          </a:p>
          <a:p>
            <a:pPr marL="48895" algn="ctr">
              <a:lnSpc>
                <a:spcPct val="100000"/>
              </a:lnSpc>
            </a:pPr>
            <a:r>
              <a:rPr sz="2800" spc="70" dirty="0">
                <a:latin typeface="Arial"/>
                <a:cs typeface="Arial"/>
              </a:rPr>
              <a:t>= </a:t>
            </a:r>
            <a:r>
              <a:rPr sz="2800" spc="-65" dirty="0">
                <a:latin typeface="Arial"/>
                <a:cs typeface="Arial"/>
              </a:rPr>
              <a:t>C’</a:t>
            </a:r>
            <a:r>
              <a:rPr sz="2775" spc="-97" baseline="-21021" dirty="0">
                <a:latin typeface="Arial"/>
                <a:cs typeface="Arial"/>
              </a:rPr>
              <a:t>in </a:t>
            </a:r>
            <a:r>
              <a:rPr sz="2800" spc="-80" dirty="0">
                <a:latin typeface="Arial"/>
                <a:cs typeface="Arial"/>
              </a:rPr>
              <a:t>(A’B+AB’) </a:t>
            </a:r>
            <a:r>
              <a:rPr sz="2800" spc="70" dirty="0">
                <a:latin typeface="Arial"/>
                <a:cs typeface="Arial"/>
              </a:rPr>
              <a:t>+ </a:t>
            </a:r>
            <a:r>
              <a:rPr sz="2800" spc="-145" dirty="0">
                <a:latin typeface="Arial"/>
                <a:cs typeface="Arial"/>
              </a:rPr>
              <a:t>C</a:t>
            </a:r>
            <a:r>
              <a:rPr sz="2775" spc="-217" baseline="-21021" dirty="0">
                <a:latin typeface="Arial"/>
                <a:cs typeface="Arial"/>
              </a:rPr>
              <a:t>in</a:t>
            </a:r>
            <a:r>
              <a:rPr sz="2775" spc="127" baseline="-21021" dirty="0">
                <a:latin typeface="Arial"/>
                <a:cs typeface="Arial"/>
              </a:rPr>
              <a:t> </a:t>
            </a:r>
            <a:r>
              <a:rPr sz="2800" spc="-80" dirty="0">
                <a:latin typeface="Arial"/>
                <a:cs typeface="Arial"/>
              </a:rPr>
              <a:t>(AB+A’B’)</a:t>
            </a:r>
            <a:endParaRPr sz="2800">
              <a:latin typeface="Arial"/>
              <a:cs typeface="Arial"/>
            </a:endParaRPr>
          </a:p>
          <a:p>
            <a:pPr marL="149225" algn="ctr">
              <a:lnSpc>
                <a:spcPct val="100000"/>
              </a:lnSpc>
            </a:pPr>
            <a:r>
              <a:rPr sz="2800" spc="70" dirty="0">
                <a:latin typeface="Arial"/>
                <a:cs typeface="Arial"/>
              </a:rPr>
              <a:t>= </a:t>
            </a:r>
            <a:r>
              <a:rPr sz="2800" spc="-65" dirty="0">
                <a:latin typeface="Arial"/>
                <a:cs typeface="Arial"/>
              </a:rPr>
              <a:t>C’</a:t>
            </a:r>
            <a:r>
              <a:rPr sz="2775" spc="-97" baseline="-21021" dirty="0">
                <a:latin typeface="Arial"/>
                <a:cs typeface="Arial"/>
              </a:rPr>
              <a:t>in </a:t>
            </a:r>
            <a:r>
              <a:rPr sz="2800" spc="-80" dirty="0">
                <a:latin typeface="Arial"/>
                <a:cs typeface="Arial"/>
              </a:rPr>
              <a:t>(A’B+AB’) </a:t>
            </a:r>
            <a:r>
              <a:rPr sz="2800" spc="70" dirty="0">
                <a:latin typeface="Arial"/>
                <a:cs typeface="Arial"/>
              </a:rPr>
              <a:t>+ </a:t>
            </a:r>
            <a:r>
              <a:rPr sz="2800" spc="-145" dirty="0">
                <a:latin typeface="Arial"/>
                <a:cs typeface="Arial"/>
              </a:rPr>
              <a:t>C</a:t>
            </a:r>
            <a:r>
              <a:rPr sz="2775" spc="-217" baseline="-21021" dirty="0">
                <a:latin typeface="Arial"/>
                <a:cs typeface="Arial"/>
              </a:rPr>
              <a:t>in</a:t>
            </a:r>
            <a:r>
              <a:rPr sz="2775" spc="104" baseline="-21021" dirty="0">
                <a:latin typeface="Arial"/>
                <a:cs typeface="Arial"/>
              </a:rPr>
              <a:t> </a:t>
            </a:r>
            <a:r>
              <a:rPr sz="2800" spc="-55" dirty="0">
                <a:latin typeface="Arial"/>
                <a:cs typeface="Arial"/>
              </a:rPr>
              <a:t>(A’B+AB’)’</a:t>
            </a:r>
            <a:endParaRPr sz="2800">
              <a:latin typeface="Arial"/>
              <a:cs typeface="Arial"/>
            </a:endParaRPr>
          </a:p>
          <a:p>
            <a:pPr marL="1892300">
              <a:lnSpc>
                <a:spcPct val="100000"/>
              </a:lnSpc>
              <a:spcBef>
                <a:spcPts val="65"/>
              </a:spcBef>
            </a:pPr>
            <a:r>
              <a:rPr sz="2800" b="1" spc="70" dirty="0">
                <a:latin typeface="Arial"/>
                <a:cs typeface="Arial"/>
              </a:rPr>
              <a:t>= </a:t>
            </a:r>
            <a:r>
              <a:rPr sz="2800" spc="-145" dirty="0">
                <a:latin typeface="Arial"/>
                <a:cs typeface="Arial"/>
              </a:rPr>
              <a:t>C</a:t>
            </a:r>
            <a:r>
              <a:rPr sz="2775" spc="-217" baseline="-21021" dirty="0">
                <a:latin typeface="Arial"/>
                <a:cs typeface="Arial"/>
              </a:rPr>
              <a:t>in </a:t>
            </a:r>
            <a:r>
              <a:rPr sz="2800" spc="-5" dirty="0">
                <a:latin typeface="Symbol"/>
                <a:cs typeface="Symbol"/>
              </a:rPr>
              <a:t></a:t>
            </a:r>
            <a:r>
              <a:rPr sz="2800" spc="30" dirty="0">
                <a:latin typeface="Times New Roman"/>
                <a:cs typeface="Times New Roman"/>
              </a:rPr>
              <a:t> </a:t>
            </a:r>
            <a:r>
              <a:rPr sz="2800" spc="-80" dirty="0">
                <a:latin typeface="Arial"/>
                <a:cs typeface="Arial"/>
              </a:rPr>
              <a:t>(A’B+AB’)</a:t>
            </a:r>
            <a:endParaRPr sz="2800">
              <a:latin typeface="Arial"/>
              <a:cs typeface="Arial"/>
            </a:endParaRPr>
          </a:p>
          <a:p>
            <a:pPr marL="1892300">
              <a:lnSpc>
                <a:spcPct val="100000"/>
              </a:lnSpc>
              <a:tabLst>
                <a:tab pos="5550535" algn="l"/>
              </a:tabLst>
            </a:pPr>
            <a:r>
              <a:rPr sz="2800" spc="70" dirty="0">
                <a:latin typeface="Arial"/>
                <a:cs typeface="Arial"/>
              </a:rPr>
              <a:t>= </a:t>
            </a:r>
            <a:r>
              <a:rPr sz="2800" b="1" spc="-204" dirty="0">
                <a:latin typeface="Arial"/>
                <a:cs typeface="Arial"/>
              </a:rPr>
              <a:t>C</a:t>
            </a:r>
            <a:r>
              <a:rPr sz="2775" b="1" spc="-307" baseline="-21021" dirty="0">
                <a:latin typeface="Arial"/>
                <a:cs typeface="Arial"/>
              </a:rPr>
              <a:t>in   </a:t>
            </a:r>
            <a:r>
              <a:rPr sz="2800" spc="-5" dirty="0">
                <a:latin typeface="Symbol"/>
                <a:cs typeface="Symbol"/>
              </a:rPr>
              <a:t>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b="1" spc="-125" dirty="0">
                <a:latin typeface="Arial"/>
                <a:cs typeface="Arial"/>
              </a:rPr>
              <a:t>(A</a:t>
            </a:r>
            <a:r>
              <a:rPr sz="2800" b="1" spc="-180" dirty="0">
                <a:latin typeface="Arial"/>
                <a:cs typeface="Arial"/>
              </a:rPr>
              <a:t> </a:t>
            </a:r>
            <a:r>
              <a:rPr sz="2800" spc="-5" dirty="0">
                <a:latin typeface="Symbol"/>
                <a:cs typeface="Symbol"/>
              </a:rPr>
              <a:t></a:t>
            </a:r>
            <a:r>
              <a:rPr sz="2800" spc="85" dirty="0">
                <a:latin typeface="Times New Roman"/>
                <a:cs typeface="Times New Roman"/>
              </a:rPr>
              <a:t> </a:t>
            </a:r>
            <a:r>
              <a:rPr sz="2800" b="1" spc="-405" dirty="0">
                <a:latin typeface="Arial"/>
                <a:cs typeface="Arial"/>
              </a:rPr>
              <a:t>B)	</a:t>
            </a:r>
            <a:r>
              <a:rPr sz="2800" spc="-140" dirty="0">
                <a:latin typeface="Arial"/>
                <a:cs typeface="Arial"/>
              </a:rPr>
              <a:t>[x </a:t>
            </a:r>
            <a:r>
              <a:rPr sz="2800" spc="-5" dirty="0">
                <a:latin typeface="Symbol"/>
                <a:cs typeface="Symbol"/>
              </a:rPr>
              <a:t>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145" dirty="0">
                <a:latin typeface="Arial"/>
                <a:cs typeface="Arial"/>
              </a:rPr>
              <a:t>y </a:t>
            </a:r>
            <a:r>
              <a:rPr sz="2800" spc="70" dirty="0">
                <a:latin typeface="Arial"/>
                <a:cs typeface="Arial"/>
              </a:rPr>
              <a:t>= </a:t>
            </a:r>
            <a:r>
              <a:rPr sz="2800" spc="-25" dirty="0">
                <a:latin typeface="Arial"/>
                <a:cs typeface="Arial"/>
              </a:rPr>
              <a:t>x’y+</a:t>
            </a:r>
            <a:r>
              <a:rPr sz="2800" spc="270" dirty="0">
                <a:latin typeface="Arial"/>
                <a:cs typeface="Arial"/>
              </a:rPr>
              <a:t> </a:t>
            </a:r>
            <a:r>
              <a:rPr sz="2800" spc="-65" dirty="0">
                <a:latin typeface="Arial"/>
                <a:cs typeface="Arial"/>
              </a:rPr>
              <a:t>xy’]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sp>
          <p:nvSpPr>
            <p:cNvPr id="14" name="object 14"/>
            <p:cNvSpPr/>
            <p:nvPr/>
          </p:nvSpPr>
          <p:spPr>
            <a:xfrm>
              <a:off x="8593835" y="6620255"/>
              <a:ext cx="550164" cy="23774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674607" y="6556243"/>
              <a:ext cx="469392" cy="30175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8787638" y="6649770"/>
            <a:ext cx="256540" cy="234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75"/>
              </a:lnSpc>
            </a:pPr>
            <a:r>
              <a:rPr sz="1400" b="1" dirty="0">
                <a:solidFill>
                  <a:srgbClr val="FFFFFF"/>
                </a:solidFill>
                <a:latin typeface="Carlito"/>
                <a:cs typeface="Carlito"/>
              </a:rPr>
              <a:t>40</a:t>
            </a:r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2951988" y="202679"/>
              <a:ext cx="3233928" cy="9342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226435" y="321386"/>
            <a:ext cx="269049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95" dirty="0"/>
              <a:t>BINARY </a:t>
            </a:r>
            <a:r>
              <a:rPr spc="-45" dirty="0"/>
              <a:t>ADDER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840607" y="1129664"/>
            <a:ext cx="141922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00" dirty="0">
                <a:solidFill>
                  <a:srgbClr val="C00000"/>
                </a:solidFill>
                <a:latin typeface="Arial"/>
                <a:cs typeface="Arial"/>
              </a:rPr>
              <a:t>FULL</a:t>
            </a:r>
            <a:r>
              <a:rPr sz="2000" b="1" spc="-1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200" dirty="0">
                <a:solidFill>
                  <a:srgbClr val="C00000"/>
                </a:solidFill>
                <a:latin typeface="Arial"/>
                <a:cs typeface="Arial"/>
              </a:rPr>
              <a:t>ADDER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59829" y="3028314"/>
            <a:ext cx="14662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spc="-114" dirty="0">
                <a:latin typeface="Arial"/>
                <a:cs typeface="Arial"/>
              </a:rPr>
              <a:t>[C</a:t>
            </a:r>
            <a:r>
              <a:rPr sz="2775" spc="-172" baseline="-21021" dirty="0">
                <a:latin typeface="Arial"/>
                <a:cs typeface="Arial"/>
              </a:rPr>
              <a:t>in</a:t>
            </a:r>
            <a:r>
              <a:rPr sz="2800" spc="-114" dirty="0">
                <a:latin typeface="Arial"/>
                <a:cs typeface="Arial"/>
              </a:rPr>
              <a:t>+1=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240" dirty="0">
                <a:latin typeface="Arial"/>
                <a:cs typeface="Arial"/>
              </a:rPr>
              <a:t>1]</a:t>
            </a:r>
            <a:endParaRPr sz="2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59829" y="4735144"/>
            <a:ext cx="14668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spc="-110" dirty="0">
                <a:latin typeface="Arial"/>
                <a:cs typeface="Arial"/>
              </a:rPr>
              <a:t>[C</a:t>
            </a:r>
            <a:r>
              <a:rPr sz="2775" spc="-165" baseline="-21021" dirty="0">
                <a:latin typeface="Arial"/>
                <a:cs typeface="Arial"/>
              </a:rPr>
              <a:t>in</a:t>
            </a:r>
            <a:r>
              <a:rPr sz="2800" spc="-110" dirty="0">
                <a:latin typeface="Arial"/>
                <a:cs typeface="Arial"/>
              </a:rPr>
              <a:t>+1=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-245" dirty="0">
                <a:latin typeface="Arial"/>
                <a:cs typeface="Arial"/>
              </a:rPr>
              <a:t>1]</a:t>
            </a:r>
            <a:endParaRPr sz="2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57200" y="1747469"/>
            <a:ext cx="5269230" cy="42938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spc="-165" dirty="0">
                <a:latin typeface="Arial"/>
                <a:cs typeface="Arial"/>
              </a:rPr>
              <a:t>Carry, </a:t>
            </a:r>
            <a:r>
              <a:rPr sz="2800" spc="-120" dirty="0">
                <a:latin typeface="Arial"/>
                <a:cs typeface="Arial"/>
              </a:rPr>
              <a:t>C</a:t>
            </a:r>
            <a:r>
              <a:rPr sz="2775" spc="-179" baseline="-21021" dirty="0">
                <a:latin typeface="Arial"/>
                <a:cs typeface="Arial"/>
              </a:rPr>
              <a:t>out </a:t>
            </a:r>
            <a:r>
              <a:rPr sz="2800" spc="70" dirty="0">
                <a:latin typeface="Arial"/>
                <a:cs typeface="Arial"/>
              </a:rPr>
              <a:t>= </a:t>
            </a:r>
            <a:r>
              <a:rPr sz="2800" spc="-75" dirty="0">
                <a:latin typeface="Arial"/>
                <a:cs typeface="Arial"/>
              </a:rPr>
              <a:t>AB+ </a:t>
            </a:r>
            <a:r>
              <a:rPr sz="2800" spc="-50" dirty="0">
                <a:latin typeface="Arial"/>
                <a:cs typeface="Arial"/>
              </a:rPr>
              <a:t>AC</a:t>
            </a:r>
            <a:r>
              <a:rPr sz="2775" spc="-75" baseline="-21021" dirty="0">
                <a:latin typeface="Arial"/>
                <a:cs typeface="Arial"/>
              </a:rPr>
              <a:t>in</a:t>
            </a:r>
            <a:r>
              <a:rPr sz="2800" spc="-50" dirty="0">
                <a:latin typeface="Arial"/>
                <a:cs typeface="Arial"/>
              </a:rPr>
              <a:t>+</a:t>
            </a:r>
            <a:r>
              <a:rPr sz="2800" spc="275" dirty="0">
                <a:latin typeface="Arial"/>
                <a:cs typeface="Arial"/>
              </a:rPr>
              <a:t> </a:t>
            </a:r>
            <a:r>
              <a:rPr sz="2800" spc="-195" dirty="0">
                <a:latin typeface="Arial"/>
                <a:cs typeface="Arial"/>
              </a:rPr>
              <a:t>BC</a:t>
            </a:r>
            <a:r>
              <a:rPr sz="2775" spc="-292" baseline="-21021" dirty="0">
                <a:latin typeface="Arial"/>
                <a:cs typeface="Arial"/>
              </a:rPr>
              <a:t>in.</a:t>
            </a:r>
            <a:endParaRPr sz="2775" baseline="-21021">
              <a:latin typeface="Arial"/>
              <a:cs typeface="Arial"/>
            </a:endParaRPr>
          </a:p>
          <a:p>
            <a:pPr marL="853440">
              <a:lnSpc>
                <a:spcPct val="100000"/>
              </a:lnSpc>
              <a:spcBef>
                <a:spcPts val="5"/>
              </a:spcBef>
            </a:pPr>
            <a:r>
              <a:rPr sz="2800" spc="70" dirty="0">
                <a:latin typeface="Arial"/>
                <a:cs typeface="Arial"/>
              </a:rPr>
              <a:t>= </a:t>
            </a:r>
            <a:r>
              <a:rPr sz="2800" spc="-75" dirty="0">
                <a:latin typeface="Arial"/>
                <a:cs typeface="Arial"/>
              </a:rPr>
              <a:t>AB+ </a:t>
            </a:r>
            <a:r>
              <a:rPr sz="2800" spc="-50" dirty="0">
                <a:latin typeface="Arial"/>
                <a:cs typeface="Arial"/>
              </a:rPr>
              <a:t>AC</a:t>
            </a:r>
            <a:r>
              <a:rPr sz="2775" spc="-75" baseline="-21021" dirty="0">
                <a:latin typeface="Arial"/>
                <a:cs typeface="Arial"/>
              </a:rPr>
              <a:t>in</a:t>
            </a:r>
            <a:r>
              <a:rPr sz="2800" spc="-50" dirty="0">
                <a:latin typeface="Arial"/>
                <a:cs typeface="Arial"/>
              </a:rPr>
              <a:t>+ </a:t>
            </a:r>
            <a:r>
              <a:rPr sz="2800" spc="-215" dirty="0">
                <a:latin typeface="Arial"/>
                <a:cs typeface="Arial"/>
              </a:rPr>
              <a:t>BC</a:t>
            </a:r>
            <a:r>
              <a:rPr sz="2775" spc="-322" baseline="-21021" dirty="0">
                <a:latin typeface="Arial"/>
                <a:cs typeface="Arial"/>
              </a:rPr>
              <a:t>in </a:t>
            </a:r>
            <a:r>
              <a:rPr sz="2800" spc="-55" dirty="0">
                <a:latin typeface="Arial"/>
                <a:cs typeface="Arial"/>
              </a:rPr>
              <a:t>(A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spc="35" dirty="0">
                <a:latin typeface="Arial"/>
                <a:cs typeface="Arial"/>
              </a:rPr>
              <a:t>+A’)</a:t>
            </a:r>
            <a:endParaRPr sz="2800">
              <a:latin typeface="Arial"/>
              <a:cs typeface="Arial"/>
            </a:endParaRPr>
          </a:p>
          <a:p>
            <a:pPr marL="853440">
              <a:lnSpc>
                <a:spcPct val="100000"/>
              </a:lnSpc>
            </a:pPr>
            <a:r>
              <a:rPr sz="2800" spc="70" dirty="0">
                <a:latin typeface="Arial"/>
                <a:cs typeface="Arial"/>
              </a:rPr>
              <a:t>= </a:t>
            </a:r>
            <a:r>
              <a:rPr sz="2800" spc="-110" dirty="0">
                <a:latin typeface="Arial"/>
                <a:cs typeface="Arial"/>
              </a:rPr>
              <a:t>ABC</a:t>
            </a:r>
            <a:r>
              <a:rPr sz="2775" spc="-165" baseline="-21021" dirty="0">
                <a:latin typeface="Arial"/>
                <a:cs typeface="Arial"/>
              </a:rPr>
              <a:t>in</a:t>
            </a:r>
            <a:r>
              <a:rPr sz="2800" spc="-110" dirty="0">
                <a:latin typeface="Arial"/>
                <a:cs typeface="Arial"/>
              </a:rPr>
              <a:t>+ </a:t>
            </a:r>
            <a:r>
              <a:rPr sz="2800" spc="-75" dirty="0">
                <a:latin typeface="Arial"/>
                <a:cs typeface="Arial"/>
              </a:rPr>
              <a:t>AB+ </a:t>
            </a:r>
            <a:r>
              <a:rPr sz="2800" spc="-50" dirty="0">
                <a:latin typeface="Arial"/>
                <a:cs typeface="Arial"/>
              </a:rPr>
              <a:t>AC</a:t>
            </a:r>
            <a:r>
              <a:rPr sz="2775" spc="-75" baseline="-21021" dirty="0">
                <a:latin typeface="Arial"/>
                <a:cs typeface="Arial"/>
              </a:rPr>
              <a:t>in</a:t>
            </a:r>
            <a:r>
              <a:rPr sz="2800" spc="-50" dirty="0">
                <a:latin typeface="Arial"/>
                <a:cs typeface="Arial"/>
              </a:rPr>
              <a:t>+</a:t>
            </a:r>
            <a:r>
              <a:rPr sz="2800" spc="100" dirty="0">
                <a:latin typeface="Arial"/>
                <a:cs typeface="Arial"/>
              </a:rPr>
              <a:t> </a:t>
            </a:r>
            <a:r>
              <a:rPr sz="2800" spc="-95" dirty="0">
                <a:latin typeface="Arial"/>
                <a:cs typeface="Arial"/>
              </a:rPr>
              <a:t>A’BC</a:t>
            </a:r>
            <a:r>
              <a:rPr sz="2775" spc="-142" baseline="-21021" dirty="0">
                <a:latin typeface="Arial"/>
                <a:cs typeface="Arial"/>
              </a:rPr>
              <a:t>in</a:t>
            </a:r>
            <a:endParaRPr sz="2775" baseline="-21021">
              <a:latin typeface="Arial"/>
              <a:cs typeface="Arial"/>
            </a:endParaRPr>
          </a:p>
          <a:p>
            <a:pPr marL="853440">
              <a:lnSpc>
                <a:spcPct val="100000"/>
              </a:lnSpc>
            </a:pPr>
            <a:r>
              <a:rPr sz="2800" spc="70" dirty="0">
                <a:latin typeface="Arial"/>
                <a:cs typeface="Arial"/>
              </a:rPr>
              <a:t>= </a:t>
            </a:r>
            <a:r>
              <a:rPr sz="2800" spc="-145" dirty="0">
                <a:latin typeface="Arial"/>
                <a:cs typeface="Arial"/>
              </a:rPr>
              <a:t>AB </a:t>
            </a:r>
            <a:r>
              <a:rPr sz="2800" spc="-180" dirty="0">
                <a:latin typeface="Arial"/>
                <a:cs typeface="Arial"/>
              </a:rPr>
              <a:t>(C</a:t>
            </a:r>
            <a:r>
              <a:rPr sz="2775" spc="-270" baseline="-21021" dirty="0">
                <a:latin typeface="Arial"/>
                <a:cs typeface="Arial"/>
              </a:rPr>
              <a:t>in</a:t>
            </a:r>
            <a:r>
              <a:rPr sz="2800" spc="-180" dirty="0">
                <a:latin typeface="Arial"/>
                <a:cs typeface="Arial"/>
              </a:rPr>
              <a:t>+1) </a:t>
            </a:r>
            <a:r>
              <a:rPr sz="2800" spc="70" dirty="0">
                <a:latin typeface="Arial"/>
                <a:cs typeface="Arial"/>
              </a:rPr>
              <a:t>+ </a:t>
            </a:r>
            <a:r>
              <a:rPr sz="2800" spc="-50" dirty="0">
                <a:latin typeface="Arial"/>
                <a:cs typeface="Arial"/>
              </a:rPr>
              <a:t>AC</a:t>
            </a:r>
            <a:r>
              <a:rPr sz="2775" spc="-75" baseline="-21021" dirty="0">
                <a:latin typeface="Arial"/>
                <a:cs typeface="Arial"/>
              </a:rPr>
              <a:t>in</a:t>
            </a:r>
            <a:r>
              <a:rPr sz="2800" spc="-50" dirty="0">
                <a:latin typeface="Arial"/>
                <a:cs typeface="Arial"/>
              </a:rPr>
              <a:t>+</a:t>
            </a:r>
            <a:r>
              <a:rPr sz="2800" spc="175" dirty="0">
                <a:latin typeface="Arial"/>
                <a:cs typeface="Arial"/>
              </a:rPr>
              <a:t> </a:t>
            </a:r>
            <a:r>
              <a:rPr sz="2800" spc="-95" dirty="0">
                <a:latin typeface="Arial"/>
                <a:cs typeface="Arial"/>
              </a:rPr>
              <a:t>A’BC</a:t>
            </a:r>
            <a:r>
              <a:rPr sz="2775" spc="-142" baseline="-21021" dirty="0">
                <a:latin typeface="Arial"/>
                <a:cs typeface="Arial"/>
              </a:rPr>
              <a:t>in</a:t>
            </a:r>
            <a:endParaRPr sz="2775" baseline="-21021">
              <a:latin typeface="Arial"/>
              <a:cs typeface="Arial"/>
            </a:endParaRPr>
          </a:p>
          <a:p>
            <a:pPr marL="853440">
              <a:lnSpc>
                <a:spcPct val="100000"/>
              </a:lnSpc>
            </a:pPr>
            <a:r>
              <a:rPr sz="2800" spc="70" dirty="0">
                <a:latin typeface="Arial"/>
                <a:cs typeface="Arial"/>
              </a:rPr>
              <a:t>= </a:t>
            </a:r>
            <a:r>
              <a:rPr sz="2800" spc="-75" dirty="0">
                <a:latin typeface="Arial"/>
                <a:cs typeface="Arial"/>
              </a:rPr>
              <a:t>AB+ </a:t>
            </a:r>
            <a:r>
              <a:rPr sz="2800" spc="-50" dirty="0">
                <a:latin typeface="Arial"/>
                <a:cs typeface="Arial"/>
              </a:rPr>
              <a:t>AC</a:t>
            </a:r>
            <a:r>
              <a:rPr sz="2775" spc="-75" baseline="-21021" dirty="0">
                <a:latin typeface="Arial"/>
                <a:cs typeface="Arial"/>
              </a:rPr>
              <a:t>in</a:t>
            </a:r>
            <a:r>
              <a:rPr sz="2800" spc="-50" dirty="0">
                <a:latin typeface="Arial"/>
                <a:cs typeface="Arial"/>
              </a:rPr>
              <a:t>+</a:t>
            </a:r>
            <a:r>
              <a:rPr sz="2800" dirty="0">
                <a:latin typeface="Arial"/>
                <a:cs typeface="Arial"/>
              </a:rPr>
              <a:t> </a:t>
            </a:r>
            <a:r>
              <a:rPr sz="2800" spc="-95" dirty="0">
                <a:latin typeface="Arial"/>
                <a:cs typeface="Arial"/>
              </a:rPr>
              <a:t>A’BC</a:t>
            </a:r>
            <a:r>
              <a:rPr sz="2775" spc="-142" baseline="-21021" dirty="0">
                <a:latin typeface="Arial"/>
                <a:cs typeface="Arial"/>
              </a:rPr>
              <a:t>in</a:t>
            </a:r>
            <a:endParaRPr sz="2775" baseline="-21021">
              <a:latin typeface="Arial"/>
              <a:cs typeface="Arial"/>
            </a:endParaRPr>
          </a:p>
          <a:p>
            <a:pPr marL="853440">
              <a:lnSpc>
                <a:spcPct val="100000"/>
              </a:lnSpc>
            </a:pPr>
            <a:r>
              <a:rPr sz="2800" spc="70" dirty="0">
                <a:latin typeface="Arial"/>
                <a:cs typeface="Arial"/>
              </a:rPr>
              <a:t>= </a:t>
            </a:r>
            <a:r>
              <a:rPr sz="2800" spc="-75" dirty="0">
                <a:latin typeface="Arial"/>
                <a:cs typeface="Arial"/>
              </a:rPr>
              <a:t>AB+ AC</a:t>
            </a:r>
            <a:r>
              <a:rPr sz="2775" spc="-112" baseline="-21021" dirty="0">
                <a:latin typeface="Arial"/>
                <a:cs typeface="Arial"/>
              </a:rPr>
              <a:t>in </a:t>
            </a:r>
            <a:r>
              <a:rPr sz="2800" spc="-190" dirty="0">
                <a:latin typeface="Arial"/>
                <a:cs typeface="Arial"/>
              </a:rPr>
              <a:t>(B+B’) </a:t>
            </a:r>
            <a:r>
              <a:rPr sz="2800" spc="70" dirty="0">
                <a:latin typeface="Arial"/>
                <a:cs typeface="Arial"/>
              </a:rPr>
              <a:t>+</a:t>
            </a:r>
            <a:r>
              <a:rPr sz="2800" spc="-475" dirty="0">
                <a:latin typeface="Arial"/>
                <a:cs typeface="Arial"/>
              </a:rPr>
              <a:t> </a:t>
            </a:r>
            <a:r>
              <a:rPr sz="2800" spc="-95" dirty="0">
                <a:latin typeface="Arial"/>
                <a:cs typeface="Arial"/>
              </a:rPr>
              <a:t>A’BC</a:t>
            </a:r>
            <a:r>
              <a:rPr sz="2775" spc="-142" baseline="-21021" dirty="0">
                <a:latin typeface="Arial"/>
                <a:cs typeface="Arial"/>
              </a:rPr>
              <a:t>in</a:t>
            </a:r>
            <a:endParaRPr sz="2775" baseline="-21021">
              <a:latin typeface="Arial"/>
              <a:cs typeface="Arial"/>
            </a:endParaRPr>
          </a:p>
          <a:p>
            <a:pPr marL="853440">
              <a:lnSpc>
                <a:spcPct val="100000"/>
              </a:lnSpc>
            </a:pPr>
            <a:r>
              <a:rPr sz="2800" spc="70" dirty="0">
                <a:latin typeface="Arial"/>
                <a:cs typeface="Arial"/>
              </a:rPr>
              <a:t>= </a:t>
            </a:r>
            <a:r>
              <a:rPr sz="2800" spc="-110" dirty="0">
                <a:latin typeface="Arial"/>
                <a:cs typeface="Arial"/>
              </a:rPr>
              <a:t>ABC</a:t>
            </a:r>
            <a:r>
              <a:rPr sz="2775" spc="-165" baseline="-21021" dirty="0">
                <a:latin typeface="Arial"/>
                <a:cs typeface="Arial"/>
              </a:rPr>
              <a:t>in</a:t>
            </a:r>
            <a:r>
              <a:rPr sz="2800" spc="-110" dirty="0">
                <a:latin typeface="Arial"/>
                <a:cs typeface="Arial"/>
              </a:rPr>
              <a:t>+ </a:t>
            </a:r>
            <a:r>
              <a:rPr sz="2800" spc="-75" dirty="0">
                <a:latin typeface="Arial"/>
                <a:cs typeface="Arial"/>
              </a:rPr>
              <a:t>AB+ </a:t>
            </a:r>
            <a:r>
              <a:rPr sz="2800" spc="-70" dirty="0">
                <a:latin typeface="Arial"/>
                <a:cs typeface="Arial"/>
              </a:rPr>
              <a:t>A’BC</a:t>
            </a:r>
            <a:r>
              <a:rPr sz="2775" spc="-104" baseline="-21021" dirty="0">
                <a:latin typeface="Arial"/>
                <a:cs typeface="Arial"/>
              </a:rPr>
              <a:t>in</a:t>
            </a:r>
            <a:r>
              <a:rPr sz="2800" spc="-70" dirty="0">
                <a:latin typeface="Arial"/>
                <a:cs typeface="Arial"/>
              </a:rPr>
              <a:t>+</a:t>
            </a:r>
            <a:r>
              <a:rPr sz="2800" spc="95" dirty="0">
                <a:latin typeface="Arial"/>
                <a:cs typeface="Arial"/>
              </a:rPr>
              <a:t> </a:t>
            </a:r>
            <a:r>
              <a:rPr sz="2800" spc="-95" dirty="0">
                <a:latin typeface="Arial"/>
                <a:cs typeface="Arial"/>
              </a:rPr>
              <a:t>AB’C</a:t>
            </a:r>
            <a:r>
              <a:rPr sz="2775" spc="-142" baseline="-21021" dirty="0">
                <a:latin typeface="Arial"/>
                <a:cs typeface="Arial"/>
              </a:rPr>
              <a:t>in</a:t>
            </a:r>
            <a:endParaRPr sz="2775" baseline="-21021">
              <a:latin typeface="Arial"/>
              <a:cs typeface="Arial"/>
            </a:endParaRPr>
          </a:p>
          <a:p>
            <a:pPr marL="853440">
              <a:lnSpc>
                <a:spcPct val="100000"/>
              </a:lnSpc>
            </a:pPr>
            <a:r>
              <a:rPr sz="2800" spc="70" dirty="0">
                <a:latin typeface="Arial"/>
                <a:cs typeface="Arial"/>
              </a:rPr>
              <a:t>= </a:t>
            </a:r>
            <a:r>
              <a:rPr sz="2800" spc="-145" dirty="0">
                <a:latin typeface="Arial"/>
                <a:cs typeface="Arial"/>
              </a:rPr>
              <a:t>AB </a:t>
            </a:r>
            <a:r>
              <a:rPr sz="2800" spc="-180" dirty="0">
                <a:latin typeface="Arial"/>
                <a:cs typeface="Arial"/>
              </a:rPr>
              <a:t>(C</a:t>
            </a:r>
            <a:r>
              <a:rPr sz="2775" spc="-270" baseline="-21021" dirty="0">
                <a:latin typeface="Arial"/>
                <a:cs typeface="Arial"/>
              </a:rPr>
              <a:t>in</a:t>
            </a:r>
            <a:r>
              <a:rPr sz="2800" spc="-180" dirty="0">
                <a:latin typeface="Arial"/>
                <a:cs typeface="Arial"/>
              </a:rPr>
              <a:t>+1) </a:t>
            </a:r>
            <a:r>
              <a:rPr sz="2800" spc="70" dirty="0">
                <a:latin typeface="Arial"/>
                <a:cs typeface="Arial"/>
              </a:rPr>
              <a:t>+ </a:t>
            </a:r>
            <a:r>
              <a:rPr sz="2800" spc="-70" dirty="0">
                <a:latin typeface="Arial"/>
                <a:cs typeface="Arial"/>
              </a:rPr>
              <a:t>A’BC</a:t>
            </a:r>
            <a:r>
              <a:rPr sz="2775" spc="-104" baseline="-21021" dirty="0">
                <a:latin typeface="Arial"/>
                <a:cs typeface="Arial"/>
              </a:rPr>
              <a:t>in</a:t>
            </a:r>
            <a:r>
              <a:rPr sz="2800" spc="-70" dirty="0">
                <a:latin typeface="Arial"/>
                <a:cs typeface="Arial"/>
              </a:rPr>
              <a:t>+</a:t>
            </a:r>
            <a:r>
              <a:rPr sz="2800" spc="145" dirty="0">
                <a:latin typeface="Arial"/>
                <a:cs typeface="Arial"/>
              </a:rPr>
              <a:t> </a:t>
            </a:r>
            <a:r>
              <a:rPr sz="2800" spc="-95" dirty="0">
                <a:latin typeface="Arial"/>
                <a:cs typeface="Arial"/>
              </a:rPr>
              <a:t>AB’C</a:t>
            </a:r>
            <a:r>
              <a:rPr sz="2775" spc="-142" baseline="-21021" dirty="0">
                <a:latin typeface="Arial"/>
                <a:cs typeface="Arial"/>
              </a:rPr>
              <a:t>in</a:t>
            </a:r>
            <a:endParaRPr sz="2775" baseline="-21021">
              <a:latin typeface="Arial"/>
              <a:cs typeface="Arial"/>
            </a:endParaRPr>
          </a:p>
          <a:p>
            <a:pPr marL="853440">
              <a:lnSpc>
                <a:spcPct val="100000"/>
              </a:lnSpc>
              <a:spcBef>
                <a:spcPts val="5"/>
              </a:spcBef>
            </a:pPr>
            <a:r>
              <a:rPr sz="2800" spc="70" dirty="0">
                <a:latin typeface="Arial"/>
                <a:cs typeface="Arial"/>
              </a:rPr>
              <a:t>= </a:t>
            </a:r>
            <a:r>
              <a:rPr sz="2800" spc="-75" dirty="0">
                <a:latin typeface="Arial"/>
                <a:cs typeface="Arial"/>
              </a:rPr>
              <a:t>AB+ </a:t>
            </a:r>
            <a:r>
              <a:rPr sz="2800" spc="-70" dirty="0">
                <a:latin typeface="Arial"/>
                <a:cs typeface="Arial"/>
              </a:rPr>
              <a:t>A’BC</a:t>
            </a:r>
            <a:r>
              <a:rPr sz="2775" spc="-104" baseline="-21021" dirty="0">
                <a:latin typeface="Arial"/>
                <a:cs typeface="Arial"/>
              </a:rPr>
              <a:t>in</a:t>
            </a:r>
            <a:r>
              <a:rPr sz="2800" spc="-70" dirty="0">
                <a:latin typeface="Arial"/>
                <a:cs typeface="Arial"/>
              </a:rPr>
              <a:t>+</a:t>
            </a:r>
            <a:r>
              <a:rPr sz="2800" spc="15" dirty="0">
                <a:latin typeface="Arial"/>
                <a:cs typeface="Arial"/>
              </a:rPr>
              <a:t> </a:t>
            </a:r>
            <a:r>
              <a:rPr sz="2800" spc="-95" dirty="0">
                <a:latin typeface="Arial"/>
                <a:cs typeface="Arial"/>
              </a:rPr>
              <a:t>AB’C</a:t>
            </a:r>
            <a:r>
              <a:rPr sz="2775" spc="-142" baseline="-21021" dirty="0">
                <a:latin typeface="Arial"/>
                <a:cs typeface="Arial"/>
              </a:rPr>
              <a:t>in</a:t>
            </a:r>
            <a:endParaRPr sz="2775" baseline="-21021">
              <a:latin typeface="Arial"/>
              <a:cs typeface="Arial"/>
            </a:endParaRPr>
          </a:p>
          <a:p>
            <a:pPr marL="853440">
              <a:lnSpc>
                <a:spcPct val="100000"/>
              </a:lnSpc>
            </a:pPr>
            <a:r>
              <a:rPr sz="2800" spc="70" dirty="0">
                <a:latin typeface="Arial"/>
                <a:cs typeface="Arial"/>
              </a:rPr>
              <a:t>= </a:t>
            </a:r>
            <a:r>
              <a:rPr sz="2800" spc="-75" dirty="0">
                <a:latin typeface="Arial"/>
                <a:cs typeface="Arial"/>
              </a:rPr>
              <a:t>AB+ </a:t>
            </a:r>
            <a:r>
              <a:rPr sz="2800" spc="-145" dirty="0">
                <a:latin typeface="Arial"/>
                <a:cs typeface="Arial"/>
              </a:rPr>
              <a:t>C</a:t>
            </a:r>
            <a:r>
              <a:rPr sz="2775" spc="-217" baseline="-21021" dirty="0">
                <a:latin typeface="Arial"/>
                <a:cs typeface="Arial"/>
              </a:rPr>
              <a:t>in</a:t>
            </a:r>
            <a:r>
              <a:rPr sz="2775" spc="-172" baseline="-21021" dirty="0">
                <a:latin typeface="Arial"/>
                <a:cs typeface="Arial"/>
              </a:rPr>
              <a:t> </a:t>
            </a:r>
            <a:r>
              <a:rPr sz="2800" spc="-80" dirty="0">
                <a:latin typeface="Arial"/>
                <a:cs typeface="Arial"/>
              </a:rPr>
              <a:t>(A’B+AB’)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sp>
          <p:nvSpPr>
            <p:cNvPr id="12" name="object 12"/>
            <p:cNvSpPr/>
            <p:nvPr/>
          </p:nvSpPr>
          <p:spPr>
            <a:xfrm>
              <a:off x="8593835" y="6620255"/>
              <a:ext cx="550164" cy="23774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674607" y="6556243"/>
              <a:ext cx="469392" cy="3017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8787638" y="6649770"/>
            <a:ext cx="256540" cy="234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75"/>
              </a:lnSpc>
            </a:pPr>
            <a:r>
              <a:rPr sz="1400" b="1" dirty="0">
                <a:solidFill>
                  <a:srgbClr val="FFFFFF"/>
                </a:solidFill>
                <a:latin typeface="Carlito"/>
                <a:cs typeface="Carlito"/>
              </a:rPr>
              <a:t>41</a:t>
            </a:r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2951988" y="202679"/>
              <a:ext cx="3233928" cy="9342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226435" y="321386"/>
            <a:ext cx="269049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95" dirty="0"/>
              <a:t>BINARY </a:t>
            </a:r>
            <a:r>
              <a:rPr spc="-45" dirty="0"/>
              <a:t>ADDER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840607" y="1129664"/>
            <a:ext cx="141922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00" dirty="0">
                <a:solidFill>
                  <a:srgbClr val="C00000"/>
                </a:solidFill>
                <a:latin typeface="Arial"/>
                <a:cs typeface="Arial"/>
              </a:rPr>
              <a:t>FULL</a:t>
            </a:r>
            <a:r>
              <a:rPr sz="2000" b="1" spc="-1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200" dirty="0">
                <a:solidFill>
                  <a:srgbClr val="C00000"/>
                </a:solidFill>
                <a:latin typeface="Arial"/>
                <a:cs typeface="Arial"/>
              </a:rPr>
              <a:t>ADDER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85800" y="2438400"/>
            <a:ext cx="8463280" cy="4419600"/>
            <a:chOff x="685800" y="2438400"/>
            <a:chExt cx="8463280" cy="4419600"/>
          </a:xfrm>
        </p:grpSpPr>
        <p:sp>
          <p:nvSpPr>
            <p:cNvPr id="9" name="object 9"/>
            <p:cNvSpPr/>
            <p:nvPr/>
          </p:nvSpPr>
          <p:spPr>
            <a:xfrm>
              <a:off x="685800" y="2438400"/>
              <a:ext cx="7946135" cy="276301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593835" y="6620254"/>
              <a:ext cx="550164" cy="237743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74607" y="6556242"/>
              <a:ext cx="469392" cy="301755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641080" y="6644640"/>
              <a:ext cx="502920" cy="18288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310386" y="5538622"/>
            <a:ext cx="64922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95" dirty="0">
                <a:latin typeface="Arial"/>
                <a:cs typeface="Arial"/>
              </a:rPr>
              <a:t>Implementation </a:t>
            </a:r>
            <a:r>
              <a:rPr sz="2000" b="1" spc="-155" dirty="0">
                <a:latin typeface="Arial"/>
                <a:cs typeface="Arial"/>
              </a:rPr>
              <a:t>of </a:t>
            </a:r>
            <a:r>
              <a:rPr sz="2000" b="1" spc="-145" dirty="0">
                <a:latin typeface="Arial"/>
                <a:cs typeface="Arial"/>
              </a:rPr>
              <a:t>full </a:t>
            </a:r>
            <a:r>
              <a:rPr sz="2000" b="1" spc="-215" dirty="0">
                <a:latin typeface="Arial"/>
                <a:cs typeface="Arial"/>
              </a:rPr>
              <a:t>adder </a:t>
            </a:r>
            <a:r>
              <a:rPr sz="2000" b="1" spc="-180" dirty="0">
                <a:latin typeface="Arial"/>
                <a:cs typeface="Arial"/>
              </a:rPr>
              <a:t>with </a:t>
            </a:r>
            <a:r>
              <a:rPr sz="2000" b="1" spc="-190" dirty="0">
                <a:latin typeface="Arial"/>
                <a:cs typeface="Arial"/>
              </a:rPr>
              <a:t>two </a:t>
            </a:r>
            <a:r>
              <a:rPr sz="2000" b="1" spc="-220" dirty="0">
                <a:latin typeface="Arial"/>
                <a:cs typeface="Arial"/>
              </a:rPr>
              <a:t>half-adders </a:t>
            </a:r>
            <a:r>
              <a:rPr sz="2000" b="1" spc="-245" dirty="0">
                <a:latin typeface="Arial"/>
                <a:cs typeface="Arial"/>
              </a:rPr>
              <a:t>and </a:t>
            </a:r>
            <a:r>
              <a:rPr sz="2000" b="1" spc="-260" dirty="0">
                <a:latin typeface="Arial"/>
                <a:cs typeface="Arial"/>
              </a:rPr>
              <a:t>an </a:t>
            </a:r>
            <a:r>
              <a:rPr sz="2000" b="1" spc="-145" dirty="0">
                <a:latin typeface="Arial"/>
                <a:cs typeface="Arial"/>
              </a:rPr>
              <a:t>OR</a:t>
            </a:r>
            <a:r>
              <a:rPr sz="2000" b="1" spc="190" dirty="0">
                <a:latin typeface="Arial"/>
                <a:cs typeface="Arial"/>
              </a:rPr>
              <a:t> </a:t>
            </a:r>
            <a:r>
              <a:rPr sz="2000" b="1" spc="-229" dirty="0">
                <a:latin typeface="Arial"/>
                <a:cs typeface="Arial"/>
              </a:rPr>
              <a:t>gate</a:t>
            </a:r>
            <a:endParaRPr sz="200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8787638" y="6649770"/>
            <a:ext cx="25654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rlito"/>
                <a:cs typeface="Carlito"/>
              </a:rPr>
              <a:t>42</a:t>
            </a:r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9080" cy="6841490"/>
            <a:chOff x="0" y="16764"/>
            <a:chExt cx="9149080" cy="6841490"/>
          </a:xfrm>
        </p:grpSpPr>
        <p:sp>
          <p:nvSpPr>
            <p:cNvPr id="3" name="object 3"/>
            <p:cNvSpPr/>
            <p:nvPr/>
          </p:nvSpPr>
          <p:spPr>
            <a:xfrm>
              <a:off x="1493519" y="1455419"/>
              <a:ext cx="6983730" cy="409270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593835" y="6620254"/>
              <a:ext cx="550164" cy="23774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674607" y="6556243"/>
              <a:ext cx="469392" cy="30175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641080" y="6644640"/>
              <a:ext cx="502920" cy="18288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787638" y="6649770"/>
            <a:ext cx="25654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rlito"/>
                <a:cs typeface="Carlito"/>
              </a:rPr>
              <a:t>43</a:t>
            </a:r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2371344" y="202679"/>
              <a:ext cx="4395215" cy="9342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95" dirty="0"/>
              <a:t>BINARY</a:t>
            </a:r>
            <a:r>
              <a:rPr spc="-75" dirty="0"/>
              <a:t> </a:t>
            </a:r>
            <a:r>
              <a:rPr spc="-95" dirty="0"/>
              <a:t>SUBTRACTOR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83540" y="1069387"/>
            <a:ext cx="8377555" cy="3035935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R="36195" algn="ctr">
              <a:lnSpc>
                <a:spcPct val="100000"/>
              </a:lnSpc>
              <a:spcBef>
                <a:spcPts val="575"/>
              </a:spcBef>
            </a:pPr>
            <a:r>
              <a:rPr sz="2000" b="1" spc="-155" dirty="0">
                <a:solidFill>
                  <a:srgbClr val="C00000"/>
                </a:solidFill>
                <a:latin typeface="Arial"/>
                <a:cs typeface="Arial"/>
              </a:rPr>
              <a:t>HALF</a:t>
            </a:r>
            <a:r>
              <a:rPr sz="2000" b="1" spc="-5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180" dirty="0">
                <a:solidFill>
                  <a:srgbClr val="C00000"/>
                </a:solidFill>
                <a:latin typeface="Arial"/>
                <a:cs typeface="Arial"/>
              </a:rPr>
              <a:t>SUBTRACTOR</a:t>
            </a:r>
            <a:endParaRPr sz="2000">
              <a:latin typeface="Arial"/>
              <a:cs typeface="Arial"/>
            </a:endParaRPr>
          </a:p>
          <a:p>
            <a:pPr marL="476884" marR="5080" indent="-464820" algn="just">
              <a:lnSpc>
                <a:spcPct val="100000"/>
              </a:lnSpc>
              <a:spcBef>
                <a:spcPts val="660"/>
              </a:spcBef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135" dirty="0">
                <a:solidFill>
                  <a:srgbClr val="006FC0"/>
                </a:solidFill>
                <a:latin typeface="Arial"/>
                <a:cs typeface="Arial"/>
              </a:rPr>
              <a:t>A </a:t>
            </a:r>
            <a:r>
              <a:rPr sz="2800" spc="-155" dirty="0">
                <a:solidFill>
                  <a:srgbClr val="006FC0"/>
                </a:solidFill>
                <a:latin typeface="Arial"/>
                <a:cs typeface="Arial"/>
              </a:rPr>
              <a:t>half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Subtractor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800" spc="-395" dirty="0">
                <a:solidFill>
                  <a:srgbClr val="006FC0"/>
                </a:solidFill>
                <a:latin typeface="Arial"/>
                <a:cs typeface="Arial"/>
              </a:rPr>
              <a:t>a</a:t>
            </a:r>
            <a:r>
              <a:rPr sz="2800" spc="-1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combinational </a:t>
            </a:r>
            <a:r>
              <a:rPr sz="2800" spc="-95" dirty="0">
                <a:solidFill>
                  <a:srgbClr val="006FC0"/>
                </a:solidFill>
                <a:latin typeface="Arial"/>
                <a:cs typeface="Arial"/>
              </a:rPr>
              <a:t>circuit </a:t>
            </a:r>
            <a:r>
              <a:rPr sz="2800" spc="-125" dirty="0">
                <a:solidFill>
                  <a:srgbClr val="006FC0"/>
                </a:solidFill>
                <a:latin typeface="Arial"/>
                <a:cs typeface="Arial"/>
              </a:rPr>
              <a:t>that </a:t>
            </a:r>
            <a:r>
              <a:rPr sz="2800" spc="-285" dirty="0">
                <a:solidFill>
                  <a:srgbClr val="006FC0"/>
                </a:solidFill>
                <a:latin typeface="Arial"/>
                <a:cs typeface="Arial"/>
              </a:rPr>
              <a:t>can </a:t>
            </a:r>
            <a:r>
              <a:rPr sz="2800" spc="-280" dirty="0">
                <a:solidFill>
                  <a:srgbClr val="006FC0"/>
                </a:solidFill>
                <a:latin typeface="Arial"/>
                <a:cs typeface="Arial"/>
              </a:rPr>
              <a:t>be  </a:t>
            </a:r>
            <a:r>
              <a:rPr sz="2800" spc="-310" dirty="0">
                <a:solidFill>
                  <a:srgbClr val="006FC0"/>
                </a:solidFill>
                <a:latin typeface="Arial"/>
                <a:cs typeface="Arial"/>
              </a:rPr>
              <a:t>used </a:t>
            </a:r>
            <a:r>
              <a:rPr sz="2800" spc="-50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800" spc="-185" dirty="0">
                <a:solidFill>
                  <a:srgbClr val="006FC0"/>
                </a:solidFill>
                <a:latin typeface="Arial"/>
                <a:cs typeface="Arial"/>
              </a:rPr>
              <a:t>subtract </a:t>
            </a:r>
            <a:r>
              <a:rPr sz="2800" spc="-240" dirty="0">
                <a:solidFill>
                  <a:srgbClr val="006FC0"/>
                </a:solidFill>
                <a:latin typeface="Arial"/>
                <a:cs typeface="Arial"/>
              </a:rPr>
              <a:t>one 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binary</a:t>
            </a:r>
            <a:r>
              <a:rPr sz="2800" spc="44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100" dirty="0">
                <a:solidFill>
                  <a:srgbClr val="006FC0"/>
                </a:solidFill>
                <a:latin typeface="Arial"/>
                <a:cs typeface="Arial"/>
              </a:rPr>
              <a:t>digit from </a:t>
            </a:r>
            <a:r>
              <a:rPr sz="2800" spc="-185" dirty="0">
                <a:solidFill>
                  <a:srgbClr val="006FC0"/>
                </a:solidFill>
                <a:latin typeface="Arial"/>
                <a:cs typeface="Arial"/>
              </a:rPr>
              <a:t>another </a:t>
            </a:r>
            <a:r>
              <a:rPr sz="2800" spc="-50" dirty="0">
                <a:solidFill>
                  <a:srgbClr val="006FC0"/>
                </a:solidFill>
                <a:latin typeface="Arial"/>
                <a:cs typeface="Arial"/>
              </a:rPr>
              <a:t>to  </a:t>
            </a:r>
            <a:r>
              <a:rPr sz="2800" spc="-180" dirty="0">
                <a:solidFill>
                  <a:srgbClr val="006FC0"/>
                </a:solidFill>
                <a:latin typeface="Arial"/>
                <a:cs typeface="Arial"/>
              </a:rPr>
              <a:t>produce </a:t>
            </a:r>
            <a:r>
              <a:rPr sz="2800" spc="-395" dirty="0">
                <a:solidFill>
                  <a:srgbClr val="006FC0"/>
                </a:solidFill>
                <a:latin typeface="Arial"/>
                <a:cs typeface="Arial"/>
              </a:rPr>
              <a:t>a </a:t>
            </a:r>
            <a:r>
              <a:rPr sz="2800" spc="-320" dirty="0">
                <a:latin typeface="Arial"/>
                <a:cs typeface="Arial"/>
              </a:rPr>
              <a:t>DIFFERENCE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output 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spc="-395" dirty="0">
                <a:solidFill>
                  <a:srgbClr val="006FC0"/>
                </a:solidFill>
                <a:latin typeface="Arial"/>
                <a:cs typeface="Arial"/>
              </a:rPr>
              <a:t>a </a:t>
            </a:r>
            <a:r>
              <a:rPr sz="2800" spc="-260" dirty="0">
                <a:latin typeface="Arial"/>
                <a:cs typeface="Arial"/>
              </a:rPr>
              <a:t>BORROW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10" dirty="0">
                <a:solidFill>
                  <a:srgbClr val="006FC0"/>
                </a:solidFill>
                <a:latin typeface="Arial"/>
                <a:cs typeface="Arial"/>
              </a:rPr>
              <a:t>output.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E36C09"/>
              </a:buClr>
              <a:buFont typeface="Wingdings"/>
              <a:buChar char=""/>
            </a:pPr>
            <a:endParaRPr sz="2900">
              <a:latin typeface="Arial"/>
              <a:cs typeface="Arial"/>
            </a:endParaRPr>
          </a:p>
          <a:p>
            <a:pPr marL="476884" marR="5715" indent="-464820" algn="just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254" dirty="0">
                <a:latin typeface="Arial"/>
                <a:cs typeface="Arial"/>
              </a:rPr>
              <a:t>BORROW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output </a:t>
            </a: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here </a:t>
            </a:r>
            <a:r>
              <a:rPr sz="2800" spc="-240" dirty="0">
                <a:solidFill>
                  <a:srgbClr val="006FC0"/>
                </a:solidFill>
                <a:latin typeface="Arial"/>
                <a:cs typeface="Arial"/>
              </a:rPr>
              <a:t>specifies </a:t>
            </a:r>
            <a:r>
              <a:rPr sz="2800" spc="-190" dirty="0">
                <a:latin typeface="Arial"/>
                <a:cs typeface="Arial"/>
              </a:rPr>
              <a:t>whether </a:t>
            </a:r>
            <a:r>
              <a:rPr sz="2800" spc="-395" dirty="0">
                <a:latin typeface="Arial"/>
                <a:cs typeface="Arial"/>
              </a:rPr>
              <a:t>a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‘1’ </a:t>
            </a:r>
            <a:r>
              <a:rPr sz="2800" spc="-375" dirty="0">
                <a:latin typeface="Arial"/>
                <a:cs typeface="Arial"/>
              </a:rPr>
              <a:t>has  </a:t>
            </a:r>
            <a:r>
              <a:rPr sz="2800" spc="-280" dirty="0">
                <a:latin typeface="Arial"/>
                <a:cs typeface="Arial"/>
              </a:rPr>
              <a:t>been </a:t>
            </a:r>
            <a:r>
              <a:rPr sz="2800" spc="-165" dirty="0">
                <a:latin typeface="Arial"/>
                <a:cs typeface="Arial"/>
              </a:rPr>
              <a:t>borrowed </a:t>
            </a:r>
            <a:r>
              <a:rPr sz="2800" spc="-50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800" spc="-130" dirty="0">
                <a:solidFill>
                  <a:srgbClr val="006FC0"/>
                </a:solidFill>
                <a:latin typeface="Arial"/>
                <a:cs typeface="Arial"/>
              </a:rPr>
              <a:t>perform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</a:t>
            </a:r>
            <a:r>
              <a:rPr sz="2800" spc="10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subtraction.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905000" y="4343400"/>
            <a:ext cx="7244080" cy="2514600"/>
            <a:chOff x="1905000" y="4343400"/>
            <a:chExt cx="7244080" cy="2514600"/>
          </a:xfrm>
        </p:grpSpPr>
        <p:sp>
          <p:nvSpPr>
            <p:cNvPr id="9" name="object 9"/>
            <p:cNvSpPr/>
            <p:nvPr/>
          </p:nvSpPr>
          <p:spPr>
            <a:xfrm>
              <a:off x="1905000" y="4343400"/>
              <a:ext cx="5308092" cy="14478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593835" y="6620254"/>
              <a:ext cx="550164" cy="237743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74607" y="6556242"/>
              <a:ext cx="469392" cy="301755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641080" y="6644639"/>
              <a:ext cx="502920" cy="18288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641080" y="6644639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339720" y="5887923"/>
            <a:ext cx="4008754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Palladio Uralic"/>
                <a:cs typeface="Palladio Uralic"/>
              </a:rPr>
              <a:t>Block schematic of half</a:t>
            </a:r>
            <a:r>
              <a:rPr sz="2000" b="1" spc="-110" dirty="0">
                <a:latin typeface="Palladio Uralic"/>
                <a:cs typeface="Palladio Uralic"/>
              </a:rPr>
              <a:t> </a:t>
            </a:r>
            <a:r>
              <a:rPr sz="2000" b="1" dirty="0">
                <a:latin typeface="Palladio Uralic"/>
                <a:cs typeface="Palladio Uralic"/>
              </a:rPr>
              <a:t>Subtractor</a:t>
            </a:r>
            <a:endParaRPr sz="2000">
              <a:latin typeface="Palladio Uralic"/>
              <a:cs typeface="Palladio Uralic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8787638" y="6649770"/>
            <a:ext cx="25654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rlito"/>
                <a:cs typeface="Carlito"/>
              </a:rPr>
              <a:t>44</a:t>
            </a:r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2371344" y="202679"/>
              <a:ext cx="4395215" cy="9342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95" dirty="0"/>
              <a:t>BINARY</a:t>
            </a:r>
            <a:r>
              <a:rPr spc="-75" dirty="0"/>
              <a:t> </a:t>
            </a:r>
            <a:r>
              <a:rPr spc="-95" dirty="0"/>
              <a:t>SUBTRACTOR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83540" y="1069387"/>
            <a:ext cx="8376284" cy="1755139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R="34925" algn="ctr">
              <a:lnSpc>
                <a:spcPct val="100000"/>
              </a:lnSpc>
              <a:spcBef>
                <a:spcPts val="575"/>
              </a:spcBef>
            </a:pPr>
            <a:r>
              <a:rPr sz="2000" b="1" spc="-155" dirty="0">
                <a:solidFill>
                  <a:srgbClr val="C00000"/>
                </a:solidFill>
                <a:latin typeface="Arial"/>
                <a:cs typeface="Arial"/>
              </a:rPr>
              <a:t>HALF</a:t>
            </a:r>
            <a:r>
              <a:rPr sz="2000" b="1" spc="-5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180" dirty="0">
                <a:solidFill>
                  <a:srgbClr val="C00000"/>
                </a:solidFill>
                <a:latin typeface="Arial"/>
                <a:cs typeface="Arial"/>
              </a:rPr>
              <a:t>SUBTRACTOR</a:t>
            </a:r>
            <a:endParaRPr sz="2000">
              <a:latin typeface="Arial"/>
              <a:cs typeface="Arial"/>
            </a:endParaRPr>
          </a:p>
          <a:p>
            <a:pPr marL="476884" marR="5080" indent="-464820" algn="just">
              <a:lnSpc>
                <a:spcPct val="100000"/>
              </a:lnSpc>
              <a:spcBef>
                <a:spcPts val="660"/>
              </a:spcBef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65" dirty="0">
                <a:solidFill>
                  <a:srgbClr val="006FC0"/>
                </a:solidFill>
                <a:latin typeface="Arial"/>
                <a:cs typeface="Arial"/>
              </a:rPr>
              <a:t>truth </a:t>
            </a:r>
            <a:r>
              <a:rPr sz="2800" spc="-185" dirty="0">
                <a:solidFill>
                  <a:srgbClr val="006FC0"/>
                </a:solidFill>
                <a:latin typeface="Arial"/>
                <a:cs typeface="Arial"/>
              </a:rPr>
              <a:t>table 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155" dirty="0">
                <a:solidFill>
                  <a:srgbClr val="006FC0"/>
                </a:solidFill>
                <a:latin typeface="Arial"/>
                <a:cs typeface="Arial"/>
              </a:rPr>
              <a:t>half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Subtractor, 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showing </a:t>
            </a:r>
            <a:r>
              <a:rPr sz="2800" spc="-145" dirty="0">
                <a:solidFill>
                  <a:srgbClr val="006FC0"/>
                </a:solidFill>
                <a:latin typeface="Arial"/>
                <a:cs typeface="Arial"/>
              </a:rPr>
              <a:t>all </a:t>
            </a:r>
            <a:r>
              <a:rPr sz="2800" spc="-245" dirty="0">
                <a:solidFill>
                  <a:srgbClr val="006FC0"/>
                </a:solidFill>
                <a:latin typeface="Arial"/>
                <a:cs typeface="Arial"/>
              </a:rPr>
              <a:t>possible 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input </a:t>
            </a:r>
            <a:r>
              <a:rPr sz="2800" spc="-190" dirty="0">
                <a:solidFill>
                  <a:srgbClr val="006FC0"/>
                </a:solidFill>
                <a:latin typeface="Arial"/>
                <a:cs typeface="Arial"/>
              </a:rPr>
              <a:t>combinations </a:t>
            </a:r>
            <a:r>
              <a:rPr sz="2800" spc="-260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95" dirty="0">
                <a:solidFill>
                  <a:srgbClr val="006FC0"/>
                </a:solidFill>
                <a:latin typeface="Arial"/>
                <a:cs typeface="Arial"/>
              </a:rPr>
              <a:t>corresponding </a:t>
            </a:r>
            <a:r>
              <a:rPr sz="2800" spc="-160" dirty="0">
                <a:solidFill>
                  <a:srgbClr val="006FC0"/>
                </a:solidFill>
                <a:latin typeface="Arial"/>
                <a:cs typeface="Arial"/>
              </a:rPr>
              <a:t>outputs 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are  </a:t>
            </a:r>
            <a:r>
              <a:rPr sz="2800" spc="-270" dirty="0">
                <a:solidFill>
                  <a:srgbClr val="006FC0"/>
                </a:solidFill>
                <a:latin typeface="Arial"/>
                <a:cs typeface="Arial"/>
              </a:rPr>
              <a:t>shown</a:t>
            </a:r>
            <a:r>
              <a:rPr sz="2800" spc="-2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190" dirty="0">
                <a:solidFill>
                  <a:srgbClr val="006FC0"/>
                </a:solidFill>
                <a:latin typeface="Arial"/>
                <a:cs typeface="Arial"/>
              </a:rPr>
              <a:t>below.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676400" y="3200400"/>
            <a:ext cx="5867400" cy="93421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1670050" y="3194050"/>
          <a:ext cx="5886450" cy="29749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5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40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24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67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2063">
                <a:tc gridSpan="2">
                  <a:txBody>
                    <a:bodyPr/>
                    <a:lstStyle/>
                    <a:p>
                      <a:pPr marL="608330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2000" b="1" dirty="0">
                          <a:latin typeface="Palladio Uralic"/>
                          <a:cs typeface="Palladio Uralic"/>
                        </a:rPr>
                        <a:t>Input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2000" b="1" dirty="0">
                          <a:latin typeface="Palladio Uralic"/>
                          <a:cs typeface="Palladio Uralic"/>
                        </a:rPr>
                        <a:t>Output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402">
                <a:tc>
                  <a:txBody>
                    <a:bodyPr/>
                    <a:lstStyle/>
                    <a:p>
                      <a:pPr marR="34163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2000" b="1" dirty="0">
                          <a:latin typeface="Palladio Uralic"/>
                          <a:cs typeface="Palladio Uralic"/>
                        </a:rPr>
                        <a:t>A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558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132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2000" b="1" dirty="0">
                          <a:latin typeface="Palladio Uralic"/>
                          <a:cs typeface="Palladio Uralic"/>
                        </a:rPr>
                        <a:t>B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558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2000" b="1" dirty="0">
                          <a:latin typeface="Palladio Uralic"/>
                          <a:cs typeface="Palladio Uralic"/>
                        </a:rPr>
                        <a:t>Difference</a:t>
                      </a:r>
                      <a:r>
                        <a:rPr sz="2000" b="1" spc="-60" dirty="0">
                          <a:latin typeface="Palladio Uralic"/>
                          <a:cs typeface="Palladio Uralic"/>
                        </a:rPr>
                        <a:t> </a:t>
                      </a:r>
                      <a:r>
                        <a:rPr sz="2000" b="1" dirty="0">
                          <a:latin typeface="Palladio Uralic"/>
                          <a:cs typeface="Palladio Uralic"/>
                        </a:rPr>
                        <a:t>(D)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558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2000" b="1" dirty="0">
                          <a:latin typeface="Palladio Uralic"/>
                          <a:cs typeface="Palladio Uralic"/>
                        </a:rPr>
                        <a:t>Borrow</a:t>
                      </a:r>
                      <a:r>
                        <a:rPr sz="2000" b="1" spc="-45" dirty="0">
                          <a:latin typeface="Palladio Uralic"/>
                          <a:cs typeface="Palladio Uralic"/>
                        </a:rPr>
                        <a:t> </a:t>
                      </a:r>
                      <a:r>
                        <a:rPr sz="2000" b="1" spc="5" dirty="0">
                          <a:latin typeface="Palladio Uralic"/>
                          <a:cs typeface="Palladio Uralic"/>
                        </a:rPr>
                        <a:t>(B</a:t>
                      </a:r>
                      <a:r>
                        <a:rPr sz="1950" b="1" spc="7" baseline="-21367" dirty="0">
                          <a:latin typeface="Palladio Uralic"/>
                          <a:cs typeface="Palladio Uralic"/>
                        </a:rPr>
                        <a:t>out</a:t>
                      </a:r>
                      <a:r>
                        <a:rPr sz="2000" b="1" spc="5" dirty="0">
                          <a:latin typeface="Palladio Uralic"/>
                          <a:cs typeface="Palladio Uralic"/>
                        </a:rPr>
                        <a:t>)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558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4636">
                <a:tc>
                  <a:txBody>
                    <a:bodyPr/>
                    <a:lstStyle/>
                    <a:p>
                      <a:pPr marR="377190" algn="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66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2909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66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66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66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888">
                <a:tc>
                  <a:txBody>
                    <a:bodyPr/>
                    <a:lstStyle/>
                    <a:p>
                      <a:pPr marR="377190" algn="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952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2909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1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952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1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952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1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952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913">
                <a:tc>
                  <a:txBody>
                    <a:bodyPr/>
                    <a:lstStyle/>
                    <a:p>
                      <a:pPr marR="377190" algn="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1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952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2909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952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1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952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952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926">
                <a:tc>
                  <a:txBody>
                    <a:bodyPr/>
                    <a:lstStyle/>
                    <a:p>
                      <a:pPr marR="377190" algn="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1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952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2909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1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952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952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952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0" name="object 10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sp>
          <p:nvSpPr>
            <p:cNvPr id="11" name="object 11"/>
            <p:cNvSpPr/>
            <p:nvPr/>
          </p:nvSpPr>
          <p:spPr>
            <a:xfrm>
              <a:off x="8593835" y="6620255"/>
              <a:ext cx="550164" cy="237743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674607" y="6556243"/>
              <a:ext cx="469392" cy="301755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8787638" y="6649770"/>
            <a:ext cx="25654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rlito"/>
                <a:cs typeface="Carlito"/>
              </a:rPr>
              <a:t>45</a:t>
            </a:r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2371344" y="202679"/>
              <a:ext cx="4395215" cy="9342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95" dirty="0"/>
              <a:t>BINARY</a:t>
            </a:r>
            <a:r>
              <a:rPr spc="-75" dirty="0"/>
              <a:t> </a:t>
            </a:r>
            <a:r>
              <a:rPr spc="-95" dirty="0"/>
              <a:t>SUBTRACTOR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70840" y="4506848"/>
            <a:ext cx="8401685" cy="1732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89584" marR="17780" indent="-464820">
              <a:lnSpc>
                <a:spcPct val="100000"/>
              </a:lnSpc>
              <a:spcBef>
                <a:spcPts val="95"/>
              </a:spcBef>
              <a:buClr>
                <a:srgbClr val="E36C09"/>
              </a:buClr>
              <a:buFont typeface="Wingdings"/>
              <a:buChar char=""/>
              <a:tabLst>
                <a:tab pos="489584" algn="l"/>
                <a:tab pos="490220" algn="l"/>
                <a:tab pos="1275080" algn="l"/>
                <a:tab pos="2623820" algn="l"/>
                <a:tab pos="4405630" algn="l"/>
                <a:tab pos="5058410" algn="l"/>
                <a:tab pos="5748655" algn="l"/>
                <a:tab pos="7877809" algn="l"/>
              </a:tabLst>
            </a:pPr>
            <a:r>
              <a:rPr sz="2800" spc="-180" dirty="0">
                <a:solidFill>
                  <a:srgbClr val="006FC0"/>
                </a:solidFill>
                <a:latin typeface="Arial"/>
                <a:cs typeface="Arial"/>
              </a:rPr>
              <a:t>T</a:t>
            </a:r>
            <a:r>
              <a:rPr sz="2800" spc="-155" dirty="0">
                <a:solidFill>
                  <a:srgbClr val="006FC0"/>
                </a:solidFill>
                <a:latin typeface="Arial"/>
                <a:cs typeface="Arial"/>
              </a:rPr>
              <a:t>h</a:t>
            </a:r>
            <a:r>
              <a:rPr sz="2800" spc="-350" dirty="0">
                <a:solidFill>
                  <a:srgbClr val="006FC0"/>
                </a:solidFill>
                <a:latin typeface="Arial"/>
                <a:cs typeface="Arial"/>
              </a:rPr>
              <a:t>e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225" dirty="0">
                <a:solidFill>
                  <a:srgbClr val="006FC0"/>
                </a:solidFill>
                <a:latin typeface="Arial"/>
                <a:cs typeface="Arial"/>
              </a:rPr>
              <a:t>Boo</a:t>
            </a:r>
            <a:r>
              <a:rPr sz="2800" spc="-80" dirty="0">
                <a:solidFill>
                  <a:srgbClr val="006FC0"/>
                </a:solidFill>
                <a:latin typeface="Arial"/>
                <a:cs typeface="Arial"/>
              </a:rPr>
              <a:t>l</a:t>
            </a:r>
            <a:r>
              <a:rPr sz="2800" spc="-320" dirty="0">
                <a:solidFill>
                  <a:srgbClr val="006FC0"/>
                </a:solidFill>
                <a:latin typeface="Arial"/>
                <a:cs typeface="Arial"/>
              </a:rPr>
              <a:t>ea</a:t>
            </a:r>
            <a:r>
              <a:rPr sz="2800" spc="-315" dirty="0">
                <a:solidFill>
                  <a:srgbClr val="006FC0"/>
                </a:solidFill>
                <a:latin typeface="Arial"/>
                <a:cs typeface="Arial"/>
              </a:rPr>
              <a:t>n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235" dirty="0">
                <a:solidFill>
                  <a:srgbClr val="006FC0"/>
                </a:solidFill>
                <a:latin typeface="Arial"/>
                <a:cs typeface="Arial"/>
              </a:rPr>
              <a:t>ex</a:t>
            </a: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p</a:t>
            </a:r>
            <a:r>
              <a:rPr sz="2800" spc="-135" dirty="0">
                <a:solidFill>
                  <a:srgbClr val="006FC0"/>
                </a:solidFill>
                <a:latin typeface="Arial"/>
                <a:cs typeface="Arial"/>
              </a:rPr>
              <a:t>r</a:t>
            </a:r>
            <a:r>
              <a:rPr sz="2800" spc="-215" dirty="0">
                <a:solidFill>
                  <a:srgbClr val="006FC0"/>
                </a:solidFill>
                <a:latin typeface="Arial"/>
                <a:cs typeface="Arial"/>
              </a:rPr>
              <a:t>e</a:t>
            </a:r>
            <a:r>
              <a:rPr sz="2800" spc="-280" dirty="0">
                <a:solidFill>
                  <a:srgbClr val="006FC0"/>
                </a:solidFill>
                <a:latin typeface="Arial"/>
                <a:cs typeface="Arial"/>
              </a:rPr>
              <a:t>ssi</a:t>
            </a:r>
            <a:r>
              <a:rPr sz="2800" spc="-375" dirty="0">
                <a:solidFill>
                  <a:srgbClr val="006FC0"/>
                </a:solidFill>
                <a:latin typeface="Arial"/>
                <a:cs typeface="Arial"/>
              </a:rPr>
              <a:t>o</a:t>
            </a:r>
            <a:r>
              <a:rPr sz="2800" spc="-385" dirty="0">
                <a:solidFill>
                  <a:srgbClr val="006FC0"/>
                </a:solidFill>
                <a:latin typeface="Arial"/>
                <a:cs typeface="Arial"/>
              </a:rPr>
              <a:t>n</a:t>
            </a:r>
            <a:r>
              <a:rPr sz="2800" spc="-345" dirty="0">
                <a:solidFill>
                  <a:srgbClr val="006FC0"/>
                </a:solidFill>
                <a:latin typeface="Arial"/>
                <a:cs typeface="Arial"/>
              </a:rPr>
              <a:t>s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5" dirty="0">
                <a:solidFill>
                  <a:srgbClr val="006FC0"/>
                </a:solidFill>
                <a:latin typeface="Arial"/>
                <a:cs typeface="Arial"/>
              </a:rPr>
              <a:t>f</a:t>
            </a:r>
            <a:r>
              <a:rPr sz="2800" spc="-80" dirty="0">
                <a:solidFill>
                  <a:srgbClr val="006FC0"/>
                </a:solidFill>
                <a:latin typeface="Arial"/>
                <a:cs typeface="Arial"/>
              </a:rPr>
              <a:t>or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155" dirty="0">
                <a:solidFill>
                  <a:srgbClr val="006FC0"/>
                </a:solidFill>
                <a:latin typeface="Arial"/>
                <a:cs typeface="Arial"/>
              </a:rPr>
              <a:t>th</a:t>
            </a:r>
            <a:r>
              <a:rPr sz="2800" spc="-200" dirty="0">
                <a:solidFill>
                  <a:srgbClr val="006FC0"/>
                </a:solidFill>
                <a:latin typeface="Arial"/>
                <a:cs typeface="Arial"/>
              </a:rPr>
              <a:t>e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350" dirty="0">
                <a:solidFill>
                  <a:srgbClr val="006FC0"/>
                </a:solidFill>
                <a:latin typeface="Arial"/>
                <a:cs typeface="Arial"/>
              </a:rPr>
              <a:t>DIFFER</a:t>
            </a:r>
            <a:r>
              <a:rPr sz="2800" spc="-370" dirty="0">
                <a:solidFill>
                  <a:srgbClr val="006FC0"/>
                </a:solidFill>
                <a:latin typeface="Arial"/>
                <a:cs typeface="Arial"/>
              </a:rPr>
              <a:t>E</a:t>
            </a:r>
            <a:r>
              <a:rPr sz="2800" spc="-260" dirty="0">
                <a:solidFill>
                  <a:srgbClr val="006FC0"/>
                </a:solidFill>
                <a:latin typeface="Arial"/>
                <a:cs typeface="Arial"/>
              </a:rPr>
              <a:t>NC</a:t>
            </a:r>
            <a:r>
              <a:rPr sz="2800" spc="-235" dirty="0">
                <a:solidFill>
                  <a:srgbClr val="006FC0"/>
                </a:solidFill>
                <a:latin typeface="Arial"/>
                <a:cs typeface="Arial"/>
              </a:rPr>
              <a:t>E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204" dirty="0">
                <a:solidFill>
                  <a:srgbClr val="006FC0"/>
                </a:solidFill>
                <a:latin typeface="Arial"/>
                <a:cs typeface="Arial"/>
              </a:rPr>
              <a:t>and  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BORROW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outputs 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are </a:t>
            </a:r>
            <a:r>
              <a:rPr sz="2800" spc="-225" dirty="0">
                <a:solidFill>
                  <a:srgbClr val="006FC0"/>
                </a:solidFill>
                <a:latin typeface="Arial"/>
                <a:cs typeface="Arial"/>
              </a:rPr>
              <a:t>given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by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</a:t>
            </a:r>
            <a:r>
              <a:rPr sz="2800" spc="-2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215" dirty="0">
                <a:solidFill>
                  <a:srgbClr val="006FC0"/>
                </a:solidFill>
                <a:latin typeface="Arial"/>
                <a:cs typeface="Arial"/>
              </a:rPr>
              <a:t>equations,</a:t>
            </a:r>
            <a:endParaRPr sz="2800">
              <a:latin typeface="Arial"/>
              <a:cs typeface="Arial"/>
            </a:endParaRPr>
          </a:p>
          <a:p>
            <a:pPr marL="1854200" marR="1770380">
              <a:lnSpc>
                <a:spcPts val="3300"/>
              </a:lnSpc>
              <a:spcBef>
                <a:spcPts val="220"/>
              </a:spcBef>
              <a:tabLst>
                <a:tab pos="3683000" algn="l"/>
              </a:tabLst>
            </a:pPr>
            <a:r>
              <a:rPr sz="2800" b="1" spc="-254" dirty="0">
                <a:latin typeface="Arial"/>
                <a:cs typeface="Arial"/>
              </a:rPr>
              <a:t>Difference, </a:t>
            </a:r>
            <a:r>
              <a:rPr sz="2800" b="1" spc="-15" dirty="0">
                <a:latin typeface="Arial"/>
                <a:cs typeface="Arial"/>
              </a:rPr>
              <a:t>D= </a:t>
            </a:r>
            <a:r>
              <a:rPr sz="2800" b="1" spc="-130" dirty="0">
                <a:latin typeface="Arial"/>
                <a:cs typeface="Arial"/>
              </a:rPr>
              <a:t>A’B+ </a:t>
            </a:r>
            <a:r>
              <a:rPr sz="2800" b="1" spc="-125" dirty="0">
                <a:latin typeface="Arial"/>
                <a:cs typeface="Arial"/>
              </a:rPr>
              <a:t>AB’= </a:t>
            </a:r>
            <a:r>
              <a:rPr sz="2800" b="1" spc="-20" dirty="0">
                <a:latin typeface="Arial"/>
                <a:cs typeface="Arial"/>
              </a:rPr>
              <a:t>A </a:t>
            </a:r>
            <a:r>
              <a:rPr sz="2800" spc="-5" dirty="0">
                <a:latin typeface="Symbol"/>
                <a:cs typeface="Symbol"/>
              </a:rPr>
              <a:t>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b="1" spc="-580" dirty="0">
                <a:latin typeface="Arial"/>
                <a:cs typeface="Arial"/>
              </a:rPr>
              <a:t>B  </a:t>
            </a:r>
            <a:r>
              <a:rPr sz="2800" b="1" spc="-295" dirty="0">
                <a:latin typeface="Arial"/>
                <a:cs typeface="Arial"/>
              </a:rPr>
              <a:t>Borrow,</a:t>
            </a:r>
            <a:r>
              <a:rPr sz="2800" b="1" spc="-25" dirty="0">
                <a:latin typeface="Arial"/>
                <a:cs typeface="Arial"/>
              </a:rPr>
              <a:t> </a:t>
            </a:r>
            <a:r>
              <a:rPr sz="2800" b="1" spc="-260" dirty="0">
                <a:latin typeface="Arial"/>
                <a:cs typeface="Arial"/>
              </a:rPr>
              <a:t>B</a:t>
            </a:r>
            <a:r>
              <a:rPr sz="2775" b="1" spc="-390" baseline="-21021" dirty="0">
                <a:latin typeface="Arial"/>
                <a:cs typeface="Arial"/>
              </a:rPr>
              <a:t>out	</a:t>
            </a:r>
            <a:r>
              <a:rPr sz="2800" b="1" spc="70" dirty="0">
                <a:latin typeface="Arial"/>
                <a:cs typeface="Arial"/>
              </a:rPr>
              <a:t>= </a:t>
            </a:r>
            <a:r>
              <a:rPr sz="2800" b="1" spc="-5" dirty="0">
                <a:latin typeface="Arial"/>
                <a:cs typeface="Arial"/>
              </a:rPr>
              <a:t>A’ </a:t>
            </a:r>
            <a:r>
              <a:rPr sz="2800" b="1" spc="-160" dirty="0">
                <a:latin typeface="Arial"/>
                <a:cs typeface="Arial"/>
              </a:rPr>
              <a:t>.</a:t>
            </a:r>
            <a:r>
              <a:rPr sz="2800" b="1" spc="-65" dirty="0">
                <a:latin typeface="Arial"/>
                <a:cs typeface="Arial"/>
              </a:rPr>
              <a:t> </a:t>
            </a:r>
            <a:r>
              <a:rPr sz="2800" b="1" spc="-580" dirty="0">
                <a:latin typeface="Arial"/>
                <a:cs typeface="Arial"/>
              </a:rPr>
              <a:t>B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3540" y="1069387"/>
            <a:ext cx="6019800" cy="90170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3056890">
              <a:lnSpc>
                <a:spcPct val="100000"/>
              </a:lnSpc>
              <a:spcBef>
                <a:spcPts val="575"/>
              </a:spcBef>
            </a:pPr>
            <a:r>
              <a:rPr sz="2000" b="1" spc="-155" dirty="0">
                <a:solidFill>
                  <a:srgbClr val="C00000"/>
                </a:solidFill>
                <a:latin typeface="Arial"/>
                <a:cs typeface="Arial"/>
              </a:rPr>
              <a:t>HALF</a:t>
            </a:r>
            <a:r>
              <a:rPr sz="2000" b="1" spc="-6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180" dirty="0">
                <a:solidFill>
                  <a:srgbClr val="C00000"/>
                </a:solidFill>
                <a:latin typeface="Arial"/>
                <a:cs typeface="Arial"/>
              </a:rPr>
              <a:t>SUBTRACTOR</a:t>
            </a:r>
            <a:endParaRPr sz="2000">
              <a:latin typeface="Arial"/>
              <a:cs typeface="Arial"/>
            </a:endParaRPr>
          </a:p>
          <a:p>
            <a:pPr marL="477520" indent="-464820">
              <a:lnSpc>
                <a:spcPct val="100000"/>
              </a:lnSpc>
              <a:spcBef>
                <a:spcPts val="660"/>
              </a:spcBef>
              <a:buClr>
                <a:srgbClr val="E36C09"/>
              </a:buClr>
              <a:buFont typeface="Wingdings"/>
              <a:buChar char=""/>
              <a:tabLst>
                <a:tab pos="476884" algn="l"/>
                <a:tab pos="477520" algn="l"/>
              </a:tabLst>
            </a:pPr>
            <a:r>
              <a:rPr sz="2800" spc="-220" dirty="0">
                <a:solidFill>
                  <a:srgbClr val="006FC0"/>
                </a:solidFill>
                <a:latin typeface="Arial"/>
                <a:cs typeface="Arial"/>
              </a:rPr>
              <a:t>K-map </a:t>
            </a:r>
            <a:r>
              <a:rPr sz="2800" spc="-135" dirty="0">
                <a:solidFill>
                  <a:srgbClr val="006FC0"/>
                </a:solidFill>
                <a:latin typeface="Arial"/>
                <a:cs typeface="Arial"/>
              </a:rPr>
              <a:t>simplification </a:t>
            </a:r>
            <a:r>
              <a:rPr sz="2800" spc="-55" dirty="0">
                <a:solidFill>
                  <a:srgbClr val="006FC0"/>
                </a:solidFill>
                <a:latin typeface="Arial"/>
                <a:cs typeface="Arial"/>
              </a:rPr>
              <a:t>for </a:t>
            </a:r>
            <a:r>
              <a:rPr sz="2800" spc="-155" dirty="0">
                <a:solidFill>
                  <a:srgbClr val="006FC0"/>
                </a:solidFill>
                <a:latin typeface="Arial"/>
                <a:cs typeface="Arial"/>
              </a:rPr>
              <a:t>half</a:t>
            </a: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150" dirty="0">
                <a:solidFill>
                  <a:srgbClr val="006FC0"/>
                </a:solidFill>
                <a:latin typeface="Arial"/>
                <a:cs typeface="Arial"/>
              </a:rPr>
              <a:t>Subtractor: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828800" y="2057400"/>
            <a:ext cx="7320280" cy="4800600"/>
            <a:chOff x="1828800" y="2057400"/>
            <a:chExt cx="7320280" cy="4800600"/>
          </a:xfrm>
        </p:grpSpPr>
        <p:sp>
          <p:nvSpPr>
            <p:cNvPr id="10" name="object 10"/>
            <p:cNvSpPr/>
            <p:nvPr/>
          </p:nvSpPr>
          <p:spPr>
            <a:xfrm>
              <a:off x="1828800" y="2057400"/>
              <a:ext cx="4876800" cy="237134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593835" y="6620254"/>
              <a:ext cx="550164" cy="237743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674607" y="6556242"/>
              <a:ext cx="469392" cy="301755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641080" y="6644640"/>
              <a:ext cx="502920" cy="18288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8787638" y="6649770"/>
            <a:ext cx="25654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rlito"/>
                <a:cs typeface="Carlito"/>
              </a:rPr>
              <a:t>46</a:t>
            </a:r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793241" y="982217"/>
              <a:ext cx="7589519" cy="762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6764"/>
              <a:ext cx="9143999" cy="668274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53439" y="320001"/>
              <a:ext cx="7434072" cy="57611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71344" y="202679"/>
              <a:ext cx="4395215" cy="93422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95" dirty="0"/>
              <a:t>BINARY</a:t>
            </a:r>
            <a:r>
              <a:rPr spc="-75" dirty="0"/>
              <a:t> </a:t>
            </a:r>
            <a:r>
              <a:rPr spc="-95" dirty="0"/>
              <a:t>SUBTRACTOR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428238" y="1129664"/>
            <a:ext cx="224409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55" dirty="0">
                <a:solidFill>
                  <a:srgbClr val="C00000"/>
                </a:solidFill>
                <a:latin typeface="Arial"/>
                <a:cs typeface="Arial"/>
              </a:rPr>
              <a:t>HALF</a:t>
            </a:r>
            <a:r>
              <a:rPr sz="2000" b="1" spc="-1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180" dirty="0">
                <a:solidFill>
                  <a:srgbClr val="C00000"/>
                </a:solidFill>
                <a:latin typeface="Arial"/>
                <a:cs typeface="Arial"/>
              </a:rPr>
              <a:t>SUBTRACTOR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905000" y="2133600"/>
            <a:ext cx="7244080" cy="4724400"/>
            <a:chOff x="1905000" y="2133600"/>
            <a:chExt cx="7244080" cy="4724400"/>
          </a:xfrm>
        </p:grpSpPr>
        <p:sp>
          <p:nvSpPr>
            <p:cNvPr id="14" name="object 14"/>
            <p:cNvSpPr/>
            <p:nvPr/>
          </p:nvSpPr>
          <p:spPr>
            <a:xfrm>
              <a:off x="1905000" y="2133600"/>
              <a:ext cx="5445252" cy="267614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593835" y="6620254"/>
              <a:ext cx="550164" cy="237743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674607" y="6556242"/>
              <a:ext cx="469392" cy="301755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641080" y="6644640"/>
              <a:ext cx="502920" cy="182880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288794" y="5336235"/>
            <a:ext cx="4801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95" dirty="0">
                <a:latin typeface="Arial"/>
                <a:cs typeface="Arial"/>
              </a:rPr>
              <a:t>Logic </a:t>
            </a:r>
            <a:r>
              <a:rPr sz="2400" b="1" spc="-225" dirty="0">
                <a:latin typeface="Arial"/>
                <a:cs typeface="Arial"/>
              </a:rPr>
              <a:t>Implementation </a:t>
            </a:r>
            <a:r>
              <a:rPr sz="2400" b="1" spc="-195" dirty="0">
                <a:latin typeface="Arial"/>
                <a:cs typeface="Arial"/>
              </a:rPr>
              <a:t>of</a:t>
            </a:r>
            <a:r>
              <a:rPr sz="2400" b="1" spc="-415" dirty="0">
                <a:latin typeface="Arial"/>
                <a:cs typeface="Arial"/>
              </a:rPr>
              <a:t> </a:t>
            </a:r>
            <a:r>
              <a:rPr sz="2400" b="1" spc="-220" dirty="0">
                <a:latin typeface="Arial"/>
                <a:cs typeface="Arial"/>
              </a:rPr>
              <a:t>Half-Subtractor</a:t>
            </a:r>
            <a:endParaRPr sz="2400">
              <a:latin typeface="Arial"/>
              <a:cs typeface="Aria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8787638" y="6649770"/>
            <a:ext cx="25654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rlito"/>
                <a:cs typeface="Carlito"/>
              </a:rPr>
              <a:t>47</a:t>
            </a:r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793241" y="982217"/>
              <a:ext cx="7589519" cy="762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6764"/>
              <a:ext cx="9143999" cy="668274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53439" y="320001"/>
              <a:ext cx="7434072" cy="57611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71344" y="202679"/>
              <a:ext cx="4395215" cy="93422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95" dirty="0"/>
              <a:t>BINARY</a:t>
            </a:r>
            <a:r>
              <a:rPr spc="-75" dirty="0"/>
              <a:t> </a:t>
            </a:r>
            <a:r>
              <a:rPr spc="-95" dirty="0"/>
              <a:t>SUBTRACTOR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3540" y="1069387"/>
            <a:ext cx="8378190" cy="5169535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R="36830" algn="ctr">
              <a:lnSpc>
                <a:spcPct val="100000"/>
              </a:lnSpc>
              <a:spcBef>
                <a:spcPts val="575"/>
              </a:spcBef>
            </a:pPr>
            <a:r>
              <a:rPr sz="2000" b="1" spc="-155" dirty="0">
                <a:solidFill>
                  <a:srgbClr val="C00000"/>
                </a:solidFill>
                <a:latin typeface="Arial"/>
                <a:cs typeface="Arial"/>
              </a:rPr>
              <a:t>HALF</a:t>
            </a:r>
            <a:r>
              <a:rPr sz="2000" b="1" spc="-5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180" dirty="0">
                <a:solidFill>
                  <a:srgbClr val="C00000"/>
                </a:solidFill>
                <a:latin typeface="Arial"/>
                <a:cs typeface="Arial"/>
              </a:rPr>
              <a:t>SUBTRACTOR</a:t>
            </a:r>
            <a:endParaRPr sz="2000">
              <a:latin typeface="Arial"/>
              <a:cs typeface="Arial"/>
            </a:endParaRPr>
          </a:p>
          <a:p>
            <a:pPr marL="476884" marR="5080" indent="-464820" algn="just">
              <a:lnSpc>
                <a:spcPct val="100000"/>
              </a:lnSpc>
              <a:spcBef>
                <a:spcPts val="660"/>
              </a:spcBef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-200" dirty="0">
                <a:solidFill>
                  <a:srgbClr val="006FC0"/>
                </a:solidFill>
                <a:latin typeface="Arial"/>
                <a:cs typeface="Arial"/>
              </a:rPr>
              <a:t>Comparing </a:t>
            </a:r>
            <a:r>
              <a:rPr sz="2800" spc="-395" dirty="0">
                <a:solidFill>
                  <a:srgbClr val="006FC0"/>
                </a:solidFill>
                <a:latin typeface="Arial"/>
                <a:cs typeface="Arial"/>
              </a:rPr>
              <a:t>a</a:t>
            </a:r>
            <a:r>
              <a:rPr sz="2800" spc="-1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155" dirty="0">
                <a:solidFill>
                  <a:srgbClr val="006FC0"/>
                </a:solidFill>
                <a:latin typeface="Arial"/>
                <a:cs typeface="Arial"/>
              </a:rPr>
              <a:t>half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Subtractor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with </a:t>
            </a:r>
            <a:r>
              <a:rPr sz="2800" spc="-395" dirty="0">
                <a:solidFill>
                  <a:srgbClr val="006FC0"/>
                </a:solidFill>
                <a:latin typeface="Arial"/>
                <a:cs typeface="Arial"/>
              </a:rPr>
              <a:t>a  </a:t>
            </a:r>
            <a:r>
              <a:rPr sz="2800" spc="-185" dirty="0">
                <a:solidFill>
                  <a:srgbClr val="006FC0"/>
                </a:solidFill>
                <a:latin typeface="Arial"/>
                <a:cs typeface="Arial"/>
              </a:rPr>
              <a:t>half-adder, </a:t>
            </a:r>
            <a:r>
              <a:rPr sz="2800" spc="-300" dirty="0">
                <a:solidFill>
                  <a:srgbClr val="006FC0"/>
                </a:solidFill>
                <a:latin typeface="Arial"/>
                <a:cs typeface="Arial"/>
              </a:rPr>
              <a:t>we </a:t>
            </a:r>
            <a:r>
              <a:rPr sz="2800" spc="-95" dirty="0">
                <a:solidFill>
                  <a:srgbClr val="006FC0"/>
                </a:solidFill>
                <a:latin typeface="Arial"/>
                <a:cs typeface="Arial"/>
              </a:rPr>
              <a:t>find  </a:t>
            </a:r>
            <a:r>
              <a:rPr sz="2800" spc="-120" dirty="0">
                <a:solidFill>
                  <a:srgbClr val="006FC0"/>
                </a:solidFill>
                <a:latin typeface="Arial"/>
                <a:cs typeface="Arial"/>
              </a:rPr>
              <a:t>that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275" dirty="0">
                <a:solidFill>
                  <a:srgbClr val="006FC0"/>
                </a:solidFill>
                <a:latin typeface="Arial"/>
                <a:cs typeface="Arial"/>
              </a:rPr>
              <a:t>expressions </a:t>
            </a:r>
            <a:r>
              <a:rPr sz="2800" spc="-55" dirty="0">
                <a:solidFill>
                  <a:srgbClr val="006FC0"/>
                </a:solidFill>
                <a:latin typeface="Arial"/>
                <a:cs typeface="Arial"/>
              </a:rPr>
              <a:t>for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95" dirty="0">
                <a:latin typeface="Arial"/>
                <a:cs typeface="Arial"/>
              </a:rPr>
              <a:t>SUM </a:t>
            </a:r>
            <a:r>
              <a:rPr sz="2800" spc="-254" dirty="0">
                <a:latin typeface="Arial"/>
                <a:cs typeface="Arial"/>
              </a:rPr>
              <a:t>and </a:t>
            </a:r>
            <a:r>
              <a:rPr sz="2800" spc="-320" dirty="0">
                <a:latin typeface="Arial"/>
                <a:cs typeface="Arial"/>
              </a:rPr>
              <a:t>DIFFERENCE  </a:t>
            </a:r>
            <a:r>
              <a:rPr sz="2800" spc="-160" dirty="0">
                <a:latin typeface="Arial"/>
                <a:cs typeface="Arial"/>
              </a:rPr>
              <a:t>outputs </a:t>
            </a:r>
            <a:r>
              <a:rPr sz="2800" spc="-250" dirty="0">
                <a:latin typeface="Arial"/>
                <a:cs typeface="Arial"/>
              </a:rPr>
              <a:t>are </a:t>
            </a:r>
            <a:r>
              <a:rPr sz="2800" spc="-170" dirty="0">
                <a:latin typeface="Arial"/>
                <a:cs typeface="Arial"/>
              </a:rPr>
              <a:t>just the</a:t>
            </a:r>
            <a:r>
              <a:rPr sz="2800" dirty="0">
                <a:latin typeface="Arial"/>
                <a:cs typeface="Arial"/>
              </a:rPr>
              <a:t> </a:t>
            </a:r>
            <a:r>
              <a:rPr sz="2800" spc="-330" dirty="0">
                <a:latin typeface="Arial"/>
                <a:cs typeface="Arial"/>
              </a:rPr>
              <a:t>same.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E36C09"/>
              </a:buClr>
              <a:buFont typeface="Wingdings"/>
              <a:buChar char=""/>
            </a:pPr>
            <a:endParaRPr sz="2900">
              <a:latin typeface="Arial"/>
              <a:cs typeface="Arial"/>
            </a:endParaRPr>
          </a:p>
          <a:p>
            <a:pPr marL="476884" marR="5715" indent="-464820" algn="just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expression </a:t>
            </a:r>
            <a:r>
              <a:rPr sz="2800" spc="-55" dirty="0">
                <a:solidFill>
                  <a:srgbClr val="006FC0"/>
                </a:solidFill>
                <a:latin typeface="Arial"/>
                <a:cs typeface="Arial"/>
              </a:rPr>
              <a:t>for 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BORROW </a:t>
            </a:r>
            <a:r>
              <a:rPr sz="2800" spc="-110" dirty="0">
                <a:solidFill>
                  <a:srgbClr val="006FC0"/>
                </a:solidFill>
                <a:latin typeface="Arial"/>
                <a:cs typeface="Arial"/>
              </a:rPr>
              <a:t>in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380" dirty="0">
                <a:solidFill>
                  <a:srgbClr val="006FC0"/>
                </a:solidFill>
                <a:latin typeface="Arial"/>
                <a:cs typeface="Arial"/>
              </a:rPr>
              <a:t>case </a:t>
            </a:r>
            <a:r>
              <a:rPr sz="2800" spc="-70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55" dirty="0">
                <a:solidFill>
                  <a:srgbClr val="006FC0"/>
                </a:solidFill>
                <a:latin typeface="Arial"/>
                <a:cs typeface="Arial"/>
              </a:rPr>
              <a:t>half- 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Subtractor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800" spc="-275" dirty="0">
                <a:solidFill>
                  <a:srgbClr val="006FC0"/>
                </a:solidFill>
                <a:latin typeface="Arial"/>
                <a:cs typeface="Arial"/>
              </a:rPr>
              <a:t>also </a:t>
            </a:r>
            <a:r>
              <a:rPr sz="2800" spc="-170" dirty="0">
                <a:latin typeface="Arial"/>
                <a:cs typeface="Arial"/>
              </a:rPr>
              <a:t>similar </a:t>
            </a:r>
            <a:r>
              <a:rPr sz="2800" spc="-50" dirty="0">
                <a:latin typeface="Arial"/>
                <a:cs typeface="Arial"/>
              </a:rPr>
              <a:t>to </a:t>
            </a:r>
            <a:r>
              <a:rPr sz="2800" spc="-204" dirty="0">
                <a:latin typeface="Arial"/>
                <a:cs typeface="Arial"/>
              </a:rPr>
              <a:t>what </a:t>
            </a:r>
            <a:r>
              <a:rPr sz="2800" spc="-300" dirty="0">
                <a:latin typeface="Arial"/>
                <a:cs typeface="Arial"/>
              </a:rPr>
              <a:t>we </a:t>
            </a:r>
            <a:r>
              <a:rPr sz="2800" spc="-290" dirty="0">
                <a:latin typeface="Arial"/>
                <a:cs typeface="Arial"/>
              </a:rPr>
              <a:t>have </a:t>
            </a:r>
            <a:r>
              <a:rPr sz="2800" spc="-55" dirty="0">
                <a:latin typeface="Arial"/>
                <a:cs typeface="Arial"/>
              </a:rPr>
              <a:t>for </a:t>
            </a:r>
            <a:r>
              <a:rPr sz="2800" spc="-260" dirty="0">
                <a:latin typeface="Arial"/>
                <a:cs typeface="Arial"/>
              </a:rPr>
              <a:t>CARRY </a:t>
            </a:r>
            <a:r>
              <a:rPr sz="2800" spc="-110" dirty="0">
                <a:solidFill>
                  <a:srgbClr val="006FC0"/>
                </a:solidFill>
                <a:latin typeface="Arial"/>
                <a:cs typeface="Arial"/>
              </a:rPr>
              <a:t>in 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375" dirty="0">
                <a:solidFill>
                  <a:srgbClr val="006FC0"/>
                </a:solidFill>
                <a:latin typeface="Arial"/>
                <a:cs typeface="Arial"/>
              </a:rPr>
              <a:t>case 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</a:t>
            </a:r>
            <a:r>
              <a:rPr sz="2800" spc="16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180" dirty="0">
                <a:solidFill>
                  <a:srgbClr val="006FC0"/>
                </a:solidFill>
                <a:latin typeface="Arial"/>
                <a:cs typeface="Arial"/>
              </a:rPr>
              <a:t>half-adder.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E36C09"/>
              </a:buClr>
              <a:buFont typeface="Wingdings"/>
              <a:buChar char=""/>
            </a:pPr>
            <a:endParaRPr sz="2900">
              <a:latin typeface="Arial"/>
              <a:cs typeface="Arial"/>
            </a:endParaRPr>
          </a:p>
          <a:p>
            <a:pPr marL="476884" marR="5080" indent="-464820" algn="just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10" dirty="0">
                <a:solidFill>
                  <a:srgbClr val="006FC0"/>
                </a:solidFill>
                <a:latin typeface="Arial"/>
                <a:cs typeface="Arial"/>
              </a:rPr>
              <a:t>If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05" dirty="0">
                <a:latin typeface="Arial"/>
                <a:cs typeface="Arial"/>
              </a:rPr>
              <a:t>input </a:t>
            </a:r>
            <a:r>
              <a:rPr sz="2800" spc="135" dirty="0">
                <a:latin typeface="Arial"/>
                <a:cs typeface="Arial"/>
              </a:rPr>
              <a:t>A </a:t>
            </a:r>
            <a:r>
              <a:rPr sz="2800" spc="-170" dirty="0">
                <a:latin typeface="Arial"/>
                <a:cs typeface="Arial"/>
              </a:rPr>
              <a:t>i.e. the </a:t>
            </a:r>
            <a:r>
              <a:rPr sz="2800" spc="-200" dirty="0">
                <a:latin typeface="Arial"/>
                <a:cs typeface="Arial"/>
              </a:rPr>
              <a:t>minuend </a:t>
            </a:r>
            <a:r>
              <a:rPr sz="2800" spc="-265" dirty="0">
                <a:latin typeface="Arial"/>
                <a:cs typeface="Arial"/>
              </a:rPr>
              <a:t>is </a:t>
            </a:r>
            <a:r>
              <a:rPr sz="2800" spc="-200" dirty="0">
                <a:latin typeface="Arial"/>
                <a:cs typeface="Arial"/>
              </a:rPr>
              <a:t>complemented</a:t>
            </a:r>
            <a:r>
              <a:rPr sz="2800" spc="-200" dirty="0">
                <a:solidFill>
                  <a:srgbClr val="006FC0"/>
                </a:solidFill>
                <a:latin typeface="Arial"/>
                <a:cs typeface="Arial"/>
              </a:rPr>
              <a:t>, </a:t>
            </a:r>
            <a:r>
              <a:rPr sz="2800" spc="-305" dirty="0">
                <a:solidFill>
                  <a:srgbClr val="006FC0"/>
                </a:solidFill>
                <a:latin typeface="Arial"/>
                <a:cs typeface="Arial"/>
              </a:rPr>
              <a:t>an  </a:t>
            </a:r>
            <a:r>
              <a:rPr sz="2800" spc="-30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spc="-260" dirty="0">
                <a:solidFill>
                  <a:srgbClr val="006FC0"/>
                </a:solidFill>
                <a:latin typeface="Arial"/>
                <a:cs typeface="Arial"/>
              </a:rPr>
              <a:t>gate </a:t>
            </a:r>
            <a:r>
              <a:rPr sz="2800" spc="-285" dirty="0">
                <a:solidFill>
                  <a:srgbClr val="006FC0"/>
                </a:solidFill>
                <a:latin typeface="Arial"/>
                <a:cs typeface="Arial"/>
              </a:rPr>
              <a:t>can </a:t>
            </a:r>
            <a:r>
              <a:rPr sz="2800" spc="-280" dirty="0">
                <a:solidFill>
                  <a:srgbClr val="006FC0"/>
                </a:solidFill>
                <a:latin typeface="Arial"/>
                <a:cs typeface="Arial"/>
              </a:rPr>
              <a:t>be </a:t>
            </a:r>
            <a:r>
              <a:rPr sz="2800" spc="-310" dirty="0">
                <a:solidFill>
                  <a:srgbClr val="006FC0"/>
                </a:solidFill>
                <a:latin typeface="Arial"/>
                <a:cs typeface="Arial"/>
              </a:rPr>
              <a:t>used </a:t>
            </a:r>
            <a:r>
              <a:rPr sz="2800" spc="-50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implement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BORROW  </a:t>
            </a:r>
            <a:r>
              <a:rPr sz="2800" spc="-110" dirty="0">
                <a:solidFill>
                  <a:srgbClr val="006FC0"/>
                </a:solidFill>
                <a:latin typeface="Arial"/>
                <a:cs typeface="Arial"/>
              </a:rPr>
              <a:t>output.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sp>
          <p:nvSpPr>
            <p:cNvPr id="14" name="object 14"/>
            <p:cNvSpPr/>
            <p:nvPr/>
          </p:nvSpPr>
          <p:spPr>
            <a:xfrm>
              <a:off x="8593835" y="6620255"/>
              <a:ext cx="550164" cy="23774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674607" y="6556243"/>
              <a:ext cx="469392" cy="30175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8787638" y="6649770"/>
            <a:ext cx="25654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rlito"/>
                <a:cs typeface="Carlito"/>
              </a:rPr>
              <a:t>48</a:t>
            </a:r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2371344" y="202679"/>
              <a:ext cx="4395215" cy="9342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95" dirty="0"/>
              <a:t>BINARY</a:t>
            </a:r>
            <a:r>
              <a:rPr spc="-75" dirty="0"/>
              <a:t> </a:t>
            </a:r>
            <a:r>
              <a:rPr spc="-95" dirty="0"/>
              <a:t>SUBTRACTOR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45440" y="1129664"/>
            <a:ext cx="8453755" cy="46062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5560" algn="ctr">
              <a:lnSpc>
                <a:spcPct val="100000"/>
              </a:lnSpc>
              <a:spcBef>
                <a:spcPts val="105"/>
              </a:spcBef>
            </a:pPr>
            <a:r>
              <a:rPr sz="2000" b="1" spc="-195" dirty="0">
                <a:solidFill>
                  <a:srgbClr val="C00000"/>
                </a:solidFill>
                <a:latin typeface="Arial"/>
                <a:cs typeface="Arial"/>
              </a:rPr>
              <a:t>FULL</a:t>
            </a:r>
            <a:r>
              <a:rPr sz="2000" b="1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180" dirty="0">
                <a:solidFill>
                  <a:srgbClr val="C00000"/>
                </a:solidFill>
                <a:latin typeface="Arial"/>
                <a:cs typeface="Arial"/>
              </a:rPr>
              <a:t>SUBTRACTOR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50">
              <a:latin typeface="Arial"/>
              <a:cs typeface="Arial"/>
            </a:endParaRPr>
          </a:p>
          <a:p>
            <a:pPr marL="514984" marR="43180" indent="-464820" algn="just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515620" algn="l"/>
              </a:tabLst>
            </a:pPr>
            <a:r>
              <a:rPr sz="2800" spc="135" dirty="0">
                <a:solidFill>
                  <a:srgbClr val="006FC0"/>
                </a:solidFill>
                <a:latin typeface="Arial"/>
                <a:cs typeface="Arial"/>
              </a:rPr>
              <a:t>A </a:t>
            </a:r>
            <a:r>
              <a:rPr sz="2800" spc="-60" dirty="0">
                <a:solidFill>
                  <a:srgbClr val="006FC0"/>
                </a:solidFill>
                <a:latin typeface="Arial"/>
                <a:cs typeface="Arial"/>
              </a:rPr>
              <a:t>full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Subtractor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performs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subtraction </a:t>
            </a:r>
            <a:r>
              <a:rPr sz="2800" spc="-155" dirty="0">
                <a:solidFill>
                  <a:srgbClr val="006FC0"/>
                </a:solidFill>
                <a:latin typeface="Arial"/>
                <a:cs typeface="Arial"/>
              </a:rPr>
              <a:t>operation </a:t>
            </a:r>
            <a:r>
              <a:rPr sz="2800" spc="-190" dirty="0">
                <a:solidFill>
                  <a:srgbClr val="006FC0"/>
                </a:solidFill>
                <a:latin typeface="Arial"/>
                <a:cs typeface="Arial"/>
              </a:rPr>
              <a:t>on </a:t>
            </a:r>
            <a:r>
              <a:rPr sz="2800" spc="-125" dirty="0">
                <a:solidFill>
                  <a:srgbClr val="006FC0"/>
                </a:solidFill>
                <a:latin typeface="Arial"/>
                <a:cs typeface="Arial"/>
              </a:rPr>
              <a:t>two 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bits, </a:t>
            </a:r>
            <a:r>
              <a:rPr sz="2800" spc="-395" dirty="0">
                <a:solidFill>
                  <a:srgbClr val="006FC0"/>
                </a:solidFill>
                <a:latin typeface="Arial"/>
                <a:cs typeface="Arial"/>
              </a:rPr>
              <a:t>a</a:t>
            </a:r>
            <a:r>
              <a:rPr sz="2800" spc="-1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200" dirty="0">
                <a:solidFill>
                  <a:srgbClr val="006FC0"/>
                </a:solidFill>
                <a:latin typeface="Arial"/>
                <a:cs typeface="Arial"/>
              </a:rPr>
              <a:t>minuend </a:t>
            </a:r>
            <a:r>
              <a:rPr sz="2800" spc="-260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spc="-395" dirty="0">
                <a:solidFill>
                  <a:srgbClr val="006FC0"/>
                </a:solidFill>
                <a:latin typeface="Arial"/>
                <a:cs typeface="Arial"/>
              </a:rPr>
              <a:t>a  </a:t>
            </a:r>
            <a:r>
              <a:rPr sz="2800" spc="-215" dirty="0">
                <a:solidFill>
                  <a:srgbClr val="006FC0"/>
                </a:solidFill>
                <a:latin typeface="Arial"/>
                <a:cs typeface="Arial"/>
              </a:rPr>
              <a:t>subtrahend, </a:t>
            </a:r>
            <a:r>
              <a:rPr sz="2800" spc="-260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spc="-275" dirty="0">
                <a:latin typeface="Arial"/>
                <a:cs typeface="Arial"/>
              </a:rPr>
              <a:t>also </a:t>
            </a:r>
            <a:r>
              <a:rPr sz="2800" spc="-280" dirty="0">
                <a:latin typeface="Arial"/>
                <a:cs typeface="Arial"/>
              </a:rPr>
              <a:t>takes </a:t>
            </a:r>
            <a:r>
              <a:rPr sz="2800" spc="-80" dirty="0">
                <a:latin typeface="Arial"/>
                <a:cs typeface="Arial"/>
              </a:rPr>
              <a:t>into  </a:t>
            </a:r>
            <a:r>
              <a:rPr sz="2800" spc="-180" dirty="0">
                <a:latin typeface="Arial"/>
                <a:cs typeface="Arial"/>
              </a:rPr>
              <a:t>consideration </a:t>
            </a:r>
            <a:r>
              <a:rPr sz="2800" spc="-190" dirty="0">
                <a:latin typeface="Arial"/>
                <a:cs typeface="Arial"/>
              </a:rPr>
              <a:t>whether </a:t>
            </a:r>
            <a:r>
              <a:rPr sz="2800" spc="-395" dirty="0">
                <a:latin typeface="Arial"/>
                <a:cs typeface="Arial"/>
              </a:rPr>
              <a:t>a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‘1’ </a:t>
            </a:r>
            <a:r>
              <a:rPr sz="2800" spc="-375" dirty="0">
                <a:latin typeface="Arial"/>
                <a:cs typeface="Arial"/>
              </a:rPr>
              <a:t>has </a:t>
            </a:r>
            <a:r>
              <a:rPr sz="2800" spc="-210" dirty="0">
                <a:latin typeface="Arial"/>
                <a:cs typeface="Arial"/>
              </a:rPr>
              <a:t>already </a:t>
            </a:r>
            <a:r>
              <a:rPr sz="2800" spc="-280" dirty="0">
                <a:latin typeface="Arial"/>
                <a:cs typeface="Arial"/>
              </a:rPr>
              <a:t>been </a:t>
            </a:r>
            <a:r>
              <a:rPr sz="2800" spc="-165" dirty="0">
                <a:latin typeface="Arial"/>
                <a:cs typeface="Arial"/>
              </a:rPr>
              <a:t>borrowed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by</a:t>
            </a:r>
            <a:r>
              <a:rPr sz="2800" spc="-2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</a:t>
            </a:r>
            <a:r>
              <a:rPr sz="2800" spc="-1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200" dirty="0">
                <a:solidFill>
                  <a:srgbClr val="006FC0"/>
                </a:solidFill>
                <a:latin typeface="Arial"/>
                <a:cs typeface="Arial"/>
              </a:rPr>
              <a:t>previous</a:t>
            </a:r>
            <a:r>
              <a:rPr sz="2800" spc="-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210" dirty="0">
                <a:solidFill>
                  <a:srgbClr val="006FC0"/>
                </a:solidFill>
                <a:latin typeface="Arial"/>
                <a:cs typeface="Arial"/>
              </a:rPr>
              <a:t>adjacent</a:t>
            </a:r>
            <a:r>
              <a:rPr sz="2800" spc="-2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155" dirty="0">
                <a:solidFill>
                  <a:srgbClr val="006FC0"/>
                </a:solidFill>
                <a:latin typeface="Arial"/>
                <a:cs typeface="Arial"/>
              </a:rPr>
              <a:t>lower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200" dirty="0">
                <a:solidFill>
                  <a:srgbClr val="006FC0"/>
                </a:solidFill>
                <a:latin typeface="Arial"/>
                <a:cs typeface="Arial"/>
              </a:rPr>
              <a:t>minuend</a:t>
            </a:r>
            <a:r>
              <a:rPr sz="2800" spc="-2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55" dirty="0">
                <a:solidFill>
                  <a:srgbClr val="006FC0"/>
                </a:solidFill>
                <a:latin typeface="Arial"/>
                <a:cs typeface="Arial"/>
              </a:rPr>
              <a:t>bit</a:t>
            </a:r>
            <a:r>
              <a:rPr sz="2800" spc="-1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80" dirty="0">
                <a:solidFill>
                  <a:srgbClr val="006FC0"/>
                </a:solidFill>
                <a:latin typeface="Arial"/>
                <a:cs typeface="Arial"/>
              </a:rPr>
              <a:t>or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114" dirty="0">
                <a:solidFill>
                  <a:srgbClr val="006FC0"/>
                </a:solidFill>
                <a:latin typeface="Arial"/>
                <a:cs typeface="Arial"/>
              </a:rPr>
              <a:t>not.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E36C09"/>
              </a:buClr>
              <a:buFont typeface="Wingdings"/>
              <a:buChar char=""/>
            </a:pP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E36C09"/>
              </a:buClr>
              <a:buFont typeface="Wingdings"/>
              <a:buChar char=""/>
            </a:pPr>
            <a:endParaRPr sz="3000">
              <a:latin typeface="Arial"/>
              <a:cs typeface="Arial"/>
            </a:endParaRPr>
          </a:p>
          <a:p>
            <a:pPr marL="514984" marR="43180" indent="-464820" algn="just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515620" algn="l"/>
              </a:tabLst>
            </a:pPr>
            <a:r>
              <a:rPr sz="2800" spc="-190" dirty="0">
                <a:solidFill>
                  <a:srgbClr val="006FC0"/>
                </a:solidFill>
                <a:latin typeface="Arial"/>
                <a:cs typeface="Arial"/>
              </a:rPr>
              <a:t>As </a:t>
            </a:r>
            <a:r>
              <a:rPr sz="2800" spc="-395" dirty="0">
                <a:solidFill>
                  <a:srgbClr val="006FC0"/>
                </a:solidFill>
                <a:latin typeface="Arial"/>
                <a:cs typeface="Arial"/>
              </a:rPr>
              <a:t>a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result, there 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are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three bits </a:t>
            </a:r>
            <a:r>
              <a:rPr sz="2800" spc="-50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800" spc="-280" dirty="0">
                <a:solidFill>
                  <a:srgbClr val="006FC0"/>
                </a:solidFill>
                <a:latin typeface="Arial"/>
                <a:cs typeface="Arial"/>
              </a:rPr>
              <a:t>be </a:t>
            </a:r>
            <a:r>
              <a:rPr sz="2800" spc="-215" dirty="0">
                <a:solidFill>
                  <a:srgbClr val="006FC0"/>
                </a:solidFill>
                <a:latin typeface="Arial"/>
                <a:cs typeface="Arial"/>
              </a:rPr>
              <a:t>handled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at the 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input 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395" dirty="0">
                <a:solidFill>
                  <a:srgbClr val="006FC0"/>
                </a:solidFill>
                <a:latin typeface="Arial"/>
                <a:cs typeface="Arial"/>
              </a:rPr>
              <a:t>a </a:t>
            </a:r>
            <a:r>
              <a:rPr sz="2800" spc="-65" dirty="0">
                <a:solidFill>
                  <a:srgbClr val="006FC0"/>
                </a:solidFill>
                <a:latin typeface="Arial"/>
                <a:cs typeface="Arial"/>
              </a:rPr>
              <a:t>full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Subtractor, </a:t>
            </a: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namely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20" dirty="0">
                <a:solidFill>
                  <a:srgbClr val="006FC0"/>
                </a:solidFill>
                <a:latin typeface="Arial"/>
                <a:cs typeface="Arial"/>
              </a:rPr>
              <a:t>two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bits </a:t>
            </a:r>
            <a:r>
              <a:rPr sz="2800" spc="-55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800" spc="-275" dirty="0">
                <a:solidFill>
                  <a:srgbClr val="006FC0"/>
                </a:solidFill>
                <a:latin typeface="Arial"/>
                <a:cs typeface="Arial"/>
              </a:rPr>
              <a:t>be  </a:t>
            </a:r>
            <a:r>
              <a:rPr sz="2800" spc="-195" dirty="0">
                <a:solidFill>
                  <a:srgbClr val="006FC0"/>
                </a:solidFill>
                <a:latin typeface="Arial"/>
                <a:cs typeface="Arial"/>
              </a:rPr>
              <a:t>subtracted 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spc="-395" dirty="0">
                <a:solidFill>
                  <a:srgbClr val="006FC0"/>
                </a:solidFill>
                <a:latin typeface="Arial"/>
                <a:cs typeface="Arial"/>
              </a:rPr>
              <a:t>a </a:t>
            </a:r>
            <a:r>
              <a:rPr sz="2800" spc="-130" dirty="0">
                <a:latin typeface="Arial"/>
                <a:cs typeface="Arial"/>
              </a:rPr>
              <a:t>borrow </a:t>
            </a:r>
            <a:r>
              <a:rPr sz="2800" spc="-55" dirty="0">
                <a:latin typeface="Arial"/>
                <a:cs typeface="Arial"/>
              </a:rPr>
              <a:t>bit </a:t>
            </a:r>
            <a:r>
              <a:rPr sz="2800" spc="-245" dirty="0">
                <a:latin typeface="Arial"/>
                <a:cs typeface="Arial"/>
              </a:rPr>
              <a:t>designated </a:t>
            </a:r>
            <a:r>
              <a:rPr sz="2800" spc="-459" dirty="0">
                <a:latin typeface="Arial"/>
                <a:cs typeface="Arial"/>
              </a:rPr>
              <a:t>as</a:t>
            </a:r>
            <a:r>
              <a:rPr sz="2800" spc="-250" dirty="0">
                <a:latin typeface="Arial"/>
                <a:cs typeface="Arial"/>
              </a:rPr>
              <a:t> </a:t>
            </a:r>
            <a:r>
              <a:rPr sz="2800" spc="-185" dirty="0">
                <a:latin typeface="Arial"/>
                <a:cs typeface="Arial"/>
              </a:rPr>
              <a:t>B</a:t>
            </a:r>
            <a:r>
              <a:rPr sz="2775" spc="-277" baseline="-21021" dirty="0">
                <a:latin typeface="Arial"/>
                <a:cs typeface="Arial"/>
              </a:rPr>
              <a:t>in</a:t>
            </a:r>
            <a:r>
              <a:rPr sz="2800" spc="-185" dirty="0">
                <a:solidFill>
                  <a:srgbClr val="006FC0"/>
                </a:solidFill>
                <a:latin typeface="Arial"/>
                <a:cs typeface="Arial"/>
              </a:rPr>
              <a:t>.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sp>
          <p:nvSpPr>
            <p:cNvPr id="9" name="object 9"/>
            <p:cNvSpPr/>
            <p:nvPr/>
          </p:nvSpPr>
          <p:spPr>
            <a:xfrm>
              <a:off x="8593835" y="6620255"/>
              <a:ext cx="550164" cy="23774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674607" y="6556243"/>
              <a:ext cx="469392" cy="3017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787638" y="6649770"/>
            <a:ext cx="25654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rlito"/>
                <a:cs typeface="Carlito"/>
              </a:rPr>
              <a:t>49</a:t>
            </a:r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2371344" y="202679"/>
              <a:ext cx="4395215" cy="9342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95" dirty="0"/>
              <a:t>BINARY</a:t>
            </a:r>
            <a:r>
              <a:rPr spc="-75" dirty="0"/>
              <a:t> </a:t>
            </a:r>
            <a:r>
              <a:rPr spc="-95" dirty="0"/>
              <a:t>SUBTRACTOR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81940" y="1015089"/>
            <a:ext cx="8429625" cy="2312670"/>
          </a:xfrm>
          <a:prstGeom prst="rect">
            <a:avLst/>
          </a:prstGeom>
        </p:spPr>
        <p:txBody>
          <a:bodyPr vert="horz" wrap="square" lIns="0" tIns="127635" rIns="0" bIns="0" rtlCol="0">
            <a:spAutoFit/>
          </a:bodyPr>
          <a:lstStyle/>
          <a:p>
            <a:pPr marL="107314" algn="ctr">
              <a:lnSpc>
                <a:spcPct val="100000"/>
              </a:lnSpc>
              <a:spcBef>
                <a:spcPts val="1005"/>
              </a:spcBef>
            </a:pPr>
            <a:r>
              <a:rPr sz="2000" b="1" spc="-195" dirty="0">
                <a:solidFill>
                  <a:srgbClr val="C00000"/>
                </a:solidFill>
                <a:latin typeface="Arial"/>
                <a:cs typeface="Arial"/>
              </a:rPr>
              <a:t>FULL</a:t>
            </a:r>
            <a:r>
              <a:rPr sz="2000" b="1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180" dirty="0">
                <a:solidFill>
                  <a:srgbClr val="C00000"/>
                </a:solidFill>
                <a:latin typeface="Arial"/>
                <a:cs typeface="Arial"/>
              </a:rPr>
              <a:t>SUBTRACTOR</a:t>
            </a:r>
            <a:endParaRPr sz="2000">
              <a:latin typeface="Arial"/>
              <a:cs typeface="Arial"/>
            </a:endParaRPr>
          </a:p>
          <a:p>
            <a:pPr marL="502284" marR="30480" indent="-464820" algn="just">
              <a:lnSpc>
                <a:spcPct val="100000"/>
              </a:lnSpc>
              <a:spcBef>
                <a:spcPts val="1260"/>
              </a:spcBef>
              <a:buClr>
                <a:srgbClr val="E36C09"/>
              </a:buClr>
              <a:buFont typeface="Wingdings"/>
              <a:buChar char=""/>
              <a:tabLst>
                <a:tab pos="502920" algn="l"/>
              </a:tabLst>
            </a:pPr>
            <a:r>
              <a:rPr sz="2800" spc="-210" dirty="0">
                <a:solidFill>
                  <a:srgbClr val="006FC0"/>
                </a:solidFill>
                <a:latin typeface="Arial"/>
                <a:cs typeface="Arial"/>
              </a:rPr>
              <a:t>There 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are </a:t>
            </a:r>
            <a:r>
              <a:rPr sz="2800" spc="-120" dirty="0">
                <a:solidFill>
                  <a:srgbClr val="006FC0"/>
                </a:solidFill>
                <a:latin typeface="Arial"/>
                <a:cs typeface="Arial"/>
              </a:rPr>
              <a:t>two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outputs, </a:t>
            </a: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namely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320" dirty="0">
                <a:latin typeface="Arial"/>
                <a:cs typeface="Arial"/>
              </a:rPr>
              <a:t>DIFFERENCE </a:t>
            </a:r>
            <a:r>
              <a:rPr sz="2800" spc="-105" dirty="0">
                <a:latin typeface="Arial"/>
                <a:cs typeface="Arial"/>
              </a:rPr>
              <a:t>output  </a:t>
            </a:r>
            <a:r>
              <a:rPr sz="2800" spc="-254" dirty="0">
                <a:latin typeface="Arial"/>
                <a:cs typeface="Arial"/>
              </a:rPr>
              <a:t>D </a:t>
            </a:r>
            <a:r>
              <a:rPr sz="2800" spc="-260" dirty="0">
                <a:latin typeface="Arial"/>
                <a:cs typeface="Arial"/>
              </a:rPr>
              <a:t>and </a:t>
            </a:r>
            <a:r>
              <a:rPr sz="2800" spc="-175" dirty="0">
                <a:latin typeface="Arial"/>
                <a:cs typeface="Arial"/>
              </a:rPr>
              <a:t>the </a:t>
            </a:r>
            <a:r>
              <a:rPr sz="2800" spc="-254" dirty="0">
                <a:latin typeface="Arial"/>
                <a:cs typeface="Arial"/>
              </a:rPr>
              <a:t>BORROW </a:t>
            </a:r>
            <a:r>
              <a:rPr sz="2800" spc="-105" dirty="0">
                <a:latin typeface="Arial"/>
                <a:cs typeface="Arial"/>
              </a:rPr>
              <a:t>output </a:t>
            </a:r>
            <a:r>
              <a:rPr sz="2800" spc="-229" dirty="0">
                <a:latin typeface="Arial"/>
                <a:cs typeface="Arial"/>
              </a:rPr>
              <a:t>B</a:t>
            </a:r>
            <a:r>
              <a:rPr sz="2775" spc="-345" baseline="-21021" dirty="0">
                <a:latin typeface="Arial"/>
                <a:cs typeface="Arial"/>
              </a:rPr>
              <a:t>o</a:t>
            </a: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. The </a:t>
            </a:r>
            <a:r>
              <a:rPr sz="2800" spc="-260" dirty="0">
                <a:solidFill>
                  <a:srgbClr val="006FC0"/>
                </a:solidFill>
                <a:latin typeface="Arial"/>
                <a:cs typeface="Arial"/>
              </a:rPr>
              <a:t>BORROW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output  </a:t>
            </a:r>
            <a:r>
              <a:rPr sz="2800" spc="-55" dirty="0">
                <a:solidFill>
                  <a:srgbClr val="006FC0"/>
                </a:solidFill>
                <a:latin typeface="Arial"/>
                <a:cs typeface="Arial"/>
              </a:rPr>
              <a:t>bit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tells </a:t>
            </a:r>
            <a:r>
              <a:rPr sz="2800" spc="-190" dirty="0">
                <a:solidFill>
                  <a:srgbClr val="006FC0"/>
                </a:solidFill>
                <a:latin typeface="Arial"/>
                <a:cs typeface="Arial"/>
              </a:rPr>
              <a:t>whether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200" dirty="0">
                <a:solidFill>
                  <a:srgbClr val="006FC0"/>
                </a:solidFill>
                <a:latin typeface="Arial"/>
                <a:cs typeface="Arial"/>
              </a:rPr>
              <a:t>minuend </a:t>
            </a:r>
            <a:r>
              <a:rPr sz="2800" spc="-60" dirty="0">
                <a:solidFill>
                  <a:srgbClr val="006FC0"/>
                </a:solidFill>
                <a:latin typeface="Arial"/>
                <a:cs typeface="Arial"/>
              </a:rPr>
              <a:t>bit </a:t>
            </a:r>
            <a:r>
              <a:rPr sz="2800" spc="-320" dirty="0">
                <a:solidFill>
                  <a:srgbClr val="006FC0"/>
                </a:solidFill>
                <a:latin typeface="Arial"/>
                <a:cs typeface="Arial"/>
              </a:rPr>
              <a:t>needs </a:t>
            </a:r>
            <a:r>
              <a:rPr sz="2800" spc="-50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800" spc="-130" dirty="0">
                <a:solidFill>
                  <a:srgbClr val="006FC0"/>
                </a:solidFill>
                <a:latin typeface="Arial"/>
                <a:cs typeface="Arial"/>
              </a:rPr>
              <a:t>borrow </a:t>
            </a:r>
            <a:r>
              <a:rPr sz="2800" spc="-395" dirty="0">
                <a:solidFill>
                  <a:srgbClr val="006FC0"/>
                </a:solidFill>
                <a:latin typeface="Arial"/>
                <a:cs typeface="Arial"/>
              </a:rPr>
              <a:t>a</a:t>
            </a:r>
            <a:r>
              <a:rPr sz="2800" spc="-1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006FC0"/>
                </a:solidFill>
                <a:latin typeface="Arial"/>
                <a:cs typeface="Arial"/>
              </a:rPr>
              <a:t>‘1’  </a:t>
            </a:r>
            <a:r>
              <a:rPr sz="2800" spc="-100" dirty="0">
                <a:solidFill>
                  <a:srgbClr val="006FC0"/>
                </a:solidFill>
                <a:latin typeface="Arial"/>
                <a:cs typeface="Arial"/>
              </a:rPr>
              <a:t>from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next </a:t>
            </a:r>
            <a:r>
              <a:rPr sz="2800" spc="-240" dirty="0">
                <a:solidFill>
                  <a:srgbClr val="006FC0"/>
                </a:solidFill>
                <a:latin typeface="Arial"/>
                <a:cs typeface="Arial"/>
              </a:rPr>
              <a:t>possible </a:t>
            </a:r>
            <a:r>
              <a:rPr sz="2800" spc="-190" dirty="0">
                <a:solidFill>
                  <a:srgbClr val="006FC0"/>
                </a:solidFill>
                <a:latin typeface="Arial"/>
                <a:cs typeface="Arial"/>
              </a:rPr>
              <a:t>higher </a:t>
            </a:r>
            <a:r>
              <a:rPr sz="2800" spc="-200" dirty="0">
                <a:solidFill>
                  <a:srgbClr val="006FC0"/>
                </a:solidFill>
                <a:latin typeface="Arial"/>
                <a:cs typeface="Arial"/>
              </a:rPr>
              <a:t>minuend</a:t>
            </a:r>
            <a:r>
              <a:rPr sz="2800" spc="30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80" dirty="0">
                <a:solidFill>
                  <a:srgbClr val="006FC0"/>
                </a:solidFill>
                <a:latin typeface="Arial"/>
                <a:cs typeface="Arial"/>
              </a:rPr>
              <a:t>bit.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590800" y="3657600"/>
            <a:ext cx="6558280" cy="3200400"/>
            <a:chOff x="2590800" y="3657600"/>
            <a:chExt cx="6558280" cy="3200400"/>
          </a:xfrm>
        </p:grpSpPr>
        <p:sp>
          <p:nvSpPr>
            <p:cNvPr id="9" name="object 9"/>
            <p:cNvSpPr/>
            <p:nvPr/>
          </p:nvSpPr>
          <p:spPr>
            <a:xfrm>
              <a:off x="2590800" y="3657600"/>
              <a:ext cx="4486656" cy="166420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593835" y="6620254"/>
              <a:ext cx="550164" cy="237743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74608" y="6556242"/>
              <a:ext cx="469392" cy="301755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641079" y="6644639"/>
              <a:ext cx="502920" cy="18288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641079" y="6644639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745994" y="5564835"/>
            <a:ext cx="39744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80" dirty="0">
                <a:latin typeface="Arial"/>
                <a:cs typeface="Arial"/>
              </a:rPr>
              <a:t>Block </a:t>
            </a:r>
            <a:r>
              <a:rPr sz="2400" spc="-204" dirty="0">
                <a:latin typeface="Arial"/>
                <a:cs typeface="Arial"/>
              </a:rPr>
              <a:t>schematic </a:t>
            </a:r>
            <a:r>
              <a:rPr sz="2400" spc="-65" dirty="0">
                <a:latin typeface="Arial"/>
                <a:cs typeface="Arial"/>
              </a:rPr>
              <a:t>of </a:t>
            </a:r>
            <a:r>
              <a:rPr sz="2400" spc="-50" dirty="0">
                <a:latin typeface="Arial"/>
                <a:cs typeface="Arial"/>
              </a:rPr>
              <a:t>full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145" dirty="0">
                <a:latin typeface="Arial"/>
                <a:cs typeface="Arial"/>
              </a:rPr>
              <a:t>Subtractor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8787638" y="6649770"/>
            <a:ext cx="25654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rlito"/>
                <a:cs typeface="Carlito"/>
              </a:rPr>
              <a:t>50</a:t>
            </a:r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793241" y="982217"/>
              <a:ext cx="7589519" cy="762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6764"/>
              <a:ext cx="9143999" cy="668274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53439" y="320001"/>
              <a:ext cx="7434072" cy="57611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71344" y="202679"/>
              <a:ext cx="4395215" cy="93422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95" dirty="0"/>
              <a:t>BINARY</a:t>
            </a:r>
            <a:r>
              <a:rPr spc="-75" dirty="0"/>
              <a:t> </a:t>
            </a:r>
            <a:r>
              <a:rPr spc="-95" dirty="0"/>
              <a:t>SUBTRACTOR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451986" y="1129664"/>
            <a:ext cx="21971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95" dirty="0">
                <a:solidFill>
                  <a:srgbClr val="C00000"/>
                </a:solidFill>
                <a:latin typeface="Arial"/>
                <a:cs typeface="Arial"/>
              </a:rPr>
              <a:t>FULL</a:t>
            </a:r>
            <a:r>
              <a:rPr sz="2000" b="1" spc="-10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180" dirty="0">
                <a:solidFill>
                  <a:srgbClr val="C00000"/>
                </a:solidFill>
                <a:latin typeface="Arial"/>
                <a:cs typeface="Arial"/>
              </a:rPr>
              <a:t>SUBTRACTOR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219200" y="1752600"/>
            <a:ext cx="6858000" cy="113537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1212850" y="1746250"/>
          <a:ext cx="6877050" cy="4127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0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36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36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71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1221">
                <a:tc gridSpan="3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800" b="1" spc="-5" dirty="0">
                          <a:latin typeface="Palladio Uralic"/>
                          <a:cs typeface="Palladio Uralic"/>
                        </a:rPr>
                        <a:t>Inputs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800" b="1" dirty="0">
                          <a:latin typeface="Palladio Uralic"/>
                          <a:cs typeface="Palladio Uralic"/>
                        </a:rPr>
                        <a:t>Outputs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479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Palladio Uralic"/>
                          <a:cs typeface="Palladio Uralic"/>
                        </a:rPr>
                        <a:t>A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Palladio Uralic"/>
                          <a:cs typeface="Palladio Uralic"/>
                        </a:rPr>
                        <a:t>B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700" b="1" spc="-15" baseline="13888" dirty="0">
                          <a:latin typeface="Palladio Uralic"/>
                          <a:cs typeface="Palladio Uralic"/>
                        </a:rPr>
                        <a:t>B</a:t>
                      </a:r>
                      <a:r>
                        <a:rPr sz="1200" b="1" spc="-10" dirty="0">
                          <a:latin typeface="Palladio Uralic"/>
                          <a:cs typeface="Palladio Uralic"/>
                        </a:rPr>
                        <a:t>in</a:t>
                      </a:r>
                      <a:endParaRPr sz="1200">
                        <a:latin typeface="Palladio Uralic"/>
                        <a:cs typeface="Palladio Uralic"/>
                      </a:endParaRPr>
                    </a:p>
                  </a:txBody>
                  <a:tcPr marL="0" marR="0" marT="57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800" b="1" spc="-5" dirty="0">
                          <a:latin typeface="Palladio Uralic"/>
                          <a:cs typeface="Palladio Uralic"/>
                        </a:rPr>
                        <a:t>Difference(D)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900"/>
                        </a:spcBef>
                      </a:pPr>
                      <a:r>
                        <a:rPr sz="1800" b="1" spc="-5" dirty="0">
                          <a:latin typeface="Palladio Uralic"/>
                          <a:cs typeface="Palladio Uralic"/>
                        </a:rPr>
                        <a:t>Borrow(B</a:t>
                      </a:r>
                      <a:r>
                        <a:rPr sz="1800" b="1" spc="-7" baseline="-20833" dirty="0">
                          <a:latin typeface="Palladio Uralic"/>
                          <a:cs typeface="Palladio Uralic"/>
                        </a:rPr>
                        <a:t>out</a:t>
                      </a:r>
                      <a:r>
                        <a:rPr sz="1800" b="1" spc="-5" dirty="0">
                          <a:latin typeface="Palladio Uralic"/>
                          <a:cs typeface="Palladio Uralic"/>
                        </a:rPr>
                        <a:t>)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2413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36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236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236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236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223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236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457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457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236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236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457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457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3813175" y="5945835"/>
            <a:ext cx="14204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85" dirty="0">
                <a:latin typeface="Arial"/>
                <a:cs typeface="Arial"/>
              </a:rPr>
              <a:t>Truth</a:t>
            </a:r>
            <a:r>
              <a:rPr sz="2400" b="1" spc="-95" dirty="0">
                <a:latin typeface="Arial"/>
                <a:cs typeface="Arial"/>
              </a:rPr>
              <a:t> </a:t>
            </a:r>
            <a:r>
              <a:rPr sz="2400" b="1" spc="-235" dirty="0">
                <a:latin typeface="Arial"/>
                <a:cs typeface="Arial"/>
              </a:rPr>
              <a:t>Table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sp>
          <p:nvSpPr>
            <p:cNvPr id="17" name="object 17"/>
            <p:cNvSpPr/>
            <p:nvPr/>
          </p:nvSpPr>
          <p:spPr>
            <a:xfrm>
              <a:off x="8593835" y="6620255"/>
              <a:ext cx="550164" cy="237743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674607" y="6556243"/>
              <a:ext cx="469392" cy="301755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8787638" y="6649770"/>
            <a:ext cx="25654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rlito"/>
                <a:cs typeface="Carlito"/>
              </a:rPr>
              <a:t>51</a:t>
            </a:r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793241" y="982217"/>
              <a:ext cx="7589519" cy="762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6764"/>
              <a:ext cx="9143999" cy="668274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53439" y="320001"/>
              <a:ext cx="7434072" cy="57611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71344" y="202679"/>
              <a:ext cx="4395215" cy="93422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95" dirty="0"/>
              <a:t>BINARY</a:t>
            </a:r>
            <a:r>
              <a:rPr spc="-75" dirty="0"/>
              <a:t> </a:t>
            </a:r>
            <a:r>
              <a:rPr spc="-95" dirty="0"/>
              <a:t>SUBTRACTOR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45440" y="4780863"/>
            <a:ext cx="8045450" cy="17329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14984" marR="581660" indent="-464820">
              <a:lnSpc>
                <a:spcPct val="100000"/>
              </a:lnSpc>
              <a:spcBef>
                <a:spcPts val="95"/>
              </a:spcBef>
              <a:buClr>
                <a:srgbClr val="F79546"/>
              </a:buClr>
              <a:buFont typeface="Wingdings"/>
              <a:buChar char=""/>
              <a:tabLst>
                <a:tab pos="514984" algn="l"/>
                <a:tab pos="515620" algn="l"/>
              </a:tabLst>
            </a:pP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245" dirty="0">
                <a:solidFill>
                  <a:srgbClr val="006FC0"/>
                </a:solidFill>
                <a:latin typeface="Arial"/>
                <a:cs typeface="Arial"/>
              </a:rPr>
              <a:t>Boolean </a:t>
            </a:r>
            <a:r>
              <a:rPr sz="2800" spc="-270" dirty="0">
                <a:solidFill>
                  <a:srgbClr val="006FC0"/>
                </a:solidFill>
                <a:latin typeface="Arial"/>
                <a:cs typeface="Arial"/>
              </a:rPr>
              <a:t>expressions </a:t>
            </a:r>
            <a:r>
              <a:rPr sz="2800" spc="-50" dirty="0">
                <a:solidFill>
                  <a:srgbClr val="006FC0"/>
                </a:solidFill>
                <a:latin typeface="Arial"/>
                <a:cs typeface="Arial"/>
              </a:rPr>
              <a:t>for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320" dirty="0">
                <a:solidFill>
                  <a:srgbClr val="006FC0"/>
                </a:solidFill>
                <a:latin typeface="Arial"/>
                <a:cs typeface="Arial"/>
              </a:rPr>
              <a:t>DIFFERENCE 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and  </a:t>
            </a:r>
            <a:r>
              <a:rPr sz="2800" spc="-260" dirty="0">
                <a:solidFill>
                  <a:srgbClr val="006FC0"/>
                </a:solidFill>
                <a:latin typeface="Arial"/>
                <a:cs typeface="Arial"/>
              </a:rPr>
              <a:t>BORROW </a:t>
            </a:r>
            <a:r>
              <a:rPr sz="2800" spc="-160" dirty="0">
                <a:solidFill>
                  <a:srgbClr val="006FC0"/>
                </a:solidFill>
                <a:latin typeface="Arial"/>
                <a:cs typeface="Arial"/>
              </a:rPr>
              <a:t>outputs 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are </a:t>
            </a:r>
            <a:r>
              <a:rPr sz="2800" spc="-220" dirty="0">
                <a:solidFill>
                  <a:srgbClr val="006FC0"/>
                </a:solidFill>
                <a:latin typeface="Arial"/>
                <a:cs typeface="Arial"/>
              </a:rPr>
              <a:t>given </a:t>
            </a:r>
            <a:r>
              <a:rPr sz="2800" spc="-180" dirty="0">
                <a:solidFill>
                  <a:srgbClr val="006FC0"/>
                </a:solidFill>
                <a:latin typeface="Arial"/>
                <a:cs typeface="Arial"/>
              </a:rPr>
              <a:t>by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the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215" dirty="0">
                <a:solidFill>
                  <a:srgbClr val="006FC0"/>
                </a:solidFill>
                <a:latin typeface="Arial"/>
                <a:cs typeface="Arial"/>
              </a:rPr>
              <a:t>equations,</a:t>
            </a:r>
            <a:endParaRPr sz="2800">
              <a:latin typeface="Arial"/>
              <a:cs typeface="Arial"/>
            </a:endParaRPr>
          </a:p>
          <a:p>
            <a:pPr marL="965200" marR="43180">
              <a:lnSpc>
                <a:spcPct val="100000"/>
              </a:lnSpc>
              <a:spcBef>
                <a:spcPts val="5"/>
              </a:spcBef>
              <a:tabLst>
                <a:tab pos="2794000" algn="l"/>
              </a:tabLst>
            </a:pPr>
            <a:r>
              <a:rPr sz="2800" b="1" spc="-254" dirty="0">
                <a:latin typeface="Arial"/>
                <a:cs typeface="Arial"/>
              </a:rPr>
              <a:t>Difference, </a:t>
            </a:r>
            <a:r>
              <a:rPr sz="2800" b="1" spc="-15" dirty="0">
                <a:latin typeface="Arial"/>
                <a:cs typeface="Arial"/>
              </a:rPr>
              <a:t>D= </a:t>
            </a:r>
            <a:r>
              <a:rPr sz="2800" b="1" spc="-175" dirty="0">
                <a:latin typeface="Arial"/>
                <a:cs typeface="Arial"/>
              </a:rPr>
              <a:t>A’B’B</a:t>
            </a:r>
            <a:r>
              <a:rPr sz="2775" b="1" spc="-262" baseline="-21021" dirty="0">
                <a:latin typeface="Arial"/>
                <a:cs typeface="Arial"/>
              </a:rPr>
              <a:t>in</a:t>
            </a:r>
            <a:r>
              <a:rPr sz="2800" b="1" spc="-175" dirty="0">
                <a:latin typeface="Arial"/>
                <a:cs typeface="Arial"/>
              </a:rPr>
              <a:t>+ </a:t>
            </a:r>
            <a:r>
              <a:rPr sz="2800" b="1" spc="-204" dirty="0">
                <a:latin typeface="Arial"/>
                <a:cs typeface="Arial"/>
              </a:rPr>
              <a:t>A’BB’</a:t>
            </a:r>
            <a:r>
              <a:rPr sz="2775" b="1" spc="-307" baseline="-21021" dirty="0">
                <a:latin typeface="Arial"/>
                <a:cs typeface="Arial"/>
              </a:rPr>
              <a:t>in </a:t>
            </a:r>
            <a:r>
              <a:rPr sz="2800" b="1" spc="70" dirty="0">
                <a:latin typeface="Arial"/>
                <a:cs typeface="Arial"/>
              </a:rPr>
              <a:t>+ </a:t>
            </a:r>
            <a:r>
              <a:rPr sz="2800" b="1" spc="-204" dirty="0">
                <a:latin typeface="Arial"/>
                <a:cs typeface="Arial"/>
              </a:rPr>
              <a:t>AB’B’</a:t>
            </a:r>
            <a:r>
              <a:rPr sz="2775" b="1" spc="-307" baseline="-21021" dirty="0">
                <a:latin typeface="Arial"/>
                <a:cs typeface="Arial"/>
              </a:rPr>
              <a:t>in </a:t>
            </a:r>
            <a:r>
              <a:rPr sz="2800" b="1" spc="70" dirty="0">
                <a:latin typeface="Arial"/>
                <a:cs typeface="Arial"/>
              </a:rPr>
              <a:t>+ </a:t>
            </a:r>
            <a:r>
              <a:rPr sz="2800" b="1" spc="-295" dirty="0">
                <a:latin typeface="Arial"/>
                <a:cs typeface="Arial"/>
              </a:rPr>
              <a:t>ABB</a:t>
            </a:r>
            <a:r>
              <a:rPr sz="2775" b="1" spc="-442" baseline="-21021" dirty="0">
                <a:latin typeface="Arial"/>
                <a:cs typeface="Arial"/>
              </a:rPr>
              <a:t>in  </a:t>
            </a:r>
            <a:r>
              <a:rPr sz="2800" b="1" spc="-295" dirty="0">
                <a:latin typeface="Arial"/>
                <a:cs typeface="Arial"/>
              </a:rPr>
              <a:t>Borrow,</a:t>
            </a:r>
            <a:r>
              <a:rPr sz="2800" b="1" spc="-25" dirty="0">
                <a:latin typeface="Arial"/>
                <a:cs typeface="Arial"/>
              </a:rPr>
              <a:t> </a:t>
            </a:r>
            <a:r>
              <a:rPr sz="2800" b="1" spc="-260" dirty="0">
                <a:latin typeface="Arial"/>
                <a:cs typeface="Arial"/>
              </a:rPr>
              <a:t>B</a:t>
            </a:r>
            <a:r>
              <a:rPr sz="2775" b="1" spc="-390" baseline="-21021" dirty="0">
                <a:latin typeface="Arial"/>
                <a:cs typeface="Arial"/>
              </a:rPr>
              <a:t>out	</a:t>
            </a:r>
            <a:r>
              <a:rPr sz="2800" b="1" spc="70" dirty="0">
                <a:latin typeface="Arial"/>
                <a:cs typeface="Arial"/>
              </a:rPr>
              <a:t>= </a:t>
            </a:r>
            <a:r>
              <a:rPr sz="2800" b="1" spc="-130" dirty="0">
                <a:latin typeface="Arial"/>
                <a:cs typeface="Arial"/>
              </a:rPr>
              <a:t>A’B+ </a:t>
            </a:r>
            <a:r>
              <a:rPr sz="2800" b="1" spc="-120" dirty="0">
                <a:latin typeface="Arial"/>
                <a:cs typeface="Arial"/>
              </a:rPr>
              <a:t>A’C</a:t>
            </a:r>
            <a:r>
              <a:rPr sz="2775" b="1" spc="-179" baseline="-21021" dirty="0">
                <a:latin typeface="Arial"/>
                <a:cs typeface="Arial"/>
              </a:rPr>
              <a:t>in </a:t>
            </a:r>
            <a:r>
              <a:rPr sz="2800" b="1" spc="70" dirty="0">
                <a:latin typeface="Arial"/>
                <a:cs typeface="Arial"/>
              </a:rPr>
              <a:t>+ </a:t>
            </a:r>
            <a:r>
              <a:rPr sz="2800" b="1" spc="-370" dirty="0">
                <a:latin typeface="Arial"/>
                <a:cs typeface="Arial"/>
              </a:rPr>
              <a:t>BB</a:t>
            </a:r>
            <a:r>
              <a:rPr sz="2775" b="1" spc="-555" baseline="-21021" dirty="0">
                <a:latin typeface="Arial"/>
                <a:cs typeface="Arial"/>
              </a:rPr>
              <a:t>in</a:t>
            </a:r>
            <a:r>
              <a:rPr sz="2775" b="1" spc="-345" baseline="-21021" dirty="0">
                <a:latin typeface="Arial"/>
                <a:cs typeface="Arial"/>
              </a:rPr>
              <a:t> </a:t>
            </a:r>
            <a:r>
              <a:rPr sz="2775" b="1" spc="-150" baseline="-21021" dirty="0">
                <a:latin typeface="Arial"/>
                <a:cs typeface="Arial"/>
              </a:rPr>
              <a:t>.</a:t>
            </a:r>
            <a:endParaRPr sz="2775" baseline="-21021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3540" y="1129664"/>
            <a:ext cx="5947410" cy="688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081020">
              <a:lnSpc>
                <a:spcPts val="2130"/>
              </a:lnSpc>
              <a:spcBef>
                <a:spcPts val="105"/>
              </a:spcBef>
            </a:pPr>
            <a:r>
              <a:rPr sz="2000" b="1" spc="-195" dirty="0">
                <a:solidFill>
                  <a:srgbClr val="C00000"/>
                </a:solidFill>
                <a:latin typeface="Arial"/>
                <a:cs typeface="Arial"/>
              </a:rPr>
              <a:t>FULL</a:t>
            </a:r>
            <a:r>
              <a:rPr sz="2000" b="1" spc="-5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180" dirty="0">
                <a:solidFill>
                  <a:srgbClr val="C00000"/>
                </a:solidFill>
                <a:latin typeface="Arial"/>
                <a:cs typeface="Arial"/>
              </a:rPr>
              <a:t>SUBTRACTOR</a:t>
            </a:r>
            <a:endParaRPr sz="2000">
              <a:latin typeface="Arial"/>
              <a:cs typeface="Arial"/>
            </a:endParaRPr>
          </a:p>
          <a:p>
            <a:pPr marL="477520" indent="-464820">
              <a:lnSpc>
                <a:spcPts val="3090"/>
              </a:lnSpc>
              <a:buClr>
                <a:srgbClr val="F79546"/>
              </a:buClr>
              <a:buFont typeface="Wingdings"/>
              <a:buChar char=""/>
              <a:tabLst>
                <a:tab pos="476884" algn="l"/>
                <a:tab pos="477520" algn="l"/>
              </a:tabLst>
            </a:pPr>
            <a:r>
              <a:rPr sz="2800" spc="-220" dirty="0">
                <a:solidFill>
                  <a:srgbClr val="006FC0"/>
                </a:solidFill>
                <a:latin typeface="Arial"/>
                <a:cs typeface="Arial"/>
              </a:rPr>
              <a:t>K-map </a:t>
            </a:r>
            <a:r>
              <a:rPr sz="2800" spc="-135" dirty="0">
                <a:solidFill>
                  <a:srgbClr val="006FC0"/>
                </a:solidFill>
                <a:latin typeface="Arial"/>
                <a:cs typeface="Arial"/>
              </a:rPr>
              <a:t>simplification </a:t>
            </a:r>
            <a:r>
              <a:rPr sz="2800" spc="-55" dirty="0">
                <a:solidFill>
                  <a:srgbClr val="006FC0"/>
                </a:solidFill>
                <a:latin typeface="Arial"/>
                <a:cs typeface="Arial"/>
              </a:rPr>
              <a:t>for </a:t>
            </a:r>
            <a:r>
              <a:rPr sz="2800" spc="-60" dirty="0">
                <a:solidFill>
                  <a:srgbClr val="006FC0"/>
                </a:solidFill>
                <a:latin typeface="Arial"/>
                <a:cs typeface="Arial"/>
              </a:rPr>
              <a:t>full</a:t>
            </a: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150" dirty="0">
                <a:solidFill>
                  <a:srgbClr val="006FC0"/>
                </a:solidFill>
                <a:latin typeface="Arial"/>
                <a:cs typeface="Arial"/>
              </a:rPr>
              <a:t>Subtractor: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62000" y="1981200"/>
            <a:ext cx="8387080" cy="4876800"/>
            <a:chOff x="762000" y="1981200"/>
            <a:chExt cx="8387080" cy="4876800"/>
          </a:xfrm>
        </p:grpSpPr>
        <p:sp>
          <p:nvSpPr>
            <p:cNvPr id="15" name="object 15"/>
            <p:cNvSpPr/>
            <p:nvPr/>
          </p:nvSpPr>
          <p:spPr>
            <a:xfrm>
              <a:off x="762000" y="1981200"/>
              <a:ext cx="7575804" cy="256032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593835" y="6620254"/>
              <a:ext cx="550164" cy="237743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674607" y="6556242"/>
              <a:ext cx="469392" cy="301755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641080" y="6644640"/>
              <a:ext cx="502920" cy="182880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8787638" y="6649770"/>
            <a:ext cx="25654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rlito"/>
                <a:cs typeface="Carlito"/>
              </a:rPr>
              <a:t>52</a:t>
            </a:r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2371344" y="202679"/>
              <a:ext cx="4395215" cy="9342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95" dirty="0"/>
              <a:t>BINARY</a:t>
            </a:r>
            <a:r>
              <a:rPr spc="-75" dirty="0"/>
              <a:t> </a:t>
            </a:r>
            <a:r>
              <a:rPr spc="-95" dirty="0"/>
              <a:t>SUBTRACTOR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451986" y="1129664"/>
            <a:ext cx="21971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95" dirty="0">
                <a:solidFill>
                  <a:srgbClr val="C00000"/>
                </a:solidFill>
                <a:latin typeface="Arial"/>
                <a:cs typeface="Arial"/>
              </a:rPr>
              <a:t>FULL</a:t>
            </a:r>
            <a:r>
              <a:rPr sz="2000" b="1" spc="-10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180" dirty="0">
                <a:solidFill>
                  <a:srgbClr val="C00000"/>
                </a:solidFill>
                <a:latin typeface="Arial"/>
                <a:cs typeface="Arial"/>
              </a:rPr>
              <a:t>SUBTRACTOR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990600" y="1981200"/>
            <a:ext cx="8158480" cy="4876800"/>
            <a:chOff x="990600" y="1981200"/>
            <a:chExt cx="8158480" cy="4876800"/>
          </a:xfrm>
        </p:grpSpPr>
        <p:sp>
          <p:nvSpPr>
            <p:cNvPr id="9" name="object 9"/>
            <p:cNvSpPr/>
            <p:nvPr/>
          </p:nvSpPr>
          <p:spPr>
            <a:xfrm>
              <a:off x="990600" y="1981200"/>
              <a:ext cx="7089648" cy="339242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593835" y="6620254"/>
              <a:ext cx="550164" cy="237743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74607" y="6556242"/>
              <a:ext cx="469392" cy="301755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641080" y="6644640"/>
              <a:ext cx="502920" cy="18288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388235" y="5733084"/>
            <a:ext cx="47612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Palladio Uralic"/>
                <a:cs typeface="Palladio Uralic"/>
              </a:rPr>
              <a:t>Implementation of full</a:t>
            </a:r>
            <a:r>
              <a:rPr sz="2400" b="1" spc="20" dirty="0">
                <a:latin typeface="Palladio Uralic"/>
                <a:cs typeface="Palladio Uralic"/>
              </a:rPr>
              <a:t> </a:t>
            </a:r>
            <a:r>
              <a:rPr sz="2400" b="1" spc="-5" dirty="0">
                <a:latin typeface="Palladio Uralic"/>
                <a:cs typeface="Palladio Uralic"/>
              </a:rPr>
              <a:t>Subtractor</a:t>
            </a:r>
            <a:endParaRPr sz="2400">
              <a:latin typeface="Palladio Uralic"/>
              <a:cs typeface="Palladio Uralic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8787638" y="6649770"/>
            <a:ext cx="25654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rlito"/>
                <a:cs typeface="Carlito"/>
              </a:rPr>
              <a:t>53</a:t>
            </a:r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2371344" y="202679"/>
              <a:ext cx="4395215" cy="9342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95" dirty="0"/>
              <a:t>BINARY</a:t>
            </a:r>
            <a:r>
              <a:rPr spc="-75" dirty="0"/>
              <a:t> </a:t>
            </a:r>
            <a:r>
              <a:rPr spc="-95" dirty="0"/>
              <a:t>SUBTRACTOR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954648" y="4876545"/>
            <a:ext cx="26308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45" dirty="0">
                <a:latin typeface="Arial"/>
                <a:cs typeface="Arial"/>
              </a:rPr>
              <a:t>[(x’y+xy’)’=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70" dirty="0">
                <a:latin typeface="Arial"/>
                <a:cs typeface="Arial"/>
              </a:rPr>
              <a:t>(xy+x’y’)]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25777" y="4876545"/>
            <a:ext cx="4164965" cy="1129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60" dirty="0">
                <a:latin typeface="Arial"/>
                <a:cs typeface="Arial"/>
              </a:rPr>
              <a:t>= </a:t>
            </a:r>
            <a:r>
              <a:rPr sz="2400" spc="-90" dirty="0">
                <a:latin typeface="Arial"/>
                <a:cs typeface="Arial"/>
              </a:rPr>
              <a:t>B’</a:t>
            </a:r>
            <a:r>
              <a:rPr sz="2400" spc="-135" baseline="-20833" dirty="0">
                <a:latin typeface="Arial"/>
                <a:cs typeface="Arial"/>
              </a:rPr>
              <a:t>in </a:t>
            </a:r>
            <a:r>
              <a:rPr sz="2400" spc="-65" dirty="0">
                <a:latin typeface="Arial"/>
                <a:cs typeface="Arial"/>
              </a:rPr>
              <a:t>(A’B+AB’) </a:t>
            </a:r>
            <a:r>
              <a:rPr sz="2400" spc="60" dirty="0">
                <a:latin typeface="Arial"/>
                <a:cs typeface="Arial"/>
              </a:rPr>
              <a:t>+ </a:t>
            </a:r>
            <a:r>
              <a:rPr sz="2400" spc="-165" dirty="0">
                <a:latin typeface="Arial"/>
                <a:cs typeface="Arial"/>
              </a:rPr>
              <a:t>B</a:t>
            </a:r>
            <a:r>
              <a:rPr sz="2400" spc="-247" baseline="-20833" dirty="0">
                <a:latin typeface="Arial"/>
                <a:cs typeface="Arial"/>
              </a:rPr>
              <a:t>in</a:t>
            </a:r>
            <a:r>
              <a:rPr sz="2400" spc="104" baseline="-20833" dirty="0">
                <a:latin typeface="Arial"/>
                <a:cs typeface="Arial"/>
              </a:rPr>
              <a:t> </a:t>
            </a:r>
            <a:r>
              <a:rPr sz="2400" spc="-45" dirty="0">
                <a:latin typeface="Arial"/>
                <a:cs typeface="Arial"/>
              </a:rPr>
              <a:t>(A’B+AB’)’</a:t>
            </a:r>
            <a:endParaRPr sz="24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45"/>
              </a:spcBef>
            </a:pPr>
            <a:r>
              <a:rPr sz="2400" spc="60" dirty="0">
                <a:latin typeface="Arial"/>
                <a:cs typeface="Arial"/>
              </a:rPr>
              <a:t>= </a:t>
            </a:r>
            <a:r>
              <a:rPr sz="2400" b="1" spc="-204" dirty="0">
                <a:latin typeface="Arial"/>
                <a:cs typeface="Arial"/>
              </a:rPr>
              <a:t>B</a:t>
            </a:r>
            <a:r>
              <a:rPr sz="2400" spc="-307" baseline="-20833" dirty="0">
                <a:latin typeface="Arial"/>
                <a:cs typeface="Arial"/>
              </a:rPr>
              <a:t>in </a:t>
            </a:r>
            <a:r>
              <a:rPr sz="2400" dirty="0">
                <a:latin typeface="Symbol"/>
                <a:cs typeface="Symbol"/>
              </a:rPr>
              <a:t>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Arial"/>
                <a:cs typeface="Arial"/>
              </a:rPr>
              <a:t>(A’B+AB’)</a:t>
            </a:r>
            <a:endParaRPr sz="2400">
              <a:latin typeface="Arial"/>
              <a:cs typeface="Arial"/>
            </a:endParaRPr>
          </a:p>
          <a:p>
            <a:pPr marL="121920">
              <a:lnSpc>
                <a:spcPct val="100000"/>
              </a:lnSpc>
              <a:spcBef>
                <a:spcPts val="5"/>
              </a:spcBef>
            </a:pPr>
            <a:r>
              <a:rPr sz="2400" spc="60" dirty="0">
                <a:latin typeface="Arial"/>
                <a:cs typeface="Arial"/>
              </a:rPr>
              <a:t>= </a:t>
            </a:r>
            <a:r>
              <a:rPr sz="2400" b="1" spc="-265" dirty="0">
                <a:latin typeface="Arial"/>
                <a:cs typeface="Arial"/>
              </a:rPr>
              <a:t>B</a:t>
            </a:r>
            <a:r>
              <a:rPr sz="2400" b="1" spc="-397" baseline="-20833" dirty="0">
                <a:latin typeface="Arial"/>
                <a:cs typeface="Arial"/>
              </a:rPr>
              <a:t>in </a:t>
            </a:r>
            <a:r>
              <a:rPr sz="2400" dirty="0">
                <a:latin typeface="Symbol"/>
                <a:cs typeface="Symbol"/>
              </a:rPr>
              <a:t>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b="1" spc="-105" dirty="0">
                <a:latin typeface="Arial"/>
                <a:cs typeface="Arial"/>
              </a:rPr>
              <a:t>(A </a:t>
            </a:r>
            <a:r>
              <a:rPr sz="2400" dirty="0">
                <a:latin typeface="Symbol"/>
                <a:cs typeface="Symbol"/>
              </a:rPr>
              <a:t>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b="1" spc="-345" dirty="0">
                <a:latin typeface="Arial"/>
                <a:cs typeface="Arial"/>
              </a:rPr>
              <a:t>B)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70828" y="5614517"/>
            <a:ext cx="21824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14" dirty="0">
                <a:latin typeface="Arial"/>
                <a:cs typeface="Arial"/>
              </a:rPr>
              <a:t>[x </a:t>
            </a:r>
            <a:r>
              <a:rPr sz="2400" dirty="0">
                <a:latin typeface="Symbol"/>
                <a:cs typeface="Symbol"/>
              </a:rPr>
              <a:t>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Arial"/>
                <a:cs typeface="Arial"/>
              </a:rPr>
              <a:t>y </a:t>
            </a:r>
            <a:r>
              <a:rPr sz="2400" spc="60" dirty="0">
                <a:latin typeface="Arial"/>
                <a:cs typeface="Arial"/>
              </a:rPr>
              <a:t>= </a:t>
            </a:r>
            <a:r>
              <a:rPr sz="2400" spc="-20" dirty="0">
                <a:latin typeface="Arial"/>
                <a:cs typeface="Arial"/>
              </a:rPr>
              <a:t>x’y+</a:t>
            </a:r>
            <a:r>
              <a:rPr sz="2400" spc="90" dirty="0">
                <a:latin typeface="Arial"/>
                <a:cs typeface="Arial"/>
              </a:rPr>
              <a:t> </a:t>
            </a:r>
            <a:r>
              <a:rPr sz="2400" spc="-55" dirty="0">
                <a:latin typeface="Arial"/>
                <a:cs typeface="Arial"/>
              </a:rPr>
              <a:t>xy’]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5440" y="1070843"/>
            <a:ext cx="8452485" cy="3831590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R="34290" algn="ctr">
              <a:lnSpc>
                <a:spcPct val="100000"/>
              </a:lnSpc>
              <a:spcBef>
                <a:spcPts val="565"/>
              </a:spcBef>
            </a:pPr>
            <a:r>
              <a:rPr sz="2000" b="1" spc="-195" dirty="0">
                <a:solidFill>
                  <a:srgbClr val="C00000"/>
                </a:solidFill>
                <a:latin typeface="Arial"/>
                <a:cs typeface="Arial"/>
              </a:rPr>
              <a:t>FULL</a:t>
            </a:r>
            <a:r>
              <a:rPr sz="2000" b="1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180" dirty="0">
                <a:solidFill>
                  <a:srgbClr val="C00000"/>
                </a:solidFill>
                <a:latin typeface="Arial"/>
                <a:cs typeface="Arial"/>
              </a:rPr>
              <a:t>SUBTRACTOR</a:t>
            </a:r>
            <a:endParaRPr sz="2000">
              <a:latin typeface="Arial"/>
              <a:cs typeface="Arial"/>
            </a:endParaRPr>
          </a:p>
          <a:p>
            <a:pPr marL="514984" marR="40005" indent="-464820" algn="just">
              <a:lnSpc>
                <a:spcPct val="100000"/>
              </a:lnSpc>
              <a:spcBef>
                <a:spcPts val="645"/>
              </a:spcBef>
              <a:buClr>
                <a:srgbClr val="F79546"/>
              </a:buClr>
              <a:buFont typeface="Wingdings"/>
              <a:buChar char=""/>
              <a:tabLst>
                <a:tab pos="515620" algn="l"/>
              </a:tabLst>
            </a:pP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60" dirty="0">
                <a:solidFill>
                  <a:srgbClr val="006FC0"/>
                </a:solidFill>
                <a:latin typeface="Arial"/>
                <a:cs typeface="Arial"/>
              </a:rPr>
              <a:t>logic </a:t>
            </a:r>
            <a:r>
              <a:rPr sz="2800" spc="-220" dirty="0">
                <a:solidFill>
                  <a:srgbClr val="006FC0"/>
                </a:solidFill>
                <a:latin typeface="Arial"/>
                <a:cs typeface="Arial"/>
              </a:rPr>
              <a:t>diagram </a:t>
            </a:r>
            <a:r>
              <a:rPr sz="2800" spc="-80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60" dirty="0">
                <a:solidFill>
                  <a:srgbClr val="006FC0"/>
                </a:solidFill>
                <a:latin typeface="Arial"/>
                <a:cs typeface="Arial"/>
              </a:rPr>
              <a:t>full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Subtractor </a:t>
            </a:r>
            <a:r>
              <a:rPr sz="2800" spc="-280" dirty="0">
                <a:solidFill>
                  <a:srgbClr val="006FC0"/>
                </a:solidFill>
                <a:latin typeface="Arial"/>
                <a:cs typeface="Arial"/>
              </a:rPr>
              <a:t>can </a:t>
            </a:r>
            <a:r>
              <a:rPr sz="2800" spc="-275" dirty="0">
                <a:solidFill>
                  <a:srgbClr val="006FC0"/>
                </a:solidFill>
                <a:latin typeface="Arial"/>
                <a:cs typeface="Arial"/>
              </a:rPr>
              <a:t>also </a:t>
            </a:r>
            <a:r>
              <a:rPr sz="2800" spc="-280" dirty="0">
                <a:solidFill>
                  <a:srgbClr val="006FC0"/>
                </a:solidFill>
                <a:latin typeface="Arial"/>
                <a:cs typeface="Arial"/>
              </a:rPr>
              <a:t>be  </a:t>
            </a:r>
            <a:r>
              <a:rPr sz="2800" spc="-185" dirty="0">
                <a:solidFill>
                  <a:srgbClr val="006FC0"/>
                </a:solidFill>
                <a:latin typeface="Arial"/>
                <a:cs typeface="Arial"/>
              </a:rPr>
              <a:t>implemented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with </a:t>
            </a:r>
            <a:r>
              <a:rPr sz="2800" spc="-120" dirty="0">
                <a:latin typeface="Arial"/>
                <a:cs typeface="Arial"/>
              </a:rPr>
              <a:t>two </a:t>
            </a:r>
            <a:r>
              <a:rPr sz="2800" spc="-155" dirty="0">
                <a:latin typeface="Arial"/>
                <a:cs typeface="Arial"/>
              </a:rPr>
              <a:t>half </a:t>
            </a:r>
            <a:r>
              <a:rPr sz="2800" spc="-170" dirty="0">
                <a:latin typeface="Arial"/>
                <a:cs typeface="Arial"/>
              </a:rPr>
              <a:t>Subtractor </a:t>
            </a:r>
            <a:r>
              <a:rPr sz="2800" spc="-254" dirty="0">
                <a:latin typeface="Arial"/>
                <a:cs typeface="Arial"/>
              </a:rPr>
              <a:t>and </a:t>
            </a:r>
            <a:r>
              <a:rPr sz="2800" spc="-240" dirty="0">
                <a:latin typeface="Arial"/>
                <a:cs typeface="Arial"/>
              </a:rPr>
              <a:t>one </a:t>
            </a:r>
            <a:r>
              <a:rPr sz="2800" spc="-215" dirty="0">
                <a:latin typeface="Arial"/>
                <a:cs typeface="Arial"/>
              </a:rPr>
              <a:t>OR</a:t>
            </a:r>
            <a:r>
              <a:rPr sz="2800" spc="130" dirty="0">
                <a:latin typeface="Arial"/>
                <a:cs typeface="Arial"/>
              </a:rPr>
              <a:t> </a:t>
            </a:r>
            <a:r>
              <a:rPr sz="2800" spc="-240" dirty="0">
                <a:latin typeface="Arial"/>
                <a:cs typeface="Arial"/>
              </a:rPr>
              <a:t>gate.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F79546"/>
              </a:buClr>
              <a:buFont typeface="Wingdings"/>
              <a:buChar char=""/>
            </a:pPr>
            <a:endParaRPr sz="2900">
              <a:latin typeface="Arial"/>
              <a:cs typeface="Arial"/>
            </a:endParaRPr>
          </a:p>
          <a:p>
            <a:pPr marL="514984" marR="43180" indent="-464820" algn="just">
              <a:lnSpc>
                <a:spcPct val="100000"/>
              </a:lnSpc>
              <a:buClr>
                <a:srgbClr val="F79546"/>
              </a:buClr>
              <a:buFont typeface="Wingdings"/>
              <a:buChar char=""/>
              <a:tabLst>
                <a:tab pos="515620" algn="l"/>
              </a:tabLst>
            </a:pP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difference, 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D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output </a:t>
            </a:r>
            <a:r>
              <a:rPr sz="2800" spc="-100" dirty="0">
                <a:solidFill>
                  <a:srgbClr val="006FC0"/>
                </a:solidFill>
                <a:latin typeface="Arial"/>
                <a:cs typeface="Arial"/>
              </a:rPr>
              <a:t>from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275" dirty="0">
                <a:solidFill>
                  <a:srgbClr val="006FC0"/>
                </a:solidFill>
                <a:latin typeface="Arial"/>
                <a:cs typeface="Arial"/>
              </a:rPr>
              <a:t>second </a:t>
            </a:r>
            <a:r>
              <a:rPr sz="2800" spc="-155" dirty="0">
                <a:solidFill>
                  <a:srgbClr val="006FC0"/>
                </a:solidFill>
                <a:latin typeface="Arial"/>
                <a:cs typeface="Arial"/>
              </a:rPr>
              <a:t>half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Subtractor 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225" dirty="0">
                <a:solidFill>
                  <a:srgbClr val="006FC0"/>
                </a:solidFill>
                <a:latin typeface="Arial"/>
                <a:cs typeface="Arial"/>
              </a:rPr>
              <a:t>exclusive-OR </a:t>
            </a:r>
            <a:r>
              <a:rPr sz="2800" spc="-80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190" dirty="0">
                <a:solidFill>
                  <a:srgbClr val="006FC0"/>
                </a:solidFill>
                <a:latin typeface="Arial"/>
                <a:cs typeface="Arial"/>
              </a:rPr>
              <a:t>B</a:t>
            </a:r>
            <a:r>
              <a:rPr sz="2775" spc="-284" baseline="-21021" dirty="0">
                <a:solidFill>
                  <a:srgbClr val="006FC0"/>
                </a:solidFill>
                <a:latin typeface="Arial"/>
                <a:cs typeface="Arial"/>
              </a:rPr>
              <a:t>in 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output 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95" dirty="0">
                <a:solidFill>
                  <a:srgbClr val="006FC0"/>
                </a:solidFill>
                <a:latin typeface="Arial"/>
                <a:cs typeface="Arial"/>
              </a:rPr>
              <a:t>first </a:t>
            </a:r>
            <a:r>
              <a:rPr sz="2800" spc="-155" dirty="0">
                <a:solidFill>
                  <a:srgbClr val="006FC0"/>
                </a:solidFill>
                <a:latin typeface="Arial"/>
                <a:cs typeface="Arial"/>
              </a:rPr>
              <a:t>half 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Subtractor,</a:t>
            </a:r>
            <a:r>
              <a:rPr sz="2800" spc="-2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190" dirty="0">
                <a:solidFill>
                  <a:srgbClr val="006FC0"/>
                </a:solidFill>
                <a:latin typeface="Arial"/>
                <a:cs typeface="Arial"/>
              </a:rPr>
              <a:t>giving</a:t>
            </a:r>
            <a:endParaRPr sz="2800">
              <a:latin typeface="Arial"/>
              <a:cs typeface="Arial"/>
            </a:endParaRPr>
          </a:p>
          <a:p>
            <a:pPr marL="514984">
              <a:lnSpc>
                <a:spcPct val="100000"/>
              </a:lnSpc>
              <a:spcBef>
                <a:spcPts val="405"/>
              </a:spcBef>
            </a:pPr>
            <a:r>
              <a:rPr sz="2400" b="1" spc="-220" dirty="0">
                <a:latin typeface="Arial"/>
                <a:cs typeface="Arial"/>
              </a:rPr>
              <a:t>Difference, </a:t>
            </a:r>
            <a:r>
              <a:rPr sz="2400" b="1" spc="-215" dirty="0">
                <a:latin typeface="Arial"/>
                <a:cs typeface="Arial"/>
              </a:rPr>
              <a:t>D </a:t>
            </a:r>
            <a:r>
              <a:rPr sz="2400" spc="60" dirty="0">
                <a:latin typeface="Arial"/>
                <a:cs typeface="Arial"/>
              </a:rPr>
              <a:t>= </a:t>
            </a:r>
            <a:r>
              <a:rPr sz="2400" spc="-65" dirty="0">
                <a:latin typeface="Arial"/>
                <a:cs typeface="Arial"/>
              </a:rPr>
              <a:t>A’BB’</a:t>
            </a:r>
            <a:r>
              <a:rPr sz="2400" spc="-97" baseline="-20833" dirty="0">
                <a:latin typeface="Arial"/>
                <a:cs typeface="Arial"/>
              </a:rPr>
              <a:t>in </a:t>
            </a:r>
            <a:r>
              <a:rPr sz="2400" spc="60" dirty="0">
                <a:latin typeface="Arial"/>
                <a:cs typeface="Arial"/>
              </a:rPr>
              <a:t>+ </a:t>
            </a:r>
            <a:r>
              <a:rPr sz="2400" spc="-65" dirty="0">
                <a:latin typeface="Arial"/>
                <a:cs typeface="Arial"/>
              </a:rPr>
              <a:t>AB’B’</a:t>
            </a:r>
            <a:r>
              <a:rPr sz="2400" spc="-97" baseline="-20833" dirty="0">
                <a:latin typeface="Arial"/>
                <a:cs typeface="Arial"/>
              </a:rPr>
              <a:t>in </a:t>
            </a:r>
            <a:r>
              <a:rPr sz="2400" spc="60" dirty="0">
                <a:latin typeface="Arial"/>
                <a:cs typeface="Arial"/>
              </a:rPr>
              <a:t>+ </a:t>
            </a:r>
            <a:r>
              <a:rPr sz="2400" spc="-150" dirty="0">
                <a:latin typeface="Arial"/>
                <a:cs typeface="Arial"/>
              </a:rPr>
              <a:t>ABB</a:t>
            </a:r>
            <a:r>
              <a:rPr sz="2400" spc="-225" baseline="-20833" dirty="0">
                <a:latin typeface="Arial"/>
                <a:cs typeface="Arial"/>
              </a:rPr>
              <a:t>in </a:t>
            </a:r>
            <a:r>
              <a:rPr sz="2400" spc="60" dirty="0">
                <a:latin typeface="Arial"/>
                <a:cs typeface="Arial"/>
              </a:rPr>
              <a:t>+ </a:t>
            </a:r>
            <a:r>
              <a:rPr sz="2400" spc="-65" dirty="0">
                <a:latin typeface="Arial"/>
                <a:cs typeface="Arial"/>
              </a:rPr>
              <a:t>A’B’B</a:t>
            </a:r>
            <a:r>
              <a:rPr sz="2400" spc="-97" baseline="-20833" dirty="0">
                <a:latin typeface="Arial"/>
                <a:cs typeface="Arial"/>
              </a:rPr>
              <a:t>in</a:t>
            </a:r>
            <a:r>
              <a:rPr sz="2400" spc="-15" baseline="-20833" dirty="0">
                <a:latin typeface="Arial"/>
                <a:cs typeface="Arial"/>
              </a:rPr>
              <a:t> </a:t>
            </a:r>
            <a:r>
              <a:rPr sz="2400" spc="-142" baseline="-20833" dirty="0">
                <a:latin typeface="Arial"/>
                <a:cs typeface="Arial"/>
              </a:rPr>
              <a:t>.</a:t>
            </a:r>
            <a:endParaRPr sz="2400" baseline="-20833">
              <a:latin typeface="Arial"/>
              <a:cs typeface="Arial"/>
            </a:endParaRPr>
          </a:p>
          <a:p>
            <a:pPr marL="1217930">
              <a:lnSpc>
                <a:spcPct val="100000"/>
              </a:lnSpc>
              <a:spcBef>
                <a:spcPts val="130"/>
              </a:spcBef>
            </a:pPr>
            <a:r>
              <a:rPr sz="2400" spc="60" dirty="0">
                <a:latin typeface="Arial"/>
                <a:cs typeface="Arial"/>
              </a:rPr>
              <a:t>= </a:t>
            </a:r>
            <a:r>
              <a:rPr sz="2400" spc="-90" dirty="0">
                <a:latin typeface="Arial"/>
                <a:cs typeface="Arial"/>
              </a:rPr>
              <a:t>B’</a:t>
            </a:r>
            <a:r>
              <a:rPr sz="2400" spc="-135" baseline="-20833" dirty="0">
                <a:latin typeface="Arial"/>
                <a:cs typeface="Arial"/>
              </a:rPr>
              <a:t>in </a:t>
            </a:r>
            <a:r>
              <a:rPr sz="2400" spc="-65" dirty="0">
                <a:latin typeface="Arial"/>
                <a:cs typeface="Arial"/>
              </a:rPr>
              <a:t>(A’B+AB’) </a:t>
            </a:r>
            <a:r>
              <a:rPr sz="2400" spc="60" dirty="0">
                <a:latin typeface="Arial"/>
                <a:cs typeface="Arial"/>
              </a:rPr>
              <a:t>+ </a:t>
            </a:r>
            <a:r>
              <a:rPr sz="2400" spc="-165" dirty="0">
                <a:latin typeface="Arial"/>
                <a:cs typeface="Arial"/>
              </a:rPr>
              <a:t>B</a:t>
            </a:r>
            <a:r>
              <a:rPr sz="2400" spc="-247" baseline="-20833" dirty="0">
                <a:latin typeface="Arial"/>
                <a:cs typeface="Arial"/>
              </a:rPr>
              <a:t>in</a:t>
            </a:r>
            <a:r>
              <a:rPr sz="2400" spc="142" baseline="-20833" dirty="0">
                <a:latin typeface="Arial"/>
                <a:cs typeface="Arial"/>
              </a:rPr>
              <a:t> </a:t>
            </a:r>
            <a:r>
              <a:rPr sz="2400" spc="-65" dirty="0">
                <a:latin typeface="Arial"/>
                <a:cs typeface="Arial"/>
              </a:rPr>
              <a:t>(AB+A’B’)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sp>
          <p:nvSpPr>
            <p:cNvPr id="12" name="object 12"/>
            <p:cNvSpPr/>
            <p:nvPr/>
          </p:nvSpPr>
          <p:spPr>
            <a:xfrm>
              <a:off x="8593835" y="6620255"/>
              <a:ext cx="550164" cy="23774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674607" y="6556243"/>
              <a:ext cx="469392" cy="3017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8787638" y="6649770"/>
            <a:ext cx="25654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rlito"/>
                <a:cs typeface="Carlito"/>
              </a:rPr>
              <a:t>54</a:t>
            </a:r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2371344" y="202679"/>
              <a:ext cx="4395215" cy="9342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95" dirty="0"/>
              <a:t>BINARY</a:t>
            </a:r>
            <a:r>
              <a:rPr spc="-75" dirty="0"/>
              <a:t> </a:t>
            </a:r>
            <a:r>
              <a:rPr spc="-95" dirty="0"/>
              <a:t>SUBTRACTOR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58140" y="1564004"/>
            <a:ext cx="17494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b="1" spc="-295" dirty="0">
                <a:solidFill>
                  <a:srgbClr val="006FC0"/>
                </a:solidFill>
                <a:latin typeface="Arial"/>
                <a:cs typeface="Arial"/>
              </a:rPr>
              <a:t>Borrow,</a:t>
            </a:r>
            <a:r>
              <a:rPr sz="2800" b="1" spc="-8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b="1" spc="-260" dirty="0">
                <a:solidFill>
                  <a:srgbClr val="006FC0"/>
                </a:solidFill>
                <a:latin typeface="Arial"/>
                <a:cs typeface="Arial"/>
              </a:rPr>
              <a:t>B</a:t>
            </a:r>
            <a:r>
              <a:rPr sz="2775" b="1" spc="-390" baseline="-21021" dirty="0">
                <a:solidFill>
                  <a:srgbClr val="006FC0"/>
                </a:solidFill>
                <a:latin typeface="Arial"/>
                <a:cs typeface="Arial"/>
              </a:rPr>
              <a:t>out</a:t>
            </a:r>
            <a:endParaRPr sz="2775" baseline="-21021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59829" y="2844545"/>
            <a:ext cx="14312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spc="-135" dirty="0">
                <a:solidFill>
                  <a:srgbClr val="006FC0"/>
                </a:solidFill>
                <a:latin typeface="Arial"/>
                <a:cs typeface="Arial"/>
              </a:rPr>
              <a:t>[B</a:t>
            </a:r>
            <a:r>
              <a:rPr sz="2775" spc="-202" baseline="-21021" dirty="0">
                <a:solidFill>
                  <a:srgbClr val="006FC0"/>
                </a:solidFill>
                <a:latin typeface="Arial"/>
                <a:cs typeface="Arial"/>
              </a:rPr>
              <a:t>in</a:t>
            </a:r>
            <a:r>
              <a:rPr sz="2800" spc="-135" dirty="0">
                <a:solidFill>
                  <a:srgbClr val="006FC0"/>
                </a:solidFill>
                <a:latin typeface="Arial"/>
                <a:cs typeface="Arial"/>
              </a:rPr>
              <a:t>+1=</a:t>
            </a:r>
            <a:r>
              <a:rPr sz="2800" spc="-4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245" dirty="0">
                <a:solidFill>
                  <a:srgbClr val="006FC0"/>
                </a:solidFill>
                <a:latin typeface="Arial"/>
                <a:cs typeface="Arial"/>
              </a:rPr>
              <a:t>1]</a:t>
            </a:r>
            <a:endParaRPr sz="2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85229" y="3697681"/>
            <a:ext cx="14624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80" dirty="0">
                <a:solidFill>
                  <a:srgbClr val="006FC0"/>
                </a:solidFill>
                <a:latin typeface="Arial"/>
                <a:cs typeface="Arial"/>
              </a:rPr>
              <a:t>[A+A’=</a:t>
            </a:r>
            <a:r>
              <a:rPr sz="2800" spc="-31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240" dirty="0">
                <a:solidFill>
                  <a:srgbClr val="006FC0"/>
                </a:solidFill>
                <a:latin typeface="Arial"/>
                <a:cs typeface="Arial"/>
              </a:rPr>
              <a:t>1]</a:t>
            </a:r>
            <a:endParaRPr sz="2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889368" y="4551679"/>
            <a:ext cx="14325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spc="-135" dirty="0">
                <a:solidFill>
                  <a:srgbClr val="006FC0"/>
                </a:solidFill>
                <a:latin typeface="Arial"/>
                <a:cs typeface="Arial"/>
              </a:rPr>
              <a:t>[B</a:t>
            </a:r>
            <a:r>
              <a:rPr sz="2775" spc="-202" baseline="-21021" dirty="0">
                <a:solidFill>
                  <a:srgbClr val="006FC0"/>
                </a:solidFill>
                <a:latin typeface="Arial"/>
                <a:cs typeface="Arial"/>
              </a:rPr>
              <a:t>in</a:t>
            </a:r>
            <a:r>
              <a:rPr sz="2800" spc="-135" dirty="0">
                <a:solidFill>
                  <a:srgbClr val="006FC0"/>
                </a:solidFill>
                <a:latin typeface="Arial"/>
                <a:cs typeface="Arial"/>
              </a:rPr>
              <a:t>+1=</a:t>
            </a:r>
            <a:r>
              <a:rPr sz="2800" spc="-3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245" dirty="0">
                <a:solidFill>
                  <a:srgbClr val="006FC0"/>
                </a:solidFill>
                <a:latin typeface="Arial"/>
                <a:cs typeface="Arial"/>
              </a:rPr>
              <a:t>1]</a:t>
            </a:r>
            <a:endParaRPr sz="2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74494" y="5832144"/>
            <a:ext cx="65239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3547110" algn="l"/>
              </a:tabLst>
            </a:pPr>
            <a:r>
              <a:rPr sz="2800" spc="70" dirty="0">
                <a:solidFill>
                  <a:srgbClr val="006FC0"/>
                </a:solidFill>
                <a:latin typeface="Arial"/>
                <a:cs typeface="Arial"/>
              </a:rPr>
              <a:t>= </a:t>
            </a:r>
            <a:r>
              <a:rPr sz="2800" b="1" spc="-125" dirty="0">
                <a:solidFill>
                  <a:srgbClr val="006FC0"/>
                </a:solidFill>
                <a:latin typeface="Arial"/>
                <a:cs typeface="Arial"/>
              </a:rPr>
              <a:t>A’B+</a:t>
            </a:r>
            <a:r>
              <a:rPr sz="2800" b="1" spc="-4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b="1" spc="-300" dirty="0">
                <a:solidFill>
                  <a:srgbClr val="006FC0"/>
                </a:solidFill>
                <a:latin typeface="Arial"/>
                <a:cs typeface="Arial"/>
              </a:rPr>
              <a:t>B</a:t>
            </a:r>
            <a:r>
              <a:rPr sz="2775" b="1" spc="-450" baseline="-21021" dirty="0">
                <a:solidFill>
                  <a:srgbClr val="006FC0"/>
                </a:solidFill>
                <a:latin typeface="Arial"/>
                <a:cs typeface="Arial"/>
              </a:rPr>
              <a:t>in  </a:t>
            </a:r>
            <a:r>
              <a:rPr sz="2775" b="1" spc="-270" baseline="-21021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b="1" spc="-155" dirty="0">
                <a:solidFill>
                  <a:srgbClr val="006FC0"/>
                </a:solidFill>
                <a:latin typeface="Arial"/>
                <a:cs typeface="Arial"/>
              </a:rPr>
              <a:t>(A’B+AB’)’	</a:t>
            </a:r>
            <a:r>
              <a:rPr sz="2800" spc="-70" dirty="0">
                <a:solidFill>
                  <a:srgbClr val="006FC0"/>
                </a:solidFill>
                <a:latin typeface="Arial"/>
                <a:cs typeface="Arial"/>
              </a:rPr>
              <a:t>[(x’y+xy’)’=(xy+x’y’)]</a:t>
            </a:r>
            <a:endParaRPr sz="2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87194" y="1037255"/>
            <a:ext cx="4546600" cy="4819650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179705" algn="ctr">
              <a:lnSpc>
                <a:spcPct val="100000"/>
              </a:lnSpc>
              <a:spcBef>
                <a:spcPts val="830"/>
              </a:spcBef>
            </a:pPr>
            <a:r>
              <a:rPr sz="2000" b="1" spc="-195" dirty="0">
                <a:solidFill>
                  <a:srgbClr val="C00000"/>
                </a:solidFill>
                <a:latin typeface="Arial"/>
                <a:cs typeface="Arial"/>
              </a:rPr>
              <a:t>FULL</a:t>
            </a:r>
            <a:r>
              <a:rPr sz="2000" b="1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180" dirty="0">
                <a:solidFill>
                  <a:srgbClr val="C00000"/>
                </a:solidFill>
                <a:latin typeface="Arial"/>
                <a:cs typeface="Arial"/>
              </a:rPr>
              <a:t>SUBTRACTOR</a:t>
            </a:r>
            <a:endParaRPr sz="20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010"/>
              </a:spcBef>
            </a:pPr>
            <a:r>
              <a:rPr sz="2800" spc="70" dirty="0">
                <a:solidFill>
                  <a:srgbClr val="006FC0"/>
                </a:solidFill>
                <a:latin typeface="Arial"/>
                <a:cs typeface="Arial"/>
              </a:rPr>
              <a:t>= </a:t>
            </a:r>
            <a:r>
              <a:rPr sz="2800" spc="-15" dirty="0">
                <a:solidFill>
                  <a:srgbClr val="006FC0"/>
                </a:solidFill>
                <a:latin typeface="Arial"/>
                <a:cs typeface="Arial"/>
              </a:rPr>
              <a:t>A’B+ </a:t>
            </a:r>
            <a:r>
              <a:rPr sz="2800" spc="-185" dirty="0">
                <a:solidFill>
                  <a:srgbClr val="006FC0"/>
                </a:solidFill>
                <a:latin typeface="Arial"/>
                <a:cs typeface="Arial"/>
              </a:rPr>
              <a:t>BB</a:t>
            </a:r>
            <a:r>
              <a:rPr sz="2775" spc="-277" baseline="-21021" dirty="0">
                <a:solidFill>
                  <a:srgbClr val="006FC0"/>
                </a:solidFill>
                <a:latin typeface="Arial"/>
                <a:cs typeface="Arial"/>
              </a:rPr>
              <a:t>in</a:t>
            </a:r>
            <a:r>
              <a:rPr sz="2800" spc="-185" dirty="0">
                <a:solidFill>
                  <a:srgbClr val="006FC0"/>
                </a:solidFill>
                <a:latin typeface="Arial"/>
                <a:cs typeface="Arial"/>
              </a:rPr>
              <a:t>+</a:t>
            </a:r>
            <a:r>
              <a:rPr sz="2800" spc="-4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65" dirty="0">
                <a:solidFill>
                  <a:srgbClr val="006FC0"/>
                </a:solidFill>
                <a:latin typeface="Arial"/>
                <a:cs typeface="Arial"/>
              </a:rPr>
              <a:t>A’B</a:t>
            </a:r>
            <a:r>
              <a:rPr sz="2775" spc="-97" baseline="-21021" dirty="0">
                <a:solidFill>
                  <a:srgbClr val="006FC0"/>
                </a:solidFill>
                <a:latin typeface="Arial"/>
                <a:cs typeface="Arial"/>
              </a:rPr>
              <a:t>in.</a:t>
            </a:r>
            <a:endParaRPr sz="2775" baseline="-21021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</a:pPr>
            <a:r>
              <a:rPr sz="2800" spc="70" dirty="0">
                <a:solidFill>
                  <a:srgbClr val="006FC0"/>
                </a:solidFill>
                <a:latin typeface="Arial"/>
                <a:cs typeface="Arial"/>
              </a:rPr>
              <a:t>= </a:t>
            </a:r>
            <a:r>
              <a:rPr sz="2800" spc="-15" dirty="0">
                <a:solidFill>
                  <a:srgbClr val="006FC0"/>
                </a:solidFill>
                <a:latin typeface="Arial"/>
                <a:cs typeface="Arial"/>
              </a:rPr>
              <a:t>A’B+ </a:t>
            </a:r>
            <a:r>
              <a:rPr sz="2800" spc="-185" dirty="0">
                <a:solidFill>
                  <a:srgbClr val="006FC0"/>
                </a:solidFill>
                <a:latin typeface="Arial"/>
                <a:cs typeface="Arial"/>
              </a:rPr>
              <a:t>BB</a:t>
            </a:r>
            <a:r>
              <a:rPr sz="2775" spc="-277" baseline="-21021" dirty="0">
                <a:solidFill>
                  <a:srgbClr val="006FC0"/>
                </a:solidFill>
                <a:latin typeface="Arial"/>
                <a:cs typeface="Arial"/>
              </a:rPr>
              <a:t>in</a:t>
            </a:r>
            <a:r>
              <a:rPr sz="2800" spc="-185" dirty="0">
                <a:solidFill>
                  <a:srgbClr val="006FC0"/>
                </a:solidFill>
                <a:latin typeface="Arial"/>
                <a:cs typeface="Arial"/>
              </a:rPr>
              <a:t>+ </a:t>
            </a:r>
            <a:r>
              <a:rPr sz="2800" spc="-55" dirty="0">
                <a:solidFill>
                  <a:srgbClr val="006FC0"/>
                </a:solidFill>
                <a:latin typeface="Arial"/>
                <a:cs typeface="Arial"/>
              </a:rPr>
              <a:t>A’B</a:t>
            </a:r>
            <a:r>
              <a:rPr sz="2775" spc="-82" baseline="-21021" dirty="0">
                <a:solidFill>
                  <a:srgbClr val="006FC0"/>
                </a:solidFill>
                <a:latin typeface="Arial"/>
                <a:cs typeface="Arial"/>
              </a:rPr>
              <a:t>in </a:t>
            </a:r>
            <a:r>
              <a:rPr sz="2800" spc="-335" dirty="0">
                <a:solidFill>
                  <a:srgbClr val="006FC0"/>
                </a:solidFill>
                <a:latin typeface="Arial"/>
                <a:cs typeface="Arial"/>
              </a:rPr>
              <a:t>(B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+B’)</a:t>
            </a:r>
            <a:endParaRPr sz="28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sz="2800" spc="70" dirty="0">
                <a:solidFill>
                  <a:srgbClr val="006FC0"/>
                </a:solidFill>
                <a:latin typeface="Arial"/>
                <a:cs typeface="Arial"/>
              </a:rPr>
              <a:t>= </a:t>
            </a:r>
            <a:r>
              <a:rPr sz="2800" spc="-90" dirty="0">
                <a:solidFill>
                  <a:srgbClr val="006FC0"/>
                </a:solidFill>
                <a:latin typeface="Arial"/>
                <a:cs typeface="Arial"/>
              </a:rPr>
              <a:t>A’BB</a:t>
            </a:r>
            <a:r>
              <a:rPr sz="2775" spc="-135" baseline="-21021" dirty="0">
                <a:solidFill>
                  <a:srgbClr val="006FC0"/>
                </a:solidFill>
                <a:latin typeface="Arial"/>
                <a:cs typeface="Arial"/>
              </a:rPr>
              <a:t>in</a:t>
            </a:r>
            <a:r>
              <a:rPr sz="2800" spc="-90" dirty="0">
                <a:solidFill>
                  <a:srgbClr val="006FC0"/>
                </a:solidFill>
                <a:latin typeface="Arial"/>
                <a:cs typeface="Arial"/>
              </a:rPr>
              <a:t>+ </a:t>
            </a:r>
            <a:r>
              <a:rPr sz="2800" spc="-15" dirty="0">
                <a:solidFill>
                  <a:srgbClr val="006FC0"/>
                </a:solidFill>
                <a:latin typeface="Arial"/>
                <a:cs typeface="Arial"/>
              </a:rPr>
              <a:t>A’B+ </a:t>
            </a:r>
            <a:r>
              <a:rPr sz="2800" spc="-185" dirty="0">
                <a:solidFill>
                  <a:srgbClr val="006FC0"/>
                </a:solidFill>
                <a:latin typeface="Arial"/>
                <a:cs typeface="Arial"/>
              </a:rPr>
              <a:t>BB</a:t>
            </a:r>
            <a:r>
              <a:rPr sz="2775" spc="-277" baseline="-21021" dirty="0">
                <a:solidFill>
                  <a:srgbClr val="006FC0"/>
                </a:solidFill>
                <a:latin typeface="Arial"/>
                <a:cs typeface="Arial"/>
              </a:rPr>
              <a:t>in</a:t>
            </a:r>
            <a:r>
              <a:rPr sz="2800" spc="-185" dirty="0">
                <a:solidFill>
                  <a:srgbClr val="006FC0"/>
                </a:solidFill>
                <a:latin typeface="Arial"/>
                <a:cs typeface="Arial"/>
              </a:rPr>
              <a:t>+</a:t>
            </a:r>
            <a:r>
              <a:rPr sz="2800" spc="2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A’B’B</a:t>
            </a:r>
            <a:r>
              <a:rPr sz="2775" spc="-112" baseline="-21021" dirty="0">
                <a:solidFill>
                  <a:srgbClr val="006FC0"/>
                </a:solidFill>
                <a:latin typeface="Arial"/>
                <a:cs typeface="Arial"/>
              </a:rPr>
              <a:t>in</a:t>
            </a:r>
            <a:endParaRPr sz="2775" baseline="-21021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</a:pPr>
            <a:r>
              <a:rPr sz="2800" spc="70" dirty="0">
                <a:solidFill>
                  <a:srgbClr val="006FC0"/>
                </a:solidFill>
                <a:latin typeface="Arial"/>
                <a:cs typeface="Arial"/>
              </a:rPr>
              <a:t>= </a:t>
            </a:r>
            <a:r>
              <a:rPr sz="2800" spc="-40" dirty="0">
                <a:solidFill>
                  <a:srgbClr val="006FC0"/>
                </a:solidFill>
                <a:latin typeface="Arial"/>
                <a:cs typeface="Arial"/>
              </a:rPr>
              <a:t>A’B </a:t>
            </a:r>
            <a:r>
              <a:rPr sz="2800" spc="-200" dirty="0">
                <a:solidFill>
                  <a:srgbClr val="006FC0"/>
                </a:solidFill>
                <a:latin typeface="Arial"/>
                <a:cs typeface="Arial"/>
              </a:rPr>
              <a:t>(B</a:t>
            </a:r>
            <a:r>
              <a:rPr sz="2775" spc="-300" baseline="-21021" dirty="0">
                <a:solidFill>
                  <a:srgbClr val="006FC0"/>
                </a:solidFill>
                <a:latin typeface="Arial"/>
                <a:cs typeface="Arial"/>
              </a:rPr>
              <a:t>in</a:t>
            </a:r>
            <a:r>
              <a:rPr sz="2800" spc="-200" dirty="0">
                <a:solidFill>
                  <a:srgbClr val="006FC0"/>
                </a:solidFill>
                <a:latin typeface="Arial"/>
                <a:cs typeface="Arial"/>
              </a:rPr>
              <a:t>+1)</a:t>
            </a:r>
            <a:r>
              <a:rPr sz="2800" spc="37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70" dirty="0">
                <a:solidFill>
                  <a:srgbClr val="006FC0"/>
                </a:solidFill>
                <a:latin typeface="Arial"/>
                <a:cs typeface="Arial"/>
              </a:rPr>
              <a:t>+ </a:t>
            </a:r>
            <a:r>
              <a:rPr sz="2800" spc="-185" dirty="0">
                <a:solidFill>
                  <a:srgbClr val="006FC0"/>
                </a:solidFill>
                <a:latin typeface="Arial"/>
                <a:cs typeface="Arial"/>
              </a:rPr>
              <a:t>BB</a:t>
            </a:r>
            <a:r>
              <a:rPr sz="2775" spc="-277" baseline="-21021" dirty="0">
                <a:solidFill>
                  <a:srgbClr val="006FC0"/>
                </a:solidFill>
                <a:latin typeface="Arial"/>
                <a:cs typeface="Arial"/>
              </a:rPr>
              <a:t>in</a:t>
            </a:r>
            <a:r>
              <a:rPr sz="2800" spc="-185" dirty="0">
                <a:solidFill>
                  <a:srgbClr val="006FC0"/>
                </a:solidFill>
                <a:latin typeface="Arial"/>
                <a:cs typeface="Arial"/>
              </a:rPr>
              <a:t>+</a:t>
            </a:r>
            <a:r>
              <a:rPr sz="2800" spc="-484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A’B’B</a:t>
            </a:r>
            <a:r>
              <a:rPr sz="2775" spc="-112" baseline="-21021" dirty="0">
                <a:solidFill>
                  <a:srgbClr val="006FC0"/>
                </a:solidFill>
                <a:latin typeface="Arial"/>
                <a:cs typeface="Arial"/>
              </a:rPr>
              <a:t>in</a:t>
            </a:r>
            <a:endParaRPr sz="2775" baseline="-21021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</a:pPr>
            <a:r>
              <a:rPr sz="2800" spc="70" dirty="0">
                <a:solidFill>
                  <a:srgbClr val="006FC0"/>
                </a:solidFill>
                <a:latin typeface="Arial"/>
                <a:cs typeface="Arial"/>
              </a:rPr>
              <a:t>= </a:t>
            </a:r>
            <a:r>
              <a:rPr sz="2800" spc="-15" dirty="0">
                <a:solidFill>
                  <a:srgbClr val="006FC0"/>
                </a:solidFill>
                <a:latin typeface="Arial"/>
                <a:cs typeface="Arial"/>
              </a:rPr>
              <a:t>A’B+ </a:t>
            </a:r>
            <a:r>
              <a:rPr sz="2800" spc="-185" dirty="0">
                <a:solidFill>
                  <a:srgbClr val="006FC0"/>
                </a:solidFill>
                <a:latin typeface="Arial"/>
                <a:cs typeface="Arial"/>
              </a:rPr>
              <a:t>BB</a:t>
            </a:r>
            <a:r>
              <a:rPr sz="2775" spc="-277" baseline="-21021" dirty="0">
                <a:solidFill>
                  <a:srgbClr val="006FC0"/>
                </a:solidFill>
                <a:latin typeface="Arial"/>
                <a:cs typeface="Arial"/>
              </a:rPr>
              <a:t>in</a:t>
            </a:r>
            <a:r>
              <a:rPr sz="2800" spc="-185" dirty="0">
                <a:solidFill>
                  <a:srgbClr val="006FC0"/>
                </a:solidFill>
                <a:latin typeface="Arial"/>
                <a:cs typeface="Arial"/>
              </a:rPr>
              <a:t>+</a:t>
            </a:r>
            <a:r>
              <a:rPr sz="2800" spc="-4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A’B’B</a:t>
            </a:r>
            <a:r>
              <a:rPr sz="2775" spc="-112" baseline="-21021" dirty="0">
                <a:solidFill>
                  <a:srgbClr val="006FC0"/>
                </a:solidFill>
                <a:latin typeface="Arial"/>
                <a:cs typeface="Arial"/>
              </a:rPr>
              <a:t>in</a:t>
            </a:r>
            <a:endParaRPr sz="2775" baseline="-21021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</a:pPr>
            <a:r>
              <a:rPr sz="2800" spc="70" dirty="0">
                <a:solidFill>
                  <a:srgbClr val="006FC0"/>
                </a:solidFill>
                <a:latin typeface="Arial"/>
                <a:cs typeface="Arial"/>
              </a:rPr>
              <a:t>= </a:t>
            </a:r>
            <a:r>
              <a:rPr sz="2800" spc="-15" dirty="0">
                <a:solidFill>
                  <a:srgbClr val="006FC0"/>
                </a:solidFill>
                <a:latin typeface="Arial"/>
                <a:cs typeface="Arial"/>
              </a:rPr>
              <a:t>A’B+ 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BB</a:t>
            </a:r>
            <a:r>
              <a:rPr sz="2775" spc="-375" baseline="-21021" dirty="0">
                <a:solidFill>
                  <a:srgbClr val="006FC0"/>
                </a:solidFill>
                <a:latin typeface="Arial"/>
                <a:cs typeface="Arial"/>
              </a:rPr>
              <a:t>in 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(A+A’) </a:t>
            </a:r>
            <a:r>
              <a:rPr sz="2800" spc="70" dirty="0">
                <a:solidFill>
                  <a:srgbClr val="006FC0"/>
                </a:solidFill>
                <a:latin typeface="Arial"/>
                <a:cs typeface="Arial"/>
              </a:rPr>
              <a:t>+</a:t>
            </a:r>
            <a:r>
              <a:rPr sz="2800" spc="-5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A’B’B</a:t>
            </a:r>
            <a:r>
              <a:rPr sz="2775" spc="-112" baseline="-21021" dirty="0">
                <a:solidFill>
                  <a:srgbClr val="006FC0"/>
                </a:solidFill>
                <a:latin typeface="Arial"/>
                <a:cs typeface="Arial"/>
              </a:rPr>
              <a:t>in</a:t>
            </a:r>
            <a:endParaRPr sz="2775" baseline="-21021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</a:pPr>
            <a:r>
              <a:rPr sz="2800" spc="70" dirty="0">
                <a:solidFill>
                  <a:srgbClr val="006FC0"/>
                </a:solidFill>
                <a:latin typeface="Arial"/>
                <a:cs typeface="Arial"/>
              </a:rPr>
              <a:t>= </a:t>
            </a:r>
            <a:r>
              <a:rPr sz="2800" spc="-90" dirty="0">
                <a:solidFill>
                  <a:srgbClr val="006FC0"/>
                </a:solidFill>
                <a:latin typeface="Arial"/>
                <a:cs typeface="Arial"/>
              </a:rPr>
              <a:t>A’BB</a:t>
            </a:r>
            <a:r>
              <a:rPr sz="2775" spc="-135" baseline="-21021" dirty="0">
                <a:solidFill>
                  <a:srgbClr val="006FC0"/>
                </a:solidFill>
                <a:latin typeface="Arial"/>
                <a:cs typeface="Arial"/>
              </a:rPr>
              <a:t>in</a:t>
            </a:r>
            <a:r>
              <a:rPr sz="2800" spc="-90" dirty="0">
                <a:solidFill>
                  <a:srgbClr val="006FC0"/>
                </a:solidFill>
                <a:latin typeface="Arial"/>
                <a:cs typeface="Arial"/>
              </a:rPr>
              <a:t>+ </a:t>
            </a:r>
            <a:r>
              <a:rPr sz="2800" spc="-15" dirty="0">
                <a:solidFill>
                  <a:srgbClr val="006FC0"/>
                </a:solidFill>
                <a:latin typeface="Arial"/>
                <a:cs typeface="Arial"/>
              </a:rPr>
              <a:t>A’B+ </a:t>
            </a:r>
            <a:r>
              <a:rPr sz="2800" spc="-135" dirty="0">
                <a:solidFill>
                  <a:srgbClr val="006FC0"/>
                </a:solidFill>
                <a:latin typeface="Arial"/>
                <a:cs typeface="Arial"/>
              </a:rPr>
              <a:t>ABB</a:t>
            </a:r>
            <a:r>
              <a:rPr sz="2775" spc="-202" baseline="-21021" dirty="0">
                <a:solidFill>
                  <a:srgbClr val="006FC0"/>
                </a:solidFill>
                <a:latin typeface="Arial"/>
                <a:cs typeface="Arial"/>
              </a:rPr>
              <a:t>in</a:t>
            </a:r>
            <a:r>
              <a:rPr sz="2800" spc="-135" dirty="0">
                <a:solidFill>
                  <a:srgbClr val="006FC0"/>
                </a:solidFill>
                <a:latin typeface="Arial"/>
                <a:cs typeface="Arial"/>
              </a:rPr>
              <a:t>+</a:t>
            </a:r>
            <a:r>
              <a:rPr sz="2800" spc="4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A’B’B</a:t>
            </a:r>
            <a:r>
              <a:rPr sz="2775" spc="-112" baseline="-21021" dirty="0">
                <a:solidFill>
                  <a:srgbClr val="006FC0"/>
                </a:solidFill>
                <a:latin typeface="Arial"/>
                <a:cs typeface="Arial"/>
              </a:rPr>
              <a:t>in</a:t>
            </a:r>
            <a:endParaRPr sz="2775" baseline="-21021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</a:pPr>
            <a:r>
              <a:rPr sz="2800" spc="70" dirty="0">
                <a:solidFill>
                  <a:srgbClr val="006FC0"/>
                </a:solidFill>
                <a:latin typeface="Arial"/>
                <a:cs typeface="Arial"/>
              </a:rPr>
              <a:t>= </a:t>
            </a:r>
            <a:r>
              <a:rPr sz="2800" spc="-40" dirty="0">
                <a:solidFill>
                  <a:srgbClr val="006FC0"/>
                </a:solidFill>
                <a:latin typeface="Arial"/>
                <a:cs typeface="Arial"/>
              </a:rPr>
              <a:t>A’B </a:t>
            </a:r>
            <a:r>
              <a:rPr sz="2800" spc="-200" dirty="0">
                <a:solidFill>
                  <a:srgbClr val="006FC0"/>
                </a:solidFill>
                <a:latin typeface="Arial"/>
                <a:cs typeface="Arial"/>
              </a:rPr>
              <a:t>(B</a:t>
            </a:r>
            <a:r>
              <a:rPr sz="2775" spc="-300" baseline="-21021" dirty="0">
                <a:solidFill>
                  <a:srgbClr val="006FC0"/>
                </a:solidFill>
                <a:latin typeface="Arial"/>
                <a:cs typeface="Arial"/>
              </a:rPr>
              <a:t>in</a:t>
            </a:r>
            <a:r>
              <a:rPr sz="2800" spc="-200" dirty="0">
                <a:solidFill>
                  <a:srgbClr val="006FC0"/>
                </a:solidFill>
                <a:latin typeface="Arial"/>
                <a:cs typeface="Arial"/>
              </a:rPr>
              <a:t>+1)</a:t>
            </a:r>
            <a:r>
              <a:rPr sz="2800" spc="37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70" dirty="0">
                <a:solidFill>
                  <a:srgbClr val="006FC0"/>
                </a:solidFill>
                <a:latin typeface="Arial"/>
                <a:cs typeface="Arial"/>
              </a:rPr>
              <a:t>+ </a:t>
            </a:r>
            <a:r>
              <a:rPr sz="2800" spc="-135" dirty="0">
                <a:solidFill>
                  <a:srgbClr val="006FC0"/>
                </a:solidFill>
                <a:latin typeface="Arial"/>
                <a:cs typeface="Arial"/>
              </a:rPr>
              <a:t>ABB</a:t>
            </a:r>
            <a:r>
              <a:rPr sz="2775" spc="-202" baseline="-21021" dirty="0">
                <a:solidFill>
                  <a:srgbClr val="006FC0"/>
                </a:solidFill>
                <a:latin typeface="Arial"/>
                <a:cs typeface="Arial"/>
              </a:rPr>
              <a:t>in</a:t>
            </a:r>
            <a:r>
              <a:rPr sz="2800" spc="-135" dirty="0">
                <a:solidFill>
                  <a:srgbClr val="006FC0"/>
                </a:solidFill>
                <a:latin typeface="Arial"/>
                <a:cs typeface="Arial"/>
              </a:rPr>
              <a:t>+</a:t>
            </a:r>
            <a:r>
              <a:rPr sz="2800" spc="-47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A’B’B</a:t>
            </a:r>
            <a:r>
              <a:rPr sz="2775" spc="-112" baseline="-21021" dirty="0">
                <a:solidFill>
                  <a:srgbClr val="006FC0"/>
                </a:solidFill>
                <a:latin typeface="Arial"/>
                <a:cs typeface="Arial"/>
              </a:rPr>
              <a:t>in</a:t>
            </a:r>
            <a:endParaRPr sz="2775" baseline="-21021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</a:pPr>
            <a:r>
              <a:rPr sz="2800" spc="70" dirty="0">
                <a:solidFill>
                  <a:srgbClr val="006FC0"/>
                </a:solidFill>
                <a:latin typeface="Arial"/>
                <a:cs typeface="Arial"/>
              </a:rPr>
              <a:t>= </a:t>
            </a:r>
            <a:r>
              <a:rPr sz="2800" spc="-15" dirty="0">
                <a:solidFill>
                  <a:srgbClr val="006FC0"/>
                </a:solidFill>
                <a:latin typeface="Arial"/>
                <a:cs typeface="Arial"/>
              </a:rPr>
              <a:t>A’B+ </a:t>
            </a:r>
            <a:r>
              <a:rPr sz="2800" spc="-135" dirty="0">
                <a:solidFill>
                  <a:srgbClr val="006FC0"/>
                </a:solidFill>
                <a:latin typeface="Arial"/>
                <a:cs typeface="Arial"/>
              </a:rPr>
              <a:t>ABB</a:t>
            </a:r>
            <a:r>
              <a:rPr sz="2775" spc="-202" baseline="-21021" dirty="0">
                <a:solidFill>
                  <a:srgbClr val="006FC0"/>
                </a:solidFill>
                <a:latin typeface="Arial"/>
                <a:cs typeface="Arial"/>
              </a:rPr>
              <a:t>in</a:t>
            </a:r>
            <a:r>
              <a:rPr sz="2800" spc="-135" dirty="0">
                <a:solidFill>
                  <a:srgbClr val="006FC0"/>
                </a:solidFill>
                <a:latin typeface="Arial"/>
                <a:cs typeface="Arial"/>
              </a:rPr>
              <a:t>+</a:t>
            </a:r>
            <a:r>
              <a:rPr sz="2800" spc="-2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A’B’B</a:t>
            </a:r>
            <a:r>
              <a:rPr sz="2775" spc="-112" baseline="-21021" dirty="0">
                <a:solidFill>
                  <a:srgbClr val="006FC0"/>
                </a:solidFill>
                <a:latin typeface="Arial"/>
                <a:cs typeface="Arial"/>
              </a:rPr>
              <a:t>in</a:t>
            </a:r>
            <a:endParaRPr sz="2775" baseline="-21021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</a:pPr>
            <a:r>
              <a:rPr sz="2800" spc="70" dirty="0">
                <a:solidFill>
                  <a:srgbClr val="006FC0"/>
                </a:solidFill>
                <a:latin typeface="Arial"/>
                <a:cs typeface="Arial"/>
              </a:rPr>
              <a:t>= </a:t>
            </a:r>
            <a:r>
              <a:rPr sz="2800" spc="-15" dirty="0">
                <a:solidFill>
                  <a:srgbClr val="006FC0"/>
                </a:solidFill>
                <a:latin typeface="Arial"/>
                <a:cs typeface="Arial"/>
              </a:rPr>
              <a:t>A’B+ </a:t>
            </a:r>
            <a:r>
              <a:rPr sz="2800" spc="-185" dirty="0">
                <a:solidFill>
                  <a:srgbClr val="006FC0"/>
                </a:solidFill>
                <a:latin typeface="Arial"/>
                <a:cs typeface="Arial"/>
              </a:rPr>
              <a:t>B</a:t>
            </a:r>
            <a:r>
              <a:rPr sz="2775" spc="-277" baseline="-21021" dirty="0">
                <a:solidFill>
                  <a:srgbClr val="006FC0"/>
                </a:solidFill>
                <a:latin typeface="Arial"/>
                <a:cs typeface="Arial"/>
              </a:rPr>
              <a:t>in</a:t>
            </a:r>
            <a:r>
              <a:rPr sz="2775" spc="-179" baseline="-21021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80" dirty="0">
                <a:solidFill>
                  <a:srgbClr val="006FC0"/>
                </a:solidFill>
                <a:latin typeface="Arial"/>
                <a:cs typeface="Arial"/>
              </a:rPr>
              <a:t>(AB+A’B’)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sp>
          <p:nvSpPr>
            <p:cNvPr id="14" name="object 14"/>
            <p:cNvSpPr/>
            <p:nvPr/>
          </p:nvSpPr>
          <p:spPr>
            <a:xfrm>
              <a:off x="8593835" y="6620255"/>
              <a:ext cx="550164" cy="23774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674607" y="6556243"/>
              <a:ext cx="469392" cy="3017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8787638" y="6649770"/>
            <a:ext cx="25654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rlito"/>
                <a:cs typeface="Carlito"/>
              </a:rPr>
              <a:t>55</a:t>
            </a:r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2371344" y="202679"/>
              <a:ext cx="4395215" cy="9342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95" dirty="0"/>
              <a:t>BINARY</a:t>
            </a:r>
            <a:r>
              <a:rPr spc="-75" dirty="0"/>
              <a:t> </a:t>
            </a:r>
            <a:r>
              <a:rPr spc="-95" dirty="0"/>
              <a:t>SUBTRACTOR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83540" y="1037255"/>
            <a:ext cx="7973695" cy="1405255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360045" algn="ctr">
              <a:lnSpc>
                <a:spcPct val="100000"/>
              </a:lnSpc>
              <a:spcBef>
                <a:spcPts val="830"/>
              </a:spcBef>
            </a:pPr>
            <a:r>
              <a:rPr sz="2000" b="1" spc="-195" dirty="0">
                <a:solidFill>
                  <a:srgbClr val="C00000"/>
                </a:solidFill>
                <a:latin typeface="Arial"/>
                <a:cs typeface="Arial"/>
              </a:rPr>
              <a:t>FULL</a:t>
            </a:r>
            <a:r>
              <a:rPr sz="2000" b="1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180" dirty="0">
                <a:solidFill>
                  <a:srgbClr val="C00000"/>
                </a:solidFill>
                <a:latin typeface="Arial"/>
                <a:cs typeface="Arial"/>
              </a:rPr>
              <a:t>SUBTRACTOR</a:t>
            </a:r>
            <a:endParaRPr sz="2000">
              <a:latin typeface="Arial"/>
              <a:cs typeface="Arial"/>
            </a:endParaRPr>
          </a:p>
          <a:p>
            <a:pPr marL="476884" marR="5080" indent="-464820">
              <a:lnSpc>
                <a:spcPct val="100000"/>
              </a:lnSpc>
              <a:spcBef>
                <a:spcPts val="1010"/>
              </a:spcBef>
              <a:buClr>
                <a:srgbClr val="F79546"/>
              </a:buClr>
              <a:buFont typeface="Wingdings"/>
              <a:buChar char=""/>
              <a:tabLst>
                <a:tab pos="476884" algn="l"/>
                <a:tab pos="477520" algn="l"/>
              </a:tabLst>
            </a:pP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Therefore, </a:t>
            </a:r>
            <a:r>
              <a:rPr sz="2800" spc="-305" dirty="0">
                <a:solidFill>
                  <a:srgbClr val="006FC0"/>
                </a:solidFill>
                <a:latin typeface="Arial"/>
                <a:cs typeface="Arial"/>
              </a:rPr>
              <a:t>we </a:t>
            </a:r>
            <a:r>
              <a:rPr sz="2800" spc="-280" dirty="0">
                <a:solidFill>
                  <a:srgbClr val="006FC0"/>
                </a:solidFill>
                <a:latin typeface="Arial"/>
                <a:cs typeface="Arial"/>
              </a:rPr>
              <a:t>can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implement </a:t>
            </a:r>
            <a:r>
              <a:rPr sz="2800" spc="-60" dirty="0">
                <a:solidFill>
                  <a:srgbClr val="006FC0"/>
                </a:solidFill>
                <a:latin typeface="Arial"/>
                <a:cs typeface="Arial"/>
              </a:rPr>
              <a:t>full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Subtractor </a:t>
            </a:r>
            <a:r>
              <a:rPr sz="2800" spc="-260" dirty="0">
                <a:solidFill>
                  <a:srgbClr val="006FC0"/>
                </a:solidFill>
                <a:latin typeface="Arial"/>
                <a:cs typeface="Arial"/>
              </a:rPr>
              <a:t>using </a:t>
            </a:r>
            <a:r>
              <a:rPr sz="2800" spc="-120" dirty="0">
                <a:solidFill>
                  <a:srgbClr val="006FC0"/>
                </a:solidFill>
                <a:latin typeface="Arial"/>
                <a:cs typeface="Arial"/>
              </a:rPr>
              <a:t>two  </a:t>
            </a:r>
            <a:r>
              <a:rPr sz="2800" spc="-155" dirty="0">
                <a:solidFill>
                  <a:srgbClr val="006FC0"/>
                </a:solidFill>
                <a:latin typeface="Arial"/>
                <a:cs typeface="Arial"/>
              </a:rPr>
              <a:t>half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Subtractor 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spc="-215" dirty="0">
                <a:solidFill>
                  <a:srgbClr val="006FC0"/>
                </a:solidFill>
                <a:latin typeface="Arial"/>
                <a:cs typeface="Arial"/>
              </a:rPr>
              <a:t>OR </a:t>
            </a:r>
            <a:r>
              <a:rPr sz="2800" spc="-260" dirty="0">
                <a:solidFill>
                  <a:srgbClr val="006FC0"/>
                </a:solidFill>
                <a:latin typeface="Arial"/>
                <a:cs typeface="Arial"/>
              </a:rPr>
              <a:t>gate</a:t>
            </a:r>
            <a:r>
              <a:rPr sz="2800" spc="-31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360" dirty="0">
                <a:solidFill>
                  <a:srgbClr val="006FC0"/>
                </a:solidFill>
                <a:latin typeface="Arial"/>
                <a:cs typeface="Arial"/>
              </a:rPr>
              <a:t>as,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8540" y="5798616"/>
            <a:ext cx="809434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210" dirty="0">
                <a:latin typeface="Arial"/>
                <a:cs typeface="Arial"/>
              </a:rPr>
              <a:t>Implementation </a:t>
            </a:r>
            <a:r>
              <a:rPr sz="2200" b="1" spc="-175" dirty="0">
                <a:latin typeface="Arial"/>
                <a:cs typeface="Arial"/>
              </a:rPr>
              <a:t>of </a:t>
            </a:r>
            <a:r>
              <a:rPr sz="2200" b="1" spc="-165" dirty="0">
                <a:latin typeface="Arial"/>
                <a:cs typeface="Arial"/>
              </a:rPr>
              <a:t>full </a:t>
            </a:r>
            <a:r>
              <a:rPr sz="2200" b="1" spc="-225" dirty="0">
                <a:latin typeface="Arial"/>
                <a:cs typeface="Arial"/>
              </a:rPr>
              <a:t>Subtractor </a:t>
            </a:r>
            <a:r>
              <a:rPr sz="2200" b="1" spc="-200" dirty="0">
                <a:latin typeface="Arial"/>
                <a:cs typeface="Arial"/>
              </a:rPr>
              <a:t>with </a:t>
            </a:r>
            <a:r>
              <a:rPr sz="2200" b="1" spc="-210" dirty="0">
                <a:latin typeface="Arial"/>
                <a:cs typeface="Arial"/>
              </a:rPr>
              <a:t>two </a:t>
            </a:r>
            <a:r>
              <a:rPr sz="2200" b="1" spc="-204" dirty="0">
                <a:latin typeface="Arial"/>
                <a:cs typeface="Arial"/>
              </a:rPr>
              <a:t>half </a:t>
            </a:r>
            <a:r>
              <a:rPr sz="2200" b="1" spc="-229" dirty="0">
                <a:latin typeface="Arial"/>
                <a:cs typeface="Arial"/>
              </a:rPr>
              <a:t>Subtractor </a:t>
            </a:r>
            <a:r>
              <a:rPr sz="2200" b="1" spc="-280" dirty="0">
                <a:latin typeface="Arial"/>
                <a:cs typeface="Arial"/>
              </a:rPr>
              <a:t>and </a:t>
            </a:r>
            <a:r>
              <a:rPr sz="2200" b="1" spc="-295" dirty="0">
                <a:latin typeface="Arial"/>
                <a:cs typeface="Arial"/>
              </a:rPr>
              <a:t>an </a:t>
            </a:r>
            <a:r>
              <a:rPr sz="2200" b="1" spc="-170" dirty="0">
                <a:latin typeface="Arial"/>
                <a:cs typeface="Arial"/>
              </a:rPr>
              <a:t>OR</a:t>
            </a:r>
            <a:r>
              <a:rPr sz="2200" b="1" spc="215" dirty="0">
                <a:latin typeface="Arial"/>
                <a:cs typeface="Arial"/>
              </a:rPr>
              <a:t> </a:t>
            </a:r>
            <a:r>
              <a:rPr sz="2200" b="1" spc="-260" dirty="0">
                <a:latin typeface="Arial"/>
                <a:cs typeface="Arial"/>
              </a:rPr>
              <a:t>gate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066800" y="2667000"/>
            <a:ext cx="8082280" cy="4191000"/>
            <a:chOff x="1066800" y="2667000"/>
            <a:chExt cx="8082280" cy="4191000"/>
          </a:xfrm>
        </p:grpSpPr>
        <p:sp>
          <p:nvSpPr>
            <p:cNvPr id="10" name="object 10"/>
            <p:cNvSpPr/>
            <p:nvPr/>
          </p:nvSpPr>
          <p:spPr>
            <a:xfrm>
              <a:off x="8593835" y="6620254"/>
              <a:ext cx="550164" cy="23774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74607" y="6556242"/>
              <a:ext cx="469392" cy="3017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641080" y="6644640"/>
              <a:ext cx="502920" cy="1828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66800" y="2667000"/>
              <a:ext cx="6841235" cy="277368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8813038" y="6649770"/>
            <a:ext cx="20574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spc="-5" dirty="0">
                <a:solidFill>
                  <a:srgbClr val="FFFFFF"/>
                </a:solidFill>
                <a:latin typeface="Carlito"/>
                <a:cs typeface="Carlito"/>
              </a:rPr>
              <a:t>56</a:t>
            </a:r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1505711" y="202679"/>
              <a:ext cx="6128003" cy="9342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779777" y="321386"/>
            <a:ext cx="558355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95" dirty="0"/>
              <a:t>BINARY </a:t>
            </a:r>
            <a:r>
              <a:rPr spc="-45" dirty="0"/>
              <a:t>ADDER </a:t>
            </a:r>
            <a:r>
              <a:rPr spc="-225" dirty="0"/>
              <a:t>&amp;</a:t>
            </a:r>
            <a:r>
              <a:rPr spc="15" dirty="0"/>
              <a:t> </a:t>
            </a:r>
            <a:r>
              <a:rPr spc="-95" dirty="0"/>
              <a:t>SUBTRACTOR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83540" y="1037255"/>
            <a:ext cx="8377555" cy="4819650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R="34925" algn="ctr">
              <a:lnSpc>
                <a:spcPct val="100000"/>
              </a:lnSpc>
              <a:spcBef>
                <a:spcPts val="830"/>
              </a:spcBef>
            </a:pPr>
            <a:r>
              <a:rPr sz="2000" b="1" spc="-145" dirty="0">
                <a:solidFill>
                  <a:srgbClr val="C00000"/>
                </a:solidFill>
                <a:latin typeface="Arial"/>
                <a:cs typeface="Arial"/>
              </a:rPr>
              <a:t>APPLICATIONS</a:t>
            </a:r>
            <a:endParaRPr sz="2000">
              <a:latin typeface="Arial"/>
              <a:cs typeface="Arial"/>
            </a:endParaRPr>
          </a:p>
          <a:p>
            <a:pPr marL="476884" marR="5080" indent="-464820" algn="just">
              <a:lnSpc>
                <a:spcPct val="100000"/>
              </a:lnSpc>
              <a:spcBef>
                <a:spcPts val="1010"/>
              </a:spcBef>
              <a:buClr>
                <a:srgbClr val="F79546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Adders </a:t>
            </a:r>
            <a:r>
              <a:rPr sz="2800" spc="-80" dirty="0">
                <a:solidFill>
                  <a:srgbClr val="006FC0"/>
                </a:solidFill>
                <a:latin typeface="Arial"/>
                <a:cs typeface="Arial"/>
              </a:rPr>
              <a:t>&amp; </a:t>
            </a:r>
            <a:r>
              <a:rPr sz="2800" spc="-200" dirty="0">
                <a:solidFill>
                  <a:srgbClr val="006FC0"/>
                </a:solidFill>
                <a:latin typeface="Arial"/>
                <a:cs typeface="Arial"/>
              </a:rPr>
              <a:t>Subtractors 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are </a:t>
            </a:r>
            <a:r>
              <a:rPr sz="2800" spc="-100" dirty="0">
                <a:solidFill>
                  <a:srgbClr val="006FC0"/>
                </a:solidFill>
                <a:latin typeface="Arial"/>
                <a:cs typeface="Arial"/>
              </a:rPr>
              <a:t>wildly </a:t>
            </a:r>
            <a:r>
              <a:rPr sz="2800" spc="-310" dirty="0">
                <a:solidFill>
                  <a:srgbClr val="006FC0"/>
                </a:solidFill>
                <a:latin typeface="Arial"/>
                <a:cs typeface="Arial"/>
              </a:rPr>
              <a:t>used </a:t>
            </a:r>
            <a:r>
              <a:rPr sz="2800" spc="-110" dirty="0">
                <a:solidFill>
                  <a:srgbClr val="006FC0"/>
                </a:solidFill>
                <a:latin typeface="Arial"/>
                <a:cs typeface="Arial"/>
              </a:rPr>
              <a:t>in </a:t>
            </a:r>
            <a:r>
              <a:rPr sz="2800" spc="-120" dirty="0">
                <a:solidFill>
                  <a:srgbClr val="006FC0"/>
                </a:solidFill>
                <a:latin typeface="Arial"/>
                <a:cs typeface="Arial"/>
              </a:rPr>
              <a:t>in </a:t>
            </a:r>
            <a:r>
              <a:rPr sz="2800" spc="-170" dirty="0">
                <a:latin typeface="Arial"/>
                <a:cs typeface="Arial"/>
              </a:rPr>
              <a:t>computer’s  </a:t>
            </a:r>
            <a:r>
              <a:rPr sz="2800" spc="-30" dirty="0">
                <a:latin typeface="Arial"/>
                <a:cs typeface="Arial"/>
              </a:rPr>
              <a:t>ALU </a:t>
            </a:r>
            <a:r>
              <a:rPr sz="2800" spc="-95" dirty="0">
                <a:solidFill>
                  <a:srgbClr val="006FC0"/>
                </a:solidFill>
                <a:latin typeface="Arial"/>
                <a:cs typeface="Arial"/>
              </a:rPr>
              <a:t>(Arithmetic </a:t>
            </a:r>
            <a:r>
              <a:rPr sz="2800" spc="-160" dirty="0">
                <a:solidFill>
                  <a:srgbClr val="006FC0"/>
                </a:solidFill>
                <a:latin typeface="Arial"/>
                <a:cs typeface="Arial"/>
              </a:rPr>
              <a:t>logic </a:t>
            </a:r>
            <a:r>
              <a:rPr sz="2800" spc="-125" dirty="0">
                <a:solidFill>
                  <a:srgbClr val="006FC0"/>
                </a:solidFill>
                <a:latin typeface="Arial"/>
                <a:cs typeface="Arial"/>
              </a:rPr>
              <a:t>unit) </a:t>
            </a:r>
            <a:r>
              <a:rPr sz="2800" spc="-50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800" spc="-185" dirty="0">
                <a:solidFill>
                  <a:srgbClr val="006FC0"/>
                </a:solidFill>
                <a:latin typeface="Arial"/>
                <a:cs typeface="Arial"/>
              </a:rPr>
              <a:t>compute </a:t>
            </a:r>
            <a:r>
              <a:rPr sz="2800" spc="-135" dirty="0">
                <a:solidFill>
                  <a:srgbClr val="006FC0"/>
                </a:solidFill>
                <a:latin typeface="Arial"/>
                <a:cs typeface="Arial"/>
              </a:rPr>
              <a:t>addition </a:t>
            </a:r>
            <a:r>
              <a:rPr sz="2800" spc="-459" dirty="0">
                <a:solidFill>
                  <a:srgbClr val="006FC0"/>
                </a:solidFill>
                <a:latin typeface="Arial"/>
                <a:cs typeface="Arial"/>
              </a:rPr>
              <a:t>as </a:t>
            </a:r>
            <a:r>
              <a:rPr sz="2800" spc="-160" dirty="0">
                <a:solidFill>
                  <a:srgbClr val="006FC0"/>
                </a:solidFill>
                <a:latin typeface="Arial"/>
                <a:cs typeface="Arial"/>
              </a:rPr>
              <a:t>well  </a:t>
            </a:r>
            <a:r>
              <a:rPr sz="2800" spc="-455" dirty="0">
                <a:solidFill>
                  <a:srgbClr val="006FC0"/>
                </a:solidFill>
                <a:latin typeface="Arial"/>
                <a:cs typeface="Arial"/>
              </a:rPr>
              <a:t>as </a:t>
            </a:r>
            <a:r>
              <a:rPr sz="2800" spc="-295" dirty="0">
                <a:latin typeface="Arial"/>
                <a:cs typeface="Arial"/>
              </a:rPr>
              <a:t>CPU </a:t>
            </a:r>
            <a:r>
              <a:rPr sz="2800" spc="-180" dirty="0">
                <a:solidFill>
                  <a:srgbClr val="006FC0"/>
                </a:solidFill>
                <a:latin typeface="Arial"/>
                <a:cs typeface="Arial"/>
              </a:rPr>
              <a:t>(Central </a:t>
            </a:r>
            <a:r>
              <a:rPr sz="2800" spc="-290" dirty="0">
                <a:solidFill>
                  <a:srgbClr val="006FC0"/>
                </a:solidFill>
                <a:latin typeface="Arial"/>
                <a:cs typeface="Arial"/>
              </a:rPr>
              <a:t>Processing </a:t>
            </a:r>
            <a:r>
              <a:rPr sz="2800" spc="-125" dirty="0">
                <a:solidFill>
                  <a:srgbClr val="006FC0"/>
                </a:solidFill>
                <a:latin typeface="Arial"/>
                <a:cs typeface="Arial"/>
              </a:rPr>
              <a:t>unit) 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spc="-270" dirty="0">
                <a:latin typeface="Arial"/>
                <a:cs typeface="Arial"/>
              </a:rPr>
              <a:t>GPU </a:t>
            </a:r>
            <a:r>
              <a:rPr sz="2800" spc="-220" dirty="0">
                <a:solidFill>
                  <a:srgbClr val="006FC0"/>
                </a:solidFill>
                <a:latin typeface="Arial"/>
                <a:cs typeface="Arial"/>
              </a:rPr>
              <a:t>(Graphics  </a:t>
            </a:r>
            <a:r>
              <a:rPr sz="2800" spc="-290" dirty="0">
                <a:solidFill>
                  <a:srgbClr val="006FC0"/>
                </a:solidFill>
                <a:latin typeface="Arial"/>
                <a:cs typeface="Arial"/>
              </a:rPr>
              <a:t>Processing </a:t>
            </a:r>
            <a:r>
              <a:rPr sz="2800" spc="-125" dirty="0">
                <a:solidFill>
                  <a:srgbClr val="006FC0"/>
                </a:solidFill>
                <a:latin typeface="Arial"/>
                <a:cs typeface="Arial"/>
              </a:rPr>
              <a:t>unit) </a:t>
            </a:r>
            <a:r>
              <a:rPr sz="2800" spc="-55" dirty="0">
                <a:solidFill>
                  <a:srgbClr val="006FC0"/>
                </a:solidFill>
                <a:latin typeface="Arial"/>
                <a:cs typeface="Arial"/>
              </a:rPr>
              <a:t>for </a:t>
            </a:r>
            <a:r>
              <a:rPr sz="2800" spc="-240" dirty="0">
                <a:solidFill>
                  <a:srgbClr val="006FC0"/>
                </a:solidFill>
                <a:latin typeface="Arial"/>
                <a:cs typeface="Arial"/>
              </a:rPr>
              <a:t>graphics </a:t>
            </a:r>
            <a:r>
              <a:rPr sz="2800" spc="-185" dirty="0">
                <a:solidFill>
                  <a:srgbClr val="006FC0"/>
                </a:solidFill>
                <a:latin typeface="Arial"/>
                <a:cs typeface="Arial"/>
              </a:rPr>
              <a:t>applications </a:t>
            </a:r>
            <a:r>
              <a:rPr sz="2800" spc="-60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800" spc="-220" dirty="0">
                <a:solidFill>
                  <a:srgbClr val="006FC0"/>
                </a:solidFill>
                <a:latin typeface="Arial"/>
                <a:cs typeface="Arial"/>
              </a:rPr>
              <a:t>reduce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the  </a:t>
            </a:r>
            <a:r>
              <a:rPr sz="2800" spc="-90" dirty="0">
                <a:solidFill>
                  <a:srgbClr val="006FC0"/>
                </a:solidFill>
                <a:latin typeface="Arial"/>
                <a:cs typeface="Arial"/>
              </a:rPr>
              <a:t>circuit</a:t>
            </a:r>
            <a:r>
              <a:rPr sz="2800" spc="-2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145" dirty="0">
                <a:solidFill>
                  <a:srgbClr val="006FC0"/>
                </a:solidFill>
                <a:latin typeface="Arial"/>
                <a:cs typeface="Arial"/>
              </a:rPr>
              <a:t>complexity.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F79546"/>
              </a:buClr>
              <a:buFont typeface="Wingdings"/>
              <a:buChar char=""/>
            </a:pPr>
            <a:endParaRPr sz="2900">
              <a:latin typeface="Arial"/>
              <a:cs typeface="Arial"/>
            </a:endParaRPr>
          </a:p>
          <a:p>
            <a:pPr marL="476884" marR="5080" indent="-464820" algn="just">
              <a:lnSpc>
                <a:spcPct val="100000"/>
              </a:lnSpc>
              <a:buClr>
                <a:srgbClr val="F79546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Adder 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spc="-160" dirty="0">
                <a:solidFill>
                  <a:srgbClr val="006FC0"/>
                </a:solidFill>
                <a:latin typeface="Arial"/>
                <a:cs typeface="Arial"/>
              </a:rPr>
              <a:t>subtractor 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are </a:t>
            </a:r>
            <a:r>
              <a:rPr sz="2800" spc="-220" dirty="0">
                <a:solidFill>
                  <a:srgbClr val="006FC0"/>
                </a:solidFill>
                <a:latin typeface="Arial"/>
                <a:cs typeface="Arial"/>
              </a:rPr>
              <a:t>basically </a:t>
            </a:r>
            <a:r>
              <a:rPr sz="2800" spc="-310" dirty="0">
                <a:solidFill>
                  <a:srgbClr val="006FC0"/>
                </a:solidFill>
                <a:latin typeface="Arial"/>
                <a:cs typeface="Arial"/>
              </a:rPr>
              <a:t>used </a:t>
            </a:r>
            <a:r>
              <a:rPr sz="2800" spc="-55" dirty="0">
                <a:solidFill>
                  <a:srgbClr val="006FC0"/>
                </a:solidFill>
                <a:latin typeface="Arial"/>
                <a:cs typeface="Arial"/>
              </a:rPr>
              <a:t>for </a:t>
            </a:r>
            <a:r>
              <a:rPr sz="2800" spc="-150" dirty="0">
                <a:solidFill>
                  <a:srgbClr val="006FC0"/>
                </a:solidFill>
                <a:latin typeface="Arial"/>
                <a:cs typeface="Arial"/>
              </a:rPr>
              <a:t>performing  </a:t>
            </a:r>
            <a:r>
              <a:rPr sz="2800" spc="-145" dirty="0">
                <a:solidFill>
                  <a:srgbClr val="006FC0"/>
                </a:solidFill>
                <a:latin typeface="Arial"/>
                <a:cs typeface="Arial"/>
              </a:rPr>
              <a:t>arithmetical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functions</a:t>
            </a:r>
            <a:r>
              <a:rPr sz="2800" spc="44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145" dirty="0">
                <a:solidFill>
                  <a:srgbClr val="006FC0"/>
                </a:solidFill>
                <a:latin typeface="Arial"/>
                <a:cs typeface="Arial"/>
              </a:rPr>
              <a:t>like </a:t>
            </a:r>
            <a:r>
              <a:rPr sz="2800" spc="-135" dirty="0">
                <a:solidFill>
                  <a:srgbClr val="006FC0"/>
                </a:solidFill>
                <a:latin typeface="Arial"/>
                <a:cs typeface="Arial"/>
              </a:rPr>
              <a:t>addition,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subtraction,  </a:t>
            </a:r>
            <a:r>
              <a:rPr sz="2800" spc="-110" dirty="0">
                <a:solidFill>
                  <a:srgbClr val="006FC0"/>
                </a:solidFill>
                <a:latin typeface="Arial"/>
                <a:cs typeface="Arial"/>
              </a:rPr>
              <a:t>multiplication </a:t>
            </a:r>
            <a:r>
              <a:rPr sz="2800" spc="-260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spc="-160" dirty="0">
                <a:solidFill>
                  <a:srgbClr val="006FC0"/>
                </a:solidFill>
                <a:latin typeface="Arial"/>
                <a:cs typeface="Arial"/>
              </a:rPr>
              <a:t>division </a:t>
            </a:r>
            <a:r>
              <a:rPr sz="2800" spc="-110" dirty="0">
                <a:solidFill>
                  <a:srgbClr val="006FC0"/>
                </a:solidFill>
                <a:latin typeface="Arial"/>
                <a:cs typeface="Arial"/>
              </a:rPr>
              <a:t>in </a:t>
            </a:r>
            <a:r>
              <a:rPr sz="2800" spc="-155" dirty="0">
                <a:latin typeface="Arial"/>
                <a:cs typeface="Arial"/>
              </a:rPr>
              <a:t>electronic </a:t>
            </a:r>
            <a:r>
              <a:rPr sz="2800" spc="-195" dirty="0">
                <a:latin typeface="Arial"/>
                <a:cs typeface="Arial"/>
              </a:rPr>
              <a:t>calculators 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spc="-254" dirty="0">
                <a:latin typeface="Arial"/>
                <a:cs typeface="Arial"/>
              </a:rPr>
              <a:t> </a:t>
            </a:r>
            <a:r>
              <a:rPr sz="2800" spc="-130" dirty="0">
                <a:latin typeface="Arial"/>
                <a:cs typeface="Arial"/>
              </a:rPr>
              <a:t>digital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spc="-190" dirty="0">
                <a:latin typeface="Arial"/>
                <a:cs typeface="Arial"/>
              </a:rPr>
              <a:t>instruments.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sp>
          <p:nvSpPr>
            <p:cNvPr id="9" name="object 9"/>
            <p:cNvSpPr/>
            <p:nvPr/>
          </p:nvSpPr>
          <p:spPr>
            <a:xfrm>
              <a:off x="8593835" y="6620255"/>
              <a:ext cx="550164" cy="23774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674607" y="6556243"/>
              <a:ext cx="469392" cy="3017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813038" y="6649770"/>
            <a:ext cx="20574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spc="-5" dirty="0">
                <a:solidFill>
                  <a:srgbClr val="FFFFFF"/>
                </a:solidFill>
                <a:latin typeface="Carlito"/>
                <a:cs typeface="Carlito"/>
              </a:rPr>
              <a:t>56</a:t>
            </a:r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1505711" y="202679"/>
              <a:ext cx="6128003" cy="9342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779777" y="321386"/>
            <a:ext cx="558355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95" dirty="0"/>
              <a:t>BINARY </a:t>
            </a:r>
            <a:r>
              <a:rPr spc="-45" dirty="0"/>
              <a:t>ADDER </a:t>
            </a:r>
            <a:r>
              <a:rPr spc="-225" dirty="0"/>
              <a:t>&amp;</a:t>
            </a:r>
            <a:r>
              <a:rPr spc="15" dirty="0"/>
              <a:t> </a:t>
            </a:r>
            <a:r>
              <a:rPr spc="-95" dirty="0"/>
              <a:t>SUBTRACTOR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83540" y="1129664"/>
            <a:ext cx="8378190" cy="47275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5560" algn="ctr">
              <a:lnSpc>
                <a:spcPct val="100000"/>
              </a:lnSpc>
              <a:spcBef>
                <a:spcPts val="105"/>
              </a:spcBef>
            </a:pPr>
            <a:r>
              <a:rPr sz="2000" b="1" spc="-145" dirty="0">
                <a:solidFill>
                  <a:srgbClr val="C00000"/>
                </a:solidFill>
                <a:latin typeface="Arial"/>
                <a:cs typeface="Arial"/>
              </a:rPr>
              <a:t>APPLICATIONS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00">
              <a:latin typeface="Arial"/>
              <a:cs typeface="Arial"/>
            </a:endParaRPr>
          </a:p>
          <a:p>
            <a:pPr marL="476884" marR="6350" indent="-464820" algn="just">
              <a:lnSpc>
                <a:spcPct val="100000"/>
              </a:lnSpc>
              <a:buClr>
                <a:srgbClr val="F79546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-125" dirty="0">
                <a:latin typeface="Arial"/>
                <a:cs typeface="Arial"/>
              </a:rPr>
              <a:t>Microcontrollers </a:t>
            </a:r>
            <a:r>
              <a:rPr sz="2800" spc="-360" dirty="0">
                <a:solidFill>
                  <a:srgbClr val="006FC0"/>
                </a:solidFill>
                <a:latin typeface="Arial"/>
                <a:cs typeface="Arial"/>
              </a:rPr>
              <a:t>use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adders </a:t>
            </a:r>
            <a:r>
              <a:rPr sz="2800" spc="-55" dirty="0">
                <a:solidFill>
                  <a:srgbClr val="006FC0"/>
                </a:solidFill>
                <a:latin typeface="Arial"/>
                <a:cs typeface="Arial"/>
              </a:rPr>
              <a:t>for </a:t>
            </a:r>
            <a:r>
              <a:rPr sz="2800" spc="-135" dirty="0">
                <a:solidFill>
                  <a:srgbClr val="006FC0"/>
                </a:solidFill>
                <a:latin typeface="Arial"/>
                <a:cs typeface="Arial"/>
              </a:rPr>
              <a:t>arithmetic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additions, </a:t>
            </a:r>
            <a:r>
              <a:rPr sz="2800" spc="-434" dirty="0">
                <a:solidFill>
                  <a:srgbClr val="006FC0"/>
                </a:solidFill>
                <a:latin typeface="Arial"/>
                <a:cs typeface="Arial"/>
              </a:rPr>
              <a:t>PC </a:t>
            </a:r>
            <a:r>
              <a:rPr sz="2800" spc="-9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195" dirty="0">
                <a:solidFill>
                  <a:srgbClr val="006FC0"/>
                </a:solidFill>
                <a:latin typeface="Arial"/>
                <a:cs typeface="Arial"/>
              </a:rPr>
              <a:t>(program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counter) 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and</a:t>
            </a:r>
            <a:r>
              <a:rPr sz="2800" spc="-19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timers.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F79546"/>
              </a:buClr>
              <a:buFont typeface="Wingdings"/>
              <a:buChar char=""/>
            </a:pPr>
            <a:endParaRPr sz="2900">
              <a:latin typeface="Arial"/>
              <a:cs typeface="Arial"/>
            </a:endParaRPr>
          </a:p>
          <a:p>
            <a:pPr marL="476884" marR="5080" indent="-464820" algn="just">
              <a:lnSpc>
                <a:spcPct val="100000"/>
              </a:lnSpc>
              <a:spcBef>
                <a:spcPts val="5"/>
              </a:spcBef>
              <a:buClr>
                <a:srgbClr val="F79546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35" dirty="0">
                <a:solidFill>
                  <a:srgbClr val="006FC0"/>
                </a:solidFill>
                <a:latin typeface="Arial"/>
                <a:cs typeface="Arial"/>
              </a:rPr>
              <a:t>It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800" spc="-275" dirty="0">
                <a:solidFill>
                  <a:srgbClr val="006FC0"/>
                </a:solidFill>
                <a:latin typeface="Arial"/>
                <a:cs typeface="Arial"/>
              </a:rPr>
              <a:t>also </a:t>
            </a:r>
            <a:r>
              <a:rPr sz="2800" spc="-310" dirty="0">
                <a:solidFill>
                  <a:srgbClr val="006FC0"/>
                </a:solidFill>
                <a:latin typeface="Arial"/>
                <a:cs typeface="Arial"/>
              </a:rPr>
              <a:t>used </a:t>
            </a:r>
            <a:r>
              <a:rPr sz="2800" spc="-110" dirty="0">
                <a:solidFill>
                  <a:srgbClr val="006FC0"/>
                </a:solidFill>
                <a:latin typeface="Arial"/>
                <a:cs typeface="Arial"/>
              </a:rPr>
              <a:t>in </a:t>
            </a:r>
            <a:r>
              <a:rPr sz="2800" spc="-220" dirty="0">
                <a:latin typeface="Arial"/>
                <a:cs typeface="Arial"/>
              </a:rPr>
              <a:t>microprocessors </a:t>
            </a:r>
            <a:r>
              <a:rPr sz="2800" spc="-50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800" spc="-200" dirty="0">
                <a:solidFill>
                  <a:srgbClr val="006FC0"/>
                </a:solidFill>
                <a:latin typeface="Arial"/>
                <a:cs typeface="Arial"/>
              </a:rPr>
              <a:t>calculate </a:t>
            </a:r>
            <a:r>
              <a:rPr sz="2800" spc="-285" dirty="0">
                <a:solidFill>
                  <a:srgbClr val="006FC0"/>
                </a:solidFill>
                <a:latin typeface="Arial"/>
                <a:cs typeface="Arial"/>
              </a:rPr>
              <a:t>address,  </a:t>
            </a:r>
            <a:r>
              <a:rPr sz="2800" spc="-185" dirty="0">
                <a:solidFill>
                  <a:srgbClr val="006FC0"/>
                </a:solidFill>
                <a:latin typeface="Arial"/>
                <a:cs typeface="Arial"/>
              </a:rPr>
              <a:t>table </a:t>
            </a:r>
            <a:r>
              <a:rPr sz="2800" spc="-210" dirty="0">
                <a:solidFill>
                  <a:srgbClr val="006FC0"/>
                </a:solidFill>
                <a:latin typeface="Arial"/>
                <a:cs typeface="Arial"/>
              </a:rPr>
              <a:t>indices,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increment 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spc="-204" dirty="0">
                <a:solidFill>
                  <a:srgbClr val="006FC0"/>
                </a:solidFill>
                <a:latin typeface="Arial"/>
                <a:cs typeface="Arial"/>
              </a:rPr>
              <a:t>decrement </a:t>
            </a:r>
            <a:r>
              <a:rPr sz="2800" spc="-190" dirty="0">
                <a:solidFill>
                  <a:srgbClr val="006FC0"/>
                </a:solidFill>
                <a:latin typeface="Arial"/>
                <a:cs typeface="Arial"/>
              </a:rPr>
              <a:t>operators 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and 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slimier</a:t>
            </a:r>
            <a:r>
              <a:rPr sz="2800" spc="-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190" dirty="0">
                <a:solidFill>
                  <a:srgbClr val="006FC0"/>
                </a:solidFill>
                <a:latin typeface="Arial"/>
                <a:cs typeface="Arial"/>
              </a:rPr>
              <a:t>operations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F79546"/>
              </a:buClr>
              <a:buFont typeface="Wingdings"/>
              <a:buChar char=""/>
            </a:pPr>
            <a:endParaRPr sz="2900">
              <a:latin typeface="Arial"/>
              <a:cs typeface="Arial"/>
            </a:endParaRPr>
          </a:p>
          <a:p>
            <a:pPr marL="476884" marR="6350" indent="-464820" algn="just">
              <a:lnSpc>
                <a:spcPct val="100000"/>
              </a:lnSpc>
              <a:buClr>
                <a:srgbClr val="F79546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35" dirty="0">
                <a:solidFill>
                  <a:srgbClr val="006FC0"/>
                </a:solidFill>
                <a:latin typeface="Arial"/>
                <a:cs typeface="Arial"/>
              </a:rPr>
              <a:t>It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800" spc="-275" dirty="0">
                <a:solidFill>
                  <a:srgbClr val="006FC0"/>
                </a:solidFill>
                <a:latin typeface="Arial"/>
                <a:cs typeface="Arial"/>
              </a:rPr>
              <a:t>also </a:t>
            </a:r>
            <a:r>
              <a:rPr sz="2800" spc="-310" dirty="0">
                <a:solidFill>
                  <a:srgbClr val="006FC0"/>
                </a:solidFill>
                <a:latin typeface="Arial"/>
                <a:cs typeface="Arial"/>
              </a:rPr>
              <a:t>used </a:t>
            </a:r>
            <a:r>
              <a:rPr sz="2800" spc="-120" dirty="0">
                <a:solidFill>
                  <a:srgbClr val="006FC0"/>
                </a:solidFill>
                <a:latin typeface="Arial"/>
                <a:cs typeface="Arial"/>
              </a:rPr>
              <a:t>in </a:t>
            </a:r>
            <a:r>
              <a:rPr sz="2800" spc="-170" dirty="0">
                <a:latin typeface="Arial"/>
                <a:cs typeface="Arial"/>
              </a:rPr>
              <a:t>networking </a:t>
            </a:r>
            <a:r>
              <a:rPr sz="2800" spc="-254" dirty="0">
                <a:latin typeface="Arial"/>
                <a:cs typeface="Arial"/>
              </a:rPr>
              <a:t>and </a:t>
            </a:r>
            <a:r>
              <a:rPr sz="2800" spc="-465" dirty="0">
                <a:latin typeface="Arial"/>
                <a:cs typeface="Arial"/>
              </a:rPr>
              <a:t>DSP </a:t>
            </a:r>
            <a:r>
              <a:rPr sz="2800" spc="-155" dirty="0">
                <a:solidFill>
                  <a:srgbClr val="006FC0"/>
                </a:solidFill>
                <a:latin typeface="Arial"/>
                <a:cs typeface="Arial"/>
              </a:rPr>
              <a:t>(Digital 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signal  </a:t>
            </a: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processor) </a:t>
            </a:r>
            <a:r>
              <a:rPr sz="2800" spc="-150" dirty="0">
                <a:solidFill>
                  <a:srgbClr val="006FC0"/>
                </a:solidFill>
                <a:latin typeface="Arial"/>
                <a:cs typeface="Arial"/>
              </a:rPr>
              <a:t>oriented</a:t>
            </a:r>
            <a:r>
              <a:rPr sz="2800" spc="-35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285" dirty="0">
                <a:solidFill>
                  <a:srgbClr val="006FC0"/>
                </a:solidFill>
                <a:latin typeface="Arial"/>
                <a:cs typeface="Arial"/>
              </a:rPr>
              <a:t>system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sp>
          <p:nvSpPr>
            <p:cNvPr id="9" name="object 9"/>
            <p:cNvSpPr/>
            <p:nvPr/>
          </p:nvSpPr>
          <p:spPr>
            <a:xfrm>
              <a:off x="8593835" y="6620255"/>
              <a:ext cx="550164" cy="23774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674607" y="6556243"/>
              <a:ext cx="469392" cy="3017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787638" y="6649770"/>
            <a:ext cx="25654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rlito"/>
                <a:cs typeface="Carlito"/>
              </a:rPr>
              <a:t>56</a:t>
            </a:r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9080" cy="6841490"/>
            <a:chOff x="0" y="16764"/>
            <a:chExt cx="9149080" cy="6841490"/>
          </a:xfrm>
        </p:grpSpPr>
        <p:sp>
          <p:nvSpPr>
            <p:cNvPr id="3" name="object 3"/>
            <p:cNvSpPr/>
            <p:nvPr/>
          </p:nvSpPr>
          <p:spPr>
            <a:xfrm>
              <a:off x="1493519" y="1455419"/>
              <a:ext cx="6983730" cy="409270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593835" y="6620254"/>
              <a:ext cx="550164" cy="23774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674607" y="6556243"/>
              <a:ext cx="469392" cy="30175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641080" y="6644640"/>
              <a:ext cx="502920" cy="18288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787638" y="6649770"/>
            <a:ext cx="25654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rlito"/>
                <a:cs typeface="Carlito"/>
              </a:rPr>
              <a:t>57</a:t>
            </a:r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2493264" y="155460"/>
              <a:ext cx="4152899" cy="104087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798191" y="289382"/>
            <a:ext cx="354711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45" dirty="0"/>
              <a:t>PARALLEL</a:t>
            </a:r>
            <a:r>
              <a:rPr sz="3600" spc="-95" dirty="0"/>
              <a:t> </a:t>
            </a:r>
            <a:r>
              <a:rPr sz="3600" spc="-55" dirty="0"/>
              <a:t>ADDER</a:t>
            </a:r>
            <a:endParaRPr sz="3600"/>
          </a:p>
        </p:txBody>
      </p:sp>
      <p:sp>
        <p:nvSpPr>
          <p:cNvPr id="7" name="object 7"/>
          <p:cNvSpPr txBox="1"/>
          <p:nvPr/>
        </p:nvSpPr>
        <p:spPr>
          <a:xfrm>
            <a:off x="383540" y="1290573"/>
            <a:ext cx="8379459" cy="51466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76884" marR="5080" indent="-464820" algn="just">
              <a:lnSpc>
                <a:spcPct val="100000"/>
              </a:lnSpc>
              <a:spcBef>
                <a:spcPts val="95"/>
              </a:spcBef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135" dirty="0">
                <a:solidFill>
                  <a:srgbClr val="006FC0"/>
                </a:solidFill>
                <a:latin typeface="Arial"/>
                <a:cs typeface="Arial"/>
              </a:rPr>
              <a:t>A </a:t>
            </a:r>
            <a:r>
              <a:rPr sz="2800" spc="-245" dirty="0">
                <a:latin typeface="Arial"/>
                <a:cs typeface="Arial"/>
              </a:rPr>
              <a:t>single </a:t>
            </a:r>
            <a:r>
              <a:rPr sz="2800" spc="-60" dirty="0">
                <a:latin typeface="Arial"/>
                <a:cs typeface="Arial"/>
              </a:rPr>
              <a:t>full </a:t>
            </a:r>
            <a:r>
              <a:rPr sz="2800" spc="-215" dirty="0">
                <a:latin typeface="Arial"/>
                <a:cs typeface="Arial"/>
              </a:rPr>
              <a:t>adder </a:t>
            </a:r>
            <a:r>
              <a:rPr sz="2800" spc="-265" dirty="0">
                <a:latin typeface="Arial"/>
                <a:cs typeface="Arial"/>
              </a:rPr>
              <a:t>is </a:t>
            </a:r>
            <a:r>
              <a:rPr sz="2800" spc="-254" dirty="0">
                <a:latin typeface="Arial"/>
                <a:cs typeface="Arial"/>
              </a:rPr>
              <a:t>capable </a:t>
            </a:r>
            <a:r>
              <a:rPr sz="2800" spc="-75" dirty="0">
                <a:latin typeface="Arial"/>
                <a:cs typeface="Arial"/>
              </a:rPr>
              <a:t>of </a:t>
            </a:r>
            <a:r>
              <a:rPr sz="2800" spc="-215" dirty="0">
                <a:latin typeface="Arial"/>
                <a:cs typeface="Arial"/>
              </a:rPr>
              <a:t>adding </a:t>
            </a:r>
            <a:r>
              <a:rPr sz="2800" spc="-120" dirty="0">
                <a:latin typeface="Arial"/>
                <a:cs typeface="Arial"/>
              </a:rPr>
              <a:t>two </a:t>
            </a:r>
            <a:r>
              <a:rPr sz="2800" spc="-240" dirty="0">
                <a:latin typeface="Arial"/>
                <a:cs typeface="Arial"/>
              </a:rPr>
              <a:t>one</a:t>
            </a:r>
            <a:r>
              <a:rPr sz="2800" spc="295" dirty="0">
                <a:latin typeface="Arial"/>
                <a:cs typeface="Arial"/>
              </a:rPr>
              <a:t> </a:t>
            </a:r>
            <a:r>
              <a:rPr sz="2800" spc="-55" dirty="0">
                <a:latin typeface="Arial"/>
                <a:cs typeface="Arial"/>
              </a:rPr>
              <a:t>bit  </a:t>
            </a:r>
            <a:r>
              <a:rPr sz="2800" spc="-250" dirty="0">
                <a:latin typeface="Arial"/>
                <a:cs typeface="Arial"/>
              </a:rPr>
              <a:t>numbers </a:t>
            </a:r>
            <a:r>
              <a:rPr sz="2800" spc="-260" dirty="0">
                <a:latin typeface="Arial"/>
                <a:cs typeface="Arial"/>
              </a:rPr>
              <a:t>and </a:t>
            </a:r>
            <a:r>
              <a:rPr sz="2800" spc="-305" dirty="0">
                <a:latin typeface="Arial"/>
                <a:cs typeface="Arial"/>
              </a:rPr>
              <a:t>an </a:t>
            </a:r>
            <a:r>
              <a:rPr sz="2800" spc="-105" dirty="0">
                <a:latin typeface="Arial"/>
                <a:cs typeface="Arial"/>
              </a:rPr>
              <a:t>input </a:t>
            </a:r>
            <a:r>
              <a:rPr sz="2800" spc="-160" dirty="0">
                <a:latin typeface="Arial"/>
                <a:cs typeface="Arial"/>
              </a:rPr>
              <a:t>carry</a:t>
            </a:r>
            <a:r>
              <a:rPr sz="2800" spc="-160" dirty="0">
                <a:solidFill>
                  <a:srgbClr val="006FC0"/>
                </a:solidFill>
                <a:latin typeface="Arial"/>
                <a:cs typeface="Arial"/>
              </a:rPr>
              <a:t>.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In </a:t>
            </a:r>
            <a:r>
              <a:rPr sz="2800" spc="-135" dirty="0">
                <a:solidFill>
                  <a:srgbClr val="006FC0"/>
                </a:solidFill>
                <a:latin typeface="Arial"/>
                <a:cs typeface="Arial"/>
              </a:rPr>
              <a:t>order </a:t>
            </a:r>
            <a:r>
              <a:rPr sz="2800" spc="-60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800" spc="-240" dirty="0">
                <a:solidFill>
                  <a:srgbClr val="006FC0"/>
                </a:solidFill>
                <a:latin typeface="Arial"/>
                <a:cs typeface="Arial"/>
              </a:rPr>
              <a:t>add </a:t>
            </a:r>
            <a:r>
              <a:rPr sz="2800" spc="-395" dirty="0">
                <a:solidFill>
                  <a:srgbClr val="006FC0"/>
                </a:solidFill>
                <a:latin typeface="Arial"/>
                <a:cs typeface="Arial"/>
              </a:rPr>
              <a:t>a 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binary  </a:t>
            </a:r>
            <a:r>
              <a:rPr sz="2800" spc="-200" dirty="0">
                <a:solidFill>
                  <a:srgbClr val="006FC0"/>
                </a:solidFill>
                <a:latin typeface="Arial"/>
                <a:cs typeface="Arial"/>
              </a:rPr>
              <a:t>number </a:t>
            </a:r>
            <a:r>
              <a:rPr sz="2800" spc="-110" dirty="0">
                <a:solidFill>
                  <a:srgbClr val="006FC0"/>
                </a:solidFill>
                <a:latin typeface="Arial"/>
                <a:cs typeface="Arial"/>
              </a:rPr>
              <a:t>with </a:t>
            </a:r>
            <a:r>
              <a:rPr sz="2800" spc="-190" dirty="0">
                <a:solidFill>
                  <a:srgbClr val="006FC0"/>
                </a:solidFill>
                <a:latin typeface="Arial"/>
                <a:cs typeface="Arial"/>
              </a:rPr>
              <a:t>more than </a:t>
            </a:r>
            <a:r>
              <a:rPr sz="2800" spc="-235" dirty="0">
                <a:solidFill>
                  <a:srgbClr val="006FC0"/>
                </a:solidFill>
                <a:latin typeface="Arial"/>
                <a:cs typeface="Arial"/>
              </a:rPr>
              <a:t>one </a:t>
            </a:r>
            <a:r>
              <a:rPr sz="2800" spc="-60" dirty="0">
                <a:solidFill>
                  <a:srgbClr val="006FC0"/>
                </a:solidFill>
                <a:latin typeface="Arial"/>
                <a:cs typeface="Arial"/>
              </a:rPr>
              <a:t>bit </a:t>
            </a:r>
            <a:r>
              <a:rPr sz="2800" spc="-305" dirty="0">
                <a:solidFill>
                  <a:srgbClr val="006FC0"/>
                </a:solidFill>
                <a:latin typeface="Arial"/>
                <a:cs typeface="Arial"/>
              </a:rPr>
              <a:t>an </a:t>
            </a:r>
            <a:r>
              <a:rPr sz="2800" spc="-150" dirty="0">
                <a:solidFill>
                  <a:srgbClr val="006FC0"/>
                </a:solidFill>
                <a:latin typeface="Arial"/>
                <a:cs typeface="Arial"/>
              </a:rPr>
              <a:t>additional </a:t>
            </a:r>
            <a:r>
              <a:rPr sz="2800" spc="-60" dirty="0">
                <a:solidFill>
                  <a:srgbClr val="006FC0"/>
                </a:solidFill>
                <a:latin typeface="Arial"/>
                <a:cs typeface="Arial"/>
              </a:rPr>
              <a:t>full </a:t>
            </a:r>
            <a:r>
              <a:rPr sz="2800" spc="-270" dirty="0">
                <a:solidFill>
                  <a:srgbClr val="006FC0"/>
                </a:solidFill>
                <a:latin typeface="Arial"/>
                <a:cs typeface="Arial"/>
              </a:rPr>
              <a:t>adders  </a:t>
            </a:r>
            <a:r>
              <a:rPr sz="2800" spc="-225" dirty="0">
                <a:solidFill>
                  <a:srgbClr val="006FC0"/>
                </a:solidFill>
                <a:latin typeface="Arial"/>
                <a:cs typeface="Arial"/>
              </a:rPr>
              <a:t>must </a:t>
            </a:r>
            <a:r>
              <a:rPr sz="2800" spc="-280" dirty="0">
                <a:solidFill>
                  <a:srgbClr val="006FC0"/>
                </a:solidFill>
                <a:latin typeface="Arial"/>
                <a:cs typeface="Arial"/>
              </a:rPr>
              <a:t>be</a:t>
            </a:r>
            <a:r>
              <a:rPr sz="2800" spc="-35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195" dirty="0">
                <a:solidFill>
                  <a:srgbClr val="006FC0"/>
                </a:solidFill>
                <a:latin typeface="Arial"/>
                <a:cs typeface="Arial"/>
              </a:rPr>
              <a:t>employed.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E36C09"/>
              </a:buClr>
              <a:buFont typeface="Wingdings"/>
              <a:buChar char=""/>
            </a:pPr>
            <a:endParaRPr sz="2900">
              <a:latin typeface="Arial"/>
              <a:cs typeface="Arial"/>
            </a:endParaRPr>
          </a:p>
          <a:p>
            <a:pPr marL="477520" indent="-464820">
              <a:lnSpc>
                <a:spcPct val="100000"/>
              </a:lnSpc>
              <a:spcBef>
                <a:spcPts val="5"/>
              </a:spcBef>
              <a:buClr>
                <a:srgbClr val="E36C09"/>
              </a:buClr>
              <a:buFont typeface="Wingdings"/>
              <a:buChar char=""/>
              <a:tabLst>
                <a:tab pos="476884" algn="l"/>
                <a:tab pos="477520" algn="l"/>
                <a:tab pos="1178560" algn="l"/>
                <a:tab pos="1976755" algn="l"/>
                <a:tab pos="3131185" algn="l"/>
                <a:tab pos="4080510" algn="l"/>
                <a:tab pos="4722495" algn="l"/>
                <a:tab pos="5220970" algn="l"/>
                <a:tab pos="6987540" algn="l"/>
                <a:tab pos="7848600" algn="l"/>
              </a:tabLst>
            </a:pPr>
            <a:r>
              <a:rPr sz="2800" spc="-180" dirty="0">
                <a:solidFill>
                  <a:srgbClr val="006FC0"/>
                </a:solidFill>
                <a:latin typeface="Arial"/>
                <a:cs typeface="Arial"/>
              </a:rPr>
              <a:t>T</a:t>
            </a:r>
            <a:r>
              <a:rPr sz="2800" spc="-160" dirty="0">
                <a:solidFill>
                  <a:srgbClr val="006FC0"/>
                </a:solidFill>
                <a:latin typeface="Arial"/>
                <a:cs typeface="Arial"/>
              </a:rPr>
              <a:t>h</a:t>
            </a:r>
            <a:r>
              <a:rPr sz="2800" spc="-350" dirty="0">
                <a:solidFill>
                  <a:srgbClr val="006FC0"/>
                </a:solidFill>
                <a:latin typeface="Arial"/>
                <a:cs typeface="Arial"/>
              </a:rPr>
              <a:t>e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204" dirty="0">
                <a:latin typeface="Arial"/>
                <a:cs typeface="Arial"/>
              </a:rPr>
              <a:t>n</a:t>
            </a:r>
            <a:r>
              <a:rPr sz="2800" spc="-170" dirty="0">
                <a:latin typeface="Arial"/>
                <a:cs typeface="Arial"/>
              </a:rPr>
              <a:t>-</a:t>
            </a:r>
            <a:r>
              <a:rPr sz="2800" spc="-55" dirty="0">
                <a:latin typeface="Arial"/>
                <a:cs typeface="Arial"/>
              </a:rPr>
              <a:t>bit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180" dirty="0">
                <a:latin typeface="Arial"/>
                <a:cs typeface="Arial"/>
              </a:rPr>
              <a:t>paral</a:t>
            </a:r>
            <a:r>
              <a:rPr sz="2800" spc="-85" dirty="0">
                <a:latin typeface="Arial"/>
                <a:cs typeface="Arial"/>
              </a:rPr>
              <a:t>l</a:t>
            </a:r>
            <a:r>
              <a:rPr sz="2800" spc="-265" dirty="0">
                <a:latin typeface="Arial"/>
                <a:cs typeface="Arial"/>
              </a:rPr>
              <a:t>e</a:t>
            </a:r>
            <a:r>
              <a:rPr sz="2800" spc="-105" dirty="0">
                <a:latin typeface="Arial"/>
                <a:cs typeface="Arial"/>
              </a:rPr>
              <a:t>l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275" dirty="0">
                <a:latin typeface="Arial"/>
                <a:cs typeface="Arial"/>
              </a:rPr>
              <a:t>a</a:t>
            </a:r>
            <a:r>
              <a:rPr sz="2800" spc="-285" dirty="0">
                <a:latin typeface="Arial"/>
                <a:cs typeface="Arial"/>
              </a:rPr>
              <a:t>d</a:t>
            </a:r>
            <a:r>
              <a:rPr sz="2800" spc="-170" dirty="0">
                <a:latin typeface="Arial"/>
                <a:cs typeface="Arial"/>
              </a:rPr>
              <a:t>der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280" dirty="0">
                <a:latin typeface="Arial"/>
                <a:cs typeface="Arial"/>
              </a:rPr>
              <a:t>ca</a:t>
            </a:r>
            <a:r>
              <a:rPr sz="2800" spc="-290" dirty="0">
                <a:latin typeface="Arial"/>
                <a:cs typeface="Arial"/>
              </a:rPr>
              <a:t>n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285" dirty="0">
                <a:latin typeface="Arial"/>
                <a:cs typeface="Arial"/>
              </a:rPr>
              <a:t>b</a:t>
            </a:r>
            <a:r>
              <a:rPr sz="2800" spc="-275" dirty="0">
                <a:latin typeface="Arial"/>
                <a:cs typeface="Arial"/>
              </a:rPr>
              <a:t>e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185" dirty="0">
                <a:latin typeface="Arial"/>
                <a:cs typeface="Arial"/>
              </a:rPr>
              <a:t>constru</a:t>
            </a:r>
            <a:r>
              <a:rPr sz="2800" spc="-210" dirty="0">
                <a:latin typeface="Arial"/>
                <a:cs typeface="Arial"/>
              </a:rPr>
              <a:t>c</a:t>
            </a:r>
            <a:r>
              <a:rPr sz="2800" spc="-140" dirty="0">
                <a:latin typeface="Arial"/>
                <a:cs typeface="Arial"/>
              </a:rPr>
              <a:t>te</a:t>
            </a:r>
            <a:r>
              <a:rPr sz="2800" spc="-180" dirty="0">
                <a:latin typeface="Arial"/>
                <a:cs typeface="Arial"/>
              </a:rPr>
              <a:t>d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310" dirty="0">
                <a:latin typeface="Arial"/>
                <a:cs typeface="Arial"/>
              </a:rPr>
              <a:t>us</a:t>
            </a:r>
            <a:r>
              <a:rPr sz="2800" spc="-125" dirty="0">
                <a:latin typeface="Arial"/>
                <a:cs typeface="Arial"/>
              </a:rPr>
              <a:t>i</a:t>
            </a:r>
            <a:r>
              <a:rPr sz="2800" spc="-280" dirty="0">
                <a:latin typeface="Arial"/>
                <a:cs typeface="Arial"/>
              </a:rPr>
              <a:t>n</a:t>
            </a:r>
            <a:r>
              <a:rPr sz="2800" spc="-275" dirty="0">
                <a:latin typeface="Arial"/>
                <a:cs typeface="Arial"/>
              </a:rPr>
              <a:t>g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204" dirty="0">
                <a:latin typeface="Arial"/>
                <a:cs typeface="Arial"/>
              </a:rPr>
              <a:t>“n”</a:t>
            </a:r>
            <a:endParaRPr sz="2800">
              <a:latin typeface="Arial"/>
              <a:cs typeface="Arial"/>
            </a:endParaRPr>
          </a:p>
          <a:p>
            <a:pPr marL="476884">
              <a:lnSpc>
                <a:spcPct val="100000"/>
              </a:lnSpc>
            </a:pPr>
            <a:r>
              <a:rPr sz="2800" spc="-200" dirty="0">
                <a:latin typeface="Arial"/>
                <a:cs typeface="Arial"/>
              </a:rPr>
              <a:t>number </a:t>
            </a:r>
            <a:r>
              <a:rPr sz="2800" spc="-75" dirty="0">
                <a:latin typeface="Arial"/>
                <a:cs typeface="Arial"/>
              </a:rPr>
              <a:t>of </a:t>
            </a:r>
            <a:r>
              <a:rPr sz="2800" spc="-60" dirty="0">
                <a:latin typeface="Arial"/>
                <a:cs typeface="Arial"/>
              </a:rPr>
              <a:t>full </a:t>
            </a:r>
            <a:r>
              <a:rPr sz="2800" spc="-215" dirty="0">
                <a:latin typeface="Arial"/>
                <a:cs typeface="Arial"/>
              </a:rPr>
              <a:t>adder </a:t>
            </a:r>
            <a:r>
              <a:rPr sz="2800" spc="-145" dirty="0">
                <a:solidFill>
                  <a:srgbClr val="006FC0"/>
                </a:solidFill>
                <a:latin typeface="Arial"/>
                <a:cs typeface="Arial"/>
              </a:rPr>
              <a:t>circuits </a:t>
            </a:r>
            <a:r>
              <a:rPr sz="2800" spc="-110" dirty="0">
                <a:solidFill>
                  <a:srgbClr val="006FC0"/>
                </a:solidFill>
                <a:latin typeface="Arial"/>
                <a:cs typeface="Arial"/>
              </a:rPr>
              <a:t>in</a:t>
            </a:r>
            <a:r>
              <a:rPr sz="2800" spc="6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parallel.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00">
              <a:latin typeface="Arial"/>
              <a:cs typeface="Arial"/>
            </a:endParaRPr>
          </a:p>
          <a:p>
            <a:pPr marL="476884" marR="5080" indent="-464820" algn="just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block </a:t>
            </a:r>
            <a:r>
              <a:rPr sz="2800" spc="-220" dirty="0">
                <a:solidFill>
                  <a:srgbClr val="006FC0"/>
                </a:solidFill>
                <a:latin typeface="Arial"/>
                <a:cs typeface="Arial"/>
              </a:rPr>
              <a:t>diagram </a:t>
            </a:r>
            <a:r>
              <a:rPr sz="2800" spc="-80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n-bit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parallel </a:t>
            </a:r>
            <a:r>
              <a:rPr sz="2800" spc="-215" dirty="0">
                <a:solidFill>
                  <a:srgbClr val="006FC0"/>
                </a:solidFill>
                <a:latin typeface="Arial"/>
                <a:cs typeface="Arial"/>
              </a:rPr>
              <a:t>adder </a:t>
            </a:r>
            <a:r>
              <a:rPr sz="2800" spc="-260" dirty="0">
                <a:solidFill>
                  <a:srgbClr val="006FC0"/>
                </a:solidFill>
                <a:latin typeface="Arial"/>
                <a:cs typeface="Arial"/>
              </a:rPr>
              <a:t>using </a:t>
            </a:r>
            <a:r>
              <a:rPr sz="2800" spc="-210" dirty="0">
                <a:solidFill>
                  <a:srgbClr val="006FC0"/>
                </a:solidFill>
                <a:latin typeface="Arial"/>
                <a:cs typeface="Arial"/>
              </a:rPr>
              <a:t>number  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60" dirty="0">
                <a:solidFill>
                  <a:srgbClr val="006FC0"/>
                </a:solidFill>
                <a:latin typeface="Arial"/>
                <a:cs typeface="Arial"/>
              </a:rPr>
              <a:t>full </a:t>
            </a:r>
            <a:r>
              <a:rPr sz="2800" spc="-215" dirty="0">
                <a:solidFill>
                  <a:srgbClr val="006FC0"/>
                </a:solidFill>
                <a:latin typeface="Arial"/>
                <a:cs typeface="Arial"/>
              </a:rPr>
              <a:t>adder </a:t>
            </a:r>
            <a:r>
              <a:rPr sz="2800" spc="-145" dirty="0">
                <a:solidFill>
                  <a:srgbClr val="006FC0"/>
                </a:solidFill>
                <a:latin typeface="Arial"/>
                <a:cs typeface="Arial"/>
              </a:rPr>
              <a:t>circuits </a:t>
            </a:r>
            <a:r>
              <a:rPr sz="2800" spc="-210" dirty="0">
                <a:latin typeface="Arial"/>
                <a:cs typeface="Arial"/>
              </a:rPr>
              <a:t>connected </a:t>
            </a:r>
            <a:r>
              <a:rPr sz="2800" spc="-110" dirty="0">
                <a:latin typeface="Arial"/>
                <a:cs typeface="Arial"/>
              </a:rPr>
              <a:t>in </a:t>
            </a:r>
            <a:r>
              <a:rPr sz="2800" spc="-330" dirty="0">
                <a:latin typeface="Arial"/>
                <a:cs typeface="Arial"/>
              </a:rPr>
              <a:t>cascade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i.e. the </a:t>
            </a:r>
            <a:r>
              <a:rPr sz="2800" spc="-155" dirty="0">
                <a:solidFill>
                  <a:srgbClr val="006FC0"/>
                </a:solidFill>
                <a:latin typeface="Arial"/>
                <a:cs typeface="Arial"/>
              </a:rPr>
              <a:t>carry 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output 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300" dirty="0">
                <a:solidFill>
                  <a:srgbClr val="006FC0"/>
                </a:solidFill>
                <a:latin typeface="Arial"/>
                <a:cs typeface="Arial"/>
              </a:rPr>
              <a:t>each </a:t>
            </a:r>
            <a:r>
              <a:rPr sz="2800" spc="-215" dirty="0">
                <a:solidFill>
                  <a:srgbClr val="006FC0"/>
                </a:solidFill>
                <a:latin typeface="Arial"/>
                <a:cs typeface="Arial"/>
              </a:rPr>
              <a:t>adder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800" spc="-204" dirty="0">
                <a:solidFill>
                  <a:srgbClr val="006FC0"/>
                </a:solidFill>
                <a:latin typeface="Arial"/>
                <a:cs typeface="Arial"/>
              </a:rPr>
              <a:t>connected </a:t>
            </a:r>
            <a:r>
              <a:rPr sz="2800" spc="-50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55" dirty="0">
                <a:solidFill>
                  <a:srgbClr val="006FC0"/>
                </a:solidFill>
                <a:latin typeface="Arial"/>
                <a:cs typeface="Arial"/>
              </a:rPr>
              <a:t>carry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input </a:t>
            </a:r>
            <a:r>
              <a:rPr sz="2800" spc="-70" dirty="0">
                <a:solidFill>
                  <a:srgbClr val="006FC0"/>
                </a:solidFill>
                <a:latin typeface="Arial"/>
                <a:cs typeface="Arial"/>
              </a:rPr>
              <a:t>of 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next </a:t>
            </a:r>
            <a:r>
              <a:rPr sz="2800" spc="-190" dirty="0">
                <a:solidFill>
                  <a:srgbClr val="006FC0"/>
                </a:solidFill>
                <a:latin typeface="Arial"/>
                <a:cs typeface="Arial"/>
              </a:rPr>
              <a:t>higher </a:t>
            </a:r>
            <a:r>
              <a:rPr sz="2800" spc="-135" dirty="0">
                <a:solidFill>
                  <a:srgbClr val="006FC0"/>
                </a:solidFill>
                <a:latin typeface="Arial"/>
                <a:cs typeface="Arial"/>
              </a:rPr>
              <a:t>order </a:t>
            </a:r>
            <a:r>
              <a:rPr sz="2800" spc="-215" dirty="0">
                <a:solidFill>
                  <a:srgbClr val="006FC0"/>
                </a:solidFill>
                <a:latin typeface="Arial"/>
                <a:cs typeface="Arial"/>
              </a:rPr>
              <a:t>adder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800" spc="-270" dirty="0">
                <a:solidFill>
                  <a:srgbClr val="006FC0"/>
                </a:solidFill>
                <a:latin typeface="Arial"/>
                <a:cs typeface="Arial"/>
              </a:rPr>
              <a:t>shown </a:t>
            </a:r>
            <a:r>
              <a:rPr sz="2800" spc="-110" dirty="0">
                <a:solidFill>
                  <a:srgbClr val="006FC0"/>
                </a:solidFill>
                <a:latin typeface="Arial"/>
                <a:cs typeface="Arial"/>
              </a:rPr>
              <a:t>in</a:t>
            </a:r>
            <a:r>
              <a:rPr sz="2800" spc="-21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155" dirty="0">
                <a:solidFill>
                  <a:srgbClr val="006FC0"/>
                </a:solidFill>
                <a:latin typeface="Arial"/>
                <a:cs typeface="Arial"/>
              </a:rPr>
              <a:t>figure.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sp>
          <p:nvSpPr>
            <p:cNvPr id="9" name="object 9"/>
            <p:cNvSpPr/>
            <p:nvPr/>
          </p:nvSpPr>
          <p:spPr>
            <a:xfrm>
              <a:off x="8593835" y="6620255"/>
              <a:ext cx="550164" cy="23774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674607" y="6556243"/>
              <a:ext cx="469392" cy="3017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787638" y="6649770"/>
            <a:ext cx="25654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rlito"/>
                <a:cs typeface="Carlito"/>
              </a:rPr>
              <a:t>58</a:t>
            </a:r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2493264" y="155460"/>
              <a:ext cx="4152899" cy="104087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798191" y="289382"/>
            <a:ext cx="354711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45" dirty="0"/>
              <a:t>PARALLEL</a:t>
            </a:r>
            <a:r>
              <a:rPr sz="3600" spc="-95" dirty="0"/>
              <a:t> </a:t>
            </a:r>
            <a:r>
              <a:rPr sz="3600" spc="-55" dirty="0"/>
              <a:t>ADDER</a:t>
            </a:r>
            <a:endParaRPr sz="3600"/>
          </a:p>
        </p:txBody>
      </p:sp>
      <p:grpSp>
        <p:nvGrpSpPr>
          <p:cNvPr id="7" name="object 7"/>
          <p:cNvGrpSpPr/>
          <p:nvPr/>
        </p:nvGrpSpPr>
        <p:grpSpPr>
          <a:xfrm>
            <a:off x="914400" y="2057400"/>
            <a:ext cx="8234680" cy="4800600"/>
            <a:chOff x="914400" y="2057400"/>
            <a:chExt cx="8234680" cy="4800600"/>
          </a:xfrm>
        </p:grpSpPr>
        <p:sp>
          <p:nvSpPr>
            <p:cNvPr id="8" name="object 8"/>
            <p:cNvSpPr/>
            <p:nvPr/>
          </p:nvSpPr>
          <p:spPr>
            <a:xfrm>
              <a:off x="8593835" y="6620254"/>
              <a:ext cx="550164" cy="23774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674607" y="6556242"/>
              <a:ext cx="469392" cy="3017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641080" y="6644640"/>
              <a:ext cx="502920" cy="1828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14400" y="2057400"/>
              <a:ext cx="7382256" cy="256032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432175" y="5260085"/>
            <a:ext cx="23323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90" dirty="0">
                <a:latin typeface="Arial"/>
                <a:cs typeface="Arial"/>
              </a:rPr>
              <a:t>n-bit </a:t>
            </a:r>
            <a:r>
              <a:rPr sz="2400" b="1" spc="-225" dirty="0">
                <a:latin typeface="Arial"/>
                <a:cs typeface="Arial"/>
              </a:rPr>
              <a:t>parallel</a:t>
            </a:r>
            <a:r>
              <a:rPr sz="2400" b="1" spc="65" dirty="0">
                <a:latin typeface="Arial"/>
                <a:cs typeface="Arial"/>
              </a:rPr>
              <a:t> </a:t>
            </a:r>
            <a:r>
              <a:rPr sz="2400" b="1" spc="-195" dirty="0">
                <a:latin typeface="Arial"/>
                <a:cs typeface="Arial"/>
              </a:rPr>
              <a:t>Adder</a:t>
            </a:r>
            <a:endParaRPr sz="24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787638" y="6649770"/>
            <a:ext cx="25654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rlito"/>
                <a:cs typeface="Carlito"/>
              </a:rPr>
              <a:t>59</a:t>
            </a:r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2493264" y="155460"/>
              <a:ext cx="4152899" cy="104087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798191" y="289382"/>
            <a:ext cx="354711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45" dirty="0"/>
              <a:t>PARALLEL</a:t>
            </a:r>
            <a:r>
              <a:rPr sz="3600" spc="-95" dirty="0"/>
              <a:t> </a:t>
            </a:r>
            <a:r>
              <a:rPr sz="3600" spc="-55" dirty="0"/>
              <a:t>ADDER</a:t>
            </a:r>
            <a:endParaRPr sz="3600"/>
          </a:p>
        </p:txBody>
      </p:sp>
      <p:sp>
        <p:nvSpPr>
          <p:cNvPr id="7" name="object 7"/>
          <p:cNvSpPr txBox="1"/>
          <p:nvPr/>
        </p:nvSpPr>
        <p:spPr>
          <a:xfrm>
            <a:off x="383540" y="1290573"/>
            <a:ext cx="8377555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76884" marR="5080" indent="-464820" algn="just">
              <a:lnSpc>
                <a:spcPct val="100000"/>
              </a:lnSpc>
              <a:spcBef>
                <a:spcPts val="95"/>
              </a:spcBef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45" dirty="0">
                <a:latin typeface="Arial"/>
                <a:cs typeface="Arial"/>
              </a:rPr>
              <a:t>4-bit </a:t>
            </a:r>
            <a:r>
              <a:rPr sz="2800" spc="-165" dirty="0">
                <a:latin typeface="Arial"/>
                <a:cs typeface="Arial"/>
              </a:rPr>
              <a:t>binary </a:t>
            </a:r>
            <a:r>
              <a:rPr sz="2800" spc="-215" dirty="0">
                <a:latin typeface="Arial"/>
                <a:cs typeface="Arial"/>
              </a:rPr>
              <a:t>adder </a:t>
            </a:r>
            <a:r>
              <a:rPr sz="2800" spc="-260" dirty="0">
                <a:solidFill>
                  <a:srgbClr val="006FC0"/>
                </a:solidFill>
                <a:latin typeface="Arial"/>
                <a:cs typeface="Arial"/>
              </a:rPr>
              <a:t>using </a:t>
            </a:r>
            <a:r>
              <a:rPr sz="2800" spc="-60" dirty="0">
                <a:solidFill>
                  <a:srgbClr val="006FC0"/>
                </a:solidFill>
                <a:latin typeface="Arial"/>
                <a:cs typeface="Arial"/>
              </a:rPr>
              <a:t>full </a:t>
            </a:r>
            <a:r>
              <a:rPr sz="2800" spc="-215" dirty="0">
                <a:solidFill>
                  <a:srgbClr val="006FC0"/>
                </a:solidFill>
                <a:latin typeface="Arial"/>
                <a:cs typeface="Arial"/>
              </a:rPr>
              <a:t>adder </a:t>
            </a:r>
            <a:r>
              <a:rPr sz="2800" spc="-150" dirty="0">
                <a:solidFill>
                  <a:srgbClr val="006FC0"/>
                </a:solidFill>
                <a:latin typeface="Arial"/>
                <a:cs typeface="Arial"/>
              </a:rPr>
              <a:t>circuits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capable  </a:t>
            </a:r>
            <a:r>
              <a:rPr sz="2800" spc="-70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215" dirty="0">
                <a:latin typeface="Arial"/>
                <a:cs typeface="Arial"/>
              </a:rPr>
              <a:t>adding </a:t>
            </a:r>
            <a:r>
              <a:rPr sz="2800" spc="-125" dirty="0">
                <a:latin typeface="Arial"/>
                <a:cs typeface="Arial"/>
              </a:rPr>
              <a:t>two </a:t>
            </a:r>
            <a:r>
              <a:rPr sz="2800" spc="-145" dirty="0">
                <a:latin typeface="Arial"/>
                <a:cs typeface="Arial"/>
              </a:rPr>
              <a:t>4-bit </a:t>
            </a:r>
            <a:r>
              <a:rPr sz="2800" spc="-250" dirty="0">
                <a:latin typeface="Arial"/>
                <a:cs typeface="Arial"/>
              </a:rPr>
              <a:t>numbers </a:t>
            </a:r>
            <a:r>
              <a:rPr sz="2800" spc="-180" dirty="0">
                <a:solidFill>
                  <a:srgbClr val="006FC0"/>
                </a:solidFill>
                <a:latin typeface="Arial"/>
                <a:cs typeface="Arial"/>
              </a:rPr>
              <a:t>resulting </a:t>
            </a:r>
            <a:r>
              <a:rPr sz="2800" spc="-110" dirty="0">
                <a:solidFill>
                  <a:srgbClr val="006FC0"/>
                </a:solidFill>
                <a:latin typeface="Arial"/>
                <a:cs typeface="Arial"/>
              </a:rPr>
              <a:t>in </a:t>
            </a:r>
            <a:r>
              <a:rPr sz="2800" spc="-395" dirty="0">
                <a:solidFill>
                  <a:srgbClr val="006FC0"/>
                </a:solidFill>
                <a:latin typeface="Arial"/>
                <a:cs typeface="Arial"/>
              </a:rPr>
              <a:t>a </a:t>
            </a:r>
            <a:r>
              <a:rPr sz="2800" spc="-150" dirty="0">
                <a:solidFill>
                  <a:srgbClr val="006FC0"/>
                </a:solidFill>
                <a:latin typeface="Arial"/>
                <a:cs typeface="Arial"/>
              </a:rPr>
              <a:t>4-bit </a:t>
            </a:r>
            <a:r>
              <a:rPr sz="2800" spc="-325" dirty="0">
                <a:solidFill>
                  <a:srgbClr val="006FC0"/>
                </a:solidFill>
                <a:latin typeface="Arial"/>
                <a:cs typeface="Arial"/>
              </a:rPr>
              <a:t>sum </a:t>
            </a:r>
            <a:r>
              <a:rPr sz="2800" spc="-260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spc="-395" dirty="0">
                <a:solidFill>
                  <a:srgbClr val="006FC0"/>
                </a:solidFill>
                <a:latin typeface="Arial"/>
                <a:cs typeface="Arial"/>
              </a:rPr>
              <a:t>a  </a:t>
            </a:r>
            <a:r>
              <a:rPr sz="2800" spc="-155" dirty="0">
                <a:solidFill>
                  <a:srgbClr val="006FC0"/>
                </a:solidFill>
                <a:latin typeface="Arial"/>
                <a:cs typeface="Arial"/>
              </a:rPr>
              <a:t>carry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output </a:t>
            </a:r>
            <a:r>
              <a:rPr sz="2800" spc="-459" dirty="0">
                <a:solidFill>
                  <a:srgbClr val="006FC0"/>
                </a:solidFill>
                <a:latin typeface="Arial"/>
                <a:cs typeface="Arial"/>
              </a:rPr>
              <a:t>as </a:t>
            </a:r>
            <a:r>
              <a:rPr sz="2800" spc="-270" dirty="0">
                <a:solidFill>
                  <a:srgbClr val="006FC0"/>
                </a:solidFill>
                <a:latin typeface="Arial"/>
                <a:cs typeface="Arial"/>
              </a:rPr>
              <a:t>shown </a:t>
            </a:r>
            <a:r>
              <a:rPr sz="2800" spc="-110" dirty="0">
                <a:solidFill>
                  <a:srgbClr val="006FC0"/>
                </a:solidFill>
                <a:latin typeface="Arial"/>
                <a:cs typeface="Arial"/>
              </a:rPr>
              <a:t>in </a:t>
            </a:r>
            <a:r>
              <a:rPr sz="2800" spc="-155" dirty="0">
                <a:solidFill>
                  <a:srgbClr val="006FC0"/>
                </a:solidFill>
                <a:latin typeface="Arial"/>
                <a:cs typeface="Arial"/>
              </a:rPr>
              <a:t>figure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190" dirty="0">
                <a:solidFill>
                  <a:srgbClr val="006FC0"/>
                </a:solidFill>
                <a:latin typeface="Arial"/>
                <a:cs typeface="Arial"/>
              </a:rPr>
              <a:t>below.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81000" y="3048000"/>
            <a:ext cx="8768080" cy="3810000"/>
            <a:chOff x="381000" y="3048000"/>
            <a:chExt cx="8768080" cy="3810000"/>
          </a:xfrm>
        </p:grpSpPr>
        <p:sp>
          <p:nvSpPr>
            <p:cNvPr id="9" name="object 9"/>
            <p:cNvSpPr/>
            <p:nvPr/>
          </p:nvSpPr>
          <p:spPr>
            <a:xfrm>
              <a:off x="8593835" y="6620254"/>
              <a:ext cx="550164" cy="23774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674607" y="6556242"/>
              <a:ext cx="469392" cy="3017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41080" y="6644640"/>
              <a:ext cx="502920" cy="1828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1000" y="3048000"/>
              <a:ext cx="8345424" cy="2298191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203575" y="5717235"/>
            <a:ext cx="31229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0" dirty="0">
                <a:latin typeface="Arial"/>
                <a:cs typeface="Arial"/>
              </a:rPr>
              <a:t>4-bit </a:t>
            </a:r>
            <a:r>
              <a:rPr sz="2400" b="1" spc="-245" dirty="0">
                <a:latin typeface="Arial"/>
                <a:cs typeface="Arial"/>
              </a:rPr>
              <a:t>binary </a:t>
            </a:r>
            <a:r>
              <a:rPr sz="2400" b="1" spc="-225" dirty="0">
                <a:latin typeface="Arial"/>
                <a:cs typeface="Arial"/>
              </a:rPr>
              <a:t>parallel</a:t>
            </a:r>
            <a:r>
              <a:rPr sz="2400" b="1" spc="-105" dirty="0">
                <a:latin typeface="Arial"/>
                <a:cs typeface="Arial"/>
              </a:rPr>
              <a:t> </a:t>
            </a:r>
            <a:r>
              <a:rPr sz="2400" b="1" spc="-195" dirty="0">
                <a:latin typeface="Arial"/>
                <a:cs typeface="Arial"/>
              </a:rPr>
              <a:t>Adder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8787638" y="6649770"/>
            <a:ext cx="25654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rlito"/>
                <a:cs typeface="Carlito"/>
              </a:rPr>
              <a:t>60</a:t>
            </a:r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2493264" y="155460"/>
              <a:ext cx="4152899" cy="104087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798191" y="289382"/>
            <a:ext cx="354711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45" dirty="0"/>
              <a:t>PARALLEL</a:t>
            </a:r>
            <a:r>
              <a:rPr sz="3600" spc="-95" dirty="0"/>
              <a:t> </a:t>
            </a:r>
            <a:r>
              <a:rPr sz="3600" spc="-55" dirty="0"/>
              <a:t>ADDER</a:t>
            </a:r>
            <a:endParaRPr sz="3600"/>
          </a:p>
        </p:txBody>
      </p:sp>
      <p:sp>
        <p:nvSpPr>
          <p:cNvPr id="7" name="object 7"/>
          <p:cNvSpPr txBox="1"/>
          <p:nvPr/>
        </p:nvSpPr>
        <p:spPr>
          <a:xfrm>
            <a:off x="358140" y="1290573"/>
            <a:ext cx="8428990" cy="27997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2284" marR="31115" indent="-464820" algn="just">
              <a:lnSpc>
                <a:spcPct val="100000"/>
              </a:lnSpc>
              <a:spcBef>
                <a:spcPts val="95"/>
              </a:spcBef>
              <a:buClr>
                <a:srgbClr val="E36C09"/>
              </a:buClr>
              <a:buFont typeface="Wingdings"/>
              <a:buChar char=""/>
              <a:tabLst>
                <a:tab pos="502920" algn="l"/>
              </a:tabLst>
            </a:pPr>
            <a:r>
              <a:rPr sz="2800" spc="-275" dirty="0">
                <a:solidFill>
                  <a:srgbClr val="006FC0"/>
                </a:solidFill>
                <a:latin typeface="Arial"/>
                <a:cs typeface="Arial"/>
              </a:rPr>
              <a:t>Since </a:t>
            </a:r>
            <a:r>
              <a:rPr sz="2800" spc="-145" dirty="0">
                <a:solidFill>
                  <a:srgbClr val="006FC0"/>
                </a:solidFill>
                <a:latin typeface="Arial"/>
                <a:cs typeface="Arial"/>
              </a:rPr>
              <a:t>all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bits </a:t>
            </a:r>
            <a:r>
              <a:rPr sz="2800" spc="-80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280" dirty="0">
                <a:solidFill>
                  <a:srgbClr val="006FC0"/>
                </a:solidFill>
                <a:latin typeface="Arial"/>
                <a:cs typeface="Arial"/>
              </a:rPr>
              <a:t>augend 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spc="-240" dirty="0">
                <a:solidFill>
                  <a:srgbClr val="006FC0"/>
                </a:solidFill>
                <a:latin typeface="Arial"/>
                <a:cs typeface="Arial"/>
              </a:rPr>
              <a:t>addend 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are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fed </a:t>
            </a:r>
            <a:r>
              <a:rPr sz="2800" spc="-80" dirty="0">
                <a:solidFill>
                  <a:srgbClr val="006FC0"/>
                </a:solidFill>
                <a:latin typeface="Arial"/>
                <a:cs typeface="Arial"/>
              </a:rPr>
              <a:t>into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 </a:t>
            </a:r>
            <a:r>
              <a:rPr sz="2800" spc="-210" dirty="0">
                <a:solidFill>
                  <a:srgbClr val="006FC0"/>
                </a:solidFill>
                <a:latin typeface="Arial"/>
                <a:cs typeface="Arial"/>
              </a:rPr>
              <a:t>adder </a:t>
            </a:r>
            <a:r>
              <a:rPr sz="2800" spc="-150" dirty="0">
                <a:solidFill>
                  <a:srgbClr val="006FC0"/>
                </a:solidFill>
                <a:latin typeface="Arial"/>
                <a:cs typeface="Arial"/>
              </a:rPr>
              <a:t>circuits </a:t>
            </a:r>
            <a:r>
              <a:rPr sz="2800" spc="-210" dirty="0">
                <a:solidFill>
                  <a:srgbClr val="006FC0"/>
                </a:solidFill>
                <a:latin typeface="Arial"/>
                <a:cs typeface="Arial"/>
              </a:rPr>
              <a:t>simultaneously </a:t>
            </a:r>
            <a:r>
              <a:rPr sz="2800" spc="-260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75" dirty="0">
                <a:latin typeface="Arial"/>
                <a:cs typeface="Arial"/>
              </a:rPr>
              <a:t>additions </a:t>
            </a:r>
            <a:r>
              <a:rPr sz="2800" spc="-110" dirty="0">
                <a:latin typeface="Arial"/>
                <a:cs typeface="Arial"/>
              </a:rPr>
              <a:t>in </a:t>
            </a:r>
            <a:r>
              <a:rPr sz="2800" spc="-300" dirty="0">
                <a:latin typeface="Arial"/>
                <a:cs typeface="Arial"/>
              </a:rPr>
              <a:t>each  </a:t>
            </a:r>
            <a:r>
              <a:rPr sz="2800" spc="-145" dirty="0">
                <a:latin typeface="Arial"/>
                <a:cs typeface="Arial"/>
              </a:rPr>
              <a:t>position </a:t>
            </a:r>
            <a:r>
              <a:rPr sz="2800" spc="-250" dirty="0">
                <a:latin typeface="Arial"/>
                <a:cs typeface="Arial"/>
              </a:rPr>
              <a:t>are </a:t>
            </a:r>
            <a:r>
              <a:rPr sz="2800" spc="-185" dirty="0">
                <a:latin typeface="Arial"/>
                <a:cs typeface="Arial"/>
              </a:rPr>
              <a:t>taking </a:t>
            </a:r>
            <a:r>
              <a:rPr sz="2800" spc="-229" dirty="0">
                <a:latin typeface="Arial"/>
                <a:cs typeface="Arial"/>
              </a:rPr>
              <a:t>place </a:t>
            </a:r>
            <a:r>
              <a:rPr sz="2800" spc="-170" dirty="0">
                <a:latin typeface="Arial"/>
                <a:cs typeface="Arial"/>
              </a:rPr>
              <a:t>at the </a:t>
            </a:r>
            <a:r>
              <a:rPr sz="2800" spc="-375" dirty="0">
                <a:latin typeface="Arial"/>
                <a:cs typeface="Arial"/>
              </a:rPr>
              <a:t>same </a:t>
            </a:r>
            <a:r>
              <a:rPr sz="2800" spc="-145" dirty="0">
                <a:latin typeface="Arial"/>
                <a:cs typeface="Arial"/>
              </a:rPr>
              <a:t>time</a:t>
            </a:r>
            <a:r>
              <a:rPr sz="2800" spc="-145" dirty="0">
                <a:solidFill>
                  <a:srgbClr val="006FC0"/>
                </a:solidFill>
                <a:latin typeface="Arial"/>
                <a:cs typeface="Arial"/>
              </a:rPr>
              <a:t>,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this </a:t>
            </a:r>
            <a:r>
              <a:rPr sz="2800" spc="-95" dirty="0">
                <a:solidFill>
                  <a:srgbClr val="006FC0"/>
                </a:solidFill>
                <a:latin typeface="Arial"/>
                <a:cs typeface="Arial"/>
              </a:rPr>
              <a:t>circuit </a:t>
            </a:r>
            <a:r>
              <a:rPr sz="2800" spc="-260" dirty="0">
                <a:solidFill>
                  <a:srgbClr val="006FC0"/>
                </a:solidFill>
                <a:latin typeface="Arial"/>
                <a:cs typeface="Arial"/>
              </a:rPr>
              <a:t>is  </a:t>
            </a:r>
            <a:r>
              <a:rPr sz="2800" spc="-204" dirty="0">
                <a:solidFill>
                  <a:srgbClr val="006FC0"/>
                </a:solidFill>
                <a:latin typeface="Arial"/>
                <a:cs typeface="Arial"/>
              </a:rPr>
              <a:t>known </a:t>
            </a:r>
            <a:r>
              <a:rPr sz="2800" spc="-459" dirty="0">
                <a:solidFill>
                  <a:srgbClr val="006FC0"/>
                </a:solidFill>
                <a:latin typeface="Arial"/>
                <a:cs typeface="Arial"/>
              </a:rPr>
              <a:t>as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parallel</a:t>
            </a:r>
            <a:r>
              <a:rPr sz="2800" spc="1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204" dirty="0">
                <a:solidFill>
                  <a:srgbClr val="006FC0"/>
                </a:solidFill>
                <a:latin typeface="Arial"/>
                <a:cs typeface="Arial"/>
              </a:rPr>
              <a:t>adder.</a:t>
            </a:r>
            <a:endParaRPr sz="2800">
              <a:latin typeface="Arial"/>
              <a:cs typeface="Arial"/>
            </a:endParaRPr>
          </a:p>
          <a:p>
            <a:pPr marL="502284" marR="30480" indent="-464820" algn="just">
              <a:lnSpc>
                <a:spcPct val="100000"/>
              </a:lnSpc>
              <a:spcBef>
                <a:spcPts val="1685"/>
              </a:spcBef>
              <a:buClr>
                <a:srgbClr val="E36C09"/>
              </a:buClr>
              <a:buFont typeface="Wingdings"/>
              <a:buChar char=""/>
              <a:tabLst>
                <a:tab pos="502920" algn="l"/>
              </a:tabLst>
            </a:pP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Let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50" dirty="0">
                <a:solidFill>
                  <a:srgbClr val="006FC0"/>
                </a:solidFill>
                <a:latin typeface="Arial"/>
                <a:cs typeface="Arial"/>
              </a:rPr>
              <a:t>4-bit </a:t>
            </a:r>
            <a:r>
              <a:rPr sz="2800" spc="-220" dirty="0">
                <a:solidFill>
                  <a:srgbClr val="006FC0"/>
                </a:solidFill>
                <a:latin typeface="Arial"/>
                <a:cs typeface="Arial"/>
              </a:rPr>
              <a:t>words </a:t>
            </a:r>
            <a:r>
              <a:rPr sz="2800" spc="-55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800" spc="-275" dirty="0">
                <a:solidFill>
                  <a:srgbClr val="006FC0"/>
                </a:solidFill>
                <a:latin typeface="Arial"/>
                <a:cs typeface="Arial"/>
              </a:rPr>
              <a:t>be 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added </a:t>
            </a:r>
            <a:r>
              <a:rPr sz="2800" spc="-275" dirty="0">
                <a:solidFill>
                  <a:srgbClr val="006FC0"/>
                </a:solidFill>
                <a:latin typeface="Arial"/>
                <a:cs typeface="Arial"/>
              </a:rPr>
              <a:t>be </a:t>
            </a:r>
            <a:r>
              <a:rPr sz="2800" spc="-225" dirty="0">
                <a:solidFill>
                  <a:srgbClr val="006FC0"/>
                </a:solidFill>
                <a:latin typeface="Arial"/>
                <a:cs typeface="Arial"/>
              </a:rPr>
              <a:t>represented </a:t>
            </a:r>
            <a:r>
              <a:rPr sz="2800" spc="-180" dirty="0">
                <a:solidFill>
                  <a:srgbClr val="006FC0"/>
                </a:solidFill>
                <a:latin typeface="Arial"/>
                <a:cs typeface="Arial"/>
              </a:rPr>
              <a:t>by, </a:t>
            </a:r>
            <a:r>
              <a:rPr sz="2800" spc="-65" dirty="0">
                <a:solidFill>
                  <a:srgbClr val="006FC0"/>
                </a:solidFill>
                <a:latin typeface="Arial"/>
                <a:cs typeface="Arial"/>
              </a:rPr>
              <a:t>A</a:t>
            </a:r>
            <a:r>
              <a:rPr sz="2775" spc="-97" baseline="-21021" dirty="0">
                <a:solidFill>
                  <a:srgbClr val="006FC0"/>
                </a:solidFill>
                <a:latin typeface="Arial"/>
                <a:cs typeface="Arial"/>
              </a:rPr>
              <a:t>3 </a:t>
            </a:r>
            <a:r>
              <a:rPr sz="2800" spc="-65" dirty="0">
                <a:solidFill>
                  <a:srgbClr val="006FC0"/>
                </a:solidFill>
                <a:latin typeface="Arial"/>
                <a:cs typeface="Arial"/>
              </a:rPr>
              <a:t>A</a:t>
            </a:r>
            <a:r>
              <a:rPr sz="2775" spc="-97" baseline="-21021" dirty="0">
                <a:solidFill>
                  <a:srgbClr val="006FC0"/>
                </a:solidFill>
                <a:latin typeface="Arial"/>
                <a:cs typeface="Arial"/>
              </a:rPr>
              <a:t>2 </a:t>
            </a:r>
            <a:r>
              <a:rPr sz="1850" spc="-6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60" dirty="0">
                <a:solidFill>
                  <a:srgbClr val="006FC0"/>
                </a:solidFill>
                <a:latin typeface="Arial"/>
                <a:cs typeface="Arial"/>
              </a:rPr>
              <a:t>A</a:t>
            </a:r>
            <a:r>
              <a:rPr sz="2775" spc="-89" baseline="-21021" dirty="0">
                <a:solidFill>
                  <a:srgbClr val="006FC0"/>
                </a:solidFill>
                <a:latin typeface="Arial"/>
                <a:cs typeface="Arial"/>
              </a:rPr>
              <a:t>1 </a:t>
            </a:r>
            <a:r>
              <a:rPr sz="2800" spc="-20" dirty="0">
                <a:solidFill>
                  <a:srgbClr val="006FC0"/>
                </a:solidFill>
                <a:latin typeface="Arial"/>
                <a:cs typeface="Arial"/>
              </a:rPr>
              <a:t>A</a:t>
            </a:r>
            <a:r>
              <a:rPr sz="2775" spc="-30" baseline="-21021" dirty="0">
                <a:solidFill>
                  <a:srgbClr val="006FC0"/>
                </a:solidFill>
                <a:latin typeface="Arial"/>
                <a:cs typeface="Arial"/>
              </a:rPr>
              <a:t>0</a:t>
            </a:r>
            <a:r>
              <a:rPr sz="2800" spc="-20" dirty="0">
                <a:solidFill>
                  <a:srgbClr val="006FC0"/>
                </a:solidFill>
                <a:latin typeface="Arial"/>
                <a:cs typeface="Arial"/>
              </a:rPr>
              <a:t>= </a:t>
            </a:r>
            <a:r>
              <a:rPr sz="2800" spc="-400" dirty="0">
                <a:solidFill>
                  <a:srgbClr val="006FC0"/>
                </a:solidFill>
                <a:latin typeface="Arial"/>
                <a:cs typeface="Arial"/>
              </a:rPr>
              <a:t>1 1 1 1 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spc="-340" dirty="0">
                <a:solidFill>
                  <a:srgbClr val="006FC0"/>
                </a:solidFill>
                <a:latin typeface="Arial"/>
                <a:cs typeface="Arial"/>
              </a:rPr>
              <a:t>B</a:t>
            </a:r>
            <a:r>
              <a:rPr sz="2775" spc="-509" baseline="-21021" dirty="0">
                <a:solidFill>
                  <a:srgbClr val="006FC0"/>
                </a:solidFill>
                <a:latin typeface="Arial"/>
                <a:cs typeface="Arial"/>
              </a:rPr>
              <a:t>3 </a:t>
            </a:r>
            <a:r>
              <a:rPr sz="2800" spc="-340" dirty="0">
                <a:solidFill>
                  <a:srgbClr val="006FC0"/>
                </a:solidFill>
                <a:latin typeface="Arial"/>
                <a:cs typeface="Arial"/>
              </a:rPr>
              <a:t>B</a:t>
            </a:r>
            <a:r>
              <a:rPr sz="2775" spc="-509" baseline="-21021" dirty="0">
                <a:solidFill>
                  <a:srgbClr val="006FC0"/>
                </a:solidFill>
                <a:latin typeface="Arial"/>
                <a:cs typeface="Arial"/>
              </a:rPr>
              <a:t>2 </a:t>
            </a:r>
            <a:r>
              <a:rPr sz="2800" spc="-340" dirty="0">
                <a:solidFill>
                  <a:srgbClr val="006FC0"/>
                </a:solidFill>
                <a:latin typeface="Arial"/>
                <a:cs typeface="Arial"/>
              </a:rPr>
              <a:t>B</a:t>
            </a:r>
            <a:r>
              <a:rPr sz="2775" spc="-509" baseline="-21021" dirty="0">
                <a:solidFill>
                  <a:srgbClr val="006FC0"/>
                </a:solidFill>
                <a:latin typeface="Arial"/>
                <a:cs typeface="Arial"/>
              </a:rPr>
              <a:t>1 </a:t>
            </a:r>
            <a:r>
              <a:rPr sz="2800" spc="-204" dirty="0">
                <a:solidFill>
                  <a:srgbClr val="006FC0"/>
                </a:solidFill>
                <a:latin typeface="Arial"/>
                <a:cs typeface="Arial"/>
              </a:rPr>
              <a:t>B</a:t>
            </a:r>
            <a:r>
              <a:rPr sz="2775" spc="-307" baseline="-21021" dirty="0">
                <a:solidFill>
                  <a:srgbClr val="006FC0"/>
                </a:solidFill>
                <a:latin typeface="Arial"/>
                <a:cs typeface="Arial"/>
              </a:rPr>
              <a:t>0</a:t>
            </a:r>
            <a:r>
              <a:rPr sz="2800" spc="-204" dirty="0">
                <a:solidFill>
                  <a:srgbClr val="006FC0"/>
                </a:solidFill>
                <a:latin typeface="Arial"/>
                <a:cs typeface="Arial"/>
              </a:rPr>
              <a:t>= </a:t>
            </a:r>
            <a:r>
              <a:rPr sz="2800" spc="-400" dirty="0">
                <a:solidFill>
                  <a:srgbClr val="006FC0"/>
                </a:solidFill>
                <a:latin typeface="Arial"/>
                <a:cs typeface="Arial"/>
              </a:rPr>
              <a:t>0 0 1</a:t>
            </a:r>
            <a:r>
              <a:rPr sz="2800" spc="-46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280" dirty="0">
                <a:solidFill>
                  <a:srgbClr val="006FC0"/>
                </a:solidFill>
                <a:latin typeface="Arial"/>
                <a:cs typeface="Arial"/>
              </a:rPr>
              <a:t>1.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819400" y="4343400"/>
            <a:ext cx="6329680" cy="2514600"/>
            <a:chOff x="2819400" y="4343400"/>
            <a:chExt cx="6329680" cy="2514600"/>
          </a:xfrm>
        </p:grpSpPr>
        <p:sp>
          <p:nvSpPr>
            <p:cNvPr id="9" name="object 9"/>
            <p:cNvSpPr/>
            <p:nvPr/>
          </p:nvSpPr>
          <p:spPr>
            <a:xfrm>
              <a:off x="8593835" y="6620254"/>
              <a:ext cx="550164" cy="23774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674608" y="6556242"/>
              <a:ext cx="469392" cy="3017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41079" y="6644639"/>
              <a:ext cx="502920" cy="1828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641079" y="6644639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19400" y="4343400"/>
              <a:ext cx="3729228" cy="220065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787638" y="6649770"/>
            <a:ext cx="25654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rlito"/>
                <a:cs typeface="Carlito"/>
              </a:rPr>
              <a:t>61</a:t>
            </a:r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2493264" y="155460"/>
              <a:ext cx="4152899" cy="104087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798191" y="289382"/>
            <a:ext cx="354711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45" dirty="0"/>
              <a:t>PARALLEL</a:t>
            </a:r>
            <a:r>
              <a:rPr sz="3600" spc="-95" dirty="0"/>
              <a:t> </a:t>
            </a:r>
            <a:r>
              <a:rPr sz="3600" spc="-55" dirty="0"/>
              <a:t>ADDER</a:t>
            </a:r>
            <a:endParaRPr sz="3600"/>
          </a:p>
        </p:txBody>
      </p:sp>
      <p:grpSp>
        <p:nvGrpSpPr>
          <p:cNvPr id="7" name="object 7"/>
          <p:cNvGrpSpPr/>
          <p:nvPr/>
        </p:nvGrpSpPr>
        <p:grpSpPr>
          <a:xfrm>
            <a:off x="1104900" y="1447800"/>
            <a:ext cx="8044180" cy="5410200"/>
            <a:chOff x="1104900" y="1447800"/>
            <a:chExt cx="8044180" cy="5410200"/>
          </a:xfrm>
        </p:grpSpPr>
        <p:sp>
          <p:nvSpPr>
            <p:cNvPr id="8" name="object 8"/>
            <p:cNvSpPr/>
            <p:nvPr/>
          </p:nvSpPr>
          <p:spPr>
            <a:xfrm>
              <a:off x="8593835" y="6620254"/>
              <a:ext cx="550164" cy="23774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674607" y="6556242"/>
              <a:ext cx="469392" cy="3017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641080" y="6644640"/>
              <a:ext cx="502920" cy="1828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104900" y="1447800"/>
              <a:ext cx="6934200" cy="408584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966976" y="6034227"/>
            <a:ext cx="511746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Palladio Uralic"/>
                <a:cs typeface="Palladio Uralic"/>
              </a:rPr>
              <a:t>Logic </a:t>
            </a:r>
            <a:r>
              <a:rPr sz="2400" b="1" dirty="0">
                <a:latin typeface="Palladio Uralic"/>
                <a:cs typeface="Palladio Uralic"/>
              </a:rPr>
              <a:t>diagram </a:t>
            </a:r>
            <a:r>
              <a:rPr sz="2400" b="1" spc="-5" dirty="0">
                <a:latin typeface="Palladio Uralic"/>
                <a:cs typeface="Palladio Uralic"/>
              </a:rPr>
              <a:t>of 4-bit </a:t>
            </a:r>
            <a:r>
              <a:rPr sz="2400" b="1" dirty="0">
                <a:latin typeface="Palladio Uralic"/>
                <a:cs typeface="Palladio Uralic"/>
              </a:rPr>
              <a:t>parallel</a:t>
            </a:r>
            <a:r>
              <a:rPr sz="2400" b="1" spc="-45" dirty="0">
                <a:latin typeface="Palladio Uralic"/>
                <a:cs typeface="Palladio Uralic"/>
              </a:rPr>
              <a:t> </a:t>
            </a:r>
            <a:r>
              <a:rPr sz="2400" b="1" spc="-5" dirty="0">
                <a:latin typeface="Palladio Uralic"/>
                <a:cs typeface="Palladio Uralic"/>
              </a:rPr>
              <a:t>adder</a:t>
            </a:r>
            <a:endParaRPr sz="2400">
              <a:latin typeface="Palladio Uralic"/>
              <a:cs typeface="Palladio Uralic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787638" y="6649770"/>
            <a:ext cx="25654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rlito"/>
                <a:cs typeface="Carlito"/>
              </a:rPr>
              <a:t>62</a:t>
            </a:r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2493264" y="155460"/>
              <a:ext cx="4152899" cy="104087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798191" y="289382"/>
            <a:ext cx="354711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45" dirty="0"/>
              <a:t>PARALLEL</a:t>
            </a:r>
            <a:r>
              <a:rPr sz="3600" spc="-95" dirty="0"/>
              <a:t> </a:t>
            </a:r>
            <a:r>
              <a:rPr sz="3600" spc="-55" dirty="0"/>
              <a:t>ADDER</a:t>
            </a:r>
            <a:endParaRPr sz="3600"/>
          </a:p>
        </p:txBody>
      </p:sp>
      <p:sp>
        <p:nvSpPr>
          <p:cNvPr id="7" name="object 7"/>
          <p:cNvSpPr txBox="1"/>
          <p:nvPr/>
        </p:nvSpPr>
        <p:spPr>
          <a:xfrm>
            <a:off x="307340" y="1614042"/>
            <a:ext cx="8529955" cy="429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53085" marR="83185" indent="-464820" algn="just">
              <a:lnSpc>
                <a:spcPct val="100000"/>
              </a:lnSpc>
              <a:spcBef>
                <a:spcPts val="95"/>
              </a:spcBef>
              <a:buClr>
                <a:srgbClr val="E36C09"/>
              </a:buClr>
              <a:buFont typeface="Wingdings"/>
              <a:buChar char=""/>
              <a:tabLst>
                <a:tab pos="553720" algn="l"/>
              </a:tabLst>
            </a:pP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bits 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are 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added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with </a:t>
            </a:r>
            <a:r>
              <a:rPr sz="2800" spc="-60" dirty="0">
                <a:solidFill>
                  <a:srgbClr val="006FC0"/>
                </a:solidFill>
                <a:latin typeface="Arial"/>
                <a:cs typeface="Arial"/>
              </a:rPr>
              <a:t>full 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adders, </a:t>
            </a:r>
            <a:r>
              <a:rPr sz="2800" spc="-175" dirty="0">
                <a:latin typeface="Arial"/>
                <a:cs typeface="Arial"/>
              </a:rPr>
              <a:t>starting </a:t>
            </a:r>
            <a:r>
              <a:rPr sz="2800" spc="-100" dirty="0">
                <a:latin typeface="Arial"/>
                <a:cs typeface="Arial"/>
              </a:rPr>
              <a:t>from </a:t>
            </a:r>
            <a:r>
              <a:rPr sz="2800" spc="-170" dirty="0">
                <a:latin typeface="Arial"/>
                <a:cs typeface="Arial"/>
              </a:rPr>
              <a:t>the  </a:t>
            </a:r>
            <a:r>
              <a:rPr sz="2800" spc="-245" dirty="0">
                <a:latin typeface="Arial"/>
                <a:cs typeface="Arial"/>
              </a:rPr>
              <a:t>least </a:t>
            </a:r>
            <a:r>
              <a:rPr sz="2800" spc="-175" dirty="0">
                <a:latin typeface="Arial"/>
                <a:cs typeface="Arial"/>
              </a:rPr>
              <a:t>significant </a:t>
            </a:r>
            <a:r>
              <a:rPr sz="2800" spc="-150" dirty="0">
                <a:latin typeface="Arial"/>
                <a:cs typeface="Arial"/>
              </a:rPr>
              <a:t>position</a:t>
            </a:r>
            <a:r>
              <a:rPr sz="2800" spc="-150" dirty="0">
                <a:solidFill>
                  <a:srgbClr val="006FC0"/>
                </a:solidFill>
                <a:latin typeface="Arial"/>
                <a:cs typeface="Arial"/>
              </a:rPr>
              <a:t>, </a:t>
            </a:r>
            <a:r>
              <a:rPr sz="2800" spc="-50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800" spc="-100" dirty="0">
                <a:solidFill>
                  <a:srgbClr val="006FC0"/>
                </a:solidFill>
                <a:latin typeface="Arial"/>
                <a:cs typeface="Arial"/>
              </a:rPr>
              <a:t>form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325" dirty="0">
                <a:solidFill>
                  <a:srgbClr val="006FC0"/>
                </a:solidFill>
                <a:latin typeface="Arial"/>
                <a:cs typeface="Arial"/>
              </a:rPr>
              <a:t>sum </a:t>
            </a:r>
            <a:r>
              <a:rPr sz="2800" spc="-55" dirty="0">
                <a:solidFill>
                  <a:srgbClr val="006FC0"/>
                </a:solidFill>
                <a:latin typeface="Arial"/>
                <a:cs typeface="Arial"/>
              </a:rPr>
              <a:t>bit </a:t>
            </a:r>
            <a:r>
              <a:rPr sz="2800" spc="-260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spc="-160" dirty="0">
                <a:solidFill>
                  <a:srgbClr val="006FC0"/>
                </a:solidFill>
                <a:latin typeface="Arial"/>
                <a:cs typeface="Arial"/>
              </a:rPr>
              <a:t>carry  </a:t>
            </a:r>
            <a:r>
              <a:rPr sz="2800" spc="-80" dirty="0">
                <a:solidFill>
                  <a:srgbClr val="006FC0"/>
                </a:solidFill>
                <a:latin typeface="Arial"/>
                <a:cs typeface="Arial"/>
              </a:rPr>
              <a:t>bit.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E36C09"/>
              </a:buClr>
              <a:buFont typeface="Wingdings"/>
              <a:buChar char=""/>
            </a:pPr>
            <a:endParaRPr sz="2900">
              <a:latin typeface="Arial"/>
              <a:cs typeface="Arial"/>
            </a:endParaRPr>
          </a:p>
          <a:p>
            <a:pPr marL="553085" marR="80645" indent="-464820" algn="just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553720" algn="l"/>
              </a:tabLst>
            </a:pP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input </a:t>
            </a:r>
            <a:r>
              <a:rPr sz="2800" spc="-155" dirty="0">
                <a:solidFill>
                  <a:srgbClr val="006FC0"/>
                </a:solidFill>
                <a:latin typeface="Arial"/>
                <a:cs typeface="Arial"/>
              </a:rPr>
              <a:t>carry </a:t>
            </a:r>
            <a:r>
              <a:rPr sz="2800" spc="-275" dirty="0">
                <a:latin typeface="Arial"/>
                <a:cs typeface="Arial"/>
              </a:rPr>
              <a:t>C</a:t>
            </a:r>
            <a:r>
              <a:rPr sz="2775" spc="-412" baseline="-21021" dirty="0">
                <a:latin typeface="Arial"/>
                <a:cs typeface="Arial"/>
              </a:rPr>
              <a:t>0 </a:t>
            </a:r>
            <a:r>
              <a:rPr sz="2800" spc="-110" dirty="0">
                <a:latin typeface="Arial"/>
                <a:cs typeface="Arial"/>
              </a:rPr>
              <a:t>in </a:t>
            </a:r>
            <a:r>
              <a:rPr sz="2800" spc="-170" dirty="0">
                <a:latin typeface="Arial"/>
                <a:cs typeface="Arial"/>
              </a:rPr>
              <a:t>the </a:t>
            </a:r>
            <a:r>
              <a:rPr sz="2800" spc="-245" dirty="0">
                <a:latin typeface="Arial"/>
                <a:cs typeface="Arial"/>
              </a:rPr>
              <a:t>least </a:t>
            </a:r>
            <a:r>
              <a:rPr sz="2800" spc="-175" dirty="0">
                <a:latin typeface="Arial"/>
                <a:cs typeface="Arial"/>
              </a:rPr>
              <a:t>significant </a:t>
            </a:r>
            <a:r>
              <a:rPr sz="2800" spc="-145" dirty="0">
                <a:latin typeface="Arial"/>
                <a:cs typeface="Arial"/>
              </a:rPr>
              <a:t>position </a:t>
            </a:r>
            <a:r>
              <a:rPr sz="2800" spc="-229" dirty="0">
                <a:latin typeface="Arial"/>
                <a:cs typeface="Arial"/>
              </a:rPr>
              <a:t>must  </a:t>
            </a:r>
            <a:r>
              <a:rPr sz="2800" spc="-275" dirty="0">
                <a:latin typeface="Arial"/>
                <a:cs typeface="Arial"/>
              </a:rPr>
              <a:t>be </a:t>
            </a:r>
            <a:r>
              <a:rPr sz="2800" spc="-280" dirty="0">
                <a:latin typeface="Arial"/>
                <a:cs typeface="Arial"/>
              </a:rPr>
              <a:t>0. </a:t>
            </a: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55" dirty="0">
                <a:solidFill>
                  <a:srgbClr val="006FC0"/>
                </a:solidFill>
                <a:latin typeface="Arial"/>
                <a:cs typeface="Arial"/>
              </a:rPr>
              <a:t>carry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output </a:t>
            </a:r>
            <a:r>
              <a:rPr sz="2800" spc="-80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60" dirty="0">
                <a:solidFill>
                  <a:srgbClr val="006FC0"/>
                </a:solidFill>
                <a:latin typeface="Arial"/>
                <a:cs typeface="Arial"/>
              </a:rPr>
              <a:t>lower </a:t>
            </a:r>
            <a:r>
              <a:rPr sz="2800" spc="-135" dirty="0">
                <a:solidFill>
                  <a:srgbClr val="006FC0"/>
                </a:solidFill>
                <a:latin typeface="Arial"/>
                <a:cs typeface="Arial"/>
              </a:rPr>
              <a:t>order </a:t>
            </a:r>
            <a:r>
              <a:rPr sz="2800" spc="-310" dirty="0">
                <a:solidFill>
                  <a:srgbClr val="006FC0"/>
                </a:solidFill>
                <a:latin typeface="Arial"/>
                <a:cs typeface="Arial"/>
              </a:rPr>
              <a:t>stage </a:t>
            </a:r>
            <a:r>
              <a:rPr sz="2800" spc="-260" dirty="0">
                <a:solidFill>
                  <a:srgbClr val="006FC0"/>
                </a:solidFill>
                <a:latin typeface="Arial"/>
                <a:cs typeface="Arial"/>
              </a:rPr>
              <a:t>is  </a:t>
            </a:r>
            <a:r>
              <a:rPr sz="2800" spc="-204" dirty="0">
                <a:solidFill>
                  <a:srgbClr val="006FC0"/>
                </a:solidFill>
                <a:latin typeface="Arial"/>
                <a:cs typeface="Arial"/>
              </a:rPr>
              <a:t>connected </a:t>
            </a:r>
            <a:r>
              <a:rPr sz="2800" spc="-55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60" dirty="0">
                <a:solidFill>
                  <a:srgbClr val="006FC0"/>
                </a:solidFill>
                <a:latin typeface="Arial"/>
                <a:cs typeface="Arial"/>
              </a:rPr>
              <a:t>carry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input 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next </a:t>
            </a:r>
            <a:r>
              <a:rPr sz="2800" spc="-195" dirty="0">
                <a:solidFill>
                  <a:srgbClr val="006FC0"/>
                </a:solidFill>
                <a:latin typeface="Arial"/>
                <a:cs typeface="Arial"/>
              </a:rPr>
              <a:t>higher </a:t>
            </a:r>
            <a:r>
              <a:rPr sz="2800" spc="-135" dirty="0">
                <a:solidFill>
                  <a:srgbClr val="006FC0"/>
                </a:solidFill>
                <a:latin typeface="Arial"/>
                <a:cs typeface="Arial"/>
              </a:rPr>
              <a:t>order  </a:t>
            </a:r>
            <a:r>
              <a:rPr sz="2800" spc="-285" dirty="0">
                <a:solidFill>
                  <a:srgbClr val="006FC0"/>
                </a:solidFill>
                <a:latin typeface="Arial"/>
                <a:cs typeface="Arial"/>
              </a:rPr>
              <a:t>stage.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E36C09"/>
              </a:buClr>
              <a:buFont typeface="Wingdings"/>
              <a:buChar char=""/>
            </a:pPr>
            <a:endParaRPr sz="2900">
              <a:latin typeface="Arial"/>
              <a:cs typeface="Arial"/>
            </a:endParaRPr>
          </a:p>
          <a:p>
            <a:pPr marL="553720" indent="-464820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553085" algn="l"/>
                <a:tab pos="553720" algn="l"/>
              </a:tabLst>
            </a:pP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Hence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this </a:t>
            </a:r>
            <a:r>
              <a:rPr sz="2800" spc="-150" dirty="0">
                <a:solidFill>
                  <a:srgbClr val="006FC0"/>
                </a:solidFill>
                <a:latin typeface="Arial"/>
                <a:cs typeface="Arial"/>
              </a:rPr>
              <a:t>type 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215" dirty="0">
                <a:solidFill>
                  <a:srgbClr val="006FC0"/>
                </a:solidFill>
                <a:latin typeface="Arial"/>
                <a:cs typeface="Arial"/>
              </a:rPr>
              <a:t>adder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800" spc="-195" dirty="0">
                <a:latin typeface="Arial"/>
                <a:cs typeface="Arial"/>
              </a:rPr>
              <a:t>called </a:t>
            </a:r>
            <a:r>
              <a:rPr sz="2800" spc="-135" dirty="0">
                <a:latin typeface="Arial"/>
                <a:cs typeface="Arial"/>
              </a:rPr>
              <a:t>ripple-carry</a:t>
            </a:r>
            <a:r>
              <a:rPr sz="2800" spc="-335" dirty="0">
                <a:latin typeface="Arial"/>
                <a:cs typeface="Arial"/>
              </a:rPr>
              <a:t> </a:t>
            </a:r>
            <a:r>
              <a:rPr sz="2800" spc="-204" dirty="0">
                <a:latin typeface="Arial"/>
                <a:cs typeface="Arial"/>
              </a:rPr>
              <a:t>adder.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sp>
          <p:nvSpPr>
            <p:cNvPr id="9" name="object 9"/>
            <p:cNvSpPr/>
            <p:nvPr/>
          </p:nvSpPr>
          <p:spPr>
            <a:xfrm>
              <a:off x="8593835" y="6620255"/>
              <a:ext cx="550164" cy="23774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674607" y="6556243"/>
              <a:ext cx="469392" cy="3017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787638" y="6649770"/>
            <a:ext cx="25654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rlito"/>
                <a:cs typeface="Carlito"/>
              </a:rPr>
              <a:t>63</a:t>
            </a:r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2493264" y="155460"/>
              <a:ext cx="4152899" cy="104087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798191" y="289382"/>
            <a:ext cx="354711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45" dirty="0"/>
              <a:t>PARALLEL</a:t>
            </a:r>
            <a:r>
              <a:rPr sz="3600" spc="-95" dirty="0"/>
              <a:t> </a:t>
            </a:r>
            <a:r>
              <a:rPr sz="3600" spc="-55" dirty="0"/>
              <a:t>ADDER</a:t>
            </a:r>
            <a:endParaRPr sz="3600"/>
          </a:p>
        </p:txBody>
      </p:sp>
      <p:sp>
        <p:nvSpPr>
          <p:cNvPr id="7" name="object 7"/>
          <p:cNvSpPr txBox="1"/>
          <p:nvPr/>
        </p:nvSpPr>
        <p:spPr>
          <a:xfrm>
            <a:off x="294640" y="1214373"/>
            <a:ext cx="8568690" cy="51466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65785" marR="106680" indent="-464820" algn="just">
              <a:lnSpc>
                <a:spcPct val="100000"/>
              </a:lnSpc>
              <a:spcBef>
                <a:spcPts val="95"/>
              </a:spcBef>
              <a:buClr>
                <a:srgbClr val="E36C09"/>
              </a:buClr>
              <a:buFont typeface="Wingdings"/>
              <a:buChar char=""/>
              <a:tabLst>
                <a:tab pos="566420" algn="l"/>
              </a:tabLst>
            </a:pPr>
            <a:r>
              <a:rPr sz="2800" spc="-100" dirty="0">
                <a:solidFill>
                  <a:srgbClr val="006FC0"/>
                </a:solidFill>
                <a:latin typeface="Arial"/>
                <a:cs typeface="Arial"/>
              </a:rPr>
              <a:t>In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245" dirty="0">
                <a:solidFill>
                  <a:srgbClr val="006FC0"/>
                </a:solidFill>
                <a:latin typeface="Arial"/>
                <a:cs typeface="Arial"/>
              </a:rPr>
              <a:t>least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significant </a:t>
            </a:r>
            <a:r>
              <a:rPr sz="2800" spc="-285" dirty="0">
                <a:solidFill>
                  <a:srgbClr val="006FC0"/>
                </a:solidFill>
                <a:latin typeface="Arial"/>
                <a:cs typeface="Arial"/>
              </a:rPr>
              <a:t>stage, </a:t>
            </a:r>
            <a:r>
              <a:rPr sz="2800" spc="-95" dirty="0">
                <a:latin typeface="Arial"/>
                <a:cs typeface="Arial"/>
              </a:rPr>
              <a:t>A</a:t>
            </a:r>
            <a:r>
              <a:rPr sz="2775" spc="-142" baseline="-21021" dirty="0">
                <a:latin typeface="Arial"/>
                <a:cs typeface="Arial"/>
              </a:rPr>
              <a:t>0</a:t>
            </a:r>
            <a:r>
              <a:rPr sz="2800" spc="-95" dirty="0">
                <a:latin typeface="Arial"/>
                <a:cs typeface="Arial"/>
              </a:rPr>
              <a:t>, </a:t>
            </a:r>
            <a:r>
              <a:rPr sz="2800" spc="-340" dirty="0">
                <a:latin typeface="Arial"/>
                <a:cs typeface="Arial"/>
              </a:rPr>
              <a:t>B</a:t>
            </a:r>
            <a:r>
              <a:rPr sz="2775" spc="-509" baseline="-21021" dirty="0">
                <a:latin typeface="Arial"/>
                <a:cs typeface="Arial"/>
              </a:rPr>
              <a:t>0 </a:t>
            </a:r>
            <a:r>
              <a:rPr sz="2800" spc="-254" dirty="0">
                <a:latin typeface="Arial"/>
                <a:cs typeface="Arial"/>
              </a:rPr>
              <a:t>and </a:t>
            </a:r>
            <a:r>
              <a:rPr sz="2800" spc="-275" dirty="0">
                <a:latin typeface="Arial"/>
                <a:cs typeface="Arial"/>
              </a:rPr>
              <a:t>C</a:t>
            </a:r>
            <a:r>
              <a:rPr sz="2775" spc="-412" baseline="-21021" dirty="0">
                <a:latin typeface="Arial"/>
                <a:cs typeface="Arial"/>
              </a:rPr>
              <a:t>0 </a:t>
            </a:r>
            <a:r>
              <a:rPr sz="2800" spc="-195" dirty="0">
                <a:latin typeface="Arial"/>
                <a:cs typeface="Arial"/>
              </a:rPr>
              <a:t>(which </a:t>
            </a:r>
            <a:r>
              <a:rPr sz="2800" spc="-265" dirty="0">
                <a:latin typeface="Arial"/>
                <a:cs typeface="Arial"/>
              </a:rPr>
              <a:t>is </a:t>
            </a:r>
            <a:r>
              <a:rPr sz="2800" spc="-320" dirty="0">
                <a:latin typeface="Arial"/>
                <a:cs typeface="Arial"/>
              </a:rPr>
              <a:t>0) </a:t>
            </a:r>
            <a:r>
              <a:rPr sz="2800" spc="-250" dirty="0">
                <a:latin typeface="Arial"/>
                <a:cs typeface="Arial"/>
              </a:rPr>
              <a:t>are  </a:t>
            </a:r>
            <a:r>
              <a:rPr sz="2800" spc="-245" dirty="0">
                <a:latin typeface="Arial"/>
                <a:cs typeface="Arial"/>
              </a:rPr>
              <a:t>added </a:t>
            </a:r>
            <a:r>
              <a:rPr sz="2800" spc="-180" dirty="0">
                <a:latin typeface="Arial"/>
                <a:cs typeface="Arial"/>
              </a:rPr>
              <a:t>resulting </a:t>
            </a:r>
            <a:r>
              <a:rPr sz="2800" spc="-110" dirty="0">
                <a:latin typeface="Arial"/>
                <a:cs typeface="Arial"/>
              </a:rPr>
              <a:t>in </a:t>
            </a:r>
            <a:r>
              <a:rPr sz="2800" spc="-325" dirty="0">
                <a:latin typeface="Arial"/>
                <a:cs typeface="Arial"/>
              </a:rPr>
              <a:t>sum </a:t>
            </a:r>
            <a:r>
              <a:rPr sz="2800" spc="-409" dirty="0">
                <a:latin typeface="Arial"/>
                <a:cs typeface="Arial"/>
              </a:rPr>
              <a:t>S</a:t>
            </a:r>
            <a:r>
              <a:rPr sz="2775" spc="-615" baseline="-21021" dirty="0">
                <a:latin typeface="Arial"/>
                <a:cs typeface="Arial"/>
              </a:rPr>
              <a:t>0 </a:t>
            </a:r>
            <a:r>
              <a:rPr sz="2800" spc="-254" dirty="0">
                <a:latin typeface="Arial"/>
                <a:cs typeface="Arial"/>
              </a:rPr>
              <a:t>and </a:t>
            </a:r>
            <a:r>
              <a:rPr sz="2800" spc="-155" dirty="0">
                <a:latin typeface="Arial"/>
                <a:cs typeface="Arial"/>
              </a:rPr>
              <a:t>carry </a:t>
            </a:r>
            <a:r>
              <a:rPr sz="2800" spc="-240" dirty="0">
                <a:latin typeface="Arial"/>
                <a:cs typeface="Arial"/>
              </a:rPr>
              <a:t>C</a:t>
            </a:r>
            <a:r>
              <a:rPr sz="2775" spc="-359" baseline="-21021" dirty="0">
                <a:latin typeface="Arial"/>
                <a:cs typeface="Arial"/>
              </a:rPr>
              <a:t>1</a:t>
            </a:r>
            <a:r>
              <a:rPr sz="2800" spc="-240" dirty="0">
                <a:solidFill>
                  <a:srgbClr val="006FC0"/>
                </a:solidFill>
                <a:latin typeface="Arial"/>
                <a:cs typeface="Arial"/>
              </a:rPr>
              <a:t>. </a:t>
            </a:r>
            <a:r>
              <a:rPr sz="2800" spc="-220" dirty="0">
                <a:solidFill>
                  <a:srgbClr val="006FC0"/>
                </a:solidFill>
                <a:latin typeface="Arial"/>
                <a:cs typeface="Arial"/>
              </a:rPr>
              <a:t>This </a:t>
            </a:r>
            <a:r>
              <a:rPr sz="2800" spc="-155" dirty="0">
                <a:solidFill>
                  <a:srgbClr val="006FC0"/>
                </a:solidFill>
                <a:latin typeface="Arial"/>
                <a:cs typeface="Arial"/>
              </a:rPr>
              <a:t>carry </a:t>
            </a:r>
            <a:r>
              <a:rPr sz="2800" spc="-275" dirty="0">
                <a:solidFill>
                  <a:srgbClr val="006FC0"/>
                </a:solidFill>
                <a:latin typeface="Arial"/>
                <a:cs typeface="Arial"/>
              </a:rPr>
              <a:t>C</a:t>
            </a:r>
            <a:r>
              <a:rPr sz="2775" spc="-412" baseline="-21021" dirty="0">
                <a:solidFill>
                  <a:srgbClr val="006FC0"/>
                </a:solidFill>
                <a:latin typeface="Arial"/>
                <a:cs typeface="Arial"/>
              </a:rPr>
              <a:t>1 </a:t>
            </a:r>
            <a:r>
              <a:rPr sz="1850" spc="-27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295" dirty="0">
                <a:solidFill>
                  <a:srgbClr val="006FC0"/>
                </a:solidFill>
                <a:latin typeface="Arial"/>
                <a:cs typeface="Arial"/>
              </a:rPr>
              <a:t>becomes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55" dirty="0">
                <a:solidFill>
                  <a:srgbClr val="006FC0"/>
                </a:solidFill>
                <a:latin typeface="Arial"/>
                <a:cs typeface="Arial"/>
              </a:rPr>
              <a:t>carry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input </a:t>
            </a:r>
            <a:r>
              <a:rPr sz="2800" spc="-50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270" dirty="0">
                <a:solidFill>
                  <a:srgbClr val="006FC0"/>
                </a:solidFill>
                <a:latin typeface="Arial"/>
                <a:cs typeface="Arial"/>
              </a:rPr>
              <a:t>second</a:t>
            </a:r>
            <a:r>
              <a:rPr sz="2800" spc="-114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285" dirty="0">
                <a:solidFill>
                  <a:srgbClr val="006FC0"/>
                </a:solidFill>
                <a:latin typeface="Arial"/>
                <a:cs typeface="Arial"/>
              </a:rPr>
              <a:t>stage.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E36C09"/>
              </a:buClr>
              <a:buFont typeface="Wingdings"/>
              <a:buChar char=""/>
            </a:pPr>
            <a:endParaRPr sz="2900">
              <a:latin typeface="Arial"/>
              <a:cs typeface="Arial"/>
            </a:endParaRPr>
          </a:p>
          <a:p>
            <a:pPr marL="565785" marR="105410" indent="-464820" algn="just">
              <a:lnSpc>
                <a:spcPct val="100000"/>
              </a:lnSpc>
              <a:spcBef>
                <a:spcPts val="5"/>
              </a:spcBef>
              <a:buClr>
                <a:srgbClr val="E36C09"/>
              </a:buClr>
              <a:buFont typeface="Wingdings"/>
              <a:buChar char=""/>
              <a:tabLst>
                <a:tab pos="566420" algn="l"/>
              </a:tabLst>
            </a:pPr>
            <a:r>
              <a:rPr sz="2800" spc="-155" dirty="0">
                <a:solidFill>
                  <a:srgbClr val="006FC0"/>
                </a:solidFill>
                <a:latin typeface="Arial"/>
                <a:cs typeface="Arial"/>
              </a:rPr>
              <a:t>Similarly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in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270" dirty="0">
                <a:solidFill>
                  <a:srgbClr val="006FC0"/>
                </a:solidFill>
                <a:latin typeface="Arial"/>
                <a:cs typeface="Arial"/>
              </a:rPr>
              <a:t>second </a:t>
            </a:r>
            <a:r>
              <a:rPr sz="2800" spc="-285" dirty="0">
                <a:solidFill>
                  <a:srgbClr val="006FC0"/>
                </a:solidFill>
                <a:latin typeface="Arial"/>
                <a:cs typeface="Arial"/>
              </a:rPr>
              <a:t>stage, </a:t>
            </a:r>
            <a:r>
              <a:rPr sz="2800" spc="-95" dirty="0">
                <a:latin typeface="Arial"/>
                <a:cs typeface="Arial"/>
              </a:rPr>
              <a:t>A</a:t>
            </a:r>
            <a:r>
              <a:rPr sz="2775" spc="-142" baseline="-21021" dirty="0">
                <a:latin typeface="Arial"/>
                <a:cs typeface="Arial"/>
              </a:rPr>
              <a:t>1</a:t>
            </a:r>
            <a:r>
              <a:rPr sz="2800" spc="-95" dirty="0">
                <a:latin typeface="Arial"/>
                <a:cs typeface="Arial"/>
              </a:rPr>
              <a:t>, </a:t>
            </a:r>
            <a:r>
              <a:rPr sz="2800" spc="-340" dirty="0">
                <a:latin typeface="Arial"/>
                <a:cs typeface="Arial"/>
              </a:rPr>
              <a:t>B</a:t>
            </a:r>
            <a:r>
              <a:rPr sz="2775" spc="-509" baseline="-21021" dirty="0">
                <a:latin typeface="Arial"/>
                <a:cs typeface="Arial"/>
              </a:rPr>
              <a:t>1 </a:t>
            </a:r>
            <a:r>
              <a:rPr sz="2800" spc="-254" dirty="0">
                <a:latin typeface="Arial"/>
                <a:cs typeface="Arial"/>
              </a:rPr>
              <a:t>and </a:t>
            </a:r>
            <a:r>
              <a:rPr sz="2800" spc="-275" dirty="0">
                <a:latin typeface="Arial"/>
                <a:cs typeface="Arial"/>
              </a:rPr>
              <a:t>C</a:t>
            </a:r>
            <a:r>
              <a:rPr sz="2775" spc="-412" baseline="-21021" dirty="0">
                <a:latin typeface="Arial"/>
                <a:cs typeface="Arial"/>
              </a:rPr>
              <a:t>1 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are </a:t>
            </a:r>
            <a:r>
              <a:rPr sz="2800" spc="-245" dirty="0">
                <a:solidFill>
                  <a:srgbClr val="006FC0"/>
                </a:solidFill>
                <a:latin typeface="Arial"/>
                <a:cs typeface="Arial"/>
              </a:rPr>
              <a:t>added 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resulting </a:t>
            </a:r>
            <a:r>
              <a:rPr sz="2800" spc="-110" dirty="0">
                <a:solidFill>
                  <a:srgbClr val="006FC0"/>
                </a:solidFill>
                <a:latin typeface="Arial"/>
                <a:cs typeface="Arial"/>
              </a:rPr>
              <a:t>in </a:t>
            </a:r>
            <a:r>
              <a:rPr sz="2800" spc="-320" dirty="0">
                <a:solidFill>
                  <a:srgbClr val="006FC0"/>
                </a:solidFill>
                <a:latin typeface="Arial"/>
                <a:cs typeface="Arial"/>
              </a:rPr>
              <a:t>sum </a:t>
            </a:r>
            <a:r>
              <a:rPr sz="2800" spc="-409" dirty="0">
                <a:latin typeface="Arial"/>
                <a:cs typeface="Arial"/>
              </a:rPr>
              <a:t>S</a:t>
            </a:r>
            <a:r>
              <a:rPr sz="2775" spc="-615" baseline="-21021" dirty="0">
                <a:latin typeface="Arial"/>
                <a:cs typeface="Arial"/>
              </a:rPr>
              <a:t>1 </a:t>
            </a:r>
            <a:r>
              <a:rPr sz="2800" spc="-254" dirty="0">
                <a:latin typeface="Arial"/>
                <a:cs typeface="Arial"/>
              </a:rPr>
              <a:t>and </a:t>
            </a:r>
            <a:r>
              <a:rPr sz="2800" spc="-155" dirty="0">
                <a:latin typeface="Arial"/>
                <a:cs typeface="Arial"/>
              </a:rPr>
              <a:t>carry </a:t>
            </a:r>
            <a:r>
              <a:rPr sz="2800" spc="-220" dirty="0">
                <a:latin typeface="Arial"/>
                <a:cs typeface="Arial"/>
              </a:rPr>
              <a:t>C</a:t>
            </a:r>
            <a:r>
              <a:rPr sz="2775" spc="-330" baseline="-21021" dirty="0">
                <a:latin typeface="Arial"/>
                <a:cs typeface="Arial"/>
              </a:rPr>
              <a:t>2</a:t>
            </a:r>
            <a:r>
              <a:rPr sz="2775" spc="-330" baseline="-21021" dirty="0">
                <a:solidFill>
                  <a:srgbClr val="006FC0"/>
                </a:solidFill>
                <a:latin typeface="Arial"/>
                <a:cs typeface="Arial"/>
              </a:rPr>
              <a:t>, </a:t>
            </a:r>
            <a:r>
              <a:rPr sz="2800" spc="-110" dirty="0">
                <a:solidFill>
                  <a:srgbClr val="006FC0"/>
                </a:solidFill>
                <a:latin typeface="Arial"/>
                <a:cs typeface="Arial"/>
              </a:rPr>
              <a:t>in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70" dirty="0">
                <a:solidFill>
                  <a:srgbClr val="006FC0"/>
                </a:solidFill>
                <a:latin typeface="Arial"/>
                <a:cs typeface="Arial"/>
              </a:rPr>
              <a:t>third </a:t>
            </a:r>
            <a:r>
              <a:rPr sz="2800" spc="-285" dirty="0">
                <a:solidFill>
                  <a:srgbClr val="006FC0"/>
                </a:solidFill>
                <a:latin typeface="Arial"/>
                <a:cs typeface="Arial"/>
              </a:rPr>
              <a:t>stage, </a:t>
            </a:r>
            <a:r>
              <a:rPr sz="2800" spc="-100" dirty="0">
                <a:latin typeface="Arial"/>
                <a:cs typeface="Arial"/>
              </a:rPr>
              <a:t>A</a:t>
            </a:r>
            <a:r>
              <a:rPr sz="2775" spc="-150" baseline="-21021" dirty="0">
                <a:latin typeface="Arial"/>
                <a:cs typeface="Arial"/>
              </a:rPr>
              <a:t>2</a:t>
            </a:r>
            <a:r>
              <a:rPr sz="2800" spc="-100" dirty="0">
                <a:latin typeface="Arial"/>
                <a:cs typeface="Arial"/>
              </a:rPr>
              <a:t>, </a:t>
            </a:r>
            <a:r>
              <a:rPr sz="2800" spc="-350" dirty="0">
                <a:latin typeface="Arial"/>
                <a:cs typeface="Arial"/>
              </a:rPr>
              <a:t>B</a:t>
            </a:r>
            <a:r>
              <a:rPr sz="2775" spc="-525" baseline="-21021" dirty="0">
                <a:latin typeface="Arial"/>
                <a:cs typeface="Arial"/>
              </a:rPr>
              <a:t>2 </a:t>
            </a:r>
            <a:r>
              <a:rPr sz="1850" spc="-350" dirty="0">
                <a:latin typeface="Arial"/>
                <a:cs typeface="Arial"/>
              </a:rPr>
              <a:t> </a:t>
            </a:r>
            <a:r>
              <a:rPr sz="2800" spc="-254" dirty="0">
                <a:latin typeface="Arial"/>
                <a:cs typeface="Arial"/>
              </a:rPr>
              <a:t>and </a:t>
            </a:r>
            <a:r>
              <a:rPr sz="2800" spc="-280" dirty="0">
                <a:latin typeface="Arial"/>
                <a:cs typeface="Arial"/>
              </a:rPr>
              <a:t>C</a:t>
            </a:r>
            <a:r>
              <a:rPr sz="2775" spc="-419" baseline="-21021" dirty="0">
                <a:latin typeface="Arial"/>
                <a:cs typeface="Arial"/>
              </a:rPr>
              <a:t>2 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are </a:t>
            </a:r>
            <a:r>
              <a:rPr sz="2800" spc="-245" dirty="0">
                <a:solidFill>
                  <a:srgbClr val="006FC0"/>
                </a:solidFill>
                <a:latin typeface="Arial"/>
                <a:cs typeface="Arial"/>
              </a:rPr>
              <a:t>added </a:t>
            </a:r>
            <a:r>
              <a:rPr sz="2800" spc="-180" dirty="0">
                <a:solidFill>
                  <a:srgbClr val="006FC0"/>
                </a:solidFill>
                <a:latin typeface="Arial"/>
                <a:cs typeface="Arial"/>
              </a:rPr>
              <a:t>resulting </a:t>
            </a:r>
            <a:r>
              <a:rPr sz="2800" spc="-120" dirty="0">
                <a:solidFill>
                  <a:srgbClr val="006FC0"/>
                </a:solidFill>
                <a:latin typeface="Arial"/>
                <a:cs typeface="Arial"/>
              </a:rPr>
              <a:t>in </a:t>
            </a:r>
            <a:r>
              <a:rPr sz="2800" spc="-325" dirty="0">
                <a:solidFill>
                  <a:srgbClr val="006FC0"/>
                </a:solidFill>
                <a:latin typeface="Arial"/>
                <a:cs typeface="Arial"/>
              </a:rPr>
              <a:t>sum </a:t>
            </a:r>
            <a:r>
              <a:rPr sz="2800" spc="-409" dirty="0">
                <a:latin typeface="Arial"/>
                <a:cs typeface="Arial"/>
              </a:rPr>
              <a:t>S</a:t>
            </a:r>
            <a:r>
              <a:rPr sz="2775" spc="-615" baseline="-21021" dirty="0">
                <a:latin typeface="Arial"/>
                <a:cs typeface="Arial"/>
              </a:rPr>
              <a:t>2 </a:t>
            </a:r>
            <a:r>
              <a:rPr sz="2800" spc="-254" dirty="0">
                <a:latin typeface="Arial"/>
                <a:cs typeface="Arial"/>
              </a:rPr>
              <a:t>and </a:t>
            </a:r>
            <a:r>
              <a:rPr sz="2800" spc="-160" dirty="0">
                <a:latin typeface="Arial"/>
                <a:cs typeface="Arial"/>
              </a:rPr>
              <a:t>carry </a:t>
            </a:r>
            <a:r>
              <a:rPr sz="2800" spc="-220" dirty="0">
                <a:latin typeface="Arial"/>
                <a:cs typeface="Arial"/>
              </a:rPr>
              <a:t>C</a:t>
            </a:r>
            <a:r>
              <a:rPr sz="2775" spc="-330" baseline="-21021" dirty="0">
                <a:latin typeface="Arial"/>
                <a:cs typeface="Arial"/>
              </a:rPr>
              <a:t>3</a:t>
            </a:r>
            <a:r>
              <a:rPr sz="2775" spc="-330" baseline="-21021" dirty="0">
                <a:solidFill>
                  <a:srgbClr val="006FC0"/>
                </a:solidFill>
                <a:latin typeface="Arial"/>
                <a:cs typeface="Arial"/>
              </a:rPr>
              <a:t>, </a:t>
            </a:r>
            <a:r>
              <a:rPr sz="2800" spc="-120" dirty="0">
                <a:solidFill>
                  <a:srgbClr val="006FC0"/>
                </a:solidFill>
                <a:latin typeface="Arial"/>
                <a:cs typeface="Arial"/>
              </a:rPr>
              <a:t>in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the  </a:t>
            </a:r>
            <a:r>
              <a:rPr sz="2800" spc="-65" dirty="0">
                <a:solidFill>
                  <a:srgbClr val="006FC0"/>
                </a:solidFill>
                <a:latin typeface="Arial"/>
                <a:cs typeface="Arial"/>
              </a:rPr>
              <a:t>third </a:t>
            </a:r>
            <a:r>
              <a:rPr sz="2800" spc="-285" dirty="0">
                <a:solidFill>
                  <a:srgbClr val="006FC0"/>
                </a:solidFill>
                <a:latin typeface="Arial"/>
                <a:cs typeface="Arial"/>
              </a:rPr>
              <a:t>stage, </a:t>
            </a:r>
            <a:r>
              <a:rPr sz="2800" spc="-95" dirty="0">
                <a:latin typeface="Arial"/>
                <a:cs typeface="Arial"/>
              </a:rPr>
              <a:t>A</a:t>
            </a:r>
            <a:r>
              <a:rPr sz="2775" spc="-142" baseline="-21021" dirty="0">
                <a:latin typeface="Arial"/>
                <a:cs typeface="Arial"/>
              </a:rPr>
              <a:t>3</a:t>
            </a:r>
            <a:r>
              <a:rPr sz="2800" spc="-95" dirty="0">
                <a:latin typeface="Arial"/>
                <a:cs typeface="Arial"/>
              </a:rPr>
              <a:t>, </a:t>
            </a:r>
            <a:r>
              <a:rPr sz="2800" spc="-340" dirty="0">
                <a:latin typeface="Arial"/>
                <a:cs typeface="Arial"/>
              </a:rPr>
              <a:t>B</a:t>
            </a:r>
            <a:r>
              <a:rPr sz="2775" spc="-509" baseline="-21021" dirty="0">
                <a:latin typeface="Arial"/>
                <a:cs typeface="Arial"/>
              </a:rPr>
              <a:t>3 </a:t>
            </a:r>
            <a:r>
              <a:rPr sz="2800" spc="-260" dirty="0">
                <a:latin typeface="Arial"/>
                <a:cs typeface="Arial"/>
              </a:rPr>
              <a:t>and </a:t>
            </a:r>
            <a:r>
              <a:rPr sz="2800" spc="-280" dirty="0">
                <a:latin typeface="Arial"/>
                <a:cs typeface="Arial"/>
              </a:rPr>
              <a:t>C</a:t>
            </a:r>
            <a:r>
              <a:rPr sz="2775" spc="-419" baseline="-21021" dirty="0">
                <a:latin typeface="Arial"/>
                <a:cs typeface="Arial"/>
              </a:rPr>
              <a:t>3 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are added </a:t>
            </a:r>
            <a:r>
              <a:rPr sz="2800" spc="-180" dirty="0">
                <a:solidFill>
                  <a:srgbClr val="006FC0"/>
                </a:solidFill>
                <a:latin typeface="Arial"/>
                <a:cs typeface="Arial"/>
              </a:rPr>
              <a:t>resulting </a:t>
            </a:r>
            <a:r>
              <a:rPr sz="2800" spc="-120" dirty="0">
                <a:solidFill>
                  <a:srgbClr val="006FC0"/>
                </a:solidFill>
                <a:latin typeface="Arial"/>
                <a:cs typeface="Arial"/>
              </a:rPr>
              <a:t>in </a:t>
            </a:r>
            <a:r>
              <a:rPr sz="2800" spc="-325" dirty="0">
                <a:solidFill>
                  <a:srgbClr val="006FC0"/>
                </a:solidFill>
                <a:latin typeface="Arial"/>
                <a:cs typeface="Arial"/>
              </a:rPr>
              <a:t>sum </a:t>
            </a:r>
            <a:r>
              <a:rPr sz="2800" spc="-409" dirty="0">
                <a:latin typeface="Arial"/>
                <a:cs typeface="Arial"/>
              </a:rPr>
              <a:t>S</a:t>
            </a:r>
            <a:r>
              <a:rPr sz="2775" spc="-615" baseline="-21021" dirty="0">
                <a:latin typeface="Arial"/>
                <a:cs typeface="Arial"/>
              </a:rPr>
              <a:t>3 </a:t>
            </a:r>
            <a:r>
              <a:rPr sz="1850" spc="-409" dirty="0">
                <a:latin typeface="Arial"/>
                <a:cs typeface="Arial"/>
              </a:rPr>
              <a:t> </a:t>
            </a:r>
            <a:r>
              <a:rPr sz="2800" spc="-254" dirty="0">
                <a:latin typeface="Arial"/>
                <a:cs typeface="Arial"/>
              </a:rPr>
              <a:t>and </a:t>
            </a:r>
            <a:r>
              <a:rPr sz="2800" spc="-220" dirty="0">
                <a:latin typeface="Arial"/>
                <a:cs typeface="Arial"/>
              </a:rPr>
              <a:t>C</a:t>
            </a:r>
            <a:r>
              <a:rPr sz="2775" spc="-330" baseline="-21021" dirty="0">
                <a:latin typeface="Arial"/>
                <a:cs typeface="Arial"/>
              </a:rPr>
              <a:t>4, </a:t>
            </a:r>
            <a:r>
              <a:rPr sz="2800" spc="-185" dirty="0">
                <a:solidFill>
                  <a:srgbClr val="006FC0"/>
                </a:solidFill>
                <a:latin typeface="Arial"/>
                <a:cs typeface="Arial"/>
              </a:rPr>
              <a:t>which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output</a:t>
            </a:r>
            <a:r>
              <a:rPr sz="2800" spc="-31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155" dirty="0">
                <a:solidFill>
                  <a:srgbClr val="006FC0"/>
                </a:solidFill>
                <a:latin typeface="Arial"/>
                <a:cs typeface="Arial"/>
              </a:rPr>
              <a:t>carry.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E36C09"/>
              </a:buClr>
              <a:buFont typeface="Wingdings"/>
              <a:buChar char=""/>
            </a:pPr>
            <a:endParaRPr sz="2900">
              <a:latin typeface="Arial"/>
              <a:cs typeface="Arial"/>
            </a:endParaRPr>
          </a:p>
          <a:p>
            <a:pPr marL="565785" marR="109220" indent="-464820" algn="just">
              <a:lnSpc>
                <a:spcPct val="100000"/>
              </a:lnSpc>
              <a:spcBef>
                <a:spcPts val="5"/>
              </a:spcBef>
              <a:buClr>
                <a:srgbClr val="E36C09"/>
              </a:buClr>
              <a:buFont typeface="Wingdings"/>
              <a:buChar char=""/>
              <a:tabLst>
                <a:tab pos="566420" algn="l"/>
              </a:tabLst>
            </a:pP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Thus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95" dirty="0">
                <a:solidFill>
                  <a:srgbClr val="006FC0"/>
                </a:solidFill>
                <a:latin typeface="Arial"/>
                <a:cs typeface="Arial"/>
              </a:rPr>
              <a:t>circuit </a:t>
            </a:r>
            <a:r>
              <a:rPr sz="2800" spc="-225" dirty="0">
                <a:solidFill>
                  <a:srgbClr val="006FC0"/>
                </a:solidFill>
                <a:latin typeface="Arial"/>
                <a:cs typeface="Arial"/>
              </a:rPr>
              <a:t>results </a:t>
            </a:r>
            <a:r>
              <a:rPr sz="2800" spc="-120" dirty="0">
                <a:solidFill>
                  <a:srgbClr val="006FC0"/>
                </a:solidFill>
                <a:latin typeface="Arial"/>
                <a:cs typeface="Arial"/>
              </a:rPr>
              <a:t>in </a:t>
            </a:r>
            <a:r>
              <a:rPr sz="2800" spc="-395" dirty="0">
                <a:solidFill>
                  <a:srgbClr val="006FC0"/>
                </a:solidFill>
                <a:latin typeface="Arial"/>
                <a:cs typeface="Arial"/>
              </a:rPr>
              <a:t>a</a:t>
            </a:r>
            <a:r>
              <a:rPr sz="2800" spc="-1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325" dirty="0">
                <a:solidFill>
                  <a:srgbClr val="006FC0"/>
                </a:solidFill>
                <a:latin typeface="Arial"/>
                <a:cs typeface="Arial"/>
              </a:rPr>
              <a:t>sum </a:t>
            </a:r>
            <a:r>
              <a:rPr sz="2800" spc="-355" dirty="0">
                <a:latin typeface="Arial"/>
                <a:cs typeface="Arial"/>
              </a:rPr>
              <a:t>(S</a:t>
            </a:r>
            <a:r>
              <a:rPr sz="2775" spc="-532" baseline="-21021" dirty="0">
                <a:latin typeface="Arial"/>
                <a:cs typeface="Arial"/>
              </a:rPr>
              <a:t>3 </a:t>
            </a:r>
            <a:r>
              <a:rPr sz="2800" spc="-409" dirty="0">
                <a:latin typeface="Arial"/>
                <a:cs typeface="Arial"/>
              </a:rPr>
              <a:t>S</a:t>
            </a:r>
            <a:r>
              <a:rPr sz="2775" spc="-615" baseline="-21021" dirty="0">
                <a:latin typeface="Arial"/>
                <a:cs typeface="Arial"/>
              </a:rPr>
              <a:t>2 </a:t>
            </a:r>
            <a:r>
              <a:rPr sz="2800" spc="-409" dirty="0">
                <a:latin typeface="Arial"/>
                <a:cs typeface="Arial"/>
              </a:rPr>
              <a:t>S</a:t>
            </a:r>
            <a:r>
              <a:rPr sz="2775" spc="-615" baseline="-21021" dirty="0">
                <a:latin typeface="Arial"/>
                <a:cs typeface="Arial"/>
              </a:rPr>
              <a:t>1 </a:t>
            </a:r>
            <a:r>
              <a:rPr sz="2800" spc="-355" dirty="0">
                <a:latin typeface="Arial"/>
                <a:cs typeface="Arial"/>
              </a:rPr>
              <a:t>S</a:t>
            </a:r>
            <a:r>
              <a:rPr sz="2775" spc="-532" baseline="-21021" dirty="0">
                <a:latin typeface="Arial"/>
                <a:cs typeface="Arial"/>
              </a:rPr>
              <a:t>0</a:t>
            </a:r>
            <a:r>
              <a:rPr sz="2800" spc="-355" dirty="0">
                <a:latin typeface="Arial"/>
                <a:cs typeface="Arial"/>
              </a:rPr>
              <a:t>) 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spc="-395" dirty="0">
                <a:solidFill>
                  <a:srgbClr val="006FC0"/>
                </a:solidFill>
                <a:latin typeface="Arial"/>
                <a:cs typeface="Arial"/>
              </a:rPr>
              <a:t>a  </a:t>
            </a:r>
            <a:r>
              <a:rPr sz="2800" spc="-160" dirty="0">
                <a:solidFill>
                  <a:srgbClr val="006FC0"/>
                </a:solidFill>
                <a:latin typeface="Arial"/>
                <a:cs typeface="Arial"/>
              </a:rPr>
              <a:t>carry 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output</a:t>
            </a:r>
            <a:r>
              <a:rPr sz="2800" spc="-3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160" dirty="0">
                <a:latin typeface="Arial"/>
                <a:cs typeface="Arial"/>
              </a:rPr>
              <a:t>(C</a:t>
            </a:r>
            <a:r>
              <a:rPr sz="2775" spc="-240" baseline="-21021" dirty="0">
                <a:latin typeface="Arial"/>
                <a:cs typeface="Arial"/>
              </a:rPr>
              <a:t>out</a:t>
            </a:r>
            <a:r>
              <a:rPr sz="2800" spc="-160" dirty="0">
                <a:latin typeface="Arial"/>
                <a:cs typeface="Arial"/>
              </a:rPr>
              <a:t>).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sp>
          <p:nvSpPr>
            <p:cNvPr id="9" name="object 9"/>
            <p:cNvSpPr/>
            <p:nvPr/>
          </p:nvSpPr>
          <p:spPr>
            <a:xfrm>
              <a:off x="8593835" y="6620255"/>
              <a:ext cx="550164" cy="23774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674607" y="6556243"/>
              <a:ext cx="469392" cy="3017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787638" y="6649770"/>
            <a:ext cx="25654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rlito"/>
                <a:cs typeface="Carlito"/>
              </a:rPr>
              <a:t>64</a:t>
            </a:r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9080" cy="6841490"/>
            <a:chOff x="0" y="16764"/>
            <a:chExt cx="9149080" cy="6841490"/>
          </a:xfrm>
        </p:grpSpPr>
        <p:sp>
          <p:nvSpPr>
            <p:cNvPr id="3" name="object 3"/>
            <p:cNvSpPr/>
            <p:nvPr/>
          </p:nvSpPr>
          <p:spPr>
            <a:xfrm>
              <a:off x="1493519" y="1455419"/>
              <a:ext cx="6983730" cy="409270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593835" y="6620254"/>
              <a:ext cx="550164" cy="23774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630411" y="6556243"/>
              <a:ext cx="513588" cy="30175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641080" y="6644640"/>
              <a:ext cx="502920" cy="18288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8739" y="6635530"/>
            <a:ext cx="723900" cy="17462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1000" b="1" spc="45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1000" b="1" spc="50" dirty="0">
                <a:solidFill>
                  <a:srgbClr val="C00000"/>
                </a:solidFill>
                <a:latin typeface="Arial"/>
                <a:cs typeface="Arial"/>
              </a:rPr>
              <a:t>U</a:t>
            </a:r>
            <a:r>
              <a:rPr sz="1000" b="1" spc="-5" dirty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1000" b="1" spc="-60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1000" b="1" spc="-10" dirty="0">
                <a:solidFill>
                  <a:srgbClr val="C00000"/>
                </a:solidFill>
                <a:latin typeface="Arial"/>
                <a:cs typeface="Arial"/>
              </a:rPr>
              <a:t>-</a:t>
            </a:r>
            <a:r>
              <a:rPr sz="1000" b="1" spc="100" dirty="0">
                <a:solidFill>
                  <a:srgbClr val="C00000"/>
                </a:solidFill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188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793241" y="982217"/>
              <a:ext cx="7589519" cy="762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6764"/>
              <a:ext cx="9143999" cy="668274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53439" y="320001"/>
              <a:ext cx="7434072" cy="57611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304032" y="202679"/>
              <a:ext cx="2529840" cy="93422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578478" y="321386"/>
            <a:ext cx="1986914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DECODERS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20040" y="1214373"/>
            <a:ext cx="8503920" cy="51466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40385" marR="68580" indent="-464820" algn="just">
              <a:lnSpc>
                <a:spcPct val="100000"/>
              </a:lnSpc>
              <a:spcBef>
                <a:spcPts val="95"/>
              </a:spcBef>
              <a:buClr>
                <a:srgbClr val="E36C09"/>
              </a:buClr>
              <a:buFont typeface="Wingdings"/>
              <a:buChar char=""/>
              <a:tabLst>
                <a:tab pos="541020" algn="l"/>
              </a:tabLst>
            </a:pPr>
            <a:r>
              <a:rPr sz="2800" spc="135" dirty="0">
                <a:solidFill>
                  <a:srgbClr val="006FC0"/>
                </a:solidFill>
                <a:latin typeface="Arial"/>
                <a:cs typeface="Arial"/>
              </a:rPr>
              <a:t>A </a:t>
            </a:r>
            <a:r>
              <a:rPr sz="2800" spc="-204" dirty="0">
                <a:solidFill>
                  <a:srgbClr val="006FC0"/>
                </a:solidFill>
                <a:latin typeface="Arial"/>
                <a:cs typeface="Arial"/>
              </a:rPr>
              <a:t>decoder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800" spc="-395" dirty="0">
                <a:solidFill>
                  <a:srgbClr val="006FC0"/>
                </a:solidFill>
                <a:latin typeface="Arial"/>
                <a:cs typeface="Arial"/>
              </a:rPr>
              <a:t>a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combinational </a:t>
            </a:r>
            <a:r>
              <a:rPr sz="2800" spc="-90" dirty="0">
                <a:solidFill>
                  <a:srgbClr val="006FC0"/>
                </a:solidFill>
                <a:latin typeface="Arial"/>
                <a:cs typeface="Arial"/>
              </a:rPr>
              <a:t>circuit </a:t>
            </a:r>
            <a:r>
              <a:rPr sz="2800" spc="-125" dirty="0">
                <a:solidFill>
                  <a:srgbClr val="006FC0"/>
                </a:solidFill>
                <a:latin typeface="Arial"/>
                <a:cs typeface="Arial"/>
              </a:rPr>
              <a:t>that </a:t>
            </a:r>
            <a:r>
              <a:rPr sz="2800" spc="-204" dirty="0">
                <a:solidFill>
                  <a:srgbClr val="006FC0"/>
                </a:solidFill>
                <a:latin typeface="Arial"/>
                <a:cs typeface="Arial"/>
              </a:rPr>
              <a:t>converts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binary  </a:t>
            </a:r>
            <a:r>
              <a:rPr sz="2800" spc="-120" dirty="0">
                <a:solidFill>
                  <a:srgbClr val="006FC0"/>
                </a:solidFill>
                <a:latin typeface="Arial"/>
                <a:cs typeface="Arial"/>
              </a:rPr>
              <a:t>information </a:t>
            </a:r>
            <a:r>
              <a:rPr sz="2800" spc="-100" dirty="0">
                <a:solidFill>
                  <a:srgbClr val="006FC0"/>
                </a:solidFill>
                <a:latin typeface="Arial"/>
                <a:cs typeface="Arial"/>
              </a:rPr>
              <a:t>from </a:t>
            </a:r>
            <a:r>
              <a:rPr sz="2800" spc="35" dirty="0">
                <a:solidFill>
                  <a:srgbClr val="006FC0"/>
                </a:solidFill>
                <a:latin typeface="Arial"/>
                <a:cs typeface="Arial"/>
              </a:rPr>
              <a:t>‘n’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input </a:t>
            </a:r>
            <a:r>
              <a:rPr sz="2800" spc="-225" dirty="0">
                <a:solidFill>
                  <a:srgbClr val="006FC0"/>
                </a:solidFill>
                <a:latin typeface="Arial"/>
                <a:cs typeface="Arial"/>
              </a:rPr>
              <a:t>lines </a:t>
            </a:r>
            <a:r>
              <a:rPr sz="2800" spc="-55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800" spc="-395" dirty="0">
                <a:solidFill>
                  <a:srgbClr val="006FC0"/>
                </a:solidFill>
                <a:latin typeface="Arial"/>
                <a:cs typeface="Arial"/>
              </a:rPr>
              <a:t>a</a:t>
            </a:r>
            <a:r>
              <a:rPr sz="2800" spc="-1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220" dirty="0">
                <a:solidFill>
                  <a:srgbClr val="006FC0"/>
                </a:solidFill>
                <a:latin typeface="Arial"/>
                <a:cs typeface="Arial"/>
              </a:rPr>
              <a:t>maximum </a:t>
            </a:r>
            <a:r>
              <a:rPr sz="2800" spc="-80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50" dirty="0">
                <a:solidFill>
                  <a:srgbClr val="006FC0"/>
                </a:solidFill>
                <a:latin typeface="Arial"/>
                <a:cs typeface="Arial"/>
              </a:rPr>
              <a:t>‘2</a:t>
            </a:r>
            <a:r>
              <a:rPr sz="2775" spc="-75" baseline="25525" dirty="0">
                <a:solidFill>
                  <a:srgbClr val="006FC0"/>
                </a:solidFill>
                <a:latin typeface="Arial"/>
                <a:cs typeface="Arial"/>
              </a:rPr>
              <a:t>n</a:t>
            </a:r>
            <a:r>
              <a:rPr sz="2800" spc="-50" dirty="0">
                <a:solidFill>
                  <a:srgbClr val="006FC0"/>
                </a:solidFill>
                <a:latin typeface="Arial"/>
                <a:cs typeface="Arial"/>
              </a:rPr>
              <a:t>’  </a:t>
            </a:r>
            <a:r>
              <a:rPr sz="2800" spc="-195" dirty="0">
                <a:solidFill>
                  <a:srgbClr val="006FC0"/>
                </a:solidFill>
                <a:latin typeface="Arial"/>
                <a:cs typeface="Arial"/>
              </a:rPr>
              <a:t>unique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output</a:t>
            </a:r>
            <a:r>
              <a:rPr sz="2800" spc="13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210" dirty="0">
                <a:solidFill>
                  <a:srgbClr val="006FC0"/>
                </a:solidFill>
                <a:latin typeface="Arial"/>
                <a:cs typeface="Arial"/>
              </a:rPr>
              <a:t>lines.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E36C09"/>
              </a:buClr>
              <a:buFont typeface="Wingdings"/>
              <a:buChar char=""/>
            </a:pPr>
            <a:endParaRPr sz="2900">
              <a:latin typeface="Arial"/>
              <a:cs typeface="Arial"/>
            </a:endParaRPr>
          </a:p>
          <a:p>
            <a:pPr marL="540385" marR="68580" indent="-464820" algn="just">
              <a:lnSpc>
                <a:spcPct val="100000"/>
              </a:lnSpc>
              <a:spcBef>
                <a:spcPts val="5"/>
              </a:spcBef>
              <a:buClr>
                <a:srgbClr val="E36C09"/>
              </a:buClr>
              <a:buFont typeface="Wingdings"/>
              <a:buChar char=""/>
              <a:tabLst>
                <a:tab pos="541020" algn="l"/>
              </a:tabLst>
            </a:pP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235" dirty="0">
                <a:solidFill>
                  <a:srgbClr val="006FC0"/>
                </a:solidFill>
                <a:latin typeface="Arial"/>
                <a:cs typeface="Arial"/>
              </a:rPr>
              <a:t>encoded </a:t>
            </a:r>
            <a:r>
              <a:rPr sz="2800" spc="-120" dirty="0">
                <a:solidFill>
                  <a:srgbClr val="006FC0"/>
                </a:solidFill>
                <a:latin typeface="Arial"/>
                <a:cs typeface="Arial"/>
              </a:rPr>
              <a:t>information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presented </a:t>
            </a:r>
            <a:r>
              <a:rPr sz="2800" spc="-459" dirty="0">
                <a:solidFill>
                  <a:srgbClr val="006FC0"/>
                </a:solidFill>
                <a:latin typeface="Arial"/>
                <a:cs typeface="Arial"/>
              </a:rPr>
              <a:t>as </a:t>
            </a:r>
            <a:r>
              <a:rPr sz="2800" spc="35" dirty="0">
                <a:solidFill>
                  <a:srgbClr val="006FC0"/>
                </a:solidFill>
                <a:latin typeface="Arial"/>
                <a:cs typeface="Arial"/>
              </a:rPr>
              <a:t>‘n’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inputs 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producing </a:t>
            </a:r>
            <a:r>
              <a:rPr sz="2800" spc="-50" dirty="0">
                <a:solidFill>
                  <a:srgbClr val="006FC0"/>
                </a:solidFill>
                <a:latin typeface="Arial"/>
                <a:cs typeface="Arial"/>
              </a:rPr>
              <a:t>‘2</a:t>
            </a:r>
            <a:r>
              <a:rPr sz="2775" spc="-75" baseline="25525" dirty="0">
                <a:solidFill>
                  <a:srgbClr val="006FC0"/>
                </a:solidFill>
                <a:latin typeface="Arial"/>
                <a:cs typeface="Arial"/>
              </a:rPr>
              <a:t>n</a:t>
            </a:r>
            <a:r>
              <a:rPr sz="2800" spc="-50" dirty="0">
                <a:solidFill>
                  <a:srgbClr val="006FC0"/>
                </a:solidFill>
                <a:latin typeface="Arial"/>
                <a:cs typeface="Arial"/>
              </a:rPr>
              <a:t>’ </a:t>
            </a:r>
            <a:r>
              <a:rPr sz="2800" spc="-240" dirty="0">
                <a:solidFill>
                  <a:srgbClr val="006FC0"/>
                </a:solidFill>
                <a:latin typeface="Arial"/>
                <a:cs typeface="Arial"/>
              </a:rPr>
              <a:t>possible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outputs. </a:t>
            </a: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260" dirty="0">
                <a:solidFill>
                  <a:srgbClr val="006FC0"/>
                </a:solidFill>
                <a:latin typeface="Arial"/>
                <a:cs typeface="Arial"/>
              </a:rPr>
              <a:t>2</a:t>
            </a:r>
            <a:r>
              <a:rPr sz="2775" spc="-390" baseline="25525" dirty="0">
                <a:solidFill>
                  <a:srgbClr val="006FC0"/>
                </a:solidFill>
                <a:latin typeface="Arial"/>
                <a:cs typeface="Arial"/>
              </a:rPr>
              <a:t>n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output </a:t>
            </a:r>
            <a:r>
              <a:rPr sz="2800" spc="-285" dirty="0">
                <a:solidFill>
                  <a:srgbClr val="006FC0"/>
                </a:solidFill>
                <a:latin typeface="Arial"/>
                <a:cs typeface="Arial"/>
              </a:rPr>
              <a:t>values 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are  </a:t>
            </a:r>
            <a:r>
              <a:rPr sz="2800" spc="-95" dirty="0">
                <a:solidFill>
                  <a:srgbClr val="006FC0"/>
                </a:solidFill>
                <a:latin typeface="Arial"/>
                <a:cs typeface="Arial"/>
              </a:rPr>
              <a:t>from </a:t>
            </a:r>
            <a:r>
              <a:rPr sz="2800" spc="-400" dirty="0">
                <a:solidFill>
                  <a:srgbClr val="006FC0"/>
                </a:solidFill>
                <a:latin typeface="Arial"/>
                <a:cs typeface="Arial"/>
              </a:rPr>
              <a:t>0 </a:t>
            </a:r>
            <a:r>
              <a:rPr sz="2800" spc="-155" dirty="0">
                <a:solidFill>
                  <a:srgbClr val="006FC0"/>
                </a:solidFill>
                <a:latin typeface="Arial"/>
                <a:cs typeface="Arial"/>
              </a:rPr>
              <a:t>through</a:t>
            </a:r>
            <a:r>
              <a:rPr sz="2800" spc="8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2</a:t>
            </a:r>
            <a:r>
              <a:rPr sz="2775" spc="-375" baseline="25525" dirty="0">
                <a:solidFill>
                  <a:srgbClr val="006FC0"/>
                </a:solidFill>
                <a:latin typeface="Arial"/>
                <a:cs typeface="Arial"/>
              </a:rPr>
              <a:t>n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-1.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E36C09"/>
              </a:buClr>
              <a:buFont typeface="Wingdings"/>
              <a:buChar char=""/>
            </a:pPr>
            <a:endParaRPr sz="2900">
              <a:latin typeface="Arial"/>
              <a:cs typeface="Arial"/>
            </a:endParaRPr>
          </a:p>
          <a:p>
            <a:pPr marL="540385" marR="69215" indent="-464820" algn="just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541020" algn="l"/>
              </a:tabLst>
            </a:pPr>
            <a:r>
              <a:rPr sz="2800" spc="135" dirty="0">
                <a:solidFill>
                  <a:srgbClr val="006FC0"/>
                </a:solidFill>
                <a:latin typeface="Arial"/>
                <a:cs typeface="Arial"/>
              </a:rPr>
              <a:t>A </a:t>
            </a:r>
            <a:r>
              <a:rPr sz="2800" spc="-204" dirty="0">
                <a:solidFill>
                  <a:srgbClr val="006FC0"/>
                </a:solidFill>
                <a:latin typeface="Arial"/>
                <a:cs typeface="Arial"/>
              </a:rPr>
              <a:t>decoder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800" spc="-150" dirty="0">
                <a:solidFill>
                  <a:srgbClr val="006FC0"/>
                </a:solidFill>
                <a:latin typeface="Arial"/>
                <a:cs typeface="Arial"/>
              </a:rPr>
              <a:t>provided </a:t>
            </a:r>
            <a:r>
              <a:rPr sz="2800" spc="-110" dirty="0">
                <a:solidFill>
                  <a:srgbClr val="006FC0"/>
                </a:solidFill>
                <a:latin typeface="Arial"/>
                <a:cs typeface="Arial"/>
              </a:rPr>
              <a:t>with </a:t>
            </a:r>
            <a:r>
              <a:rPr sz="2800" spc="-260" dirty="0">
                <a:solidFill>
                  <a:srgbClr val="006FC0"/>
                </a:solidFill>
                <a:latin typeface="Arial"/>
                <a:cs typeface="Arial"/>
              </a:rPr>
              <a:t>enable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inputs </a:t>
            </a:r>
            <a:r>
              <a:rPr sz="2800" spc="-60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800" spc="-185" dirty="0">
                <a:solidFill>
                  <a:srgbClr val="006FC0"/>
                </a:solidFill>
                <a:latin typeface="Arial"/>
                <a:cs typeface="Arial"/>
              </a:rPr>
              <a:t>activate  </a:t>
            </a:r>
            <a:r>
              <a:rPr sz="2800" spc="-225" dirty="0">
                <a:solidFill>
                  <a:srgbClr val="006FC0"/>
                </a:solidFill>
                <a:latin typeface="Arial"/>
                <a:cs typeface="Arial"/>
              </a:rPr>
              <a:t>decoded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output </a:t>
            </a:r>
            <a:r>
              <a:rPr sz="2800" spc="-330" dirty="0">
                <a:solidFill>
                  <a:srgbClr val="006FC0"/>
                </a:solidFill>
                <a:latin typeface="Arial"/>
                <a:cs typeface="Arial"/>
              </a:rPr>
              <a:t>based </a:t>
            </a:r>
            <a:r>
              <a:rPr sz="2800" spc="-180" dirty="0">
                <a:solidFill>
                  <a:srgbClr val="006FC0"/>
                </a:solidFill>
                <a:latin typeface="Arial"/>
                <a:cs typeface="Arial"/>
              </a:rPr>
              <a:t>on </a:t>
            </a:r>
            <a:r>
              <a:rPr sz="2800" spc="-225" dirty="0">
                <a:solidFill>
                  <a:srgbClr val="006FC0"/>
                </a:solidFill>
                <a:latin typeface="Arial"/>
                <a:cs typeface="Arial"/>
              </a:rPr>
              <a:t>data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inputs.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When 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any </a:t>
            </a:r>
            <a:r>
              <a:rPr sz="2800" spc="-240" dirty="0">
                <a:solidFill>
                  <a:srgbClr val="006FC0"/>
                </a:solidFill>
                <a:latin typeface="Arial"/>
                <a:cs typeface="Arial"/>
              </a:rPr>
              <a:t>one  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enable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input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unasserted, </a:t>
            </a:r>
            <a:r>
              <a:rPr sz="2800" spc="-145" dirty="0">
                <a:solidFill>
                  <a:srgbClr val="006FC0"/>
                </a:solidFill>
                <a:latin typeface="Arial"/>
                <a:cs typeface="Arial"/>
              </a:rPr>
              <a:t>all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outputs 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204" dirty="0">
                <a:solidFill>
                  <a:srgbClr val="006FC0"/>
                </a:solidFill>
                <a:latin typeface="Arial"/>
                <a:cs typeface="Arial"/>
              </a:rPr>
              <a:t>decoder 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are  </a:t>
            </a:r>
            <a:r>
              <a:rPr sz="2800" spc="-220" dirty="0">
                <a:solidFill>
                  <a:srgbClr val="006FC0"/>
                </a:solidFill>
                <a:latin typeface="Arial"/>
                <a:cs typeface="Arial"/>
              </a:rPr>
              <a:t>disabled.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sp>
          <p:nvSpPr>
            <p:cNvPr id="14" name="object 14"/>
            <p:cNvSpPr/>
            <p:nvPr/>
          </p:nvSpPr>
          <p:spPr>
            <a:xfrm>
              <a:off x="8593835" y="6620255"/>
              <a:ext cx="550164" cy="23774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630411" y="6556243"/>
              <a:ext cx="513588" cy="30175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8739" y="6635530"/>
            <a:ext cx="723900" cy="17462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1000" b="1" spc="45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1000" b="1" spc="50" dirty="0">
                <a:solidFill>
                  <a:srgbClr val="C00000"/>
                </a:solidFill>
                <a:latin typeface="Arial"/>
                <a:cs typeface="Arial"/>
              </a:rPr>
              <a:t>U</a:t>
            </a:r>
            <a:r>
              <a:rPr sz="1000" b="1" spc="-5" dirty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1000" b="1" spc="-60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1000" b="1" spc="-10" dirty="0">
                <a:solidFill>
                  <a:srgbClr val="C00000"/>
                </a:solidFill>
                <a:latin typeface="Arial"/>
                <a:cs typeface="Arial"/>
              </a:rPr>
              <a:t>-</a:t>
            </a:r>
            <a:r>
              <a:rPr sz="1000" b="1" spc="100" dirty="0">
                <a:solidFill>
                  <a:srgbClr val="C00000"/>
                </a:solidFill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189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3304032" y="202679"/>
              <a:ext cx="2529840" cy="9342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578478" y="321386"/>
            <a:ext cx="1986914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DECODERS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2133600" y="1905000"/>
            <a:ext cx="7015480" cy="4953000"/>
            <a:chOff x="2133600" y="1905000"/>
            <a:chExt cx="7015480" cy="4953000"/>
          </a:xfrm>
        </p:grpSpPr>
        <p:sp>
          <p:nvSpPr>
            <p:cNvPr id="8" name="object 8"/>
            <p:cNvSpPr/>
            <p:nvPr/>
          </p:nvSpPr>
          <p:spPr>
            <a:xfrm>
              <a:off x="8593835" y="6620254"/>
              <a:ext cx="550164" cy="23774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630411" y="6556242"/>
              <a:ext cx="513588" cy="3017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641080" y="6644640"/>
              <a:ext cx="502920" cy="1828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133600" y="1905000"/>
              <a:ext cx="4953000" cy="297180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120008" y="5354828"/>
            <a:ext cx="31115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Palladio Uralic"/>
                <a:cs typeface="Palladio Uralic"/>
              </a:rPr>
              <a:t>Block diagram </a:t>
            </a:r>
            <a:r>
              <a:rPr sz="2000" b="1" spc="-5" dirty="0">
                <a:latin typeface="Palladio Uralic"/>
                <a:cs typeface="Palladio Uralic"/>
              </a:rPr>
              <a:t>of</a:t>
            </a:r>
            <a:r>
              <a:rPr sz="2000" b="1" spc="-110" dirty="0">
                <a:latin typeface="Palladio Uralic"/>
                <a:cs typeface="Palladio Uralic"/>
              </a:rPr>
              <a:t> </a:t>
            </a:r>
            <a:r>
              <a:rPr sz="2000" b="1" dirty="0">
                <a:latin typeface="Palladio Uralic"/>
                <a:cs typeface="Palladio Uralic"/>
              </a:rPr>
              <a:t>decoders</a:t>
            </a:r>
            <a:endParaRPr sz="2000">
              <a:latin typeface="Palladio Uralic"/>
              <a:cs typeface="Palladio Ural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8739" y="6635530"/>
            <a:ext cx="723900" cy="17462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1000" b="1" spc="45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1000" b="1" spc="50" dirty="0">
                <a:solidFill>
                  <a:srgbClr val="C00000"/>
                </a:solidFill>
                <a:latin typeface="Arial"/>
                <a:cs typeface="Arial"/>
              </a:rPr>
              <a:t>U</a:t>
            </a:r>
            <a:r>
              <a:rPr sz="1000" b="1" spc="-5" dirty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1000" b="1" spc="-60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1000" b="1" spc="-10" dirty="0">
                <a:solidFill>
                  <a:srgbClr val="C00000"/>
                </a:solidFill>
                <a:latin typeface="Arial"/>
                <a:cs typeface="Arial"/>
              </a:rPr>
              <a:t>-</a:t>
            </a:r>
            <a:r>
              <a:rPr sz="1000" b="1" spc="100" dirty="0">
                <a:solidFill>
                  <a:srgbClr val="C00000"/>
                </a:solidFill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190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793241" y="982217"/>
              <a:ext cx="7589519" cy="762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6764"/>
              <a:ext cx="9143999" cy="668274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53439" y="320001"/>
              <a:ext cx="7434072" cy="57611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304032" y="202679"/>
              <a:ext cx="2529840" cy="93422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578478" y="321386"/>
            <a:ext cx="1986914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DECODERS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sp>
          <p:nvSpPr>
            <p:cNvPr id="13" name="object 13"/>
            <p:cNvSpPr/>
            <p:nvPr/>
          </p:nvSpPr>
          <p:spPr>
            <a:xfrm>
              <a:off x="8593835" y="6620255"/>
              <a:ext cx="550164" cy="23774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630411" y="6556243"/>
              <a:ext cx="513588" cy="30175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32740" y="1205306"/>
            <a:ext cx="8489315" cy="4930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1430" algn="ctr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C00000"/>
                </a:solidFill>
                <a:latin typeface="Palladio Uralic"/>
                <a:cs typeface="Palladio Uralic"/>
              </a:rPr>
              <a:t>2 : 4</a:t>
            </a:r>
            <a:r>
              <a:rPr sz="2400" b="1" spc="-25" dirty="0">
                <a:solidFill>
                  <a:srgbClr val="C00000"/>
                </a:solidFill>
                <a:latin typeface="Palladio Uralic"/>
                <a:cs typeface="Palladio Uralic"/>
              </a:rPr>
              <a:t> </a:t>
            </a:r>
            <a:r>
              <a:rPr sz="2400" b="1" dirty="0">
                <a:solidFill>
                  <a:srgbClr val="C00000"/>
                </a:solidFill>
                <a:latin typeface="Palladio Uralic"/>
                <a:cs typeface="Palladio Uralic"/>
              </a:rPr>
              <a:t>Decoders</a:t>
            </a:r>
            <a:endParaRPr sz="2400">
              <a:latin typeface="Palladio Uralic"/>
              <a:cs typeface="Palladio Uralic"/>
            </a:endParaRPr>
          </a:p>
          <a:p>
            <a:pPr marL="527685" marR="64769" indent="-464820" algn="just">
              <a:lnSpc>
                <a:spcPct val="100000"/>
              </a:lnSpc>
              <a:spcBef>
                <a:spcPts val="2135"/>
              </a:spcBef>
              <a:buClr>
                <a:srgbClr val="E36C09"/>
              </a:buClr>
              <a:buFont typeface="Wingdings"/>
              <a:buChar char=""/>
              <a:tabLst>
                <a:tab pos="528320" algn="l"/>
              </a:tabLst>
            </a:pPr>
            <a:r>
              <a:rPr sz="2800" spc="135" dirty="0">
                <a:solidFill>
                  <a:srgbClr val="006FC0"/>
                </a:solidFill>
                <a:latin typeface="Arial"/>
                <a:cs typeface="Arial"/>
              </a:rPr>
              <a:t>A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binary </a:t>
            </a:r>
            <a:r>
              <a:rPr sz="2800" spc="-204" dirty="0">
                <a:solidFill>
                  <a:srgbClr val="006FC0"/>
                </a:solidFill>
                <a:latin typeface="Arial"/>
                <a:cs typeface="Arial"/>
              </a:rPr>
              <a:t>decoder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800" spc="-310" dirty="0">
                <a:solidFill>
                  <a:srgbClr val="006FC0"/>
                </a:solidFill>
                <a:latin typeface="Arial"/>
                <a:cs typeface="Arial"/>
              </a:rPr>
              <a:t>used </a:t>
            </a:r>
            <a:r>
              <a:rPr sz="2800" spc="-260" dirty="0">
                <a:solidFill>
                  <a:srgbClr val="006FC0"/>
                </a:solidFill>
                <a:latin typeface="Arial"/>
                <a:cs typeface="Arial"/>
              </a:rPr>
              <a:t>when </a:t>
            </a:r>
            <a:r>
              <a:rPr sz="2800" spc="25" dirty="0">
                <a:solidFill>
                  <a:srgbClr val="006FC0"/>
                </a:solidFill>
                <a:latin typeface="Arial"/>
                <a:cs typeface="Arial"/>
              </a:rPr>
              <a:t>it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800" spc="-305" dirty="0">
                <a:solidFill>
                  <a:srgbClr val="006FC0"/>
                </a:solidFill>
                <a:latin typeface="Arial"/>
                <a:cs typeface="Arial"/>
              </a:rPr>
              <a:t>necessary </a:t>
            </a:r>
            <a:r>
              <a:rPr sz="2800" spc="-50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800" spc="-185" dirty="0">
                <a:solidFill>
                  <a:srgbClr val="006FC0"/>
                </a:solidFill>
                <a:latin typeface="Arial"/>
                <a:cs typeface="Arial"/>
              </a:rPr>
              <a:t>activate  exactly </a:t>
            </a:r>
            <a:r>
              <a:rPr sz="2800" spc="-235" dirty="0">
                <a:solidFill>
                  <a:srgbClr val="006FC0"/>
                </a:solidFill>
                <a:latin typeface="Arial"/>
                <a:cs typeface="Arial"/>
              </a:rPr>
              <a:t>one 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260" dirty="0">
                <a:solidFill>
                  <a:srgbClr val="006FC0"/>
                </a:solidFill>
                <a:latin typeface="Arial"/>
                <a:cs typeface="Arial"/>
              </a:rPr>
              <a:t>2</a:t>
            </a:r>
            <a:r>
              <a:rPr sz="2775" spc="-390" baseline="25525" dirty="0">
                <a:solidFill>
                  <a:srgbClr val="006FC0"/>
                </a:solidFill>
                <a:latin typeface="Arial"/>
                <a:cs typeface="Arial"/>
              </a:rPr>
              <a:t>n </a:t>
            </a:r>
            <a:r>
              <a:rPr sz="2800" spc="-160" dirty="0">
                <a:solidFill>
                  <a:srgbClr val="006FC0"/>
                </a:solidFill>
                <a:latin typeface="Arial"/>
                <a:cs typeface="Arial"/>
              </a:rPr>
              <a:t>outputs </a:t>
            </a:r>
            <a:r>
              <a:rPr sz="2800" spc="-330" dirty="0">
                <a:solidFill>
                  <a:srgbClr val="006FC0"/>
                </a:solidFill>
                <a:latin typeface="Arial"/>
                <a:cs typeface="Arial"/>
              </a:rPr>
              <a:t>based </a:t>
            </a:r>
            <a:r>
              <a:rPr sz="2800" spc="-180" dirty="0">
                <a:solidFill>
                  <a:srgbClr val="006FC0"/>
                </a:solidFill>
                <a:latin typeface="Arial"/>
                <a:cs typeface="Arial"/>
              </a:rPr>
              <a:t>on </a:t>
            </a:r>
            <a:r>
              <a:rPr sz="2800" spc="-305" dirty="0">
                <a:solidFill>
                  <a:srgbClr val="006FC0"/>
                </a:solidFill>
                <a:latin typeface="Arial"/>
                <a:cs typeface="Arial"/>
              </a:rPr>
              <a:t>an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n-bit input</a:t>
            </a:r>
            <a:r>
              <a:rPr sz="2800" spc="-3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220" dirty="0">
                <a:solidFill>
                  <a:srgbClr val="006FC0"/>
                </a:solidFill>
                <a:latin typeface="Arial"/>
                <a:cs typeface="Arial"/>
              </a:rPr>
              <a:t>value.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E36C09"/>
              </a:buClr>
              <a:buFont typeface="Wingdings"/>
              <a:buChar char=""/>
            </a:pPr>
            <a:endParaRPr sz="2900">
              <a:latin typeface="Arial"/>
              <a:cs typeface="Arial"/>
            </a:endParaRPr>
          </a:p>
          <a:p>
            <a:pPr marL="527685" marR="64135" indent="-464820" algn="just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528320" algn="l"/>
              </a:tabLst>
            </a:pPr>
            <a:r>
              <a:rPr sz="2800" spc="-204" dirty="0">
                <a:solidFill>
                  <a:srgbClr val="006FC0"/>
                </a:solidFill>
                <a:latin typeface="Arial"/>
                <a:cs typeface="Arial"/>
              </a:rPr>
              <a:t>Here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400" dirty="0">
                <a:solidFill>
                  <a:srgbClr val="006FC0"/>
                </a:solidFill>
                <a:latin typeface="Arial"/>
                <a:cs typeface="Arial"/>
              </a:rPr>
              <a:t>2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inputs 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are </a:t>
            </a:r>
            <a:r>
              <a:rPr sz="2800" spc="-225" dirty="0">
                <a:solidFill>
                  <a:srgbClr val="006FC0"/>
                </a:solidFill>
                <a:latin typeface="Arial"/>
                <a:cs typeface="Arial"/>
              </a:rPr>
              <a:t>decoded </a:t>
            </a:r>
            <a:r>
              <a:rPr sz="2800" spc="-80" dirty="0">
                <a:solidFill>
                  <a:srgbClr val="006FC0"/>
                </a:solidFill>
                <a:latin typeface="Arial"/>
                <a:cs typeface="Arial"/>
              </a:rPr>
              <a:t>into </a:t>
            </a:r>
            <a:r>
              <a:rPr sz="2800" spc="-400" dirty="0">
                <a:solidFill>
                  <a:srgbClr val="006FC0"/>
                </a:solidFill>
                <a:latin typeface="Arial"/>
                <a:cs typeface="Arial"/>
              </a:rPr>
              <a:t>4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outputs, </a:t>
            </a:r>
            <a:r>
              <a:rPr sz="2800" spc="-300" dirty="0">
                <a:solidFill>
                  <a:srgbClr val="006FC0"/>
                </a:solidFill>
                <a:latin typeface="Arial"/>
                <a:cs typeface="Arial"/>
              </a:rPr>
              <a:t>each 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output </a:t>
            </a:r>
            <a:r>
              <a:rPr sz="2800" spc="-210" dirty="0">
                <a:solidFill>
                  <a:srgbClr val="006FC0"/>
                </a:solidFill>
                <a:latin typeface="Arial"/>
                <a:cs typeface="Arial"/>
              </a:rPr>
              <a:t>representing </a:t>
            </a:r>
            <a:r>
              <a:rPr sz="2800" spc="-240" dirty="0">
                <a:solidFill>
                  <a:srgbClr val="006FC0"/>
                </a:solidFill>
                <a:latin typeface="Arial"/>
                <a:cs typeface="Arial"/>
              </a:rPr>
              <a:t>one 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90" dirty="0">
                <a:solidFill>
                  <a:srgbClr val="006FC0"/>
                </a:solidFill>
                <a:latin typeface="Arial"/>
                <a:cs typeface="Arial"/>
              </a:rPr>
              <a:t>minterms </a:t>
            </a:r>
            <a:r>
              <a:rPr sz="2800" spc="-80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25" dirty="0">
                <a:solidFill>
                  <a:srgbClr val="006FC0"/>
                </a:solidFill>
                <a:latin typeface="Arial"/>
                <a:cs typeface="Arial"/>
              </a:rPr>
              <a:t>two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input  </a:t>
            </a:r>
            <a:r>
              <a:rPr sz="2800" spc="-225" dirty="0">
                <a:solidFill>
                  <a:srgbClr val="006FC0"/>
                </a:solidFill>
                <a:latin typeface="Arial"/>
                <a:cs typeface="Arial"/>
              </a:rPr>
              <a:t>variables.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E36C09"/>
              </a:buClr>
              <a:buFont typeface="Wingdings"/>
              <a:buChar char=""/>
            </a:pPr>
            <a:endParaRPr sz="2900">
              <a:latin typeface="Arial"/>
              <a:cs typeface="Arial"/>
            </a:endParaRPr>
          </a:p>
          <a:p>
            <a:pPr marL="527685" marR="66040" indent="-464820" algn="just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528320" algn="l"/>
              </a:tabLst>
            </a:pPr>
            <a:r>
              <a:rPr sz="2800" spc="-190" dirty="0">
                <a:solidFill>
                  <a:srgbClr val="006FC0"/>
                </a:solidFill>
                <a:latin typeface="Arial"/>
                <a:cs typeface="Arial"/>
              </a:rPr>
              <a:t>As </a:t>
            </a:r>
            <a:r>
              <a:rPr sz="2800" spc="-270" dirty="0">
                <a:solidFill>
                  <a:srgbClr val="006FC0"/>
                </a:solidFill>
                <a:latin typeface="Arial"/>
                <a:cs typeface="Arial"/>
              </a:rPr>
              <a:t>shown </a:t>
            </a:r>
            <a:r>
              <a:rPr sz="2800" spc="-120" dirty="0">
                <a:solidFill>
                  <a:srgbClr val="006FC0"/>
                </a:solidFill>
                <a:latin typeface="Arial"/>
                <a:cs typeface="Arial"/>
              </a:rPr>
              <a:t>in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65" dirty="0">
                <a:solidFill>
                  <a:srgbClr val="006FC0"/>
                </a:solidFill>
                <a:latin typeface="Arial"/>
                <a:cs typeface="Arial"/>
              </a:rPr>
              <a:t>truth </a:t>
            </a:r>
            <a:r>
              <a:rPr sz="2800" spc="-185" dirty="0">
                <a:solidFill>
                  <a:srgbClr val="006FC0"/>
                </a:solidFill>
                <a:latin typeface="Arial"/>
                <a:cs typeface="Arial"/>
              </a:rPr>
              <a:t>table, 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if </a:t>
            </a:r>
            <a:r>
              <a:rPr sz="2800" spc="-260" dirty="0">
                <a:solidFill>
                  <a:srgbClr val="006FC0"/>
                </a:solidFill>
                <a:latin typeface="Arial"/>
                <a:cs typeface="Arial"/>
              </a:rPr>
              <a:t>enable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input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800" spc="-400" dirty="0">
                <a:solidFill>
                  <a:srgbClr val="006FC0"/>
                </a:solidFill>
                <a:latin typeface="Arial"/>
                <a:cs typeface="Arial"/>
              </a:rPr>
              <a:t>1 </a:t>
            </a:r>
            <a:r>
              <a:rPr sz="2800" spc="-160" dirty="0">
                <a:solidFill>
                  <a:srgbClr val="006FC0"/>
                </a:solidFill>
                <a:latin typeface="Arial"/>
                <a:cs typeface="Arial"/>
              </a:rPr>
              <a:t>(EN= </a:t>
            </a:r>
            <a:r>
              <a:rPr sz="2800" spc="-320" dirty="0">
                <a:solidFill>
                  <a:srgbClr val="006FC0"/>
                </a:solidFill>
                <a:latin typeface="Arial"/>
                <a:cs typeface="Arial"/>
              </a:rPr>
              <a:t>1)  </a:t>
            </a:r>
            <a:r>
              <a:rPr sz="2800" spc="-130" dirty="0">
                <a:solidFill>
                  <a:srgbClr val="006FC0"/>
                </a:solidFill>
                <a:latin typeface="Arial"/>
                <a:cs typeface="Arial"/>
              </a:rPr>
              <a:t>only </a:t>
            </a:r>
            <a:r>
              <a:rPr sz="2800" spc="-240" dirty="0">
                <a:solidFill>
                  <a:srgbClr val="006FC0"/>
                </a:solidFill>
                <a:latin typeface="Arial"/>
                <a:cs typeface="Arial"/>
              </a:rPr>
              <a:t>one </a:t>
            </a:r>
            <a:r>
              <a:rPr sz="2800" spc="-80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outputs</a:t>
            </a:r>
            <a:r>
              <a:rPr sz="2800" spc="44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245" dirty="0">
                <a:solidFill>
                  <a:srgbClr val="006FC0"/>
                </a:solidFill>
                <a:latin typeface="Arial"/>
                <a:cs typeface="Arial"/>
              </a:rPr>
              <a:t>(Y</a:t>
            </a:r>
            <a:r>
              <a:rPr sz="2775" spc="-367" baseline="-21021" dirty="0">
                <a:solidFill>
                  <a:srgbClr val="006FC0"/>
                </a:solidFill>
                <a:latin typeface="Arial"/>
                <a:cs typeface="Arial"/>
              </a:rPr>
              <a:t>0 </a:t>
            </a:r>
            <a:r>
              <a:rPr sz="2800" spc="25" dirty="0">
                <a:solidFill>
                  <a:srgbClr val="006FC0"/>
                </a:solidFill>
                <a:latin typeface="Arial"/>
                <a:cs typeface="Arial"/>
              </a:rPr>
              <a:t>– </a:t>
            </a:r>
            <a:r>
              <a:rPr sz="2800" spc="-225" dirty="0">
                <a:solidFill>
                  <a:srgbClr val="006FC0"/>
                </a:solidFill>
                <a:latin typeface="Arial"/>
                <a:cs typeface="Arial"/>
              </a:rPr>
              <a:t>Y</a:t>
            </a:r>
            <a:r>
              <a:rPr sz="2775" spc="-337" baseline="-21021" dirty="0">
                <a:solidFill>
                  <a:srgbClr val="006FC0"/>
                </a:solidFill>
                <a:latin typeface="Arial"/>
                <a:cs typeface="Arial"/>
              </a:rPr>
              <a:t>3</a:t>
            </a:r>
            <a:r>
              <a:rPr sz="2800" spc="-225" dirty="0">
                <a:solidFill>
                  <a:srgbClr val="006FC0"/>
                </a:solidFill>
                <a:latin typeface="Arial"/>
                <a:cs typeface="Arial"/>
              </a:rPr>
              <a:t>),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800" spc="-190" dirty="0">
                <a:solidFill>
                  <a:srgbClr val="006FC0"/>
                </a:solidFill>
                <a:latin typeface="Arial"/>
                <a:cs typeface="Arial"/>
              </a:rPr>
              <a:t>active </a:t>
            </a:r>
            <a:r>
              <a:rPr sz="2800" spc="-55" dirty="0">
                <a:solidFill>
                  <a:srgbClr val="006FC0"/>
                </a:solidFill>
                <a:latin typeface="Arial"/>
                <a:cs typeface="Arial"/>
              </a:rPr>
              <a:t>for </a:t>
            </a:r>
            <a:r>
              <a:rPr sz="2800" spc="-395" dirty="0">
                <a:solidFill>
                  <a:srgbClr val="006FC0"/>
                </a:solidFill>
                <a:latin typeface="Arial"/>
                <a:cs typeface="Arial"/>
              </a:rPr>
              <a:t>a  </a:t>
            </a: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given  </a:t>
            </a:r>
            <a:r>
              <a:rPr sz="2800" spc="-114" dirty="0">
                <a:solidFill>
                  <a:srgbClr val="006FC0"/>
                </a:solidFill>
                <a:latin typeface="Arial"/>
                <a:cs typeface="Arial"/>
              </a:rPr>
              <a:t>input.</a:t>
            </a:r>
            <a:endParaRPr sz="2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8739" y="6635530"/>
            <a:ext cx="723900" cy="17462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1000" b="1" spc="45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1000" b="1" spc="50" dirty="0">
                <a:solidFill>
                  <a:srgbClr val="C00000"/>
                </a:solidFill>
                <a:latin typeface="Arial"/>
                <a:cs typeface="Arial"/>
              </a:rPr>
              <a:t>U</a:t>
            </a:r>
            <a:r>
              <a:rPr sz="1000" b="1" spc="-5" dirty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1000" b="1" spc="-60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1000" b="1" spc="-10" dirty="0">
                <a:solidFill>
                  <a:srgbClr val="C00000"/>
                </a:solidFill>
                <a:latin typeface="Arial"/>
                <a:cs typeface="Arial"/>
              </a:rPr>
              <a:t>-</a:t>
            </a:r>
            <a:r>
              <a:rPr sz="1000" b="1" spc="100" dirty="0">
                <a:solidFill>
                  <a:srgbClr val="C00000"/>
                </a:solidFill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191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3304032" y="202679"/>
              <a:ext cx="2529840" cy="9342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578478" y="321386"/>
            <a:ext cx="1986914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DECODERS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sp>
          <p:nvSpPr>
            <p:cNvPr id="8" name="object 8"/>
            <p:cNvSpPr/>
            <p:nvPr/>
          </p:nvSpPr>
          <p:spPr>
            <a:xfrm>
              <a:off x="8593835" y="6620255"/>
              <a:ext cx="550164" cy="23774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630411" y="6556243"/>
              <a:ext cx="513588" cy="3017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597655" y="1205306"/>
            <a:ext cx="194056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C00000"/>
                </a:solidFill>
                <a:latin typeface="Palladio Uralic"/>
                <a:cs typeface="Palladio Uralic"/>
              </a:rPr>
              <a:t>2 : 4</a:t>
            </a:r>
            <a:r>
              <a:rPr sz="2400" b="1" spc="-100" dirty="0">
                <a:solidFill>
                  <a:srgbClr val="C00000"/>
                </a:solidFill>
                <a:latin typeface="Palladio Uralic"/>
                <a:cs typeface="Palladio Uralic"/>
              </a:rPr>
              <a:t> </a:t>
            </a:r>
            <a:r>
              <a:rPr sz="2400" b="1" dirty="0">
                <a:solidFill>
                  <a:srgbClr val="C00000"/>
                </a:solidFill>
                <a:latin typeface="Palladio Uralic"/>
                <a:cs typeface="Palladio Uralic"/>
              </a:rPr>
              <a:t>Decoders</a:t>
            </a:r>
            <a:endParaRPr sz="2400">
              <a:latin typeface="Palladio Uralic"/>
              <a:cs typeface="Palladio Uralic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752600" y="2297048"/>
            <a:ext cx="5747004" cy="84582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594859" y="3566540"/>
            <a:ext cx="2904743" cy="169164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1746250" y="2290698"/>
          <a:ext cx="5766435" cy="29737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07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6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8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64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64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64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64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22910"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800" b="1" spc="-5" dirty="0">
                          <a:latin typeface="Palladio Uralic"/>
                          <a:cs typeface="Palladio Uralic"/>
                        </a:rPr>
                        <a:t>Inputs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04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800" b="1" dirty="0">
                          <a:latin typeface="Palladio Uralic"/>
                          <a:cs typeface="Palladio Uralic"/>
                        </a:rPr>
                        <a:t>Outputs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04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03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Enable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04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800" b="1" dirty="0">
                          <a:latin typeface="Palladio Uralic"/>
                          <a:cs typeface="Palladio Uralic"/>
                        </a:rPr>
                        <a:t>A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11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800" b="1" dirty="0">
                          <a:latin typeface="Palladio Uralic"/>
                          <a:cs typeface="Palladio Uralic"/>
                        </a:rPr>
                        <a:t>B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11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800" b="1" spc="-5" dirty="0">
                          <a:latin typeface="Palladio Uralic"/>
                          <a:cs typeface="Palladio Uralic"/>
                        </a:rPr>
                        <a:t>Y</a:t>
                      </a:r>
                      <a:r>
                        <a:rPr sz="1800" b="1" spc="-7" baseline="-20833" dirty="0">
                          <a:latin typeface="Palladio Uralic"/>
                          <a:cs typeface="Palladio Uralic"/>
                        </a:rPr>
                        <a:t>3</a:t>
                      </a:r>
                      <a:endParaRPr sz="1800" baseline="-20833">
                        <a:latin typeface="Palladio Uralic"/>
                        <a:cs typeface="Palladio Uralic"/>
                      </a:endParaRPr>
                    </a:p>
                  </a:txBody>
                  <a:tcPr marL="0" marR="0" marT="711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800" b="1" spc="-5" dirty="0">
                          <a:latin typeface="Palladio Uralic"/>
                          <a:cs typeface="Palladio Uralic"/>
                        </a:rPr>
                        <a:t>Y</a:t>
                      </a:r>
                      <a:r>
                        <a:rPr sz="1800" b="1" spc="-7" baseline="-20833" dirty="0">
                          <a:latin typeface="Palladio Uralic"/>
                          <a:cs typeface="Palladio Uralic"/>
                        </a:rPr>
                        <a:t>2</a:t>
                      </a:r>
                      <a:endParaRPr sz="1800" baseline="-20833">
                        <a:latin typeface="Palladio Uralic"/>
                        <a:cs typeface="Palladio Uralic"/>
                      </a:endParaRPr>
                    </a:p>
                  </a:txBody>
                  <a:tcPr marL="0" marR="0" marT="711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800" b="1" spc="-5" dirty="0">
                          <a:latin typeface="Palladio Uralic"/>
                          <a:cs typeface="Palladio Uralic"/>
                        </a:rPr>
                        <a:t>Y</a:t>
                      </a:r>
                      <a:r>
                        <a:rPr sz="1800" b="1" spc="-7" baseline="-20833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 baseline="-20833">
                        <a:latin typeface="Palladio Uralic"/>
                        <a:cs typeface="Palladio Uralic"/>
                      </a:endParaRPr>
                    </a:p>
                  </a:txBody>
                  <a:tcPr marL="0" marR="0" marT="711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800" b="1" spc="-5" dirty="0">
                          <a:latin typeface="Palladio Uralic"/>
                          <a:cs typeface="Palladio Uralic"/>
                        </a:rPr>
                        <a:t>Y</a:t>
                      </a:r>
                      <a:r>
                        <a:rPr sz="1800" b="1" spc="-7" baseline="-20833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 baseline="-20833">
                        <a:latin typeface="Palladio Uralic"/>
                        <a:cs typeface="Palladio Uralic"/>
                      </a:endParaRPr>
                    </a:p>
                  </a:txBody>
                  <a:tcPr marL="0" marR="0" marT="711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90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04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x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04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x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04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04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04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04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04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03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04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04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04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04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04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04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04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90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04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04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04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04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04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04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04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303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04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04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04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04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04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04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04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04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04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04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04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04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04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04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" name="object 17"/>
          <p:cNvSpPr txBox="1"/>
          <p:nvPr/>
        </p:nvSpPr>
        <p:spPr>
          <a:xfrm>
            <a:off x="78739" y="6635530"/>
            <a:ext cx="723900" cy="17462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1000" b="1" spc="45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1000" b="1" spc="50" dirty="0">
                <a:solidFill>
                  <a:srgbClr val="C00000"/>
                </a:solidFill>
                <a:latin typeface="Arial"/>
                <a:cs typeface="Arial"/>
              </a:rPr>
              <a:t>U</a:t>
            </a:r>
            <a:r>
              <a:rPr sz="1000" b="1" spc="-5" dirty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1000" b="1" spc="-60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1000" b="1" spc="-10" dirty="0">
                <a:solidFill>
                  <a:srgbClr val="C00000"/>
                </a:solidFill>
                <a:latin typeface="Arial"/>
                <a:cs typeface="Arial"/>
              </a:rPr>
              <a:t>-</a:t>
            </a:r>
            <a:r>
              <a:rPr sz="1000" b="1" spc="100" dirty="0">
                <a:solidFill>
                  <a:srgbClr val="C00000"/>
                </a:solidFill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192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4008501" y="5583428"/>
            <a:ext cx="133286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Palladio Uralic"/>
                <a:cs typeface="Palladio Uralic"/>
              </a:rPr>
              <a:t>Truth</a:t>
            </a:r>
            <a:r>
              <a:rPr sz="2000" b="1" spc="-80" dirty="0">
                <a:latin typeface="Palladio Uralic"/>
                <a:cs typeface="Palladio Uralic"/>
              </a:rPr>
              <a:t> </a:t>
            </a:r>
            <a:r>
              <a:rPr sz="2000" b="1" dirty="0">
                <a:latin typeface="Palladio Uralic"/>
                <a:cs typeface="Palladio Uralic"/>
              </a:rPr>
              <a:t>table</a:t>
            </a:r>
            <a:endParaRPr sz="2000">
              <a:latin typeface="Palladio Uralic"/>
              <a:cs typeface="Palladio Uralic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793241" y="982217"/>
              <a:ext cx="7589519" cy="762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6764"/>
              <a:ext cx="9143999" cy="668274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53439" y="320001"/>
              <a:ext cx="7434072" cy="57611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304032" y="202679"/>
              <a:ext cx="2529840" cy="93422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578478" y="321386"/>
            <a:ext cx="1986914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20" dirty="0">
                <a:latin typeface="Trebuchet MS"/>
                <a:cs typeface="Trebuchet MS"/>
              </a:rPr>
              <a:t>DECODERS</a:t>
            </a:r>
            <a:endParaRPr sz="320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895600" y="1778507"/>
            <a:ext cx="6253480" cy="5080000"/>
            <a:chOff x="2895600" y="1778507"/>
            <a:chExt cx="6253480" cy="5080000"/>
          </a:xfrm>
        </p:grpSpPr>
        <p:sp>
          <p:nvSpPr>
            <p:cNvPr id="13" name="object 13"/>
            <p:cNvSpPr/>
            <p:nvPr/>
          </p:nvSpPr>
          <p:spPr>
            <a:xfrm>
              <a:off x="8593835" y="6620254"/>
              <a:ext cx="550164" cy="23774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630411" y="6556242"/>
              <a:ext cx="513588" cy="30175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641079" y="6644639"/>
              <a:ext cx="502920" cy="18288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641079" y="6644639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895600" y="1778507"/>
              <a:ext cx="3710940" cy="4241292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597655" y="1205306"/>
            <a:ext cx="194056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C00000"/>
                </a:solidFill>
                <a:latin typeface="Palladio Uralic"/>
                <a:cs typeface="Palladio Uralic"/>
              </a:rPr>
              <a:t>2 : 4</a:t>
            </a:r>
            <a:r>
              <a:rPr sz="2400" b="1" spc="-100" dirty="0">
                <a:solidFill>
                  <a:srgbClr val="C00000"/>
                </a:solidFill>
                <a:latin typeface="Palladio Uralic"/>
                <a:cs typeface="Palladio Uralic"/>
              </a:rPr>
              <a:t> </a:t>
            </a:r>
            <a:r>
              <a:rPr sz="2400" b="1" dirty="0">
                <a:solidFill>
                  <a:srgbClr val="C00000"/>
                </a:solidFill>
                <a:latin typeface="Palladio Uralic"/>
                <a:cs typeface="Palladio Uralic"/>
              </a:rPr>
              <a:t>Decoders</a:t>
            </a:r>
            <a:endParaRPr sz="2400">
              <a:latin typeface="Palladio Uralic"/>
              <a:cs typeface="Palladio Uralic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8739" y="6635530"/>
            <a:ext cx="723900" cy="17462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1000" b="1" spc="45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1000" b="1" spc="50" dirty="0">
                <a:solidFill>
                  <a:srgbClr val="C00000"/>
                </a:solidFill>
                <a:latin typeface="Arial"/>
                <a:cs typeface="Arial"/>
              </a:rPr>
              <a:t>U</a:t>
            </a:r>
            <a:r>
              <a:rPr sz="1000" b="1" spc="-5" dirty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1000" b="1" spc="-60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1000" b="1" spc="-10" dirty="0">
                <a:solidFill>
                  <a:srgbClr val="C00000"/>
                </a:solidFill>
                <a:latin typeface="Arial"/>
                <a:cs typeface="Arial"/>
              </a:rPr>
              <a:t>-</a:t>
            </a:r>
            <a:r>
              <a:rPr sz="1000" b="1" spc="100" dirty="0">
                <a:solidFill>
                  <a:srgbClr val="C00000"/>
                </a:solidFill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193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3734180" y="6097930"/>
            <a:ext cx="174371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Palladio Uralic"/>
                <a:cs typeface="Palladio Uralic"/>
              </a:rPr>
              <a:t>Logic</a:t>
            </a:r>
            <a:r>
              <a:rPr sz="2000" b="1" spc="-80" dirty="0">
                <a:latin typeface="Palladio Uralic"/>
                <a:cs typeface="Palladio Uralic"/>
              </a:rPr>
              <a:t> </a:t>
            </a:r>
            <a:r>
              <a:rPr sz="2000" b="1" dirty="0">
                <a:latin typeface="Palladio Uralic"/>
                <a:cs typeface="Palladio Uralic"/>
              </a:rPr>
              <a:t>Diagram</a:t>
            </a:r>
            <a:endParaRPr sz="2000">
              <a:latin typeface="Palladio Uralic"/>
              <a:cs typeface="Palladio Uralic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3304032" y="202679"/>
              <a:ext cx="2529840" cy="9342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578478" y="321386"/>
            <a:ext cx="1986914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DECODERS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sp>
          <p:nvSpPr>
            <p:cNvPr id="8" name="object 8"/>
            <p:cNvSpPr/>
            <p:nvPr/>
          </p:nvSpPr>
          <p:spPr>
            <a:xfrm>
              <a:off x="8593835" y="6620255"/>
              <a:ext cx="550164" cy="23774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630411" y="6556243"/>
              <a:ext cx="513588" cy="3017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32740" y="1083945"/>
            <a:ext cx="8479155" cy="5500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905" algn="ctr">
              <a:lnSpc>
                <a:spcPts val="2830"/>
              </a:lnSpc>
              <a:spcBef>
                <a:spcPts val="100"/>
              </a:spcBef>
            </a:pPr>
            <a:r>
              <a:rPr sz="2400" b="1" dirty="0">
                <a:solidFill>
                  <a:srgbClr val="C00000"/>
                </a:solidFill>
                <a:latin typeface="Palladio Uralic"/>
                <a:cs typeface="Palladio Uralic"/>
              </a:rPr>
              <a:t>3 : 8</a:t>
            </a:r>
            <a:r>
              <a:rPr sz="2400" b="1" spc="-25" dirty="0">
                <a:solidFill>
                  <a:srgbClr val="C00000"/>
                </a:solidFill>
                <a:latin typeface="Palladio Uralic"/>
                <a:cs typeface="Palladio Uralic"/>
              </a:rPr>
              <a:t> </a:t>
            </a:r>
            <a:r>
              <a:rPr sz="2400" b="1" dirty="0">
                <a:solidFill>
                  <a:srgbClr val="C00000"/>
                </a:solidFill>
                <a:latin typeface="Palladio Uralic"/>
                <a:cs typeface="Palladio Uralic"/>
              </a:rPr>
              <a:t>Decoders</a:t>
            </a:r>
            <a:endParaRPr sz="2400">
              <a:latin typeface="Palladio Uralic"/>
              <a:cs typeface="Palladio Uralic"/>
            </a:endParaRPr>
          </a:p>
          <a:p>
            <a:pPr marL="527685" marR="55880" indent="-464820" algn="just">
              <a:lnSpc>
                <a:spcPts val="3360"/>
              </a:lnSpc>
              <a:spcBef>
                <a:spcPts val="60"/>
              </a:spcBef>
              <a:buClr>
                <a:srgbClr val="E36C09"/>
              </a:buClr>
              <a:buFont typeface="Wingdings"/>
              <a:buChar char=""/>
              <a:tabLst>
                <a:tab pos="528320" algn="l"/>
              </a:tabLst>
            </a:pPr>
            <a:r>
              <a:rPr sz="2800" spc="135" dirty="0">
                <a:solidFill>
                  <a:srgbClr val="006FC0"/>
                </a:solidFill>
                <a:latin typeface="Arial"/>
                <a:cs typeface="Arial"/>
              </a:rPr>
              <a:t>A </a:t>
            </a:r>
            <a:r>
              <a:rPr sz="2800" spc="-200" dirty="0">
                <a:solidFill>
                  <a:srgbClr val="006FC0"/>
                </a:solidFill>
                <a:latin typeface="Arial"/>
                <a:cs typeface="Arial"/>
              </a:rPr>
              <a:t>3-to-8 </a:t>
            </a:r>
            <a:r>
              <a:rPr sz="2800" spc="-150" dirty="0">
                <a:solidFill>
                  <a:srgbClr val="006FC0"/>
                </a:solidFill>
                <a:latin typeface="Arial"/>
                <a:cs typeface="Arial"/>
              </a:rPr>
              <a:t>line </a:t>
            </a:r>
            <a:r>
              <a:rPr sz="2800" spc="-204" dirty="0">
                <a:solidFill>
                  <a:srgbClr val="006FC0"/>
                </a:solidFill>
                <a:latin typeface="Arial"/>
                <a:cs typeface="Arial"/>
              </a:rPr>
              <a:t>decoder </a:t>
            </a:r>
            <a:r>
              <a:rPr sz="2800" spc="-375" dirty="0">
                <a:solidFill>
                  <a:srgbClr val="006FC0"/>
                </a:solidFill>
                <a:latin typeface="Arial"/>
                <a:cs typeface="Arial"/>
              </a:rPr>
              <a:t>has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three inputs </a:t>
            </a:r>
            <a:r>
              <a:rPr sz="2800" spc="-90" dirty="0">
                <a:solidFill>
                  <a:srgbClr val="006FC0"/>
                </a:solidFill>
                <a:latin typeface="Arial"/>
                <a:cs typeface="Arial"/>
              </a:rPr>
              <a:t>(A, </a:t>
            </a:r>
            <a:r>
              <a:rPr sz="2800" spc="-290" dirty="0">
                <a:solidFill>
                  <a:srgbClr val="006FC0"/>
                </a:solidFill>
                <a:latin typeface="Arial"/>
                <a:cs typeface="Arial"/>
              </a:rPr>
              <a:t>B,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C) 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spc="-180" dirty="0">
                <a:solidFill>
                  <a:srgbClr val="006FC0"/>
                </a:solidFill>
                <a:latin typeface="Arial"/>
                <a:cs typeface="Arial"/>
              </a:rPr>
              <a:t>eight 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outputs </a:t>
            </a:r>
            <a:r>
              <a:rPr sz="2800" spc="-225" dirty="0">
                <a:solidFill>
                  <a:srgbClr val="006FC0"/>
                </a:solidFill>
                <a:latin typeface="Arial"/>
                <a:cs typeface="Arial"/>
              </a:rPr>
              <a:t>(Y</a:t>
            </a:r>
            <a:r>
              <a:rPr sz="2775" spc="-337" baseline="-21021" dirty="0">
                <a:solidFill>
                  <a:srgbClr val="006FC0"/>
                </a:solidFill>
                <a:latin typeface="Arial"/>
                <a:cs typeface="Arial"/>
              </a:rPr>
              <a:t>0</a:t>
            </a:r>
            <a:r>
              <a:rPr sz="2800" spc="-225" dirty="0">
                <a:solidFill>
                  <a:srgbClr val="006FC0"/>
                </a:solidFill>
                <a:latin typeface="Arial"/>
                <a:cs typeface="Arial"/>
              </a:rPr>
              <a:t>- Y</a:t>
            </a:r>
            <a:r>
              <a:rPr sz="2775" spc="-337" baseline="-21021" dirty="0">
                <a:solidFill>
                  <a:srgbClr val="006FC0"/>
                </a:solidFill>
                <a:latin typeface="Arial"/>
                <a:cs typeface="Arial"/>
              </a:rPr>
              <a:t>7</a:t>
            </a:r>
            <a:r>
              <a:rPr sz="2800" spc="-225" dirty="0">
                <a:solidFill>
                  <a:srgbClr val="006FC0"/>
                </a:solidFill>
                <a:latin typeface="Arial"/>
                <a:cs typeface="Arial"/>
              </a:rPr>
              <a:t>). </a:t>
            </a:r>
            <a:r>
              <a:rPr sz="2800" spc="-370" dirty="0">
                <a:solidFill>
                  <a:srgbClr val="006FC0"/>
                </a:solidFill>
                <a:latin typeface="Arial"/>
                <a:cs typeface="Arial"/>
              </a:rPr>
              <a:t>Based </a:t>
            </a:r>
            <a:r>
              <a:rPr sz="2800" spc="-185" dirty="0">
                <a:solidFill>
                  <a:srgbClr val="006FC0"/>
                </a:solidFill>
                <a:latin typeface="Arial"/>
                <a:cs typeface="Arial"/>
              </a:rPr>
              <a:t>on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400" dirty="0">
                <a:solidFill>
                  <a:srgbClr val="006FC0"/>
                </a:solidFill>
                <a:latin typeface="Arial"/>
                <a:cs typeface="Arial"/>
              </a:rPr>
              <a:t>3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inputs </a:t>
            </a:r>
            <a:r>
              <a:rPr sz="2800" spc="-240" dirty="0">
                <a:solidFill>
                  <a:srgbClr val="006FC0"/>
                </a:solidFill>
                <a:latin typeface="Arial"/>
                <a:cs typeface="Arial"/>
              </a:rPr>
              <a:t>one </a:t>
            </a:r>
            <a:r>
              <a:rPr sz="2800" spc="-70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eight  </a:t>
            </a:r>
            <a:r>
              <a:rPr sz="2800" spc="-160" dirty="0">
                <a:solidFill>
                  <a:srgbClr val="006FC0"/>
                </a:solidFill>
                <a:latin typeface="Arial"/>
                <a:cs typeface="Arial"/>
              </a:rPr>
              <a:t>outputs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is</a:t>
            </a:r>
            <a:r>
              <a:rPr sz="2800" spc="12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selected.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E36C09"/>
              </a:buClr>
              <a:buFont typeface="Wingdings"/>
              <a:buChar char=""/>
            </a:pPr>
            <a:endParaRPr sz="2800">
              <a:latin typeface="Arial"/>
              <a:cs typeface="Arial"/>
            </a:endParaRPr>
          </a:p>
          <a:p>
            <a:pPr marL="527685" marR="55244" indent="-464820" algn="just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528320" algn="l"/>
              </a:tabLst>
            </a:pPr>
            <a:r>
              <a:rPr sz="2800" spc="-220" dirty="0">
                <a:solidFill>
                  <a:srgbClr val="006FC0"/>
                </a:solidFill>
                <a:latin typeface="Arial"/>
                <a:cs typeface="Arial"/>
              </a:rPr>
              <a:t>This </a:t>
            </a:r>
            <a:r>
              <a:rPr sz="2800" spc="-204" dirty="0">
                <a:solidFill>
                  <a:srgbClr val="006FC0"/>
                </a:solidFill>
                <a:latin typeface="Arial"/>
                <a:cs typeface="Arial"/>
              </a:rPr>
              <a:t>decoder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800" spc="-310" dirty="0">
                <a:solidFill>
                  <a:srgbClr val="006FC0"/>
                </a:solidFill>
                <a:latin typeface="Arial"/>
                <a:cs typeface="Arial"/>
              </a:rPr>
              <a:t>used </a:t>
            </a:r>
            <a:r>
              <a:rPr sz="2800" spc="-55" dirty="0">
                <a:solidFill>
                  <a:srgbClr val="006FC0"/>
                </a:solidFill>
                <a:latin typeface="Arial"/>
                <a:cs typeface="Arial"/>
              </a:rPr>
              <a:t>for </a:t>
            </a:r>
            <a:r>
              <a:rPr sz="2800" spc="-145" dirty="0">
                <a:solidFill>
                  <a:srgbClr val="006FC0"/>
                </a:solidFill>
                <a:latin typeface="Arial"/>
                <a:cs typeface="Arial"/>
              </a:rPr>
              <a:t>binary-to-octal </a:t>
            </a:r>
            <a:r>
              <a:rPr sz="2800" spc="-200" dirty="0">
                <a:solidFill>
                  <a:srgbClr val="006FC0"/>
                </a:solidFill>
                <a:latin typeface="Arial"/>
                <a:cs typeface="Arial"/>
              </a:rPr>
              <a:t>conversion. </a:t>
            </a: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The 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input </a:t>
            </a:r>
            <a:r>
              <a:rPr sz="2800" spc="-235" dirty="0">
                <a:solidFill>
                  <a:srgbClr val="006FC0"/>
                </a:solidFill>
                <a:latin typeface="Arial"/>
                <a:cs typeface="Arial"/>
              </a:rPr>
              <a:t>variables </a:t>
            </a:r>
            <a:r>
              <a:rPr sz="2800" spc="-260" dirty="0">
                <a:solidFill>
                  <a:srgbClr val="006FC0"/>
                </a:solidFill>
                <a:latin typeface="Arial"/>
                <a:cs typeface="Arial"/>
              </a:rPr>
              <a:t>may </a:t>
            </a:r>
            <a:r>
              <a:rPr sz="2800" spc="-215" dirty="0">
                <a:solidFill>
                  <a:srgbClr val="006FC0"/>
                </a:solidFill>
                <a:latin typeface="Arial"/>
                <a:cs typeface="Arial"/>
              </a:rPr>
              <a:t>represent </a:t>
            </a:r>
            <a:r>
              <a:rPr sz="2800" spc="-395" dirty="0">
                <a:solidFill>
                  <a:srgbClr val="006FC0"/>
                </a:solidFill>
                <a:latin typeface="Arial"/>
                <a:cs typeface="Arial"/>
              </a:rPr>
              <a:t>a</a:t>
            </a:r>
            <a:r>
              <a:rPr sz="2800" spc="-1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binary </a:t>
            </a:r>
            <a:r>
              <a:rPr sz="2800" spc="-204" dirty="0">
                <a:solidFill>
                  <a:srgbClr val="006FC0"/>
                </a:solidFill>
                <a:latin typeface="Arial"/>
                <a:cs typeface="Arial"/>
              </a:rPr>
              <a:t>number </a:t>
            </a:r>
            <a:r>
              <a:rPr sz="2800" spc="-260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 </a:t>
            </a:r>
            <a:r>
              <a:rPr sz="2800" spc="-160" dirty="0">
                <a:solidFill>
                  <a:srgbClr val="006FC0"/>
                </a:solidFill>
                <a:latin typeface="Arial"/>
                <a:cs typeface="Arial"/>
              </a:rPr>
              <a:t>outputs 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will </a:t>
            </a:r>
            <a:r>
              <a:rPr sz="2800" spc="-210" dirty="0">
                <a:solidFill>
                  <a:srgbClr val="006FC0"/>
                </a:solidFill>
                <a:latin typeface="Arial"/>
                <a:cs typeface="Arial"/>
              </a:rPr>
              <a:t>represent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eight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digits </a:t>
            </a:r>
            <a:r>
              <a:rPr sz="2800" spc="-110" dirty="0">
                <a:solidFill>
                  <a:srgbClr val="006FC0"/>
                </a:solidFill>
                <a:latin typeface="Arial"/>
                <a:cs typeface="Arial"/>
              </a:rPr>
              <a:t>in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50" dirty="0">
                <a:solidFill>
                  <a:srgbClr val="006FC0"/>
                </a:solidFill>
                <a:latin typeface="Arial"/>
                <a:cs typeface="Arial"/>
              </a:rPr>
              <a:t>octal </a:t>
            </a:r>
            <a:r>
              <a:rPr sz="2800" spc="-204" dirty="0">
                <a:solidFill>
                  <a:srgbClr val="006FC0"/>
                </a:solidFill>
                <a:latin typeface="Arial"/>
                <a:cs typeface="Arial"/>
              </a:rPr>
              <a:t>number  </a:t>
            </a:r>
            <a:r>
              <a:rPr sz="2800" spc="-270" dirty="0">
                <a:solidFill>
                  <a:srgbClr val="006FC0"/>
                </a:solidFill>
                <a:latin typeface="Arial"/>
                <a:cs typeface="Arial"/>
              </a:rPr>
              <a:t>system.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E36C09"/>
              </a:buClr>
              <a:buFont typeface="Wingdings"/>
              <a:buChar char=""/>
            </a:pPr>
            <a:endParaRPr sz="2900">
              <a:latin typeface="Arial"/>
              <a:cs typeface="Arial"/>
            </a:endParaRPr>
          </a:p>
          <a:p>
            <a:pPr marL="527685" marR="55244" indent="-464820" algn="just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528320" algn="l"/>
              </a:tabLst>
            </a:pP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output </a:t>
            </a:r>
            <a:r>
              <a:rPr sz="2800" spc="-145" dirty="0">
                <a:solidFill>
                  <a:srgbClr val="006FC0"/>
                </a:solidFill>
                <a:latin typeface="Arial"/>
                <a:cs typeface="Arial"/>
              </a:rPr>
              <a:t>line </a:t>
            </a:r>
            <a:r>
              <a:rPr sz="2800" spc="-300" dirty="0">
                <a:solidFill>
                  <a:srgbClr val="006FC0"/>
                </a:solidFill>
                <a:latin typeface="Arial"/>
                <a:cs typeface="Arial"/>
              </a:rPr>
              <a:t>whose </a:t>
            </a:r>
            <a:r>
              <a:rPr sz="2800" spc="-235" dirty="0">
                <a:solidFill>
                  <a:srgbClr val="006FC0"/>
                </a:solidFill>
                <a:latin typeface="Arial"/>
                <a:cs typeface="Arial"/>
              </a:rPr>
              <a:t>value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800" spc="-235" dirty="0">
                <a:solidFill>
                  <a:srgbClr val="006FC0"/>
                </a:solidFill>
                <a:latin typeface="Arial"/>
                <a:cs typeface="Arial"/>
              </a:rPr>
              <a:t>equal </a:t>
            </a:r>
            <a:r>
              <a:rPr sz="2800" spc="-60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800" spc="-400" dirty="0">
                <a:solidFill>
                  <a:srgbClr val="006FC0"/>
                </a:solidFill>
                <a:latin typeface="Arial"/>
                <a:cs typeface="Arial"/>
              </a:rPr>
              <a:t>1 </a:t>
            </a:r>
            <a:r>
              <a:rPr sz="2800" spc="-240" dirty="0">
                <a:solidFill>
                  <a:srgbClr val="006FC0"/>
                </a:solidFill>
                <a:latin typeface="Arial"/>
                <a:cs typeface="Arial"/>
              </a:rPr>
              <a:t>represents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 </a:t>
            </a:r>
            <a:r>
              <a:rPr sz="2800" spc="-140" dirty="0">
                <a:solidFill>
                  <a:srgbClr val="006FC0"/>
                </a:solidFill>
                <a:latin typeface="Arial"/>
                <a:cs typeface="Arial"/>
              </a:rPr>
              <a:t>minterm</a:t>
            </a:r>
            <a:r>
              <a:rPr sz="2800" spc="49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190" dirty="0">
                <a:solidFill>
                  <a:srgbClr val="006FC0"/>
                </a:solidFill>
                <a:latin typeface="Arial"/>
                <a:cs typeface="Arial"/>
              </a:rPr>
              <a:t>equivalent  </a:t>
            </a:r>
            <a:r>
              <a:rPr sz="2800" spc="-80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binary  </a:t>
            </a:r>
            <a:r>
              <a:rPr sz="2800" spc="-204" dirty="0">
                <a:solidFill>
                  <a:srgbClr val="006FC0"/>
                </a:solidFill>
                <a:latin typeface="Arial"/>
                <a:cs typeface="Arial"/>
              </a:rPr>
              <a:t>number </a:t>
            </a:r>
            <a:r>
              <a:rPr sz="2800" spc="-190" dirty="0">
                <a:solidFill>
                  <a:srgbClr val="006FC0"/>
                </a:solidFill>
                <a:latin typeface="Arial"/>
                <a:cs typeface="Arial"/>
              </a:rPr>
              <a:t>presently  </a:t>
            </a:r>
            <a:r>
              <a:rPr sz="2800" spc="-220" dirty="0">
                <a:solidFill>
                  <a:srgbClr val="006FC0"/>
                </a:solidFill>
                <a:latin typeface="Arial"/>
                <a:cs typeface="Arial"/>
              </a:rPr>
              <a:t>available </a:t>
            </a:r>
            <a:r>
              <a:rPr sz="2800" spc="-110" dirty="0">
                <a:solidFill>
                  <a:srgbClr val="006FC0"/>
                </a:solidFill>
                <a:latin typeface="Arial"/>
                <a:cs typeface="Arial"/>
              </a:rPr>
              <a:t>in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input</a:t>
            </a:r>
            <a:r>
              <a:rPr sz="2800" spc="-13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210" dirty="0">
                <a:solidFill>
                  <a:srgbClr val="006FC0"/>
                </a:solidFill>
                <a:latin typeface="Arial"/>
                <a:cs typeface="Arial"/>
              </a:rPr>
              <a:t>lines.</a:t>
            </a:r>
            <a:endParaRPr sz="2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8739" y="6635530"/>
            <a:ext cx="723900" cy="17462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1000" b="1" spc="45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1000" b="1" spc="50" dirty="0">
                <a:solidFill>
                  <a:srgbClr val="C00000"/>
                </a:solidFill>
                <a:latin typeface="Arial"/>
                <a:cs typeface="Arial"/>
              </a:rPr>
              <a:t>U</a:t>
            </a:r>
            <a:r>
              <a:rPr sz="1000" b="1" spc="-5" dirty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1000" b="1" spc="-60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1000" b="1" spc="-10" dirty="0">
                <a:solidFill>
                  <a:srgbClr val="C00000"/>
                </a:solidFill>
                <a:latin typeface="Arial"/>
                <a:cs typeface="Arial"/>
              </a:rPr>
              <a:t>-</a:t>
            </a:r>
            <a:r>
              <a:rPr sz="1000" b="1" spc="100" dirty="0">
                <a:solidFill>
                  <a:srgbClr val="C00000"/>
                </a:solidFill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194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3304032" y="202679"/>
              <a:ext cx="2529840" cy="9342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578478" y="321386"/>
            <a:ext cx="1986914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DECODERS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sp>
          <p:nvSpPr>
            <p:cNvPr id="8" name="object 8"/>
            <p:cNvSpPr/>
            <p:nvPr/>
          </p:nvSpPr>
          <p:spPr>
            <a:xfrm>
              <a:off x="8593835" y="6620255"/>
              <a:ext cx="550164" cy="23774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630411" y="6556243"/>
              <a:ext cx="513588" cy="3017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597655" y="1083945"/>
            <a:ext cx="193928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C00000"/>
                </a:solidFill>
                <a:latin typeface="Palladio Uralic"/>
                <a:cs typeface="Palladio Uralic"/>
              </a:rPr>
              <a:t>3 : 8</a:t>
            </a:r>
            <a:r>
              <a:rPr sz="2400" b="1" spc="-110" dirty="0">
                <a:solidFill>
                  <a:srgbClr val="C00000"/>
                </a:solidFill>
                <a:latin typeface="Palladio Uralic"/>
                <a:cs typeface="Palladio Uralic"/>
              </a:rPr>
              <a:t> </a:t>
            </a:r>
            <a:r>
              <a:rPr sz="2400" b="1" dirty="0">
                <a:solidFill>
                  <a:srgbClr val="C00000"/>
                </a:solidFill>
                <a:latin typeface="Palladio Uralic"/>
                <a:cs typeface="Palladio Uralic"/>
              </a:rPr>
              <a:t>Decoders</a:t>
            </a:r>
            <a:endParaRPr sz="2400">
              <a:latin typeface="Palladio Uralic"/>
              <a:cs typeface="Palladio Uralic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85800" y="1905000"/>
            <a:ext cx="7711440" cy="33147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679450" y="1898650"/>
          <a:ext cx="7731125" cy="3327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4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8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72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64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64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64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64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642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642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4642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4833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30708"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spc="-5" dirty="0">
                          <a:latin typeface="Palladio Uralic"/>
                          <a:cs typeface="Palladio Uralic"/>
                        </a:rPr>
                        <a:t>Inputs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95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8"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dirty="0">
                          <a:latin typeface="Palladio Uralic"/>
                          <a:cs typeface="Palladio Uralic"/>
                        </a:rPr>
                        <a:t>Outputs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95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70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b="1" dirty="0">
                          <a:latin typeface="Palladio Uralic"/>
                          <a:cs typeface="Palladio Uralic"/>
                        </a:rPr>
                        <a:t>A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004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b="1" dirty="0">
                          <a:latin typeface="Palladio Uralic"/>
                          <a:cs typeface="Palladio Uralic"/>
                        </a:rPr>
                        <a:t>B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b="1" dirty="0">
                          <a:latin typeface="Palladio Uralic"/>
                          <a:cs typeface="Palladio Uralic"/>
                        </a:rPr>
                        <a:t>C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b="1" spc="5" dirty="0">
                          <a:latin typeface="Palladio Uralic"/>
                          <a:cs typeface="Palladio Uralic"/>
                        </a:rPr>
                        <a:t>Y</a:t>
                      </a:r>
                      <a:r>
                        <a:rPr sz="1950" b="1" spc="7" baseline="-21367" dirty="0">
                          <a:latin typeface="Palladio Uralic"/>
                          <a:cs typeface="Palladio Uralic"/>
                        </a:rPr>
                        <a:t>0</a:t>
                      </a:r>
                      <a:endParaRPr sz="1950" baseline="-21367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b="1" spc="5" dirty="0">
                          <a:latin typeface="Palladio Uralic"/>
                          <a:cs typeface="Palladio Uralic"/>
                        </a:rPr>
                        <a:t>Y</a:t>
                      </a:r>
                      <a:r>
                        <a:rPr sz="1950" b="1" spc="7" baseline="-21367" dirty="0">
                          <a:latin typeface="Palladio Uralic"/>
                          <a:cs typeface="Palladio Uralic"/>
                        </a:rPr>
                        <a:t>1</a:t>
                      </a:r>
                      <a:endParaRPr sz="1950" baseline="-21367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b="1" spc="5" dirty="0">
                          <a:latin typeface="Palladio Uralic"/>
                          <a:cs typeface="Palladio Uralic"/>
                        </a:rPr>
                        <a:t>Y</a:t>
                      </a:r>
                      <a:r>
                        <a:rPr sz="1950" b="1" spc="7" baseline="-21367" dirty="0">
                          <a:latin typeface="Palladio Uralic"/>
                          <a:cs typeface="Palladio Uralic"/>
                        </a:rPr>
                        <a:t>2</a:t>
                      </a:r>
                      <a:endParaRPr sz="1950" baseline="-21367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b="1" spc="5" dirty="0">
                          <a:latin typeface="Palladio Uralic"/>
                          <a:cs typeface="Palladio Uralic"/>
                        </a:rPr>
                        <a:t>Y</a:t>
                      </a:r>
                      <a:r>
                        <a:rPr sz="1950" b="1" spc="7" baseline="-21367" dirty="0">
                          <a:latin typeface="Palladio Uralic"/>
                          <a:cs typeface="Palladio Uralic"/>
                        </a:rPr>
                        <a:t>3</a:t>
                      </a:r>
                      <a:endParaRPr sz="1950" baseline="-21367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b="1" spc="5" dirty="0">
                          <a:latin typeface="Palladio Uralic"/>
                          <a:cs typeface="Palladio Uralic"/>
                        </a:rPr>
                        <a:t>Y</a:t>
                      </a:r>
                      <a:r>
                        <a:rPr sz="1950" b="1" spc="7" baseline="-21367" dirty="0">
                          <a:latin typeface="Palladio Uralic"/>
                          <a:cs typeface="Palladio Uralic"/>
                        </a:rPr>
                        <a:t>4</a:t>
                      </a:r>
                      <a:endParaRPr sz="1950" baseline="-21367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b="1" spc="5" dirty="0">
                          <a:latin typeface="Palladio Uralic"/>
                          <a:cs typeface="Palladio Uralic"/>
                        </a:rPr>
                        <a:t>Y</a:t>
                      </a:r>
                      <a:r>
                        <a:rPr sz="1950" b="1" spc="7" baseline="-21367" dirty="0">
                          <a:latin typeface="Palladio Uralic"/>
                          <a:cs typeface="Palladio Uralic"/>
                        </a:rPr>
                        <a:t>5</a:t>
                      </a:r>
                      <a:endParaRPr sz="1950" baseline="-21367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b="1" spc="5" dirty="0">
                          <a:latin typeface="Palladio Uralic"/>
                          <a:cs typeface="Palladio Uralic"/>
                        </a:rPr>
                        <a:t>Y</a:t>
                      </a:r>
                      <a:r>
                        <a:rPr sz="1950" b="1" spc="7" baseline="-21367" dirty="0">
                          <a:latin typeface="Palladio Uralic"/>
                          <a:cs typeface="Palladio Uralic"/>
                        </a:rPr>
                        <a:t>6</a:t>
                      </a:r>
                      <a:endParaRPr sz="1950" baseline="-21367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b="1" spc="5" dirty="0">
                          <a:latin typeface="Palladio Uralic"/>
                          <a:cs typeface="Palladio Uralic"/>
                        </a:rPr>
                        <a:t>Y</a:t>
                      </a:r>
                      <a:r>
                        <a:rPr sz="1950" b="1" spc="7" baseline="-21367" dirty="0">
                          <a:latin typeface="Palladio Uralic"/>
                          <a:cs typeface="Palladio Uralic"/>
                        </a:rPr>
                        <a:t>7</a:t>
                      </a:r>
                      <a:endParaRPr sz="1950" baseline="-21367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59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972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1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59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972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1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1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159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972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1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1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159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972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1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1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1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159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1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972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1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159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1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972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1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1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159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1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972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1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1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159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1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972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1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1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0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00" dirty="0">
                          <a:latin typeface="Palladio Uralic"/>
                          <a:cs typeface="Palladio Uralic"/>
                        </a:rPr>
                        <a:t>1</a:t>
                      </a:r>
                      <a:endParaRPr sz="2000">
                        <a:latin typeface="Palladio Uralic"/>
                        <a:cs typeface="Palladio Uralic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6" name="object 16"/>
          <p:cNvSpPr txBox="1"/>
          <p:nvPr/>
        </p:nvSpPr>
        <p:spPr>
          <a:xfrm>
            <a:off x="78739" y="6635530"/>
            <a:ext cx="723900" cy="17462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1000" b="1" spc="45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1000" b="1" spc="50" dirty="0">
                <a:solidFill>
                  <a:srgbClr val="C00000"/>
                </a:solidFill>
                <a:latin typeface="Arial"/>
                <a:cs typeface="Arial"/>
              </a:rPr>
              <a:t>U</a:t>
            </a:r>
            <a:r>
              <a:rPr sz="1000" b="1" spc="-5" dirty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1000" b="1" spc="-60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1000" b="1" spc="-10" dirty="0">
                <a:solidFill>
                  <a:srgbClr val="C00000"/>
                </a:solidFill>
                <a:latin typeface="Arial"/>
                <a:cs typeface="Arial"/>
              </a:rPr>
              <a:t>-</a:t>
            </a:r>
            <a:r>
              <a:rPr sz="1000" b="1" spc="100" dirty="0">
                <a:solidFill>
                  <a:srgbClr val="C00000"/>
                </a:solidFill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195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4008501" y="5793130"/>
            <a:ext cx="133286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Palladio Uralic"/>
                <a:cs typeface="Palladio Uralic"/>
              </a:rPr>
              <a:t>Truth</a:t>
            </a:r>
            <a:r>
              <a:rPr sz="2000" b="1" spc="-80" dirty="0">
                <a:latin typeface="Palladio Uralic"/>
                <a:cs typeface="Palladio Uralic"/>
              </a:rPr>
              <a:t> </a:t>
            </a:r>
            <a:r>
              <a:rPr sz="2000" b="1" dirty="0">
                <a:latin typeface="Palladio Uralic"/>
                <a:cs typeface="Palladio Uralic"/>
              </a:rPr>
              <a:t>table</a:t>
            </a:r>
            <a:endParaRPr sz="2000">
              <a:latin typeface="Palladio Uralic"/>
              <a:cs typeface="Palladio Uralic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793241" y="982217"/>
              <a:ext cx="7589519" cy="762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6764"/>
              <a:ext cx="9143999" cy="668274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53439" y="320001"/>
              <a:ext cx="7434072" cy="57611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304032" y="202679"/>
              <a:ext cx="2529840" cy="93422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578478" y="321386"/>
            <a:ext cx="1986914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20" dirty="0">
                <a:latin typeface="Trebuchet MS"/>
                <a:cs typeface="Trebuchet MS"/>
              </a:rPr>
              <a:t>DECODERS</a:t>
            </a:r>
            <a:endParaRPr sz="320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244595" y="1612391"/>
            <a:ext cx="5904230" cy="5245735"/>
            <a:chOff x="3244595" y="1612391"/>
            <a:chExt cx="5904230" cy="5245735"/>
          </a:xfrm>
        </p:grpSpPr>
        <p:sp>
          <p:nvSpPr>
            <p:cNvPr id="13" name="object 13"/>
            <p:cNvSpPr/>
            <p:nvPr/>
          </p:nvSpPr>
          <p:spPr>
            <a:xfrm>
              <a:off x="8593836" y="6620254"/>
              <a:ext cx="550164" cy="23774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630411" y="6556242"/>
              <a:ext cx="513588" cy="30175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641080" y="6644639"/>
              <a:ext cx="502920" cy="18288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641080" y="6644639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244595" y="1612391"/>
              <a:ext cx="2654808" cy="4407408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597655" y="1083945"/>
            <a:ext cx="193928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C00000"/>
                </a:solidFill>
                <a:latin typeface="Palladio Uralic"/>
                <a:cs typeface="Palladio Uralic"/>
              </a:rPr>
              <a:t>3 : 8</a:t>
            </a:r>
            <a:r>
              <a:rPr sz="2400" b="1" spc="-110" dirty="0">
                <a:solidFill>
                  <a:srgbClr val="C00000"/>
                </a:solidFill>
                <a:latin typeface="Palladio Uralic"/>
                <a:cs typeface="Palladio Uralic"/>
              </a:rPr>
              <a:t> </a:t>
            </a:r>
            <a:r>
              <a:rPr sz="2400" b="1" dirty="0">
                <a:solidFill>
                  <a:srgbClr val="C00000"/>
                </a:solidFill>
                <a:latin typeface="Palladio Uralic"/>
                <a:cs typeface="Palladio Uralic"/>
              </a:rPr>
              <a:t>Decoders</a:t>
            </a:r>
            <a:endParaRPr sz="2400">
              <a:latin typeface="Palladio Uralic"/>
              <a:cs typeface="Palladio Uralic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8739" y="6635530"/>
            <a:ext cx="723900" cy="17462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1000" b="1" spc="45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1000" b="1" spc="50" dirty="0">
                <a:solidFill>
                  <a:srgbClr val="C00000"/>
                </a:solidFill>
                <a:latin typeface="Arial"/>
                <a:cs typeface="Arial"/>
              </a:rPr>
              <a:t>U</a:t>
            </a:r>
            <a:r>
              <a:rPr sz="1000" b="1" spc="-5" dirty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1000" b="1" spc="-60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1000" b="1" spc="-10" dirty="0">
                <a:solidFill>
                  <a:srgbClr val="C00000"/>
                </a:solidFill>
                <a:latin typeface="Arial"/>
                <a:cs typeface="Arial"/>
              </a:rPr>
              <a:t>-</a:t>
            </a:r>
            <a:r>
              <a:rPr sz="1000" b="1" spc="100" dirty="0">
                <a:solidFill>
                  <a:srgbClr val="C00000"/>
                </a:solidFill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196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3743705" y="6097930"/>
            <a:ext cx="174371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Palladio Uralic"/>
                <a:cs typeface="Palladio Uralic"/>
              </a:rPr>
              <a:t>Logic</a:t>
            </a:r>
            <a:r>
              <a:rPr sz="2000" b="1" spc="-80" dirty="0">
                <a:latin typeface="Palladio Uralic"/>
                <a:cs typeface="Palladio Uralic"/>
              </a:rPr>
              <a:t> </a:t>
            </a:r>
            <a:r>
              <a:rPr sz="2000" b="1" dirty="0">
                <a:latin typeface="Palladio Uralic"/>
                <a:cs typeface="Palladio Uralic"/>
              </a:rPr>
              <a:t>Diagram</a:t>
            </a:r>
            <a:endParaRPr sz="2000">
              <a:latin typeface="Palladio Uralic"/>
              <a:cs typeface="Palladio Uralic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793241" y="982217"/>
              <a:ext cx="7589519" cy="762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6764"/>
              <a:ext cx="9143999" cy="668274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53439" y="320001"/>
              <a:ext cx="7434072" cy="57611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304032" y="202679"/>
              <a:ext cx="2529840" cy="93422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578478" y="321386"/>
            <a:ext cx="1986914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DECODERS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672710" y="3291662"/>
            <a:ext cx="40887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41375" algn="l"/>
                <a:tab pos="1338580" algn="l"/>
                <a:tab pos="2234565" algn="l"/>
                <a:tab pos="2595880" algn="l"/>
                <a:tab pos="2957195" algn="l"/>
              </a:tabLst>
            </a:pPr>
            <a:r>
              <a:rPr sz="2800" spc="-310" dirty="0">
                <a:solidFill>
                  <a:srgbClr val="006FC0"/>
                </a:solidFill>
                <a:latin typeface="Arial"/>
                <a:cs typeface="Arial"/>
              </a:rPr>
              <a:t>use</a:t>
            </a:r>
            <a:r>
              <a:rPr sz="2800" spc="-315" dirty="0">
                <a:solidFill>
                  <a:srgbClr val="006FC0"/>
                </a:solidFill>
                <a:latin typeface="Arial"/>
                <a:cs typeface="Arial"/>
              </a:rPr>
              <a:t>d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40" dirty="0">
                <a:solidFill>
                  <a:srgbClr val="006FC0"/>
                </a:solidFill>
                <a:latin typeface="Arial"/>
                <a:cs typeface="Arial"/>
              </a:rPr>
              <a:t>t</a:t>
            </a:r>
            <a:r>
              <a:rPr sz="2800" spc="-65" dirty="0">
                <a:solidFill>
                  <a:srgbClr val="006FC0"/>
                </a:solidFill>
                <a:latin typeface="Arial"/>
                <a:cs typeface="Arial"/>
              </a:rPr>
              <a:t>o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100" dirty="0">
                <a:solidFill>
                  <a:srgbClr val="006FC0"/>
                </a:solidFill>
                <a:latin typeface="Arial"/>
                <a:cs typeface="Arial"/>
              </a:rPr>
              <a:t>d</a:t>
            </a:r>
            <a:r>
              <a:rPr sz="2800" spc="-55" dirty="0">
                <a:solidFill>
                  <a:srgbClr val="006FC0"/>
                </a:solidFill>
                <a:latin typeface="Arial"/>
                <a:cs typeface="Arial"/>
              </a:rPr>
              <a:t>r</a:t>
            </a:r>
            <a:r>
              <a:rPr sz="2800" spc="-185" dirty="0">
                <a:solidFill>
                  <a:srgbClr val="006FC0"/>
                </a:solidFill>
                <a:latin typeface="Arial"/>
                <a:cs typeface="Arial"/>
              </a:rPr>
              <a:t>ive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395" dirty="0">
                <a:solidFill>
                  <a:srgbClr val="006FC0"/>
                </a:solidFill>
                <a:latin typeface="Arial"/>
                <a:cs typeface="Arial"/>
              </a:rPr>
              <a:t>a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400" dirty="0">
                <a:solidFill>
                  <a:srgbClr val="006FC0"/>
                </a:solidFill>
                <a:latin typeface="Arial"/>
                <a:cs typeface="Arial"/>
              </a:rPr>
              <a:t>7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395" dirty="0">
                <a:solidFill>
                  <a:srgbClr val="006FC0"/>
                </a:solidFill>
                <a:latin typeface="Arial"/>
                <a:cs typeface="Arial"/>
              </a:rPr>
              <a:t>se</a:t>
            </a:r>
            <a:r>
              <a:rPr sz="2800" spc="-434" dirty="0">
                <a:solidFill>
                  <a:srgbClr val="006FC0"/>
                </a:solidFill>
                <a:latin typeface="Arial"/>
                <a:cs typeface="Arial"/>
              </a:rPr>
              <a:t>g</a:t>
            </a:r>
            <a:r>
              <a:rPr sz="2800" spc="-185" dirty="0">
                <a:solidFill>
                  <a:srgbClr val="006FC0"/>
                </a:solidFill>
                <a:latin typeface="Arial"/>
                <a:cs typeface="Arial"/>
              </a:rPr>
              <a:t>ment</a:t>
            </a:r>
            <a:endParaRPr sz="2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3540" y="2438526"/>
            <a:ext cx="4103370" cy="1732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77520" indent="-464820">
              <a:lnSpc>
                <a:spcPct val="100000"/>
              </a:lnSpc>
              <a:spcBef>
                <a:spcPts val="95"/>
              </a:spcBef>
              <a:buClr>
                <a:srgbClr val="F79546"/>
              </a:buClr>
              <a:buFont typeface="Wingdings"/>
              <a:buChar char=""/>
              <a:tabLst>
                <a:tab pos="476884" algn="l"/>
                <a:tab pos="477520" algn="l"/>
              </a:tabLst>
            </a:pPr>
            <a:r>
              <a:rPr sz="2800" spc="-150" dirty="0">
                <a:solidFill>
                  <a:srgbClr val="006FC0"/>
                </a:solidFill>
                <a:latin typeface="Arial"/>
                <a:cs typeface="Arial"/>
              </a:rPr>
              <a:t>Memory </a:t>
            </a:r>
            <a:r>
              <a:rPr sz="2800" spc="-300" dirty="0">
                <a:solidFill>
                  <a:srgbClr val="006FC0"/>
                </a:solidFill>
                <a:latin typeface="Arial"/>
                <a:cs typeface="Arial"/>
              </a:rPr>
              <a:t>address</a:t>
            </a:r>
            <a:r>
              <a:rPr sz="2800" spc="9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204" dirty="0">
                <a:solidFill>
                  <a:srgbClr val="006FC0"/>
                </a:solidFill>
                <a:latin typeface="Arial"/>
                <a:cs typeface="Arial"/>
              </a:rPr>
              <a:t>decoding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F79546"/>
              </a:buClr>
              <a:buFont typeface="Wingdings"/>
              <a:buChar char=""/>
            </a:pPr>
            <a:endParaRPr sz="2900">
              <a:latin typeface="Arial"/>
              <a:cs typeface="Arial"/>
            </a:endParaRPr>
          </a:p>
          <a:p>
            <a:pPr marL="476884" marR="5080" indent="-464820">
              <a:lnSpc>
                <a:spcPct val="100000"/>
              </a:lnSpc>
              <a:buClr>
                <a:srgbClr val="F79546"/>
              </a:buClr>
              <a:buFont typeface="Wingdings"/>
              <a:buChar char=""/>
              <a:tabLst>
                <a:tab pos="476884" algn="l"/>
                <a:tab pos="477520" algn="l"/>
                <a:tab pos="1606550" algn="l"/>
                <a:tab pos="1847214" algn="l"/>
                <a:tab pos="3085465" algn="l"/>
                <a:tab pos="3763645" algn="l"/>
              </a:tabLst>
            </a:pPr>
            <a:r>
              <a:rPr sz="2800" spc="-345" dirty="0">
                <a:solidFill>
                  <a:srgbClr val="006FC0"/>
                </a:solidFill>
                <a:latin typeface="Arial"/>
                <a:cs typeface="Arial"/>
              </a:rPr>
              <a:t>D</a:t>
            </a:r>
            <a:r>
              <a:rPr sz="2800" spc="-260" dirty="0">
                <a:solidFill>
                  <a:srgbClr val="006FC0"/>
                </a:solidFill>
                <a:latin typeface="Arial"/>
                <a:cs typeface="Arial"/>
              </a:rPr>
              <a:t>e</a:t>
            </a:r>
            <a:r>
              <a:rPr sz="2800" spc="-185" dirty="0">
                <a:solidFill>
                  <a:srgbClr val="006FC0"/>
                </a:solidFill>
                <a:latin typeface="Arial"/>
                <a:cs typeface="Arial"/>
              </a:rPr>
              <a:t>co</a:t>
            </a:r>
            <a:r>
              <a:rPr sz="2800" spc="-180" dirty="0">
                <a:solidFill>
                  <a:srgbClr val="006FC0"/>
                </a:solidFill>
                <a:latin typeface="Arial"/>
                <a:cs typeface="Arial"/>
              </a:rPr>
              <a:t>d</a:t>
            </a:r>
            <a:r>
              <a:rPr sz="2800" spc="-225" dirty="0">
                <a:solidFill>
                  <a:srgbClr val="006FC0"/>
                </a:solidFill>
                <a:latin typeface="Arial"/>
                <a:cs typeface="Arial"/>
              </a:rPr>
              <a:t>e</a:t>
            </a:r>
            <a:r>
              <a:rPr sz="2800" spc="-130" dirty="0">
                <a:solidFill>
                  <a:srgbClr val="006FC0"/>
                </a:solidFill>
                <a:latin typeface="Arial"/>
                <a:cs typeface="Arial"/>
              </a:rPr>
              <a:t>r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110" dirty="0">
                <a:solidFill>
                  <a:srgbClr val="006FC0"/>
                </a:solidFill>
                <a:latin typeface="Arial"/>
                <a:cs typeface="Arial"/>
              </a:rPr>
              <a:t>out</a:t>
            </a:r>
            <a:r>
              <a:rPr sz="2800" spc="-145" dirty="0">
                <a:solidFill>
                  <a:srgbClr val="006FC0"/>
                </a:solidFill>
                <a:latin typeface="Arial"/>
                <a:cs typeface="Arial"/>
              </a:rPr>
              <a:t>p</a:t>
            </a:r>
            <a:r>
              <a:rPr sz="2800" spc="-210" dirty="0">
                <a:solidFill>
                  <a:srgbClr val="006FC0"/>
                </a:solidFill>
                <a:latin typeface="Arial"/>
                <a:cs typeface="Arial"/>
              </a:rPr>
              <a:t>ut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s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300" dirty="0">
                <a:solidFill>
                  <a:srgbClr val="006FC0"/>
                </a:solidFill>
                <a:latin typeface="Arial"/>
                <a:cs typeface="Arial"/>
              </a:rPr>
              <a:t>c</a:t>
            </a:r>
            <a:r>
              <a:rPr sz="2800" spc="-350" dirty="0">
                <a:solidFill>
                  <a:srgbClr val="006FC0"/>
                </a:solidFill>
                <a:latin typeface="Arial"/>
                <a:cs typeface="Arial"/>
              </a:rPr>
              <a:t>a</a:t>
            </a:r>
            <a:r>
              <a:rPr sz="2800" spc="-204" dirty="0">
                <a:solidFill>
                  <a:srgbClr val="006FC0"/>
                </a:solidFill>
                <a:latin typeface="Arial"/>
                <a:cs typeface="Arial"/>
              </a:rPr>
              <a:t>n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210" dirty="0">
                <a:solidFill>
                  <a:srgbClr val="006FC0"/>
                </a:solidFill>
                <a:latin typeface="Arial"/>
                <a:cs typeface="Arial"/>
              </a:rPr>
              <a:t>be  </a:t>
            </a:r>
            <a:r>
              <a:rPr sz="2800" spc="-200" dirty="0">
                <a:solidFill>
                  <a:srgbClr val="006FC0"/>
                </a:solidFill>
                <a:latin typeface="Arial"/>
                <a:cs typeface="Arial"/>
              </a:rPr>
              <a:t>display	</a:t>
            </a:r>
            <a:r>
              <a:rPr sz="2800" spc="-180" dirty="0">
                <a:solidFill>
                  <a:srgbClr val="006FC0"/>
                </a:solidFill>
                <a:latin typeface="Arial"/>
                <a:cs typeface="Arial"/>
              </a:rPr>
              <a:t>(TTL</a:t>
            </a:r>
            <a:r>
              <a:rPr sz="2800" spc="-1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370" dirty="0">
                <a:solidFill>
                  <a:srgbClr val="006FC0"/>
                </a:solidFill>
                <a:latin typeface="Arial"/>
                <a:cs typeface="Arial"/>
              </a:rPr>
              <a:t>74LS47)</a:t>
            </a:r>
            <a:endParaRPr sz="2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3540" y="4572380"/>
            <a:ext cx="8376920" cy="1732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76884" marR="5080" indent="-464820" algn="just">
              <a:lnSpc>
                <a:spcPct val="100000"/>
              </a:lnSpc>
              <a:spcBef>
                <a:spcPts val="95"/>
              </a:spcBef>
              <a:buClr>
                <a:srgbClr val="F79546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-200" dirty="0">
                <a:solidFill>
                  <a:srgbClr val="006FC0"/>
                </a:solidFill>
                <a:latin typeface="Arial"/>
                <a:cs typeface="Arial"/>
              </a:rPr>
              <a:t>Binary 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Decoders </a:t>
            </a:r>
            <a:r>
              <a:rPr sz="2800" spc="-300" dirty="0">
                <a:solidFill>
                  <a:srgbClr val="006FC0"/>
                </a:solidFill>
                <a:latin typeface="Arial"/>
                <a:cs typeface="Arial"/>
              </a:rPr>
              <a:t>such </a:t>
            </a:r>
            <a:r>
              <a:rPr sz="2800" spc="-459" dirty="0">
                <a:solidFill>
                  <a:srgbClr val="006FC0"/>
                </a:solidFill>
                <a:latin typeface="Arial"/>
                <a:cs typeface="Arial"/>
              </a:rPr>
              <a:t>as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binary </a:t>
            </a:r>
            <a:r>
              <a:rPr sz="2800" spc="-80" dirty="0">
                <a:solidFill>
                  <a:srgbClr val="006FC0"/>
                </a:solidFill>
                <a:latin typeface="Arial"/>
                <a:cs typeface="Arial"/>
              </a:rPr>
              <a:t>or </a:t>
            </a:r>
            <a:r>
              <a:rPr sz="2800" spc="-325" dirty="0">
                <a:solidFill>
                  <a:srgbClr val="006FC0"/>
                </a:solidFill>
                <a:latin typeface="Arial"/>
                <a:cs typeface="Arial"/>
              </a:rPr>
              <a:t>BCD </a:t>
            </a:r>
            <a:r>
              <a:rPr sz="2800" spc="-200" dirty="0">
                <a:solidFill>
                  <a:srgbClr val="006FC0"/>
                </a:solidFill>
                <a:latin typeface="Arial"/>
                <a:cs typeface="Arial"/>
              </a:rPr>
              <a:t>,decimal </a:t>
            </a:r>
            <a:r>
              <a:rPr sz="2800" spc="-80" dirty="0">
                <a:solidFill>
                  <a:srgbClr val="006FC0"/>
                </a:solidFill>
                <a:latin typeface="Arial"/>
                <a:cs typeface="Arial"/>
              </a:rPr>
              <a:t>or </a:t>
            </a:r>
            <a:r>
              <a:rPr sz="2800" spc="-150" dirty="0">
                <a:solidFill>
                  <a:srgbClr val="006FC0"/>
                </a:solidFill>
                <a:latin typeface="Arial"/>
                <a:cs typeface="Arial"/>
              </a:rPr>
              <a:t>octal 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etc 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commonly </a:t>
            </a:r>
            <a:r>
              <a:rPr sz="2800" spc="-220" dirty="0">
                <a:solidFill>
                  <a:srgbClr val="006FC0"/>
                </a:solidFill>
                <a:latin typeface="Arial"/>
                <a:cs typeface="Arial"/>
              </a:rPr>
              <a:t>available </a:t>
            </a:r>
            <a:r>
              <a:rPr sz="2800" spc="-204" dirty="0">
                <a:solidFill>
                  <a:srgbClr val="006FC0"/>
                </a:solidFill>
                <a:latin typeface="Arial"/>
                <a:cs typeface="Arial"/>
              </a:rPr>
              <a:t>decoder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IC’s</a:t>
            </a:r>
            <a:r>
              <a:rPr sz="2800" spc="44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180" dirty="0">
                <a:solidFill>
                  <a:srgbClr val="006FC0"/>
                </a:solidFill>
                <a:latin typeface="Arial"/>
                <a:cs typeface="Arial"/>
              </a:rPr>
              <a:t>(TTL </a:t>
            </a:r>
            <a:r>
              <a:rPr sz="2800" spc="-395" dirty="0">
                <a:solidFill>
                  <a:srgbClr val="006FC0"/>
                </a:solidFill>
                <a:latin typeface="Arial"/>
                <a:cs typeface="Arial"/>
              </a:rPr>
              <a:t>74LS138   </a:t>
            </a:r>
            <a:r>
              <a:rPr sz="2800" spc="-204" dirty="0">
                <a:solidFill>
                  <a:srgbClr val="006FC0"/>
                </a:solidFill>
                <a:latin typeface="Arial"/>
                <a:cs typeface="Arial"/>
              </a:rPr>
              <a:t>3-to-8 </a:t>
            </a:r>
            <a:r>
              <a:rPr sz="2800" spc="-145" dirty="0">
                <a:solidFill>
                  <a:srgbClr val="006FC0"/>
                </a:solidFill>
                <a:latin typeface="Arial"/>
                <a:cs typeface="Arial"/>
              </a:rPr>
              <a:t>line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binary </a:t>
            </a:r>
            <a:r>
              <a:rPr sz="2800" spc="-204" dirty="0">
                <a:solidFill>
                  <a:srgbClr val="006FC0"/>
                </a:solidFill>
                <a:latin typeface="Arial"/>
                <a:cs typeface="Arial"/>
              </a:rPr>
              <a:t>decoder </a:t>
            </a:r>
            <a:r>
              <a:rPr sz="2800" spc="-80" dirty="0">
                <a:solidFill>
                  <a:srgbClr val="006FC0"/>
                </a:solidFill>
                <a:latin typeface="Arial"/>
                <a:cs typeface="Arial"/>
              </a:rPr>
              <a:t>or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330" dirty="0">
                <a:solidFill>
                  <a:srgbClr val="006FC0"/>
                </a:solidFill>
                <a:latin typeface="Arial"/>
                <a:cs typeface="Arial"/>
              </a:rPr>
              <a:t>74ALS154 </a:t>
            </a: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4-to-16 </a:t>
            </a:r>
            <a:r>
              <a:rPr sz="2800" spc="-150" dirty="0">
                <a:solidFill>
                  <a:srgbClr val="006FC0"/>
                </a:solidFill>
                <a:latin typeface="Arial"/>
                <a:cs typeface="Arial"/>
              </a:rPr>
              <a:t>line  </a:t>
            </a:r>
            <a:r>
              <a:rPr sz="2800" spc="-204" dirty="0">
                <a:solidFill>
                  <a:srgbClr val="006FC0"/>
                </a:solidFill>
                <a:latin typeface="Arial"/>
                <a:cs typeface="Arial"/>
              </a:rPr>
              <a:t>decoder)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sp>
          <p:nvSpPr>
            <p:cNvPr id="16" name="object 16"/>
            <p:cNvSpPr/>
            <p:nvPr/>
          </p:nvSpPr>
          <p:spPr>
            <a:xfrm>
              <a:off x="8593835" y="6620255"/>
              <a:ext cx="550164" cy="23774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630411" y="6556243"/>
              <a:ext cx="513588" cy="30175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83540" y="968425"/>
            <a:ext cx="6273800" cy="106807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3285490">
              <a:lnSpc>
                <a:spcPct val="100000"/>
              </a:lnSpc>
              <a:spcBef>
                <a:spcPts val="1010"/>
              </a:spcBef>
            </a:pPr>
            <a:r>
              <a:rPr sz="2400" b="1" dirty="0">
                <a:solidFill>
                  <a:srgbClr val="C00000"/>
                </a:solidFill>
                <a:latin typeface="Palladio Uralic"/>
                <a:cs typeface="Palladio Uralic"/>
              </a:rPr>
              <a:t>Applications</a:t>
            </a:r>
            <a:endParaRPr sz="2400">
              <a:latin typeface="Palladio Uralic"/>
              <a:cs typeface="Palladio Uralic"/>
            </a:endParaRPr>
          </a:p>
          <a:p>
            <a:pPr marL="477520" indent="-464820">
              <a:lnSpc>
                <a:spcPct val="100000"/>
              </a:lnSpc>
              <a:spcBef>
                <a:spcPts val="1055"/>
              </a:spcBef>
              <a:buClr>
                <a:srgbClr val="F79546"/>
              </a:buClr>
              <a:buFont typeface="Wingdings"/>
              <a:buChar char=""/>
              <a:tabLst>
                <a:tab pos="476884" algn="l"/>
                <a:tab pos="477520" algn="l"/>
              </a:tabLst>
            </a:pPr>
            <a:r>
              <a:rPr sz="2800" spc="-130" dirty="0">
                <a:solidFill>
                  <a:srgbClr val="006FC0"/>
                </a:solidFill>
                <a:latin typeface="Arial"/>
                <a:cs typeface="Arial"/>
              </a:rPr>
              <a:t>Instruction </a:t>
            </a:r>
            <a:r>
              <a:rPr sz="2800" spc="-200" dirty="0">
                <a:solidFill>
                  <a:srgbClr val="006FC0"/>
                </a:solidFill>
                <a:latin typeface="Arial"/>
                <a:cs typeface="Arial"/>
              </a:rPr>
              <a:t>decoder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25" dirty="0">
                <a:solidFill>
                  <a:srgbClr val="006FC0"/>
                </a:solidFill>
                <a:latin typeface="Arial"/>
                <a:cs typeface="Arial"/>
              </a:rPr>
              <a:t>part 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</a:t>
            </a:r>
            <a:r>
              <a:rPr sz="2800" spc="-21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295" dirty="0">
                <a:solidFill>
                  <a:srgbClr val="006FC0"/>
                </a:solidFill>
                <a:latin typeface="Arial"/>
                <a:cs typeface="Arial"/>
              </a:rPr>
              <a:t>CPU</a:t>
            </a:r>
            <a:endParaRPr sz="2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8739" y="6635530"/>
            <a:ext cx="723900" cy="17462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1000" b="1" spc="45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1000" b="1" spc="50" dirty="0">
                <a:solidFill>
                  <a:srgbClr val="C00000"/>
                </a:solidFill>
                <a:latin typeface="Arial"/>
                <a:cs typeface="Arial"/>
              </a:rPr>
              <a:t>U</a:t>
            </a:r>
            <a:r>
              <a:rPr sz="1000" b="1" spc="-5" dirty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1000" b="1" spc="-60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1000" b="1" spc="-10" dirty="0">
                <a:solidFill>
                  <a:srgbClr val="C00000"/>
                </a:solidFill>
                <a:latin typeface="Arial"/>
                <a:cs typeface="Arial"/>
              </a:rPr>
              <a:t>-</a:t>
            </a:r>
            <a:r>
              <a:rPr sz="1000" b="1" spc="100" dirty="0">
                <a:solidFill>
                  <a:srgbClr val="C00000"/>
                </a:solidFill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197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3304032" y="202679"/>
              <a:ext cx="2529840" cy="9342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578478" y="321386"/>
            <a:ext cx="1986914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DECODERS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83540" y="1584401"/>
            <a:ext cx="1745614" cy="8794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76884" marR="5080" indent="-464820">
              <a:lnSpc>
                <a:spcPct val="100000"/>
              </a:lnSpc>
              <a:spcBef>
                <a:spcPts val="95"/>
              </a:spcBef>
              <a:buClr>
                <a:srgbClr val="F79546"/>
              </a:buClr>
              <a:buFont typeface="Wingdings"/>
              <a:buChar char=""/>
              <a:tabLst>
                <a:tab pos="476884" algn="l"/>
                <a:tab pos="477520" algn="l"/>
              </a:tabLst>
            </a:pPr>
            <a:r>
              <a:rPr sz="2800" b="1" u="heavy" spc="-44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</a:t>
            </a:r>
            <a:r>
              <a:rPr sz="2800" b="1" u="heavy" spc="-36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x</a:t>
            </a:r>
            <a:r>
              <a:rPr sz="2800" b="1" u="heavy" spc="-38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am</a:t>
            </a:r>
            <a:r>
              <a:rPr sz="2800" b="1" u="heavy" spc="-3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</a:t>
            </a:r>
            <a:r>
              <a:rPr sz="2800" b="1" u="heavy" spc="-17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</a:t>
            </a:r>
            <a:r>
              <a:rPr sz="2800" b="1" u="heavy" spc="-3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</a:t>
            </a:r>
            <a:r>
              <a:rPr sz="2800" b="1" u="heavy" spc="-14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: </a:t>
            </a:r>
            <a:r>
              <a:rPr sz="2800" b="1" spc="-135" dirty="0">
                <a:latin typeface="Arial"/>
                <a:cs typeface="Arial"/>
              </a:rPr>
              <a:t> </a:t>
            </a:r>
            <a:r>
              <a:rPr sz="2800" b="1" spc="-355" dirty="0">
                <a:latin typeface="Arial"/>
                <a:cs typeface="Arial"/>
              </a:rPr>
              <a:t>decoders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3540" y="2661030"/>
            <a:ext cx="8375650" cy="3378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77520" indent="-464820">
              <a:lnSpc>
                <a:spcPct val="100000"/>
              </a:lnSpc>
              <a:spcBef>
                <a:spcPts val="95"/>
              </a:spcBef>
              <a:buClr>
                <a:srgbClr val="F79546"/>
              </a:buClr>
              <a:buFont typeface="Wingdings"/>
              <a:buChar char=""/>
              <a:tabLst>
                <a:tab pos="476884" algn="l"/>
                <a:tab pos="477520" algn="l"/>
              </a:tabLst>
            </a:pPr>
            <a:r>
              <a:rPr sz="2200" spc="-114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200" spc="-135" dirty="0">
                <a:solidFill>
                  <a:srgbClr val="006FC0"/>
                </a:solidFill>
                <a:latin typeface="Arial"/>
                <a:cs typeface="Arial"/>
              </a:rPr>
              <a:t>implement </a:t>
            </a:r>
            <a:r>
              <a:rPr sz="2200" spc="-235" dirty="0">
                <a:solidFill>
                  <a:srgbClr val="006FC0"/>
                </a:solidFill>
                <a:latin typeface="Arial"/>
                <a:cs typeface="Arial"/>
              </a:rPr>
              <a:t>4:16 </a:t>
            </a:r>
            <a:r>
              <a:rPr sz="2200" spc="-160" dirty="0">
                <a:solidFill>
                  <a:srgbClr val="006FC0"/>
                </a:solidFill>
                <a:latin typeface="Arial"/>
                <a:cs typeface="Arial"/>
              </a:rPr>
              <a:t>decoder </a:t>
            </a:r>
            <a:r>
              <a:rPr sz="2200" spc="-240" dirty="0">
                <a:solidFill>
                  <a:srgbClr val="006FC0"/>
                </a:solidFill>
                <a:latin typeface="Arial"/>
                <a:cs typeface="Arial"/>
              </a:rPr>
              <a:t>we </a:t>
            </a:r>
            <a:r>
              <a:rPr sz="2200" spc="-215" dirty="0">
                <a:solidFill>
                  <a:srgbClr val="006FC0"/>
                </a:solidFill>
                <a:latin typeface="Arial"/>
                <a:cs typeface="Arial"/>
              </a:rPr>
              <a:t>need </a:t>
            </a:r>
            <a:r>
              <a:rPr sz="2200" spc="-110" dirty="0">
                <a:solidFill>
                  <a:srgbClr val="006FC0"/>
                </a:solidFill>
                <a:latin typeface="Arial"/>
                <a:cs typeface="Arial"/>
              </a:rPr>
              <a:t>five </a:t>
            </a:r>
            <a:r>
              <a:rPr sz="2200" spc="-210" dirty="0">
                <a:solidFill>
                  <a:srgbClr val="006FC0"/>
                </a:solidFill>
                <a:latin typeface="Arial"/>
                <a:cs typeface="Arial"/>
              </a:rPr>
              <a:t>2:4 </a:t>
            </a:r>
            <a:r>
              <a:rPr sz="2200" spc="-120" dirty="0">
                <a:solidFill>
                  <a:srgbClr val="006FC0"/>
                </a:solidFill>
                <a:latin typeface="Arial"/>
                <a:cs typeface="Arial"/>
              </a:rPr>
              <a:t>line</a:t>
            </a:r>
            <a:r>
              <a:rPr sz="2200" spc="-14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200" spc="-185" dirty="0">
                <a:solidFill>
                  <a:srgbClr val="006FC0"/>
                </a:solidFill>
                <a:latin typeface="Arial"/>
                <a:cs typeface="Arial"/>
              </a:rPr>
              <a:t>decoders.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F79546"/>
              </a:buClr>
              <a:buFont typeface="Wingdings"/>
              <a:buChar char=""/>
            </a:pPr>
            <a:endParaRPr sz="2250">
              <a:latin typeface="Arial"/>
              <a:cs typeface="Arial"/>
            </a:endParaRPr>
          </a:p>
          <a:p>
            <a:pPr marL="477520" indent="-464820">
              <a:lnSpc>
                <a:spcPct val="100000"/>
              </a:lnSpc>
              <a:buClr>
                <a:srgbClr val="F79546"/>
              </a:buClr>
              <a:buFont typeface="Wingdings"/>
              <a:buChar char=""/>
              <a:tabLst>
                <a:tab pos="476884" algn="l"/>
                <a:tab pos="477520" algn="l"/>
              </a:tabLst>
            </a:pPr>
            <a:r>
              <a:rPr sz="2200" spc="-185" dirty="0">
                <a:solidFill>
                  <a:srgbClr val="006FC0"/>
                </a:solidFill>
                <a:latin typeface="Arial"/>
                <a:cs typeface="Arial"/>
              </a:rPr>
              <a:t>Decoder-1 </a:t>
            </a:r>
            <a:r>
              <a:rPr sz="2200" spc="-210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200" spc="-245" dirty="0">
                <a:solidFill>
                  <a:srgbClr val="006FC0"/>
                </a:solidFill>
                <a:latin typeface="Arial"/>
                <a:cs typeface="Arial"/>
              </a:rPr>
              <a:t>used </a:t>
            </a:r>
            <a:r>
              <a:rPr sz="2200" spc="-40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200" spc="-200" dirty="0">
                <a:solidFill>
                  <a:srgbClr val="006FC0"/>
                </a:solidFill>
                <a:latin typeface="Arial"/>
                <a:cs typeface="Arial"/>
              </a:rPr>
              <a:t>enable </a:t>
            </a:r>
            <a:r>
              <a:rPr sz="2200" spc="-190" dirty="0">
                <a:solidFill>
                  <a:srgbClr val="006FC0"/>
                </a:solidFill>
                <a:latin typeface="Arial"/>
                <a:cs typeface="Arial"/>
              </a:rPr>
              <a:t>one </a:t>
            </a:r>
            <a:r>
              <a:rPr sz="2200" spc="-60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200" spc="-13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200" spc="-160" dirty="0">
                <a:solidFill>
                  <a:srgbClr val="006FC0"/>
                </a:solidFill>
                <a:latin typeface="Arial"/>
                <a:cs typeface="Arial"/>
              </a:rPr>
              <a:t>decoder </a:t>
            </a:r>
            <a:r>
              <a:rPr sz="2200" spc="-225" dirty="0">
                <a:solidFill>
                  <a:srgbClr val="006FC0"/>
                </a:solidFill>
                <a:latin typeface="Arial"/>
                <a:cs typeface="Arial"/>
              </a:rPr>
              <a:t>2, </a:t>
            </a:r>
            <a:r>
              <a:rPr sz="2200" spc="-215" dirty="0">
                <a:solidFill>
                  <a:srgbClr val="006FC0"/>
                </a:solidFill>
                <a:latin typeface="Arial"/>
                <a:cs typeface="Arial"/>
              </a:rPr>
              <a:t>3, </a:t>
            </a:r>
            <a:r>
              <a:rPr sz="2200" spc="-315" dirty="0">
                <a:solidFill>
                  <a:srgbClr val="006FC0"/>
                </a:solidFill>
                <a:latin typeface="Arial"/>
                <a:cs typeface="Arial"/>
              </a:rPr>
              <a:t>4 </a:t>
            </a:r>
            <a:r>
              <a:rPr sz="2200" spc="-204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200" spc="-215" dirty="0">
                <a:solidFill>
                  <a:srgbClr val="006FC0"/>
                </a:solidFill>
                <a:latin typeface="Arial"/>
                <a:cs typeface="Arial"/>
              </a:rPr>
              <a:t>5. </a:t>
            </a:r>
            <a:r>
              <a:rPr sz="2200" spc="-135" dirty="0">
                <a:solidFill>
                  <a:srgbClr val="006FC0"/>
                </a:solidFill>
                <a:latin typeface="Arial"/>
                <a:cs typeface="Arial"/>
              </a:rPr>
              <a:t>Inputs</a:t>
            </a:r>
            <a:r>
              <a:rPr sz="2200" spc="6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200" spc="-60" dirty="0">
                <a:solidFill>
                  <a:srgbClr val="006FC0"/>
                </a:solidFill>
                <a:latin typeface="Arial"/>
                <a:cs typeface="Arial"/>
              </a:rPr>
              <a:t>of</a:t>
            </a:r>
            <a:endParaRPr sz="2200">
              <a:latin typeface="Arial"/>
              <a:cs typeface="Arial"/>
            </a:endParaRPr>
          </a:p>
          <a:p>
            <a:pPr marL="476884">
              <a:lnSpc>
                <a:spcPct val="100000"/>
              </a:lnSpc>
              <a:spcBef>
                <a:spcPts val="5"/>
              </a:spcBef>
            </a:pPr>
            <a:r>
              <a:rPr sz="2200" spc="-13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200" spc="-75" dirty="0">
                <a:solidFill>
                  <a:srgbClr val="006FC0"/>
                </a:solidFill>
                <a:latin typeface="Arial"/>
                <a:cs typeface="Arial"/>
              </a:rPr>
              <a:t>first </a:t>
            </a:r>
            <a:r>
              <a:rPr sz="2200" spc="-190" dirty="0">
                <a:solidFill>
                  <a:srgbClr val="006FC0"/>
                </a:solidFill>
                <a:latin typeface="Arial"/>
                <a:cs typeface="Arial"/>
              </a:rPr>
              <a:t>decoders </a:t>
            </a:r>
            <a:r>
              <a:rPr sz="2200" spc="-195" dirty="0">
                <a:solidFill>
                  <a:srgbClr val="006FC0"/>
                </a:solidFill>
                <a:latin typeface="Arial"/>
                <a:cs typeface="Arial"/>
              </a:rPr>
              <a:t>are </a:t>
            </a:r>
            <a:r>
              <a:rPr sz="2200" spc="105" dirty="0">
                <a:solidFill>
                  <a:srgbClr val="006FC0"/>
                </a:solidFill>
                <a:latin typeface="Arial"/>
                <a:cs typeface="Arial"/>
              </a:rPr>
              <a:t>A </a:t>
            </a:r>
            <a:r>
              <a:rPr sz="2200" spc="-204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200" spc="-335" dirty="0">
                <a:solidFill>
                  <a:srgbClr val="006FC0"/>
                </a:solidFill>
                <a:latin typeface="Arial"/>
                <a:cs typeface="Arial"/>
              </a:rPr>
              <a:t>B </a:t>
            </a:r>
            <a:r>
              <a:rPr sz="2200" spc="-140" dirty="0">
                <a:solidFill>
                  <a:srgbClr val="006FC0"/>
                </a:solidFill>
                <a:latin typeface="Arial"/>
                <a:cs typeface="Arial"/>
              </a:rPr>
              <a:t>i.e. </a:t>
            </a:r>
            <a:r>
              <a:rPr sz="2200" spc="-270" dirty="0">
                <a:solidFill>
                  <a:srgbClr val="006FC0"/>
                </a:solidFill>
                <a:latin typeface="Arial"/>
                <a:cs typeface="Arial"/>
              </a:rPr>
              <a:t>MSB </a:t>
            </a:r>
            <a:r>
              <a:rPr sz="2200" spc="-140" dirty="0">
                <a:solidFill>
                  <a:srgbClr val="006FC0"/>
                </a:solidFill>
                <a:latin typeface="Arial"/>
                <a:cs typeface="Arial"/>
              </a:rPr>
              <a:t>inputs </a:t>
            </a:r>
            <a:r>
              <a:rPr sz="2200" spc="-5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200" spc="-235" dirty="0">
                <a:solidFill>
                  <a:srgbClr val="006FC0"/>
                </a:solidFill>
                <a:latin typeface="Arial"/>
                <a:cs typeface="Arial"/>
              </a:rPr>
              <a:t>4:16</a:t>
            </a:r>
            <a:r>
              <a:rPr sz="2200" spc="-17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200" spc="-185" dirty="0">
                <a:solidFill>
                  <a:srgbClr val="006FC0"/>
                </a:solidFill>
                <a:latin typeface="Arial"/>
                <a:cs typeface="Arial"/>
              </a:rPr>
              <a:t>decoders.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250">
              <a:latin typeface="Arial"/>
              <a:cs typeface="Arial"/>
            </a:endParaRPr>
          </a:p>
          <a:p>
            <a:pPr marL="476884" marR="5715" indent="-464820">
              <a:lnSpc>
                <a:spcPct val="100000"/>
              </a:lnSpc>
              <a:buClr>
                <a:srgbClr val="F79546"/>
              </a:buClr>
              <a:buFont typeface="Wingdings"/>
              <a:buChar char=""/>
              <a:tabLst>
                <a:tab pos="476884" algn="l"/>
                <a:tab pos="477520" algn="l"/>
              </a:tabLst>
            </a:pPr>
            <a:r>
              <a:rPr sz="2200" spc="-18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200" spc="-140" dirty="0">
                <a:solidFill>
                  <a:srgbClr val="006FC0"/>
                </a:solidFill>
                <a:latin typeface="Arial"/>
                <a:cs typeface="Arial"/>
              </a:rPr>
              <a:t>inputs </a:t>
            </a:r>
            <a:r>
              <a:rPr sz="2200" spc="-5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200" spc="-190" dirty="0">
                <a:solidFill>
                  <a:srgbClr val="006FC0"/>
                </a:solidFill>
                <a:latin typeface="Arial"/>
                <a:cs typeface="Arial"/>
              </a:rPr>
              <a:t>decoders </a:t>
            </a:r>
            <a:r>
              <a:rPr sz="2200" spc="-195" dirty="0">
                <a:solidFill>
                  <a:srgbClr val="006FC0"/>
                </a:solidFill>
                <a:latin typeface="Arial"/>
                <a:cs typeface="Arial"/>
              </a:rPr>
              <a:t>are </a:t>
            </a:r>
            <a:r>
              <a:rPr sz="2200" spc="-165" dirty="0">
                <a:solidFill>
                  <a:srgbClr val="006FC0"/>
                </a:solidFill>
                <a:latin typeface="Arial"/>
                <a:cs typeface="Arial"/>
              </a:rPr>
              <a:t>connected </a:t>
            </a:r>
            <a:r>
              <a:rPr sz="2200" spc="-130" dirty="0">
                <a:solidFill>
                  <a:srgbClr val="006FC0"/>
                </a:solidFill>
                <a:latin typeface="Arial"/>
                <a:cs typeface="Arial"/>
              </a:rPr>
              <a:t>together </a:t>
            </a:r>
            <a:r>
              <a:rPr sz="2200" spc="-110" dirty="0">
                <a:solidFill>
                  <a:srgbClr val="006FC0"/>
                </a:solidFill>
                <a:latin typeface="Arial"/>
                <a:cs typeface="Arial"/>
              </a:rPr>
              <a:t>forming </a:t>
            </a:r>
            <a:r>
              <a:rPr sz="2200" spc="-235" dirty="0">
                <a:solidFill>
                  <a:srgbClr val="006FC0"/>
                </a:solidFill>
                <a:latin typeface="Arial"/>
                <a:cs typeface="Arial"/>
              </a:rPr>
              <a:t>C </a:t>
            </a:r>
            <a:r>
              <a:rPr sz="2200" spc="-200" dirty="0">
                <a:solidFill>
                  <a:srgbClr val="006FC0"/>
                </a:solidFill>
                <a:latin typeface="Arial"/>
                <a:cs typeface="Arial"/>
              </a:rPr>
              <a:t>and D </a:t>
            </a:r>
            <a:r>
              <a:rPr sz="2200" spc="-140" dirty="0">
                <a:solidFill>
                  <a:srgbClr val="006FC0"/>
                </a:solidFill>
                <a:latin typeface="Arial"/>
                <a:cs typeface="Arial"/>
              </a:rPr>
              <a:t>inputs  </a:t>
            </a:r>
            <a:r>
              <a:rPr sz="2200" spc="-5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200" spc="-235" dirty="0">
                <a:solidFill>
                  <a:srgbClr val="006FC0"/>
                </a:solidFill>
                <a:latin typeface="Arial"/>
                <a:cs typeface="Arial"/>
              </a:rPr>
              <a:t>4:16</a:t>
            </a:r>
            <a:r>
              <a:rPr sz="2200" spc="5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200" spc="-185" dirty="0">
                <a:solidFill>
                  <a:srgbClr val="006FC0"/>
                </a:solidFill>
                <a:latin typeface="Arial"/>
                <a:cs typeface="Arial"/>
              </a:rPr>
              <a:t>decoders.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F79546"/>
              </a:buClr>
              <a:buFont typeface="Wingdings"/>
              <a:buChar char=""/>
            </a:pPr>
            <a:endParaRPr sz="2300">
              <a:latin typeface="Arial"/>
              <a:cs typeface="Arial"/>
            </a:endParaRPr>
          </a:p>
          <a:p>
            <a:pPr marL="476884" marR="5715" indent="-464820">
              <a:lnSpc>
                <a:spcPct val="100000"/>
              </a:lnSpc>
              <a:buClr>
                <a:srgbClr val="F79546"/>
              </a:buClr>
              <a:buFont typeface="Wingdings"/>
              <a:buChar char=""/>
              <a:tabLst>
                <a:tab pos="476884" algn="l"/>
                <a:tab pos="477520" algn="l"/>
              </a:tabLst>
            </a:pPr>
            <a:r>
              <a:rPr sz="2200" spc="-204" dirty="0">
                <a:solidFill>
                  <a:srgbClr val="006FC0"/>
                </a:solidFill>
                <a:latin typeface="Arial"/>
                <a:cs typeface="Arial"/>
              </a:rPr>
              <a:t>When </a:t>
            </a:r>
            <a:r>
              <a:rPr sz="2200" spc="-160" dirty="0">
                <a:solidFill>
                  <a:srgbClr val="006FC0"/>
                </a:solidFill>
                <a:latin typeface="Arial"/>
                <a:cs typeface="Arial"/>
              </a:rPr>
              <a:t>AB=00 </a:t>
            </a:r>
            <a:r>
              <a:rPr sz="2200" spc="-175" dirty="0">
                <a:solidFill>
                  <a:srgbClr val="006FC0"/>
                </a:solidFill>
                <a:latin typeface="Arial"/>
                <a:cs typeface="Arial"/>
              </a:rPr>
              <a:t>decoder-1 </a:t>
            </a:r>
            <a:r>
              <a:rPr sz="2200" spc="-210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200" spc="-185" dirty="0">
                <a:solidFill>
                  <a:srgbClr val="006FC0"/>
                </a:solidFill>
                <a:latin typeface="Arial"/>
                <a:cs typeface="Arial"/>
              </a:rPr>
              <a:t>enabled, </a:t>
            </a:r>
            <a:r>
              <a:rPr sz="2200" spc="-40" dirty="0">
                <a:solidFill>
                  <a:srgbClr val="006FC0"/>
                </a:solidFill>
                <a:latin typeface="Arial"/>
                <a:cs typeface="Arial"/>
              </a:rPr>
              <a:t>for </a:t>
            </a:r>
            <a:r>
              <a:rPr sz="2200" spc="-160" dirty="0">
                <a:solidFill>
                  <a:srgbClr val="006FC0"/>
                </a:solidFill>
                <a:latin typeface="Arial"/>
                <a:cs typeface="Arial"/>
              </a:rPr>
              <a:t>AB=01 </a:t>
            </a:r>
            <a:r>
              <a:rPr sz="2200" spc="-175" dirty="0">
                <a:solidFill>
                  <a:srgbClr val="006FC0"/>
                </a:solidFill>
                <a:latin typeface="Arial"/>
                <a:cs typeface="Arial"/>
              </a:rPr>
              <a:t>decoder-2 </a:t>
            </a:r>
            <a:r>
              <a:rPr sz="2200" spc="-210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200" spc="-185" dirty="0">
                <a:solidFill>
                  <a:srgbClr val="006FC0"/>
                </a:solidFill>
                <a:latin typeface="Arial"/>
                <a:cs typeface="Arial"/>
              </a:rPr>
              <a:t>enabled, </a:t>
            </a:r>
            <a:r>
              <a:rPr sz="2200" spc="-35" dirty="0">
                <a:solidFill>
                  <a:srgbClr val="006FC0"/>
                </a:solidFill>
                <a:latin typeface="Arial"/>
                <a:cs typeface="Arial"/>
              </a:rPr>
              <a:t>for  </a:t>
            </a:r>
            <a:r>
              <a:rPr sz="2200" spc="-160" dirty="0">
                <a:solidFill>
                  <a:srgbClr val="006FC0"/>
                </a:solidFill>
                <a:latin typeface="Arial"/>
                <a:cs typeface="Arial"/>
              </a:rPr>
              <a:t>AB=10 </a:t>
            </a:r>
            <a:r>
              <a:rPr sz="2200" spc="-175" dirty="0">
                <a:solidFill>
                  <a:srgbClr val="006FC0"/>
                </a:solidFill>
                <a:latin typeface="Arial"/>
                <a:cs typeface="Arial"/>
              </a:rPr>
              <a:t>decoder-3 </a:t>
            </a:r>
            <a:r>
              <a:rPr sz="2200" spc="-210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200" spc="-185" dirty="0">
                <a:solidFill>
                  <a:srgbClr val="006FC0"/>
                </a:solidFill>
                <a:latin typeface="Arial"/>
                <a:cs typeface="Arial"/>
              </a:rPr>
              <a:t>selected, </a:t>
            </a:r>
            <a:r>
              <a:rPr sz="2200" spc="-204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200" spc="-40" dirty="0">
                <a:solidFill>
                  <a:srgbClr val="006FC0"/>
                </a:solidFill>
                <a:latin typeface="Arial"/>
                <a:cs typeface="Arial"/>
              </a:rPr>
              <a:t>for </a:t>
            </a:r>
            <a:r>
              <a:rPr sz="2200" spc="-160" dirty="0">
                <a:solidFill>
                  <a:srgbClr val="006FC0"/>
                </a:solidFill>
                <a:latin typeface="Arial"/>
                <a:cs typeface="Arial"/>
              </a:rPr>
              <a:t>AB=11 </a:t>
            </a:r>
            <a:r>
              <a:rPr sz="2200" spc="-175" dirty="0">
                <a:solidFill>
                  <a:srgbClr val="006FC0"/>
                </a:solidFill>
                <a:latin typeface="Arial"/>
                <a:cs typeface="Arial"/>
              </a:rPr>
              <a:t>decoder-4 </a:t>
            </a:r>
            <a:r>
              <a:rPr sz="2200" spc="-210" dirty="0">
                <a:solidFill>
                  <a:srgbClr val="006FC0"/>
                </a:solidFill>
                <a:latin typeface="Arial"/>
                <a:cs typeface="Arial"/>
              </a:rPr>
              <a:t>is</a:t>
            </a:r>
            <a:r>
              <a:rPr sz="2200" spc="114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200" spc="-190" dirty="0">
                <a:solidFill>
                  <a:srgbClr val="006FC0"/>
                </a:solidFill>
                <a:latin typeface="Arial"/>
                <a:cs typeface="Arial"/>
              </a:rPr>
              <a:t>enabled.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sp>
          <p:nvSpPr>
            <p:cNvPr id="10" name="object 10"/>
            <p:cNvSpPr/>
            <p:nvPr/>
          </p:nvSpPr>
          <p:spPr>
            <a:xfrm>
              <a:off x="8593835" y="6620255"/>
              <a:ext cx="550164" cy="23774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30411" y="6556243"/>
              <a:ext cx="513588" cy="3017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319273" y="968425"/>
            <a:ext cx="6442075" cy="106807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838200">
              <a:lnSpc>
                <a:spcPct val="100000"/>
              </a:lnSpc>
              <a:spcBef>
                <a:spcPts val="1010"/>
              </a:spcBef>
            </a:pPr>
            <a:r>
              <a:rPr sz="2400" b="1" spc="-5" dirty="0">
                <a:solidFill>
                  <a:srgbClr val="C00000"/>
                </a:solidFill>
                <a:latin typeface="Palladio Uralic"/>
                <a:cs typeface="Palladio Uralic"/>
              </a:rPr>
              <a:t>Cascading</a:t>
            </a:r>
            <a:r>
              <a:rPr sz="2400" b="1" spc="-10" dirty="0">
                <a:solidFill>
                  <a:srgbClr val="C00000"/>
                </a:solidFill>
                <a:latin typeface="Palladio Uralic"/>
                <a:cs typeface="Palladio Uralic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Palladio Uralic"/>
                <a:cs typeface="Palladio Uralic"/>
              </a:rPr>
              <a:t>Decoders</a:t>
            </a:r>
            <a:endParaRPr sz="2400">
              <a:latin typeface="Palladio Uralic"/>
              <a:cs typeface="Palladio Uralic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sz="2800" b="1" spc="-385" dirty="0">
                <a:latin typeface="Arial"/>
                <a:cs typeface="Arial"/>
              </a:rPr>
              <a:t>Design </a:t>
            </a:r>
            <a:r>
              <a:rPr sz="2800" b="1" spc="-395" dirty="0">
                <a:latin typeface="Arial"/>
                <a:cs typeface="Arial"/>
              </a:rPr>
              <a:t>a </a:t>
            </a:r>
            <a:r>
              <a:rPr sz="2800" b="1" spc="-400" dirty="0">
                <a:latin typeface="Arial"/>
                <a:cs typeface="Arial"/>
              </a:rPr>
              <a:t>4 </a:t>
            </a:r>
            <a:r>
              <a:rPr sz="2800" b="1" spc="-204" dirty="0">
                <a:latin typeface="Arial"/>
                <a:cs typeface="Arial"/>
              </a:rPr>
              <a:t>to </a:t>
            </a:r>
            <a:r>
              <a:rPr sz="2800" b="1" spc="-405" dirty="0">
                <a:latin typeface="Arial"/>
                <a:cs typeface="Arial"/>
              </a:rPr>
              <a:t>16 </a:t>
            </a:r>
            <a:r>
              <a:rPr sz="2800" b="1" spc="-265" dirty="0">
                <a:latin typeface="Arial"/>
                <a:cs typeface="Arial"/>
              </a:rPr>
              <a:t>line </a:t>
            </a:r>
            <a:r>
              <a:rPr sz="2800" b="1" spc="-360" dirty="0">
                <a:latin typeface="Arial"/>
                <a:cs typeface="Arial"/>
              </a:rPr>
              <a:t>decoders </a:t>
            </a:r>
            <a:r>
              <a:rPr sz="2800" b="1" spc="-415" dirty="0">
                <a:latin typeface="Arial"/>
                <a:cs typeface="Arial"/>
              </a:rPr>
              <a:t>using </a:t>
            </a:r>
            <a:r>
              <a:rPr sz="2800" b="1" spc="-400" dirty="0">
                <a:latin typeface="Arial"/>
                <a:cs typeface="Arial"/>
              </a:rPr>
              <a:t>2 </a:t>
            </a:r>
            <a:r>
              <a:rPr sz="2800" b="1" spc="-210" dirty="0">
                <a:latin typeface="Arial"/>
                <a:cs typeface="Arial"/>
              </a:rPr>
              <a:t>to </a:t>
            </a:r>
            <a:r>
              <a:rPr sz="2800" b="1" spc="-400" dirty="0">
                <a:latin typeface="Arial"/>
                <a:cs typeface="Arial"/>
              </a:rPr>
              <a:t>4</a:t>
            </a:r>
            <a:r>
              <a:rPr sz="2800" b="1" spc="-420" dirty="0">
                <a:latin typeface="Arial"/>
                <a:cs typeface="Arial"/>
              </a:rPr>
              <a:t> </a:t>
            </a:r>
            <a:r>
              <a:rPr sz="2800" b="1" spc="-260" dirty="0">
                <a:latin typeface="Arial"/>
                <a:cs typeface="Arial"/>
              </a:rPr>
              <a:t>line</a:t>
            </a:r>
            <a:endParaRPr sz="2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8739" y="6635530"/>
            <a:ext cx="723900" cy="17462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1000" b="1" spc="45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1000" b="1" spc="50" dirty="0">
                <a:solidFill>
                  <a:srgbClr val="C00000"/>
                </a:solidFill>
                <a:latin typeface="Arial"/>
                <a:cs typeface="Arial"/>
              </a:rPr>
              <a:t>U</a:t>
            </a:r>
            <a:r>
              <a:rPr sz="1000" b="1" spc="-5" dirty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1000" b="1" spc="-60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1000" b="1" spc="-10" dirty="0">
                <a:solidFill>
                  <a:srgbClr val="C00000"/>
                </a:solidFill>
                <a:latin typeface="Arial"/>
                <a:cs typeface="Arial"/>
              </a:rPr>
              <a:t>-</a:t>
            </a:r>
            <a:r>
              <a:rPr sz="1000" b="1" spc="100" dirty="0">
                <a:solidFill>
                  <a:srgbClr val="C00000"/>
                </a:solidFill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198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3304032" y="202679"/>
              <a:ext cx="2529840" cy="9342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578478" y="321386"/>
            <a:ext cx="1986914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20" dirty="0">
                <a:latin typeface="Trebuchet MS"/>
                <a:cs typeface="Trebuchet MS"/>
              </a:rPr>
              <a:t>DECODERS</a:t>
            </a:r>
            <a:endParaRPr sz="320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801111" y="1600200"/>
            <a:ext cx="6348095" cy="5257800"/>
            <a:chOff x="2801111" y="1600200"/>
            <a:chExt cx="6348095" cy="5257800"/>
          </a:xfrm>
        </p:grpSpPr>
        <p:sp>
          <p:nvSpPr>
            <p:cNvPr id="8" name="object 8"/>
            <p:cNvSpPr/>
            <p:nvPr/>
          </p:nvSpPr>
          <p:spPr>
            <a:xfrm>
              <a:off x="8593835" y="6620254"/>
              <a:ext cx="550164" cy="23774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630411" y="6556242"/>
              <a:ext cx="513588" cy="3017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801111" y="1600200"/>
              <a:ext cx="3541776" cy="457200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145027" y="1083945"/>
            <a:ext cx="28435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C00000"/>
                </a:solidFill>
                <a:latin typeface="Palladio Uralic"/>
                <a:cs typeface="Palladio Uralic"/>
              </a:rPr>
              <a:t>Cascading</a:t>
            </a:r>
            <a:r>
              <a:rPr sz="2400" b="1" spc="-55" dirty="0">
                <a:solidFill>
                  <a:srgbClr val="C00000"/>
                </a:solidFill>
                <a:latin typeface="Palladio Uralic"/>
                <a:cs typeface="Palladio Uralic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Palladio Uralic"/>
                <a:cs typeface="Palladio Uralic"/>
              </a:rPr>
              <a:t>Decoders</a:t>
            </a:r>
            <a:endParaRPr sz="2400">
              <a:latin typeface="Palladio Uralic"/>
              <a:cs typeface="Palladio Ural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8739" y="6635530"/>
            <a:ext cx="723900" cy="17462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1000" b="1" spc="45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1000" b="1" spc="50" dirty="0">
                <a:solidFill>
                  <a:srgbClr val="C00000"/>
                </a:solidFill>
                <a:latin typeface="Arial"/>
                <a:cs typeface="Arial"/>
              </a:rPr>
              <a:t>U</a:t>
            </a:r>
            <a:r>
              <a:rPr sz="1000" b="1" spc="-5" dirty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1000" b="1" spc="-60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1000" b="1" spc="-10" dirty="0">
                <a:solidFill>
                  <a:srgbClr val="C00000"/>
                </a:solidFill>
                <a:latin typeface="Arial"/>
                <a:cs typeface="Arial"/>
              </a:rPr>
              <a:t>-</a:t>
            </a:r>
            <a:r>
              <a:rPr sz="1000" b="1" spc="100" dirty="0">
                <a:solidFill>
                  <a:srgbClr val="C00000"/>
                </a:solidFill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199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3304032" y="202679"/>
              <a:ext cx="2529840" cy="9342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578478" y="321386"/>
            <a:ext cx="1986914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DECODERS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sp>
          <p:nvSpPr>
            <p:cNvPr id="8" name="object 8"/>
            <p:cNvSpPr/>
            <p:nvPr/>
          </p:nvSpPr>
          <p:spPr>
            <a:xfrm>
              <a:off x="8593835" y="6620255"/>
              <a:ext cx="550164" cy="23774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630411" y="6556243"/>
              <a:ext cx="513588" cy="3017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83540" y="968425"/>
            <a:ext cx="8378825" cy="525145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681355">
              <a:lnSpc>
                <a:spcPct val="100000"/>
              </a:lnSpc>
              <a:spcBef>
                <a:spcPts val="1010"/>
              </a:spcBef>
            </a:pPr>
            <a:r>
              <a:rPr sz="2400" b="1" spc="-5" dirty="0">
                <a:solidFill>
                  <a:srgbClr val="C00000"/>
                </a:solidFill>
                <a:latin typeface="Palladio Uralic"/>
                <a:cs typeface="Palladio Uralic"/>
              </a:rPr>
              <a:t>Realization of Boolean Expression using Decoders</a:t>
            </a:r>
            <a:endParaRPr sz="2400">
              <a:latin typeface="Palladio Uralic"/>
              <a:cs typeface="Palladio Uralic"/>
            </a:endParaRPr>
          </a:p>
          <a:p>
            <a:pPr marL="476884" marR="6985" indent="-464820" algn="just">
              <a:lnSpc>
                <a:spcPct val="100000"/>
              </a:lnSpc>
              <a:spcBef>
                <a:spcPts val="1055"/>
              </a:spcBef>
              <a:buClr>
                <a:srgbClr val="F79546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combination </a:t>
            </a:r>
            <a:r>
              <a:rPr sz="2800" spc="-80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204" dirty="0">
                <a:solidFill>
                  <a:srgbClr val="006FC0"/>
                </a:solidFill>
                <a:latin typeface="Arial"/>
                <a:cs typeface="Arial"/>
              </a:rPr>
              <a:t>decoder </a:t>
            </a:r>
            <a:r>
              <a:rPr sz="2800" spc="-260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spc="-185" dirty="0">
                <a:solidFill>
                  <a:srgbClr val="006FC0"/>
                </a:solidFill>
                <a:latin typeface="Arial"/>
                <a:cs typeface="Arial"/>
              </a:rPr>
              <a:t>external </a:t>
            </a:r>
            <a:r>
              <a:rPr sz="2800" spc="-155" dirty="0">
                <a:solidFill>
                  <a:srgbClr val="006FC0"/>
                </a:solidFill>
                <a:latin typeface="Arial"/>
                <a:cs typeface="Arial"/>
              </a:rPr>
              <a:t>logic </a:t>
            </a:r>
            <a:r>
              <a:rPr sz="2800" spc="-315" dirty="0">
                <a:solidFill>
                  <a:srgbClr val="006FC0"/>
                </a:solidFill>
                <a:latin typeface="Arial"/>
                <a:cs typeface="Arial"/>
              </a:rPr>
              <a:t>gates </a:t>
            </a:r>
            <a:r>
              <a:rPr sz="2800" spc="-285" dirty="0">
                <a:solidFill>
                  <a:srgbClr val="006FC0"/>
                </a:solidFill>
                <a:latin typeface="Arial"/>
                <a:cs typeface="Arial"/>
              </a:rPr>
              <a:t>can  </a:t>
            </a:r>
            <a:r>
              <a:rPr sz="2800" spc="-275" dirty="0">
                <a:solidFill>
                  <a:srgbClr val="006FC0"/>
                </a:solidFill>
                <a:latin typeface="Arial"/>
                <a:cs typeface="Arial"/>
              </a:rPr>
              <a:t>be </a:t>
            </a:r>
            <a:r>
              <a:rPr sz="2800" spc="-310" dirty="0">
                <a:solidFill>
                  <a:srgbClr val="006FC0"/>
                </a:solidFill>
                <a:latin typeface="Arial"/>
                <a:cs typeface="Arial"/>
              </a:rPr>
              <a:t>used </a:t>
            </a:r>
            <a:r>
              <a:rPr sz="2800" spc="-50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implement </a:t>
            </a:r>
            <a:r>
              <a:rPr sz="2800" spc="-245" dirty="0">
                <a:solidFill>
                  <a:srgbClr val="006FC0"/>
                </a:solidFill>
                <a:latin typeface="Arial"/>
                <a:cs typeface="Arial"/>
              </a:rPr>
              <a:t>single </a:t>
            </a:r>
            <a:r>
              <a:rPr sz="2800" spc="-80" dirty="0">
                <a:solidFill>
                  <a:srgbClr val="006FC0"/>
                </a:solidFill>
                <a:latin typeface="Arial"/>
                <a:cs typeface="Arial"/>
              </a:rPr>
              <a:t>or </a:t>
            </a:r>
            <a:r>
              <a:rPr sz="2800" spc="-114" dirty="0">
                <a:solidFill>
                  <a:srgbClr val="006FC0"/>
                </a:solidFill>
                <a:latin typeface="Arial"/>
                <a:cs typeface="Arial"/>
              </a:rPr>
              <a:t>multiple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output </a:t>
            </a:r>
            <a:r>
              <a:rPr sz="2800" spc="-130" dirty="0">
                <a:solidFill>
                  <a:srgbClr val="006FC0"/>
                </a:solidFill>
                <a:latin typeface="Arial"/>
                <a:cs typeface="Arial"/>
              </a:rPr>
              <a:t>function.  </a:t>
            </a: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204" dirty="0">
                <a:solidFill>
                  <a:srgbClr val="006FC0"/>
                </a:solidFill>
                <a:latin typeface="Arial"/>
                <a:cs typeface="Arial"/>
              </a:rPr>
              <a:t>decoder </a:t>
            </a:r>
            <a:r>
              <a:rPr sz="2800" spc="-285" dirty="0">
                <a:solidFill>
                  <a:srgbClr val="006FC0"/>
                </a:solidFill>
                <a:latin typeface="Arial"/>
                <a:cs typeface="Arial"/>
              </a:rPr>
              <a:t>can </a:t>
            </a:r>
            <a:r>
              <a:rPr sz="2800" spc="-290" dirty="0">
                <a:solidFill>
                  <a:srgbClr val="006FC0"/>
                </a:solidFill>
                <a:latin typeface="Arial"/>
                <a:cs typeface="Arial"/>
              </a:rPr>
              <a:t>have </a:t>
            </a:r>
            <a:r>
              <a:rPr sz="2800" spc="-235" dirty="0">
                <a:solidFill>
                  <a:srgbClr val="006FC0"/>
                </a:solidFill>
                <a:latin typeface="Arial"/>
                <a:cs typeface="Arial"/>
              </a:rPr>
              <a:t>one 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20" dirty="0">
                <a:solidFill>
                  <a:srgbClr val="006FC0"/>
                </a:solidFill>
                <a:latin typeface="Arial"/>
                <a:cs typeface="Arial"/>
              </a:rPr>
              <a:t>two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output </a:t>
            </a:r>
            <a:r>
              <a:rPr sz="2800" spc="-275" dirty="0">
                <a:solidFill>
                  <a:srgbClr val="006FC0"/>
                </a:solidFill>
                <a:latin typeface="Arial"/>
                <a:cs typeface="Arial"/>
              </a:rPr>
              <a:t>states </a:t>
            </a:r>
            <a:r>
              <a:rPr sz="2800" spc="-150" dirty="0">
                <a:solidFill>
                  <a:srgbClr val="006FC0"/>
                </a:solidFill>
                <a:latin typeface="Arial"/>
                <a:cs typeface="Arial"/>
              </a:rPr>
              <a:t>either  </a:t>
            </a:r>
            <a:r>
              <a:rPr sz="2800" spc="-190" dirty="0">
                <a:solidFill>
                  <a:srgbClr val="006FC0"/>
                </a:solidFill>
                <a:latin typeface="Arial"/>
                <a:cs typeface="Arial"/>
              </a:rPr>
              <a:t>active </a:t>
            </a:r>
            <a:r>
              <a:rPr sz="2800" spc="-80" dirty="0">
                <a:solidFill>
                  <a:srgbClr val="006FC0"/>
                </a:solidFill>
                <a:latin typeface="Arial"/>
                <a:cs typeface="Arial"/>
              </a:rPr>
              <a:t>or </a:t>
            </a:r>
            <a:r>
              <a:rPr sz="2800" spc="-190" dirty="0">
                <a:solidFill>
                  <a:srgbClr val="006FC0"/>
                </a:solidFill>
                <a:latin typeface="Arial"/>
                <a:cs typeface="Arial"/>
              </a:rPr>
              <a:t>active</a:t>
            </a:r>
            <a:r>
              <a:rPr sz="2800" spc="24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190" dirty="0">
                <a:solidFill>
                  <a:srgbClr val="006FC0"/>
                </a:solidFill>
                <a:latin typeface="Arial"/>
                <a:cs typeface="Arial"/>
              </a:rPr>
              <a:t>high.</a:t>
            </a:r>
            <a:endParaRPr sz="2800">
              <a:latin typeface="Arial"/>
              <a:cs typeface="Arial"/>
            </a:endParaRPr>
          </a:p>
          <a:p>
            <a:pPr marL="477520" indent="-464820">
              <a:lnSpc>
                <a:spcPct val="100000"/>
              </a:lnSpc>
              <a:spcBef>
                <a:spcPts val="1685"/>
              </a:spcBef>
              <a:buClr>
                <a:srgbClr val="F79546"/>
              </a:buClr>
              <a:buFont typeface="Wingdings"/>
              <a:buChar char=""/>
              <a:tabLst>
                <a:tab pos="476884" algn="l"/>
                <a:tab pos="477520" algn="l"/>
              </a:tabLst>
            </a:pPr>
            <a:r>
              <a:rPr sz="2800" b="1" u="heavy" spc="-28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Arial"/>
                <a:cs typeface="Arial"/>
              </a:rPr>
              <a:t>For </a:t>
            </a:r>
            <a:r>
              <a:rPr sz="2800" b="1" u="heavy" spc="-29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Arial"/>
                <a:cs typeface="Arial"/>
              </a:rPr>
              <a:t>active </a:t>
            </a:r>
            <a:r>
              <a:rPr sz="2800" b="1" u="heavy" spc="-34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Arial"/>
                <a:cs typeface="Arial"/>
              </a:rPr>
              <a:t>high </a:t>
            </a:r>
            <a:r>
              <a:rPr sz="2800" b="1" u="heavy" spc="-254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Arial"/>
                <a:cs typeface="Arial"/>
              </a:rPr>
              <a:t>output</a:t>
            </a:r>
            <a:r>
              <a:rPr sz="2800" b="1" u="heavy" spc="-9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Arial"/>
                <a:cs typeface="Arial"/>
              </a:rPr>
              <a:t> </a:t>
            </a:r>
            <a:r>
              <a:rPr sz="2800" b="1" u="heavy" spc="-16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Arial"/>
                <a:cs typeface="Arial"/>
              </a:rPr>
              <a:t>:</a:t>
            </a:r>
            <a:endParaRPr sz="2800">
              <a:latin typeface="Arial"/>
              <a:cs typeface="Arial"/>
            </a:endParaRPr>
          </a:p>
          <a:p>
            <a:pPr marL="477520" indent="-464820">
              <a:lnSpc>
                <a:spcPct val="100000"/>
              </a:lnSpc>
              <a:buClr>
                <a:srgbClr val="F79546"/>
              </a:buClr>
              <a:buFont typeface="Wingdings"/>
              <a:buChar char=""/>
              <a:tabLst>
                <a:tab pos="476884" algn="l"/>
                <a:tab pos="477520" algn="l"/>
              </a:tabLst>
            </a:pPr>
            <a:r>
              <a:rPr sz="2800" b="1" u="heavy" spc="-36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Arial"/>
                <a:cs typeface="Arial"/>
              </a:rPr>
              <a:t>SOP </a:t>
            </a:r>
            <a:r>
              <a:rPr sz="2800" b="1" u="heavy" spc="-27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Arial"/>
                <a:cs typeface="Arial"/>
              </a:rPr>
              <a:t>function</a:t>
            </a:r>
            <a:r>
              <a:rPr sz="2800" b="1" u="heavy" spc="-9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Arial"/>
                <a:cs typeface="Arial"/>
              </a:rPr>
              <a:t> </a:t>
            </a:r>
            <a:r>
              <a:rPr sz="2800" b="1" u="heavy" spc="-28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Arial"/>
                <a:cs typeface="Arial"/>
              </a:rPr>
              <a:t>implementation</a:t>
            </a:r>
            <a:endParaRPr sz="2800">
              <a:latin typeface="Arial"/>
              <a:cs typeface="Arial"/>
            </a:endParaRPr>
          </a:p>
          <a:p>
            <a:pPr marL="934719" marR="5080" lvl="1" indent="-465455" algn="just">
              <a:lnSpc>
                <a:spcPct val="100000"/>
              </a:lnSpc>
              <a:spcBef>
                <a:spcPts val="55"/>
              </a:spcBef>
              <a:buClr>
                <a:srgbClr val="F79546"/>
              </a:buClr>
              <a:buFont typeface="Wingdings"/>
              <a:buChar char=""/>
              <a:tabLst>
                <a:tab pos="935355" algn="l"/>
              </a:tabLst>
            </a:pPr>
            <a:r>
              <a:rPr sz="2400" spc="-220" dirty="0">
                <a:solidFill>
                  <a:srgbClr val="006FC0"/>
                </a:solidFill>
                <a:latin typeface="Arial"/>
                <a:cs typeface="Arial"/>
              </a:rPr>
              <a:t>When </a:t>
            </a:r>
            <a:r>
              <a:rPr sz="2400" spc="-14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400" spc="-175" dirty="0">
                <a:solidFill>
                  <a:srgbClr val="006FC0"/>
                </a:solidFill>
                <a:latin typeface="Arial"/>
                <a:cs typeface="Arial"/>
              </a:rPr>
              <a:t>decoder </a:t>
            </a:r>
            <a:r>
              <a:rPr sz="2400" spc="-85" dirty="0">
                <a:solidFill>
                  <a:srgbClr val="006FC0"/>
                </a:solidFill>
                <a:latin typeface="Arial"/>
                <a:cs typeface="Arial"/>
              </a:rPr>
              <a:t>output </a:t>
            </a:r>
            <a:r>
              <a:rPr sz="2400" spc="-229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400" spc="-160" dirty="0">
                <a:solidFill>
                  <a:srgbClr val="006FC0"/>
                </a:solidFill>
                <a:latin typeface="Arial"/>
                <a:cs typeface="Arial"/>
              </a:rPr>
              <a:t>active </a:t>
            </a:r>
            <a:r>
              <a:rPr sz="2400" spc="-170" dirty="0">
                <a:solidFill>
                  <a:srgbClr val="006FC0"/>
                </a:solidFill>
                <a:latin typeface="Arial"/>
                <a:cs typeface="Arial"/>
              </a:rPr>
              <a:t>high </a:t>
            </a:r>
            <a:r>
              <a:rPr sz="2400" spc="15" dirty="0">
                <a:solidFill>
                  <a:srgbClr val="006FC0"/>
                </a:solidFill>
                <a:latin typeface="Arial"/>
                <a:cs typeface="Arial"/>
              </a:rPr>
              <a:t>it </a:t>
            </a:r>
            <a:r>
              <a:rPr sz="2400" spc="-235" dirty="0">
                <a:solidFill>
                  <a:srgbClr val="006FC0"/>
                </a:solidFill>
                <a:latin typeface="Arial"/>
                <a:cs typeface="Arial"/>
              </a:rPr>
              <a:t>generates </a:t>
            </a:r>
            <a:r>
              <a:rPr sz="2400" spc="-160" dirty="0">
                <a:solidFill>
                  <a:srgbClr val="006FC0"/>
                </a:solidFill>
                <a:latin typeface="Arial"/>
                <a:cs typeface="Arial"/>
              </a:rPr>
              <a:t>minterms  </a:t>
            </a:r>
            <a:r>
              <a:rPr sz="2400" spc="-45" dirty="0">
                <a:solidFill>
                  <a:srgbClr val="006FC0"/>
                </a:solidFill>
                <a:latin typeface="Arial"/>
                <a:cs typeface="Arial"/>
              </a:rPr>
              <a:t>for </a:t>
            </a:r>
            <a:r>
              <a:rPr sz="2400" spc="-90" dirty="0">
                <a:solidFill>
                  <a:srgbClr val="006FC0"/>
                </a:solidFill>
                <a:latin typeface="Arial"/>
                <a:cs typeface="Arial"/>
              </a:rPr>
              <a:t>input </a:t>
            </a:r>
            <a:r>
              <a:rPr sz="2400" spc="-200" dirty="0">
                <a:solidFill>
                  <a:srgbClr val="006FC0"/>
                </a:solidFill>
                <a:latin typeface="Arial"/>
                <a:cs typeface="Arial"/>
              </a:rPr>
              <a:t>variables </a:t>
            </a:r>
            <a:r>
              <a:rPr sz="2400" spc="-170" dirty="0">
                <a:solidFill>
                  <a:srgbClr val="006FC0"/>
                </a:solidFill>
                <a:latin typeface="Arial"/>
                <a:cs typeface="Arial"/>
              </a:rPr>
              <a:t>(i.e) </a:t>
            </a:r>
            <a:r>
              <a:rPr sz="2400" spc="20" dirty="0">
                <a:solidFill>
                  <a:srgbClr val="006FC0"/>
                </a:solidFill>
                <a:latin typeface="Arial"/>
                <a:cs typeface="Arial"/>
              </a:rPr>
              <a:t>it </a:t>
            </a:r>
            <a:r>
              <a:rPr sz="2400" spc="-290" dirty="0">
                <a:solidFill>
                  <a:srgbClr val="006FC0"/>
                </a:solidFill>
                <a:latin typeface="Arial"/>
                <a:cs typeface="Arial"/>
              </a:rPr>
              <a:t>makes </a:t>
            </a:r>
            <a:r>
              <a:rPr sz="2400" spc="-14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400" spc="-204" dirty="0">
                <a:solidFill>
                  <a:srgbClr val="006FC0"/>
                </a:solidFill>
                <a:latin typeface="Arial"/>
                <a:cs typeface="Arial"/>
              </a:rPr>
              <a:t>selected </a:t>
            </a:r>
            <a:r>
              <a:rPr sz="2400" spc="-85" dirty="0">
                <a:solidFill>
                  <a:srgbClr val="006FC0"/>
                </a:solidFill>
                <a:latin typeface="Arial"/>
                <a:cs typeface="Arial"/>
              </a:rPr>
              <a:t>output </a:t>
            </a:r>
            <a:r>
              <a:rPr sz="2400" spc="-165" dirty="0">
                <a:solidFill>
                  <a:srgbClr val="006FC0"/>
                </a:solidFill>
                <a:latin typeface="Arial"/>
                <a:cs typeface="Arial"/>
              </a:rPr>
              <a:t>logic1. </a:t>
            </a:r>
            <a:r>
              <a:rPr sz="2400" spc="-80" dirty="0">
                <a:solidFill>
                  <a:srgbClr val="006FC0"/>
                </a:solidFill>
                <a:latin typeface="Arial"/>
                <a:cs typeface="Arial"/>
              </a:rPr>
              <a:t>In  </a:t>
            </a:r>
            <a:r>
              <a:rPr sz="2400" spc="-250" dirty="0">
                <a:solidFill>
                  <a:srgbClr val="006FC0"/>
                </a:solidFill>
                <a:latin typeface="Arial"/>
                <a:cs typeface="Arial"/>
              </a:rPr>
              <a:t>such </a:t>
            </a:r>
            <a:r>
              <a:rPr sz="2400" spc="-345" dirty="0">
                <a:solidFill>
                  <a:srgbClr val="006FC0"/>
                </a:solidFill>
                <a:latin typeface="Arial"/>
                <a:cs typeface="Arial"/>
              </a:rPr>
              <a:t>cases </a:t>
            </a:r>
            <a:r>
              <a:rPr sz="2400" spc="-45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400" spc="-140" dirty="0">
                <a:solidFill>
                  <a:srgbClr val="006FC0"/>
                </a:solidFill>
                <a:latin typeface="Arial"/>
                <a:cs typeface="Arial"/>
              </a:rPr>
              <a:t>implement the </a:t>
            </a:r>
            <a:r>
              <a:rPr sz="2400" spc="-240" dirty="0">
                <a:solidFill>
                  <a:srgbClr val="006FC0"/>
                </a:solidFill>
                <a:latin typeface="Arial"/>
                <a:cs typeface="Arial"/>
              </a:rPr>
              <a:t>sop </a:t>
            </a:r>
            <a:r>
              <a:rPr sz="2400" spc="-105" dirty="0">
                <a:solidFill>
                  <a:srgbClr val="006FC0"/>
                </a:solidFill>
                <a:latin typeface="Arial"/>
                <a:cs typeface="Arial"/>
              </a:rPr>
              <a:t>function </a:t>
            </a:r>
            <a:r>
              <a:rPr sz="2400" spc="-254" dirty="0">
                <a:solidFill>
                  <a:srgbClr val="006FC0"/>
                </a:solidFill>
                <a:latin typeface="Arial"/>
                <a:cs typeface="Arial"/>
              </a:rPr>
              <a:t>we </a:t>
            </a:r>
            <a:r>
              <a:rPr sz="2400" spc="-250" dirty="0">
                <a:solidFill>
                  <a:srgbClr val="006FC0"/>
                </a:solidFill>
                <a:latin typeface="Arial"/>
                <a:cs typeface="Arial"/>
              </a:rPr>
              <a:t>have </a:t>
            </a:r>
            <a:r>
              <a:rPr sz="2400" spc="-50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400" spc="-190" dirty="0">
                <a:solidFill>
                  <a:srgbClr val="006FC0"/>
                </a:solidFill>
                <a:latin typeface="Arial"/>
                <a:cs typeface="Arial"/>
              </a:rPr>
              <a:t>take </a:t>
            </a:r>
            <a:r>
              <a:rPr sz="2400" spc="-275" dirty="0">
                <a:solidFill>
                  <a:srgbClr val="006FC0"/>
                </a:solidFill>
                <a:latin typeface="Arial"/>
                <a:cs typeface="Arial"/>
              </a:rPr>
              <a:t>sum  </a:t>
            </a:r>
            <a:r>
              <a:rPr sz="2400" spc="-6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400" spc="-204" dirty="0">
                <a:solidFill>
                  <a:srgbClr val="006FC0"/>
                </a:solidFill>
                <a:latin typeface="Arial"/>
                <a:cs typeface="Arial"/>
              </a:rPr>
              <a:t>selected </a:t>
            </a:r>
            <a:r>
              <a:rPr sz="2400" spc="-105" dirty="0">
                <a:solidFill>
                  <a:srgbClr val="006FC0"/>
                </a:solidFill>
                <a:latin typeface="Arial"/>
                <a:cs typeface="Arial"/>
              </a:rPr>
              <a:t>product </a:t>
            </a:r>
            <a:r>
              <a:rPr sz="2400" spc="-180" dirty="0">
                <a:solidFill>
                  <a:srgbClr val="006FC0"/>
                </a:solidFill>
                <a:latin typeface="Arial"/>
                <a:cs typeface="Arial"/>
              </a:rPr>
              <a:t>terms </a:t>
            </a:r>
            <a:r>
              <a:rPr sz="2400" spc="-200" dirty="0">
                <a:solidFill>
                  <a:srgbClr val="006FC0"/>
                </a:solidFill>
                <a:latin typeface="Arial"/>
                <a:cs typeface="Arial"/>
              </a:rPr>
              <a:t>generated </a:t>
            </a:r>
            <a:r>
              <a:rPr sz="2400" spc="-155" dirty="0">
                <a:solidFill>
                  <a:srgbClr val="006FC0"/>
                </a:solidFill>
                <a:latin typeface="Arial"/>
                <a:cs typeface="Arial"/>
              </a:rPr>
              <a:t>by </a:t>
            </a:r>
            <a:r>
              <a:rPr sz="2400" spc="-170" dirty="0">
                <a:solidFill>
                  <a:srgbClr val="006FC0"/>
                </a:solidFill>
                <a:latin typeface="Arial"/>
                <a:cs typeface="Arial"/>
              </a:rPr>
              <a:t>decoder. </a:t>
            </a:r>
            <a:r>
              <a:rPr sz="2400" spc="-185" dirty="0">
                <a:solidFill>
                  <a:srgbClr val="006FC0"/>
                </a:solidFill>
                <a:latin typeface="Arial"/>
                <a:cs typeface="Arial"/>
              </a:rPr>
              <a:t>This </a:t>
            </a:r>
            <a:r>
              <a:rPr sz="2400" spc="-245" dirty="0">
                <a:solidFill>
                  <a:srgbClr val="006FC0"/>
                </a:solidFill>
                <a:latin typeface="Arial"/>
                <a:cs typeface="Arial"/>
              </a:rPr>
              <a:t>can </a:t>
            </a:r>
            <a:r>
              <a:rPr sz="2400" spc="-235" dirty="0">
                <a:solidFill>
                  <a:srgbClr val="006FC0"/>
                </a:solidFill>
                <a:latin typeface="Arial"/>
                <a:cs typeface="Arial"/>
              </a:rPr>
              <a:t>be  </a:t>
            </a:r>
            <a:r>
              <a:rPr sz="2400" spc="-160" dirty="0">
                <a:solidFill>
                  <a:srgbClr val="006FC0"/>
                </a:solidFill>
                <a:latin typeface="Arial"/>
                <a:cs typeface="Arial"/>
              </a:rPr>
              <a:t>implemented </a:t>
            </a:r>
            <a:r>
              <a:rPr sz="2400" spc="-145" dirty="0">
                <a:solidFill>
                  <a:srgbClr val="006FC0"/>
                </a:solidFill>
                <a:latin typeface="Arial"/>
                <a:cs typeface="Arial"/>
              </a:rPr>
              <a:t>by </a:t>
            </a:r>
            <a:r>
              <a:rPr sz="2400" spc="-170" dirty="0">
                <a:solidFill>
                  <a:srgbClr val="006FC0"/>
                </a:solidFill>
                <a:latin typeface="Arial"/>
                <a:cs typeface="Arial"/>
              </a:rPr>
              <a:t>ORing </a:t>
            </a:r>
            <a:r>
              <a:rPr sz="2400" spc="-14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400" spc="-204" dirty="0">
                <a:solidFill>
                  <a:srgbClr val="006FC0"/>
                </a:solidFill>
                <a:latin typeface="Arial"/>
                <a:cs typeface="Arial"/>
              </a:rPr>
              <a:t>selected </a:t>
            </a:r>
            <a:r>
              <a:rPr sz="2400" spc="-175" dirty="0">
                <a:solidFill>
                  <a:srgbClr val="006FC0"/>
                </a:solidFill>
                <a:latin typeface="Arial"/>
                <a:cs typeface="Arial"/>
              </a:rPr>
              <a:t>decoder</a:t>
            </a:r>
            <a:r>
              <a:rPr sz="2400" spc="-15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400" spc="-95" dirty="0">
                <a:solidFill>
                  <a:srgbClr val="006FC0"/>
                </a:solidFill>
                <a:latin typeface="Arial"/>
                <a:cs typeface="Arial"/>
              </a:rPr>
              <a:t>output.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8739" y="6635530"/>
            <a:ext cx="723900" cy="17462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1000" b="1" spc="45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1000" b="1" spc="50" dirty="0">
                <a:solidFill>
                  <a:srgbClr val="C00000"/>
                </a:solidFill>
                <a:latin typeface="Arial"/>
                <a:cs typeface="Arial"/>
              </a:rPr>
              <a:t>U</a:t>
            </a:r>
            <a:r>
              <a:rPr sz="1000" b="1" spc="-5" dirty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1000" b="1" spc="-60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1000" b="1" spc="-10" dirty="0">
                <a:solidFill>
                  <a:srgbClr val="C00000"/>
                </a:solidFill>
                <a:latin typeface="Arial"/>
                <a:cs typeface="Arial"/>
              </a:rPr>
              <a:t>-</a:t>
            </a:r>
            <a:r>
              <a:rPr sz="1000" b="1" spc="100" dirty="0">
                <a:solidFill>
                  <a:srgbClr val="C00000"/>
                </a:solidFill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200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3304032" y="202679"/>
              <a:ext cx="2529840" cy="9342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578478" y="321386"/>
            <a:ext cx="1986914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20" dirty="0">
                <a:latin typeface="Trebuchet MS"/>
                <a:cs typeface="Trebuchet MS"/>
              </a:rPr>
              <a:t>DECODERS</a:t>
            </a:r>
            <a:endParaRPr sz="320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580388" y="2667000"/>
            <a:ext cx="7568565" cy="4191000"/>
            <a:chOff x="1580388" y="2667000"/>
            <a:chExt cx="7568565" cy="4191000"/>
          </a:xfrm>
        </p:grpSpPr>
        <p:sp>
          <p:nvSpPr>
            <p:cNvPr id="8" name="object 8"/>
            <p:cNvSpPr/>
            <p:nvPr/>
          </p:nvSpPr>
          <p:spPr>
            <a:xfrm>
              <a:off x="8593835" y="6620254"/>
              <a:ext cx="550164" cy="23774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630411" y="6556242"/>
              <a:ext cx="513588" cy="3017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641080" y="6644640"/>
              <a:ext cx="502920" cy="1828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80388" y="2667000"/>
              <a:ext cx="5963412" cy="312572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088237" y="1083945"/>
            <a:ext cx="70262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C00000"/>
                </a:solidFill>
                <a:latin typeface="Palladio Uralic"/>
                <a:cs typeface="Palladio Uralic"/>
              </a:rPr>
              <a:t>Realization of Boolean Expression using</a:t>
            </a:r>
            <a:r>
              <a:rPr sz="2400" b="1" spc="10" dirty="0">
                <a:solidFill>
                  <a:srgbClr val="C00000"/>
                </a:solidFill>
                <a:latin typeface="Palladio Uralic"/>
                <a:cs typeface="Palladio Uralic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Palladio Uralic"/>
                <a:cs typeface="Palladio Uralic"/>
              </a:rPr>
              <a:t>Decoders</a:t>
            </a:r>
            <a:endParaRPr sz="2400">
              <a:latin typeface="Palladio Uralic"/>
              <a:cs typeface="Palladio Ural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8739" y="6635530"/>
            <a:ext cx="723900" cy="17462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1000" b="1" spc="45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1000" b="1" spc="50" dirty="0">
                <a:solidFill>
                  <a:srgbClr val="C00000"/>
                </a:solidFill>
                <a:latin typeface="Arial"/>
                <a:cs typeface="Arial"/>
              </a:rPr>
              <a:t>U</a:t>
            </a:r>
            <a:r>
              <a:rPr sz="1000" b="1" spc="-5" dirty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1000" b="1" spc="-60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1000" b="1" spc="-10" dirty="0">
                <a:solidFill>
                  <a:srgbClr val="C00000"/>
                </a:solidFill>
                <a:latin typeface="Arial"/>
                <a:cs typeface="Arial"/>
              </a:rPr>
              <a:t>-</a:t>
            </a:r>
            <a:r>
              <a:rPr sz="1000" b="1" spc="100" dirty="0">
                <a:solidFill>
                  <a:srgbClr val="C00000"/>
                </a:solidFill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201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793241" y="982217"/>
              <a:ext cx="7589519" cy="762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6764"/>
              <a:ext cx="9143999" cy="668274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53439" y="320001"/>
              <a:ext cx="7434072" cy="57611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304032" y="202679"/>
              <a:ext cx="2529840" cy="93422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578478" y="321386"/>
            <a:ext cx="1986914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DECODERS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1981200" y="3352800"/>
            <a:ext cx="7167880" cy="3505200"/>
            <a:chOff x="1981200" y="3352800"/>
            <a:chExt cx="7167880" cy="3505200"/>
          </a:xfrm>
        </p:grpSpPr>
        <p:sp>
          <p:nvSpPr>
            <p:cNvPr id="13" name="object 13"/>
            <p:cNvSpPr/>
            <p:nvPr/>
          </p:nvSpPr>
          <p:spPr>
            <a:xfrm>
              <a:off x="8593835" y="6620254"/>
              <a:ext cx="550164" cy="23774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630411" y="6556242"/>
              <a:ext cx="513588" cy="30175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641080" y="6644640"/>
              <a:ext cx="502920" cy="18288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981200" y="3352800"/>
              <a:ext cx="5410200" cy="2558796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83540" y="968425"/>
            <a:ext cx="8377555" cy="2172335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681355">
              <a:lnSpc>
                <a:spcPct val="100000"/>
              </a:lnSpc>
              <a:spcBef>
                <a:spcPts val="1010"/>
              </a:spcBef>
            </a:pPr>
            <a:r>
              <a:rPr sz="2400" b="1" spc="-5" dirty="0">
                <a:solidFill>
                  <a:srgbClr val="C00000"/>
                </a:solidFill>
                <a:latin typeface="Palladio Uralic"/>
                <a:cs typeface="Palladio Uralic"/>
              </a:rPr>
              <a:t>Realization of Boolean Expression using Decoders</a:t>
            </a:r>
            <a:endParaRPr sz="2400">
              <a:latin typeface="Palladio Uralic"/>
              <a:cs typeface="Palladio Uralic"/>
            </a:endParaRPr>
          </a:p>
          <a:p>
            <a:pPr marL="476884" marR="5080" indent="-464820" algn="just">
              <a:lnSpc>
                <a:spcPct val="100499"/>
              </a:lnSpc>
              <a:spcBef>
                <a:spcPts val="1040"/>
              </a:spcBef>
              <a:buClr>
                <a:srgbClr val="F79546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b="1" u="heavy" spc="-37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Arial"/>
                <a:cs typeface="Arial"/>
              </a:rPr>
              <a:t>POS </a:t>
            </a:r>
            <a:r>
              <a:rPr sz="2800" b="1" u="heavy" spc="-27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Arial"/>
                <a:cs typeface="Arial"/>
              </a:rPr>
              <a:t>function implementation:</a:t>
            </a:r>
            <a:r>
              <a:rPr sz="2800" b="1" spc="-27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400" spc="-220" dirty="0">
                <a:solidFill>
                  <a:srgbClr val="006FC0"/>
                </a:solidFill>
                <a:latin typeface="Arial"/>
                <a:cs typeface="Arial"/>
              </a:rPr>
              <a:t>When </a:t>
            </a:r>
            <a:r>
              <a:rPr sz="2400" spc="-14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400" spc="-180" dirty="0">
                <a:solidFill>
                  <a:srgbClr val="006FC0"/>
                </a:solidFill>
                <a:latin typeface="Arial"/>
                <a:cs typeface="Arial"/>
              </a:rPr>
              <a:t>decoder </a:t>
            </a:r>
            <a:r>
              <a:rPr sz="2400" spc="-90" dirty="0">
                <a:solidFill>
                  <a:srgbClr val="006FC0"/>
                </a:solidFill>
                <a:latin typeface="Arial"/>
                <a:cs typeface="Arial"/>
              </a:rPr>
              <a:t>output </a:t>
            </a:r>
            <a:r>
              <a:rPr sz="2400" spc="-225" dirty="0">
                <a:solidFill>
                  <a:srgbClr val="006FC0"/>
                </a:solidFill>
                <a:latin typeface="Arial"/>
                <a:cs typeface="Arial"/>
              </a:rPr>
              <a:t>is  </a:t>
            </a:r>
            <a:r>
              <a:rPr sz="2400" spc="-160" dirty="0">
                <a:solidFill>
                  <a:srgbClr val="006FC0"/>
                </a:solidFill>
                <a:latin typeface="Arial"/>
                <a:cs typeface="Arial"/>
              </a:rPr>
              <a:t>active </a:t>
            </a:r>
            <a:r>
              <a:rPr sz="2400" spc="-170" dirty="0">
                <a:solidFill>
                  <a:srgbClr val="006FC0"/>
                </a:solidFill>
                <a:latin typeface="Arial"/>
                <a:cs typeface="Arial"/>
              </a:rPr>
              <a:t>high </a:t>
            </a:r>
            <a:r>
              <a:rPr sz="2400" spc="-320" dirty="0">
                <a:solidFill>
                  <a:srgbClr val="006FC0"/>
                </a:solidFill>
                <a:latin typeface="Arial"/>
                <a:cs typeface="Arial"/>
              </a:rPr>
              <a:t>POS</a:t>
            </a:r>
            <a:r>
              <a:rPr sz="2400" spc="2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400" spc="-100" dirty="0">
                <a:solidFill>
                  <a:srgbClr val="006FC0"/>
                </a:solidFill>
                <a:latin typeface="Arial"/>
                <a:cs typeface="Arial"/>
              </a:rPr>
              <a:t>function in </a:t>
            </a:r>
            <a:r>
              <a:rPr sz="2400" spc="-150" dirty="0">
                <a:solidFill>
                  <a:srgbClr val="006FC0"/>
                </a:solidFill>
                <a:latin typeface="Arial"/>
                <a:cs typeface="Arial"/>
              </a:rPr>
              <a:t>similar </a:t>
            </a:r>
            <a:r>
              <a:rPr sz="2400" spc="-200" dirty="0">
                <a:solidFill>
                  <a:srgbClr val="006FC0"/>
                </a:solidFill>
                <a:latin typeface="Arial"/>
                <a:cs typeface="Arial"/>
              </a:rPr>
              <a:t>manner </a:t>
            </a:r>
            <a:r>
              <a:rPr sz="2400" spc="-390" dirty="0">
                <a:solidFill>
                  <a:srgbClr val="006FC0"/>
                </a:solidFill>
                <a:latin typeface="Arial"/>
                <a:cs typeface="Arial"/>
              </a:rPr>
              <a:t>as </a:t>
            </a:r>
            <a:r>
              <a:rPr sz="2400" spc="-145" dirty="0">
                <a:solidFill>
                  <a:srgbClr val="006FC0"/>
                </a:solidFill>
                <a:latin typeface="Arial"/>
                <a:cs typeface="Arial"/>
              </a:rPr>
              <a:t>per </a:t>
            </a:r>
            <a:r>
              <a:rPr sz="2400" spc="-320" dirty="0">
                <a:solidFill>
                  <a:srgbClr val="006FC0"/>
                </a:solidFill>
                <a:latin typeface="Arial"/>
                <a:cs typeface="Arial"/>
              </a:rPr>
              <a:t>SOP  </a:t>
            </a:r>
            <a:r>
              <a:rPr sz="2400" spc="-105" dirty="0">
                <a:solidFill>
                  <a:srgbClr val="006FC0"/>
                </a:solidFill>
                <a:latin typeface="Arial"/>
                <a:cs typeface="Arial"/>
              </a:rPr>
              <a:t>function  </a:t>
            </a:r>
            <a:r>
              <a:rPr sz="2400" spc="-175" dirty="0">
                <a:solidFill>
                  <a:srgbClr val="006FC0"/>
                </a:solidFill>
                <a:latin typeface="Arial"/>
                <a:cs typeface="Arial"/>
              </a:rPr>
              <a:t>except </a:t>
            </a:r>
            <a:r>
              <a:rPr sz="2400" spc="-105" dirty="0">
                <a:solidFill>
                  <a:srgbClr val="006FC0"/>
                </a:solidFill>
                <a:latin typeface="Arial"/>
                <a:cs typeface="Arial"/>
              </a:rPr>
              <a:t>function </a:t>
            </a:r>
            <a:r>
              <a:rPr sz="2400" spc="-85" dirty="0">
                <a:solidFill>
                  <a:srgbClr val="006FC0"/>
                </a:solidFill>
                <a:latin typeface="Arial"/>
                <a:cs typeface="Arial"/>
              </a:rPr>
              <a:t>output </a:t>
            </a:r>
            <a:r>
              <a:rPr sz="2400" spc="-229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400" spc="-170" dirty="0">
                <a:solidFill>
                  <a:srgbClr val="006FC0"/>
                </a:solidFill>
                <a:latin typeface="Arial"/>
                <a:cs typeface="Arial"/>
              </a:rPr>
              <a:t>complemented. </a:t>
            </a:r>
            <a:r>
              <a:rPr sz="2400" spc="-185" dirty="0">
                <a:solidFill>
                  <a:srgbClr val="006FC0"/>
                </a:solidFill>
                <a:latin typeface="Arial"/>
                <a:cs typeface="Arial"/>
              </a:rPr>
              <a:t>This </a:t>
            </a:r>
            <a:r>
              <a:rPr sz="2400" spc="-245" dirty="0">
                <a:solidFill>
                  <a:srgbClr val="006FC0"/>
                </a:solidFill>
                <a:latin typeface="Arial"/>
                <a:cs typeface="Arial"/>
              </a:rPr>
              <a:t>can </a:t>
            </a:r>
            <a:r>
              <a:rPr sz="2400" spc="-235" dirty="0">
                <a:solidFill>
                  <a:srgbClr val="006FC0"/>
                </a:solidFill>
                <a:latin typeface="Arial"/>
                <a:cs typeface="Arial"/>
              </a:rPr>
              <a:t>be </a:t>
            </a:r>
            <a:r>
              <a:rPr sz="2400" spc="-204" dirty="0">
                <a:solidFill>
                  <a:srgbClr val="006FC0"/>
                </a:solidFill>
                <a:latin typeface="Arial"/>
                <a:cs typeface="Arial"/>
              </a:rPr>
              <a:t>achieved </a:t>
            </a:r>
            <a:r>
              <a:rPr sz="2400" spc="-150" dirty="0">
                <a:solidFill>
                  <a:srgbClr val="006FC0"/>
                </a:solidFill>
                <a:latin typeface="Arial"/>
                <a:cs typeface="Arial"/>
              </a:rPr>
              <a:t>by  </a:t>
            </a:r>
            <a:r>
              <a:rPr sz="2400" spc="-165" dirty="0">
                <a:solidFill>
                  <a:srgbClr val="006FC0"/>
                </a:solidFill>
                <a:latin typeface="Arial"/>
                <a:cs typeface="Arial"/>
              </a:rPr>
              <a:t>connecting </a:t>
            </a:r>
            <a:r>
              <a:rPr sz="2400" spc="-114" dirty="0">
                <a:solidFill>
                  <a:srgbClr val="006FC0"/>
                </a:solidFill>
                <a:latin typeface="Arial"/>
                <a:cs typeface="Arial"/>
              </a:rPr>
              <a:t>NOR </a:t>
            </a:r>
            <a:r>
              <a:rPr sz="2400" spc="-265" dirty="0">
                <a:solidFill>
                  <a:srgbClr val="006FC0"/>
                </a:solidFill>
                <a:latin typeface="Arial"/>
                <a:cs typeface="Arial"/>
              </a:rPr>
              <a:t>gates </a:t>
            </a:r>
            <a:r>
              <a:rPr sz="2400" spc="-195" dirty="0">
                <a:solidFill>
                  <a:srgbClr val="006FC0"/>
                </a:solidFill>
                <a:latin typeface="Arial"/>
                <a:cs typeface="Arial"/>
              </a:rPr>
              <a:t>instead </a:t>
            </a:r>
            <a:r>
              <a:rPr sz="2400" spc="-6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400" spc="-180" dirty="0">
                <a:solidFill>
                  <a:srgbClr val="006FC0"/>
                </a:solidFill>
                <a:latin typeface="Arial"/>
                <a:cs typeface="Arial"/>
              </a:rPr>
              <a:t>OR </a:t>
            </a:r>
            <a:r>
              <a:rPr sz="2400" spc="-270" dirty="0">
                <a:solidFill>
                  <a:srgbClr val="006FC0"/>
                </a:solidFill>
                <a:latin typeface="Arial"/>
                <a:cs typeface="Arial"/>
              </a:rPr>
              <a:t>gates</a:t>
            </a:r>
            <a:r>
              <a:rPr sz="2400" spc="4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400" spc="-140" dirty="0">
                <a:solidFill>
                  <a:srgbClr val="006FC0"/>
                </a:solidFill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8739" y="6635530"/>
            <a:ext cx="723900" cy="17462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1000" b="1" spc="45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1000" b="1" spc="50" dirty="0">
                <a:solidFill>
                  <a:srgbClr val="C00000"/>
                </a:solidFill>
                <a:latin typeface="Arial"/>
                <a:cs typeface="Arial"/>
              </a:rPr>
              <a:t>U</a:t>
            </a:r>
            <a:r>
              <a:rPr sz="1000" b="1" spc="-5" dirty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1000" b="1" spc="-60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1000" b="1" spc="-10" dirty="0">
                <a:solidFill>
                  <a:srgbClr val="C00000"/>
                </a:solidFill>
                <a:latin typeface="Arial"/>
                <a:cs typeface="Arial"/>
              </a:rPr>
              <a:t>-</a:t>
            </a:r>
            <a:r>
              <a:rPr sz="1000" b="1" spc="100" dirty="0">
                <a:solidFill>
                  <a:srgbClr val="C00000"/>
                </a:solidFill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202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365885" y="6129934"/>
            <a:ext cx="65957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Palladio Uralic"/>
                <a:cs typeface="Palladio Uralic"/>
              </a:rPr>
              <a:t>Single output function </a:t>
            </a:r>
            <a:r>
              <a:rPr sz="1800" b="1" dirty="0">
                <a:latin typeface="Palladio Uralic"/>
                <a:cs typeface="Palladio Uralic"/>
              </a:rPr>
              <a:t>implementation </a:t>
            </a:r>
            <a:r>
              <a:rPr sz="1800" b="1" spc="-5" dirty="0">
                <a:latin typeface="Palladio Uralic"/>
                <a:cs typeface="Palladio Uralic"/>
              </a:rPr>
              <a:t>using decoder and gate</a:t>
            </a:r>
            <a:endParaRPr sz="1800">
              <a:latin typeface="Palladio Uralic"/>
              <a:cs typeface="Palladio Uralic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9080" cy="6841490"/>
            <a:chOff x="0" y="16764"/>
            <a:chExt cx="9149080" cy="6841490"/>
          </a:xfrm>
        </p:grpSpPr>
        <p:sp>
          <p:nvSpPr>
            <p:cNvPr id="3" name="object 3"/>
            <p:cNvSpPr/>
            <p:nvPr/>
          </p:nvSpPr>
          <p:spPr>
            <a:xfrm>
              <a:off x="1493519" y="1455419"/>
              <a:ext cx="6983730" cy="409270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593835" y="6620254"/>
              <a:ext cx="550164" cy="23774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630411" y="6556243"/>
              <a:ext cx="513588" cy="30175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641080" y="6644640"/>
              <a:ext cx="502920" cy="18288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8739" y="6635530"/>
            <a:ext cx="723900" cy="17462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1000" b="1" spc="45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1000" b="1" spc="50" dirty="0">
                <a:solidFill>
                  <a:srgbClr val="C00000"/>
                </a:solidFill>
                <a:latin typeface="Arial"/>
                <a:cs typeface="Arial"/>
              </a:rPr>
              <a:t>U</a:t>
            </a:r>
            <a:r>
              <a:rPr sz="1000" b="1" spc="-5" dirty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1000" b="1" spc="-60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1000" b="1" spc="-10" dirty="0">
                <a:solidFill>
                  <a:srgbClr val="C00000"/>
                </a:solidFill>
                <a:latin typeface="Arial"/>
                <a:cs typeface="Arial"/>
              </a:rPr>
              <a:t>-</a:t>
            </a:r>
            <a:r>
              <a:rPr sz="1000" b="1" spc="100" dirty="0">
                <a:solidFill>
                  <a:srgbClr val="C00000"/>
                </a:solidFill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203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793241" y="982217"/>
              <a:ext cx="7589519" cy="762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6764"/>
              <a:ext cx="9143999" cy="668274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53439" y="320001"/>
              <a:ext cx="7434072" cy="57611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316223" y="202679"/>
              <a:ext cx="2506979" cy="93422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590671" y="321386"/>
            <a:ext cx="196342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5" dirty="0"/>
              <a:t>E</a:t>
            </a:r>
            <a:r>
              <a:rPr spc="-165" dirty="0"/>
              <a:t>N</a:t>
            </a:r>
            <a:r>
              <a:rPr spc="-35" dirty="0"/>
              <a:t>C</a:t>
            </a:r>
            <a:r>
              <a:rPr spc="-10" dirty="0"/>
              <a:t>ODERS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70840" y="1214373"/>
            <a:ext cx="8402955" cy="19456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89584" marR="17780" indent="-464820" algn="just">
              <a:lnSpc>
                <a:spcPct val="100000"/>
              </a:lnSpc>
              <a:spcBef>
                <a:spcPts val="95"/>
              </a:spcBef>
              <a:buClr>
                <a:srgbClr val="E36C09"/>
              </a:buClr>
              <a:buFont typeface="Wingdings"/>
              <a:buChar char=""/>
              <a:tabLst>
                <a:tab pos="490220" algn="l"/>
              </a:tabLst>
            </a:pPr>
            <a:r>
              <a:rPr sz="2800" spc="-35" dirty="0">
                <a:solidFill>
                  <a:srgbClr val="006FC0"/>
                </a:solidFill>
                <a:latin typeface="Arial"/>
                <a:cs typeface="Arial"/>
              </a:rPr>
              <a:t>An </a:t>
            </a:r>
            <a:r>
              <a:rPr sz="2800" spc="-210" dirty="0">
                <a:solidFill>
                  <a:srgbClr val="006FC0"/>
                </a:solidFill>
                <a:latin typeface="Arial"/>
                <a:cs typeface="Arial"/>
              </a:rPr>
              <a:t>encoder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800" spc="-395" dirty="0">
                <a:solidFill>
                  <a:srgbClr val="006FC0"/>
                </a:solidFill>
                <a:latin typeface="Arial"/>
                <a:cs typeface="Arial"/>
              </a:rPr>
              <a:t>a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combinational </a:t>
            </a:r>
            <a:r>
              <a:rPr sz="2800" spc="-95" dirty="0">
                <a:solidFill>
                  <a:srgbClr val="006FC0"/>
                </a:solidFill>
                <a:latin typeface="Arial"/>
                <a:cs typeface="Arial"/>
              </a:rPr>
              <a:t>circuit </a:t>
            </a:r>
            <a:r>
              <a:rPr sz="2800" spc="-125" dirty="0">
                <a:solidFill>
                  <a:srgbClr val="006FC0"/>
                </a:solidFill>
                <a:latin typeface="Arial"/>
                <a:cs typeface="Arial"/>
              </a:rPr>
              <a:t>that </a:t>
            </a:r>
            <a:r>
              <a:rPr sz="2800" spc="-204" dirty="0">
                <a:solidFill>
                  <a:srgbClr val="006FC0"/>
                </a:solidFill>
                <a:latin typeface="Arial"/>
                <a:cs typeface="Arial"/>
              </a:rPr>
              <a:t>converts  </a:t>
            </a:r>
            <a:r>
              <a:rPr sz="2800" spc="-160" dirty="0">
                <a:solidFill>
                  <a:srgbClr val="006FC0"/>
                </a:solidFill>
                <a:latin typeface="Arial"/>
                <a:cs typeface="Arial"/>
              </a:rPr>
              <a:t>binary </a:t>
            </a:r>
            <a:r>
              <a:rPr sz="2800" spc="-125" dirty="0">
                <a:solidFill>
                  <a:srgbClr val="006FC0"/>
                </a:solidFill>
                <a:latin typeface="Arial"/>
                <a:cs typeface="Arial"/>
              </a:rPr>
              <a:t>information </a:t>
            </a:r>
            <a:r>
              <a:rPr sz="2800" spc="-100" dirty="0">
                <a:solidFill>
                  <a:srgbClr val="006FC0"/>
                </a:solidFill>
                <a:latin typeface="Arial"/>
                <a:cs typeface="Arial"/>
              </a:rPr>
              <a:t>from </a:t>
            </a:r>
            <a:r>
              <a:rPr sz="2800" spc="-260" dirty="0">
                <a:solidFill>
                  <a:srgbClr val="006FC0"/>
                </a:solidFill>
                <a:latin typeface="Arial"/>
                <a:cs typeface="Arial"/>
              </a:rPr>
              <a:t>2</a:t>
            </a:r>
            <a:r>
              <a:rPr sz="2775" spc="-390" baseline="25525" dirty="0">
                <a:solidFill>
                  <a:srgbClr val="006FC0"/>
                </a:solidFill>
                <a:latin typeface="Arial"/>
                <a:cs typeface="Arial"/>
              </a:rPr>
              <a:t>n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input </a:t>
            </a:r>
            <a:r>
              <a:rPr sz="2800" spc="-220" dirty="0">
                <a:solidFill>
                  <a:srgbClr val="006FC0"/>
                </a:solidFill>
                <a:latin typeface="Arial"/>
                <a:cs typeface="Arial"/>
              </a:rPr>
              <a:t>lines </a:t>
            </a:r>
            <a:r>
              <a:rPr sz="2800" spc="-60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800" spc="-395" dirty="0">
                <a:solidFill>
                  <a:srgbClr val="006FC0"/>
                </a:solidFill>
                <a:latin typeface="Arial"/>
                <a:cs typeface="Arial"/>
              </a:rPr>
              <a:t>a</a:t>
            </a:r>
            <a:r>
              <a:rPr sz="2800" spc="-1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215" dirty="0">
                <a:solidFill>
                  <a:srgbClr val="006FC0"/>
                </a:solidFill>
                <a:latin typeface="Arial"/>
                <a:cs typeface="Arial"/>
              </a:rPr>
              <a:t>maximum </a:t>
            </a:r>
            <a:r>
              <a:rPr sz="2800" spc="-85" dirty="0">
                <a:solidFill>
                  <a:srgbClr val="006FC0"/>
                </a:solidFill>
                <a:latin typeface="Arial"/>
                <a:cs typeface="Arial"/>
              </a:rPr>
              <a:t>of  </a:t>
            </a:r>
            <a:r>
              <a:rPr sz="2800" spc="40" dirty="0">
                <a:solidFill>
                  <a:srgbClr val="006FC0"/>
                </a:solidFill>
                <a:latin typeface="Arial"/>
                <a:cs typeface="Arial"/>
              </a:rPr>
              <a:t>‘n’ </a:t>
            </a:r>
            <a:r>
              <a:rPr sz="2800" spc="-200" dirty="0">
                <a:solidFill>
                  <a:srgbClr val="006FC0"/>
                </a:solidFill>
                <a:latin typeface="Arial"/>
                <a:cs typeface="Arial"/>
              </a:rPr>
              <a:t>unique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output</a:t>
            </a:r>
            <a:r>
              <a:rPr sz="2800" spc="9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210" dirty="0">
                <a:solidFill>
                  <a:srgbClr val="006FC0"/>
                </a:solidFill>
                <a:latin typeface="Arial"/>
                <a:cs typeface="Arial"/>
              </a:rPr>
              <a:t>lines.</a:t>
            </a:r>
            <a:endParaRPr sz="2800">
              <a:latin typeface="Arial"/>
              <a:cs typeface="Arial"/>
            </a:endParaRPr>
          </a:p>
          <a:p>
            <a:pPr marL="490220" indent="-464820">
              <a:lnSpc>
                <a:spcPct val="100000"/>
              </a:lnSpc>
              <a:spcBef>
                <a:spcPts val="1685"/>
              </a:spcBef>
              <a:buClr>
                <a:srgbClr val="E36C09"/>
              </a:buClr>
              <a:buFont typeface="Wingdings"/>
              <a:buChar char=""/>
              <a:tabLst>
                <a:tab pos="489584" algn="l"/>
                <a:tab pos="490220" algn="l"/>
              </a:tabLst>
            </a:pPr>
            <a:r>
              <a:rPr sz="2800" spc="-35" dirty="0">
                <a:solidFill>
                  <a:srgbClr val="006FC0"/>
                </a:solidFill>
                <a:latin typeface="Arial"/>
                <a:cs typeface="Arial"/>
              </a:rPr>
              <a:t>An </a:t>
            </a:r>
            <a:r>
              <a:rPr sz="2800" spc="-210" dirty="0">
                <a:solidFill>
                  <a:srgbClr val="006FC0"/>
                </a:solidFill>
                <a:latin typeface="Arial"/>
                <a:cs typeface="Arial"/>
              </a:rPr>
              <a:t>encoder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800" spc="-395" dirty="0">
                <a:solidFill>
                  <a:srgbClr val="006FC0"/>
                </a:solidFill>
                <a:latin typeface="Arial"/>
                <a:cs typeface="Arial"/>
              </a:rPr>
              <a:t>a</a:t>
            </a:r>
            <a:r>
              <a:rPr sz="2800" spc="-1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130" dirty="0">
                <a:solidFill>
                  <a:srgbClr val="006FC0"/>
                </a:solidFill>
                <a:latin typeface="Arial"/>
                <a:cs typeface="Arial"/>
              </a:rPr>
              <a:t>digital </a:t>
            </a:r>
            <a:r>
              <a:rPr sz="2800" spc="-95" dirty="0">
                <a:solidFill>
                  <a:srgbClr val="006FC0"/>
                </a:solidFill>
                <a:latin typeface="Arial"/>
                <a:cs typeface="Arial"/>
              </a:rPr>
              <a:t>circuit </a:t>
            </a:r>
            <a:r>
              <a:rPr sz="2800" spc="-125" dirty="0">
                <a:solidFill>
                  <a:srgbClr val="006FC0"/>
                </a:solidFill>
                <a:latin typeface="Arial"/>
                <a:cs typeface="Arial"/>
              </a:rPr>
              <a:t>that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performs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</a:t>
            </a:r>
            <a:r>
              <a:rPr sz="2800" spc="-40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240" dirty="0">
                <a:solidFill>
                  <a:srgbClr val="006FC0"/>
                </a:solidFill>
                <a:latin typeface="Arial"/>
                <a:cs typeface="Arial"/>
              </a:rPr>
              <a:t>inverse</a:t>
            </a:r>
            <a:endParaRPr sz="2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791580" y="3134690"/>
            <a:ext cx="18319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58495" algn="l"/>
              </a:tabLst>
            </a:pPr>
            <a:r>
              <a:rPr sz="2800" spc="-155" dirty="0">
                <a:solidFill>
                  <a:srgbClr val="006FC0"/>
                </a:solidFill>
                <a:latin typeface="Arial"/>
                <a:cs typeface="Arial"/>
              </a:rPr>
              <a:t>th</a:t>
            </a:r>
            <a:r>
              <a:rPr sz="2800" spc="-195" dirty="0">
                <a:solidFill>
                  <a:srgbClr val="006FC0"/>
                </a:solidFill>
                <a:latin typeface="Arial"/>
                <a:cs typeface="Arial"/>
              </a:rPr>
              <a:t>e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160" dirty="0">
                <a:solidFill>
                  <a:srgbClr val="006FC0"/>
                </a:solidFill>
                <a:latin typeface="Arial"/>
                <a:cs typeface="Arial"/>
              </a:rPr>
              <a:t>o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p</a:t>
            </a:r>
            <a:r>
              <a:rPr sz="2800" spc="-160" dirty="0">
                <a:solidFill>
                  <a:srgbClr val="006FC0"/>
                </a:solidFill>
                <a:latin typeface="Arial"/>
                <a:cs typeface="Arial"/>
              </a:rPr>
              <a:t>p</a:t>
            </a:r>
            <a:r>
              <a:rPr sz="2800" spc="-155" dirty="0">
                <a:solidFill>
                  <a:srgbClr val="006FC0"/>
                </a:solidFill>
                <a:latin typeface="Arial"/>
                <a:cs typeface="Arial"/>
              </a:rPr>
              <a:t>o</a:t>
            </a:r>
            <a:r>
              <a:rPr sz="2800" spc="-204" dirty="0">
                <a:solidFill>
                  <a:srgbClr val="006FC0"/>
                </a:solidFill>
                <a:latin typeface="Arial"/>
                <a:cs typeface="Arial"/>
              </a:rPr>
              <a:t>site</a:t>
            </a:r>
            <a:endParaRPr sz="2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48360" y="3134690"/>
            <a:ext cx="475297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1536700" algn="l"/>
                <a:tab pos="1559560" algn="l"/>
                <a:tab pos="2028825" algn="l"/>
                <a:tab pos="2390140" algn="l"/>
                <a:tab pos="2872105" algn="l"/>
                <a:tab pos="3370579" algn="l"/>
                <a:tab pos="3792220" algn="l"/>
              </a:tabLst>
            </a:pPr>
            <a:r>
              <a:rPr sz="2800" spc="-160" dirty="0">
                <a:solidFill>
                  <a:srgbClr val="006FC0"/>
                </a:solidFill>
                <a:latin typeface="Arial"/>
                <a:cs typeface="Arial"/>
              </a:rPr>
              <a:t>o</a:t>
            </a:r>
            <a:r>
              <a:rPr sz="2800" spc="-150" dirty="0">
                <a:solidFill>
                  <a:srgbClr val="006FC0"/>
                </a:solidFill>
                <a:latin typeface="Arial"/>
                <a:cs typeface="Arial"/>
              </a:rPr>
              <a:t>p</a:t>
            </a:r>
            <a:r>
              <a:rPr sz="2800" spc="-225" dirty="0">
                <a:solidFill>
                  <a:srgbClr val="006FC0"/>
                </a:solidFill>
                <a:latin typeface="Arial"/>
                <a:cs typeface="Arial"/>
              </a:rPr>
              <a:t>e</a:t>
            </a:r>
            <a:r>
              <a:rPr sz="2800" spc="-125" dirty="0">
                <a:solidFill>
                  <a:srgbClr val="006FC0"/>
                </a:solidFill>
                <a:latin typeface="Arial"/>
                <a:cs typeface="Arial"/>
              </a:rPr>
              <a:t>r</a:t>
            </a:r>
            <a:r>
              <a:rPr sz="2800" spc="-140" dirty="0">
                <a:solidFill>
                  <a:srgbClr val="006FC0"/>
                </a:solidFill>
                <a:latin typeface="Arial"/>
                <a:cs typeface="Arial"/>
              </a:rPr>
              <a:t>at</a:t>
            </a:r>
            <a:r>
              <a:rPr sz="2800" spc="-70" dirty="0">
                <a:solidFill>
                  <a:srgbClr val="006FC0"/>
                </a:solidFill>
                <a:latin typeface="Arial"/>
                <a:cs typeface="Arial"/>
              </a:rPr>
              <a:t>i</a:t>
            </a:r>
            <a:r>
              <a:rPr sz="2800" spc="-185" dirty="0">
                <a:solidFill>
                  <a:srgbClr val="006FC0"/>
                </a:solidFill>
                <a:latin typeface="Arial"/>
                <a:cs typeface="Arial"/>
              </a:rPr>
              <a:t>on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of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395" dirty="0">
                <a:solidFill>
                  <a:srgbClr val="006FC0"/>
                </a:solidFill>
                <a:latin typeface="Arial"/>
                <a:cs typeface="Arial"/>
              </a:rPr>
              <a:t>a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200" dirty="0">
                <a:solidFill>
                  <a:srgbClr val="006FC0"/>
                </a:solidFill>
                <a:latin typeface="Arial"/>
                <a:cs typeface="Arial"/>
              </a:rPr>
              <a:t>decoder</a:t>
            </a:r>
            <a:r>
              <a:rPr sz="2800" spc="-160" dirty="0">
                <a:solidFill>
                  <a:srgbClr val="006FC0"/>
                </a:solidFill>
                <a:latin typeface="Arial"/>
                <a:cs typeface="Arial"/>
              </a:rPr>
              <a:t>.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240" dirty="0">
                <a:solidFill>
                  <a:srgbClr val="006FC0"/>
                </a:solidFill>
                <a:latin typeface="Arial"/>
                <a:cs typeface="Arial"/>
              </a:rPr>
              <a:t>Hen</a:t>
            </a:r>
            <a:r>
              <a:rPr sz="2800" spc="-210" dirty="0">
                <a:solidFill>
                  <a:srgbClr val="006FC0"/>
                </a:solidFill>
                <a:latin typeface="Arial"/>
                <a:cs typeface="Arial"/>
              </a:rPr>
              <a:t>c</a:t>
            </a:r>
            <a:r>
              <a:rPr sz="2800" spc="-215" dirty="0">
                <a:solidFill>
                  <a:srgbClr val="006FC0"/>
                </a:solidFill>
                <a:latin typeface="Arial"/>
                <a:cs typeface="Arial"/>
              </a:rPr>
              <a:t>e,  </a:t>
            </a:r>
            <a:r>
              <a:rPr sz="2800" spc="-204" dirty="0">
                <a:solidFill>
                  <a:srgbClr val="006FC0"/>
                </a:solidFill>
                <a:latin typeface="Arial"/>
                <a:cs typeface="Arial"/>
              </a:rPr>
              <a:t>decoding		</a:t>
            </a:r>
            <a:r>
              <a:rPr sz="2800" spc="-275" dirty="0">
                <a:solidFill>
                  <a:srgbClr val="006FC0"/>
                </a:solidFill>
                <a:latin typeface="Arial"/>
                <a:cs typeface="Arial"/>
              </a:rPr>
              <a:t>process	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is	</a:t>
            </a:r>
            <a:r>
              <a:rPr sz="2800" spc="-195" dirty="0">
                <a:solidFill>
                  <a:srgbClr val="006FC0"/>
                </a:solidFill>
                <a:latin typeface="Arial"/>
                <a:cs typeface="Arial"/>
              </a:rPr>
              <a:t>called</a:t>
            </a:r>
            <a:endParaRPr sz="2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299328" y="3134690"/>
            <a:ext cx="346202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513330">
              <a:lnSpc>
                <a:spcPct val="100000"/>
              </a:lnSpc>
              <a:spcBef>
                <a:spcPts val="95"/>
              </a:spcBef>
              <a:tabLst>
                <a:tab pos="1630680" algn="l"/>
                <a:tab pos="2467610" algn="l"/>
                <a:tab pos="3016250" algn="l"/>
              </a:tabLst>
            </a:pP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of	</a:t>
            </a:r>
            <a:r>
              <a:rPr sz="2800" spc="-145" dirty="0">
                <a:solidFill>
                  <a:srgbClr val="006FC0"/>
                </a:solidFill>
                <a:latin typeface="Arial"/>
                <a:cs typeface="Arial"/>
              </a:rPr>
              <a:t>the  </a:t>
            </a:r>
            <a:r>
              <a:rPr sz="2800" spc="-365" dirty="0">
                <a:solidFill>
                  <a:srgbClr val="006FC0"/>
                </a:solidFill>
                <a:latin typeface="Arial"/>
                <a:cs typeface="Arial"/>
              </a:rPr>
              <a:t>e</a:t>
            </a:r>
            <a:r>
              <a:rPr sz="2800" spc="-204" dirty="0">
                <a:solidFill>
                  <a:srgbClr val="006FC0"/>
                </a:solidFill>
                <a:latin typeface="Arial"/>
                <a:cs typeface="Arial"/>
              </a:rPr>
              <a:t>nc</a:t>
            </a:r>
            <a:r>
              <a:rPr sz="2800" spc="-210" dirty="0">
                <a:solidFill>
                  <a:srgbClr val="006FC0"/>
                </a:solidFill>
                <a:latin typeface="Arial"/>
                <a:cs typeface="Arial"/>
              </a:rPr>
              <a:t>o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din</a:t>
            </a:r>
            <a:r>
              <a:rPr sz="2800" spc="-204" dirty="0">
                <a:solidFill>
                  <a:srgbClr val="006FC0"/>
                </a:solidFill>
                <a:latin typeface="Arial"/>
                <a:cs typeface="Arial"/>
              </a:rPr>
              <a:t>g</a:t>
            </a:r>
            <a:r>
              <a:rPr sz="2800" spc="-160" dirty="0">
                <a:solidFill>
                  <a:srgbClr val="006FC0"/>
                </a:solidFill>
                <a:latin typeface="Arial"/>
                <a:cs typeface="Arial"/>
              </a:rPr>
              <a:t>.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180" dirty="0">
                <a:solidFill>
                  <a:srgbClr val="006FC0"/>
                </a:solidFill>
                <a:latin typeface="Arial"/>
                <a:cs typeface="Arial"/>
              </a:rPr>
              <a:t>T</a:t>
            </a:r>
            <a:r>
              <a:rPr sz="2800" spc="-160" dirty="0">
                <a:solidFill>
                  <a:srgbClr val="006FC0"/>
                </a:solidFill>
                <a:latin typeface="Arial"/>
                <a:cs typeface="Arial"/>
              </a:rPr>
              <a:t>h</a:t>
            </a:r>
            <a:r>
              <a:rPr sz="2800" spc="-350" dirty="0">
                <a:solidFill>
                  <a:srgbClr val="006FC0"/>
                </a:solidFill>
                <a:latin typeface="Arial"/>
                <a:cs typeface="Arial"/>
              </a:rPr>
              <a:t>e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275" dirty="0">
                <a:solidFill>
                  <a:srgbClr val="006FC0"/>
                </a:solidFill>
                <a:latin typeface="Arial"/>
                <a:cs typeface="Arial"/>
              </a:rPr>
              <a:t>gener</a:t>
            </a:r>
            <a:r>
              <a:rPr sz="2800" spc="-290" dirty="0">
                <a:solidFill>
                  <a:srgbClr val="006FC0"/>
                </a:solidFill>
                <a:latin typeface="Arial"/>
                <a:cs typeface="Arial"/>
              </a:rPr>
              <a:t>a</a:t>
            </a:r>
            <a:r>
              <a:rPr sz="2800" spc="-20" dirty="0">
                <a:solidFill>
                  <a:srgbClr val="006FC0"/>
                </a:solidFill>
                <a:latin typeface="Arial"/>
                <a:cs typeface="Arial"/>
              </a:rPr>
              <a:t>l</a:t>
            </a:r>
            <a:endParaRPr sz="2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48360" y="3988689"/>
            <a:ext cx="41243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55" dirty="0">
                <a:solidFill>
                  <a:srgbClr val="006FC0"/>
                </a:solidFill>
                <a:latin typeface="Arial"/>
                <a:cs typeface="Arial"/>
              </a:rPr>
              <a:t>structure 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210" dirty="0">
                <a:solidFill>
                  <a:srgbClr val="006FC0"/>
                </a:solidFill>
                <a:latin typeface="Arial"/>
                <a:cs typeface="Arial"/>
              </a:rPr>
              <a:t>encoder </a:t>
            </a:r>
            <a:r>
              <a:rPr sz="2800" spc="-95" dirty="0">
                <a:solidFill>
                  <a:srgbClr val="006FC0"/>
                </a:solidFill>
                <a:latin typeface="Arial"/>
                <a:cs typeface="Arial"/>
              </a:rPr>
              <a:t>circuit</a:t>
            </a:r>
            <a:r>
              <a:rPr sz="2800" spc="-21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is,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590800" y="4495800"/>
            <a:ext cx="6558280" cy="2362200"/>
            <a:chOff x="2590800" y="4495800"/>
            <a:chExt cx="6558280" cy="2362200"/>
          </a:xfrm>
        </p:grpSpPr>
        <p:sp>
          <p:nvSpPr>
            <p:cNvPr id="18" name="object 18"/>
            <p:cNvSpPr/>
            <p:nvPr/>
          </p:nvSpPr>
          <p:spPr>
            <a:xfrm>
              <a:off x="8593835" y="6620254"/>
              <a:ext cx="550164" cy="23774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630411" y="6556242"/>
              <a:ext cx="513588" cy="30175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641079" y="6644639"/>
              <a:ext cx="502920" cy="18288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641079" y="6644639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590800" y="4495800"/>
              <a:ext cx="3517391" cy="1953768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78739" y="6635530"/>
            <a:ext cx="723900" cy="17462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1000" b="1" spc="45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1000" b="1" spc="50" dirty="0">
                <a:solidFill>
                  <a:srgbClr val="C00000"/>
                </a:solidFill>
                <a:latin typeface="Arial"/>
                <a:cs typeface="Arial"/>
              </a:rPr>
              <a:t>U</a:t>
            </a:r>
            <a:r>
              <a:rPr sz="1000" b="1" spc="-5" dirty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1000" b="1" spc="-60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1000" b="1" spc="-10" dirty="0">
                <a:solidFill>
                  <a:srgbClr val="C00000"/>
                </a:solidFill>
                <a:latin typeface="Arial"/>
                <a:cs typeface="Arial"/>
              </a:rPr>
              <a:t>-</a:t>
            </a:r>
            <a:r>
              <a:rPr sz="1000" b="1" spc="100" dirty="0">
                <a:solidFill>
                  <a:srgbClr val="C00000"/>
                </a:solidFill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204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793241" y="982217"/>
              <a:ext cx="7589519" cy="762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6764"/>
              <a:ext cx="9143999" cy="668274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53439" y="320001"/>
              <a:ext cx="7434072" cy="57611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316223" y="202679"/>
              <a:ext cx="2506979" cy="93422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590671" y="321386"/>
            <a:ext cx="196342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5" dirty="0"/>
              <a:t>E</a:t>
            </a:r>
            <a:r>
              <a:rPr spc="-165" dirty="0"/>
              <a:t>N</a:t>
            </a:r>
            <a:r>
              <a:rPr spc="-35" dirty="0"/>
              <a:t>C</a:t>
            </a:r>
            <a:r>
              <a:rPr spc="-10" dirty="0"/>
              <a:t>ODERS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07340" y="1348486"/>
            <a:ext cx="8518525" cy="4293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53085" marR="68580" indent="-464820" algn="just">
              <a:lnSpc>
                <a:spcPct val="100000"/>
              </a:lnSpc>
              <a:spcBef>
                <a:spcPts val="95"/>
              </a:spcBef>
              <a:buClr>
                <a:srgbClr val="E36C09"/>
              </a:buClr>
              <a:buFont typeface="Wingdings"/>
              <a:buChar char=""/>
              <a:tabLst>
                <a:tab pos="553720" algn="l"/>
              </a:tabLst>
            </a:pPr>
            <a:r>
              <a:rPr sz="2800" spc="-185" dirty="0">
                <a:solidFill>
                  <a:srgbClr val="006FC0"/>
                </a:solidFill>
                <a:latin typeface="Arial"/>
                <a:cs typeface="Arial"/>
              </a:rPr>
              <a:t>Generally, </a:t>
            </a:r>
            <a:r>
              <a:rPr sz="2800" spc="-130" dirty="0">
                <a:solidFill>
                  <a:srgbClr val="006FC0"/>
                </a:solidFill>
                <a:latin typeface="Arial"/>
                <a:cs typeface="Arial"/>
              </a:rPr>
              <a:t>digital 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encoders </a:t>
            </a:r>
            <a:r>
              <a:rPr sz="2800" spc="-180" dirty="0">
                <a:solidFill>
                  <a:srgbClr val="006FC0"/>
                </a:solidFill>
                <a:latin typeface="Arial"/>
                <a:cs typeface="Arial"/>
              </a:rPr>
              <a:t>produce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outputs 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150" dirty="0">
                <a:solidFill>
                  <a:srgbClr val="006FC0"/>
                </a:solidFill>
                <a:latin typeface="Arial"/>
                <a:cs typeface="Arial"/>
              </a:rPr>
              <a:t>2-bit, </a:t>
            </a:r>
            <a:r>
              <a:rPr sz="2800" spc="-145" dirty="0">
                <a:solidFill>
                  <a:srgbClr val="006FC0"/>
                </a:solidFill>
                <a:latin typeface="Arial"/>
                <a:cs typeface="Arial"/>
              </a:rPr>
              <a:t>3-bit  </a:t>
            </a:r>
            <a:r>
              <a:rPr sz="2800" spc="-80" dirty="0">
                <a:solidFill>
                  <a:srgbClr val="006FC0"/>
                </a:solidFill>
                <a:latin typeface="Arial"/>
                <a:cs typeface="Arial"/>
              </a:rPr>
              <a:t>or </a:t>
            </a:r>
            <a:r>
              <a:rPr sz="2800" spc="-145" dirty="0">
                <a:solidFill>
                  <a:srgbClr val="006FC0"/>
                </a:solidFill>
                <a:latin typeface="Arial"/>
                <a:cs typeface="Arial"/>
              </a:rPr>
              <a:t>4-bit </a:t>
            </a:r>
            <a:r>
              <a:rPr sz="2800" spc="-285" dirty="0">
                <a:solidFill>
                  <a:srgbClr val="006FC0"/>
                </a:solidFill>
                <a:latin typeface="Arial"/>
                <a:cs typeface="Arial"/>
              </a:rPr>
              <a:t>codes </a:t>
            </a:r>
            <a:r>
              <a:rPr sz="2800" spc="-220" dirty="0">
                <a:solidFill>
                  <a:srgbClr val="006FC0"/>
                </a:solidFill>
                <a:latin typeface="Arial"/>
                <a:cs typeface="Arial"/>
              </a:rPr>
              <a:t>depending </a:t>
            </a:r>
            <a:r>
              <a:rPr sz="2800" spc="-190" dirty="0">
                <a:solidFill>
                  <a:srgbClr val="006FC0"/>
                </a:solidFill>
                <a:latin typeface="Arial"/>
                <a:cs typeface="Arial"/>
              </a:rPr>
              <a:t>upon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204" dirty="0">
                <a:solidFill>
                  <a:srgbClr val="006FC0"/>
                </a:solidFill>
                <a:latin typeface="Arial"/>
                <a:cs typeface="Arial"/>
              </a:rPr>
              <a:t>number 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225" dirty="0">
                <a:solidFill>
                  <a:srgbClr val="006FC0"/>
                </a:solidFill>
                <a:latin typeface="Arial"/>
                <a:cs typeface="Arial"/>
              </a:rPr>
              <a:t>data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input  </a:t>
            </a:r>
            <a:r>
              <a:rPr sz="2800" spc="-210" dirty="0">
                <a:solidFill>
                  <a:srgbClr val="006FC0"/>
                </a:solidFill>
                <a:latin typeface="Arial"/>
                <a:cs typeface="Arial"/>
              </a:rPr>
              <a:t>lines.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E36C09"/>
              </a:buClr>
              <a:buFont typeface="Wingdings"/>
              <a:buChar char=""/>
            </a:pPr>
            <a:endParaRPr sz="2900">
              <a:latin typeface="Arial"/>
              <a:cs typeface="Arial"/>
            </a:endParaRPr>
          </a:p>
          <a:p>
            <a:pPr marL="553085" marR="68580" indent="-464820" algn="just">
              <a:lnSpc>
                <a:spcPct val="100000"/>
              </a:lnSpc>
              <a:spcBef>
                <a:spcPts val="5"/>
              </a:spcBef>
              <a:buClr>
                <a:srgbClr val="E36C09"/>
              </a:buClr>
              <a:buFont typeface="Wingdings"/>
              <a:buChar char=""/>
              <a:tabLst>
                <a:tab pos="553720" algn="l"/>
              </a:tabLst>
            </a:pPr>
            <a:r>
              <a:rPr sz="2800" spc="-35" dirty="0">
                <a:solidFill>
                  <a:srgbClr val="006FC0"/>
                </a:solidFill>
                <a:latin typeface="Arial"/>
                <a:cs typeface="Arial"/>
              </a:rPr>
              <a:t>An </a:t>
            </a:r>
            <a:r>
              <a:rPr sz="2800" spc="-95" dirty="0">
                <a:solidFill>
                  <a:srgbClr val="006FC0"/>
                </a:solidFill>
                <a:latin typeface="Arial"/>
                <a:cs typeface="Arial"/>
              </a:rPr>
              <a:t>"n-bit"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binary </a:t>
            </a:r>
            <a:r>
              <a:rPr sz="2800" spc="-215" dirty="0">
                <a:solidFill>
                  <a:srgbClr val="006FC0"/>
                </a:solidFill>
                <a:latin typeface="Arial"/>
                <a:cs typeface="Arial"/>
              </a:rPr>
              <a:t>encoder </a:t>
            </a:r>
            <a:r>
              <a:rPr sz="2800" spc="-375" dirty="0">
                <a:solidFill>
                  <a:srgbClr val="006FC0"/>
                </a:solidFill>
                <a:latin typeface="Arial"/>
                <a:cs typeface="Arial"/>
              </a:rPr>
              <a:t>has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2</a:t>
            </a:r>
            <a:r>
              <a:rPr sz="2775" spc="-397" baseline="25525" dirty="0">
                <a:solidFill>
                  <a:srgbClr val="006FC0"/>
                </a:solidFill>
                <a:latin typeface="Arial"/>
                <a:cs typeface="Arial"/>
              </a:rPr>
              <a:t>n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input </a:t>
            </a:r>
            <a:r>
              <a:rPr sz="2800" spc="-225" dirty="0">
                <a:solidFill>
                  <a:srgbClr val="006FC0"/>
                </a:solidFill>
                <a:latin typeface="Arial"/>
                <a:cs typeface="Arial"/>
              </a:rPr>
              <a:t>lines </a:t>
            </a:r>
            <a:r>
              <a:rPr sz="2800" spc="-260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spc="-110" dirty="0">
                <a:solidFill>
                  <a:srgbClr val="006FC0"/>
                </a:solidFill>
                <a:latin typeface="Arial"/>
                <a:cs typeface="Arial"/>
              </a:rPr>
              <a:t>n-bit 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output </a:t>
            </a:r>
            <a:r>
              <a:rPr sz="2800" spc="-225" dirty="0">
                <a:solidFill>
                  <a:srgbClr val="006FC0"/>
                </a:solidFill>
                <a:latin typeface="Arial"/>
                <a:cs typeface="Arial"/>
              </a:rPr>
              <a:t>lines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with </a:t>
            </a:r>
            <a:r>
              <a:rPr sz="2800" spc="-210" dirty="0">
                <a:solidFill>
                  <a:srgbClr val="006FC0"/>
                </a:solidFill>
                <a:latin typeface="Arial"/>
                <a:cs typeface="Arial"/>
              </a:rPr>
              <a:t>common </a:t>
            </a:r>
            <a:r>
              <a:rPr sz="2800" spc="-225" dirty="0">
                <a:solidFill>
                  <a:srgbClr val="006FC0"/>
                </a:solidFill>
                <a:latin typeface="Arial"/>
                <a:cs typeface="Arial"/>
              </a:rPr>
              <a:t>types </a:t>
            </a:r>
            <a:r>
              <a:rPr sz="2800" spc="-125" dirty="0">
                <a:solidFill>
                  <a:srgbClr val="006FC0"/>
                </a:solidFill>
                <a:latin typeface="Arial"/>
                <a:cs typeface="Arial"/>
              </a:rPr>
              <a:t>that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include </a:t>
            </a:r>
            <a:r>
              <a:rPr sz="2800" spc="-200" dirty="0">
                <a:solidFill>
                  <a:srgbClr val="006FC0"/>
                </a:solidFill>
                <a:latin typeface="Arial"/>
                <a:cs typeface="Arial"/>
              </a:rPr>
              <a:t>4-to-2,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8-to-  </a:t>
            </a:r>
            <a:r>
              <a:rPr sz="2800" spc="-400" dirty="0">
                <a:solidFill>
                  <a:srgbClr val="006FC0"/>
                </a:solidFill>
                <a:latin typeface="Arial"/>
                <a:cs typeface="Arial"/>
              </a:rPr>
              <a:t>3 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16-to-4 </a:t>
            </a:r>
            <a:r>
              <a:rPr sz="2800" spc="-145" dirty="0">
                <a:solidFill>
                  <a:srgbClr val="006FC0"/>
                </a:solidFill>
                <a:latin typeface="Arial"/>
                <a:cs typeface="Arial"/>
              </a:rPr>
              <a:t>line</a:t>
            </a:r>
            <a:r>
              <a:rPr sz="2800" spc="-6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configurations.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E36C09"/>
              </a:buClr>
              <a:buFont typeface="Wingdings"/>
              <a:buChar char=""/>
            </a:pPr>
            <a:endParaRPr sz="2900">
              <a:latin typeface="Arial"/>
              <a:cs typeface="Arial"/>
            </a:endParaRPr>
          </a:p>
          <a:p>
            <a:pPr marL="553085" marR="71755" indent="-464820" algn="just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553720" algn="l"/>
              </a:tabLst>
            </a:pP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output </a:t>
            </a:r>
            <a:r>
              <a:rPr sz="2800" spc="-225" dirty="0">
                <a:solidFill>
                  <a:srgbClr val="006FC0"/>
                </a:solidFill>
                <a:latin typeface="Arial"/>
                <a:cs typeface="Arial"/>
              </a:rPr>
              <a:t>lines </a:t>
            </a:r>
            <a:r>
              <a:rPr sz="2800" spc="-80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395" dirty="0">
                <a:solidFill>
                  <a:srgbClr val="006FC0"/>
                </a:solidFill>
                <a:latin typeface="Arial"/>
                <a:cs typeface="Arial"/>
              </a:rPr>
              <a:t>a </a:t>
            </a:r>
            <a:r>
              <a:rPr sz="2800" spc="-130" dirty="0">
                <a:solidFill>
                  <a:srgbClr val="006FC0"/>
                </a:solidFill>
                <a:latin typeface="Arial"/>
                <a:cs typeface="Arial"/>
              </a:rPr>
              <a:t>digital </a:t>
            </a:r>
            <a:r>
              <a:rPr sz="2800" spc="-215" dirty="0">
                <a:solidFill>
                  <a:srgbClr val="006FC0"/>
                </a:solidFill>
                <a:latin typeface="Arial"/>
                <a:cs typeface="Arial"/>
              </a:rPr>
              <a:t>encoder </a:t>
            </a:r>
            <a:r>
              <a:rPr sz="2800" spc="-245" dirty="0">
                <a:solidFill>
                  <a:srgbClr val="006FC0"/>
                </a:solidFill>
                <a:latin typeface="Arial"/>
                <a:cs typeface="Arial"/>
              </a:rPr>
              <a:t>generate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binary  </a:t>
            </a:r>
            <a:r>
              <a:rPr sz="2800" spc="-190" dirty="0">
                <a:solidFill>
                  <a:srgbClr val="006FC0"/>
                </a:solidFill>
                <a:latin typeface="Arial"/>
                <a:cs typeface="Arial"/>
              </a:rPr>
              <a:t>equivalent 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00" dirty="0">
                <a:solidFill>
                  <a:srgbClr val="006FC0"/>
                </a:solidFill>
                <a:latin typeface="Arial"/>
                <a:cs typeface="Arial"/>
              </a:rPr>
              <a:t>input </a:t>
            </a:r>
            <a:r>
              <a:rPr sz="2800" spc="-145" dirty="0">
                <a:solidFill>
                  <a:srgbClr val="006FC0"/>
                </a:solidFill>
                <a:latin typeface="Arial"/>
                <a:cs typeface="Arial"/>
              </a:rPr>
              <a:t>line </a:t>
            </a:r>
            <a:r>
              <a:rPr sz="2800" spc="-300" dirty="0">
                <a:solidFill>
                  <a:srgbClr val="006FC0"/>
                </a:solidFill>
                <a:latin typeface="Arial"/>
                <a:cs typeface="Arial"/>
              </a:rPr>
              <a:t>whose </a:t>
            </a:r>
            <a:r>
              <a:rPr sz="2800" spc="-235" dirty="0">
                <a:solidFill>
                  <a:srgbClr val="006FC0"/>
                </a:solidFill>
                <a:latin typeface="Arial"/>
                <a:cs typeface="Arial"/>
              </a:rPr>
              <a:t>value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800" spc="-235" dirty="0">
                <a:solidFill>
                  <a:srgbClr val="006FC0"/>
                </a:solidFill>
                <a:latin typeface="Arial"/>
                <a:cs typeface="Arial"/>
              </a:rPr>
              <a:t>equal </a:t>
            </a:r>
            <a:r>
              <a:rPr sz="2800" spc="-55" dirty="0">
                <a:solidFill>
                  <a:srgbClr val="006FC0"/>
                </a:solidFill>
                <a:latin typeface="Arial"/>
                <a:cs typeface="Arial"/>
              </a:rPr>
              <a:t>to</a:t>
            </a:r>
            <a:r>
              <a:rPr sz="2800" spc="-45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70" dirty="0">
                <a:solidFill>
                  <a:srgbClr val="006FC0"/>
                </a:solidFill>
                <a:latin typeface="Arial"/>
                <a:cs typeface="Arial"/>
              </a:rPr>
              <a:t>“1”.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sp>
          <p:nvSpPr>
            <p:cNvPr id="14" name="object 14"/>
            <p:cNvSpPr/>
            <p:nvPr/>
          </p:nvSpPr>
          <p:spPr>
            <a:xfrm>
              <a:off x="8593835" y="6620255"/>
              <a:ext cx="550164" cy="23774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630411" y="6556243"/>
              <a:ext cx="513588" cy="30175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8739" y="6635530"/>
            <a:ext cx="723900" cy="17462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1000" b="1" spc="45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1000" b="1" spc="50" dirty="0">
                <a:solidFill>
                  <a:srgbClr val="C00000"/>
                </a:solidFill>
                <a:latin typeface="Arial"/>
                <a:cs typeface="Arial"/>
              </a:rPr>
              <a:t>U</a:t>
            </a:r>
            <a:r>
              <a:rPr sz="1000" b="1" spc="-5" dirty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1000" b="1" spc="-60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1000" b="1" spc="-10" dirty="0">
                <a:solidFill>
                  <a:srgbClr val="C00000"/>
                </a:solidFill>
                <a:latin typeface="Arial"/>
                <a:cs typeface="Arial"/>
              </a:rPr>
              <a:t>-</a:t>
            </a:r>
            <a:r>
              <a:rPr sz="1000" b="1" spc="100" dirty="0">
                <a:solidFill>
                  <a:srgbClr val="C00000"/>
                </a:solidFill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205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793241" y="982217"/>
              <a:ext cx="7589519" cy="762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6764"/>
              <a:ext cx="9143999" cy="668274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53439" y="320001"/>
              <a:ext cx="7434072" cy="57611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316223" y="202679"/>
              <a:ext cx="2506979" cy="93422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</a:pPr>
            <a:r>
              <a:rPr spc="-155" dirty="0"/>
              <a:t>E</a:t>
            </a:r>
            <a:r>
              <a:rPr spc="-165" dirty="0"/>
              <a:t>N</a:t>
            </a:r>
            <a:r>
              <a:rPr spc="-35" dirty="0"/>
              <a:t>C</a:t>
            </a:r>
            <a:r>
              <a:rPr spc="-10" dirty="0"/>
              <a:t>ODERS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990600" y="1524000"/>
            <a:ext cx="8158480" cy="5334000"/>
            <a:chOff x="990600" y="1524000"/>
            <a:chExt cx="8158480" cy="5334000"/>
          </a:xfrm>
        </p:grpSpPr>
        <p:sp>
          <p:nvSpPr>
            <p:cNvPr id="13" name="object 13"/>
            <p:cNvSpPr/>
            <p:nvPr/>
          </p:nvSpPr>
          <p:spPr>
            <a:xfrm>
              <a:off x="8593835" y="6620254"/>
              <a:ext cx="550164" cy="23774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630411" y="6556242"/>
              <a:ext cx="513588" cy="30175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641080" y="6644640"/>
              <a:ext cx="502920" cy="18288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90600" y="1524000"/>
              <a:ext cx="7467600" cy="2590800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048000" y="4308348"/>
              <a:ext cx="3048000" cy="2092452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865245" y="1148841"/>
            <a:ext cx="145478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85" dirty="0">
                <a:solidFill>
                  <a:srgbClr val="C00000"/>
                </a:solidFill>
                <a:latin typeface="Arial"/>
                <a:cs typeface="Arial"/>
              </a:rPr>
              <a:t>4 </a:t>
            </a:r>
            <a:r>
              <a:rPr sz="2000" b="1" spc="-140" dirty="0">
                <a:solidFill>
                  <a:srgbClr val="C00000"/>
                </a:solidFill>
                <a:latin typeface="Arial"/>
                <a:cs typeface="Arial"/>
              </a:rPr>
              <a:t>to </a:t>
            </a:r>
            <a:r>
              <a:rPr sz="2000" b="1" spc="-285" dirty="0">
                <a:solidFill>
                  <a:srgbClr val="C00000"/>
                </a:solidFill>
                <a:latin typeface="Arial"/>
                <a:cs typeface="Arial"/>
              </a:rPr>
              <a:t>2</a:t>
            </a:r>
            <a:r>
              <a:rPr sz="2000" b="1" spc="-240" dirty="0">
                <a:solidFill>
                  <a:srgbClr val="C00000"/>
                </a:solidFill>
                <a:latin typeface="Arial"/>
                <a:cs typeface="Arial"/>
              </a:rPr>
              <a:t> Encoder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8739" y="6635530"/>
            <a:ext cx="723900" cy="17462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1000" b="1" spc="45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1000" b="1" spc="50" dirty="0">
                <a:solidFill>
                  <a:srgbClr val="C00000"/>
                </a:solidFill>
                <a:latin typeface="Arial"/>
                <a:cs typeface="Arial"/>
              </a:rPr>
              <a:t>U</a:t>
            </a:r>
            <a:r>
              <a:rPr sz="1000" b="1" spc="-5" dirty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1000" b="1" spc="-60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1000" b="1" spc="-10" dirty="0">
                <a:solidFill>
                  <a:srgbClr val="C00000"/>
                </a:solidFill>
                <a:latin typeface="Arial"/>
                <a:cs typeface="Arial"/>
              </a:rPr>
              <a:t>-</a:t>
            </a:r>
            <a:r>
              <a:rPr sz="1000" b="1" spc="100" dirty="0">
                <a:solidFill>
                  <a:srgbClr val="C00000"/>
                </a:solidFill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206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3316223" y="202679"/>
              <a:ext cx="2506979" cy="9342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590671" y="321386"/>
            <a:ext cx="196342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5" dirty="0"/>
              <a:t>E</a:t>
            </a:r>
            <a:r>
              <a:rPr spc="-165" dirty="0"/>
              <a:t>N</a:t>
            </a:r>
            <a:r>
              <a:rPr spc="-35" dirty="0"/>
              <a:t>C</a:t>
            </a:r>
            <a:r>
              <a:rPr spc="-10" dirty="0"/>
              <a:t>ODERS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sp>
          <p:nvSpPr>
            <p:cNvPr id="8" name="object 8"/>
            <p:cNvSpPr/>
            <p:nvPr/>
          </p:nvSpPr>
          <p:spPr>
            <a:xfrm>
              <a:off x="8593835" y="6620255"/>
              <a:ext cx="550164" cy="23774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630411" y="6556243"/>
              <a:ext cx="513588" cy="3017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32740" y="1148841"/>
            <a:ext cx="8479790" cy="49104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3200" algn="ctr">
              <a:lnSpc>
                <a:spcPct val="100000"/>
              </a:lnSpc>
              <a:spcBef>
                <a:spcPts val="105"/>
              </a:spcBef>
            </a:pPr>
            <a:r>
              <a:rPr sz="2000" b="1" spc="-170" dirty="0">
                <a:solidFill>
                  <a:srgbClr val="C00000"/>
                </a:solidFill>
                <a:latin typeface="Arial"/>
                <a:cs typeface="Arial"/>
              </a:rPr>
              <a:t>Priority</a:t>
            </a:r>
            <a:r>
              <a:rPr sz="2000" b="1" spc="-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240" dirty="0">
                <a:solidFill>
                  <a:srgbClr val="C00000"/>
                </a:solidFill>
                <a:latin typeface="Arial"/>
                <a:cs typeface="Arial"/>
              </a:rPr>
              <a:t>Encoder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100">
              <a:latin typeface="Arial"/>
              <a:cs typeface="Arial"/>
            </a:endParaRPr>
          </a:p>
          <a:p>
            <a:pPr marL="527685" marR="57150" indent="-464820" algn="just">
              <a:lnSpc>
                <a:spcPct val="100000"/>
              </a:lnSpc>
              <a:spcBef>
                <a:spcPts val="5"/>
              </a:spcBef>
              <a:buClr>
                <a:srgbClr val="E36C09"/>
              </a:buClr>
              <a:buFont typeface="Wingdings"/>
              <a:buChar char=""/>
              <a:tabLst>
                <a:tab pos="528320" algn="l"/>
              </a:tabLst>
            </a:pPr>
            <a:r>
              <a:rPr sz="2800" spc="-180" dirty="0">
                <a:solidFill>
                  <a:srgbClr val="006FC0"/>
                </a:solidFill>
                <a:latin typeface="Arial"/>
                <a:cs typeface="Arial"/>
              </a:rPr>
              <a:t>One 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215" dirty="0">
                <a:solidFill>
                  <a:srgbClr val="006FC0"/>
                </a:solidFill>
                <a:latin typeface="Arial"/>
                <a:cs typeface="Arial"/>
              </a:rPr>
              <a:t>main </a:t>
            </a:r>
            <a:r>
              <a:rPr sz="2800" spc="-280" dirty="0">
                <a:solidFill>
                  <a:srgbClr val="006FC0"/>
                </a:solidFill>
                <a:latin typeface="Arial"/>
                <a:cs typeface="Arial"/>
              </a:rPr>
              <a:t>disadvantages 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225" dirty="0">
                <a:solidFill>
                  <a:srgbClr val="006FC0"/>
                </a:solidFill>
                <a:latin typeface="Arial"/>
                <a:cs typeface="Arial"/>
              </a:rPr>
              <a:t>standard </a:t>
            </a:r>
            <a:r>
              <a:rPr sz="2800" spc="-130" dirty="0">
                <a:solidFill>
                  <a:srgbClr val="006FC0"/>
                </a:solidFill>
                <a:latin typeface="Arial"/>
                <a:cs typeface="Arial"/>
              </a:rPr>
              <a:t>digital  </a:t>
            </a:r>
            <a:r>
              <a:rPr sz="2800" spc="-245" dirty="0">
                <a:solidFill>
                  <a:srgbClr val="006FC0"/>
                </a:solidFill>
                <a:latin typeface="Arial"/>
                <a:cs typeface="Arial"/>
              </a:rPr>
              <a:t>encoders </a:t>
            </a:r>
            <a:r>
              <a:rPr sz="2800" spc="-270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800" spc="-125" dirty="0">
                <a:solidFill>
                  <a:srgbClr val="006FC0"/>
                </a:solidFill>
                <a:latin typeface="Arial"/>
                <a:cs typeface="Arial"/>
              </a:rPr>
              <a:t>that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they </a:t>
            </a:r>
            <a:r>
              <a:rPr sz="2800" spc="-285" dirty="0">
                <a:solidFill>
                  <a:srgbClr val="006FC0"/>
                </a:solidFill>
                <a:latin typeface="Arial"/>
                <a:cs typeface="Arial"/>
              </a:rPr>
              <a:t>can 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generate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95" dirty="0">
                <a:solidFill>
                  <a:srgbClr val="006FC0"/>
                </a:solidFill>
                <a:latin typeface="Arial"/>
                <a:cs typeface="Arial"/>
              </a:rPr>
              <a:t>wrong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output  </a:t>
            </a:r>
            <a:r>
              <a:rPr sz="2800" spc="-225" dirty="0">
                <a:solidFill>
                  <a:srgbClr val="006FC0"/>
                </a:solidFill>
                <a:latin typeface="Arial"/>
                <a:cs typeface="Arial"/>
              </a:rPr>
              <a:t>code </a:t>
            </a:r>
            <a:r>
              <a:rPr sz="2800" spc="-260" dirty="0">
                <a:solidFill>
                  <a:srgbClr val="006FC0"/>
                </a:solidFill>
                <a:latin typeface="Arial"/>
                <a:cs typeface="Arial"/>
              </a:rPr>
              <a:t>when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there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800" spc="-190" dirty="0">
                <a:solidFill>
                  <a:srgbClr val="006FC0"/>
                </a:solidFill>
                <a:latin typeface="Arial"/>
                <a:cs typeface="Arial"/>
              </a:rPr>
              <a:t>more </a:t>
            </a:r>
            <a:r>
              <a:rPr sz="2800" spc="-195" dirty="0">
                <a:solidFill>
                  <a:srgbClr val="006FC0"/>
                </a:solidFill>
                <a:latin typeface="Arial"/>
                <a:cs typeface="Arial"/>
              </a:rPr>
              <a:t>than </a:t>
            </a:r>
            <a:r>
              <a:rPr sz="2800" spc="-240" dirty="0">
                <a:solidFill>
                  <a:srgbClr val="006FC0"/>
                </a:solidFill>
                <a:latin typeface="Arial"/>
                <a:cs typeface="Arial"/>
              </a:rPr>
              <a:t>one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input </a:t>
            </a:r>
            <a:r>
              <a:rPr sz="2800" spc="-215" dirty="0">
                <a:solidFill>
                  <a:srgbClr val="006FC0"/>
                </a:solidFill>
                <a:latin typeface="Arial"/>
                <a:cs typeface="Arial"/>
              </a:rPr>
              <a:t>present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at </a:t>
            </a:r>
            <a:r>
              <a:rPr sz="2800" spc="-155" dirty="0">
                <a:solidFill>
                  <a:srgbClr val="006FC0"/>
                </a:solidFill>
                <a:latin typeface="Arial"/>
                <a:cs typeface="Arial"/>
              </a:rPr>
              <a:t>logic  </a:t>
            </a:r>
            <a:r>
              <a:rPr sz="2800" spc="-185" dirty="0">
                <a:solidFill>
                  <a:srgbClr val="006FC0"/>
                </a:solidFill>
                <a:latin typeface="Arial"/>
                <a:cs typeface="Arial"/>
              </a:rPr>
              <a:t>level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"1".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E36C09"/>
              </a:buClr>
              <a:buFont typeface="Wingdings"/>
              <a:buChar char=""/>
            </a:pPr>
            <a:endParaRPr sz="2900">
              <a:latin typeface="Arial"/>
              <a:cs typeface="Arial"/>
            </a:endParaRPr>
          </a:p>
          <a:p>
            <a:pPr marL="527685" marR="54610" indent="-464820" algn="just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528320" algn="l"/>
              </a:tabLst>
            </a:pPr>
            <a:r>
              <a:rPr sz="2800" spc="-185" dirty="0">
                <a:solidFill>
                  <a:srgbClr val="006FC0"/>
                </a:solidFill>
                <a:latin typeface="Arial"/>
                <a:cs typeface="Arial"/>
              </a:rPr>
              <a:t>For </a:t>
            </a:r>
            <a:r>
              <a:rPr sz="2800" spc="-235" dirty="0">
                <a:solidFill>
                  <a:srgbClr val="006FC0"/>
                </a:solidFill>
                <a:latin typeface="Arial"/>
                <a:cs typeface="Arial"/>
              </a:rPr>
              <a:t>example, 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if </a:t>
            </a:r>
            <a:r>
              <a:rPr sz="2800" spc="-300" dirty="0">
                <a:solidFill>
                  <a:srgbClr val="006FC0"/>
                </a:solidFill>
                <a:latin typeface="Arial"/>
                <a:cs typeface="Arial"/>
              </a:rPr>
              <a:t>we make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inputs 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D</a:t>
            </a:r>
            <a:r>
              <a:rPr sz="2775" spc="-375" baseline="-21021" dirty="0">
                <a:solidFill>
                  <a:srgbClr val="006FC0"/>
                </a:solidFill>
                <a:latin typeface="Arial"/>
                <a:cs typeface="Arial"/>
              </a:rPr>
              <a:t>1 </a:t>
            </a:r>
            <a:r>
              <a:rPr sz="2800" spc="-260" dirty="0">
                <a:solidFill>
                  <a:srgbClr val="006FC0"/>
                </a:solidFill>
                <a:latin typeface="Arial"/>
                <a:cs typeface="Arial"/>
              </a:rPr>
              <a:t>and D</a:t>
            </a:r>
            <a:r>
              <a:rPr sz="2775" spc="-390" baseline="-21021" dirty="0">
                <a:solidFill>
                  <a:srgbClr val="006FC0"/>
                </a:solidFill>
                <a:latin typeface="Arial"/>
                <a:cs typeface="Arial"/>
              </a:rPr>
              <a:t>2 </a:t>
            </a:r>
            <a:r>
              <a:rPr sz="2800" spc="-114" dirty="0">
                <a:solidFill>
                  <a:srgbClr val="006FC0"/>
                </a:solidFill>
                <a:latin typeface="Arial"/>
                <a:cs typeface="Arial"/>
              </a:rPr>
              <a:t>HIGH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at </a:t>
            </a:r>
            <a:r>
              <a:rPr sz="2800" spc="-155" dirty="0">
                <a:solidFill>
                  <a:srgbClr val="006FC0"/>
                </a:solidFill>
                <a:latin typeface="Arial"/>
                <a:cs typeface="Arial"/>
              </a:rPr>
              <a:t>logic 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"1" </a:t>
            </a:r>
            <a:r>
              <a:rPr sz="2800" spc="-130" dirty="0">
                <a:solidFill>
                  <a:srgbClr val="006FC0"/>
                </a:solidFill>
                <a:latin typeface="Arial"/>
                <a:cs typeface="Arial"/>
              </a:rPr>
              <a:t>both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at the </a:t>
            </a:r>
            <a:r>
              <a:rPr sz="2800" spc="-375" dirty="0">
                <a:solidFill>
                  <a:srgbClr val="006FC0"/>
                </a:solidFill>
                <a:latin typeface="Arial"/>
                <a:cs typeface="Arial"/>
              </a:rPr>
              <a:t>same </a:t>
            </a:r>
            <a:r>
              <a:rPr sz="2800" spc="-145" dirty="0">
                <a:solidFill>
                  <a:srgbClr val="006FC0"/>
                </a:solidFill>
                <a:latin typeface="Arial"/>
                <a:cs typeface="Arial"/>
              </a:rPr>
              <a:t>time,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80" dirty="0">
                <a:solidFill>
                  <a:srgbClr val="006FC0"/>
                </a:solidFill>
                <a:latin typeface="Arial"/>
                <a:cs typeface="Arial"/>
              </a:rPr>
              <a:t>resulting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output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800" spc="-160" dirty="0">
                <a:solidFill>
                  <a:srgbClr val="006FC0"/>
                </a:solidFill>
                <a:latin typeface="Arial"/>
                <a:cs typeface="Arial"/>
              </a:rPr>
              <a:t>neither 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at </a:t>
            </a: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"01" </a:t>
            </a:r>
            <a:r>
              <a:rPr sz="2800" spc="-80" dirty="0">
                <a:solidFill>
                  <a:srgbClr val="006FC0"/>
                </a:solidFill>
                <a:latin typeface="Arial"/>
                <a:cs typeface="Arial"/>
              </a:rPr>
              <a:t>or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at </a:t>
            </a: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"10" </a:t>
            </a:r>
            <a:r>
              <a:rPr sz="2800" spc="-120" dirty="0">
                <a:solidFill>
                  <a:srgbClr val="006FC0"/>
                </a:solidFill>
                <a:latin typeface="Arial"/>
                <a:cs typeface="Arial"/>
              </a:rPr>
              <a:t>but </a:t>
            </a:r>
            <a:r>
              <a:rPr sz="2800" spc="25" dirty="0">
                <a:solidFill>
                  <a:srgbClr val="006FC0"/>
                </a:solidFill>
                <a:latin typeface="Arial"/>
                <a:cs typeface="Arial"/>
              </a:rPr>
              <a:t>it 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will </a:t>
            </a:r>
            <a:r>
              <a:rPr sz="2800" spc="-280" dirty="0">
                <a:solidFill>
                  <a:srgbClr val="006FC0"/>
                </a:solidFill>
                <a:latin typeface="Arial"/>
                <a:cs typeface="Arial"/>
              </a:rPr>
              <a:t>be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at </a:t>
            </a: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"11" </a:t>
            </a:r>
            <a:r>
              <a:rPr sz="2800" spc="-190" dirty="0">
                <a:solidFill>
                  <a:srgbClr val="006FC0"/>
                </a:solidFill>
                <a:latin typeface="Arial"/>
                <a:cs typeface="Arial"/>
              </a:rPr>
              <a:t>which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800" spc="-310" dirty="0">
                <a:solidFill>
                  <a:srgbClr val="006FC0"/>
                </a:solidFill>
                <a:latin typeface="Arial"/>
                <a:cs typeface="Arial"/>
              </a:rPr>
              <a:t>an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output 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binary</a:t>
            </a:r>
            <a:r>
              <a:rPr sz="2800" spc="44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204" dirty="0">
                <a:solidFill>
                  <a:srgbClr val="006FC0"/>
                </a:solidFill>
                <a:latin typeface="Arial"/>
                <a:cs typeface="Arial"/>
              </a:rPr>
              <a:t>number </a:t>
            </a:r>
            <a:r>
              <a:rPr sz="2800" spc="-125" dirty="0">
                <a:solidFill>
                  <a:srgbClr val="006FC0"/>
                </a:solidFill>
                <a:latin typeface="Arial"/>
                <a:cs typeface="Arial"/>
              </a:rPr>
              <a:t>that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800" spc="-114" dirty="0">
                <a:solidFill>
                  <a:srgbClr val="006FC0"/>
                </a:solidFill>
                <a:latin typeface="Arial"/>
                <a:cs typeface="Arial"/>
              </a:rPr>
              <a:t>different  </a:t>
            </a:r>
            <a:r>
              <a:rPr sz="2800" spc="-50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200" dirty="0">
                <a:solidFill>
                  <a:srgbClr val="006FC0"/>
                </a:solidFill>
                <a:latin typeface="Arial"/>
                <a:cs typeface="Arial"/>
              </a:rPr>
              <a:t>actual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input  </a:t>
            </a:r>
            <a:r>
              <a:rPr sz="2800" spc="-210" dirty="0">
                <a:solidFill>
                  <a:srgbClr val="006FC0"/>
                </a:solidFill>
                <a:latin typeface="Arial"/>
                <a:cs typeface="Arial"/>
              </a:rPr>
              <a:t>present.</a:t>
            </a:r>
            <a:endParaRPr sz="2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8739" y="6635530"/>
            <a:ext cx="723900" cy="17462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1000" b="1" spc="45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1000" b="1" spc="50" dirty="0">
                <a:solidFill>
                  <a:srgbClr val="C00000"/>
                </a:solidFill>
                <a:latin typeface="Arial"/>
                <a:cs typeface="Arial"/>
              </a:rPr>
              <a:t>U</a:t>
            </a:r>
            <a:r>
              <a:rPr sz="1000" b="1" spc="-5" dirty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1000" b="1" spc="-60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1000" b="1" spc="-10" dirty="0">
                <a:solidFill>
                  <a:srgbClr val="C00000"/>
                </a:solidFill>
                <a:latin typeface="Arial"/>
                <a:cs typeface="Arial"/>
              </a:rPr>
              <a:t>-</a:t>
            </a:r>
            <a:r>
              <a:rPr sz="1000" b="1" spc="100" dirty="0">
                <a:solidFill>
                  <a:srgbClr val="C00000"/>
                </a:solidFill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207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3316223" y="202679"/>
              <a:ext cx="2506979" cy="9342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590671" y="321386"/>
            <a:ext cx="196342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5" dirty="0"/>
              <a:t>E</a:t>
            </a:r>
            <a:r>
              <a:rPr spc="-165" dirty="0"/>
              <a:t>N</a:t>
            </a:r>
            <a:r>
              <a:rPr spc="-35" dirty="0"/>
              <a:t>C</a:t>
            </a:r>
            <a:r>
              <a:rPr spc="-10" dirty="0"/>
              <a:t>ODERS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sp>
          <p:nvSpPr>
            <p:cNvPr id="8" name="object 8"/>
            <p:cNvSpPr/>
            <p:nvPr/>
          </p:nvSpPr>
          <p:spPr>
            <a:xfrm>
              <a:off x="8593835" y="6620255"/>
              <a:ext cx="550164" cy="23774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630411" y="6556243"/>
              <a:ext cx="513588" cy="3017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83540" y="979698"/>
            <a:ext cx="8378825" cy="4576445"/>
          </a:xfrm>
          <a:prstGeom prst="rect">
            <a:avLst/>
          </a:prstGeom>
        </p:spPr>
        <p:txBody>
          <a:bodyPr vert="horz" wrap="square" lIns="0" tIns="182245" rIns="0" bIns="0" rtlCol="0">
            <a:spAutoFit/>
          </a:bodyPr>
          <a:lstStyle/>
          <a:p>
            <a:pPr marR="197485" algn="ctr">
              <a:lnSpc>
                <a:spcPct val="100000"/>
              </a:lnSpc>
              <a:spcBef>
                <a:spcPts val="1435"/>
              </a:spcBef>
            </a:pPr>
            <a:r>
              <a:rPr sz="2000" b="1" spc="-170" dirty="0">
                <a:solidFill>
                  <a:srgbClr val="C00000"/>
                </a:solidFill>
                <a:latin typeface="Arial"/>
                <a:cs typeface="Arial"/>
              </a:rPr>
              <a:t>Priority</a:t>
            </a:r>
            <a:r>
              <a:rPr sz="2000" b="1" spc="-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240" dirty="0">
                <a:solidFill>
                  <a:srgbClr val="C00000"/>
                </a:solidFill>
                <a:latin typeface="Arial"/>
                <a:cs typeface="Arial"/>
              </a:rPr>
              <a:t>Encoder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600">
              <a:latin typeface="Arial"/>
              <a:cs typeface="Arial"/>
            </a:endParaRPr>
          </a:p>
          <a:p>
            <a:pPr marL="476884" marR="5080" indent="-464820" algn="just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-180" dirty="0">
                <a:solidFill>
                  <a:srgbClr val="006FC0"/>
                </a:solidFill>
                <a:latin typeface="Arial"/>
                <a:cs typeface="Arial"/>
              </a:rPr>
              <a:t>One </a:t>
            </a:r>
            <a:r>
              <a:rPr sz="2800" spc="-215" dirty="0">
                <a:solidFill>
                  <a:srgbClr val="006FC0"/>
                </a:solidFill>
                <a:latin typeface="Arial"/>
                <a:cs typeface="Arial"/>
              </a:rPr>
              <a:t>simple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way </a:t>
            </a:r>
            <a:r>
              <a:rPr sz="2800" spc="-50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800" spc="-215" dirty="0">
                <a:solidFill>
                  <a:srgbClr val="006FC0"/>
                </a:solidFill>
                <a:latin typeface="Arial"/>
                <a:cs typeface="Arial"/>
              </a:rPr>
              <a:t>overcome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this </a:t>
            </a:r>
            <a:r>
              <a:rPr sz="2800" spc="-160" dirty="0">
                <a:solidFill>
                  <a:srgbClr val="006FC0"/>
                </a:solidFill>
                <a:latin typeface="Arial"/>
                <a:cs typeface="Arial"/>
              </a:rPr>
              <a:t>problem </a:t>
            </a:r>
            <a:r>
              <a:rPr sz="2800" spc="-270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800" spc="-50" dirty="0">
                <a:solidFill>
                  <a:srgbClr val="006FC0"/>
                </a:solidFill>
                <a:latin typeface="Arial"/>
                <a:cs typeface="Arial"/>
              </a:rPr>
              <a:t>to  </a:t>
            </a:r>
            <a:r>
              <a:rPr sz="2800" spc="-145" dirty="0">
                <a:solidFill>
                  <a:srgbClr val="006FC0"/>
                </a:solidFill>
                <a:latin typeface="Arial"/>
                <a:cs typeface="Arial"/>
              </a:rPr>
              <a:t>"Priorities"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85" dirty="0">
                <a:solidFill>
                  <a:srgbClr val="006FC0"/>
                </a:solidFill>
                <a:latin typeface="Arial"/>
                <a:cs typeface="Arial"/>
              </a:rPr>
              <a:t>level 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300" dirty="0">
                <a:solidFill>
                  <a:srgbClr val="006FC0"/>
                </a:solidFill>
                <a:latin typeface="Arial"/>
                <a:cs typeface="Arial"/>
              </a:rPr>
              <a:t>each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input </a:t>
            </a:r>
            <a:r>
              <a:rPr sz="2800" spc="-130" dirty="0">
                <a:solidFill>
                  <a:srgbClr val="006FC0"/>
                </a:solidFill>
                <a:latin typeface="Arial"/>
                <a:cs typeface="Arial"/>
              </a:rPr>
              <a:t>pin </a:t>
            </a:r>
            <a:r>
              <a:rPr sz="2800" spc="-260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if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there </a:t>
            </a:r>
            <a:r>
              <a:rPr sz="2800" spc="-395" dirty="0">
                <a:solidFill>
                  <a:srgbClr val="006FC0"/>
                </a:solidFill>
                <a:latin typeface="Arial"/>
                <a:cs typeface="Arial"/>
              </a:rPr>
              <a:t>was  </a:t>
            </a:r>
            <a:r>
              <a:rPr sz="2800" spc="-185" dirty="0">
                <a:solidFill>
                  <a:srgbClr val="006FC0"/>
                </a:solidFill>
                <a:latin typeface="Arial"/>
                <a:cs typeface="Arial"/>
              </a:rPr>
              <a:t>more </a:t>
            </a:r>
            <a:r>
              <a:rPr sz="2800" spc="-195" dirty="0">
                <a:solidFill>
                  <a:srgbClr val="006FC0"/>
                </a:solidFill>
                <a:latin typeface="Arial"/>
                <a:cs typeface="Arial"/>
              </a:rPr>
              <a:t>than </a:t>
            </a:r>
            <a:r>
              <a:rPr sz="2800" spc="-240" dirty="0">
                <a:solidFill>
                  <a:srgbClr val="006FC0"/>
                </a:solidFill>
                <a:latin typeface="Arial"/>
                <a:cs typeface="Arial"/>
              </a:rPr>
              <a:t>one </a:t>
            </a:r>
            <a:r>
              <a:rPr sz="2800" spc="-110" dirty="0">
                <a:solidFill>
                  <a:srgbClr val="006FC0"/>
                </a:solidFill>
                <a:latin typeface="Arial"/>
                <a:cs typeface="Arial"/>
              </a:rPr>
              <a:t>input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at </a:t>
            </a:r>
            <a:r>
              <a:rPr sz="2800" spc="-155" dirty="0">
                <a:solidFill>
                  <a:srgbClr val="006FC0"/>
                </a:solidFill>
                <a:latin typeface="Arial"/>
                <a:cs typeface="Arial"/>
              </a:rPr>
              <a:t>logic </a:t>
            </a:r>
            <a:r>
              <a:rPr sz="2800" spc="-185" dirty="0">
                <a:solidFill>
                  <a:srgbClr val="006FC0"/>
                </a:solidFill>
                <a:latin typeface="Arial"/>
                <a:cs typeface="Arial"/>
              </a:rPr>
              <a:t>level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"1"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204" dirty="0">
                <a:solidFill>
                  <a:srgbClr val="006FC0"/>
                </a:solidFill>
                <a:latin typeface="Arial"/>
                <a:cs typeface="Arial"/>
              </a:rPr>
              <a:t>actual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output  </a:t>
            </a:r>
            <a:r>
              <a:rPr sz="2800" spc="-225" dirty="0">
                <a:solidFill>
                  <a:srgbClr val="006FC0"/>
                </a:solidFill>
                <a:latin typeface="Arial"/>
                <a:cs typeface="Arial"/>
              </a:rPr>
              <a:t>code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would </a:t>
            </a:r>
            <a:r>
              <a:rPr sz="2800" spc="-130" dirty="0">
                <a:solidFill>
                  <a:srgbClr val="006FC0"/>
                </a:solidFill>
                <a:latin typeface="Arial"/>
                <a:cs typeface="Arial"/>
              </a:rPr>
              <a:t>only </a:t>
            </a:r>
            <a:r>
              <a:rPr sz="2800" spc="-200" dirty="0">
                <a:solidFill>
                  <a:srgbClr val="006FC0"/>
                </a:solidFill>
                <a:latin typeface="Arial"/>
                <a:cs typeface="Arial"/>
              </a:rPr>
              <a:t>correspond </a:t>
            </a:r>
            <a:r>
              <a:rPr sz="2800" spc="-50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input with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highest  </a:t>
            </a:r>
            <a:r>
              <a:rPr sz="2800" spc="-245" dirty="0">
                <a:solidFill>
                  <a:srgbClr val="006FC0"/>
                </a:solidFill>
                <a:latin typeface="Arial"/>
                <a:cs typeface="Arial"/>
              </a:rPr>
              <a:t>designated</a:t>
            </a:r>
            <a:r>
              <a:rPr sz="2800" spc="-3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65" dirty="0">
                <a:solidFill>
                  <a:srgbClr val="006FC0"/>
                </a:solidFill>
                <a:latin typeface="Arial"/>
                <a:cs typeface="Arial"/>
              </a:rPr>
              <a:t>priority.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E36C09"/>
              </a:buClr>
              <a:buFont typeface="Wingdings"/>
              <a:buChar char=""/>
            </a:pP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E36C09"/>
              </a:buClr>
              <a:buFont typeface="Wingdings"/>
              <a:buChar char=""/>
            </a:pPr>
            <a:endParaRPr sz="3000">
              <a:latin typeface="Arial"/>
              <a:cs typeface="Arial"/>
            </a:endParaRPr>
          </a:p>
          <a:p>
            <a:pPr marL="476884" marR="6350" indent="-464820" algn="just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-225" dirty="0">
                <a:solidFill>
                  <a:srgbClr val="006FC0"/>
                </a:solidFill>
                <a:latin typeface="Arial"/>
                <a:cs typeface="Arial"/>
              </a:rPr>
              <a:t>Then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this </a:t>
            </a:r>
            <a:r>
              <a:rPr sz="2800" spc="-155" dirty="0">
                <a:solidFill>
                  <a:srgbClr val="006FC0"/>
                </a:solidFill>
                <a:latin typeface="Arial"/>
                <a:cs typeface="Arial"/>
              </a:rPr>
              <a:t>type 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130" dirty="0">
                <a:solidFill>
                  <a:srgbClr val="006FC0"/>
                </a:solidFill>
                <a:latin typeface="Arial"/>
                <a:cs typeface="Arial"/>
              </a:rPr>
              <a:t>digital </a:t>
            </a:r>
            <a:r>
              <a:rPr sz="2800" spc="-215" dirty="0">
                <a:solidFill>
                  <a:srgbClr val="006FC0"/>
                </a:solidFill>
                <a:latin typeface="Arial"/>
                <a:cs typeface="Arial"/>
              </a:rPr>
              <a:t>encoder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800" spc="-204" dirty="0">
                <a:solidFill>
                  <a:srgbClr val="006FC0"/>
                </a:solidFill>
                <a:latin typeface="Arial"/>
                <a:cs typeface="Arial"/>
              </a:rPr>
              <a:t>known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commonly </a:t>
            </a:r>
            <a:r>
              <a:rPr sz="2800" spc="-459" dirty="0">
                <a:solidFill>
                  <a:srgbClr val="006FC0"/>
                </a:solidFill>
                <a:latin typeface="Arial"/>
                <a:cs typeface="Arial"/>
              </a:rPr>
              <a:t>as  </a:t>
            </a:r>
            <a:r>
              <a:rPr sz="2800" spc="-395" dirty="0">
                <a:solidFill>
                  <a:srgbClr val="006FC0"/>
                </a:solidFill>
                <a:latin typeface="Arial"/>
                <a:cs typeface="Arial"/>
              </a:rPr>
              <a:t>a </a:t>
            </a:r>
            <a:r>
              <a:rPr sz="2800" b="1" spc="-240" dirty="0">
                <a:solidFill>
                  <a:srgbClr val="006FC0"/>
                </a:solidFill>
                <a:latin typeface="Arial"/>
                <a:cs typeface="Arial"/>
              </a:rPr>
              <a:t>Priority </a:t>
            </a:r>
            <a:r>
              <a:rPr sz="2800" b="1" spc="-335" dirty="0">
                <a:solidFill>
                  <a:srgbClr val="006FC0"/>
                </a:solidFill>
                <a:latin typeface="Arial"/>
                <a:cs typeface="Arial"/>
              </a:rPr>
              <a:t>Encoder </a:t>
            </a:r>
            <a:r>
              <a:rPr sz="2800" spc="-80" dirty="0">
                <a:solidFill>
                  <a:srgbClr val="006FC0"/>
                </a:solidFill>
                <a:latin typeface="Arial"/>
                <a:cs typeface="Arial"/>
              </a:rPr>
              <a:t>or </a:t>
            </a:r>
            <a:r>
              <a:rPr sz="2800" b="1" spc="-330" dirty="0">
                <a:solidFill>
                  <a:srgbClr val="006FC0"/>
                </a:solidFill>
                <a:latin typeface="Arial"/>
                <a:cs typeface="Arial"/>
              </a:rPr>
              <a:t>P-encoder </a:t>
            </a:r>
            <a:r>
              <a:rPr sz="2800" spc="-55" dirty="0">
                <a:solidFill>
                  <a:srgbClr val="006FC0"/>
                </a:solidFill>
                <a:latin typeface="Arial"/>
                <a:cs typeface="Arial"/>
              </a:rPr>
              <a:t>for</a:t>
            </a:r>
            <a:r>
              <a:rPr sz="2800" spc="-53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short.</a:t>
            </a:r>
            <a:endParaRPr sz="2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8739" y="6635530"/>
            <a:ext cx="723900" cy="17462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1000" b="1" spc="45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1000" b="1" spc="50" dirty="0">
                <a:solidFill>
                  <a:srgbClr val="C00000"/>
                </a:solidFill>
                <a:latin typeface="Arial"/>
                <a:cs typeface="Arial"/>
              </a:rPr>
              <a:t>U</a:t>
            </a:r>
            <a:r>
              <a:rPr sz="1000" b="1" spc="-5" dirty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1000" b="1" spc="-60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1000" b="1" spc="-10" dirty="0">
                <a:solidFill>
                  <a:srgbClr val="C00000"/>
                </a:solidFill>
                <a:latin typeface="Arial"/>
                <a:cs typeface="Arial"/>
              </a:rPr>
              <a:t>-</a:t>
            </a:r>
            <a:r>
              <a:rPr sz="1000" b="1" spc="100" dirty="0">
                <a:solidFill>
                  <a:srgbClr val="C00000"/>
                </a:solidFill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768842" y="6649770"/>
            <a:ext cx="296545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spc="-5" dirty="0">
                <a:solidFill>
                  <a:srgbClr val="FFFFFF"/>
                </a:solidFill>
                <a:latin typeface="Carlito"/>
                <a:cs typeface="Carlito"/>
              </a:rPr>
              <a:t>205</a:t>
            </a:r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3316223" y="202679"/>
              <a:ext cx="2506979" cy="9342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590671" y="321386"/>
            <a:ext cx="196342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5" dirty="0"/>
              <a:t>E</a:t>
            </a:r>
            <a:r>
              <a:rPr spc="-165" dirty="0"/>
              <a:t>N</a:t>
            </a:r>
            <a:r>
              <a:rPr spc="-35" dirty="0"/>
              <a:t>C</a:t>
            </a:r>
            <a:r>
              <a:rPr spc="-10" dirty="0"/>
              <a:t>ODERS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sp>
          <p:nvSpPr>
            <p:cNvPr id="8" name="object 8"/>
            <p:cNvSpPr/>
            <p:nvPr/>
          </p:nvSpPr>
          <p:spPr>
            <a:xfrm>
              <a:off x="8593835" y="6620255"/>
              <a:ext cx="550164" cy="23774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630411" y="6556243"/>
              <a:ext cx="513588" cy="3017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45440" y="1072641"/>
            <a:ext cx="8454390" cy="54381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197485" algn="ctr">
              <a:lnSpc>
                <a:spcPts val="2225"/>
              </a:lnSpc>
              <a:spcBef>
                <a:spcPts val="105"/>
              </a:spcBef>
            </a:pPr>
            <a:r>
              <a:rPr sz="2000" b="1" spc="-170" dirty="0">
                <a:solidFill>
                  <a:srgbClr val="C00000"/>
                </a:solidFill>
                <a:latin typeface="Arial"/>
                <a:cs typeface="Arial"/>
              </a:rPr>
              <a:t>Priority</a:t>
            </a:r>
            <a:r>
              <a:rPr sz="2000" b="1" spc="-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240" dirty="0">
                <a:solidFill>
                  <a:srgbClr val="C00000"/>
                </a:solidFill>
                <a:latin typeface="Arial"/>
                <a:cs typeface="Arial"/>
              </a:rPr>
              <a:t>Encoder</a:t>
            </a:r>
            <a:endParaRPr sz="2000">
              <a:latin typeface="Arial"/>
              <a:cs typeface="Arial"/>
            </a:endParaRPr>
          </a:p>
          <a:p>
            <a:pPr marL="515620" indent="-464820">
              <a:lnSpc>
                <a:spcPts val="2940"/>
              </a:lnSpc>
              <a:buClr>
                <a:srgbClr val="E36C09"/>
              </a:buClr>
              <a:buFont typeface="Wingdings"/>
              <a:buChar char=""/>
              <a:tabLst>
                <a:tab pos="514984" algn="l"/>
                <a:tab pos="515620" algn="l"/>
                <a:tab pos="917575" algn="l"/>
                <a:tab pos="2022475" algn="l"/>
                <a:tab pos="3213100" algn="l"/>
                <a:tab pos="3553460" algn="l"/>
                <a:tab pos="4015104" algn="l"/>
                <a:tab pos="5205730" algn="l"/>
                <a:tab pos="6158230" algn="l"/>
                <a:tab pos="6819900" algn="l"/>
                <a:tab pos="7999095" algn="l"/>
              </a:tabLst>
            </a:pPr>
            <a:r>
              <a:rPr sz="2600" spc="130" dirty="0">
                <a:solidFill>
                  <a:srgbClr val="006FC0"/>
                </a:solidFill>
                <a:latin typeface="Arial"/>
                <a:cs typeface="Arial"/>
              </a:rPr>
              <a:t>A	</a:t>
            </a:r>
            <a:r>
              <a:rPr sz="2600" spc="-55" dirty="0">
                <a:solidFill>
                  <a:srgbClr val="006FC0"/>
                </a:solidFill>
                <a:latin typeface="Arial"/>
                <a:cs typeface="Arial"/>
              </a:rPr>
              <a:t>priority	</a:t>
            </a:r>
            <a:r>
              <a:rPr sz="2600" spc="-195" dirty="0">
                <a:solidFill>
                  <a:srgbClr val="006FC0"/>
                </a:solidFill>
                <a:latin typeface="Arial"/>
                <a:cs typeface="Arial"/>
              </a:rPr>
              <a:t>encoder	</a:t>
            </a:r>
            <a:r>
              <a:rPr sz="2600" spc="-250" dirty="0">
                <a:solidFill>
                  <a:srgbClr val="006FC0"/>
                </a:solidFill>
                <a:latin typeface="Arial"/>
                <a:cs typeface="Arial"/>
              </a:rPr>
              <a:t>is	</a:t>
            </a:r>
            <a:r>
              <a:rPr sz="2600" spc="-280" dirty="0">
                <a:solidFill>
                  <a:srgbClr val="006FC0"/>
                </a:solidFill>
                <a:latin typeface="Arial"/>
                <a:cs typeface="Arial"/>
              </a:rPr>
              <a:t>an	</a:t>
            </a:r>
            <a:r>
              <a:rPr sz="2600" spc="-190" dirty="0">
                <a:solidFill>
                  <a:srgbClr val="006FC0"/>
                </a:solidFill>
                <a:latin typeface="Arial"/>
                <a:cs typeface="Arial"/>
              </a:rPr>
              <a:t>encoder	</a:t>
            </a:r>
            <a:r>
              <a:rPr sz="2600" spc="-85" dirty="0">
                <a:solidFill>
                  <a:srgbClr val="006FC0"/>
                </a:solidFill>
                <a:latin typeface="Arial"/>
                <a:cs typeface="Arial"/>
              </a:rPr>
              <a:t>circuit	</a:t>
            </a:r>
            <a:r>
              <a:rPr sz="2600" spc="-114" dirty="0">
                <a:solidFill>
                  <a:srgbClr val="006FC0"/>
                </a:solidFill>
                <a:latin typeface="Arial"/>
                <a:cs typeface="Arial"/>
              </a:rPr>
              <a:t>that	</a:t>
            </a:r>
            <a:r>
              <a:rPr sz="2600" spc="-195" dirty="0">
                <a:solidFill>
                  <a:srgbClr val="006FC0"/>
                </a:solidFill>
                <a:latin typeface="Arial"/>
                <a:cs typeface="Arial"/>
              </a:rPr>
              <a:t>includes	</a:t>
            </a:r>
            <a:r>
              <a:rPr sz="2600" spc="-155" dirty="0">
                <a:solidFill>
                  <a:srgbClr val="006FC0"/>
                </a:solidFill>
                <a:latin typeface="Arial"/>
                <a:cs typeface="Arial"/>
              </a:rPr>
              <a:t>the</a:t>
            </a:r>
            <a:endParaRPr sz="2600">
              <a:latin typeface="Arial"/>
              <a:cs typeface="Arial"/>
            </a:endParaRPr>
          </a:p>
          <a:p>
            <a:pPr marL="514984">
              <a:lnSpc>
                <a:spcPct val="100000"/>
              </a:lnSpc>
            </a:pPr>
            <a:r>
              <a:rPr sz="2600" spc="-50" dirty="0">
                <a:solidFill>
                  <a:srgbClr val="006FC0"/>
                </a:solidFill>
                <a:latin typeface="Arial"/>
                <a:cs typeface="Arial"/>
              </a:rPr>
              <a:t>priority</a:t>
            </a:r>
            <a:r>
              <a:rPr sz="2600" spc="-4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600" spc="-120" dirty="0">
                <a:solidFill>
                  <a:srgbClr val="006FC0"/>
                </a:solidFill>
                <a:latin typeface="Arial"/>
                <a:cs typeface="Arial"/>
              </a:rPr>
              <a:t>function.</a:t>
            </a:r>
            <a:endParaRPr sz="2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700">
              <a:latin typeface="Arial"/>
              <a:cs typeface="Arial"/>
            </a:endParaRPr>
          </a:p>
          <a:p>
            <a:pPr marL="514984" marR="43815" indent="-464820" algn="just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515620" algn="l"/>
              </a:tabLst>
            </a:pPr>
            <a:r>
              <a:rPr sz="2600" spc="-90" dirty="0">
                <a:solidFill>
                  <a:srgbClr val="006FC0"/>
                </a:solidFill>
                <a:latin typeface="Arial"/>
                <a:cs typeface="Arial"/>
              </a:rPr>
              <a:t>In </a:t>
            </a:r>
            <a:r>
              <a:rPr sz="2600" spc="-50" dirty="0">
                <a:solidFill>
                  <a:srgbClr val="006FC0"/>
                </a:solidFill>
                <a:latin typeface="Arial"/>
                <a:cs typeface="Arial"/>
              </a:rPr>
              <a:t>priority </a:t>
            </a:r>
            <a:r>
              <a:rPr sz="2600" spc="-190" dirty="0">
                <a:solidFill>
                  <a:srgbClr val="006FC0"/>
                </a:solidFill>
                <a:latin typeface="Arial"/>
                <a:cs typeface="Arial"/>
              </a:rPr>
              <a:t>encoder, </a:t>
            </a:r>
            <a:r>
              <a:rPr sz="2600" spc="-5" dirty="0">
                <a:solidFill>
                  <a:srgbClr val="006FC0"/>
                </a:solidFill>
                <a:latin typeface="Arial"/>
                <a:cs typeface="Arial"/>
              </a:rPr>
              <a:t>if </a:t>
            </a:r>
            <a:r>
              <a:rPr sz="2600" spc="-110" dirty="0">
                <a:solidFill>
                  <a:srgbClr val="006FC0"/>
                </a:solidFill>
                <a:latin typeface="Arial"/>
                <a:cs typeface="Arial"/>
              </a:rPr>
              <a:t>two </a:t>
            </a:r>
            <a:r>
              <a:rPr sz="2600" spc="-70" dirty="0">
                <a:solidFill>
                  <a:srgbClr val="006FC0"/>
                </a:solidFill>
                <a:latin typeface="Arial"/>
                <a:cs typeface="Arial"/>
              </a:rPr>
              <a:t>or </a:t>
            </a:r>
            <a:r>
              <a:rPr sz="2600" spc="-175" dirty="0">
                <a:solidFill>
                  <a:srgbClr val="006FC0"/>
                </a:solidFill>
                <a:latin typeface="Arial"/>
                <a:cs typeface="Arial"/>
              </a:rPr>
              <a:t>more </a:t>
            </a:r>
            <a:r>
              <a:rPr sz="2600" spc="-160" dirty="0">
                <a:solidFill>
                  <a:srgbClr val="006FC0"/>
                </a:solidFill>
                <a:latin typeface="Arial"/>
                <a:cs typeface="Arial"/>
              </a:rPr>
              <a:t>inputs </a:t>
            </a:r>
            <a:r>
              <a:rPr sz="2600" spc="-229" dirty="0">
                <a:solidFill>
                  <a:srgbClr val="006FC0"/>
                </a:solidFill>
                <a:latin typeface="Arial"/>
                <a:cs typeface="Arial"/>
              </a:rPr>
              <a:t>are </a:t>
            </a:r>
            <a:r>
              <a:rPr sz="2600" spc="-215" dirty="0">
                <a:solidFill>
                  <a:srgbClr val="006FC0"/>
                </a:solidFill>
                <a:latin typeface="Arial"/>
                <a:cs typeface="Arial"/>
              </a:rPr>
              <a:t>equal </a:t>
            </a:r>
            <a:r>
              <a:rPr sz="2600" spc="-45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600" spc="-370" dirty="0">
                <a:solidFill>
                  <a:srgbClr val="006FC0"/>
                </a:solidFill>
                <a:latin typeface="Arial"/>
                <a:cs typeface="Arial"/>
              </a:rPr>
              <a:t>1  </a:t>
            </a:r>
            <a:r>
              <a:rPr sz="2600" spc="-150" dirty="0">
                <a:solidFill>
                  <a:srgbClr val="006FC0"/>
                </a:solidFill>
                <a:latin typeface="Arial"/>
                <a:cs typeface="Arial"/>
              </a:rPr>
              <a:t>at  </a:t>
            </a:r>
            <a:r>
              <a:rPr sz="2600" spc="-15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600" spc="-345" dirty="0">
                <a:solidFill>
                  <a:srgbClr val="006FC0"/>
                </a:solidFill>
                <a:latin typeface="Arial"/>
                <a:cs typeface="Arial"/>
              </a:rPr>
              <a:t>same </a:t>
            </a:r>
            <a:r>
              <a:rPr sz="2600" spc="-135" dirty="0">
                <a:solidFill>
                  <a:srgbClr val="006FC0"/>
                </a:solidFill>
                <a:latin typeface="Arial"/>
                <a:cs typeface="Arial"/>
              </a:rPr>
              <a:t>time, </a:t>
            </a:r>
            <a:r>
              <a:rPr sz="2600" spc="-15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600" spc="-100" dirty="0">
                <a:solidFill>
                  <a:srgbClr val="006FC0"/>
                </a:solidFill>
                <a:latin typeface="Arial"/>
                <a:cs typeface="Arial"/>
              </a:rPr>
              <a:t>input </a:t>
            </a:r>
            <a:r>
              <a:rPr sz="2600" spc="-215" dirty="0">
                <a:solidFill>
                  <a:srgbClr val="006FC0"/>
                </a:solidFill>
                <a:latin typeface="Arial"/>
                <a:cs typeface="Arial"/>
              </a:rPr>
              <a:t>having </a:t>
            </a:r>
            <a:r>
              <a:rPr sz="2600" spc="-15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600" spc="-210" dirty="0">
                <a:solidFill>
                  <a:srgbClr val="006FC0"/>
                </a:solidFill>
                <a:latin typeface="Arial"/>
                <a:cs typeface="Arial"/>
              </a:rPr>
              <a:t>highest </a:t>
            </a:r>
            <a:r>
              <a:rPr sz="2600" spc="-50" dirty="0">
                <a:solidFill>
                  <a:srgbClr val="006FC0"/>
                </a:solidFill>
                <a:latin typeface="Arial"/>
                <a:cs typeface="Arial"/>
              </a:rPr>
              <a:t>priority </a:t>
            </a:r>
            <a:r>
              <a:rPr sz="2600" spc="-75" dirty="0">
                <a:solidFill>
                  <a:srgbClr val="006FC0"/>
                </a:solidFill>
                <a:latin typeface="Arial"/>
                <a:cs typeface="Arial"/>
              </a:rPr>
              <a:t>will </a:t>
            </a:r>
            <a:r>
              <a:rPr sz="2600" spc="-204" dirty="0">
                <a:solidFill>
                  <a:srgbClr val="006FC0"/>
                </a:solidFill>
                <a:latin typeface="Arial"/>
                <a:cs typeface="Arial"/>
              </a:rPr>
              <a:t>take  </a:t>
            </a:r>
            <a:r>
              <a:rPr sz="2600" spc="-215" dirty="0">
                <a:solidFill>
                  <a:srgbClr val="006FC0"/>
                </a:solidFill>
                <a:latin typeface="Arial"/>
                <a:cs typeface="Arial"/>
              </a:rPr>
              <a:t>precedence. </a:t>
            </a:r>
            <a:r>
              <a:rPr sz="2600" spc="-21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600" spc="-175" dirty="0">
                <a:solidFill>
                  <a:srgbClr val="006FC0"/>
                </a:solidFill>
                <a:latin typeface="Arial"/>
                <a:cs typeface="Arial"/>
              </a:rPr>
              <a:t>higher </a:t>
            </a:r>
            <a:r>
              <a:rPr sz="2600" spc="-15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600" spc="-185" dirty="0">
                <a:solidFill>
                  <a:srgbClr val="006FC0"/>
                </a:solidFill>
                <a:latin typeface="Arial"/>
                <a:cs typeface="Arial"/>
              </a:rPr>
              <a:t>subscript number, </a:t>
            </a:r>
            <a:r>
              <a:rPr sz="2600" spc="-175" dirty="0">
                <a:solidFill>
                  <a:srgbClr val="006FC0"/>
                </a:solidFill>
                <a:latin typeface="Arial"/>
                <a:cs typeface="Arial"/>
              </a:rPr>
              <a:t>higher </a:t>
            </a:r>
            <a:r>
              <a:rPr sz="2600" spc="-155" dirty="0">
                <a:solidFill>
                  <a:srgbClr val="006FC0"/>
                </a:solidFill>
                <a:latin typeface="Arial"/>
                <a:cs typeface="Arial"/>
              </a:rPr>
              <a:t>the  </a:t>
            </a:r>
            <a:r>
              <a:rPr sz="2600" spc="-50" dirty="0">
                <a:solidFill>
                  <a:srgbClr val="006FC0"/>
                </a:solidFill>
                <a:latin typeface="Arial"/>
                <a:cs typeface="Arial"/>
              </a:rPr>
              <a:t>priority </a:t>
            </a:r>
            <a:r>
              <a:rPr sz="2600" spc="-6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600" spc="-155" dirty="0">
                <a:solidFill>
                  <a:srgbClr val="006FC0"/>
                </a:solidFill>
                <a:latin typeface="Arial"/>
                <a:cs typeface="Arial"/>
              </a:rPr>
              <a:t>the</a:t>
            </a:r>
            <a:r>
              <a:rPr sz="2600" spc="7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600" spc="-105" dirty="0">
                <a:solidFill>
                  <a:srgbClr val="006FC0"/>
                </a:solidFill>
                <a:latin typeface="Arial"/>
                <a:cs typeface="Arial"/>
              </a:rPr>
              <a:t>input.</a:t>
            </a:r>
            <a:endParaRPr sz="2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E36C09"/>
              </a:buClr>
              <a:buFont typeface="Wingdings"/>
              <a:buChar char=""/>
            </a:pPr>
            <a:endParaRPr sz="2700">
              <a:latin typeface="Arial"/>
              <a:cs typeface="Arial"/>
            </a:endParaRPr>
          </a:p>
          <a:p>
            <a:pPr marL="514984" marR="43180" indent="-464820" algn="just">
              <a:lnSpc>
                <a:spcPct val="100000"/>
              </a:lnSpc>
              <a:spcBef>
                <a:spcPts val="5"/>
              </a:spcBef>
              <a:buClr>
                <a:srgbClr val="E36C09"/>
              </a:buClr>
              <a:buFont typeface="Wingdings"/>
              <a:buChar char=""/>
              <a:tabLst>
                <a:tab pos="515620" algn="l"/>
              </a:tabLst>
            </a:pPr>
            <a:r>
              <a:rPr sz="2600" spc="-95" dirty="0">
                <a:solidFill>
                  <a:srgbClr val="006FC0"/>
                </a:solidFill>
                <a:latin typeface="Arial"/>
                <a:cs typeface="Arial"/>
              </a:rPr>
              <a:t>Input </a:t>
            </a:r>
            <a:r>
              <a:rPr sz="2600" spc="-204" dirty="0">
                <a:solidFill>
                  <a:srgbClr val="006FC0"/>
                </a:solidFill>
                <a:latin typeface="Arial"/>
                <a:cs typeface="Arial"/>
              </a:rPr>
              <a:t>D</a:t>
            </a:r>
            <a:r>
              <a:rPr sz="2550" spc="-307" baseline="-21241" dirty="0">
                <a:solidFill>
                  <a:srgbClr val="006FC0"/>
                </a:solidFill>
                <a:latin typeface="Arial"/>
                <a:cs typeface="Arial"/>
              </a:rPr>
              <a:t>3</a:t>
            </a:r>
            <a:r>
              <a:rPr sz="2600" spc="-204" dirty="0">
                <a:solidFill>
                  <a:srgbClr val="006FC0"/>
                </a:solidFill>
                <a:latin typeface="Arial"/>
                <a:cs typeface="Arial"/>
              </a:rPr>
              <a:t>, </a:t>
            </a:r>
            <a:r>
              <a:rPr sz="2600" spc="-340" dirty="0">
                <a:solidFill>
                  <a:srgbClr val="006FC0"/>
                </a:solidFill>
                <a:latin typeface="Arial"/>
                <a:cs typeface="Arial"/>
              </a:rPr>
              <a:t>has </a:t>
            </a:r>
            <a:r>
              <a:rPr sz="2600" spc="-15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600" spc="-210" dirty="0">
                <a:solidFill>
                  <a:srgbClr val="006FC0"/>
                </a:solidFill>
                <a:latin typeface="Arial"/>
                <a:cs typeface="Arial"/>
              </a:rPr>
              <a:t>highest </a:t>
            </a:r>
            <a:r>
              <a:rPr sz="2600" spc="-65" dirty="0">
                <a:solidFill>
                  <a:srgbClr val="006FC0"/>
                </a:solidFill>
                <a:latin typeface="Arial"/>
                <a:cs typeface="Arial"/>
              </a:rPr>
              <a:t>priority. </a:t>
            </a:r>
            <a:r>
              <a:rPr sz="2600" spc="-270" dirty="0">
                <a:solidFill>
                  <a:srgbClr val="006FC0"/>
                </a:solidFill>
                <a:latin typeface="Arial"/>
                <a:cs typeface="Arial"/>
              </a:rPr>
              <a:t>So, </a:t>
            </a:r>
            <a:r>
              <a:rPr sz="2600" spc="-250" dirty="0">
                <a:solidFill>
                  <a:srgbClr val="006FC0"/>
                </a:solidFill>
                <a:latin typeface="Arial"/>
                <a:cs typeface="Arial"/>
              </a:rPr>
              <a:t>regardless </a:t>
            </a:r>
            <a:r>
              <a:rPr sz="2600" spc="-6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600" spc="-15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600" spc="-260" dirty="0">
                <a:solidFill>
                  <a:srgbClr val="006FC0"/>
                </a:solidFill>
                <a:latin typeface="Arial"/>
                <a:cs typeface="Arial"/>
              </a:rPr>
              <a:t>values  </a:t>
            </a:r>
            <a:r>
              <a:rPr sz="2600" spc="-6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600" spc="-15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600" spc="-120" dirty="0">
                <a:solidFill>
                  <a:srgbClr val="006FC0"/>
                </a:solidFill>
                <a:latin typeface="Arial"/>
                <a:cs typeface="Arial"/>
              </a:rPr>
              <a:t>other </a:t>
            </a:r>
            <a:r>
              <a:rPr sz="2600" spc="-160" dirty="0">
                <a:solidFill>
                  <a:srgbClr val="006FC0"/>
                </a:solidFill>
                <a:latin typeface="Arial"/>
                <a:cs typeface="Arial"/>
              </a:rPr>
              <a:t>inputs, </a:t>
            </a:r>
            <a:r>
              <a:rPr sz="2600" spc="-240" dirty="0">
                <a:solidFill>
                  <a:srgbClr val="006FC0"/>
                </a:solidFill>
                <a:latin typeface="Arial"/>
                <a:cs typeface="Arial"/>
              </a:rPr>
              <a:t>when </a:t>
            </a:r>
            <a:r>
              <a:rPr sz="2600" spc="-235" dirty="0">
                <a:solidFill>
                  <a:srgbClr val="006FC0"/>
                </a:solidFill>
                <a:latin typeface="Arial"/>
                <a:cs typeface="Arial"/>
              </a:rPr>
              <a:t>D</a:t>
            </a:r>
            <a:r>
              <a:rPr sz="2550" spc="-352" baseline="-21241" dirty="0">
                <a:solidFill>
                  <a:srgbClr val="006FC0"/>
                </a:solidFill>
                <a:latin typeface="Arial"/>
                <a:cs typeface="Arial"/>
              </a:rPr>
              <a:t>3 </a:t>
            </a:r>
            <a:r>
              <a:rPr sz="2600" spc="-250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600" spc="-254" dirty="0">
                <a:solidFill>
                  <a:srgbClr val="006FC0"/>
                </a:solidFill>
                <a:latin typeface="Arial"/>
                <a:cs typeface="Arial"/>
              </a:rPr>
              <a:t>1, </a:t>
            </a:r>
            <a:r>
              <a:rPr sz="2600" spc="-15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600" spc="-95" dirty="0">
                <a:solidFill>
                  <a:srgbClr val="006FC0"/>
                </a:solidFill>
                <a:latin typeface="Arial"/>
                <a:cs typeface="Arial"/>
              </a:rPr>
              <a:t>output </a:t>
            </a:r>
            <a:r>
              <a:rPr sz="2600" spc="-45" dirty="0">
                <a:solidFill>
                  <a:srgbClr val="006FC0"/>
                </a:solidFill>
                <a:latin typeface="Arial"/>
                <a:cs typeface="Arial"/>
              </a:rPr>
              <a:t>for </a:t>
            </a:r>
            <a:r>
              <a:rPr sz="2600" spc="-155" dirty="0">
                <a:solidFill>
                  <a:srgbClr val="006FC0"/>
                </a:solidFill>
                <a:latin typeface="Arial"/>
                <a:cs typeface="Arial"/>
              </a:rPr>
              <a:t>xy </a:t>
            </a:r>
            <a:r>
              <a:rPr sz="2600" spc="-254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600" spc="-300" dirty="0">
                <a:solidFill>
                  <a:srgbClr val="006FC0"/>
                </a:solidFill>
                <a:latin typeface="Arial"/>
                <a:cs typeface="Arial"/>
              </a:rPr>
              <a:t>11. </a:t>
            </a:r>
            <a:r>
              <a:rPr sz="2600" spc="-225" dirty="0">
                <a:solidFill>
                  <a:srgbClr val="006FC0"/>
                </a:solidFill>
                <a:latin typeface="Arial"/>
                <a:cs typeface="Arial"/>
              </a:rPr>
              <a:t>D</a:t>
            </a:r>
            <a:r>
              <a:rPr sz="2550" spc="-337" baseline="-21241" dirty="0">
                <a:solidFill>
                  <a:srgbClr val="006FC0"/>
                </a:solidFill>
                <a:latin typeface="Arial"/>
                <a:cs typeface="Arial"/>
              </a:rPr>
              <a:t>2 </a:t>
            </a:r>
            <a:r>
              <a:rPr sz="1700" spc="-22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600" spc="-345" dirty="0">
                <a:solidFill>
                  <a:srgbClr val="006FC0"/>
                </a:solidFill>
                <a:latin typeface="Arial"/>
                <a:cs typeface="Arial"/>
              </a:rPr>
              <a:t>has </a:t>
            </a:r>
            <a:r>
              <a:rPr sz="2600" spc="-15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600" spc="-160" dirty="0">
                <a:solidFill>
                  <a:srgbClr val="006FC0"/>
                </a:solidFill>
                <a:latin typeface="Arial"/>
                <a:cs typeface="Arial"/>
              </a:rPr>
              <a:t>next </a:t>
            </a:r>
            <a:r>
              <a:rPr sz="2600" spc="-50" dirty="0">
                <a:solidFill>
                  <a:srgbClr val="006FC0"/>
                </a:solidFill>
                <a:latin typeface="Arial"/>
                <a:cs typeface="Arial"/>
              </a:rPr>
              <a:t>priority </a:t>
            </a:r>
            <a:r>
              <a:rPr sz="2600" spc="-170" dirty="0">
                <a:solidFill>
                  <a:srgbClr val="006FC0"/>
                </a:solidFill>
                <a:latin typeface="Arial"/>
                <a:cs typeface="Arial"/>
              </a:rPr>
              <a:t>level. </a:t>
            </a:r>
            <a:r>
              <a:rPr sz="2600" spc="-21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600" spc="-95" dirty="0">
                <a:solidFill>
                  <a:srgbClr val="006FC0"/>
                </a:solidFill>
                <a:latin typeface="Arial"/>
                <a:cs typeface="Arial"/>
              </a:rPr>
              <a:t>output </a:t>
            </a:r>
            <a:r>
              <a:rPr sz="2600" spc="-250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600" spc="-300" dirty="0">
                <a:solidFill>
                  <a:srgbClr val="006FC0"/>
                </a:solidFill>
                <a:latin typeface="Arial"/>
                <a:cs typeface="Arial"/>
              </a:rPr>
              <a:t>10, </a:t>
            </a:r>
            <a:r>
              <a:rPr sz="2600" spc="-5" dirty="0">
                <a:solidFill>
                  <a:srgbClr val="006FC0"/>
                </a:solidFill>
                <a:latin typeface="Arial"/>
                <a:cs typeface="Arial"/>
              </a:rPr>
              <a:t>if </a:t>
            </a:r>
            <a:r>
              <a:rPr sz="2600" spc="-135" dirty="0">
                <a:solidFill>
                  <a:srgbClr val="006FC0"/>
                </a:solidFill>
                <a:latin typeface="Arial"/>
                <a:cs typeface="Arial"/>
              </a:rPr>
              <a:t>D</a:t>
            </a:r>
            <a:r>
              <a:rPr sz="2550" spc="-202" baseline="-21241" dirty="0">
                <a:solidFill>
                  <a:srgbClr val="006FC0"/>
                </a:solidFill>
                <a:latin typeface="Arial"/>
                <a:cs typeface="Arial"/>
              </a:rPr>
              <a:t>2</a:t>
            </a:r>
            <a:r>
              <a:rPr sz="2600" spc="-135" dirty="0">
                <a:solidFill>
                  <a:srgbClr val="006FC0"/>
                </a:solidFill>
                <a:latin typeface="Arial"/>
                <a:cs typeface="Arial"/>
              </a:rPr>
              <a:t>= </a:t>
            </a:r>
            <a:r>
              <a:rPr sz="2600" spc="-370" dirty="0">
                <a:solidFill>
                  <a:srgbClr val="006FC0"/>
                </a:solidFill>
                <a:latin typeface="Arial"/>
                <a:cs typeface="Arial"/>
              </a:rPr>
              <a:t>1 </a:t>
            </a:r>
            <a:r>
              <a:rPr sz="2600" spc="-140" dirty="0">
                <a:solidFill>
                  <a:srgbClr val="006FC0"/>
                </a:solidFill>
                <a:latin typeface="Arial"/>
                <a:cs typeface="Arial"/>
              </a:rPr>
              <a:t>provided  </a:t>
            </a:r>
            <a:r>
              <a:rPr sz="2600" spc="-135" dirty="0">
                <a:solidFill>
                  <a:srgbClr val="006FC0"/>
                </a:solidFill>
                <a:latin typeface="Arial"/>
                <a:cs typeface="Arial"/>
              </a:rPr>
              <a:t>D</a:t>
            </a:r>
            <a:r>
              <a:rPr sz="2550" spc="-202" baseline="-21241" dirty="0">
                <a:solidFill>
                  <a:srgbClr val="006FC0"/>
                </a:solidFill>
                <a:latin typeface="Arial"/>
                <a:cs typeface="Arial"/>
              </a:rPr>
              <a:t>3</a:t>
            </a:r>
            <a:r>
              <a:rPr sz="2600" spc="-135" dirty="0">
                <a:solidFill>
                  <a:srgbClr val="006FC0"/>
                </a:solidFill>
                <a:latin typeface="Arial"/>
                <a:cs typeface="Arial"/>
              </a:rPr>
              <a:t>= </a:t>
            </a:r>
            <a:r>
              <a:rPr sz="2600" spc="-260" dirty="0">
                <a:solidFill>
                  <a:srgbClr val="006FC0"/>
                </a:solidFill>
                <a:latin typeface="Arial"/>
                <a:cs typeface="Arial"/>
              </a:rPr>
              <a:t>0. </a:t>
            </a:r>
            <a:r>
              <a:rPr sz="2600" spc="-21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600" spc="-95" dirty="0">
                <a:solidFill>
                  <a:srgbClr val="006FC0"/>
                </a:solidFill>
                <a:latin typeface="Arial"/>
                <a:cs typeface="Arial"/>
              </a:rPr>
              <a:t>output </a:t>
            </a:r>
            <a:r>
              <a:rPr sz="2600" spc="-50" dirty="0">
                <a:solidFill>
                  <a:srgbClr val="006FC0"/>
                </a:solidFill>
                <a:latin typeface="Arial"/>
                <a:cs typeface="Arial"/>
              </a:rPr>
              <a:t>for </a:t>
            </a:r>
            <a:r>
              <a:rPr sz="2600" spc="-235" dirty="0">
                <a:solidFill>
                  <a:srgbClr val="006FC0"/>
                </a:solidFill>
                <a:latin typeface="Arial"/>
                <a:cs typeface="Arial"/>
              </a:rPr>
              <a:t>D</a:t>
            </a:r>
            <a:r>
              <a:rPr sz="2550" spc="-352" baseline="-21241" dirty="0">
                <a:solidFill>
                  <a:srgbClr val="006FC0"/>
                </a:solidFill>
                <a:latin typeface="Arial"/>
                <a:cs typeface="Arial"/>
              </a:rPr>
              <a:t>1 </a:t>
            </a:r>
            <a:r>
              <a:rPr sz="2600" spc="-250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600" spc="-220" dirty="0">
                <a:solidFill>
                  <a:srgbClr val="006FC0"/>
                </a:solidFill>
                <a:latin typeface="Arial"/>
                <a:cs typeface="Arial"/>
              </a:rPr>
              <a:t>generated </a:t>
            </a:r>
            <a:r>
              <a:rPr sz="2600" spc="-120" dirty="0">
                <a:solidFill>
                  <a:srgbClr val="006FC0"/>
                </a:solidFill>
                <a:latin typeface="Arial"/>
                <a:cs typeface="Arial"/>
              </a:rPr>
              <a:t>only </a:t>
            </a:r>
            <a:r>
              <a:rPr sz="2600" spc="-5" dirty="0">
                <a:solidFill>
                  <a:srgbClr val="006FC0"/>
                </a:solidFill>
                <a:latin typeface="Arial"/>
                <a:cs typeface="Arial"/>
              </a:rPr>
              <a:t>if </a:t>
            </a:r>
            <a:r>
              <a:rPr sz="2600" spc="-175" dirty="0">
                <a:solidFill>
                  <a:srgbClr val="006FC0"/>
                </a:solidFill>
                <a:latin typeface="Arial"/>
                <a:cs typeface="Arial"/>
              </a:rPr>
              <a:t>higher </a:t>
            </a:r>
            <a:r>
              <a:rPr sz="2600" spc="-50" dirty="0">
                <a:solidFill>
                  <a:srgbClr val="006FC0"/>
                </a:solidFill>
                <a:latin typeface="Arial"/>
                <a:cs typeface="Arial"/>
              </a:rPr>
              <a:t>priority  </a:t>
            </a:r>
            <a:r>
              <a:rPr sz="2600" spc="-160" dirty="0">
                <a:solidFill>
                  <a:srgbClr val="006FC0"/>
                </a:solidFill>
                <a:latin typeface="Arial"/>
                <a:cs typeface="Arial"/>
              </a:rPr>
              <a:t>inputs </a:t>
            </a:r>
            <a:r>
              <a:rPr sz="2600" spc="-229" dirty="0">
                <a:solidFill>
                  <a:srgbClr val="006FC0"/>
                </a:solidFill>
                <a:latin typeface="Arial"/>
                <a:cs typeface="Arial"/>
              </a:rPr>
              <a:t>are </a:t>
            </a:r>
            <a:r>
              <a:rPr sz="2600" spc="-260" dirty="0">
                <a:solidFill>
                  <a:srgbClr val="006FC0"/>
                </a:solidFill>
                <a:latin typeface="Arial"/>
                <a:cs typeface="Arial"/>
              </a:rPr>
              <a:t>0, </a:t>
            </a:r>
            <a:r>
              <a:rPr sz="2600" spc="-235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600" spc="-310" dirty="0">
                <a:solidFill>
                  <a:srgbClr val="006FC0"/>
                </a:solidFill>
                <a:latin typeface="Arial"/>
                <a:cs typeface="Arial"/>
              </a:rPr>
              <a:t>so </a:t>
            </a:r>
            <a:r>
              <a:rPr sz="2600" spc="-165" dirty="0">
                <a:solidFill>
                  <a:srgbClr val="006FC0"/>
                </a:solidFill>
                <a:latin typeface="Arial"/>
                <a:cs typeface="Arial"/>
              </a:rPr>
              <a:t>on </a:t>
            </a:r>
            <a:r>
              <a:rPr sz="2600" spc="-175" dirty="0">
                <a:solidFill>
                  <a:srgbClr val="006FC0"/>
                </a:solidFill>
                <a:latin typeface="Arial"/>
                <a:cs typeface="Arial"/>
              </a:rPr>
              <a:t>down </a:t>
            </a:r>
            <a:r>
              <a:rPr sz="2600" spc="-15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600" spc="-50" dirty="0">
                <a:solidFill>
                  <a:srgbClr val="006FC0"/>
                </a:solidFill>
                <a:latin typeface="Arial"/>
                <a:cs typeface="Arial"/>
              </a:rPr>
              <a:t>priority</a:t>
            </a:r>
            <a:r>
              <a:rPr sz="2600" spc="-229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600" spc="-210" dirty="0">
                <a:solidFill>
                  <a:srgbClr val="006FC0"/>
                </a:solidFill>
                <a:latin typeface="Arial"/>
                <a:cs typeface="Arial"/>
              </a:rPr>
              <a:t>levels.</a:t>
            </a:r>
            <a:endParaRPr sz="2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8739" y="6635530"/>
            <a:ext cx="723900" cy="17462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1000" b="1" spc="45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1000" b="1" spc="50" dirty="0">
                <a:solidFill>
                  <a:srgbClr val="C00000"/>
                </a:solidFill>
                <a:latin typeface="Arial"/>
                <a:cs typeface="Arial"/>
              </a:rPr>
              <a:t>U</a:t>
            </a:r>
            <a:r>
              <a:rPr sz="1000" b="1" spc="-5" dirty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1000" b="1" spc="-60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1000" b="1" spc="-10" dirty="0">
                <a:solidFill>
                  <a:srgbClr val="C00000"/>
                </a:solidFill>
                <a:latin typeface="Arial"/>
                <a:cs typeface="Arial"/>
              </a:rPr>
              <a:t>-</a:t>
            </a:r>
            <a:r>
              <a:rPr sz="1000" b="1" spc="100" dirty="0">
                <a:solidFill>
                  <a:srgbClr val="C00000"/>
                </a:solidFill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209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793241" y="982217"/>
              <a:ext cx="7589519" cy="762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6764"/>
              <a:ext cx="9143999" cy="668274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53439" y="320001"/>
              <a:ext cx="7434072" cy="57611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316223" y="202679"/>
              <a:ext cx="2506979" cy="93422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</a:pPr>
            <a:r>
              <a:rPr spc="-155" dirty="0"/>
              <a:t>E</a:t>
            </a:r>
            <a:r>
              <a:rPr spc="-165" dirty="0"/>
              <a:t>N</a:t>
            </a:r>
            <a:r>
              <a:rPr spc="-35" dirty="0"/>
              <a:t>C</a:t>
            </a:r>
            <a:r>
              <a:rPr spc="-10" dirty="0"/>
              <a:t>ODERS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762000" y="1447800"/>
            <a:ext cx="8387080" cy="5410200"/>
            <a:chOff x="762000" y="1447800"/>
            <a:chExt cx="8387080" cy="5410200"/>
          </a:xfrm>
        </p:grpSpPr>
        <p:sp>
          <p:nvSpPr>
            <p:cNvPr id="13" name="object 13"/>
            <p:cNvSpPr/>
            <p:nvPr/>
          </p:nvSpPr>
          <p:spPr>
            <a:xfrm>
              <a:off x="8593835" y="6620254"/>
              <a:ext cx="550164" cy="23774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630411" y="6556242"/>
              <a:ext cx="513588" cy="30175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641080" y="6644640"/>
              <a:ext cx="502920" cy="18288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62000" y="2514600"/>
              <a:ext cx="3624072" cy="2644140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181600" y="1447800"/>
              <a:ext cx="3547872" cy="4885944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376676" y="1072641"/>
            <a:ext cx="224091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85" dirty="0">
                <a:solidFill>
                  <a:srgbClr val="C00000"/>
                </a:solidFill>
                <a:latin typeface="Arial"/>
                <a:cs typeface="Arial"/>
              </a:rPr>
              <a:t>4 </a:t>
            </a:r>
            <a:r>
              <a:rPr sz="2000" b="1" spc="-140" dirty="0">
                <a:solidFill>
                  <a:srgbClr val="C00000"/>
                </a:solidFill>
                <a:latin typeface="Arial"/>
                <a:cs typeface="Arial"/>
              </a:rPr>
              <a:t>to </a:t>
            </a:r>
            <a:r>
              <a:rPr sz="2000" b="1" spc="-285" dirty="0">
                <a:solidFill>
                  <a:srgbClr val="C00000"/>
                </a:solidFill>
                <a:latin typeface="Arial"/>
                <a:cs typeface="Arial"/>
              </a:rPr>
              <a:t>2 </a:t>
            </a:r>
            <a:r>
              <a:rPr sz="2000" b="1" spc="-170" dirty="0">
                <a:solidFill>
                  <a:srgbClr val="C00000"/>
                </a:solidFill>
                <a:latin typeface="Arial"/>
                <a:cs typeface="Arial"/>
              </a:rPr>
              <a:t>Priority</a:t>
            </a:r>
            <a:r>
              <a:rPr sz="2000" b="1" spc="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235" dirty="0">
                <a:solidFill>
                  <a:srgbClr val="C00000"/>
                </a:solidFill>
                <a:latin typeface="Arial"/>
                <a:cs typeface="Arial"/>
              </a:rPr>
              <a:t>Encoder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8739" y="6635530"/>
            <a:ext cx="723900" cy="17462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1000" b="1" spc="45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1000" b="1" spc="50" dirty="0">
                <a:solidFill>
                  <a:srgbClr val="C00000"/>
                </a:solidFill>
                <a:latin typeface="Arial"/>
                <a:cs typeface="Arial"/>
              </a:rPr>
              <a:t>U</a:t>
            </a:r>
            <a:r>
              <a:rPr sz="1000" b="1" spc="-5" dirty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1000" b="1" spc="-60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1000" b="1" spc="-10" dirty="0">
                <a:solidFill>
                  <a:srgbClr val="C00000"/>
                </a:solidFill>
                <a:latin typeface="Arial"/>
                <a:cs typeface="Arial"/>
              </a:rPr>
              <a:t>-</a:t>
            </a:r>
            <a:r>
              <a:rPr sz="1000" b="1" spc="100" dirty="0">
                <a:solidFill>
                  <a:srgbClr val="C00000"/>
                </a:solidFill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210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793241" y="982217"/>
              <a:ext cx="7589519" cy="762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6764"/>
              <a:ext cx="9143999" cy="668274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53439" y="320001"/>
              <a:ext cx="7434072" cy="57611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316223" y="202679"/>
              <a:ext cx="2506979" cy="93422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</a:pPr>
            <a:r>
              <a:rPr spc="-155" dirty="0"/>
              <a:t>E</a:t>
            </a:r>
            <a:r>
              <a:rPr spc="-165" dirty="0"/>
              <a:t>N</a:t>
            </a:r>
            <a:r>
              <a:rPr spc="-35" dirty="0"/>
              <a:t>C</a:t>
            </a:r>
            <a:r>
              <a:rPr spc="-10" dirty="0"/>
              <a:t>ODERS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990600" y="2286000"/>
            <a:ext cx="8158480" cy="4572000"/>
            <a:chOff x="990600" y="2286000"/>
            <a:chExt cx="8158480" cy="4572000"/>
          </a:xfrm>
        </p:grpSpPr>
        <p:sp>
          <p:nvSpPr>
            <p:cNvPr id="13" name="object 13"/>
            <p:cNvSpPr/>
            <p:nvPr/>
          </p:nvSpPr>
          <p:spPr>
            <a:xfrm>
              <a:off x="8593835" y="6620254"/>
              <a:ext cx="550164" cy="23774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630411" y="6556242"/>
              <a:ext cx="513588" cy="30175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641080" y="6644640"/>
              <a:ext cx="502920" cy="18288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90600" y="2286000"/>
              <a:ext cx="7245096" cy="3357372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376676" y="1072641"/>
            <a:ext cx="224091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85" dirty="0">
                <a:solidFill>
                  <a:srgbClr val="C00000"/>
                </a:solidFill>
                <a:latin typeface="Arial"/>
                <a:cs typeface="Arial"/>
              </a:rPr>
              <a:t>4 </a:t>
            </a:r>
            <a:r>
              <a:rPr sz="2000" b="1" spc="-140" dirty="0">
                <a:solidFill>
                  <a:srgbClr val="C00000"/>
                </a:solidFill>
                <a:latin typeface="Arial"/>
                <a:cs typeface="Arial"/>
              </a:rPr>
              <a:t>to </a:t>
            </a:r>
            <a:r>
              <a:rPr sz="2000" b="1" spc="-285" dirty="0">
                <a:solidFill>
                  <a:srgbClr val="C00000"/>
                </a:solidFill>
                <a:latin typeface="Arial"/>
                <a:cs typeface="Arial"/>
              </a:rPr>
              <a:t>2 </a:t>
            </a:r>
            <a:r>
              <a:rPr sz="2000" b="1" spc="-170" dirty="0">
                <a:solidFill>
                  <a:srgbClr val="C00000"/>
                </a:solidFill>
                <a:latin typeface="Arial"/>
                <a:cs typeface="Arial"/>
              </a:rPr>
              <a:t>Priority</a:t>
            </a:r>
            <a:r>
              <a:rPr sz="2000" b="1" spc="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235" dirty="0">
                <a:solidFill>
                  <a:srgbClr val="C00000"/>
                </a:solidFill>
                <a:latin typeface="Arial"/>
                <a:cs typeface="Arial"/>
              </a:rPr>
              <a:t>Encoder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8739" y="6635530"/>
            <a:ext cx="723900" cy="17462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1000" b="1" spc="45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1000" b="1" spc="50" dirty="0">
                <a:solidFill>
                  <a:srgbClr val="C00000"/>
                </a:solidFill>
                <a:latin typeface="Arial"/>
                <a:cs typeface="Arial"/>
              </a:rPr>
              <a:t>U</a:t>
            </a:r>
            <a:r>
              <a:rPr sz="1000" b="1" spc="-5" dirty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1000" b="1" spc="-60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1000" b="1" spc="-10" dirty="0">
                <a:solidFill>
                  <a:srgbClr val="C00000"/>
                </a:solidFill>
                <a:latin typeface="Arial"/>
                <a:cs typeface="Arial"/>
              </a:rPr>
              <a:t>-</a:t>
            </a:r>
            <a:r>
              <a:rPr sz="1000" b="1" spc="100" dirty="0">
                <a:solidFill>
                  <a:srgbClr val="C00000"/>
                </a:solidFill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211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3316223" y="202679"/>
              <a:ext cx="2506979" cy="9342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590671" y="321386"/>
            <a:ext cx="196342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5" dirty="0"/>
              <a:t>E</a:t>
            </a:r>
            <a:r>
              <a:rPr spc="-165" dirty="0"/>
              <a:t>N</a:t>
            </a:r>
            <a:r>
              <a:rPr spc="-35" dirty="0"/>
              <a:t>C</a:t>
            </a:r>
            <a:r>
              <a:rPr spc="-10" dirty="0"/>
              <a:t>ODERS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1676400" y="2209800"/>
            <a:ext cx="7472680" cy="4648200"/>
            <a:chOff x="1676400" y="2209800"/>
            <a:chExt cx="7472680" cy="4648200"/>
          </a:xfrm>
        </p:grpSpPr>
        <p:sp>
          <p:nvSpPr>
            <p:cNvPr id="8" name="object 8"/>
            <p:cNvSpPr/>
            <p:nvPr/>
          </p:nvSpPr>
          <p:spPr>
            <a:xfrm>
              <a:off x="8593835" y="6620254"/>
              <a:ext cx="550164" cy="23774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630411" y="6556242"/>
              <a:ext cx="513588" cy="3017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641080" y="6644640"/>
              <a:ext cx="502920" cy="1828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676400" y="2209800"/>
              <a:ext cx="5507735" cy="328574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376676" y="1072641"/>
            <a:ext cx="224091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85" dirty="0">
                <a:solidFill>
                  <a:srgbClr val="C00000"/>
                </a:solidFill>
                <a:latin typeface="Arial"/>
                <a:cs typeface="Arial"/>
              </a:rPr>
              <a:t>4 </a:t>
            </a:r>
            <a:r>
              <a:rPr sz="2000" b="1" spc="-140" dirty="0">
                <a:solidFill>
                  <a:srgbClr val="C00000"/>
                </a:solidFill>
                <a:latin typeface="Arial"/>
                <a:cs typeface="Arial"/>
              </a:rPr>
              <a:t>to </a:t>
            </a:r>
            <a:r>
              <a:rPr sz="2000" b="1" spc="-285" dirty="0">
                <a:solidFill>
                  <a:srgbClr val="C00000"/>
                </a:solidFill>
                <a:latin typeface="Arial"/>
                <a:cs typeface="Arial"/>
              </a:rPr>
              <a:t>2 </a:t>
            </a:r>
            <a:r>
              <a:rPr sz="2000" b="1" spc="-170" dirty="0">
                <a:solidFill>
                  <a:srgbClr val="C00000"/>
                </a:solidFill>
                <a:latin typeface="Arial"/>
                <a:cs typeface="Arial"/>
              </a:rPr>
              <a:t>Priority</a:t>
            </a:r>
            <a:r>
              <a:rPr sz="2000" b="1" spc="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235" dirty="0">
                <a:solidFill>
                  <a:srgbClr val="C00000"/>
                </a:solidFill>
                <a:latin typeface="Arial"/>
                <a:cs typeface="Arial"/>
              </a:rPr>
              <a:t>Encoder</a:t>
            </a:r>
            <a:endParaRPr sz="2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8739" y="6635530"/>
            <a:ext cx="723900" cy="17462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1000" b="1" spc="45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1000" b="1" spc="50" dirty="0">
                <a:solidFill>
                  <a:srgbClr val="C00000"/>
                </a:solidFill>
                <a:latin typeface="Arial"/>
                <a:cs typeface="Arial"/>
              </a:rPr>
              <a:t>U</a:t>
            </a:r>
            <a:r>
              <a:rPr sz="1000" b="1" spc="-5" dirty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1000" b="1" spc="-60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1000" b="1" spc="-10" dirty="0">
                <a:solidFill>
                  <a:srgbClr val="C00000"/>
                </a:solidFill>
                <a:latin typeface="Arial"/>
                <a:cs typeface="Arial"/>
              </a:rPr>
              <a:t>-</a:t>
            </a:r>
            <a:r>
              <a:rPr sz="1000" b="1" spc="100" dirty="0">
                <a:solidFill>
                  <a:srgbClr val="C00000"/>
                </a:solidFill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212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065145" y="5869330"/>
            <a:ext cx="28467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" dirty="0">
                <a:latin typeface="Palladio Uralic"/>
                <a:cs typeface="Palladio Uralic"/>
              </a:rPr>
              <a:t>4-Input </a:t>
            </a:r>
            <a:r>
              <a:rPr sz="2000" b="1" dirty="0">
                <a:latin typeface="Palladio Uralic"/>
                <a:cs typeface="Palladio Uralic"/>
              </a:rPr>
              <a:t>Priority</a:t>
            </a:r>
            <a:r>
              <a:rPr sz="2000" b="1" spc="-120" dirty="0">
                <a:latin typeface="Palladio Uralic"/>
                <a:cs typeface="Palladio Uralic"/>
              </a:rPr>
              <a:t> </a:t>
            </a:r>
            <a:r>
              <a:rPr sz="2000" b="1" dirty="0">
                <a:latin typeface="Palladio Uralic"/>
                <a:cs typeface="Palladio Uralic"/>
              </a:rPr>
              <a:t>Encoder</a:t>
            </a:r>
            <a:endParaRPr sz="2000">
              <a:latin typeface="Palladio Uralic"/>
              <a:cs typeface="Palladio Uralic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3316223" y="202679"/>
              <a:ext cx="2506979" cy="9342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</a:pPr>
            <a:r>
              <a:rPr spc="-155" dirty="0"/>
              <a:t>E</a:t>
            </a:r>
            <a:r>
              <a:rPr spc="-165" dirty="0"/>
              <a:t>N</a:t>
            </a:r>
            <a:r>
              <a:rPr spc="-35" dirty="0"/>
              <a:t>C</a:t>
            </a:r>
            <a:r>
              <a:rPr spc="-10" dirty="0"/>
              <a:t>ODERS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533400" y="1981200"/>
            <a:ext cx="8615680" cy="4876800"/>
            <a:chOff x="533400" y="1981200"/>
            <a:chExt cx="8615680" cy="4876800"/>
          </a:xfrm>
        </p:grpSpPr>
        <p:sp>
          <p:nvSpPr>
            <p:cNvPr id="8" name="object 8"/>
            <p:cNvSpPr/>
            <p:nvPr/>
          </p:nvSpPr>
          <p:spPr>
            <a:xfrm>
              <a:off x="8593835" y="6620254"/>
              <a:ext cx="550164" cy="23774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630411" y="6556242"/>
              <a:ext cx="513588" cy="3017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641080" y="6644640"/>
              <a:ext cx="502920" cy="1828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33400" y="1981200"/>
              <a:ext cx="8017764" cy="365760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376676" y="1205864"/>
            <a:ext cx="224091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85" dirty="0">
                <a:solidFill>
                  <a:srgbClr val="C00000"/>
                </a:solidFill>
                <a:latin typeface="Arial"/>
                <a:cs typeface="Arial"/>
              </a:rPr>
              <a:t>8 </a:t>
            </a:r>
            <a:r>
              <a:rPr sz="2000" b="1" spc="-140" dirty="0">
                <a:solidFill>
                  <a:srgbClr val="C00000"/>
                </a:solidFill>
                <a:latin typeface="Arial"/>
                <a:cs typeface="Arial"/>
              </a:rPr>
              <a:t>to </a:t>
            </a:r>
            <a:r>
              <a:rPr sz="2000" b="1" spc="-285" dirty="0">
                <a:solidFill>
                  <a:srgbClr val="C00000"/>
                </a:solidFill>
                <a:latin typeface="Arial"/>
                <a:cs typeface="Arial"/>
              </a:rPr>
              <a:t>3 </a:t>
            </a:r>
            <a:r>
              <a:rPr sz="2000" b="1" spc="-170" dirty="0">
                <a:solidFill>
                  <a:srgbClr val="C00000"/>
                </a:solidFill>
                <a:latin typeface="Arial"/>
                <a:cs typeface="Arial"/>
              </a:rPr>
              <a:t>Priority</a:t>
            </a:r>
            <a:r>
              <a:rPr sz="2000" b="1" spc="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235" dirty="0">
                <a:solidFill>
                  <a:srgbClr val="C00000"/>
                </a:solidFill>
                <a:latin typeface="Arial"/>
                <a:cs typeface="Arial"/>
              </a:rPr>
              <a:t>Encoder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8739" y="6635530"/>
            <a:ext cx="723900" cy="17462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1000" b="1" spc="45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1000" b="1" spc="50" dirty="0">
                <a:solidFill>
                  <a:srgbClr val="C00000"/>
                </a:solidFill>
                <a:latin typeface="Arial"/>
                <a:cs typeface="Arial"/>
              </a:rPr>
              <a:t>U</a:t>
            </a:r>
            <a:r>
              <a:rPr sz="1000" b="1" spc="-5" dirty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1000" b="1" spc="-60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1000" b="1" spc="-10" dirty="0">
                <a:solidFill>
                  <a:srgbClr val="C00000"/>
                </a:solidFill>
                <a:latin typeface="Arial"/>
                <a:cs typeface="Arial"/>
              </a:rPr>
              <a:t>-</a:t>
            </a:r>
            <a:r>
              <a:rPr sz="1000" b="1" spc="100" dirty="0">
                <a:solidFill>
                  <a:srgbClr val="C00000"/>
                </a:solidFill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213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3316223" y="202679"/>
              <a:ext cx="2506979" cy="9342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590671" y="321386"/>
            <a:ext cx="196342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5" dirty="0"/>
              <a:t>E</a:t>
            </a:r>
            <a:r>
              <a:rPr spc="-165" dirty="0"/>
              <a:t>N</a:t>
            </a:r>
            <a:r>
              <a:rPr spc="-35" dirty="0"/>
              <a:t>C</a:t>
            </a:r>
            <a:r>
              <a:rPr spc="-10" dirty="0"/>
              <a:t>ODERS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sp>
          <p:nvSpPr>
            <p:cNvPr id="8" name="object 8"/>
            <p:cNvSpPr/>
            <p:nvPr/>
          </p:nvSpPr>
          <p:spPr>
            <a:xfrm>
              <a:off x="8593835" y="6620255"/>
              <a:ext cx="550164" cy="23774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630411" y="6556243"/>
              <a:ext cx="513588" cy="3017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83540" y="1072641"/>
            <a:ext cx="8378825" cy="55137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260350" algn="ctr">
              <a:lnSpc>
                <a:spcPts val="2390"/>
              </a:lnSpc>
              <a:spcBef>
                <a:spcPts val="105"/>
              </a:spcBef>
            </a:pPr>
            <a:r>
              <a:rPr sz="2000" b="1" spc="-235" dirty="0">
                <a:solidFill>
                  <a:srgbClr val="C00000"/>
                </a:solidFill>
                <a:latin typeface="Arial"/>
                <a:cs typeface="Arial"/>
              </a:rPr>
              <a:t>Encoder</a:t>
            </a:r>
            <a:r>
              <a:rPr sz="2000" b="1" spc="-6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200" dirty="0">
                <a:solidFill>
                  <a:srgbClr val="C00000"/>
                </a:solidFill>
                <a:latin typeface="Arial"/>
                <a:cs typeface="Arial"/>
              </a:rPr>
              <a:t>Applications</a:t>
            </a:r>
            <a:endParaRPr sz="2000">
              <a:latin typeface="Arial"/>
              <a:cs typeface="Arial"/>
            </a:endParaRPr>
          </a:p>
          <a:p>
            <a:pPr marL="12700" algn="just">
              <a:lnSpc>
                <a:spcPts val="3350"/>
              </a:lnSpc>
            </a:pPr>
            <a:r>
              <a:rPr sz="2800" b="1" u="heavy" spc="-19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(i). </a:t>
            </a:r>
            <a:r>
              <a:rPr sz="2800" b="1" u="heavy" spc="-3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Keyboard</a:t>
            </a:r>
            <a:r>
              <a:rPr sz="2800" b="1" u="heavy" spc="14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800" b="1" u="heavy" spc="-33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Encoder</a:t>
            </a:r>
            <a:endParaRPr sz="2800">
              <a:latin typeface="Arial"/>
              <a:cs typeface="Arial"/>
            </a:endParaRPr>
          </a:p>
          <a:p>
            <a:pPr marL="476884" marR="5080" indent="-464820" algn="just">
              <a:lnSpc>
                <a:spcPct val="100000"/>
              </a:lnSpc>
              <a:spcBef>
                <a:spcPts val="20"/>
              </a:spcBef>
              <a:buFont typeface="Wingdings"/>
              <a:buChar char=""/>
              <a:tabLst>
                <a:tab pos="477520" algn="l"/>
              </a:tabLst>
            </a:pPr>
            <a:r>
              <a:rPr sz="2600" spc="-95" dirty="0">
                <a:solidFill>
                  <a:srgbClr val="006FC0"/>
                </a:solidFill>
                <a:latin typeface="Arial"/>
                <a:cs typeface="Arial"/>
              </a:rPr>
              <a:t>Priority </a:t>
            </a:r>
            <a:r>
              <a:rPr sz="2600" spc="-229" dirty="0">
                <a:solidFill>
                  <a:srgbClr val="006FC0"/>
                </a:solidFill>
                <a:latin typeface="Arial"/>
                <a:cs typeface="Arial"/>
              </a:rPr>
              <a:t>encoders </a:t>
            </a:r>
            <a:r>
              <a:rPr sz="2600" spc="-265" dirty="0">
                <a:solidFill>
                  <a:srgbClr val="006FC0"/>
                </a:solidFill>
                <a:latin typeface="Arial"/>
                <a:cs typeface="Arial"/>
              </a:rPr>
              <a:t>can </a:t>
            </a:r>
            <a:r>
              <a:rPr sz="2600" spc="-250" dirty="0">
                <a:solidFill>
                  <a:srgbClr val="006FC0"/>
                </a:solidFill>
                <a:latin typeface="Arial"/>
                <a:cs typeface="Arial"/>
              </a:rPr>
              <a:t>be </a:t>
            </a:r>
            <a:r>
              <a:rPr sz="2600" spc="-285" dirty="0">
                <a:solidFill>
                  <a:srgbClr val="006FC0"/>
                </a:solidFill>
                <a:latin typeface="Arial"/>
                <a:cs typeface="Arial"/>
              </a:rPr>
              <a:t>used </a:t>
            </a:r>
            <a:r>
              <a:rPr sz="2600" spc="-45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600" spc="-204" dirty="0">
                <a:solidFill>
                  <a:srgbClr val="006FC0"/>
                </a:solidFill>
                <a:latin typeface="Arial"/>
                <a:cs typeface="Arial"/>
              </a:rPr>
              <a:t>reduce </a:t>
            </a:r>
            <a:r>
              <a:rPr sz="2600" spc="-15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600" spc="-190" dirty="0">
                <a:solidFill>
                  <a:srgbClr val="006FC0"/>
                </a:solidFill>
                <a:latin typeface="Arial"/>
                <a:cs typeface="Arial"/>
              </a:rPr>
              <a:t>number </a:t>
            </a:r>
            <a:r>
              <a:rPr sz="2600" spc="-6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600" spc="-215" dirty="0">
                <a:solidFill>
                  <a:srgbClr val="006FC0"/>
                </a:solidFill>
                <a:latin typeface="Arial"/>
                <a:cs typeface="Arial"/>
              </a:rPr>
              <a:t>wires  </a:t>
            </a:r>
            <a:r>
              <a:rPr sz="2600" spc="-245" dirty="0">
                <a:solidFill>
                  <a:srgbClr val="006FC0"/>
                </a:solidFill>
                <a:latin typeface="Arial"/>
                <a:cs typeface="Arial"/>
              </a:rPr>
              <a:t>needed </a:t>
            </a:r>
            <a:r>
              <a:rPr sz="2600" spc="-105" dirty="0">
                <a:solidFill>
                  <a:srgbClr val="006FC0"/>
                </a:solidFill>
                <a:latin typeface="Arial"/>
                <a:cs typeface="Arial"/>
              </a:rPr>
              <a:t>in </a:t>
            </a:r>
            <a:r>
              <a:rPr sz="2600" spc="-365" dirty="0">
                <a:solidFill>
                  <a:srgbClr val="006FC0"/>
                </a:solidFill>
                <a:latin typeface="Arial"/>
                <a:cs typeface="Arial"/>
              </a:rPr>
              <a:t>a </a:t>
            </a:r>
            <a:r>
              <a:rPr sz="2600" spc="-125" dirty="0">
                <a:solidFill>
                  <a:srgbClr val="006FC0"/>
                </a:solidFill>
                <a:latin typeface="Arial"/>
                <a:cs typeface="Arial"/>
              </a:rPr>
              <a:t>particular </a:t>
            </a:r>
            <a:r>
              <a:rPr sz="2600" spc="-135" dirty="0">
                <a:solidFill>
                  <a:srgbClr val="006FC0"/>
                </a:solidFill>
                <a:latin typeface="Arial"/>
                <a:cs typeface="Arial"/>
              </a:rPr>
              <a:t>circuits </a:t>
            </a:r>
            <a:r>
              <a:rPr sz="2600" spc="-70" dirty="0">
                <a:solidFill>
                  <a:srgbClr val="006FC0"/>
                </a:solidFill>
                <a:latin typeface="Arial"/>
                <a:cs typeface="Arial"/>
              </a:rPr>
              <a:t>or </a:t>
            </a:r>
            <a:r>
              <a:rPr sz="2600" spc="-145" dirty="0">
                <a:solidFill>
                  <a:srgbClr val="006FC0"/>
                </a:solidFill>
                <a:latin typeface="Arial"/>
                <a:cs typeface="Arial"/>
              </a:rPr>
              <a:t>application </a:t>
            </a:r>
            <a:r>
              <a:rPr sz="2600" spc="-114" dirty="0">
                <a:solidFill>
                  <a:srgbClr val="006FC0"/>
                </a:solidFill>
                <a:latin typeface="Arial"/>
                <a:cs typeface="Arial"/>
              </a:rPr>
              <a:t>that  </a:t>
            </a:r>
            <a:r>
              <a:rPr sz="2600" spc="-260" dirty="0">
                <a:solidFill>
                  <a:srgbClr val="006FC0"/>
                </a:solidFill>
                <a:latin typeface="Arial"/>
                <a:cs typeface="Arial"/>
              </a:rPr>
              <a:t>have  </a:t>
            </a:r>
            <a:r>
              <a:rPr sz="2600" spc="-105" dirty="0">
                <a:solidFill>
                  <a:srgbClr val="006FC0"/>
                </a:solidFill>
                <a:latin typeface="Arial"/>
                <a:cs typeface="Arial"/>
              </a:rPr>
              <a:t>multiple</a:t>
            </a:r>
            <a:r>
              <a:rPr sz="2600" spc="-4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600" spc="-160" dirty="0">
                <a:solidFill>
                  <a:srgbClr val="006FC0"/>
                </a:solidFill>
                <a:latin typeface="Arial"/>
                <a:cs typeface="Arial"/>
              </a:rPr>
              <a:t>inputs.</a:t>
            </a:r>
            <a:endParaRPr sz="2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006FC0"/>
              </a:buClr>
              <a:buFont typeface="Wingdings"/>
              <a:buChar char=""/>
            </a:pPr>
            <a:endParaRPr sz="2700">
              <a:latin typeface="Arial"/>
              <a:cs typeface="Arial"/>
            </a:endParaRPr>
          </a:p>
          <a:p>
            <a:pPr marL="476884" marR="5080" indent="-464820" algn="just">
              <a:lnSpc>
                <a:spcPct val="100000"/>
              </a:lnSpc>
              <a:buFont typeface="Wingdings"/>
              <a:buChar char=""/>
              <a:tabLst>
                <a:tab pos="477520" algn="l"/>
              </a:tabLst>
            </a:pPr>
            <a:r>
              <a:rPr sz="2600" spc="-175" dirty="0">
                <a:solidFill>
                  <a:srgbClr val="006FC0"/>
                </a:solidFill>
                <a:latin typeface="Arial"/>
                <a:cs typeface="Arial"/>
              </a:rPr>
              <a:t>For </a:t>
            </a:r>
            <a:r>
              <a:rPr sz="2600" spc="-215" dirty="0">
                <a:solidFill>
                  <a:srgbClr val="006FC0"/>
                </a:solidFill>
                <a:latin typeface="Arial"/>
                <a:cs typeface="Arial"/>
              </a:rPr>
              <a:t>example, </a:t>
            </a:r>
            <a:r>
              <a:rPr sz="2600" spc="-340" dirty="0">
                <a:solidFill>
                  <a:srgbClr val="006FC0"/>
                </a:solidFill>
                <a:latin typeface="Arial"/>
                <a:cs typeface="Arial"/>
              </a:rPr>
              <a:t>assume </a:t>
            </a:r>
            <a:r>
              <a:rPr sz="2600" spc="-114" dirty="0">
                <a:solidFill>
                  <a:srgbClr val="006FC0"/>
                </a:solidFill>
                <a:latin typeface="Arial"/>
                <a:cs typeface="Arial"/>
              </a:rPr>
              <a:t>that </a:t>
            </a:r>
            <a:r>
              <a:rPr sz="2600" spc="-365" dirty="0">
                <a:solidFill>
                  <a:srgbClr val="006FC0"/>
                </a:solidFill>
                <a:latin typeface="Arial"/>
                <a:cs typeface="Arial"/>
              </a:rPr>
              <a:t>a </a:t>
            </a:r>
            <a:r>
              <a:rPr sz="2600" spc="-140" dirty="0">
                <a:solidFill>
                  <a:srgbClr val="006FC0"/>
                </a:solidFill>
                <a:latin typeface="Arial"/>
                <a:cs typeface="Arial"/>
              </a:rPr>
              <a:t>microcomputer </a:t>
            </a:r>
            <a:r>
              <a:rPr sz="2600" spc="-295" dirty="0">
                <a:solidFill>
                  <a:srgbClr val="006FC0"/>
                </a:solidFill>
                <a:latin typeface="Arial"/>
                <a:cs typeface="Arial"/>
              </a:rPr>
              <a:t>needs </a:t>
            </a:r>
            <a:r>
              <a:rPr sz="2600" spc="-50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600" spc="-215" dirty="0">
                <a:solidFill>
                  <a:srgbClr val="006FC0"/>
                </a:solidFill>
                <a:latin typeface="Arial"/>
                <a:cs typeface="Arial"/>
              </a:rPr>
              <a:t>read </a:t>
            </a:r>
            <a:r>
              <a:rPr sz="2600" spc="-155" dirty="0">
                <a:solidFill>
                  <a:srgbClr val="006FC0"/>
                </a:solidFill>
                <a:latin typeface="Arial"/>
                <a:cs typeface="Arial"/>
              </a:rPr>
              <a:t>the  </a:t>
            </a:r>
            <a:r>
              <a:rPr sz="2600" spc="-370" dirty="0">
                <a:solidFill>
                  <a:srgbClr val="006FC0"/>
                </a:solidFill>
                <a:latin typeface="Arial"/>
                <a:cs typeface="Arial"/>
              </a:rPr>
              <a:t>104</a:t>
            </a:r>
            <a:r>
              <a:rPr sz="2600" spc="-2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600" spc="-280" dirty="0">
                <a:solidFill>
                  <a:srgbClr val="006FC0"/>
                </a:solidFill>
                <a:latin typeface="Arial"/>
                <a:cs typeface="Arial"/>
              </a:rPr>
              <a:t>keys </a:t>
            </a:r>
            <a:r>
              <a:rPr sz="2600" spc="-6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600" spc="-365" dirty="0">
                <a:solidFill>
                  <a:srgbClr val="006FC0"/>
                </a:solidFill>
                <a:latin typeface="Arial"/>
                <a:cs typeface="Arial"/>
              </a:rPr>
              <a:t>a </a:t>
            </a:r>
            <a:r>
              <a:rPr sz="2600" spc="-204" dirty="0">
                <a:solidFill>
                  <a:srgbClr val="006FC0"/>
                </a:solidFill>
                <a:latin typeface="Arial"/>
                <a:cs typeface="Arial"/>
              </a:rPr>
              <a:t>standard </a:t>
            </a:r>
            <a:r>
              <a:rPr sz="2600" spc="-235" dirty="0">
                <a:solidFill>
                  <a:srgbClr val="006FC0"/>
                </a:solidFill>
                <a:latin typeface="Arial"/>
                <a:cs typeface="Arial"/>
              </a:rPr>
              <a:t>QWERTY </a:t>
            </a:r>
            <a:r>
              <a:rPr sz="2600" spc="-185" dirty="0">
                <a:solidFill>
                  <a:srgbClr val="006FC0"/>
                </a:solidFill>
                <a:latin typeface="Arial"/>
                <a:cs typeface="Arial"/>
              </a:rPr>
              <a:t>keyboard </a:t>
            </a:r>
            <a:r>
              <a:rPr sz="2600" spc="-220" dirty="0">
                <a:solidFill>
                  <a:srgbClr val="006FC0"/>
                </a:solidFill>
                <a:latin typeface="Arial"/>
                <a:cs typeface="Arial"/>
              </a:rPr>
              <a:t>where </a:t>
            </a:r>
            <a:r>
              <a:rPr sz="2600" spc="-120" dirty="0">
                <a:solidFill>
                  <a:srgbClr val="006FC0"/>
                </a:solidFill>
                <a:latin typeface="Arial"/>
                <a:cs typeface="Arial"/>
              </a:rPr>
              <a:t>only </a:t>
            </a:r>
            <a:r>
              <a:rPr sz="2600" spc="-220" dirty="0">
                <a:solidFill>
                  <a:srgbClr val="006FC0"/>
                </a:solidFill>
                <a:latin typeface="Arial"/>
                <a:cs typeface="Arial"/>
              </a:rPr>
              <a:t>one  </a:t>
            </a:r>
            <a:r>
              <a:rPr sz="2600" spc="-210" dirty="0">
                <a:solidFill>
                  <a:srgbClr val="006FC0"/>
                </a:solidFill>
                <a:latin typeface="Arial"/>
                <a:cs typeface="Arial"/>
              </a:rPr>
              <a:t>key </a:t>
            </a:r>
            <a:r>
              <a:rPr sz="2600" spc="-150" dirty="0">
                <a:solidFill>
                  <a:srgbClr val="006FC0"/>
                </a:solidFill>
                <a:latin typeface="Arial"/>
                <a:cs typeface="Arial"/>
              </a:rPr>
              <a:t>would </a:t>
            </a:r>
            <a:r>
              <a:rPr sz="2600" spc="-254" dirty="0">
                <a:solidFill>
                  <a:srgbClr val="006FC0"/>
                </a:solidFill>
                <a:latin typeface="Arial"/>
                <a:cs typeface="Arial"/>
              </a:rPr>
              <a:t>be </a:t>
            </a:r>
            <a:r>
              <a:rPr sz="2600" spc="-270" dirty="0">
                <a:solidFill>
                  <a:srgbClr val="006FC0"/>
                </a:solidFill>
                <a:latin typeface="Arial"/>
                <a:cs typeface="Arial"/>
              </a:rPr>
              <a:t>pressed </a:t>
            </a:r>
            <a:r>
              <a:rPr sz="2600" spc="-135" dirty="0">
                <a:solidFill>
                  <a:srgbClr val="006FC0"/>
                </a:solidFill>
                <a:latin typeface="Arial"/>
                <a:cs typeface="Arial"/>
              </a:rPr>
              <a:t>either </a:t>
            </a:r>
            <a:r>
              <a:rPr sz="2600" spc="60" dirty="0">
                <a:solidFill>
                  <a:srgbClr val="006FC0"/>
                </a:solidFill>
                <a:latin typeface="Arial"/>
                <a:cs typeface="Arial"/>
              </a:rPr>
              <a:t>“HIGH” </a:t>
            </a:r>
            <a:r>
              <a:rPr sz="2600" spc="-70" dirty="0">
                <a:solidFill>
                  <a:srgbClr val="006FC0"/>
                </a:solidFill>
                <a:latin typeface="Arial"/>
                <a:cs typeface="Arial"/>
              </a:rPr>
              <a:t>or </a:t>
            </a:r>
            <a:r>
              <a:rPr sz="2600" spc="70" dirty="0">
                <a:solidFill>
                  <a:srgbClr val="006FC0"/>
                </a:solidFill>
                <a:latin typeface="Arial"/>
                <a:cs typeface="Arial"/>
              </a:rPr>
              <a:t>“LOW” </a:t>
            </a:r>
            <a:r>
              <a:rPr sz="2600" spc="-155" dirty="0">
                <a:solidFill>
                  <a:srgbClr val="006FC0"/>
                </a:solidFill>
                <a:latin typeface="Arial"/>
                <a:cs typeface="Arial"/>
              </a:rPr>
              <a:t>at </a:t>
            </a:r>
            <a:r>
              <a:rPr sz="2600" spc="-229" dirty="0">
                <a:solidFill>
                  <a:srgbClr val="006FC0"/>
                </a:solidFill>
                <a:latin typeface="Arial"/>
                <a:cs typeface="Arial"/>
              </a:rPr>
              <a:t>any </a:t>
            </a:r>
            <a:r>
              <a:rPr sz="2600" spc="-215" dirty="0">
                <a:solidFill>
                  <a:srgbClr val="006FC0"/>
                </a:solidFill>
                <a:latin typeface="Arial"/>
                <a:cs typeface="Arial"/>
              </a:rPr>
              <a:t>one  </a:t>
            </a:r>
            <a:r>
              <a:rPr sz="2600" spc="-130" dirty="0">
                <a:solidFill>
                  <a:srgbClr val="006FC0"/>
                </a:solidFill>
                <a:latin typeface="Arial"/>
                <a:cs typeface="Arial"/>
              </a:rPr>
              <a:t>time.</a:t>
            </a:r>
            <a:endParaRPr sz="2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006FC0"/>
              </a:buClr>
              <a:buFont typeface="Wingdings"/>
              <a:buChar char=""/>
            </a:pPr>
            <a:endParaRPr sz="2700">
              <a:latin typeface="Arial"/>
              <a:cs typeface="Arial"/>
            </a:endParaRPr>
          </a:p>
          <a:p>
            <a:pPr marL="476884" marR="6350" indent="-464820" algn="just">
              <a:lnSpc>
                <a:spcPct val="100000"/>
              </a:lnSpc>
              <a:buFont typeface="Wingdings"/>
              <a:buChar char=""/>
              <a:tabLst>
                <a:tab pos="477520" algn="l"/>
              </a:tabLst>
            </a:pPr>
            <a:r>
              <a:rPr sz="2600" spc="-165" dirty="0">
                <a:solidFill>
                  <a:srgbClr val="006FC0"/>
                </a:solidFill>
                <a:latin typeface="Arial"/>
                <a:cs typeface="Arial"/>
              </a:rPr>
              <a:t>One</a:t>
            </a:r>
            <a:r>
              <a:rPr sz="2600" spc="39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600" spc="-250" dirty="0">
                <a:solidFill>
                  <a:srgbClr val="006FC0"/>
                </a:solidFill>
                <a:latin typeface="Arial"/>
                <a:cs typeface="Arial"/>
              </a:rPr>
              <a:t>way </a:t>
            </a:r>
            <a:r>
              <a:rPr sz="2600" spc="-150" dirty="0">
                <a:solidFill>
                  <a:srgbClr val="006FC0"/>
                </a:solidFill>
                <a:latin typeface="Arial"/>
                <a:cs typeface="Arial"/>
              </a:rPr>
              <a:t>would </a:t>
            </a:r>
            <a:r>
              <a:rPr sz="2600" spc="-254" dirty="0">
                <a:solidFill>
                  <a:srgbClr val="006FC0"/>
                </a:solidFill>
                <a:latin typeface="Arial"/>
                <a:cs typeface="Arial"/>
              </a:rPr>
              <a:t>be </a:t>
            </a:r>
            <a:r>
              <a:rPr sz="2600" spc="-45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600" spc="-175" dirty="0">
                <a:solidFill>
                  <a:srgbClr val="006FC0"/>
                </a:solidFill>
                <a:latin typeface="Arial"/>
                <a:cs typeface="Arial"/>
              </a:rPr>
              <a:t>connect </a:t>
            </a:r>
            <a:r>
              <a:rPr sz="2600" spc="-130" dirty="0">
                <a:solidFill>
                  <a:srgbClr val="006FC0"/>
                </a:solidFill>
                <a:latin typeface="Arial"/>
                <a:cs typeface="Arial"/>
              </a:rPr>
              <a:t>all </a:t>
            </a:r>
            <a:r>
              <a:rPr sz="2600" spc="-370" dirty="0">
                <a:solidFill>
                  <a:srgbClr val="006FC0"/>
                </a:solidFill>
                <a:latin typeface="Arial"/>
                <a:cs typeface="Arial"/>
              </a:rPr>
              <a:t>104 </a:t>
            </a:r>
            <a:r>
              <a:rPr sz="2600" spc="-215" dirty="0">
                <a:solidFill>
                  <a:srgbClr val="006FC0"/>
                </a:solidFill>
                <a:latin typeface="Arial"/>
                <a:cs typeface="Arial"/>
              </a:rPr>
              <a:t>wires </a:t>
            </a:r>
            <a:r>
              <a:rPr sz="2600" spc="-90" dirty="0">
                <a:solidFill>
                  <a:srgbClr val="006FC0"/>
                </a:solidFill>
                <a:latin typeface="Arial"/>
                <a:cs typeface="Arial"/>
              </a:rPr>
              <a:t>from  </a:t>
            </a:r>
            <a:r>
              <a:rPr sz="2600" spc="-155" dirty="0">
                <a:solidFill>
                  <a:srgbClr val="006FC0"/>
                </a:solidFill>
                <a:latin typeface="Arial"/>
                <a:cs typeface="Arial"/>
              </a:rPr>
              <a:t>the  </a:t>
            </a:r>
            <a:r>
              <a:rPr sz="2600" spc="-125" dirty="0">
                <a:solidFill>
                  <a:srgbClr val="006FC0"/>
                </a:solidFill>
                <a:latin typeface="Arial"/>
                <a:cs typeface="Arial"/>
              </a:rPr>
              <a:t>individual </a:t>
            </a:r>
            <a:r>
              <a:rPr sz="2600" spc="-280" dirty="0">
                <a:solidFill>
                  <a:srgbClr val="006FC0"/>
                </a:solidFill>
                <a:latin typeface="Arial"/>
                <a:cs typeface="Arial"/>
              </a:rPr>
              <a:t>keys </a:t>
            </a:r>
            <a:r>
              <a:rPr sz="2600" spc="-165" dirty="0">
                <a:solidFill>
                  <a:srgbClr val="006FC0"/>
                </a:solidFill>
                <a:latin typeface="Arial"/>
                <a:cs typeface="Arial"/>
              </a:rPr>
              <a:t>on </a:t>
            </a:r>
            <a:r>
              <a:rPr sz="2600" spc="-15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600" spc="-185" dirty="0">
                <a:solidFill>
                  <a:srgbClr val="006FC0"/>
                </a:solidFill>
                <a:latin typeface="Arial"/>
                <a:cs typeface="Arial"/>
              </a:rPr>
              <a:t>keyboard </a:t>
            </a:r>
            <a:r>
              <a:rPr sz="2600" spc="-100" dirty="0">
                <a:solidFill>
                  <a:srgbClr val="006FC0"/>
                </a:solidFill>
                <a:latin typeface="Arial"/>
                <a:cs typeface="Arial"/>
              </a:rPr>
              <a:t>directly </a:t>
            </a:r>
            <a:r>
              <a:rPr sz="2600" spc="-50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600" spc="-15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600" spc="-190" dirty="0">
                <a:solidFill>
                  <a:srgbClr val="006FC0"/>
                </a:solidFill>
                <a:latin typeface="Arial"/>
                <a:cs typeface="Arial"/>
              </a:rPr>
              <a:t>computers  </a:t>
            </a:r>
            <a:r>
              <a:rPr sz="2600" spc="-95" dirty="0">
                <a:solidFill>
                  <a:srgbClr val="006FC0"/>
                </a:solidFill>
                <a:latin typeface="Arial"/>
                <a:cs typeface="Arial"/>
              </a:rPr>
              <a:t>input </a:t>
            </a:r>
            <a:r>
              <a:rPr sz="2600" spc="-105" dirty="0">
                <a:solidFill>
                  <a:srgbClr val="006FC0"/>
                </a:solidFill>
                <a:latin typeface="Arial"/>
                <a:cs typeface="Arial"/>
              </a:rPr>
              <a:t>but </a:t>
            </a:r>
            <a:r>
              <a:rPr sz="2600" spc="-160" dirty="0">
                <a:solidFill>
                  <a:srgbClr val="006FC0"/>
                </a:solidFill>
                <a:latin typeface="Arial"/>
                <a:cs typeface="Arial"/>
              </a:rPr>
              <a:t>this </a:t>
            </a:r>
            <a:r>
              <a:rPr sz="2600" spc="-150" dirty="0">
                <a:solidFill>
                  <a:srgbClr val="006FC0"/>
                </a:solidFill>
                <a:latin typeface="Arial"/>
                <a:cs typeface="Arial"/>
              </a:rPr>
              <a:t>would </a:t>
            </a:r>
            <a:r>
              <a:rPr sz="2600" spc="-254" dirty="0">
                <a:solidFill>
                  <a:srgbClr val="006FC0"/>
                </a:solidFill>
                <a:latin typeface="Arial"/>
                <a:cs typeface="Arial"/>
              </a:rPr>
              <a:t>be </a:t>
            </a:r>
            <a:r>
              <a:rPr sz="2600" spc="-140" dirty="0">
                <a:solidFill>
                  <a:srgbClr val="006FC0"/>
                </a:solidFill>
                <a:latin typeface="Arial"/>
                <a:cs typeface="Arial"/>
              </a:rPr>
              <a:t>impractical </a:t>
            </a:r>
            <a:r>
              <a:rPr sz="2600" spc="-50" dirty="0">
                <a:solidFill>
                  <a:srgbClr val="006FC0"/>
                </a:solidFill>
                <a:latin typeface="Arial"/>
                <a:cs typeface="Arial"/>
              </a:rPr>
              <a:t>for </a:t>
            </a:r>
            <a:r>
              <a:rPr sz="2600" spc="-365" dirty="0">
                <a:solidFill>
                  <a:srgbClr val="006FC0"/>
                </a:solidFill>
                <a:latin typeface="Arial"/>
                <a:cs typeface="Arial"/>
              </a:rPr>
              <a:t>a </a:t>
            </a:r>
            <a:r>
              <a:rPr sz="2600" spc="-220" dirty="0">
                <a:solidFill>
                  <a:srgbClr val="006FC0"/>
                </a:solidFill>
                <a:latin typeface="Arial"/>
                <a:cs typeface="Arial"/>
              </a:rPr>
              <a:t>small home</a:t>
            </a:r>
            <a:r>
              <a:rPr sz="2600" spc="20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600" spc="-315" dirty="0">
                <a:solidFill>
                  <a:srgbClr val="006FC0"/>
                </a:solidFill>
                <a:latin typeface="Arial"/>
                <a:cs typeface="Arial"/>
              </a:rPr>
              <a:t>PC.</a:t>
            </a:r>
            <a:endParaRPr sz="2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8739" y="6635530"/>
            <a:ext cx="723900" cy="17462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1000" b="1" spc="45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1000" b="1" spc="50" dirty="0">
                <a:solidFill>
                  <a:srgbClr val="C00000"/>
                </a:solidFill>
                <a:latin typeface="Arial"/>
                <a:cs typeface="Arial"/>
              </a:rPr>
              <a:t>U</a:t>
            </a:r>
            <a:r>
              <a:rPr sz="1000" b="1" spc="-5" dirty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1000" b="1" spc="-60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1000" b="1" spc="-10" dirty="0">
                <a:solidFill>
                  <a:srgbClr val="C00000"/>
                </a:solidFill>
                <a:latin typeface="Arial"/>
                <a:cs typeface="Arial"/>
              </a:rPr>
              <a:t>-</a:t>
            </a:r>
            <a:r>
              <a:rPr sz="1000" b="1" spc="100" dirty="0">
                <a:solidFill>
                  <a:srgbClr val="C00000"/>
                </a:solidFill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214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3316223" y="202679"/>
              <a:ext cx="2506979" cy="9342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590671" y="321386"/>
            <a:ext cx="196342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5" dirty="0"/>
              <a:t>E</a:t>
            </a:r>
            <a:r>
              <a:rPr spc="-165" dirty="0"/>
              <a:t>N</a:t>
            </a:r>
            <a:r>
              <a:rPr spc="-35" dirty="0"/>
              <a:t>C</a:t>
            </a:r>
            <a:r>
              <a:rPr spc="-10" dirty="0"/>
              <a:t>ODERS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sp>
          <p:nvSpPr>
            <p:cNvPr id="8" name="object 8"/>
            <p:cNvSpPr/>
            <p:nvPr/>
          </p:nvSpPr>
          <p:spPr>
            <a:xfrm>
              <a:off x="8593835" y="6620255"/>
              <a:ext cx="550164" cy="23774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630411" y="6556243"/>
              <a:ext cx="513588" cy="3017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83540" y="1072641"/>
            <a:ext cx="8378190" cy="49885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259715" algn="ctr">
              <a:lnSpc>
                <a:spcPct val="100000"/>
              </a:lnSpc>
              <a:spcBef>
                <a:spcPts val="105"/>
              </a:spcBef>
            </a:pPr>
            <a:r>
              <a:rPr sz="2000" b="1" spc="-235" dirty="0">
                <a:solidFill>
                  <a:srgbClr val="C00000"/>
                </a:solidFill>
                <a:latin typeface="Arial"/>
                <a:cs typeface="Arial"/>
              </a:rPr>
              <a:t>Encoder</a:t>
            </a:r>
            <a:r>
              <a:rPr sz="2000" b="1" spc="-6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200" dirty="0">
                <a:solidFill>
                  <a:srgbClr val="C00000"/>
                </a:solidFill>
                <a:latin typeface="Arial"/>
                <a:cs typeface="Arial"/>
              </a:rPr>
              <a:t>Applications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000">
              <a:latin typeface="Arial"/>
              <a:cs typeface="Arial"/>
            </a:endParaRPr>
          </a:p>
          <a:p>
            <a:pPr marL="476884" marR="5080" indent="-464820" algn="just">
              <a:lnSpc>
                <a:spcPct val="100000"/>
              </a:lnSpc>
              <a:buClr>
                <a:srgbClr val="006FC0"/>
              </a:buClr>
              <a:buFont typeface="Wingdings"/>
              <a:buChar char=""/>
              <a:tabLst>
                <a:tab pos="568960" algn="l"/>
              </a:tabLst>
            </a:pPr>
            <a:r>
              <a:rPr dirty="0"/>
              <a:t>	</a:t>
            </a:r>
            <a:r>
              <a:rPr sz="2600" spc="-95" dirty="0">
                <a:solidFill>
                  <a:srgbClr val="006FC0"/>
                </a:solidFill>
                <a:latin typeface="Arial"/>
                <a:cs typeface="Arial"/>
              </a:rPr>
              <a:t>Another </a:t>
            </a:r>
            <a:r>
              <a:rPr sz="2600" spc="-155" dirty="0">
                <a:solidFill>
                  <a:srgbClr val="006FC0"/>
                </a:solidFill>
                <a:latin typeface="Arial"/>
                <a:cs typeface="Arial"/>
              </a:rPr>
              <a:t>alternative </a:t>
            </a:r>
            <a:r>
              <a:rPr sz="2600" spc="-235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600" spc="-125" dirty="0">
                <a:solidFill>
                  <a:srgbClr val="006FC0"/>
                </a:solidFill>
                <a:latin typeface="Arial"/>
                <a:cs typeface="Arial"/>
              </a:rPr>
              <a:t>better </a:t>
            </a:r>
            <a:r>
              <a:rPr sz="2600" spc="-245" dirty="0">
                <a:solidFill>
                  <a:srgbClr val="006FC0"/>
                </a:solidFill>
                <a:latin typeface="Arial"/>
                <a:cs typeface="Arial"/>
              </a:rPr>
              <a:t>way </a:t>
            </a:r>
            <a:r>
              <a:rPr sz="2600" spc="-150" dirty="0">
                <a:solidFill>
                  <a:srgbClr val="006FC0"/>
                </a:solidFill>
                <a:latin typeface="Arial"/>
                <a:cs typeface="Arial"/>
              </a:rPr>
              <a:t>would </a:t>
            </a:r>
            <a:r>
              <a:rPr sz="2600" spc="-254" dirty="0">
                <a:solidFill>
                  <a:srgbClr val="006FC0"/>
                </a:solidFill>
                <a:latin typeface="Arial"/>
                <a:cs typeface="Arial"/>
              </a:rPr>
              <a:t>be </a:t>
            </a:r>
            <a:r>
              <a:rPr sz="2600" spc="-45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600" spc="-155" dirty="0">
                <a:solidFill>
                  <a:srgbClr val="006FC0"/>
                </a:solidFill>
                <a:latin typeface="Arial"/>
                <a:cs typeface="Arial"/>
              </a:rPr>
              <a:t>interface the  </a:t>
            </a:r>
            <a:r>
              <a:rPr sz="2600" spc="-185" dirty="0">
                <a:solidFill>
                  <a:srgbClr val="006FC0"/>
                </a:solidFill>
                <a:latin typeface="Arial"/>
                <a:cs typeface="Arial"/>
              </a:rPr>
              <a:t>keyboard </a:t>
            </a:r>
            <a:r>
              <a:rPr sz="2600" spc="-45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600" spc="-15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600" spc="-400" dirty="0">
                <a:solidFill>
                  <a:srgbClr val="006FC0"/>
                </a:solidFill>
                <a:latin typeface="Arial"/>
                <a:cs typeface="Arial"/>
              </a:rPr>
              <a:t>PC </a:t>
            </a:r>
            <a:r>
              <a:rPr sz="2600" spc="-245" dirty="0">
                <a:solidFill>
                  <a:srgbClr val="006FC0"/>
                </a:solidFill>
                <a:latin typeface="Arial"/>
                <a:cs typeface="Arial"/>
              </a:rPr>
              <a:t>using </a:t>
            </a:r>
            <a:r>
              <a:rPr sz="2600" spc="-365" dirty="0">
                <a:solidFill>
                  <a:srgbClr val="006FC0"/>
                </a:solidFill>
                <a:latin typeface="Arial"/>
                <a:cs typeface="Arial"/>
              </a:rPr>
              <a:t>a </a:t>
            </a:r>
            <a:r>
              <a:rPr sz="2600" spc="-50" dirty="0">
                <a:solidFill>
                  <a:srgbClr val="006FC0"/>
                </a:solidFill>
                <a:latin typeface="Arial"/>
                <a:cs typeface="Arial"/>
              </a:rPr>
              <a:t>priority</a:t>
            </a:r>
            <a:r>
              <a:rPr sz="2600" spc="19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600" spc="-190" dirty="0">
                <a:solidFill>
                  <a:srgbClr val="006FC0"/>
                </a:solidFill>
                <a:latin typeface="Arial"/>
                <a:cs typeface="Arial"/>
              </a:rPr>
              <a:t>encoder.</a:t>
            </a:r>
            <a:endParaRPr sz="2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006FC0"/>
              </a:buClr>
              <a:buFont typeface="Wingdings"/>
              <a:buChar char=""/>
            </a:pPr>
            <a:endParaRPr sz="2700">
              <a:latin typeface="Arial"/>
              <a:cs typeface="Arial"/>
            </a:endParaRPr>
          </a:p>
          <a:p>
            <a:pPr marL="476884" marR="5080" indent="-464820" algn="just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477520" algn="l"/>
              </a:tabLst>
            </a:pPr>
            <a:r>
              <a:rPr sz="2600" spc="-21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600" spc="-370" dirty="0">
                <a:solidFill>
                  <a:srgbClr val="006FC0"/>
                </a:solidFill>
                <a:latin typeface="Arial"/>
                <a:cs typeface="Arial"/>
              </a:rPr>
              <a:t>104</a:t>
            </a:r>
            <a:r>
              <a:rPr sz="2600" spc="-2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600" spc="-125" dirty="0">
                <a:solidFill>
                  <a:srgbClr val="006FC0"/>
                </a:solidFill>
                <a:latin typeface="Arial"/>
                <a:cs typeface="Arial"/>
              </a:rPr>
              <a:t>individual </a:t>
            </a:r>
            <a:r>
              <a:rPr sz="2600" spc="-160" dirty="0">
                <a:solidFill>
                  <a:srgbClr val="006FC0"/>
                </a:solidFill>
                <a:latin typeface="Arial"/>
                <a:cs typeface="Arial"/>
              </a:rPr>
              <a:t>buttons </a:t>
            </a:r>
            <a:r>
              <a:rPr sz="2600" spc="-70" dirty="0">
                <a:solidFill>
                  <a:srgbClr val="006FC0"/>
                </a:solidFill>
                <a:latin typeface="Arial"/>
                <a:cs typeface="Arial"/>
              </a:rPr>
              <a:t>or </a:t>
            </a:r>
            <a:r>
              <a:rPr sz="2600" spc="-280" dirty="0">
                <a:solidFill>
                  <a:srgbClr val="006FC0"/>
                </a:solidFill>
                <a:latin typeface="Arial"/>
                <a:cs typeface="Arial"/>
              </a:rPr>
              <a:t>keys </a:t>
            </a:r>
            <a:r>
              <a:rPr sz="2600" spc="-145" dirty="0">
                <a:solidFill>
                  <a:srgbClr val="006FC0"/>
                </a:solidFill>
                <a:latin typeface="Arial"/>
                <a:cs typeface="Arial"/>
              </a:rPr>
              <a:t>could </a:t>
            </a:r>
            <a:r>
              <a:rPr sz="2600" spc="-254" dirty="0">
                <a:solidFill>
                  <a:srgbClr val="006FC0"/>
                </a:solidFill>
                <a:latin typeface="Arial"/>
                <a:cs typeface="Arial"/>
              </a:rPr>
              <a:t>be </a:t>
            </a:r>
            <a:r>
              <a:rPr sz="2600" spc="-215" dirty="0">
                <a:solidFill>
                  <a:srgbClr val="006FC0"/>
                </a:solidFill>
                <a:latin typeface="Arial"/>
                <a:cs typeface="Arial"/>
              </a:rPr>
              <a:t>encoded </a:t>
            </a:r>
            <a:r>
              <a:rPr sz="2600" spc="-75" dirty="0">
                <a:solidFill>
                  <a:srgbClr val="006FC0"/>
                </a:solidFill>
                <a:latin typeface="Arial"/>
                <a:cs typeface="Arial"/>
              </a:rPr>
              <a:t>into </a:t>
            </a:r>
            <a:r>
              <a:rPr sz="2600" spc="-365" dirty="0">
                <a:solidFill>
                  <a:srgbClr val="006FC0"/>
                </a:solidFill>
                <a:latin typeface="Arial"/>
                <a:cs typeface="Arial"/>
              </a:rPr>
              <a:t>a  </a:t>
            </a:r>
            <a:r>
              <a:rPr sz="2600" spc="-204" dirty="0">
                <a:solidFill>
                  <a:srgbClr val="006FC0"/>
                </a:solidFill>
                <a:latin typeface="Arial"/>
                <a:cs typeface="Arial"/>
              </a:rPr>
              <a:t>standard </a:t>
            </a:r>
            <a:r>
              <a:rPr sz="2600" spc="-130" dirty="0">
                <a:solidFill>
                  <a:srgbClr val="006FC0"/>
                </a:solidFill>
                <a:latin typeface="Arial"/>
                <a:cs typeface="Arial"/>
              </a:rPr>
              <a:t>ASCII </a:t>
            </a:r>
            <a:r>
              <a:rPr sz="2600" spc="-210" dirty="0">
                <a:solidFill>
                  <a:srgbClr val="006FC0"/>
                </a:solidFill>
                <a:latin typeface="Arial"/>
                <a:cs typeface="Arial"/>
              </a:rPr>
              <a:t>code </a:t>
            </a:r>
            <a:r>
              <a:rPr sz="2600" spc="-6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600" spc="-120" dirty="0">
                <a:solidFill>
                  <a:srgbClr val="006FC0"/>
                </a:solidFill>
                <a:latin typeface="Arial"/>
                <a:cs typeface="Arial"/>
              </a:rPr>
              <a:t>only </a:t>
            </a:r>
            <a:r>
              <a:rPr sz="2600" spc="-190" dirty="0">
                <a:solidFill>
                  <a:srgbClr val="006FC0"/>
                </a:solidFill>
                <a:latin typeface="Arial"/>
                <a:cs typeface="Arial"/>
              </a:rPr>
              <a:t>7-bits </a:t>
            </a:r>
            <a:r>
              <a:rPr sz="2600" spc="-295" dirty="0">
                <a:solidFill>
                  <a:srgbClr val="006FC0"/>
                </a:solidFill>
                <a:latin typeface="Arial"/>
                <a:cs typeface="Arial"/>
              </a:rPr>
              <a:t>(0 </a:t>
            </a:r>
            <a:r>
              <a:rPr sz="2600" spc="-45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600" spc="-375" dirty="0">
                <a:solidFill>
                  <a:srgbClr val="006FC0"/>
                </a:solidFill>
                <a:latin typeface="Arial"/>
                <a:cs typeface="Arial"/>
              </a:rPr>
              <a:t>127 </a:t>
            </a:r>
            <a:r>
              <a:rPr sz="2600" spc="-190" dirty="0">
                <a:solidFill>
                  <a:srgbClr val="006FC0"/>
                </a:solidFill>
                <a:latin typeface="Arial"/>
                <a:cs typeface="Arial"/>
              </a:rPr>
              <a:t>decimal) </a:t>
            </a:r>
            <a:r>
              <a:rPr sz="2600" spc="-60" dirty="0">
                <a:solidFill>
                  <a:srgbClr val="006FC0"/>
                </a:solidFill>
                <a:latin typeface="Arial"/>
                <a:cs typeface="Arial"/>
              </a:rPr>
              <a:t>to  </a:t>
            </a:r>
            <a:r>
              <a:rPr sz="2600" spc="-195" dirty="0">
                <a:solidFill>
                  <a:srgbClr val="006FC0"/>
                </a:solidFill>
                <a:latin typeface="Arial"/>
                <a:cs typeface="Arial"/>
              </a:rPr>
              <a:t>represent </a:t>
            </a:r>
            <a:r>
              <a:rPr sz="2600" spc="-280" dirty="0">
                <a:solidFill>
                  <a:srgbClr val="006FC0"/>
                </a:solidFill>
                <a:latin typeface="Arial"/>
                <a:cs typeface="Arial"/>
              </a:rPr>
              <a:t>each </a:t>
            </a:r>
            <a:r>
              <a:rPr sz="2600" spc="-210" dirty="0">
                <a:solidFill>
                  <a:srgbClr val="006FC0"/>
                </a:solidFill>
                <a:latin typeface="Arial"/>
                <a:cs typeface="Arial"/>
              </a:rPr>
              <a:t>key </a:t>
            </a:r>
            <a:r>
              <a:rPr sz="2600" spc="-70" dirty="0">
                <a:solidFill>
                  <a:srgbClr val="006FC0"/>
                </a:solidFill>
                <a:latin typeface="Arial"/>
                <a:cs typeface="Arial"/>
              </a:rPr>
              <a:t>or </a:t>
            </a:r>
            <a:r>
              <a:rPr sz="2600" spc="-180" dirty="0">
                <a:solidFill>
                  <a:srgbClr val="006FC0"/>
                </a:solidFill>
                <a:latin typeface="Arial"/>
                <a:cs typeface="Arial"/>
              </a:rPr>
              <a:t>character </a:t>
            </a:r>
            <a:r>
              <a:rPr sz="2600" spc="-6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600" spc="-15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600" spc="-190" dirty="0">
                <a:solidFill>
                  <a:srgbClr val="006FC0"/>
                </a:solidFill>
                <a:latin typeface="Arial"/>
                <a:cs typeface="Arial"/>
              </a:rPr>
              <a:t>keyboard </a:t>
            </a:r>
            <a:r>
              <a:rPr sz="2600" spc="-235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600" spc="-165" dirty="0">
                <a:solidFill>
                  <a:srgbClr val="006FC0"/>
                </a:solidFill>
                <a:latin typeface="Arial"/>
                <a:cs typeface="Arial"/>
              </a:rPr>
              <a:t>then  </a:t>
            </a:r>
            <a:r>
              <a:rPr sz="2600" spc="-95" dirty="0">
                <a:solidFill>
                  <a:srgbClr val="006FC0"/>
                </a:solidFill>
                <a:latin typeface="Arial"/>
                <a:cs typeface="Arial"/>
              </a:rPr>
              <a:t>input </a:t>
            </a:r>
            <a:r>
              <a:rPr sz="2600" spc="-425" dirty="0">
                <a:solidFill>
                  <a:srgbClr val="006FC0"/>
                </a:solidFill>
                <a:latin typeface="Arial"/>
                <a:cs typeface="Arial"/>
              </a:rPr>
              <a:t>as </a:t>
            </a:r>
            <a:r>
              <a:rPr sz="2600" spc="-365" dirty="0">
                <a:solidFill>
                  <a:srgbClr val="006FC0"/>
                </a:solidFill>
                <a:latin typeface="Arial"/>
                <a:cs typeface="Arial"/>
              </a:rPr>
              <a:t>a </a:t>
            </a:r>
            <a:r>
              <a:rPr sz="2600" spc="-204" dirty="0">
                <a:solidFill>
                  <a:srgbClr val="006FC0"/>
                </a:solidFill>
                <a:latin typeface="Arial"/>
                <a:cs typeface="Arial"/>
              </a:rPr>
              <a:t>much </a:t>
            </a:r>
            <a:r>
              <a:rPr sz="2600" spc="-200" dirty="0">
                <a:solidFill>
                  <a:srgbClr val="006FC0"/>
                </a:solidFill>
                <a:latin typeface="Arial"/>
                <a:cs typeface="Arial"/>
              </a:rPr>
              <a:t>smaller </a:t>
            </a:r>
            <a:r>
              <a:rPr sz="2600" spc="-135" dirty="0">
                <a:solidFill>
                  <a:srgbClr val="006FC0"/>
                </a:solidFill>
                <a:latin typeface="Arial"/>
                <a:cs typeface="Arial"/>
              </a:rPr>
              <a:t>7-bit </a:t>
            </a:r>
            <a:r>
              <a:rPr sz="2600" spc="-240" dirty="0">
                <a:solidFill>
                  <a:srgbClr val="006FC0"/>
                </a:solidFill>
                <a:latin typeface="Arial"/>
                <a:cs typeface="Arial"/>
              </a:rPr>
              <a:t>B.C.D </a:t>
            </a:r>
            <a:r>
              <a:rPr sz="2600" spc="-210" dirty="0">
                <a:solidFill>
                  <a:srgbClr val="006FC0"/>
                </a:solidFill>
                <a:latin typeface="Arial"/>
                <a:cs typeface="Arial"/>
              </a:rPr>
              <a:t>code </a:t>
            </a:r>
            <a:r>
              <a:rPr sz="2600" spc="-100" dirty="0">
                <a:solidFill>
                  <a:srgbClr val="006FC0"/>
                </a:solidFill>
                <a:latin typeface="Arial"/>
                <a:cs typeface="Arial"/>
              </a:rPr>
              <a:t>directly </a:t>
            </a:r>
            <a:r>
              <a:rPr sz="2600" spc="-50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600" spc="-155" dirty="0">
                <a:solidFill>
                  <a:srgbClr val="006FC0"/>
                </a:solidFill>
                <a:latin typeface="Arial"/>
                <a:cs typeface="Arial"/>
              </a:rPr>
              <a:t>the  </a:t>
            </a:r>
            <a:r>
              <a:rPr sz="2600" spc="-150" dirty="0">
                <a:solidFill>
                  <a:srgbClr val="006FC0"/>
                </a:solidFill>
                <a:latin typeface="Arial"/>
                <a:cs typeface="Arial"/>
              </a:rPr>
              <a:t>computer.</a:t>
            </a:r>
            <a:endParaRPr sz="2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006FC0"/>
              </a:buClr>
              <a:buFont typeface="Wingdings"/>
              <a:buChar char=""/>
            </a:pPr>
            <a:endParaRPr sz="2700">
              <a:latin typeface="Arial"/>
              <a:cs typeface="Arial"/>
            </a:endParaRPr>
          </a:p>
          <a:p>
            <a:pPr marL="476884" marR="6985" indent="-464820" algn="just">
              <a:lnSpc>
                <a:spcPct val="100000"/>
              </a:lnSpc>
              <a:buFont typeface="Wingdings"/>
              <a:buChar char=""/>
              <a:tabLst>
                <a:tab pos="477520" algn="l"/>
              </a:tabLst>
            </a:pPr>
            <a:r>
              <a:rPr sz="2600" spc="-204" dirty="0">
                <a:solidFill>
                  <a:srgbClr val="006FC0"/>
                </a:solidFill>
                <a:latin typeface="Arial"/>
                <a:cs typeface="Arial"/>
              </a:rPr>
              <a:t>Keypad </a:t>
            </a:r>
            <a:r>
              <a:rPr sz="2600" spc="-229" dirty="0">
                <a:solidFill>
                  <a:srgbClr val="006FC0"/>
                </a:solidFill>
                <a:latin typeface="Arial"/>
                <a:cs typeface="Arial"/>
              </a:rPr>
              <a:t>encoders </a:t>
            </a:r>
            <a:r>
              <a:rPr sz="2600" spc="-270" dirty="0">
                <a:solidFill>
                  <a:srgbClr val="006FC0"/>
                </a:solidFill>
                <a:latin typeface="Arial"/>
                <a:cs typeface="Arial"/>
              </a:rPr>
              <a:t>such </a:t>
            </a:r>
            <a:r>
              <a:rPr sz="2600" spc="-425" dirty="0">
                <a:solidFill>
                  <a:srgbClr val="006FC0"/>
                </a:solidFill>
                <a:latin typeface="Arial"/>
                <a:cs typeface="Arial"/>
              </a:rPr>
              <a:t>as </a:t>
            </a:r>
            <a:r>
              <a:rPr sz="2600" spc="-15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600" spc="-355" dirty="0">
                <a:solidFill>
                  <a:srgbClr val="006FC0"/>
                </a:solidFill>
                <a:latin typeface="Arial"/>
                <a:cs typeface="Arial"/>
              </a:rPr>
              <a:t>74C923 </a:t>
            </a:r>
            <a:r>
              <a:rPr sz="2600" spc="-254" dirty="0">
                <a:solidFill>
                  <a:srgbClr val="006FC0"/>
                </a:solidFill>
                <a:latin typeface="Arial"/>
                <a:cs typeface="Arial"/>
              </a:rPr>
              <a:t>20-key </a:t>
            </a:r>
            <a:r>
              <a:rPr sz="2600" spc="-195" dirty="0">
                <a:solidFill>
                  <a:srgbClr val="006FC0"/>
                </a:solidFill>
                <a:latin typeface="Arial"/>
                <a:cs typeface="Arial"/>
              </a:rPr>
              <a:t>encoder </a:t>
            </a:r>
            <a:r>
              <a:rPr sz="2600" spc="-229" dirty="0">
                <a:solidFill>
                  <a:srgbClr val="006FC0"/>
                </a:solidFill>
                <a:latin typeface="Arial"/>
                <a:cs typeface="Arial"/>
              </a:rPr>
              <a:t>are  </a:t>
            </a:r>
            <a:r>
              <a:rPr sz="2600" spc="-204" dirty="0">
                <a:solidFill>
                  <a:srgbClr val="006FC0"/>
                </a:solidFill>
                <a:latin typeface="Arial"/>
                <a:cs typeface="Arial"/>
              </a:rPr>
              <a:t>available </a:t>
            </a:r>
            <a:r>
              <a:rPr sz="2600" spc="-45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600" spc="-145" dirty="0">
                <a:solidFill>
                  <a:srgbClr val="006FC0"/>
                </a:solidFill>
                <a:latin typeface="Arial"/>
                <a:cs typeface="Arial"/>
              </a:rPr>
              <a:t>do </a:t>
            </a:r>
            <a:r>
              <a:rPr sz="2600" spc="-155" dirty="0">
                <a:solidFill>
                  <a:srgbClr val="006FC0"/>
                </a:solidFill>
                <a:latin typeface="Arial"/>
                <a:cs typeface="Arial"/>
              </a:rPr>
              <a:t>just </a:t>
            </a:r>
            <a:r>
              <a:rPr sz="2600" spc="-120" dirty="0">
                <a:solidFill>
                  <a:srgbClr val="006FC0"/>
                </a:solidFill>
                <a:latin typeface="Arial"/>
                <a:cs typeface="Arial"/>
              </a:rPr>
              <a:t>that.</a:t>
            </a:r>
            <a:endParaRPr sz="2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8739" y="6635530"/>
            <a:ext cx="723900" cy="17462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1000" b="1" spc="45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1000" b="1" spc="50" dirty="0">
                <a:solidFill>
                  <a:srgbClr val="C00000"/>
                </a:solidFill>
                <a:latin typeface="Arial"/>
                <a:cs typeface="Arial"/>
              </a:rPr>
              <a:t>U</a:t>
            </a:r>
            <a:r>
              <a:rPr sz="1000" b="1" spc="-5" dirty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1000" b="1" spc="-60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1000" b="1" spc="-10" dirty="0">
                <a:solidFill>
                  <a:srgbClr val="C00000"/>
                </a:solidFill>
                <a:latin typeface="Arial"/>
                <a:cs typeface="Arial"/>
              </a:rPr>
              <a:t>-</a:t>
            </a:r>
            <a:r>
              <a:rPr sz="1000" b="1" spc="100" dirty="0">
                <a:solidFill>
                  <a:srgbClr val="C00000"/>
                </a:solidFill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215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3316223" y="202679"/>
              <a:ext cx="2506979" cy="9342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590671" y="321386"/>
            <a:ext cx="196342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5" dirty="0"/>
              <a:t>E</a:t>
            </a:r>
            <a:r>
              <a:rPr spc="-165" dirty="0"/>
              <a:t>N</a:t>
            </a:r>
            <a:r>
              <a:rPr spc="-35" dirty="0"/>
              <a:t>C</a:t>
            </a:r>
            <a:r>
              <a:rPr spc="-10" dirty="0"/>
              <a:t>ODERS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48360" y="2191638"/>
            <a:ext cx="791083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132840" algn="l"/>
                <a:tab pos="1583690" algn="l"/>
                <a:tab pos="2369185" algn="l"/>
                <a:tab pos="2903855" algn="l"/>
                <a:tab pos="3722370" algn="l"/>
                <a:tab pos="5220970" algn="l"/>
                <a:tab pos="5706745" algn="l"/>
                <a:tab pos="6284595" algn="l"/>
                <a:tab pos="7402195" algn="l"/>
              </a:tabLst>
            </a:pPr>
            <a:r>
              <a:rPr sz="2600" spc="-180" dirty="0">
                <a:solidFill>
                  <a:srgbClr val="006FC0"/>
                </a:solidFill>
                <a:latin typeface="Arial"/>
                <a:cs typeface="Arial"/>
              </a:rPr>
              <a:t>co</a:t>
            </a:r>
            <a:r>
              <a:rPr sz="2600" spc="-185" dirty="0">
                <a:solidFill>
                  <a:srgbClr val="006FC0"/>
                </a:solidFill>
                <a:latin typeface="Arial"/>
                <a:cs typeface="Arial"/>
              </a:rPr>
              <a:t>n</a:t>
            </a:r>
            <a:r>
              <a:rPr sz="2600" spc="-30" dirty="0">
                <a:solidFill>
                  <a:srgbClr val="006FC0"/>
                </a:solidFill>
                <a:latin typeface="Arial"/>
                <a:cs typeface="Arial"/>
              </a:rPr>
              <a:t>tr</a:t>
            </a:r>
            <a:r>
              <a:rPr sz="2600" spc="-40" dirty="0">
                <a:solidFill>
                  <a:srgbClr val="006FC0"/>
                </a:solidFill>
                <a:latin typeface="Arial"/>
                <a:cs typeface="Arial"/>
              </a:rPr>
              <a:t>o</a:t>
            </a:r>
            <a:r>
              <a:rPr sz="2600" spc="-15" dirty="0">
                <a:solidFill>
                  <a:srgbClr val="006FC0"/>
                </a:solidFill>
                <a:latin typeface="Arial"/>
                <a:cs typeface="Arial"/>
              </a:rPr>
              <a:t>l</a:t>
            </a:r>
            <a:r>
              <a:rPr sz="26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600" spc="-450" dirty="0">
                <a:solidFill>
                  <a:srgbClr val="006FC0"/>
                </a:solidFill>
                <a:latin typeface="Arial"/>
                <a:cs typeface="Arial"/>
              </a:rPr>
              <a:t>a</a:t>
            </a:r>
            <a:r>
              <a:rPr sz="2600" spc="-400" dirty="0">
                <a:solidFill>
                  <a:srgbClr val="006FC0"/>
                </a:solidFill>
                <a:latin typeface="Arial"/>
                <a:cs typeface="Arial"/>
              </a:rPr>
              <a:t>s</a:t>
            </a:r>
            <a:r>
              <a:rPr sz="26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600" spc="-285" dirty="0">
                <a:solidFill>
                  <a:srgbClr val="006FC0"/>
                </a:solidFill>
                <a:latin typeface="Arial"/>
                <a:cs typeface="Arial"/>
              </a:rPr>
              <a:t>use</a:t>
            </a:r>
            <a:r>
              <a:rPr sz="2600" spc="-290" dirty="0">
                <a:solidFill>
                  <a:srgbClr val="006FC0"/>
                </a:solidFill>
                <a:latin typeface="Arial"/>
                <a:cs typeface="Arial"/>
              </a:rPr>
              <a:t>d</a:t>
            </a:r>
            <a:r>
              <a:rPr sz="26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600" spc="-165" dirty="0">
                <a:solidFill>
                  <a:srgbClr val="006FC0"/>
                </a:solidFill>
                <a:latin typeface="Arial"/>
                <a:cs typeface="Arial"/>
              </a:rPr>
              <a:t>o</a:t>
            </a:r>
            <a:r>
              <a:rPr sz="2600" spc="-170" dirty="0">
                <a:solidFill>
                  <a:srgbClr val="006FC0"/>
                </a:solidFill>
                <a:latin typeface="Arial"/>
                <a:cs typeface="Arial"/>
              </a:rPr>
              <a:t>n</a:t>
            </a:r>
            <a:r>
              <a:rPr sz="26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600" spc="-195" dirty="0">
                <a:solidFill>
                  <a:srgbClr val="006FC0"/>
                </a:solidFill>
                <a:latin typeface="Arial"/>
                <a:cs typeface="Arial"/>
              </a:rPr>
              <a:t>shi</a:t>
            </a:r>
            <a:r>
              <a:rPr sz="2600" spc="-245" dirty="0">
                <a:solidFill>
                  <a:srgbClr val="006FC0"/>
                </a:solidFill>
                <a:latin typeface="Arial"/>
                <a:cs typeface="Arial"/>
              </a:rPr>
              <a:t>p</a:t>
            </a:r>
            <a:r>
              <a:rPr sz="2600" spc="-475" dirty="0">
                <a:solidFill>
                  <a:srgbClr val="006FC0"/>
                </a:solidFill>
                <a:latin typeface="Arial"/>
                <a:cs typeface="Arial"/>
              </a:rPr>
              <a:t>s</a:t>
            </a:r>
            <a:r>
              <a:rPr sz="26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600" spc="-210" dirty="0">
                <a:solidFill>
                  <a:srgbClr val="006FC0"/>
                </a:solidFill>
                <a:latin typeface="Arial"/>
                <a:cs typeface="Arial"/>
              </a:rPr>
              <a:t>navi</a:t>
            </a:r>
            <a:r>
              <a:rPr sz="2600" spc="-265" dirty="0">
                <a:solidFill>
                  <a:srgbClr val="006FC0"/>
                </a:solidFill>
                <a:latin typeface="Arial"/>
                <a:cs typeface="Arial"/>
              </a:rPr>
              <a:t>g</a:t>
            </a:r>
            <a:r>
              <a:rPr sz="2600" spc="-125" dirty="0">
                <a:solidFill>
                  <a:srgbClr val="006FC0"/>
                </a:solidFill>
                <a:latin typeface="Arial"/>
                <a:cs typeface="Arial"/>
              </a:rPr>
              <a:t>at</a:t>
            </a:r>
            <a:r>
              <a:rPr sz="2600" spc="-80" dirty="0">
                <a:solidFill>
                  <a:srgbClr val="006FC0"/>
                </a:solidFill>
                <a:latin typeface="Arial"/>
                <a:cs typeface="Arial"/>
              </a:rPr>
              <a:t>i</a:t>
            </a:r>
            <a:r>
              <a:rPr sz="2600" spc="-170" dirty="0">
                <a:solidFill>
                  <a:srgbClr val="006FC0"/>
                </a:solidFill>
                <a:latin typeface="Arial"/>
                <a:cs typeface="Arial"/>
              </a:rPr>
              <a:t>on</a:t>
            </a:r>
            <a:r>
              <a:rPr sz="26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600" spc="-85" dirty="0">
                <a:solidFill>
                  <a:srgbClr val="006FC0"/>
                </a:solidFill>
                <a:latin typeface="Arial"/>
                <a:cs typeface="Arial"/>
              </a:rPr>
              <a:t>o</a:t>
            </a:r>
            <a:r>
              <a:rPr sz="2600" spc="-55" dirty="0">
                <a:solidFill>
                  <a:srgbClr val="006FC0"/>
                </a:solidFill>
                <a:latin typeface="Arial"/>
                <a:cs typeface="Arial"/>
              </a:rPr>
              <a:t>r</a:t>
            </a:r>
            <a:r>
              <a:rPr sz="26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600" spc="-5" dirty="0">
                <a:solidFill>
                  <a:srgbClr val="006FC0"/>
                </a:solidFill>
                <a:latin typeface="Arial"/>
                <a:cs typeface="Arial"/>
              </a:rPr>
              <a:t>f</a:t>
            </a:r>
            <a:r>
              <a:rPr sz="2600" spc="-75" dirty="0">
                <a:solidFill>
                  <a:srgbClr val="006FC0"/>
                </a:solidFill>
                <a:latin typeface="Arial"/>
                <a:cs typeface="Arial"/>
              </a:rPr>
              <a:t>or</a:t>
            </a:r>
            <a:r>
              <a:rPr sz="26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600" spc="-20" dirty="0">
                <a:solidFill>
                  <a:srgbClr val="006FC0"/>
                </a:solidFill>
                <a:latin typeface="Arial"/>
                <a:cs typeface="Arial"/>
              </a:rPr>
              <a:t>r</a:t>
            </a:r>
            <a:r>
              <a:rPr sz="2600" spc="-170" dirty="0">
                <a:solidFill>
                  <a:srgbClr val="006FC0"/>
                </a:solidFill>
                <a:latin typeface="Arial"/>
                <a:cs typeface="Arial"/>
              </a:rPr>
              <a:t>o</a:t>
            </a:r>
            <a:r>
              <a:rPr sz="2600" spc="-165" dirty="0">
                <a:solidFill>
                  <a:srgbClr val="006FC0"/>
                </a:solidFill>
                <a:latin typeface="Arial"/>
                <a:cs typeface="Arial"/>
              </a:rPr>
              <a:t>b</a:t>
            </a:r>
            <a:r>
              <a:rPr sz="2600" spc="-40" dirty="0">
                <a:solidFill>
                  <a:srgbClr val="006FC0"/>
                </a:solidFill>
                <a:latin typeface="Arial"/>
                <a:cs typeface="Arial"/>
              </a:rPr>
              <a:t>ot</a:t>
            </a:r>
            <a:r>
              <a:rPr sz="2600" spc="-35" dirty="0">
                <a:solidFill>
                  <a:srgbClr val="006FC0"/>
                </a:solidFill>
                <a:latin typeface="Arial"/>
                <a:cs typeface="Arial"/>
              </a:rPr>
              <a:t>i</a:t>
            </a:r>
            <a:r>
              <a:rPr sz="2600" spc="-220" dirty="0">
                <a:solidFill>
                  <a:srgbClr val="006FC0"/>
                </a:solidFill>
                <a:latin typeface="Arial"/>
                <a:cs typeface="Arial"/>
              </a:rPr>
              <a:t>c</a:t>
            </a:r>
            <a:r>
              <a:rPr sz="26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600" spc="-225" dirty="0">
                <a:solidFill>
                  <a:srgbClr val="006FC0"/>
                </a:solidFill>
                <a:latin typeface="Arial"/>
                <a:cs typeface="Arial"/>
              </a:rPr>
              <a:t>a</a:t>
            </a:r>
            <a:r>
              <a:rPr sz="2600" spc="-145" dirty="0">
                <a:solidFill>
                  <a:srgbClr val="006FC0"/>
                </a:solidFill>
                <a:latin typeface="Arial"/>
                <a:cs typeface="Arial"/>
              </a:rPr>
              <a:t>r</a:t>
            </a:r>
            <a:r>
              <a:rPr sz="2600" spc="-215" dirty="0">
                <a:solidFill>
                  <a:srgbClr val="006FC0"/>
                </a:solidFill>
                <a:latin typeface="Arial"/>
                <a:cs typeface="Arial"/>
              </a:rPr>
              <a:t>m</a:t>
            </a:r>
            <a:endParaRPr sz="2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3540" y="2375128"/>
            <a:ext cx="8377555" cy="1641475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476884">
              <a:lnSpc>
                <a:spcPct val="100000"/>
              </a:lnSpc>
              <a:spcBef>
                <a:spcPts val="1780"/>
              </a:spcBef>
            </a:pPr>
            <a:r>
              <a:rPr sz="2600" spc="-145" dirty="0">
                <a:solidFill>
                  <a:srgbClr val="006FC0"/>
                </a:solidFill>
                <a:latin typeface="Arial"/>
                <a:cs typeface="Arial"/>
              </a:rPr>
              <a:t>positioning</a:t>
            </a:r>
            <a:r>
              <a:rPr sz="2600" spc="-4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600" spc="-165" dirty="0">
                <a:solidFill>
                  <a:srgbClr val="006FC0"/>
                </a:solidFill>
                <a:latin typeface="Arial"/>
                <a:cs typeface="Arial"/>
              </a:rPr>
              <a:t>etc.</a:t>
            </a:r>
            <a:endParaRPr sz="2600">
              <a:latin typeface="Arial"/>
              <a:cs typeface="Arial"/>
            </a:endParaRPr>
          </a:p>
          <a:p>
            <a:pPr marL="476884" marR="5080" indent="-464820">
              <a:lnSpc>
                <a:spcPct val="100000"/>
              </a:lnSpc>
              <a:spcBef>
                <a:spcPts val="1680"/>
              </a:spcBef>
              <a:buFont typeface="Wingdings"/>
              <a:buChar char=""/>
              <a:tabLst>
                <a:tab pos="476884" algn="l"/>
                <a:tab pos="477520" algn="l"/>
                <a:tab pos="836930" algn="l"/>
                <a:tab pos="2284730" algn="l"/>
                <a:tab pos="2963545" algn="l"/>
                <a:tab pos="3283585" algn="l"/>
                <a:tab pos="4225290" algn="l"/>
                <a:tab pos="5019675" algn="l"/>
                <a:tab pos="5511800" algn="l"/>
                <a:tab pos="5831840" algn="l"/>
                <a:tab pos="7013575" algn="l"/>
                <a:tab pos="7917180" algn="l"/>
              </a:tabLst>
            </a:pPr>
            <a:r>
              <a:rPr sz="2600" spc="-190" dirty="0">
                <a:solidFill>
                  <a:srgbClr val="006FC0"/>
                </a:solidFill>
                <a:latin typeface="Arial"/>
                <a:cs typeface="Arial"/>
              </a:rPr>
              <a:t>Here </a:t>
            </a:r>
            <a:r>
              <a:rPr sz="2600" spc="-50" dirty="0">
                <a:solidFill>
                  <a:srgbClr val="006FC0"/>
                </a:solidFill>
                <a:latin typeface="Arial"/>
                <a:cs typeface="Arial"/>
              </a:rPr>
              <a:t>for </a:t>
            </a:r>
            <a:r>
              <a:rPr sz="2600" spc="-220" dirty="0">
                <a:solidFill>
                  <a:srgbClr val="006FC0"/>
                </a:solidFill>
                <a:latin typeface="Arial"/>
                <a:cs typeface="Arial"/>
              </a:rPr>
              <a:t>example, </a:t>
            </a:r>
            <a:r>
              <a:rPr sz="2600" spc="-15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600" spc="-204" dirty="0">
                <a:solidFill>
                  <a:srgbClr val="006FC0"/>
                </a:solidFill>
                <a:latin typeface="Arial"/>
                <a:cs typeface="Arial"/>
              </a:rPr>
              <a:t>angular </a:t>
            </a:r>
            <a:r>
              <a:rPr sz="2600" spc="-70" dirty="0">
                <a:solidFill>
                  <a:srgbClr val="006FC0"/>
                </a:solidFill>
                <a:latin typeface="Arial"/>
                <a:cs typeface="Arial"/>
              </a:rPr>
              <a:t>or </a:t>
            </a:r>
            <a:r>
              <a:rPr sz="2600" spc="-95" dirty="0">
                <a:solidFill>
                  <a:srgbClr val="006FC0"/>
                </a:solidFill>
                <a:latin typeface="Arial"/>
                <a:cs typeface="Arial"/>
              </a:rPr>
              <a:t>rotary </a:t>
            </a:r>
            <a:r>
              <a:rPr sz="2600" spc="-140" dirty="0">
                <a:solidFill>
                  <a:srgbClr val="006FC0"/>
                </a:solidFill>
                <a:latin typeface="Arial"/>
                <a:cs typeface="Arial"/>
              </a:rPr>
              <a:t>position </a:t>
            </a:r>
            <a:r>
              <a:rPr sz="2600" spc="-6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600" spc="-365" dirty="0">
                <a:solidFill>
                  <a:srgbClr val="006FC0"/>
                </a:solidFill>
                <a:latin typeface="Arial"/>
                <a:cs typeface="Arial"/>
              </a:rPr>
              <a:t>a </a:t>
            </a:r>
            <a:r>
              <a:rPr sz="2600" spc="-290" dirty="0">
                <a:solidFill>
                  <a:srgbClr val="006FC0"/>
                </a:solidFill>
                <a:latin typeface="Arial"/>
                <a:cs typeface="Arial"/>
              </a:rPr>
              <a:t>compass  </a:t>
            </a:r>
            <a:r>
              <a:rPr sz="2600" spc="-245" dirty="0">
                <a:solidFill>
                  <a:srgbClr val="006FC0"/>
                </a:solidFill>
                <a:latin typeface="Arial"/>
                <a:cs typeface="Arial"/>
              </a:rPr>
              <a:t>is</a:t>
            </a:r>
            <a:r>
              <a:rPr sz="26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600" spc="-150" dirty="0">
                <a:solidFill>
                  <a:srgbClr val="006FC0"/>
                </a:solidFill>
                <a:latin typeface="Arial"/>
                <a:cs typeface="Arial"/>
              </a:rPr>
              <a:t>conver</a:t>
            </a:r>
            <a:r>
              <a:rPr sz="2600" spc="-100" dirty="0">
                <a:solidFill>
                  <a:srgbClr val="006FC0"/>
                </a:solidFill>
                <a:latin typeface="Arial"/>
                <a:cs typeface="Arial"/>
              </a:rPr>
              <a:t>t</a:t>
            </a:r>
            <a:r>
              <a:rPr sz="2600" spc="-335" dirty="0">
                <a:solidFill>
                  <a:srgbClr val="006FC0"/>
                </a:solidFill>
                <a:latin typeface="Arial"/>
                <a:cs typeface="Arial"/>
              </a:rPr>
              <a:t>e</a:t>
            </a:r>
            <a:r>
              <a:rPr sz="2600" spc="-145" dirty="0">
                <a:solidFill>
                  <a:srgbClr val="006FC0"/>
                </a:solidFill>
                <a:latin typeface="Arial"/>
                <a:cs typeface="Arial"/>
              </a:rPr>
              <a:t>d</a:t>
            </a:r>
            <a:r>
              <a:rPr sz="26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600" spc="-55" dirty="0">
                <a:solidFill>
                  <a:srgbClr val="006FC0"/>
                </a:solidFill>
                <a:latin typeface="Arial"/>
                <a:cs typeface="Arial"/>
              </a:rPr>
              <a:t>int</a:t>
            </a:r>
            <a:r>
              <a:rPr sz="2600" spc="-145" dirty="0">
                <a:solidFill>
                  <a:srgbClr val="006FC0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600" spc="-365" dirty="0">
                <a:solidFill>
                  <a:srgbClr val="006FC0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600" spc="-95" dirty="0">
                <a:solidFill>
                  <a:srgbClr val="006FC0"/>
                </a:solidFill>
                <a:latin typeface="Arial"/>
                <a:cs typeface="Arial"/>
              </a:rPr>
              <a:t>digi</a:t>
            </a:r>
            <a:r>
              <a:rPr sz="2600" spc="-75" dirty="0">
                <a:solidFill>
                  <a:srgbClr val="006FC0"/>
                </a:solidFill>
                <a:latin typeface="Arial"/>
                <a:cs typeface="Arial"/>
              </a:rPr>
              <a:t>t</a:t>
            </a:r>
            <a:r>
              <a:rPr sz="2600" spc="-190" dirty="0">
                <a:solidFill>
                  <a:srgbClr val="006FC0"/>
                </a:solidFill>
                <a:latin typeface="Arial"/>
                <a:cs typeface="Arial"/>
              </a:rPr>
              <a:t>al</a:t>
            </a:r>
            <a:r>
              <a:rPr sz="26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600" spc="-210" dirty="0">
                <a:solidFill>
                  <a:srgbClr val="006FC0"/>
                </a:solidFill>
                <a:latin typeface="Arial"/>
                <a:cs typeface="Arial"/>
              </a:rPr>
              <a:t>code</a:t>
            </a:r>
            <a:r>
              <a:rPr sz="26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600" spc="-160" dirty="0">
                <a:solidFill>
                  <a:srgbClr val="006FC0"/>
                </a:solidFill>
                <a:latin typeface="Arial"/>
                <a:cs typeface="Arial"/>
              </a:rPr>
              <a:t>by</a:t>
            </a:r>
            <a:r>
              <a:rPr sz="26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600" spc="-365" dirty="0">
                <a:solidFill>
                  <a:srgbClr val="006FC0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600" spc="-375" dirty="0">
                <a:solidFill>
                  <a:srgbClr val="006FC0"/>
                </a:solidFill>
                <a:latin typeface="Arial"/>
                <a:cs typeface="Arial"/>
              </a:rPr>
              <a:t>74</a:t>
            </a:r>
            <a:r>
              <a:rPr sz="2600" spc="-325" dirty="0">
                <a:solidFill>
                  <a:srgbClr val="006FC0"/>
                </a:solidFill>
                <a:latin typeface="Arial"/>
                <a:cs typeface="Arial"/>
              </a:rPr>
              <a:t>L</a:t>
            </a:r>
            <a:r>
              <a:rPr sz="2600" spc="-390" dirty="0">
                <a:solidFill>
                  <a:srgbClr val="006FC0"/>
                </a:solidFill>
                <a:latin typeface="Arial"/>
                <a:cs typeface="Arial"/>
              </a:rPr>
              <a:t>S</a:t>
            </a:r>
            <a:r>
              <a:rPr sz="2600" spc="-375" dirty="0">
                <a:solidFill>
                  <a:srgbClr val="006FC0"/>
                </a:solidFill>
                <a:latin typeface="Arial"/>
                <a:cs typeface="Arial"/>
              </a:rPr>
              <a:t>14</a:t>
            </a:r>
            <a:r>
              <a:rPr sz="2600" spc="-370" dirty="0">
                <a:solidFill>
                  <a:srgbClr val="006FC0"/>
                </a:solidFill>
                <a:latin typeface="Arial"/>
                <a:cs typeface="Arial"/>
              </a:rPr>
              <a:t>8</a:t>
            </a:r>
            <a:r>
              <a:rPr sz="26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600" spc="-375" dirty="0">
                <a:solidFill>
                  <a:srgbClr val="006FC0"/>
                </a:solidFill>
                <a:latin typeface="Arial"/>
                <a:cs typeface="Arial"/>
              </a:rPr>
              <a:t>8</a:t>
            </a:r>
            <a:r>
              <a:rPr sz="2600" spc="-150" dirty="0">
                <a:solidFill>
                  <a:srgbClr val="006FC0"/>
                </a:solidFill>
                <a:latin typeface="Arial"/>
                <a:cs typeface="Arial"/>
              </a:rPr>
              <a:t>-</a:t>
            </a:r>
            <a:r>
              <a:rPr sz="2600" spc="-35" dirty="0">
                <a:solidFill>
                  <a:srgbClr val="006FC0"/>
                </a:solidFill>
                <a:latin typeface="Arial"/>
                <a:cs typeface="Arial"/>
              </a:rPr>
              <a:t>t</a:t>
            </a:r>
            <a:r>
              <a:rPr sz="2600" spc="-55" dirty="0">
                <a:solidFill>
                  <a:srgbClr val="006FC0"/>
                </a:solidFill>
                <a:latin typeface="Arial"/>
                <a:cs typeface="Arial"/>
              </a:rPr>
              <a:t>o</a:t>
            </a:r>
            <a:r>
              <a:rPr sz="2600" spc="-150" dirty="0">
                <a:solidFill>
                  <a:srgbClr val="006FC0"/>
                </a:solidFill>
                <a:latin typeface="Arial"/>
                <a:cs typeface="Arial"/>
              </a:rPr>
              <a:t>-</a:t>
            </a:r>
            <a:r>
              <a:rPr sz="2600" spc="-370" dirty="0">
                <a:solidFill>
                  <a:srgbClr val="006FC0"/>
                </a:solidFill>
                <a:latin typeface="Arial"/>
                <a:cs typeface="Arial"/>
              </a:rPr>
              <a:t>3</a:t>
            </a:r>
            <a:r>
              <a:rPr sz="26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600" spc="-135" dirty="0">
                <a:solidFill>
                  <a:srgbClr val="006FC0"/>
                </a:solidFill>
                <a:latin typeface="Arial"/>
                <a:cs typeface="Arial"/>
              </a:rPr>
              <a:t>line</a:t>
            </a:r>
            <a:endParaRPr sz="2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3540" y="3990213"/>
            <a:ext cx="8378825" cy="2404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6884" marR="5080" algn="just">
              <a:lnSpc>
                <a:spcPct val="100000"/>
              </a:lnSpc>
              <a:spcBef>
                <a:spcPts val="100"/>
              </a:spcBef>
            </a:pPr>
            <a:r>
              <a:rPr sz="2600" spc="-55" dirty="0">
                <a:solidFill>
                  <a:srgbClr val="006FC0"/>
                </a:solidFill>
                <a:latin typeface="Arial"/>
                <a:cs typeface="Arial"/>
              </a:rPr>
              <a:t>priority </a:t>
            </a:r>
            <a:r>
              <a:rPr sz="2600" spc="-195" dirty="0">
                <a:solidFill>
                  <a:srgbClr val="006FC0"/>
                </a:solidFill>
                <a:latin typeface="Arial"/>
                <a:cs typeface="Arial"/>
              </a:rPr>
              <a:t>encoder </a:t>
            </a:r>
            <a:r>
              <a:rPr sz="2600" spc="-235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600" spc="-95" dirty="0">
                <a:solidFill>
                  <a:srgbClr val="006FC0"/>
                </a:solidFill>
                <a:latin typeface="Arial"/>
                <a:cs typeface="Arial"/>
              </a:rPr>
              <a:t>input </a:t>
            </a:r>
            <a:r>
              <a:rPr sz="2600" spc="-45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600" spc="-15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600" spc="-295" dirty="0">
                <a:solidFill>
                  <a:srgbClr val="006FC0"/>
                </a:solidFill>
                <a:latin typeface="Arial"/>
                <a:cs typeface="Arial"/>
              </a:rPr>
              <a:t>systems </a:t>
            </a:r>
            <a:r>
              <a:rPr sz="2600" spc="-145" dirty="0">
                <a:solidFill>
                  <a:srgbClr val="006FC0"/>
                </a:solidFill>
                <a:latin typeface="Arial"/>
                <a:cs typeface="Arial"/>
              </a:rPr>
              <a:t>computer </a:t>
            </a:r>
            <a:r>
              <a:rPr sz="2600" spc="-50" dirty="0">
                <a:solidFill>
                  <a:srgbClr val="006FC0"/>
                </a:solidFill>
                <a:latin typeface="Arial"/>
                <a:cs typeface="Arial"/>
              </a:rPr>
              <a:t>to  </a:t>
            </a:r>
            <a:r>
              <a:rPr sz="2600" spc="-140" dirty="0">
                <a:solidFill>
                  <a:srgbClr val="006FC0"/>
                </a:solidFill>
                <a:latin typeface="Arial"/>
                <a:cs typeface="Arial"/>
              </a:rPr>
              <a:t>provide</a:t>
            </a:r>
            <a:r>
              <a:rPr sz="2600" spc="44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600" spc="-180" dirty="0">
                <a:solidFill>
                  <a:srgbClr val="006FC0"/>
                </a:solidFill>
                <a:latin typeface="Arial"/>
                <a:cs typeface="Arial"/>
              </a:rPr>
              <a:t>navigational </a:t>
            </a:r>
            <a:r>
              <a:rPr sz="2600" spc="-210" dirty="0">
                <a:solidFill>
                  <a:srgbClr val="006FC0"/>
                </a:solidFill>
                <a:latin typeface="Arial"/>
                <a:cs typeface="Arial"/>
              </a:rPr>
              <a:t>data </a:t>
            </a:r>
            <a:r>
              <a:rPr sz="2600" spc="-235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600" spc="-280" dirty="0">
                <a:solidFill>
                  <a:srgbClr val="006FC0"/>
                </a:solidFill>
                <a:latin typeface="Arial"/>
                <a:cs typeface="Arial"/>
              </a:rPr>
              <a:t>an </a:t>
            </a:r>
            <a:r>
              <a:rPr sz="2600" spc="-225" dirty="0">
                <a:solidFill>
                  <a:srgbClr val="006FC0"/>
                </a:solidFill>
                <a:latin typeface="Arial"/>
                <a:cs typeface="Arial"/>
              </a:rPr>
              <a:t>example </a:t>
            </a:r>
            <a:r>
              <a:rPr sz="2600" spc="-6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600" spc="-365" dirty="0">
                <a:solidFill>
                  <a:srgbClr val="006FC0"/>
                </a:solidFill>
                <a:latin typeface="Arial"/>
                <a:cs typeface="Arial"/>
              </a:rPr>
              <a:t>a </a:t>
            </a:r>
            <a:r>
              <a:rPr sz="2600" spc="-200" dirty="0">
                <a:solidFill>
                  <a:srgbClr val="006FC0"/>
                </a:solidFill>
                <a:latin typeface="Arial"/>
                <a:cs typeface="Arial"/>
              </a:rPr>
              <a:t>simple </a:t>
            </a:r>
            <a:r>
              <a:rPr sz="2600" spc="-370" dirty="0">
                <a:solidFill>
                  <a:srgbClr val="006FC0"/>
                </a:solidFill>
                <a:latin typeface="Arial"/>
                <a:cs typeface="Arial"/>
              </a:rPr>
              <a:t>8  </a:t>
            </a:r>
            <a:r>
              <a:rPr sz="2600" spc="-130" dirty="0">
                <a:solidFill>
                  <a:srgbClr val="006FC0"/>
                </a:solidFill>
                <a:latin typeface="Arial"/>
                <a:cs typeface="Arial"/>
              </a:rPr>
              <a:t>position </a:t>
            </a:r>
            <a:r>
              <a:rPr sz="2600" spc="-45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600" spc="-135" dirty="0">
                <a:solidFill>
                  <a:srgbClr val="006FC0"/>
                </a:solidFill>
                <a:latin typeface="Arial"/>
                <a:cs typeface="Arial"/>
              </a:rPr>
              <a:t>3-bit </a:t>
            </a:r>
            <a:r>
              <a:rPr sz="2600" spc="-90" dirty="0">
                <a:solidFill>
                  <a:srgbClr val="006FC0"/>
                </a:solidFill>
                <a:latin typeface="Arial"/>
                <a:cs typeface="Arial"/>
              </a:rPr>
              <a:t>output </a:t>
            </a:r>
            <a:r>
              <a:rPr sz="2600" spc="-290" dirty="0">
                <a:solidFill>
                  <a:srgbClr val="006FC0"/>
                </a:solidFill>
                <a:latin typeface="Arial"/>
                <a:cs typeface="Arial"/>
              </a:rPr>
              <a:t>compass </a:t>
            </a:r>
            <a:r>
              <a:rPr sz="2600" spc="-190" dirty="0">
                <a:solidFill>
                  <a:srgbClr val="006FC0"/>
                </a:solidFill>
                <a:latin typeface="Arial"/>
                <a:cs typeface="Arial"/>
              </a:rPr>
              <a:t>encoder </a:t>
            </a:r>
            <a:r>
              <a:rPr sz="2600" spc="-250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600" spc="-245" dirty="0">
                <a:solidFill>
                  <a:srgbClr val="006FC0"/>
                </a:solidFill>
                <a:latin typeface="Arial"/>
                <a:cs typeface="Arial"/>
              </a:rPr>
              <a:t>shown</a:t>
            </a:r>
            <a:r>
              <a:rPr sz="2600" spc="9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600" spc="-180" dirty="0">
                <a:solidFill>
                  <a:srgbClr val="006FC0"/>
                </a:solidFill>
                <a:latin typeface="Arial"/>
                <a:cs typeface="Arial"/>
              </a:rPr>
              <a:t>below.</a:t>
            </a:r>
            <a:endParaRPr sz="2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700">
              <a:latin typeface="Arial"/>
              <a:cs typeface="Arial"/>
            </a:endParaRPr>
          </a:p>
          <a:p>
            <a:pPr marL="476884" marR="8255" indent="-464820">
              <a:lnSpc>
                <a:spcPct val="100000"/>
              </a:lnSpc>
              <a:buFont typeface="Wingdings"/>
              <a:buChar char=""/>
              <a:tabLst>
                <a:tab pos="476884" algn="l"/>
                <a:tab pos="477520" algn="l"/>
                <a:tab pos="1685925" algn="l"/>
                <a:tab pos="2294255" algn="l"/>
                <a:tab pos="3001645" algn="l"/>
                <a:tab pos="4176395" algn="l"/>
                <a:tab pos="5022850" algn="l"/>
                <a:tab pos="5470525" algn="l"/>
                <a:tab pos="6189980" algn="l"/>
                <a:tab pos="6572250" algn="l"/>
                <a:tab pos="7298055" algn="l"/>
              </a:tabLst>
            </a:pPr>
            <a:r>
              <a:rPr sz="2600" spc="-225" dirty="0">
                <a:solidFill>
                  <a:srgbClr val="006FC0"/>
                </a:solidFill>
                <a:latin typeface="Arial"/>
                <a:cs typeface="Arial"/>
              </a:rPr>
              <a:t>Mag</a:t>
            </a:r>
            <a:r>
              <a:rPr sz="2600" spc="-190" dirty="0">
                <a:solidFill>
                  <a:srgbClr val="006FC0"/>
                </a:solidFill>
                <a:latin typeface="Arial"/>
                <a:cs typeface="Arial"/>
              </a:rPr>
              <a:t>n</a:t>
            </a:r>
            <a:r>
              <a:rPr sz="2600" spc="-235" dirty="0">
                <a:solidFill>
                  <a:srgbClr val="006FC0"/>
                </a:solidFill>
                <a:latin typeface="Arial"/>
                <a:cs typeface="Arial"/>
              </a:rPr>
              <a:t>et</a:t>
            </a:r>
            <a:r>
              <a:rPr sz="2600" spc="-275" dirty="0">
                <a:solidFill>
                  <a:srgbClr val="006FC0"/>
                </a:solidFill>
                <a:latin typeface="Arial"/>
                <a:cs typeface="Arial"/>
              </a:rPr>
              <a:t>s</a:t>
            </a:r>
            <a:r>
              <a:rPr sz="26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600" spc="-235" dirty="0">
                <a:solidFill>
                  <a:srgbClr val="006FC0"/>
                </a:solidFill>
                <a:latin typeface="Arial"/>
                <a:cs typeface="Arial"/>
              </a:rPr>
              <a:t>and</a:t>
            </a:r>
            <a:r>
              <a:rPr sz="26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600" spc="-195" dirty="0">
                <a:solidFill>
                  <a:srgbClr val="006FC0"/>
                </a:solidFill>
                <a:latin typeface="Arial"/>
                <a:cs typeface="Arial"/>
              </a:rPr>
              <a:t>ree</a:t>
            </a:r>
            <a:r>
              <a:rPr sz="2600" spc="-220" dirty="0">
                <a:solidFill>
                  <a:srgbClr val="006FC0"/>
                </a:solidFill>
                <a:latin typeface="Arial"/>
                <a:cs typeface="Arial"/>
              </a:rPr>
              <a:t>d</a:t>
            </a:r>
            <a:r>
              <a:rPr sz="26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600" spc="-185" dirty="0">
                <a:solidFill>
                  <a:srgbClr val="006FC0"/>
                </a:solidFill>
                <a:latin typeface="Arial"/>
                <a:cs typeface="Arial"/>
              </a:rPr>
              <a:t>swi</a:t>
            </a:r>
            <a:r>
              <a:rPr sz="2600" spc="-130" dirty="0">
                <a:solidFill>
                  <a:srgbClr val="006FC0"/>
                </a:solidFill>
                <a:latin typeface="Arial"/>
                <a:cs typeface="Arial"/>
              </a:rPr>
              <a:t>t</a:t>
            </a:r>
            <a:r>
              <a:rPr sz="2600" spc="-300" dirty="0">
                <a:solidFill>
                  <a:srgbClr val="006FC0"/>
                </a:solidFill>
                <a:latin typeface="Arial"/>
                <a:cs typeface="Arial"/>
              </a:rPr>
              <a:t>ches</a:t>
            </a:r>
            <a:r>
              <a:rPr sz="26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600" spc="-145" dirty="0">
                <a:solidFill>
                  <a:srgbClr val="006FC0"/>
                </a:solidFill>
                <a:latin typeface="Arial"/>
                <a:cs typeface="Arial"/>
              </a:rPr>
              <a:t>could</a:t>
            </a:r>
            <a:r>
              <a:rPr sz="26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600" spc="-254" dirty="0">
                <a:solidFill>
                  <a:srgbClr val="006FC0"/>
                </a:solidFill>
                <a:latin typeface="Arial"/>
                <a:cs typeface="Arial"/>
              </a:rPr>
              <a:t>be</a:t>
            </a:r>
            <a:r>
              <a:rPr sz="26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600" spc="-285" dirty="0">
                <a:solidFill>
                  <a:srgbClr val="006FC0"/>
                </a:solidFill>
                <a:latin typeface="Arial"/>
                <a:cs typeface="Arial"/>
              </a:rPr>
              <a:t>use</a:t>
            </a:r>
            <a:r>
              <a:rPr sz="2600" spc="-290" dirty="0">
                <a:solidFill>
                  <a:srgbClr val="006FC0"/>
                </a:solidFill>
                <a:latin typeface="Arial"/>
                <a:cs typeface="Arial"/>
              </a:rPr>
              <a:t>d</a:t>
            </a:r>
            <a:r>
              <a:rPr sz="26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600" spc="-210" dirty="0">
                <a:solidFill>
                  <a:srgbClr val="006FC0"/>
                </a:solidFill>
                <a:latin typeface="Arial"/>
                <a:cs typeface="Arial"/>
              </a:rPr>
              <a:t>a</a:t>
            </a:r>
            <a:r>
              <a:rPr sz="2600" spc="-105" dirty="0">
                <a:solidFill>
                  <a:srgbClr val="006FC0"/>
                </a:solidFill>
                <a:latin typeface="Arial"/>
                <a:cs typeface="Arial"/>
              </a:rPr>
              <a:t>t</a:t>
            </a:r>
            <a:r>
              <a:rPr sz="26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600" spc="-315" dirty="0">
                <a:solidFill>
                  <a:srgbClr val="006FC0"/>
                </a:solidFill>
                <a:latin typeface="Arial"/>
                <a:cs typeface="Arial"/>
              </a:rPr>
              <a:t>ea</a:t>
            </a:r>
            <a:r>
              <a:rPr sz="2600" spc="-295" dirty="0">
                <a:solidFill>
                  <a:srgbClr val="006FC0"/>
                </a:solidFill>
                <a:latin typeface="Arial"/>
                <a:cs typeface="Arial"/>
              </a:rPr>
              <a:t>c</a:t>
            </a:r>
            <a:r>
              <a:rPr sz="2600" spc="-190" dirty="0">
                <a:solidFill>
                  <a:srgbClr val="006FC0"/>
                </a:solidFill>
                <a:latin typeface="Arial"/>
                <a:cs typeface="Arial"/>
              </a:rPr>
              <a:t>h</a:t>
            </a:r>
            <a:r>
              <a:rPr sz="26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600" spc="-220" dirty="0">
                <a:solidFill>
                  <a:srgbClr val="006FC0"/>
                </a:solidFill>
                <a:latin typeface="Arial"/>
                <a:cs typeface="Arial"/>
              </a:rPr>
              <a:t>comp</a:t>
            </a:r>
            <a:r>
              <a:rPr sz="2600" spc="-210" dirty="0">
                <a:solidFill>
                  <a:srgbClr val="006FC0"/>
                </a:solidFill>
                <a:latin typeface="Arial"/>
                <a:cs typeface="Arial"/>
              </a:rPr>
              <a:t>a</a:t>
            </a:r>
            <a:r>
              <a:rPr sz="2600" spc="-370" dirty="0">
                <a:solidFill>
                  <a:srgbClr val="006FC0"/>
                </a:solidFill>
                <a:latin typeface="Arial"/>
                <a:cs typeface="Arial"/>
              </a:rPr>
              <a:t>ss  </a:t>
            </a:r>
            <a:r>
              <a:rPr sz="2600" spc="-85" dirty="0">
                <a:solidFill>
                  <a:srgbClr val="006FC0"/>
                </a:solidFill>
                <a:latin typeface="Arial"/>
                <a:cs typeface="Arial"/>
              </a:rPr>
              <a:t>point </a:t>
            </a:r>
            <a:r>
              <a:rPr sz="2600" spc="-45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600" spc="-150" dirty="0">
                <a:solidFill>
                  <a:srgbClr val="006FC0"/>
                </a:solidFill>
                <a:latin typeface="Arial"/>
                <a:cs typeface="Arial"/>
              </a:rPr>
              <a:t>indicate </a:t>
            </a:r>
            <a:r>
              <a:rPr sz="2600" spc="-15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600" spc="-254" dirty="0">
                <a:solidFill>
                  <a:srgbClr val="006FC0"/>
                </a:solidFill>
                <a:latin typeface="Arial"/>
                <a:cs typeface="Arial"/>
              </a:rPr>
              <a:t>needles </a:t>
            </a:r>
            <a:r>
              <a:rPr sz="2600" spc="-204" dirty="0">
                <a:solidFill>
                  <a:srgbClr val="006FC0"/>
                </a:solidFill>
                <a:latin typeface="Arial"/>
                <a:cs typeface="Arial"/>
              </a:rPr>
              <a:t>angular</a:t>
            </a:r>
            <a:r>
              <a:rPr sz="2600" spc="16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600" spc="-135" dirty="0">
                <a:solidFill>
                  <a:srgbClr val="006FC0"/>
                </a:solidFill>
                <a:latin typeface="Arial"/>
                <a:cs typeface="Arial"/>
              </a:rPr>
              <a:t>position.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sp>
          <p:nvSpPr>
            <p:cNvPr id="11" name="object 11"/>
            <p:cNvSpPr/>
            <p:nvPr/>
          </p:nvSpPr>
          <p:spPr>
            <a:xfrm>
              <a:off x="8593835" y="6620255"/>
              <a:ext cx="550164" cy="23774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630411" y="6556243"/>
              <a:ext cx="513588" cy="3017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83540" y="1072641"/>
            <a:ext cx="8375015" cy="11449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256540" algn="ctr">
              <a:lnSpc>
                <a:spcPts val="2355"/>
              </a:lnSpc>
              <a:spcBef>
                <a:spcPts val="105"/>
              </a:spcBef>
            </a:pPr>
            <a:r>
              <a:rPr sz="2000" b="1" spc="-235" dirty="0">
                <a:solidFill>
                  <a:srgbClr val="C00000"/>
                </a:solidFill>
                <a:latin typeface="Arial"/>
                <a:cs typeface="Arial"/>
              </a:rPr>
              <a:t>Encoder</a:t>
            </a:r>
            <a:r>
              <a:rPr sz="2000" b="1" spc="-6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200" dirty="0">
                <a:solidFill>
                  <a:srgbClr val="C00000"/>
                </a:solidFill>
                <a:latin typeface="Arial"/>
                <a:cs typeface="Arial"/>
              </a:rPr>
              <a:t>Applications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ts val="3315"/>
              </a:lnSpc>
            </a:pPr>
            <a:r>
              <a:rPr sz="2800" b="1" u="heavy" spc="-20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(ii) </a:t>
            </a:r>
            <a:r>
              <a:rPr sz="2800" b="1" u="heavy" spc="-3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Positional</a:t>
            </a:r>
            <a:r>
              <a:rPr sz="2800" b="1" u="heavy" spc="-3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800" b="1" u="heavy" spc="-37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Encoders</a:t>
            </a:r>
            <a:endParaRPr sz="2800">
              <a:latin typeface="Arial"/>
              <a:cs typeface="Arial"/>
            </a:endParaRPr>
          </a:p>
          <a:p>
            <a:pPr marL="477520" indent="-464820">
              <a:lnSpc>
                <a:spcPct val="100000"/>
              </a:lnSpc>
              <a:spcBef>
                <a:spcPts val="20"/>
              </a:spcBef>
              <a:buFont typeface="Wingdings"/>
              <a:buChar char=""/>
              <a:tabLst>
                <a:tab pos="476884" algn="l"/>
                <a:tab pos="477520" algn="l"/>
              </a:tabLst>
            </a:pPr>
            <a:r>
              <a:rPr sz="2600" spc="-90" dirty="0">
                <a:solidFill>
                  <a:srgbClr val="006FC0"/>
                </a:solidFill>
                <a:latin typeface="Arial"/>
                <a:cs typeface="Arial"/>
              </a:rPr>
              <a:t>Another </a:t>
            </a:r>
            <a:r>
              <a:rPr sz="2600" spc="-175" dirty="0">
                <a:solidFill>
                  <a:srgbClr val="006FC0"/>
                </a:solidFill>
                <a:latin typeface="Arial"/>
                <a:cs typeface="Arial"/>
              </a:rPr>
              <a:t>more </a:t>
            </a:r>
            <a:r>
              <a:rPr sz="2600" spc="-190" dirty="0">
                <a:solidFill>
                  <a:srgbClr val="006FC0"/>
                </a:solidFill>
                <a:latin typeface="Arial"/>
                <a:cs typeface="Arial"/>
              </a:rPr>
              <a:t>common </a:t>
            </a:r>
            <a:r>
              <a:rPr sz="2600" spc="-145" dirty="0">
                <a:solidFill>
                  <a:srgbClr val="006FC0"/>
                </a:solidFill>
                <a:latin typeface="Arial"/>
                <a:cs typeface="Arial"/>
              </a:rPr>
              <a:t>application </a:t>
            </a:r>
            <a:r>
              <a:rPr sz="2600" spc="-250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600" spc="-105" dirty="0">
                <a:solidFill>
                  <a:srgbClr val="006FC0"/>
                </a:solidFill>
                <a:latin typeface="Arial"/>
                <a:cs typeface="Arial"/>
              </a:rPr>
              <a:t>in </a:t>
            </a:r>
            <a:r>
              <a:rPr sz="2600" spc="-200" dirty="0">
                <a:solidFill>
                  <a:srgbClr val="006FC0"/>
                </a:solidFill>
                <a:latin typeface="Arial"/>
                <a:cs typeface="Arial"/>
              </a:rPr>
              <a:t>magnetic</a:t>
            </a:r>
            <a:r>
              <a:rPr sz="2600" spc="6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600" spc="-150" dirty="0">
                <a:solidFill>
                  <a:srgbClr val="006FC0"/>
                </a:solidFill>
                <a:latin typeface="Arial"/>
                <a:cs typeface="Arial"/>
              </a:rPr>
              <a:t>positional</a:t>
            </a:r>
            <a:endParaRPr sz="26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8739" y="6635530"/>
            <a:ext cx="723900" cy="17462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1000" b="1" spc="45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1000" b="1" spc="50" dirty="0">
                <a:solidFill>
                  <a:srgbClr val="C00000"/>
                </a:solidFill>
                <a:latin typeface="Arial"/>
                <a:cs typeface="Arial"/>
              </a:rPr>
              <a:t>U</a:t>
            </a:r>
            <a:r>
              <a:rPr sz="1000" b="1" spc="-5" dirty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1000" b="1" spc="-60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1000" b="1" spc="-10" dirty="0">
                <a:solidFill>
                  <a:srgbClr val="C00000"/>
                </a:solidFill>
                <a:latin typeface="Arial"/>
                <a:cs typeface="Arial"/>
              </a:rPr>
              <a:t>-</a:t>
            </a:r>
            <a:r>
              <a:rPr sz="1000" b="1" spc="100" dirty="0">
                <a:solidFill>
                  <a:srgbClr val="C00000"/>
                </a:solidFill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216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3316223" y="202679"/>
              <a:ext cx="2506979" cy="9342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</a:pPr>
            <a:r>
              <a:rPr spc="-155" dirty="0"/>
              <a:t>E</a:t>
            </a:r>
            <a:r>
              <a:rPr spc="-165" dirty="0"/>
              <a:t>N</a:t>
            </a:r>
            <a:r>
              <a:rPr spc="-35" dirty="0"/>
              <a:t>C</a:t>
            </a:r>
            <a:r>
              <a:rPr spc="-10" dirty="0"/>
              <a:t>ODERS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609600" y="2209800"/>
            <a:ext cx="8539480" cy="4648200"/>
            <a:chOff x="609600" y="2209800"/>
            <a:chExt cx="8539480" cy="4648200"/>
          </a:xfrm>
        </p:grpSpPr>
        <p:sp>
          <p:nvSpPr>
            <p:cNvPr id="8" name="object 8"/>
            <p:cNvSpPr/>
            <p:nvPr/>
          </p:nvSpPr>
          <p:spPr>
            <a:xfrm>
              <a:off x="8593835" y="6620254"/>
              <a:ext cx="550164" cy="23774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630411" y="6556243"/>
              <a:ext cx="513588" cy="3017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641080" y="6644639"/>
              <a:ext cx="502920" cy="1828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41080" y="6644639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09600" y="2209800"/>
              <a:ext cx="7767828" cy="3662171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376676" y="1072641"/>
            <a:ext cx="21240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35" dirty="0">
                <a:solidFill>
                  <a:srgbClr val="C00000"/>
                </a:solidFill>
                <a:latin typeface="Arial"/>
                <a:cs typeface="Arial"/>
              </a:rPr>
              <a:t>Encoder</a:t>
            </a:r>
            <a:r>
              <a:rPr sz="2000" b="1" spc="-10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200" dirty="0">
                <a:solidFill>
                  <a:srgbClr val="C00000"/>
                </a:solidFill>
                <a:latin typeface="Arial"/>
                <a:cs typeface="Arial"/>
              </a:rPr>
              <a:t>Applications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8739" y="6635530"/>
            <a:ext cx="723900" cy="17462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1000" b="1" spc="45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1000" b="1" spc="50" dirty="0">
                <a:solidFill>
                  <a:srgbClr val="C00000"/>
                </a:solidFill>
                <a:latin typeface="Arial"/>
                <a:cs typeface="Arial"/>
              </a:rPr>
              <a:t>U</a:t>
            </a:r>
            <a:r>
              <a:rPr sz="1000" b="1" spc="-5" dirty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1000" b="1" spc="-60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1000" b="1" spc="-10" dirty="0">
                <a:solidFill>
                  <a:srgbClr val="C00000"/>
                </a:solidFill>
                <a:latin typeface="Arial"/>
                <a:cs typeface="Arial"/>
              </a:rPr>
              <a:t>-</a:t>
            </a:r>
            <a:r>
              <a:rPr sz="1000" b="1" spc="100" dirty="0">
                <a:solidFill>
                  <a:srgbClr val="C00000"/>
                </a:solidFill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217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3316223" y="202679"/>
              <a:ext cx="2506979" cy="9342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</a:pPr>
            <a:r>
              <a:rPr spc="-155" dirty="0"/>
              <a:t>E</a:t>
            </a:r>
            <a:r>
              <a:rPr spc="-165" dirty="0"/>
              <a:t>N</a:t>
            </a:r>
            <a:r>
              <a:rPr spc="-35" dirty="0"/>
              <a:t>C</a:t>
            </a:r>
            <a:r>
              <a:rPr spc="-10" dirty="0"/>
              <a:t>ODERS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1600200" y="1981200"/>
            <a:ext cx="7548880" cy="4876800"/>
            <a:chOff x="1600200" y="1981200"/>
            <a:chExt cx="7548880" cy="4876800"/>
          </a:xfrm>
        </p:grpSpPr>
        <p:sp>
          <p:nvSpPr>
            <p:cNvPr id="8" name="object 8"/>
            <p:cNvSpPr/>
            <p:nvPr/>
          </p:nvSpPr>
          <p:spPr>
            <a:xfrm>
              <a:off x="8593835" y="6620254"/>
              <a:ext cx="550164" cy="23774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630411" y="6556242"/>
              <a:ext cx="513588" cy="3017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641080" y="6644640"/>
              <a:ext cx="502920" cy="1828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600200" y="1981200"/>
              <a:ext cx="5748528" cy="4043172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376676" y="1072641"/>
            <a:ext cx="21240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35" dirty="0">
                <a:solidFill>
                  <a:srgbClr val="C00000"/>
                </a:solidFill>
                <a:latin typeface="Arial"/>
                <a:cs typeface="Arial"/>
              </a:rPr>
              <a:t>Encoder</a:t>
            </a:r>
            <a:r>
              <a:rPr sz="2000" b="1" spc="-10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200" dirty="0">
                <a:solidFill>
                  <a:srgbClr val="C00000"/>
                </a:solidFill>
                <a:latin typeface="Arial"/>
                <a:cs typeface="Arial"/>
              </a:rPr>
              <a:t>Applications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8739" y="6635530"/>
            <a:ext cx="723900" cy="17462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1000" b="1" spc="45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1000" b="1" spc="50" dirty="0">
                <a:solidFill>
                  <a:srgbClr val="C00000"/>
                </a:solidFill>
                <a:latin typeface="Arial"/>
                <a:cs typeface="Arial"/>
              </a:rPr>
              <a:t>U</a:t>
            </a:r>
            <a:r>
              <a:rPr sz="1000" b="1" spc="-5" dirty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1000" b="1" spc="-60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1000" b="1" spc="-10" dirty="0">
                <a:solidFill>
                  <a:srgbClr val="C00000"/>
                </a:solidFill>
                <a:latin typeface="Arial"/>
                <a:cs typeface="Arial"/>
              </a:rPr>
              <a:t>-</a:t>
            </a:r>
            <a:r>
              <a:rPr sz="1000" b="1" spc="100" dirty="0">
                <a:solidFill>
                  <a:srgbClr val="C00000"/>
                </a:solidFill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218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3316223" y="202679"/>
              <a:ext cx="2506979" cy="9342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590671" y="321386"/>
            <a:ext cx="196342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5" dirty="0"/>
              <a:t>E</a:t>
            </a:r>
            <a:r>
              <a:rPr spc="-165" dirty="0"/>
              <a:t>N</a:t>
            </a:r>
            <a:r>
              <a:rPr spc="-35" dirty="0"/>
              <a:t>C</a:t>
            </a:r>
            <a:r>
              <a:rPr spc="-10" dirty="0"/>
              <a:t>ODERS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628515" y="2161158"/>
            <a:ext cx="413194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55015" algn="l"/>
                <a:tab pos="2291080" algn="l"/>
                <a:tab pos="3886835" algn="l"/>
              </a:tabLst>
            </a:pPr>
            <a:r>
              <a:rPr sz="2600" spc="-55" dirty="0">
                <a:solidFill>
                  <a:srgbClr val="006FC0"/>
                </a:solidFill>
                <a:latin typeface="Arial"/>
                <a:cs typeface="Arial"/>
              </a:rPr>
              <a:t>fo</a:t>
            </a:r>
            <a:r>
              <a:rPr sz="2600" spc="-40" dirty="0">
                <a:solidFill>
                  <a:srgbClr val="006FC0"/>
                </a:solidFill>
                <a:latin typeface="Arial"/>
                <a:cs typeface="Arial"/>
              </a:rPr>
              <a:t>r</a:t>
            </a:r>
            <a:r>
              <a:rPr sz="26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600" spc="-190" dirty="0">
                <a:solidFill>
                  <a:srgbClr val="006FC0"/>
                </a:solidFill>
                <a:latin typeface="Arial"/>
                <a:cs typeface="Arial"/>
              </a:rPr>
              <a:t>dete</a:t>
            </a:r>
            <a:r>
              <a:rPr sz="2600" spc="-210" dirty="0">
                <a:solidFill>
                  <a:srgbClr val="006FC0"/>
                </a:solidFill>
                <a:latin typeface="Arial"/>
                <a:cs typeface="Arial"/>
              </a:rPr>
              <a:t>c</a:t>
            </a:r>
            <a:r>
              <a:rPr sz="2600" spc="-110" dirty="0">
                <a:solidFill>
                  <a:srgbClr val="006FC0"/>
                </a:solidFill>
                <a:latin typeface="Arial"/>
                <a:cs typeface="Arial"/>
              </a:rPr>
              <a:t>tin</a:t>
            </a:r>
            <a:r>
              <a:rPr sz="2600" spc="-160" dirty="0">
                <a:solidFill>
                  <a:srgbClr val="006FC0"/>
                </a:solidFill>
                <a:latin typeface="Arial"/>
                <a:cs typeface="Arial"/>
              </a:rPr>
              <a:t>g</a:t>
            </a:r>
            <a:r>
              <a:rPr sz="26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600" spc="-95" dirty="0">
                <a:solidFill>
                  <a:srgbClr val="006FC0"/>
                </a:solidFill>
                <a:latin typeface="Arial"/>
                <a:cs typeface="Arial"/>
              </a:rPr>
              <a:t>interru</a:t>
            </a:r>
            <a:r>
              <a:rPr sz="2600" spc="-140" dirty="0">
                <a:solidFill>
                  <a:srgbClr val="006FC0"/>
                </a:solidFill>
                <a:latin typeface="Arial"/>
                <a:cs typeface="Arial"/>
              </a:rPr>
              <a:t>p</a:t>
            </a:r>
            <a:r>
              <a:rPr sz="2600" spc="-155" dirty="0">
                <a:solidFill>
                  <a:srgbClr val="006FC0"/>
                </a:solidFill>
                <a:latin typeface="Arial"/>
                <a:cs typeface="Arial"/>
              </a:rPr>
              <a:t>t</a:t>
            </a:r>
            <a:r>
              <a:rPr sz="2600" spc="-270" dirty="0">
                <a:solidFill>
                  <a:srgbClr val="006FC0"/>
                </a:solidFill>
                <a:latin typeface="Arial"/>
                <a:cs typeface="Arial"/>
              </a:rPr>
              <a:t>s</a:t>
            </a:r>
            <a:r>
              <a:rPr sz="26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600" spc="-110" dirty="0">
                <a:solidFill>
                  <a:srgbClr val="006FC0"/>
                </a:solidFill>
                <a:latin typeface="Arial"/>
                <a:cs typeface="Arial"/>
              </a:rPr>
              <a:t>in</a:t>
            </a:r>
            <a:endParaRPr sz="2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3540" y="2161158"/>
            <a:ext cx="4081779" cy="8185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76884" marR="5080" indent="-464820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476884" algn="l"/>
                <a:tab pos="477520" algn="l"/>
                <a:tab pos="1781810" algn="l"/>
                <a:tab pos="3309620" algn="l"/>
              </a:tabLst>
            </a:pPr>
            <a:r>
              <a:rPr sz="2600" spc="-95" dirty="0">
                <a:solidFill>
                  <a:srgbClr val="006FC0"/>
                </a:solidFill>
                <a:latin typeface="Arial"/>
                <a:cs typeface="Arial"/>
              </a:rPr>
              <a:t>Priority	</a:t>
            </a:r>
            <a:r>
              <a:rPr sz="2600" spc="-245" dirty="0">
                <a:solidFill>
                  <a:srgbClr val="006FC0"/>
                </a:solidFill>
                <a:latin typeface="Arial"/>
                <a:cs typeface="Arial"/>
              </a:rPr>
              <a:t>Encoders	</a:t>
            </a:r>
            <a:r>
              <a:rPr sz="2600" spc="-285" dirty="0">
                <a:solidFill>
                  <a:srgbClr val="006FC0"/>
                </a:solidFill>
                <a:latin typeface="Arial"/>
                <a:cs typeface="Arial"/>
              </a:rPr>
              <a:t>used  </a:t>
            </a:r>
            <a:r>
              <a:rPr sz="2600" spc="-180" dirty="0">
                <a:solidFill>
                  <a:srgbClr val="006FC0"/>
                </a:solidFill>
                <a:latin typeface="Arial"/>
                <a:cs typeface="Arial"/>
              </a:rPr>
              <a:t>microprocessor</a:t>
            </a:r>
            <a:r>
              <a:rPr sz="2600" spc="-8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600" spc="-170" dirty="0">
                <a:solidFill>
                  <a:srgbClr val="006FC0"/>
                </a:solidFill>
                <a:latin typeface="Arial"/>
                <a:cs typeface="Arial"/>
              </a:rPr>
              <a:t>applications.</a:t>
            </a:r>
            <a:endParaRPr sz="2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3540" y="3349574"/>
            <a:ext cx="8378825" cy="28009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76884" marR="6985" indent="-464820" algn="just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477520" algn="l"/>
              </a:tabLst>
            </a:pPr>
            <a:r>
              <a:rPr sz="2600" spc="-190" dirty="0">
                <a:solidFill>
                  <a:srgbClr val="006FC0"/>
                </a:solidFill>
                <a:latin typeface="Arial"/>
                <a:cs typeface="Arial"/>
              </a:rPr>
              <a:t>Here </a:t>
            </a:r>
            <a:r>
              <a:rPr sz="2600" spc="-15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600" spc="-185" dirty="0">
                <a:solidFill>
                  <a:srgbClr val="006FC0"/>
                </a:solidFill>
                <a:latin typeface="Arial"/>
                <a:cs typeface="Arial"/>
              </a:rPr>
              <a:t>microprocessor </a:t>
            </a:r>
            <a:r>
              <a:rPr sz="2600" spc="-370" dirty="0">
                <a:solidFill>
                  <a:srgbClr val="006FC0"/>
                </a:solidFill>
                <a:latin typeface="Arial"/>
                <a:cs typeface="Arial"/>
              </a:rPr>
              <a:t>uses</a:t>
            </a:r>
            <a:r>
              <a:rPr sz="2600" spc="-2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600" spc="-125" dirty="0">
                <a:solidFill>
                  <a:srgbClr val="006FC0"/>
                </a:solidFill>
                <a:latin typeface="Arial"/>
                <a:cs typeface="Arial"/>
              </a:rPr>
              <a:t>interrupts </a:t>
            </a:r>
            <a:r>
              <a:rPr sz="2600" spc="-50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600" spc="-155" dirty="0">
                <a:solidFill>
                  <a:srgbClr val="006FC0"/>
                </a:solidFill>
                <a:latin typeface="Arial"/>
                <a:cs typeface="Arial"/>
              </a:rPr>
              <a:t>allow peripheral  </a:t>
            </a:r>
            <a:r>
              <a:rPr sz="2600" spc="-240" dirty="0">
                <a:solidFill>
                  <a:srgbClr val="006FC0"/>
                </a:solidFill>
                <a:latin typeface="Arial"/>
                <a:cs typeface="Arial"/>
              </a:rPr>
              <a:t>devices </a:t>
            </a:r>
            <a:r>
              <a:rPr sz="2600" spc="-270" dirty="0">
                <a:solidFill>
                  <a:srgbClr val="006FC0"/>
                </a:solidFill>
                <a:latin typeface="Arial"/>
                <a:cs typeface="Arial"/>
              </a:rPr>
              <a:t>such </a:t>
            </a:r>
            <a:r>
              <a:rPr sz="2600" spc="-425" dirty="0">
                <a:solidFill>
                  <a:srgbClr val="006FC0"/>
                </a:solidFill>
                <a:latin typeface="Arial"/>
                <a:cs typeface="Arial"/>
              </a:rPr>
              <a:t>as </a:t>
            </a:r>
            <a:r>
              <a:rPr sz="2600" spc="-15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600" spc="-204" dirty="0">
                <a:solidFill>
                  <a:srgbClr val="006FC0"/>
                </a:solidFill>
                <a:latin typeface="Arial"/>
                <a:cs typeface="Arial"/>
              </a:rPr>
              <a:t>disk </a:t>
            </a:r>
            <a:r>
              <a:rPr sz="2600" spc="-135" dirty="0">
                <a:solidFill>
                  <a:srgbClr val="006FC0"/>
                </a:solidFill>
                <a:latin typeface="Arial"/>
                <a:cs typeface="Arial"/>
              </a:rPr>
              <a:t>drive, </a:t>
            </a:r>
            <a:r>
              <a:rPr sz="2600" spc="-245" dirty="0">
                <a:solidFill>
                  <a:srgbClr val="006FC0"/>
                </a:solidFill>
                <a:latin typeface="Arial"/>
                <a:cs typeface="Arial"/>
              </a:rPr>
              <a:t>scanner, </a:t>
            </a:r>
            <a:r>
              <a:rPr sz="2600" spc="-250" dirty="0">
                <a:solidFill>
                  <a:srgbClr val="006FC0"/>
                </a:solidFill>
                <a:latin typeface="Arial"/>
                <a:cs typeface="Arial"/>
              </a:rPr>
              <a:t>mouse, </a:t>
            </a:r>
            <a:r>
              <a:rPr sz="2600" spc="-70" dirty="0">
                <a:solidFill>
                  <a:srgbClr val="006FC0"/>
                </a:solidFill>
                <a:latin typeface="Arial"/>
                <a:cs typeface="Arial"/>
              </a:rPr>
              <a:t>or </a:t>
            </a:r>
            <a:r>
              <a:rPr sz="2600" spc="-90" dirty="0">
                <a:solidFill>
                  <a:srgbClr val="006FC0"/>
                </a:solidFill>
                <a:latin typeface="Arial"/>
                <a:cs typeface="Arial"/>
              </a:rPr>
              <a:t>printer </a:t>
            </a:r>
            <a:r>
              <a:rPr sz="2600" spc="-165" dirty="0">
                <a:solidFill>
                  <a:srgbClr val="006FC0"/>
                </a:solidFill>
                <a:latin typeface="Arial"/>
                <a:cs typeface="Arial"/>
              </a:rPr>
              <a:t>etc,  </a:t>
            </a:r>
            <a:r>
              <a:rPr sz="2600" spc="-45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600" spc="-190" dirty="0">
                <a:solidFill>
                  <a:srgbClr val="006FC0"/>
                </a:solidFill>
                <a:latin typeface="Arial"/>
                <a:cs typeface="Arial"/>
              </a:rPr>
              <a:t>communicate </a:t>
            </a:r>
            <a:r>
              <a:rPr sz="2600" spc="-100" dirty="0">
                <a:solidFill>
                  <a:srgbClr val="006FC0"/>
                </a:solidFill>
                <a:latin typeface="Arial"/>
                <a:cs typeface="Arial"/>
              </a:rPr>
              <a:t>with</a:t>
            </a:r>
            <a:r>
              <a:rPr sz="2600" spc="-30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600" spc="-40" dirty="0">
                <a:solidFill>
                  <a:srgbClr val="006FC0"/>
                </a:solidFill>
                <a:latin typeface="Arial"/>
                <a:cs typeface="Arial"/>
              </a:rPr>
              <a:t>it.</a:t>
            </a:r>
            <a:endParaRPr sz="2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006FC0"/>
              </a:buClr>
              <a:buFont typeface="Wingdings"/>
              <a:buChar char=""/>
            </a:pPr>
            <a:endParaRPr sz="2700">
              <a:latin typeface="Arial"/>
              <a:cs typeface="Arial"/>
            </a:endParaRPr>
          </a:p>
          <a:p>
            <a:pPr marL="476884" marR="5080" indent="-464820" algn="just">
              <a:lnSpc>
                <a:spcPct val="100000"/>
              </a:lnSpc>
              <a:buFont typeface="Wingdings"/>
              <a:buChar char=""/>
              <a:tabLst>
                <a:tab pos="477520" algn="l"/>
              </a:tabLst>
            </a:pPr>
            <a:r>
              <a:rPr sz="2600" spc="-175" dirty="0">
                <a:solidFill>
                  <a:srgbClr val="006FC0"/>
                </a:solidFill>
                <a:latin typeface="Arial"/>
                <a:cs typeface="Arial"/>
              </a:rPr>
              <a:t>But </a:t>
            </a:r>
            <a:r>
              <a:rPr sz="2600" spc="-15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600" spc="-180" dirty="0">
                <a:solidFill>
                  <a:srgbClr val="006FC0"/>
                </a:solidFill>
                <a:latin typeface="Arial"/>
                <a:cs typeface="Arial"/>
              </a:rPr>
              <a:t>microprocessor </a:t>
            </a:r>
            <a:r>
              <a:rPr sz="2600" spc="-265" dirty="0">
                <a:solidFill>
                  <a:srgbClr val="006FC0"/>
                </a:solidFill>
                <a:latin typeface="Arial"/>
                <a:cs typeface="Arial"/>
              </a:rPr>
              <a:t>can </a:t>
            </a:r>
            <a:r>
              <a:rPr sz="2600" spc="-120" dirty="0">
                <a:solidFill>
                  <a:srgbClr val="006FC0"/>
                </a:solidFill>
                <a:latin typeface="Arial"/>
                <a:cs typeface="Arial"/>
              </a:rPr>
              <a:t>only </a:t>
            </a:r>
            <a:r>
              <a:rPr sz="2600" spc="40" dirty="0">
                <a:solidFill>
                  <a:srgbClr val="006FC0"/>
                </a:solidFill>
                <a:latin typeface="Arial"/>
                <a:cs typeface="Arial"/>
              </a:rPr>
              <a:t>“talk” </a:t>
            </a:r>
            <a:r>
              <a:rPr sz="2600" spc="-45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600" spc="-220" dirty="0">
                <a:solidFill>
                  <a:srgbClr val="006FC0"/>
                </a:solidFill>
                <a:latin typeface="Arial"/>
                <a:cs typeface="Arial"/>
              </a:rPr>
              <a:t>one </a:t>
            </a:r>
            <a:r>
              <a:rPr sz="2600" spc="-155" dirty="0">
                <a:solidFill>
                  <a:srgbClr val="006FC0"/>
                </a:solidFill>
                <a:latin typeface="Arial"/>
                <a:cs typeface="Arial"/>
              </a:rPr>
              <a:t>peripheral  </a:t>
            </a:r>
            <a:r>
              <a:rPr sz="2600" spc="-200" dirty="0">
                <a:solidFill>
                  <a:srgbClr val="006FC0"/>
                </a:solidFill>
                <a:latin typeface="Arial"/>
                <a:cs typeface="Arial"/>
              </a:rPr>
              <a:t>device </a:t>
            </a:r>
            <a:r>
              <a:rPr sz="2600" spc="-155" dirty="0">
                <a:solidFill>
                  <a:srgbClr val="006FC0"/>
                </a:solidFill>
                <a:latin typeface="Arial"/>
                <a:cs typeface="Arial"/>
              </a:rPr>
              <a:t>at </a:t>
            </a:r>
            <a:r>
              <a:rPr sz="2600" spc="-365" dirty="0">
                <a:solidFill>
                  <a:srgbClr val="006FC0"/>
                </a:solidFill>
                <a:latin typeface="Arial"/>
                <a:cs typeface="Arial"/>
              </a:rPr>
              <a:t>a </a:t>
            </a:r>
            <a:r>
              <a:rPr sz="2600" spc="-125" dirty="0">
                <a:solidFill>
                  <a:srgbClr val="006FC0"/>
                </a:solidFill>
                <a:latin typeface="Arial"/>
                <a:cs typeface="Arial"/>
              </a:rPr>
              <a:t>time </a:t>
            </a:r>
            <a:r>
              <a:rPr sz="2600" spc="-315" dirty="0">
                <a:solidFill>
                  <a:srgbClr val="006FC0"/>
                </a:solidFill>
                <a:latin typeface="Arial"/>
                <a:cs typeface="Arial"/>
              </a:rPr>
              <a:t>so </a:t>
            </a:r>
            <a:r>
              <a:rPr sz="2600" spc="-295" dirty="0">
                <a:solidFill>
                  <a:srgbClr val="006FC0"/>
                </a:solidFill>
                <a:latin typeface="Arial"/>
                <a:cs typeface="Arial"/>
              </a:rPr>
              <a:t>needs some </a:t>
            </a:r>
            <a:r>
              <a:rPr sz="2600" spc="-250" dirty="0">
                <a:solidFill>
                  <a:srgbClr val="006FC0"/>
                </a:solidFill>
                <a:latin typeface="Arial"/>
                <a:cs typeface="Arial"/>
              </a:rPr>
              <a:t>way </a:t>
            </a:r>
            <a:r>
              <a:rPr sz="2600" spc="-6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600" spc="-180" dirty="0">
                <a:solidFill>
                  <a:srgbClr val="006FC0"/>
                </a:solidFill>
                <a:latin typeface="Arial"/>
                <a:cs typeface="Arial"/>
              </a:rPr>
              <a:t>knowing </a:t>
            </a:r>
            <a:r>
              <a:rPr sz="2600" spc="-235" dirty="0">
                <a:solidFill>
                  <a:srgbClr val="006FC0"/>
                </a:solidFill>
                <a:latin typeface="Arial"/>
                <a:cs typeface="Arial"/>
              </a:rPr>
              <a:t>when </a:t>
            </a:r>
            <a:r>
              <a:rPr sz="2600" spc="-365" dirty="0">
                <a:solidFill>
                  <a:srgbClr val="006FC0"/>
                </a:solidFill>
                <a:latin typeface="Arial"/>
                <a:cs typeface="Arial"/>
              </a:rPr>
              <a:t>a  </a:t>
            </a:r>
            <a:r>
              <a:rPr sz="2600" spc="-125" dirty="0">
                <a:solidFill>
                  <a:srgbClr val="006FC0"/>
                </a:solidFill>
                <a:latin typeface="Arial"/>
                <a:cs typeface="Arial"/>
              </a:rPr>
              <a:t>particular </a:t>
            </a:r>
            <a:r>
              <a:rPr sz="2600" spc="-155" dirty="0">
                <a:solidFill>
                  <a:srgbClr val="006FC0"/>
                </a:solidFill>
                <a:latin typeface="Arial"/>
                <a:cs typeface="Arial"/>
              </a:rPr>
              <a:t>peripheral </a:t>
            </a:r>
            <a:r>
              <a:rPr sz="2600" spc="-200" dirty="0">
                <a:solidFill>
                  <a:srgbClr val="006FC0"/>
                </a:solidFill>
                <a:latin typeface="Arial"/>
                <a:cs typeface="Arial"/>
              </a:rPr>
              <a:t>device </a:t>
            </a:r>
            <a:r>
              <a:rPr sz="2600" spc="-245" dirty="0">
                <a:solidFill>
                  <a:srgbClr val="006FC0"/>
                </a:solidFill>
                <a:latin typeface="Arial"/>
                <a:cs typeface="Arial"/>
              </a:rPr>
              <a:t>wants </a:t>
            </a:r>
            <a:r>
              <a:rPr sz="2600" spc="-45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600" spc="-190" dirty="0">
                <a:solidFill>
                  <a:srgbClr val="006FC0"/>
                </a:solidFill>
                <a:latin typeface="Arial"/>
                <a:cs typeface="Arial"/>
              </a:rPr>
              <a:t>communicate </a:t>
            </a:r>
            <a:r>
              <a:rPr sz="2600" spc="-100" dirty="0">
                <a:solidFill>
                  <a:srgbClr val="006FC0"/>
                </a:solidFill>
                <a:latin typeface="Arial"/>
                <a:cs typeface="Arial"/>
              </a:rPr>
              <a:t>with</a:t>
            </a:r>
            <a:r>
              <a:rPr sz="2600" spc="48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600" spc="-40" dirty="0">
                <a:solidFill>
                  <a:srgbClr val="006FC0"/>
                </a:solidFill>
                <a:latin typeface="Arial"/>
                <a:cs typeface="Arial"/>
              </a:rPr>
              <a:t>it.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sp>
          <p:nvSpPr>
            <p:cNvPr id="11" name="object 11"/>
            <p:cNvSpPr/>
            <p:nvPr/>
          </p:nvSpPr>
          <p:spPr>
            <a:xfrm>
              <a:off x="8593835" y="6620255"/>
              <a:ext cx="550164" cy="23774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630411" y="6556243"/>
              <a:ext cx="513588" cy="3017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83540" y="1072641"/>
            <a:ext cx="5117465" cy="7181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005455">
              <a:lnSpc>
                <a:spcPts val="2365"/>
              </a:lnSpc>
              <a:spcBef>
                <a:spcPts val="105"/>
              </a:spcBef>
            </a:pPr>
            <a:r>
              <a:rPr sz="2000" b="1" spc="-235" dirty="0">
                <a:solidFill>
                  <a:srgbClr val="C00000"/>
                </a:solidFill>
                <a:latin typeface="Arial"/>
                <a:cs typeface="Arial"/>
              </a:rPr>
              <a:t>Encoder</a:t>
            </a:r>
            <a:r>
              <a:rPr sz="2000" b="1" spc="-10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200" dirty="0">
                <a:solidFill>
                  <a:srgbClr val="C00000"/>
                </a:solidFill>
                <a:latin typeface="Arial"/>
                <a:cs typeface="Arial"/>
              </a:rPr>
              <a:t>Applications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ts val="3085"/>
              </a:lnSpc>
            </a:pPr>
            <a:r>
              <a:rPr sz="2600" b="1" u="heavy" spc="-17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(iii). </a:t>
            </a:r>
            <a:r>
              <a:rPr sz="2600" b="1" u="heavy" spc="-19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Interrupt</a:t>
            </a:r>
            <a:r>
              <a:rPr sz="2600" b="1" u="heavy" spc="9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600" b="1" u="heavy" spc="-38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Requests</a:t>
            </a:r>
            <a:endParaRPr sz="26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8739" y="6635530"/>
            <a:ext cx="723900" cy="17462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1000" b="1" spc="45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1000" b="1" spc="50" dirty="0">
                <a:solidFill>
                  <a:srgbClr val="C00000"/>
                </a:solidFill>
                <a:latin typeface="Arial"/>
                <a:cs typeface="Arial"/>
              </a:rPr>
              <a:t>U</a:t>
            </a:r>
            <a:r>
              <a:rPr sz="1000" b="1" spc="-5" dirty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1000" b="1" spc="-60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1000" b="1" spc="-10" dirty="0">
                <a:solidFill>
                  <a:srgbClr val="C00000"/>
                </a:solidFill>
                <a:latin typeface="Arial"/>
                <a:cs typeface="Arial"/>
              </a:rPr>
              <a:t>-</a:t>
            </a:r>
            <a:r>
              <a:rPr sz="1000" b="1" spc="100" dirty="0">
                <a:solidFill>
                  <a:srgbClr val="C00000"/>
                </a:solidFill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219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793241" y="982217"/>
              <a:ext cx="7589519" cy="762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6764"/>
              <a:ext cx="9143999" cy="668274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53439" y="320001"/>
              <a:ext cx="7434072" cy="57611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316223" y="202679"/>
              <a:ext cx="2506979" cy="93422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590671" y="321386"/>
            <a:ext cx="196342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5" dirty="0"/>
              <a:t>E</a:t>
            </a:r>
            <a:r>
              <a:rPr spc="-165" dirty="0"/>
              <a:t>N</a:t>
            </a:r>
            <a:r>
              <a:rPr spc="-35" dirty="0"/>
              <a:t>C</a:t>
            </a:r>
            <a:r>
              <a:rPr spc="-10" dirty="0"/>
              <a:t>ODERS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sp>
          <p:nvSpPr>
            <p:cNvPr id="13" name="object 13"/>
            <p:cNvSpPr/>
            <p:nvPr/>
          </p:nvSpPr>
          <p:spPr>
            <a:xfrm>
              <a:off x="8593835" y="6620255"/>
              <a:ext cx="550164" cy="23774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630411" y="6556243"/>
              <a:ext cx="513588" cy="30175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83540" y="1072641"/>
            <a:ext cx="8378190" cy="54743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260350" algn="ctr">
              <a:lnSpc>
                <a:spcPts val="2365"/>
              </a:lnSpc>
              <a:spcBef>
                <a:spcPts val="105"/>
              </a:spcBef>
            </a:pPr>
            <a:r>
              <a:rPr sz="2000" b="1" spc="-235" dirty="0">
                <a:solidFill>
                  <a:srgbClr val="C00000"/>
                </a:solidFill>
                <a:latin typeface="Arial"/>
                <a:cs typeface="Arial"/>
              </a:rPr>
              <a:t>Encoder</a:t>
            </a:r>
            <a:r>
              <a:rPr sz="2000" b="1" spc="-6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200" dirty="0">
                <a:solidFill>
                  <a:srgbClr val="C00000"/>
                </a:solidFill>
                <a:latin typeface="Arial"/>
                <a:cs typeface="Arial"/>
              </a:rPr>
              <a:t>Applications</a:t>
            </a:r>
            <a:endParaRPr sz="2000">
              <a:latin typeface="Arial"/>
              <a:cs typeface="Arial"/>
            </a:endParaRPr>
          </a:p>
          <a:p>
            <a:pPr marL="477520" indent="-464820" algn="just">
              <a:lnSpc>
                <a:spcPts val="3085"/>
              </a:lnSpc>
              <a:buFont typeface="Wingdings"/>
              <a:buChar char=""/>
              <a:tabLst>
                <a:tab pos="477520" algn="l"/>
              </a:tabLst>
            </a:pPr>
            <a:r>
              <a:rPr sz="2600" spc="-21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600" spc="-215" dirty="0">
                <a:solidFill>
                  <a:srgbClr val="006FC0"/>
                </a:solidFill>
                <a:latin typeface="Arial"/>
                <a:cs typeface="Arial"/>
              </a:rPr>
              <a:t>processor </a:t>
            </a:r>
            <a:r>
              <a:rPr sz="2600" spc="-275" dirty="0">
                <a:solidFill>
                  <a:srgbClr val="006FC0"/>
                </a:solidFill>
                <a:latin typeface="Arial"/>
                <a:cs typeface="Arial"/>
              </a:rPr>
              <a:t>does </a:t>
            </a:r>
            <a:r>
              <a:rPr sz="2600" spc="-165" dirty="0">
                <a:solidFill>
                  <a:srgbClr val="006FC0"/>
                </a:solidFill>
                <a:latin typeface="Arial"/>
                <a:cs typeface="Arial"/>
              </a:rPr>
              <a:t>this</a:t>
            </a:r>
            <a:r>
              <a:rPr sz="2600" spc="39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600" spc="-160" dirty="0">
                <a:solidFill>
                  <a:srgbClr val="006FC0"/>
                </a:solidFill>
                <a:latin typeface="Arial"/>
                <a:cs typeface="Arial"/>
              </a:rPr>
              <a:t>by </a:t>
            </a:r>
            <a:r>
              <a:rPr sz="2600" spc="-245" dirty="0">
                <a:solidFill>
                  <a:srgbClr val="006FC0"/>
                </a:solidFill>
                <a:latin typeface="Arial"/>
                <a:cs typeface="Arial"/>
              </a:rPr>
              <a:t>using </a:t>
            </a:r>
            <a:r>
              <a:rPr sz="2600" spc="-40" dirty="0">
                <a:solidFill>
                  <a:srgbClr val="006FC0"/>
                </a:solidFill>
                <a:latin typeface="Arial"/>
                <a:cs typeface="Arial"/>
              </a:rPr>
              <a:t>“Interrupt </a:t>
            </a:r>
            <a:r>
              <a:rPr sz="2600" spc="-215" dirty="0">
                <a:solidFill>
                  <a:srgbClr val="006FC0"/>
                </a:solidFill>
                <a:latin typeface="Arial"/>
                <a:cs typeface="Arial"/>
              </a:rPr>
              <a:t>Requests”</a:t>
            </a:r>
            <a:r>
              <a:rPr sz="2600" spc="-31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600" spc="-70" dirty="0">
                <a:solidFill>
                  <a:srgbClr val="006FC0"/>
                </a:solidFill>
                <a:latin typeface="Arial"/>
                <a:cs typeface="Arial"/>
              </a:rPr>
              <a:t>or</a:t>
            </a:r>
            <a:endParaRPr sz="2600">
              <a:latin typeface="Arial"/>
              <a:cs typeface="Arial"/>
            </a:endParaRPr>
          </a:p>
          <a:p>
            <a:pPr marL="476884" marR="6350" algn="just">
              <a:lnSpc>
                <a:spcPct val="100000"/>
              </a:lnSpc>
            </a:pPr>
            <a:r>
              <a:rPr sz="2600" spc="80" dirty="0">
                <a:solidFill>
                  <a:srgbClr val="006FC0"/>
                </a:solidFill>
                <a:latin typeface="Arial"/>
                <a:cs typeface="Arial"/>
              </a:rPr>
              <a:t>“IRQ” </a:t>
            </a:r>
            <a:r>
              <a:rPr sz="2600" spc="-265" dirty="0">
                <a:solidFill>
                  <a:srgbClr val="006FC0"/>
                </a:solidFill>
                <a:latin typeface="Arial"/>
                <a:cs typeface="Arial"/>
              </a:rPr>
              <a:t>signals </a:t>
            </a:r>
            <a:r>
              <a:rPr sz="2600" spc="-45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600" spc="-305" dirty="0">
                <a:solidFill>
                  <a:srgbClr val="006FC0"/>
                </a:solidFill>
                <a:latin typeface="Arial"/>
                <a:cs typeface="Arial"/>
              </a:rPr>
              <a:t>assign </a:t>
            </a:r>
            <a:r>
              <a:rPr sz="2600" spc="-50" dirty="0">
                <a:solidFill>
                  <a:srgbClr val="006FC0"/>
                </a:solidFill>
                <a:latin typeface="Arial"/>
                <a:cs typeface="Arial"/>
              </a:rPr>
              <a:t>priority </a:t>
            </a:r>
            <a:r>
              <a:rPr sz="2600" spc="-45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600" spc="-135" dirty="0">
                <a:solidFill>
                  <a:srgbClr val="006FC0"/>
                </a:solidFill>
                <a:latin typeface="Arial"/>
                <a:cs typeface="Arial"/>
              </a:rPr>
              <a:t>all </a:t>
            </a:r>
            <a:r>
              <a:rPr sz="2600" spc="-15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600" spc="-150" dirty="0">
                <a:solidFill>
                  <a:srgbClr val="006FC0"/>
                </a:solidFill>
                <a:latin typeface="Arial"/>
                <a:cs typeface="Arial"/>
              </a:rPr>
              <a:t>peripheral </a:t>
            </a:r>
            <a:r>
              <a:rPr sz="2600" spc="-240" dirty="0">
                <a:solidFill>
                  <a:srgbClr val="006FC0"/>
                </a:solidFill>
                <a:latin typeface="Arial"/>
                <a:cs typeface="Arial"/>
              </a:rPr>
              <a:t>devices  </a:t>
            </a:r>
            <a:r>
              <a:rPr sz="2600" spc="-45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600" spc="-254" dirty="0">
                <a:solidFill>
                  <a:srgbClr val="006FC0"/>
                </a:solidFill>
                <a:latin typeface="Arial"/>
                <a:cs typeface="Arial"/>
              </a:rPr>
              <a:t>ensure </a:t>
            </a:r>
            <a:r>
              <a:rPr sz="2600" spc="-114" dirty="0">
                <a:solidFill>
                  <a:srgbClr val="006FC0"/>
                </a:solidFill>
                <a:latin typeface="Arial"/>
                <a:cs typeface="Arial"/>
              </a:rPr>
              <a:t>that  </a:t>
            </a:r>
            <a:r>
              <a:rPr sz="2600" spc="-15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600" spc="-200" dirty="0">
                <a:solidFill>
                  <a:srgbClr val="006FC0"/>
                </a:solidFill>
                <a:latin typeface="Arial"/>
                <a:cs typeface="Arial"/>
              </a:rPr>
              <a:t>most </a:t>
            </a:r>
            <a:r>
              <a:rPr sz="2600" spc="-110" dirty="0">
                <a:solidFill>
                  <a:srgbClr val="006FC0"/>
                </a:solidFill>
                <a:latin typeface="Arial"/>
                <a:cs typeface="Arial"/>
              </a:rPr>
              <a:t>important </a:t>
            </a:r>
            <a:r>
              <a:rPr sz="2600" spc="-155" dirty="0">
                <a:solidFill>
                  <a:srgbClr val="006FC0"/>
                </a:solidFill>
                <a:latin typeface="Arial"/>
                <a:cs typeface="Arial"/>
              </a:rPr>
              <a:t>peripheral </a:t>
            </a:r>
            <a:r>
              <a:rPr sz="2600" spc="-200" dirty="0">
                <a:solidFill>
                  <a:srgbClr val="006FC0"/>
                </a:solidFill>
                <a:latin typeface="Arial"/>
                <a:cs typeface="Arial"/>
              </a:rPr>
              <a:t>device </a:t>
            </a:r>
            <a:r>
              <a:rPr sz="2600" spc="-250" dirty="0">
                <a:solidFill>
                  <a:srgbClr val="006FC0"/>
                </a:solidFill>
                <a:latin typeface="Arial"/>
                <a:cs typeface="Arial"/>
              </a:rPr>
              <a:t>is  </a:t>
            </a:r>
            <a:r>
              <a:rPr sz="2600" spc="-210" dirty="0">
                <a:solidFill>
                  <a:srgbClr val="006FC0"/>
                </a:solidFill>
                <a:latin typeface="Arial"/>
                <a:cs typeface="Arial"/>
              </a:rPr>
              <a:t>serviced</a:t>
            </a:r>
            <a:r>
              <a:rPr sz="2600" spc="-3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600" spc="-100" dirty="0">
                <a:solidFill>
                  <a:srgbClr val="006FC0"/>
                </a:solidFill>
                <a:latin typeface="Arial"/>
                <a:cs typeface="Arial"/>
              </a:rPr>
              <a:t>first.</a:t>
            </a:r>
            <a:endParaRPr sz="2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700">
              <a:latin typeface="Arial"/>
              <a:cs typeface="Arial"/>
            </a:endParaRPr>
          </a:p>
          <a:p>
            <a:pPr marL="476884" marR="5080" indent="-464820" algn="just">
              <a:lnSpc>
                <a:spcPct val="100000"/>
              </a:lnSpc>
              <a:buFont typeface="Wingdings"/>
              <a:buChar char=""/>
              <a:tabLst>
                <a:tab pos="477520" algn="l"/>
              </a:tabLst>
            </a:pPr>
            <a:r>
              <a:rPr sz="2600" spc="-204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600" spc="-120" dirty="0">
                <a:solidFill>
                  <a:srgbClr val="006FC0"/>
                </a:solidFill>
                <a:latin typeface="Arial"/>
                <a:cs typeface="Arial"/>
              </a:rPr>
              <a:t>order </a:t>
            </a:r>
            <a:r>
              <a:rPr sz="2600" spc="-6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600" spc="-155" dirty="0">
                <a:solidFill>
                  <a:srgbClr val="006FC0"/>
                </a:solidFill>
                <a:latin typeface="Arial"/>
                <a:cs typeface="Arial"/>
              </a:rPr>
              <a:t>importance </a:t>
            </a:r>
            <a:r>
              <a:rPr sz="2600" spc="-6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600" spc="-15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600" spc="-240" dirty="0">
                <a:solidFill>
                  <a:srgbClr val="006FC0"/>
                </a:solidFill>
                <a:latin typeface="Arial"/>
                <a:cs typeface="Arial"/>
              </a:rPr>
              <a:t>devices </a:t>
            </a:r>
            <a:r>
              <a:rPr sz="2600" spc="-70" dirty="0">
                <a:solidFill>
                  <a:srgbClr val="006FC0"/>
                </a:solidFill>
                <a:latin typeface="Arial"/>
                <a:cs typeface="Arial"/>
              </a:rPr>
              <a:t>will </a:t>
            </a:r>
            <a:r>
              <a:rPr sz="2600" spc="-215" dirty="0">
                <a:solidFill>
                  <a:srgbClr val="006FC0"/>
                </a:solidFill>
                <a:latin typeface="Arial"/>
                <a:cs typeface="Arial"/>
              </a:rPr>
              <a:t>depend </a:t>
            </a:r>
            <a:r>
              <a:rPr sz="2600" spc="-170" dirty="0">
                <a:solidFill>
                  <a:srgbClr val="006FC0"/>
                </a:solidFill>
                <a:latin typeface="Arial"/>
                <a:cs typeface="Arial"/>
              </a:rPr>
              <a:t>upon  </a:t>
            </a:r>
            <a:r>
              <a:rPr sz="2600" spc="-95" dirty="0">
                <a:solidFill>
                  <a:srgbClr val="006FC0"/>
                </a:solidFill>
                <a:latin typeface="Arial"/>
                <a:cs typeface="Arial"/>
              </a:rPr>
              <a:t>their </a:t>
            </a:r>
            <a:r>
              <a:rPr sz="2600" spc="-160" dirty="0">
                <a:solidFill>
                  <a:srgbClr val="006FC0"/>
                </a:solidFill>
                <a:latin typeface="Arial"/>
                <a:cs typeface="Arial"/>
              </a:rPr>
              <a:t>connection </a:t>
            </a:r>
            <a:r>
              <a:rPr sz="2600" spc="-45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600" spc="-15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600" spc="-50" dirty="0">
                <a:solidFill>
                  <a:srgbClr val="006FC0"/>
                </a:solidFill>
                <a:latin typeface="Arial"/>
                <a:cs typeface="Arial"/>
              </a:rPr>
              <a:t>priority</a:t>
            </a:r>
            <a:r>
              <a:rPr sz="2600" spc="39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600" spc="-190" dirty="0">
                <a:solidFill>
                  <a:srgbClr val="006FC0"/>
                </a:solidFill>
                <a:latin typeface="Arial"/>
                <a:cs typeface="Arial"/>
              </a:rPr>
              <a:t>encoder.</a:t>
            </a:r>
            <a:endParaRPr sz="2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006FC0"/>
              </a:buClr>
              <a:buFont typeface="Wingdings"/>
              <a:buChar char=""/>
            </a:pPr>
            <a:endParaRPr sz="2700">
              <a:latin typeface="Arial"/>
              <a:cs typeface="Arial"/>
            </a:endParaRPr>
          </a:p>
          <a:p>
            <a:pPr marL="476884" marR="5080" indent="-464820" algn="just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477520" algn="l"/>
              </a:tabLst>
            </a:pPr>
            <a:r>
              <a:rPr sz="2600" spc="-325" dirty="0">
                <a:solidFill>
                  <a:srgbClr val="006FC0"/>
                </a:solidFill>
                <a:latin typeface="Arial"/>
                <a:cs typeface="Arial"/>
              </a:rPr>
              <a:t>Because </a:t>
            </a:r>
            <a:r>
              <a:rPr sz="2600" spc="-160" dirty="0">
                <a:solidFill>
                  <a:srgbClr val="006FC0"/>
                </a:solidFill>
                <a:latin typeface="Arial"/>
                <a:cs typeface="Arial"/>
              </a:rPr>
              <a:t>implementing </a:t>
            </a:r>
            <a:r>
              <a:rPr sz="2600" spc="-270" dirty="0">
                <a:solidFill>
                  <a:srgbClr val="006FC0"/>
                </a:solidFill>
                <a:latin typeface="Arial"/>
                <a:cs typeface="Arial"/>
              </a:rPr>
              <a:t>such </a:t>
            </a:r>
            <a:r>
              <a:rPr sz="2600" spc="-365" dirty="0">
                <a:solidFill>
                  <a:srgbClr val="006FC0"/>
                </a:solidFill>
                <a:latin typeface="Arial"/>
                <a:cs typeface="Arial"/>
              </a:rPr>
              <a:t>a </a:t>
            </a:r>
            <a:r>
              <a:rPr sz="2600" spc="-260" dirty="0">
                <a:solidFill>
                  <a:srgbClr val="006FC0"/>
                </a:solidFill>
                <a:latin typeface="Arial"/>
                <a:cs typeface="Arial"/>
              </a:rPr>
              <a:t>system </a:t>
            </a:r>
            <a:r>
              <a:rPr sz="2600" spc="-245" dirty="0">
                <a:solidFill>
                  <a:srgbClr val="006FC0"/>
                </a:solidFill>
                <a:latin typeface="Arial"/>
                <a:cs typeface="Arial"/>
              </a:rPr>
              <a:t>using </a:t>
            </a:r>
            <a:r>
              <a:rPr sz="2600" spc="-55" dirty="0">
                <a:solidFill>
                  <a:srgbClr val="006FC0"/>
                </a:solidFill>
                <a:latin typeface="Arial"/>
                <a:cs typeface="Arial"/>
              </a:rPr>
              <a:t>priority </a:t>
            </a:r>
            <a:r>
              <a:rPr sz="2600" spc="-229" dirty="0">
                <a:solidFill>
                  <a:srgbClr val="006FC0"/>
                </a:solidFill>
                <a:latin typeface="Arial"/>
                <a:cs typeface="Arial"/>
              </a:rPr>
              <a:t>encoders  </a:t>
            </a:r>
            <a:r>
              <a:rPr sz="2600" spc="-270" dirty="0">
                <a:solidFill>
                  <a:srgbClr val="006FC0"/>
                </a:solidFill>
                <a:latin typeface="Arial"/>
                <a:cs typeface="Arial"/>
              </a:rPr>
              <a:t>such </a:t>
            </a:r>
            <a:r>
              <a:rPr sz="2600" spc="-425" dirty="0">
                <a:solidFill>
                  <a:srgbClr val="006FC0"/>
                </a:solidFill>
                <a:latin typeface="Arial"/>
                <a:cs typeface="Arial"/>
              </a:rPr>
              <a:t>as </a:t>
            </a:r>
            <a:r>
              <a:rPr sz="2600" spc="-15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600" spc="-204" dirty="0">
                <a:solidFill>
                  <a:srgbClr val="006FC0"/>
                </a:solidFill>
                <a:latin typeface="Arial"/>
                <a:cs typeface="Arial"/>
              </a:rPr>
              <a:t>standard </a:t>
            </a:r>
            <a:r>
              <a:rPr sz="2600" spc="-365" dirty="0">
                <a:solidFill>
                  <a:srgbClr val="006FC0"/>
                </a:solidFill>
                <a:latin typeface="Arial"/>
                <a:cs typeface="Arial"/>
              </a:rPr>
              <a:t>74LS148 </a:t>
            </a:r>
            <a:r>
              <a:rPr sz="2600" spc="-50" dirty="0">
                <a:solidFill>
                  <a:srgbClr val="006FC0"/>
                </a:solidFill>
                <a:latin typeface="Arial"/>
                <a:cs typeface="Arial"/>
              </a:rPr>
              <a:t>priority </a:t>
            </a:r>
            <a:r>
              <a:rPr sz="2600" spc="-195" dirty="0">
                <a:solidFill>
                  <a:srgbClr val="006FC0"/>
                </a:solidFill>
                <a:latin typeface="Arial"/>
                <a:cs typeface="Arial"/>
              </a:rPr>
              <a:t>encoder </a:t>
            </a:r>
            <a:r>
              <a:rPr sz="2600" spc="-135" dirty="0">
                <a:solidFill>
                  <a:srgbClr val="006FC0"/>
                </a:solidFill>
                <a:latin typeface="Arial"/>
                <a:cs typeface="Arial"/>
              </a:rPr>
              <a:t>IC </a:t>
            </a:r>
            <a:r>
              <a:rPr sz="2600" spc="-190" dirty="0">
                <a:solidFill>
                  <a:srgbClr val="006FC0"/>
                </a:solidFill>
                <a:latin typeface="Arial"/>
                <a:cs typeface="Arial"/>
              </a:rPr>
              <a:t>involves  </a:t>
            </a:r>
            <a:r>
              <a:rPr sz="2600" spc="-135" dirty="0">
                <a:solidFill>
                  <a:srgbClr val="006FC0"/>
                </a:solidFill>
                <a:latin typeface="Arial"/>
                <a:cs typeface="Arial"/>
              </a:rPr>
              <a:t>additional </a:t>
            </a:r>
            <a:r>
              <a:rPr sz="2600" spc="-145" dirty="0">
                <a:solidFill>
                  <a:srgbClr val="006FC0"/>
                </a:solidFill>
                <a:latin typeface="Arial"/>
                <a:cs typeface="Arial"/>
              </a:rPr>
              <a:t>logic </a:t>
            </a:r>
            <a:r>
              <a:rPr sz="2600" spc="-135" dirty="0">
                <a:solidFill>
                  <a:srgbClr val="006FC0"/>
                </a:solidFill>
                <a:latin typeface="Arial"/>
                <a:cs typeface="Arial"/>
              </a:rPr>
              <a:t>circuits, </a:t>
            </a:r>
            <a:r>
              <a:rPr sz="2600" spc="-204" dirty="0">
                <a:solidFill>
                  <a:srgbClr val="006FC0"/>
                </a:solidFill>
                <a:latin typeface="Arial"/>
                <a:cs typeface="Arial"/>
              </a:rPr>
              <a:t>purpose </a:t>
            </a:r>
            <a:r>
              <a:rPr sz="2600" spc="-75" dirty="0">
                <a:solidFill>
                  <a:srgbClr val="006FC0"/>
                </a:solidFill>
                <a:latin typeface="Arial"/>
                <a:cs typeface="Arial"/>
              </a:rPr>
              <a:t>built </a:t>
            </a:r>
            <a:r>
              <a:rPr sz="2600" spc="-160" dirty="0">
                <a:solidFill>
                  <a:srgbClr val="006FC0"/>
                </a:solidFill>
                <a:latin typeface="Arial"/>
                <a:cs typeface="Arial"/>
              </a:rPr>
              <a:t>integrated </a:t>
            </a:r>
            <a:r>
              <a:rPr sz="2600" spc="-135" dirty="0">
                <a:solidFill>
                  <a:srgbClr val="006FC0"/>
                </a:solidFill>
                <a:latin typeface="Arial"/>
                <a:cs typeface="Arial"/>
              </a:rPr>
              <a:t>circuits </a:t>
            </a:r>
            <a:r>
              <a:rPr sz="2600" spc="-270" dirty="0">
                <a:solidFill>
                  <a:srgbClr val="006FC0"/>
                </a:solidFill>
                <a:latin typeface="Arial"/>
                <a:cs typeface="Arial"/>
              </a:rPr>
              <a:t>such  </a:t>
            </a:r>
            <a:r>
              <a:rPr sz="2600" spc="-425" dirty="0">
                <a:solidFill>
                  <a:srgbClr val="006FC0"/>
                </a:solidFill>
                <a:latin typeface="Arial"/>
                <a:cs typeface="Arial"/>
              </a:rPr>
              <a:t>as </a:t>
            </a:r>
            <a:r>
              <a:rPr sz="2600" spc="-15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600" spc="-375" dirty="0">
                <a:solidFill>
                  <a:srgbClr val="006FC0"/>
                </a:solidFill>
                <a:latin typeface="Arial"/>
                <a:cs typeface="Arial"/>
              </a:rPr>
              <a:t>8259 </a:t>
            </a:r>
            <a:r>
              <a:rPr sz="2600" spc="-225" dirty="0">
                <a:solidFill>
                  <a:srgbClr val="006FC0"/>
                </a:solidFill>
                <a:latin typeface="Arial"/>
                <a:cs typeface="Arial"/>
              </a:rPr>
              <a:t>Programmable </a:t>
            </a:r>
            <a:r>
              <a:rPr sz="2600" spc="-100" dirty="0">
                <a:solidFill>
                  <a:srgbClr val="006FC0"/>
                </a:solidFill>
                <a:latin typeface="Arial"/>
                <a:cs typeface="Arial"/>
              </a:rPr>
              <a:t>Priority </a:t>
            </a:r>
            <a:r>
              <a:rPr sz="2600" spc="-85" dirty="0">
                <a:solidFill>
                  <a:srgbClr val="006FC0"/>
                </a:solidFill>
                <a:latin typeface="Arial"/>
                <a:cs typeface="Arial"/>
              </a:rPr>
              <a:t>Interrupt </a:t>
            </a:r>
            <a:r>
              <a:rPr sz="2600" spc="-105" dirty="0">
                <a:solidFill>
                  <a:srgbClr val="006FC0"/>
                </a:solidFill>
                <a:latin typeface="Arial"/>
                <a:cs typeface="Arial"/>
              </a:rPr>
              <a:t>Controller </a:t>
            </a:r>
            <a:r>
              <a:rPr sz="2600" spc="-250" dirty="0">
                <a:solidFill>
                  <a:srgbClr val="006FC0"/>
                </a:solidFill>
                <a:latin typeface="Arial"/>
                <a:cs typeface="Arial"/>
              </a:rPr>
              <a:t>is  </a:t>
            </a:r>
            <a:r>
              <a:rPr sz="2600" spc="-200" dirty="0">
                <a:solidFill>
                  <a:srgbClr val="006FC0"/>
                </a:solidFill>
                <a:latin typeface="Arial"/>
                <a:cs typeface="Arial"/>
              </a:rPr>
              <a:t>available.</a:t>
            </a:r>
            <a:endParaRPr sz="26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8739" y="6635530"/>
            <a:ext cx="723900" cy="17462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1000" b="1" spc="45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1000" b="1" spc="50" dirty="0">
                <a:solidFill>
                  <a:srgbClr val="C00000"/>
                </a:solidFill>
                <a:latin typeface="Arial"/>
                <a:cs typeface="Arial"/>
              </a:rPr>
              <a:t>U</a:t>
            </a:r>
            <a:r>
              <a:rPr sz="1000" b="1" spc="-5" dirty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1000" b="1" spc="-60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1000" b="1" spc="-10" dirty="0">
                <a:solidFill>
                  <a:srgbClr val="C00000"/>
                </a:solidFill>
                <a:latin typeface="Arial"/>
                <a:cs typeface="Arial"/>
              </a:rPr>
              <a:t>-</a:t>
            </a:r>
            <a:r>
              <a:rPr sz="1000" b="1" spc="100" dirty="0">
                <a:solidFill>
                  <a:srgbClr val="C00000"/>
                </a:solidFill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220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3316223" y="202679"/>
              <a:ext cx="2506979" cy="9342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</a:pPr>
            <a:r>
              <a:rPr spc="-155" dirty="0"/>
              <a:t>E</a:t>
            </a:r>
            <a:r>
              <a:rPr spc="-165" dirty="0"/>
              <a:t>N</a:t>
            </a:r>
            <a:r>
              <a:rPr spc="-35" dirty="0"/>
              <a:t>C</a:t>
            </a:r>
            <a:r>
              <a:rPr spc="-10" dirty="0"/>
              <a:t>ODERS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1223772" y="1524000"/>
            <a:ext cx="7925434" cy="5334000"/>
            <a:chOff x="1223772" y="1524000"/>
            <a:chExt cx="7925434" cy="5334000"/>
          </a:xfrm>
        </p:grpSpPr>
        <p:sp>
          <p:nvSpPr>
            <p:cNvPr id="8" name="object 8"/>
            <p:cNvSpPr/>
            <p:nvPr/>
          </p:nvSpPr>
          <p:spPr>
            <a:xfrm>
              <a:off x="8593836" y="6620254"/>
              <a:ext cx="550164" cy="23774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630412" y="6556242"/>
              <a:ext cx="513588" cy="3017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223772" y="1524000"/>
              <a:ext cx="6396228" cy="466191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376676" y="1072641"/>
            <a:ext cx="21240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35" dirty="0">
                <a:solidFill>
                  <a:srgbClr val="C00000"/>
                </a:solidFill>
                <a:latin typeface="Arial"/>
                <a:cs typeface="Arial"/>
              </a:rPr>
              <a:t>Encoder</a:t>
            </a:r>
            <a:r>
              <a:rPr sz="2000" b="1" spc="-10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200" dirty="0">
                <a:solidFill>
                  <a:srgbClr val="C00000"/>
                </a:solidFill>
                <a:latin typeface="Arial"/>
                <a:cs typeface="Arial"/>
              </a:rPr>
              <a:t>Applications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8739" y="6635530"/>
            <a:ext cx="723900" cy="17462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1000" b="1" spc="45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1000" b="1" spc="50" dirty="0">
                <a:solidFill>
                  <a:srgbClr val="C00000"/>
                </a:solidFill>
                <a:latin typeface="Arial"/>
                <a:cs typeface="Arial"/>
              </a:rPr>
              <a:t>U</a:t>
            </a:r>
            <a:r>
              <a:rPr sz="1000" b="1" spc="-5" dirty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1000" b="1" spc="-60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1000" b="1" spc="-10" dirty="0">
                <a:solidFill>
                  <a:srgbClr val="C00000"/>
                </a:solidFill>
                <a:latin typeface="Arial"/>
                <a:cs typeface="Arial"/>
              </a:rPr>
              <a:t>-</a:t>
            </a:r>
            <a:r>
              <a:rPr sz="1000" b="1" spc="100" dirty="0">
                <a:solidFill>
                  <a:srgbClr val="C00000"/>
                </a:solidFill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221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9080" cy="6841490"/>
            <a:chOff x="0" y="16764"/>
            <a:chExt cx="9149080" cy="6841490"/>
          </a:xfrm>
        </p:grpSpPr>
        <p:sp>
          <p:nvSpPr>
            <p:cNvPr id="3" name="object 3"/>
            <p:cNvSpPr/>
            <p:nvPr/>
          </p:nvSpPr>
          <p:spPr>
            <a:xfrm>
              <a:off x="1493519" y="1455419"/>
              <a:ext cx="6983730" cy="409270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593835" y="6620254"/>
              <a:ext cx="550164" cy="23774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674607" y="6556243"/>
              <a:ext cx="469392" cy="30175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641080" y="6644640"/>
              <a:ext cx="502920" cy="18288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787638" y="6649770"/>
            <a:ext cx="25654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rlito"/>
                <a:cs typeface="Carlito"/>
              </a:rPr>
              <a:t>79</a:t>
            </a:r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2497835" y="202679"/>
              <a:ext cx="4142232" cy="9342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771901" y="321386"/>
            <a:ext cx="360045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90" dirty="0"/>
              <a:t>BINARY</a:t>
            </a:r>
            <a:r>
              <a:rPr spc="-95" dirty="0"/>
              <a:t> </a:t>
            </a:r>
            <a:r>
              <a:rPr spc="-65" dirty="0"/>
              <a:t>MULTIPLIER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07340" y="1287526"/>
            <a:ext cx="8376920" cy="5055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6884" marR="6350" indent="-464820">
              <a:lnSpc>
                <a:spcPct val="100000"/>
              </a:lnSpc>
              <a:spcBef>
                <a:spcPts val="100"/>
              </a:spcBef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3000" spc="-100" dirty="0">
                <a:solidFill>
                  <a:srgbClr val="006FC0"/>
                </a:solidFill>
                <a:latin typeface="Arial"/>
                <a:cs typeface="Arial"/>
              </a:rPr>
              <a:t>Multiplication </a:t>
            </a:r>
            <a:r>
              <a:rPr sz="3000" spc="-80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3000" spc="-175" dirty="0">
                <a:solidFill>
                  <a:srgbClr val="006FC0"/>
                </a:solidFill>
                <a:latin typeface="Arial"/>
                <a:cs typeface="Arial"/>
              </a:rPr>
              <a:t>binary </a:t>
            </a:r>
            <a:r>
              <a:rPr sz="3000" spc="-265" dirty="0">
                <a:solidFill>
                  <a:srgbClr val="006FC0"/>
                </a:solidFill>
                <a:latin typeface="Arial"/>
                <a:cs typeface="Arial"/>
              </a:rPr>
              <a:t>numbers </a:t>
            </a:r>
            <a:r>
              <a:rPr sz="3000" spc="-290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3000" spc="-165" dirty="0">
                <a:solidFill>
                  <a:srgbClr val="006FC0"/>
                </a:solidFill>
                <a:latin typeface="Arial"/>
                <a:cs typeface="Arial"/>
              </a:rPr>
              <a:t>performed </a:t>
            </a:r>
            <a:r>
              <a:rPr sz="3000" spc="-120" dirty="0">
                <a:solidFill>
                  <a:srgbClr val="006FC0"/>
                </a:solidFill>
                <a:latin typeface="Arial"/>
                <a:cs typeface="Arial"/>
              </a:rPr>
              <a:t>in </a:t>
            </a:r>
            <a:r>
              <a:rPr sz="3000" spc="-180" dirty="0">
                <a:solidFill>
                  <a:srgbClr val="006FC0"/>
                </a:solidFill>
                <a:latin typeface="Arial"/>
                <a:cs typeface="Arial"/>
              </a:rPr>
              <a:t>the  </a:t>
            </a:r>
            <a:r>
              <a:rPr sz="3000" spc="-400" dirty="0">
                <a:solidFill>
                  <a:srgbClr val="006FC0"/>
                </a:solidFill>
                <a:latin typeface="Arial"/>
                <a:cs typeface="Arial"/>
              </a:rPr>
              <a:t>same </a:t>
            </a:r>
            <a:r>
              <a:rPr sz="3000" spc="-285" dirty="0">
                <a:solidFill>
                  <a:srgbClr val="006FC0"/>
                </a:solidFill>
                <a:latin typeface="Arial"/>
                <a:cs typeface="Arial"/>
              </a:rPr>
              <a:t>way </a:t>
            </a:r>
            <a:r>
              <a:rPr sz="3000" spc="-490" dirty="0">
                <a:latin typeface="Arial"/>
                <a:cs typeface="Arial"/>
              </a:rPr>
              <a:t>as </a:t>
            </a:r>
            <a:r>
              <a:rPr sz="3000" spc="-120" dirty="0">
                <a:latin typeface="Arial"/>
                <a:cs typeface="Arial"/>
              </a:rPr>
              <a:t>in </a:t>
            </a:r>
            <a:r>
              <a:rPr sz="3000" spc="-215" dirty="0">
                <a:latin typeface="Arial"/>
                <a:cs typeface="Arial"/>
              </a:rPr>
              <a:t>decimal</a:t>
            </a:r>
            <a:r>
              <a:rPr sz="3000" spc="-425" dirty="0">
                <a:latin typeface="Arial"/>
                <a:cs typeface="Arial"/>
              </a:rPr>
              <a:t> </a:t>
            </a:r>
            <a:r>
              <a:rPr sz="3000" spc="-254" dirty="0">
                <a:latin typeface="Arial"/>
                <a:cs typeface="Arial"/>
              </a:rPr>
              <a:t>numbers.</a:t>
            </a:r>
            <a:endParaRPr sz="3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E36C09"/>
              </a:buClr>
              <a:buFont typeface="Wingdings"/>
              <a:buChar char=""/>
            </a:pPr>
            <a:endParaRPr sz="3100">
              <a:latin typeface="Arial"/>
              <a:cs typeface="Arial"/>
            </a:endParaRPr>
          </a:p>
          <a:p>
            <a:pPr marL="476884" marR="6350" indent="-464820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477520" algn="l"/>
                <a:tab pos="1254760" algn="l"/>
                <a:tab pos="3261995" algn="l"/>
                <a:tab pos="3677920" algn="l"/>
                <a:tab pos="5350510" algn="l"/>
                <a:tab pos="5918835" algn="l"/>
                <a:tab pos="6796405" algn="l"/>
                <a:tab pos="7389495" algn="l"/>
                <a:tab pos="7898765" algn="l"/>
              </a:tabLst>
            </a:pPr>
            <a:r>
              <a:rPr sz="3000" spc="-190" dirty="0">
                <a:solidFill>
                  <a:srgbClr val="006FC0"/>
                </a:solidFill>
                <a:latin typeface="Arial"/>
                <a:cs typeface="Arial"/>
              </a:rPr>
              <a:t>T</a:t>
            </a:r>
            <a:r>
              <a:rPr sz="3000" spc="-165" dirty="0">
                <a:solidFill>
                  <a:srgbClr val="006FC0"/>
                </a:solidFill>
                <a:latin typeface="Arial"/>
                <a:cs typeface="Arial"/>
              </a:rPr>
              <a:t>h</a:t>
            </a:r>
            <a:r>
              <a:rPr sz="3000" spc="-370" dirty="0">
                <a:solidFill>
                  <a:srgbClr val="006FC0"/>
                </a:solidFill>
                <a:latin typeface="Arial"/>
                <a:cs typeface="Arial"/>
              </a:rPr>
              <a:t>e</a:t>
            </a:r>
            <a:r>
              <a:rPr sz="30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3000" spc="-285" dirty="0">
                <a:solidFill>
                  <a:srgbClr val="006FC0"/>
                </a:solidFill>
                <a:latin typeface="Arial"/>
                <a:cs typeface="Arial"/>
              </a:rPr>
              <a:t>m</a:t>
            </a:r>
            <a:r>
              <a:rPr sz="3000" spc="-185" dirty="0">
                <a:solidFill>
                  <a:srgbClr val="006FC0"/>
                </a:solidFill>
                <a:latin typeface="Arial"/>
                <a:cs typeface="Arial"/>
              </a:rPr>
              <a:t>u</a:t>
            </a:r>
            <a:r>
              <a:rPr sz="3000" spc="10" dirty="0">
                <a:solidFill>
                  <a:srgbClr val="006FC0"/>
                </a:solidFill>
                <a:latin typeface="Arial"/>
                <a:cs typeface="Arial"/>
              </a:rPr>
              <a:t>lt</a:t>
            </a:r>
            <a:r>
              <a:rPr sz="3000" spc="-10" dirty="0">
                <a:solidFill>
                  <a:srgbClr val="006FC0"/>
                </a:solidFill>
                <a:latin typeface="Arial"/>
                <a:cs typeface="Arial"/>
              </a:rPr>
              <a:t>i</a:t>
            </a:r>
            <a:r>
              <a:rPr sz="3000" spc="-105" dirty="0">
                <a:solidFill>
                  <a:srgbClr val="006FC0"/>
                </a:solidFill>
                <a:latin typeface="Arial"/>
                <a:cs typeface="Arial"/>
              </a:rPr>
              <a:t>pli</a:t>
            </a:r>
            <a:r>
              <a:rPr sz="3000" spc="-165" dirty="0">
                <a:solidFill>
                  <a:srgbClr val="006FC0"/>
                </a:solidFill>
                <a:latin typeface="Arial"/>
                <a:cs typeface="Arial"/>
              </a:rPr>
              <a:t>c</a:t>
            </a:r>
            <a:r>
              <a:rPr sz="3000" spc="-270" dirty="0">
                <a:solidFill>
                  <a:srgbClr val="006FC0"/>
                </a:solidFill>
                <a:latin typeface="Arial"/>
                <a:cs typeface="Arial"/>
              </a:rPr>
              <a:t>and</a:t>
            </a:r>
            <a:r>
              <a:rPr sz="30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3000" spc="-180" dirty="0">
                <a:solidFill>
                  <a:srgbClr val="006FC0"/>
                </a:solidFill>
                <a:latin typeface="Arial"/>
                <a:cs typeface="Arial"/>
              </a:rPr>
              <a:t>i</a:t>
            </a:r>
            <a:r>
              <a:rPr sz="3000" spc="-395" dirty="0">
                <a:solidFill>
                  <a:srgbClr val="006FC0"/>
                </a:solidFill>
                <a:latin typeface="Arial"/>
                <a:cs typeface="Arial"/>
              </a:rPr>
              <a:t>s</a:t>
            </a:r>
            <a:r>
              <a:rPr sz="30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3000" spc="-285" dirty="0">
                <a:solidFill>
                  <a:srgbClr val="006FC0"/>
                </a:solidFill>
                <a:latin typeface="Arial"/>
                <a:cs typeface="Arial"/>
              </a:rPr>
              <a:t>m</a:t>
            </a:r>
            <a:r>
              <a:rPr sz="3000" spc="-185" dirty="0">
                <a:solidFill>
                  <a:srgbClr val="006FC0"/>
                </a:solidFill>
                <a:latin typeface="Arial"/>
                <a:cs typeface="Arial"/>
              </a:rPr>
              <a:t>u</a:t>
            </a:r>
            <a:r>
              <a:rPr sz="3000" spc="-30" dirty="0">
                <a:solidFill>
                  <a:srgbClr val="006FC0"/>
                </a:solidFill>
                <a:latin typeface="Arial"/>
                <a:cs typeface="Arial"/>
              </a:rPr>
              <a:t>ltipl</a:t>
            </a:r>
            <a:r>
              <a:rPr sz="3000" spc="-40" dirty="0">
                <a:solidFill>
                  <a:srgbClr val="006FC0"/>
                </a:solidFill>
                <a:latin typeface="Arial"/>
                <a:cs typeface="Arial"/>
              </a:rPr>
              <a:t>i</a:t>
            </a:r>
            <a:r>
              <a:rPr sz="3000" spc="-275" dirty="0">
                <a:solidFill>
                  <a:srgbClr val="006FC0"/>
                </a:solidFill>
                <a:latin typeface="Arial"/>
                <a:cs typeface="Arial"/>
              </a:rPr>
              <a:t>e</a:t>
            </a:r>
            <a:r>
              <a:rPr sz="3000" spc="-270" dirty="0">
                <a:solidFill>
                  <a:srgbClr val="006FC0"/>
                </a:solidFill>
                <a:latin typeface="Arial"/>
                <a:cs typeface="Arial"/>
              </a:rPr>
              <a:t>d</a:t>
            </a:r>
            <a:r>
              <a:rPr sz="30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3000" spc="-185" dirty="0">
                <a:solidFill>
                  <a:srgbClr val="006FC0"/>
                </a:solidFill>
                <a:latin typeface="Arial"/>
                <a:cs typeface="Arial"/>
              </a:rPr>
              <a:t>by</a:t>
            </a:r>
            <a:r>
              <a:rPr sz="30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3000" spc="-320" dirty="0">
                <a:solidFill>
                  <a:srgbClr val="006FC0"/>
                </a:solidFill>
                <a:latin typeface="Arial"/>
                <a:cs typeface="Arial"/>
              </a:rPr>
              <a:t>eac</a:t>
            </a:r>
            <a:r>
              <a:rPr sz="3000" spc="-325" dirty="0">
                <a:solidFill>
                  <a:srgbClr val="006FC0"/>
                </a:solidFill>
                <a:latin typeface="Arial"/>
                <a:cs typeface="Arial"/>
              </a:rPr>
              <a:t>h</a:t>
            </a:r>
            <a:r>
              <a:rPr sz="30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3000" spc="-70" dirty="0">
                <a:solidFill>
                  <a:srgbClr val="006FC0"/>
                </a:solidFill>
                <a:latin typeface="Arial"/>
                <a:cs typeface="Arial"/>
              </a:rPr>
              <a:t>bi</a:t>
            </a:r>
            <a:r>
              <a:rPr sz="3000" spc="-45" dirty="0">
                <a:solidFill>
                  <a:srgbClr val="006FC0"/>
                </a:solidFill>
                <a:latin typeface="Arial"/>
                <a:cs typeface="Arial"/>
              </a:rPr>
              <a:t>t</a:t>
            </a:r>
            <a:r>
              <a:rPr sz="30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3000" spc="-80" dirty="0">
                <a:solidFill>
                  <a:srgbClr val="006FC0"/>
                </a:solidFill>
                <a:latin typeface="Arial"/>
                <a:cs typeface="Arial"/>
              </a:rPr>
              <a:t>of</a:t>
            </a:r>
            <a:r>
              <a:rPr sz="30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3000" spc="-155" dirty="0">
                <a:solidFill>
                  <a:srgbClr val="006FC0"/>
                </a:solidFill>
                <a:latin typeface="Arial"/>
                <a:cs typeface="Arial"/>
              </a:rPr>
              <a:t>the  </a:t>
            </a:r>
            <a:r>
              <a:rPr sz="3000" spc="-105" dirty="0">
                <a:solidFill>
                  <a:srgbClr val="006FC0"/>
                </a:solidFill>
                <a:latin typeface="Arial"/>
                <a:cs typeface="Arial"/>
              </a:rPr>
              <a:t>multiplier </a:t>
            </a:r>
            <a:r>
              <a:rPr sz="3000" spc="-185" dirty="0">
                <a:latin typeface="Arial"/>
                <a:cs typeface="Arial"/>
              </a:rPr>
              <a:t>starting </a:t>
            </a:r>
            <a:r>
              <a:rPr sz="3000" spc="-105" dirty="0">
                <a:latin typeface="Arial"/>
                <a:cs typeface="Arial"/>
              </a:rPr>
              <a:t>from </a:t>
            </a:r>
            <a:r>
              <a:rPr sz="3000" spc="-180" dirty="0">
                <a:latin typeface="Arial"/>
                <a:cs typeface="Arial"/>
              </a:rPr>
              <a:t>the </a:t>
            </a:r>
            <a:r>
              <a:rPr sz="3000" spc="-265" dirty="0">
                <a:latin typeface="Arial"/>
                <a:cs typeface="Arial"/>
              </a:rPr>
              <a:t>least </a:t>
            </a:r>
            <a:r>
              <a:rPr sz="3000" spc="-190" dirty="0">
                <a:latin typeface="Arial"/>
                <a:cs typeface="Arial"/>
              </a:rPr>
              <a:t>significant</a:t>
            </a:r>
            <a:r>
              <a:rPr sz="3000" spc="275" dirty="0">
                <a:latin typeface="Arial"/>
                <a:cs typeface="Arial"/>
              </a:rPr>
              <a:t> </a:t>
            </a:r>
            <a:r>
              <a:rPr sz="3000" spc="-90" dirty="0">
                <a:latin typeface="Arial"/>
                <a:cs typeface="Arial"/>
              </a:rPr>
              <a:t>bit</a:t>
            </a:r>
            <a:r>
              <a:rPr sz="3000" spc="-90" dirty="0">
                <a:solidFill>
                  <a:srgbClr val="006FC0"/>
                </a:solidFill>
                <a:latin typeface="Arial"/>
                <a:cs typeface="Arial"/>
              </a:rPr>
              <a:t>.</a:t>
            </a:r>
            <a:endParaRPr sz="3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E36C09"/>
              </a:buClr>
              <a:buFont typeface="Wingdings"/>
              <a:buChar char=""/>
            </a:pPr>
            <a:endParaRPr sz="3100">
              <a:latin typeface="Arial"/>
              <a:cs typeface="Arial"/>
            </a:endParaRPr>
          </a:p>
          <a:p>
            <a:pPr marL="476884" marR="5715" indent="-464820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477520" algn="l"/>
                <a:tab pos="1403985" algn="l"/>
                <a:tab pos="2286635" algn="l"/>
                <a:tab pos="4514850" algn="l"/>
                <a:tab pos="5581650" algn="l"/>
                <a:tab pos="5975350" algn="l"/>
                <a:tab pos="7122795" algn="l"/>
              </a:tabLst>
            </a:pPr>
            <a:r>
              <a:rPr sz="3000" spc="-350" dirty="0">
                <a:solidFill>
                  <a:srgbClr val="006FC0"/>
                </a:solidFill>
                <a:latin typeface="Arial"/>
                <a:cs typeface="Arial"/>
              </a:rPr>
              <a:t>Each	</a:t>
            </a:r>
            <a:r>
              <a:rPr sz="3000" spc="-310" dirty="0">
                <a:solidFill>
                  <a:srgbClr val="006FC0"/>
                </a:solidFill>
                <a:latin typeface="Arial"/>
                <a:cs typeface="Arial"/>
              </a:rPr>
              <a:t>such	</a:t>
            </a:r>
            <a:r>
              <a:rPr sz="3000" spc="-285" dirty="0">
                <a:solidFill>
                  <a:srgbClr val="006FC0"/>
                </a:solidFill>
                <a:latin typeface="Arial"/>
                <a:cs typeface="Arial"/>
              </a:rPr>
              <a:t>m</a:t>
            </a:r>
            <a:r>
              <a:rPr sz="3000" spc="-185" dirty="0">
                <a:solidFill>
                  <a:srgbClr val="006FC0"/>
                </a:solidFill>
                <a:latin typeface="Arial"/>
                <a:cs typeface="Arial"/>
              </a:rPr>
              <a:t>u</a:t>
            </a:r>
            <a:r>
              <a:rPr sz="3000" spc="-30" dirty="0">
                <a:solidFill>
                  <a:srgbClr val="006FC0"/>
                </a:solidFill>
                <a:latin typeface="Arial"/>
                <a:cs typeface="Arial"/>
              </a:rPr>
              <a:t>ltipl</a:t>
            </a:r>
            <a:r>
              <a:rPr sz="3000" spc="-40" dirty="0">
                <a:solidFill>
                  <a:srgbClr val="006FC0"/>
                </a:solidFill>
                <a:latin typeface="Arial"/>
                <a:cs typeface="Arial"/>
              </a:rPr>
              <a:t>i</a:t>
            </a:r>
            <a:r>
              <a:rPr sz="3000" spc="-180" dirty="0">
                <a:solidFill>
                  <a:srgbClr val="006FC0"/>
                </a:solidFill>
                <a:latin typeface="Arial"/>
                <a:cs typeface="Arial"/>
              </a:rPr>
              <a:t>cat</a:t>
            </a:r>
            <a:r>
              <a:rPr sz="3000" spc="-100" dirty="0">
                <a:solidFill>
                  <a:srgbClr val="006FC0"/>
                </a:solidFill>
                <a:latin typeface="Arial"/>
                <a:cs typeface="Arial"/>
              </a:rPr>
              <a:t>i</a:t>
            </a:r>
            <a:r>
              <a:rPr sz="3000" spc="-195" dirty="0">
                <a:solidFill>
                  <a:srgbClr val="006FC0"/>
                </a:solidFill>
                <a:latin typeface="Arial"/>
                <a:cs typeface="Arial"/>
              </a:rPr>
              <a:t>on</a:t>
            </a:r>
            <a:r>
              <a:rPr sz="30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3000" spc="-195" dirty="0">
                <a:solidFill>
                  <a:srgbClr val="006FC0"/>
                </a:solidFill>
                <a:latin typeface="Arial"/>
                <a:cs typeface="Arial"/>
              </a:rPr>
              <a:t>form</a:t>
            </a:r>
            <a:r>
              <a:rPr sz="3000" spc="-190" dirty="0">
                <a:solidFill>
                  <a:srgbClr val="006FC0"/>
                </a:solidFill>
                <a:latin typeface="Arial"/>
                <a:cs typeface="Arial"/>
              </a:rPr>
              <a:t>s</a:t>
            </a:r>
            <a:r>
              <a:rPr sz="30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3000" spc="-420" dirty="0">
                <a:solidFill>
                  <a:srgbClr val="006FC0"/>
                </a:solidFill>
                <a:latin typeface="Arial"/>
                <a:cs typeface="Arial"/>
              </a:rPr>
              <a:t>a</a:t>
            </a:r>
            <a:r>
              <a:rPr sz="30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3000" spc="-150" dirty="0">
                <a:latin typeface="Arial"/>
                <a:cs typeface="Arial"/>
              </a:rPr>
              <a:t>parti</a:t>
            </a:r>
            <a:r>
              <a:rPr sz="3000" spc="-229" dirty="0">
                <a:latin typeface="Arial"/>
                <a:cs typeface="Arial"/>
              </a:rPr>
              <a:t>a</a:t>
            </a:r>
            <a:r>
              <a:rPr sz="3000" spc="-20" dirty="0">
                <a:latin typeface="Arial"/>
                <a:cs typeface="Arial"/>
              </a:rPr>
              <a:t>l</a:t>
            </a:r>
            <a:r>
              <a:rPr sz="3000" dirty="0">
                <a:latin typeface="Arial"/>
                <a:cs typeface="Arial"/>
              </a:rPr>
              <a:t>	</a:t>
            </a:r>
            <a:r>
              <a:rPr sz="3000" spc="-140" dirty="0">
                <a:latin typeface="Arial"/>
                <a:cs typeface="Arial"/>
              </a:rPr>
              <a:t>produc</a:t>
            </a:r>
            <a:r>
              <a:rPr sz="3000" spc="-90" dirty="0">
                <a:latin typeface="Arial"/>
                <a:cs typeface="Arial"/>
              </a:rPr>
              <a:t>t</a:t>
            </a:r>
            <a:r>
              <a:rPr sz="3000" spc="-170" dirty="0">
                <a:solidFill>
                  <a:srgbClr val="006FC0"/>
                </a:solidFill>
                <a:latin typeface="Arial"/>
                <a:cs typeface="Arial"/>
              </a:rPr>
              <a:t>.  </a:t>
            </a:r>
            <a:r>
              <a:rPr sz="3000" spc="-325" dirty="0">
                <a:solidFill>
                  <a:srgbClr val="006FC0"/>
                </a:solidFill>
                <a:latin typeface="Arial"/>
                <a:cs typeface="Arial"/>
              </a:rPr>
              <a:t>Such </a:t>
            </a:r>
            <a:r>
              <a:rPr sz="3000" spc="-145" dirty="0">
                <a:solidFill>
                  <a:srgbClr val="006FC0"/>
                </a:solidFill>
                <a:latin typeface="Arial"/>
                <a:cs typeface="Arial"/>
              </a:rPr>
              <a:t>partial </a:t>
            </a:r>
            <a:r>
              <a:rPr sz="3000" spc="-185" dirty="0">
                <a:solidFill>
                  <a:srgbClr val="006FC0"/>
                </a:solidFill>
                <a:latin typeface="Arial"/>
                <a:cs typeface="Arial"/>
              </a:rPr>
              <a:t>products </a:t>
            </a:r>
            <a:r>
              <a:rPr sz="3000" spc="-270" dirty="0">
                <a:solidFill>
                  <a:srgbClr val="006FC0"/>
                </a:solidFill>
                <a:latin typeface="Arial"/>
                <a:cs typeface="Arial"/>
              </a:rPr>
              <a:t>are </a:t>
            </a:r>
            <a:r>
              <a:rPr sz="3000" spc="-180" dirty="0">
                <a:solidFill>
                  <a:srgbClr val="006FC0"/>
                </a:solidFill>
                <a:latin typeface="Arial"/>
                <a:cs typeface="Arial"/>
              </a:rPr>
              <a:t>shifted </a:t>
            </a:r>
            <a:r>
              <a:rPr sz="3000" spc="-254" dirty="0">
                <a:solidFill>
                  <a:srgbClr val="006FC0"/>
                </a:solidFill>
                <a:latin typeface="Arial"/>
                <a:cs typeface="Arial"/>
              </a:rPr>
              <a:t>one </a:t>
            </a:r>
            <a:r>
              <a:rPr sz="3000" spc="-160" dirty="0">
                <a:solidFill>
                  <a:srgbClr val="006FC0"/>
                </a:solidFill>
                <a:latin typeface="Arial"/>
                <a:cs typeface="Arial"/>
              </a:rPr>
              <a:t>position </a:t>
            </a:r>
            <a:r>
              <a:rPr sz="3000" spc="-55" dirty="0">
                <a:solidFill>
                  <a:srgbClr val="006FC0"/>
                </a:solidFill>
                <a:latin typeface="Arial"/>
                <a:cs typeface="Arial"/>
              </a:rPr>
              <a:t>to</a:t>
            </a:r>
            <a:r>
              <a:rPr sz="3000" spc="-14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3000" spc="-100" dirty="0">
                <a:solidFill>
                  <a:srgbClr val="006FC0"/>
                </a:solidFill>
                <a:latin typeface="Arial"/>
                <a:cs typeface="Arial"/>
              </a:rPr>
              <a:t>left.</a:t>
            </a:r>
            <a:endParaRPr sz="3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E36C09"/>
              </a:buClr>
              <a:buFont typeface="Wingdings"/>
              <a:buChar char=""/>
            </a:pPr>
            <a:endParaRPr sz="3100">
              <a:latin typeface="Arial"/>
              <a:cs typeface="Arial"/>
            </a:endParaRPr>
          </a:p>
          <a:p>
            <a:pPr marL="476884" marR="5080" indent="-464820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3000" spc="-24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3000" spc="-135" dirty="0">
                <a:latin typeface="Arial"/>
                <a:cs typeface="Arial"/>
              </a:rPr>
              <a:t>final </a:t>
            </a:r>
            <a:r>
              <a:rPr sz="3000" spc="-130" dirty="0">
                <a:latin typeface="Arial"/>
                <a:cs typeface="Arial"/>
              </a:rPr>
              <a:t>product </a:t>
            </a:r>
            <a:r>
              <a:rPr sz="3000" spc="-290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3000" spc="-190" dirty="0">
                <a:solidFill>
                  <a:srgbClr val="006FC0"/>
                </a:solidFill>
                <a:latin typeface="Arial"/>
                <a:cs typeface="Arial"/>
              </a:rPr>
              <a:t>obtained </a:t>
            </a:r>
            <a:r>
              <a:rPr sz="3000" spc="-105" dirty="0">
                <a:solidFill>
                  <a:srgbClr val="006FC0"/>
                </a:solidFill>
                <a:latin typeface="Arial"/>
                <a:cs typeface="Arial"/>
              </a:rPr>
              <a:t>from </a:t>
            </a:r>
            <a:r>
              <a:rPr sz="3000" spc="-18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3000" spc="-340" dirty="0">
                <a:solidFill>
                  <a:srgbClr val="006FC0"/>
                </a:solidFill>
                <a:latin typeface="Arial"/>
                <a:cs typeface="Arial"/>
              </a:rPr>
              <a:t>sum </a:t>
            </a:r>
            <a:r>
              <a:rPr sz="3000" spc="-80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3000" spc="-145" dirty="0">
                <a:solidFill>
                  <a:srgbClr val="006FC0"/>
                </a:solidFill>
                <a:latin typeface="Arial"/>
                <a:cs typeface="Arial"/>
              </a:rPr>
              <a:t>partial  </a:t>
            </a:r>
            <a:r>
              <a:rPr sz="3000" spc="-185" dirty="0">
                <a:solidFill>
                  <a:srgbClr val="006FC0"/>
                </a:solidFill>
                <a:latin typeface="Arial"/>
                <a:cs typeface="Arial"/>
              </a:rPr>
              <a:t>products.</a:t>
            </a:r>
            <a:endParaRPr sz="30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sp>
          <p:nvSpPr>
            <p:cNvPr id="9" name="object 9"/>
            <p:cNvSpPr/>
            <p:nvPr/>
          </p:nvSpPr>
          <p:spPr>
            <a:xfrm>
              <a:off x="8593835" y="6620255"/>
              <a:ext cx="550164" cy="23774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674607" y="6556243"/>
              <a:ext cx="469392" cy="3017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787638" y="6649770"/>
            <a:ext cx="25654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rlito"/>
                <a:cs typeface="Carlito"/>
              </a:rPr>
              <a:t>80</a:t>
            </a:r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793241" y="982217"/>
              <a:ext cx="7589519" cy="762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6764"/>
              <a:ext cx="9143999" cy="668274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53439" y="320001"/>
              <a:ext cx="7434072" cy="57611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497835" y="202679"/>
              <a:ext cx="4142232" cy="93422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771901" y="321386"/>
            <a:ext cx="360045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90" dirty="0"/>
              <a:t>BINARY</a:t>
            </a:r>
            <a:r>
              <a:rPr spc="-95" dirty="0"/>
              <a:t> </a:t>
            </a:r>
            <a:r>
              <a:rPr spc="-65" dirty="0"/>
              <a:t>MULTIPLIER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sp>
          <p:nvSpPr>
            <p:cNvPr id="13" name="object 13"/>
            <p:cNvSpPr/>
            <p:nvPr/>
          </p:nvSpPr>
          <p:spPr>
            <a:xfrm>
              <a:off x="8593835" y="6620255"/>
              <a:ext cx="550164" cy="23774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674607" y="6556243"/>
              <a:ext cx="469392" cy="30175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32740" y="1015089"/>
            <a:ext cx="8480425" cy="5300345"/>
          </a:xfrm>
          <a:prstGeom prst="rect">
            <a:avLst/>
          </a:prstGeom>
        </p:spPr>
        <p:txBody>
          <a:bodyPr vert="horz" wrap="square" lIns="0" tIns="127635" rIns="0" bIns="0" rtlCol="0">
            <a:spAutoFit/>
          </a:bodyPr>
          <a:lstStyle/>
          <a:p>
            <a:pPr marR="36195" algn="ctr">
              <a:lnSpc>
                <a:spcPct val="100000"/>
              </a:lnSpc>
              <a:spcBef>
                <a:spcPts val="1005"/>
              </a:spcBef>
            </a:pPr>
            <a:r>
              <a:rPr sz="2000" b="1" spc="-195" dirty="0">
                <a:solidFill>
                  <a:srgbClr val="C00000"/>
                </a:solidFill>
                <a:latin typeface="Arial"/>
                <a:cs typeface="Arial"/>
              </a:rPr>
              <a:t>2-Bit  </a:t>
            </a:r>
            <a:r>
              <a:rPr sz="2000" b="1" spc="-229" dirty="0">
                <a:solidFill>
                  <a:srgbClr val="C00000"/>
                </a:solidFill>
                <a:latin typeface="Arial"/>
                <a:cs typeface="Arial"/>
              </a:rPr>
              <a:t>by  </a:t>
            </a:r>
            <a:r>
              <a:rPr sz="2000" b="1" spc="-195" dirty="0">
                <a:solidFill>
                  <a:srgbClr val="C00000"/>
                </a:solidFill>
                <a:latin typeface="Arial"/>
                <a:cs typeface="Arial"/>
              </a:rPr>
              <a:t>2-Bit</a:t>
            </a:r>
            <a:r>
              <a:rPr sz="2000" b="1" spc="-39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140" dirty="0">
                <a:solidFill>
                  <a:srgbClr val="C00000"/>
                </a:solidFill>
                <a:latin typeface="Arial"/>
                <a:cs typeface="Arial"/>
              </a:rPr>
              <a:t>Multiplier</a:t>
            </a:r>
            <a:endParaRPr sz="2000">
              <a:latin typeface="Arial"/>
              <a:cs typeface="Arial"/>
            </a:endParaRPr>
          </a:p>
          <a:p>
            <a:pPr marL="527685" marR="56515" indent="-464820" algn="just">
              <a:lnSpc>
                <a:spcPct val="100000"/>
              </a:lnSpc>
              <a:spcBef>
                <a:spcPts val="1260"/>
              </a:spcBef>
              <a:buClr>
                <a:srgbClr val="E36C09"/>
              </a:buClr>
              <a:buFont typeface="Wingdings"/>
              <a:buChar char=""/>
              <a:tabLst>
                <a:tab pos="528320" algn="l"/>
              </a:tabLst>
            </a:pPr>
            <a:r>
              <a:rPr sz="2800" spc="-210" dirty="0">
                <a:solidFill>
                  <a:srgbClr val="006FC0"/>
                </a:solidFill>
                <a:latin typeface="Arial"/>
                <a:cs typeface="Arial"/>
              </a:rPr>
              <a:t>Consider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14" dirty="0">
                <a:latin typeface="Arial"/>
                <a:cs typeface="Arial"/>
              </a:rPr>
              <a:t>multiplication </a:t>
            </a:r>
            <a:r>
              <a:rPr sz="2800" spc="-80" dirty="0">
                <a:latin typeface="Arial"/>
                <a:cs typeface="Arial"/>
              </a:rPr>
              <a:t>of </a:t>
            </a:r>
            <a:r>
              <a:rPr sz="2800" spc="-120" dirty="0">
                <a:latin typeface="Arial"/>
                <a:cs typeface="Arial"/>
              </a:rPr>
              <a:t>two </a:t>
            </a:r>
            <a:r>
              <a:rPr sz="2800" spc="-145" dirty="0">
                <a:latin typeface="Arial"/>
                <a:cs typeface="Arial"/>
              </a:rPr>
              <a:t>2-bit </a:t>
            </a:r>
            <a:r>
              <a:rPr sz="2800" spc="-240" dirty="0">
                <a:latin typeface="Arial"/>
                <a:cs typeface="Arial"/>
              </a:rPr>
              <a:t>numbers</a:t>
            </a:r>
            <a:r>
              <a:rPr sz="2800" spc="-240" dirty="0">
                <a:solidFill>
                  <a:srgbClr val="006FC0"/>
                </a:solidFill>
                <a:latin typeface="Arial"/>
                <a:cs typeface="Arial"/>
              </a:rPr>
              <a:t>.</a:t>
            </a:r>
            <a:r>
              <a:rPr sz="2800" spc="29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The  </a:t>
            </a:r>
            <a:r>
              <a:rPr sz="2800" spc="-135" dirty="0">
                <a:solidFill>
                  <a:srgbClr val="006FC0"/>
                </a:solidFill>
                <a:latin typeface="Arial"/>
                <a:cs typeface="Arial"/>
              </a:rPr>
              <a:t>multiplicand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bits 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are </a:t>
            </a:r>
            <a:r>
              <a:rPr sz="2800" spc="-340" dirty="0">
                <a:latin typeface="Arial"/>
                <a:cs typeface="Arial"/>
              </a:rPr>
              <a:t>B</a:t>
            </a:r>
            <a:r>
              <a:rPr sz="2775" spc="-509" baseline="-21021" dirty="0">
                <a:latin typeface="Arial"/>
                <a:cs typeface="Arial"/>
              </a:rPr>
              <a:t>1 </a:t>
            </a:r>
            <a:r>
              <a:rPr sz="2800" spc="-254" dirty="0">
                <a:latin typeface="Arial"/>
                <a:cs typeface="Arial"/>
              </a:rPr>
              <a:t>and </a:t>
            </a:r>
            <a:r>
              <a:rPr sz="2800" spc="-280" dirty="0">
                <a:latin typeface="Arial"/>
                <a:cs typeface="Arial"/>
              </a:rPr>
              <a:t>B</a:t>
            </a:r>
            <a:r>
              <a:rPr sz="2775" spc="-419" baseline="-21021" dirty="0">
                <a:solidFill>
                  <a:srgbClr val="006FC0"/>
                </a:solidFill>
                <a:latin typeface="Arial"/>
                <a:cs typeface="Arial"/>
              </a:rPr>
              <a:t>0</a:t>
            </a:r>
            <a:r>
              <a:rPr sz="2800" spc="-280" dirty="0">
                <a:solidFill>
                  <a:srgbClr val="006FC0"/>
                </a:solidFill>
                <a:latin typeface="Arial"/>
                <a:cs typeface="Arial"/>
              </a:rPr>
              <a:t>,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00" dirty="0">
                <a:solidFill>
                  <a:srgbClr val="006FC0"/>
                </a:solidFill>
                <a:latin typeface="Arial"/>
                <a:cs typeface="Arial"/>
              </a:rPr>
              <a:t>multiplier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bits 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are </a:t>
            </a:r>
            <a:r>
              <a:rPr sz="2800" spc="-65" dirty="0">
                <a:latin typeface="Arial"/>
                <a:cs typeface="Arial"/>
              </a:rPr>
              <a:t>A</a:t>
            </a:r>
            <a:r>
              <a:rPr sz="2775" spc="-97" baseline="-21021" dirty="0">
                <a:latin typeface="Arial"/>
                <a:cs typeface="Arial"/>
              </a:rPr>
              <a:t>1 </a:t>
            </a:r>
            <a:r>
              <a:rPr sz="1850" spc="-65" dirty="0">
                <a:latin typeface="Arial"/>
                <a:cs typeface="Arial"/>
              </a:rPr>
              <a:t> </a:t>
            </a:r>
            <a:r>
              <a:rPr sz="2800" spc="-254" dirty="0">
                <a:latin typeface="Arial"/>
                <a:cs typeface="Arial"/>
              </a:rPr>
              <a:t>and </a:t>
            </a:r>
            <a:r>
              <a:rPr sz="2800" spc="-95" dirty="0">
                <a:latin typeface="Arial"/>
                <a:cs typeface="Arial"/>
              </a:rPr>
              <a:t>A</a:t>
            </a:r>
            <a:r>
              <a:rPr sz="2775" spc="-142" baseline="-21021" dirty="0">
                <a:latin typeface="Arial"/>
                <a:cs typeface="Arial"/>
              </a:rPr>
              <a:t>0</a:t>
            </a:r>
            <a:r>
              <a:rPr sz="2800" spc="-95" dirty="0">
                <a:solidFill>
                  <a:srgbClr val="006FC0"/>
                </a:solidFill>
                <a:latin typeface="Arial"/>
                <a:cs typeface="Arial"/>
              </a:rPr>
              <a:t>, 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25" dirty="0">
                <a:solidFill>
                  <a:srgbClr val="006FC0"/>
                </a:solidFill>
                <a:latin typeface="Arial"/>
                <a:cs typeface="Arial"/>
              </a:rPr>
              <a:t>product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800" spc="-325" dirty="0">
                <a:latin typeface="Arial"/>
                <a:cs typeface="Arial"/>
              </a:rPr>
              <a:t>P</a:t>
            </a:r>
            <a:r>
              <a:rPr sz="2775" spc="-487" baseline="-21021" dirty="0">
                <a:latin typeface="Arial"/>
                <a:cs typeface="Arial"/>
              </a:rPr>
              <a:t>3</a:t>
            </a:r>
            <a:r>
              <a:rPr sz="2800" spc="-325" dirty="0">
                <a:latin typeface="Arial"/>
                <a:cs typeface="Arial"/>
              </a:rPr>
              <a:t>, P</a:t>
            </a:r>
            <a:r>
              <a:rPr sz="2775" spc="-487" baseline="-21021" dirty="0">
                <a:latin typeface="Arial"/>
                <a:cs typeface="Arial"/>
              </a:rPr>
              <a:t>2</a:t>
            </a:r>
            <a:r>
              <a:rPr sz="2800" spc="-325" dirty="0">
                <a:latin typeface="Arial"/>
                <a:cs typeface="Arial"/>
              </a:rPr>
              <a:t>, </a:t>
            </a:r>
            <a:r>
              <a:rPr sz="2800" spc="-409" dirty="0">
                <a:latin typeface="Arial"/>
                <a:cs typeface="Arial"/>
              </a:rPr>
              <a:t>P</a:t>
            </a:r>
            <a:r>
              <a:rPr sz="2775" spc="-615" baseline="-21021" dirty="0">
                <a:latin typeface="Arial"/>
                <a:cs typeface="Arial"/>
              </a:rPr>
              <a:t>1 </a:t>
            </a:r>
            <a:r>
              <a:rPr sz="2800" spc="-254" dirty="0">
                <a:latin typeface="Arial"/>
                <a:cs typeface="Arial"/>
              </a:rPr>
              <a:t>and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spc="-325" dirty="0">
                <a:latin typeface="Arial"/>
                <a:cs typeface="Arial"/>
              </a:rPr>
              <a:t>P</a:t>
            </a:r>
            <a:r>
              <a:rPr sz="2775" spc="-487" baseline="-21021" dirty="0">
                <a:latin typeface="Arial"/>
                <a:cs typeface="Arial"/>
              </a:rPr>
              <a:t>0</a:t>
            </a:r>
            <a:r>
              <a:rPr sz="2800" spc="-325" dirty="0">
                <a:solidFill>
                  <a:srgbClr val="006FC0"/>
                </a:solidFill>
                <a:latin typeface="Arial"/>
                <a:cs typeface="Arial"/>
              </a:rPr>
              <a:t>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E36C09"/>
              </a:buClr>
              <a:buFont typeface="Wingdings"/>
              <a:buChar char=""/>
            </a:pPr>
            <a:endParaRPr sz="2900">
              <a:latin typeface="Arial"/>
              <a:cs typeface="Arial"/>
            </a:endParaRPr>
          </a:p>
          <a:p>
            <a:pPr marL="527685" marR="55880" indent="-464820" algn="just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528320" algn="l"/>
              </a:tabLst>
            </a:pP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95" dirty="0">
                <a:solidFill>
                  <a:srgbClr val="006FC0"/>
                </a:solidFill>
                <a:latin typeface="Arial"/>
                <a:cs typeface="Arial"/>
              </a:rPr>
              <a:t>first </a:t>
            </a:r>
            <a:r>
              <a:rPr sz="2800" spc="-135" dirty="0">
                <a:solidFill>
                  <a:srgbClr val="006FC0"/>
                </a:solidFill>
                <a:latin typeface="Arial"/>
                <a:cs typeface="Arial"/>
              </a:rPr>
              <a:t>partial </a:t>
            </a:r>
            <a:r>
              <a:rPr sz="2800" spc="-125" dirty="0">
                <a:solidFill>
                  <a:srgbClr val="006FC0"/>
                </a:solidFill>
                <a:latin typeface="Arial"/>
                <a:cs typeface="Arial"/>
              </a:rPr>
              <a:t>product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800" spc="-155" dirty="0">
                <a:solidFill>
                  <a:srgbClr val="006FC0"/>
                </a:solidFill>
                <a:latin typeface="Arial"/>
                <a:cs typeface="Arial"/>
              </a:rPr>
              <a:t>formed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by </a:t>
            </a:r>
            <a:r>
              <a:rPr sz="2800" spc="-125" dirty="0">
                <a:solidFill>
                  <a:srgbClr val="006FC0"/>
                </a:solidFill>
                <a:latin typeface="Arial"/>
                <a:cs typeface="Arial"/>
              </a:rPr>
              <a:t>multiplying </a:t>
            </a:r>
            <a:r>
              <a:rPr sz="2800" spc="-345" dirty="0">
                <a:latin typeface="Arial"/>
                <a:cs typeface="Arial"/>
              </a:rPr>
              <a:t>B</a:t>
            </a:r>
            <a:r>
              <a:rPr sz="2775" spc="-517" baseline="-21021" dirty="0">
                <a:latin typeface="Arial"/>
                <a:cs typeface="Arial"/>
              </a:rPr>
              <a:t>0 </a:t>
            </a:r>
            <a:r>
              <a:rPr sz="2800" spc="-175" dirty="0">
                <a:latin typeface="Arial"/>
                <a:cs typeface="Arial"/>
              </a:rPr>
              <a:t>by  </a:t>
            </a:r>
            <a:r>
              <a:rPr sz="2800" spc="-80" dirty="0">
                <a:latin typeface="Arial"/>
                <a:cs typeface="Arial"/>
              </a:rPr>
              <a:t>A</a:t>
            </a:r>
            <a:r>
              <a:rPr sz="2775" spc="-120" baseline="-21021" dirty="0">
                <a:latin typeface="Arial"/>
                <a:cs typeface="Arial"/>
              </a:rPr>
              <a:t>1</a:t>
            </a:r>
            <a:r>
              <a:rPr sz="2800" spc="-80" dirty="0">
                <a:latin typeface="Arial"/>
                <a:cs typeface="Arial"/>
              </a:rPr>
              <a:t>A</a:t>
            </a:r>
            <a:r>
              <a:rPr sz="2775" spc="-120" baseline="-21021" dirty="0">
                <a:latin typeface="Arial"/>
                <a:cs typeface="Arial"/>
              </a:rPr>
              <a:t>0</a:t>
            </a:r>
            <a:r>
              <a:rPr sz="2800" spc="-80" dirty="0">
                <a:solidFill>
                  <a:srgbClr val="006FC0"/>
                </a:solidFill>
                <a:latin typeface="Arial"/>
                <a:cs typeface="Arial"/>
              </a:rPr>
              <a:t>. </a:t>
            </a: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14" dirty="0">
                <a:solidFill>
                  <a:srgbClr val="006FC0"/>
                </a:solidFill>
                <a:latin typeface="Arial"/>
                <a:cs typeface="Arial"/>
              </a:rPr>
              <a:t>multiplication 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120" dirty="0">
                <a:solidFill>
                  <a:srgbClr val="006FC0"/>
                </a:solidFill>
                <a:latin typeface="Arial"/>
                <a:cs typeface="Arial"/>
              </a:rPr>
              <a:t>two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bits </a:t>
            </a:r>
            <a:r>
              <a:rPr sz="2800" spc="-300" dirty="0">
                <a:solidFill>
                  <a:srgbClr val="006FC0"/>
                </a:solidFill>
                <a:latin typeface="Arial"/>
                <a:cs typeface="Arial"/>
              </a:rPr>
              <a:t>such </a:t>
            </a:r>
            <a:r>
              <a:rPr sz="2800" spc="-459" dirty="0">
                <a:solidFill>
                  <a:srgbClr val="006FC0"/>
                </a:solidFill>
                <a:latin typeface="Arial"/>
                <a:cs typeface="Arial"/>
              </a:rPr>
              <a:t>as </a:t>
            </a:r>
            <a:r>
              <a:rPr sz="2800" spc="-65" dirty="0">
                <a:solidFill>
                  <a:srgbClr val="006FC0"/>
                </a:solidFill>
                <a:latin typeface="Arial"/>
                <a:cs typeface="Arial"/>
              </a:rPr>
              <a:t>A</a:t>
            </a:r>
            <a:r>
              <a:rPr sz="2775" spc="-97" baseline="-21021" dirty="0">
                <a:solidFill>
                  <a:srgbClr val="006FC0"/>
                </a:solidFill>
                <a:latin typeface="Arial"/>
                <a:cs typeface="Arial"/>
              </a:rPr>
              <a:t>0 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spc="-340" dirty="0">
                <a:solidFill>
                  <a:srgbClr val="006FC0"/>
                </a:solidFill>
                <a:latin typeface="Arial"/>
                <a:cs typeface="Arial"/>
              </a:rPr>
              <a:t>B</a:t>
            </a:r>
            <a:r>
              <a:rPr sz="2775" spc="-509" baseline="-21021" dirty="0">
                <a:solidFill>
                  <a:srgbClr val="006FC0"/>
                </a:solidFill>
                <a:latin typeface="Arial"/>
                <a:cs typeface="Arial"/>
              </a:rPr>
              <a:t>0 </a:t>
            </a:r>
            <a:r>
              <a:rPr sz="1850" spc="-34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225" dirty="0">
                <a:solidFill>
                  <a:srgbClr val="006FC0"/>
                </a:solidFill>
                <a:latin typeface="Arial"/>
                <a:cs typeface="Arial"/>
              </a:rPr>
              <a:t>produces </a:t>
            </a:r>
            <a:r>
              <a:rPr sz="2800" spc="-395" dirty="0">
                <a:solidFill>
                  <a:srgbClr val="006FC0"/>
                </a:solidFill>
                <a:latin typeface="Arial"/>
                <a:cs typeface="Arial"/>
              </a:rPr>
              <a:t>a </a:t>
            </a:r>
            <a:r>
              <a:rPr sz="2800" spc="-400" dirty="0">
                <a:latin typeface="Arial"/>
                <a:cs typeface="Arial"/>
              </a:rPr>
              <a:t>1 </a:t>
            </a:r>
            <a:r>
              <a:rPr sz="2800" dirty="0">
                <a:latin typeface="Arial"/>
                <a:cs typeface="Arial"/>
              </a:rPr>
              <a:t>if </a:t>
            </a:r>
            <a:r>
              <a:rPr sz="2800" spc="-130" dirty="0">
                <a:latin typeface="Arial"/>
                <a:cs typeface="Arial"/>
              </a:rPr>
              <a:t>both </a:t>
            </a:r>
            <a:r>
              <a:rPr sz="2800" spc="-170" dirty="0">
                <a:latin typeface="Arial"/>
                <a:cs typeface="Arial"/>
              </a:rPr>
              <a:t>bits </a:t>
            </a:r>
            <a:r>
              <a:rPr sz="2800" spc="-250" dirty="0">
                <a:latin typeface="Arial"/>
                <a:cs typeface="Arial"/>
              </a:rPr>
              <a:t>are </a:t>
            </a:r>
            <a:r>
              <a:rPr sz="2800" spc="-204" dirty="0">
                <a:latin typeface="Arial"/>
                <a:cs typeface="Arial"/>
              </a:rPr>
              <a:t>1; </a:t>
            </a:r>
            <a:r>
              <a:rPr sz="2800" spc="-195" dirty="0">
                <a:latin typeface="Arial"/>
                <a:cs typeface="Arial"/>
              </a:rPr>
              <a:t>otherwise, </a:t>
            </a:r>
            <a:r>
              <a:rPr sz="2800" spc="25" dirty="0">
                <a:latin typeface="Arial"/>
                <a:cs typeface="Arial"/>
              </a:rPr>
              <a:t>it </a:t>
            </a:r>
            <a:r>
              <a:rPr sz="2800" spc="-225" dirty="0">
                <a:latin typeface="Arial"/>
                <a:cs typeface="Arial"/>
              </a:rPr>
              <a:t>produces</a:t>
            </a:r>
            <a:r>
              <a:rPr sz="2800" spc="-530" dirty="0">
                <a:latin typeface="Arial"/>
                <a:cs typeface="Arial"/>
              </a:rPr>
              <a:t> </a:t>
            </a:r>
            <a:r>
              <a:rPr sz="2800" spc="-395" dirty="0">
                <a:latin typeface="Arial"/>
                <a:cs typeface="Arial"/>
              </a:rPr>
              <a:t>a </a:t>
            </a:r>
            <a:r>
              <a:rPr sz="2800" spc="-280" dirty="0">
                <a:latin typeface="Arial"/>
                <a:cs typeface="Arial"/>
              </a:rPr>
              <a:t>0.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E36C09"/>
              </a:buClr>
              <a:buFont typeface="Wingdings"/>
              <a:buChar char=""/>
            </a:pPr>
            <a:endParaRPr sz="2900">
              <a:latin typeface="Arial"/>
              <a:cs typeface="Arial"/>
            </a:endParaRPr>
          </a:p>
          <a:p>
            <a:pPr marL="527685" marR="56515" indent="-464820" algn="just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528320" algn="l"/>
              </a:tabLst>
            </a:pPr>
            <a:r>
              <a:rPr sz="2800" spc="-220" dirty="0">
                <a:solidFill>
                  <a:srgbClr val="006FC0"/>
                </a:solidFill>
                <a:latin typeface="Arial"/>
                <a:cs typeface="Arial"/>
              </a:rPr>
              <a:t>This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800" spc="-150" dirty="0">
                <a:solidFill>
                  <a:srgbClr val="006FC0"/>
                </a:solidFill>
                <a:latin typeface="Arial"/>
                <a:cs typeface="Arial"/>
              </a:rPr>
              <a:t>identical </a:t>
            </a:r>
            <a:r>
              <a:rPr sz="2800" spc="-55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800" spc="-310" dirty="0">
                <a:solidFill>
                  <a:srgbClr val="006FC0"/>
                </a:solidFill>
                <a:latin typeface="Arial"/>
                <a:cs typeface="Arial"/>
              </a:rPr>
              <a:t>an </a:t>
            </a:r>
            <a:r>
              <a:rPr sz="2800" spc="-30" dirty="0">
                <a:latin typeface="Arial"/>
                <a:cs typeface="Arial"/>
              </a:rPr>
              <a:t>AND </a:t>
            </a:r>
            <a:r>
              <a:rPr sz="2800" spc="-155" dirty="0">
                <a:latin typeface="Arial"/>
                <a:cs typeface="Arial"/>
              </a:rPr>
              <a:t>operation</a:t>
            </a:r>
            <a:r>
              <a:rPr sz="2800" spc="-155" dirty="0">
                <a:solidFill>
                  <a:srgbClr val="006FC0"/>
                </a:solidFill>
                <a:latin typeface="Arial"/>
                <a:cs typeface="Arial"/>
              </a:rPr>
              <a:t>.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Therefore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 </a:t>
            </a:r>
            <a:r>
              <a:rPr sz="2800" spc="-130" dirty="0">
                <a:solidFill>
                  <a:srgbClr val="006FC0"/>
                </a:solidFill>
                <a:latin typeface="Arial"/>
                <a:cs typeface="Arial"/>
              </a:rPr>
              <a:t>partial </a:t>
            </a:r>
            <a:r>
              <a:rPr sz="2800" spc="-125" dirty="0">
                <a:solidFill>
                  <a:srgbClr val="006FC0"/>
                </a:solidFill>
                <a:latin typeface="Arial"/>
                <a:cs typeface="Arial"/>
              </a:rPr>
              <a:t>product </a:t>
            </a:r>
            <a:r>
              <a:rPr sz="2800" spc="-285" dirty="0">
                <a:solidFill>
                  <a:srgbClr val="006FC0"/>
                </a:solidFill>
                <a:latin typeface="Arial"/>
                <a:cs typeface="Arial"/>
              </a:rPr>
              <a:t>can be </a:t>
            </a:r>
            <a:r>
              <a:rPr sz="2800" spc="-185" dirty="0">
                <a:solidFill>
                  <a:srgbClr val="006FC0"/>
                </a:solidFill>
                <a:latin typeface="Arial"/>
                <a:cs typeface="Arial"/>
              </a:rPr>
              <a:t>implemented </a:t>
            </a:r>
            <a:r>
              <a:rPr sz="2800" spc="-110" dirty="0">
                <a:solidFill>
                  <a:srgbClr val="006FC0"/>
                </a:solidFill>
                <a:latin typeface="Arial"/>
                <a:cs typeface="Arial"/>
              </a:rPr>
              <a:t>with </a:t>
            </a:r>
            <a:r>
              <a:rPr sz="2800" spc="-30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spc="-315" dirty="0">
                <a:solidFill>
                  <a:srgbClr val="006FC0"/>
                </a:solidFill>
                <a:latin typeface="Arial"/>
                <a:cs typeface="Arial"/>
              </a:rPr>
              <a:t>gates </a:t>
            </a:r>
            <a:r>
              <a:rPr sz="2800" spc="-459" dirty="0">
                <a:solidFill>
                  <a:srgbClr val="006FC0"/>
                </a:solidFill>
                <a:latin typeface="Arial"/>
                <a:cs typeface="Arial"/>
              </a:rPr>
              <a:t>as  </a:t>
            </a:r>
            <a:r>
              <a:rPr sz="2800" spc="-270" dirty="0">
                <a:solidFill>
                  <a:srgbClr val="006FC0"/>
                </a:solidFill>
                <a:latin typeface="Arial"/>
                <a:cs typeface="Arial"/>
              </a:rPr>
              <a:t>shown </a:t>
            </a:r>
            <a:r>
              <a:rPr sz="2800" spc="-110" dirty="0">
                <a:solidFill>
                  <a:srgbClr val="006FC0"/>
                </a:solidFill>
                <a:latin typeface="Arial"/>
                <a:cs typeface="Arial"/>
              </a:rPr>
              <a:t>in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215" dirty="0">
                <a:solidFill>
                  <a:srgbClr val="006FC0"/>
                </a:solidFill>
                <a:latin typeface="Arial"/>
                <a:cs typeface="Arial"/>
              </a:rPr>
              <a:t>diagram.</a:t>
            </a:r>
            <a:endParaRPr sz="2800">
              <a:latin typeface="Arial"/>
              <a:cs typeface="Arial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8787638" y="6649770"/>
            <a:ext cx="25654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rlito"/>
                <a:cs typeface="Carlito"/>
              </a:rPr>
              <a:t>81</a:t>
            </a:r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2497835" y="202679"/>
              <a:ext cx="4142232" cy="9342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771901" y="321386"/>
            <a:ext cx="360045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90" dirty="0"/>
              <a:t>BINARY</a:t>
            </a:r>
            <a:r>
              <a:rPr spc="-95" dirty="0"/>
              <a:t> </a:t>
            </a:r>
            <a:r>
              <a:rPr spc="-65" dirty="0"/>
              <a:t>MULTIPLIER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2514600" y="3048000"/>
            <a:ext cx="6634480" cy="3810000"/>
            <a:chOff x="2514600" y="3048000"/>
            <a:chExt cx="6634480" cy="3810000"/>
          </a:xfrm>
        </p:grpSpPr>
        <p:sp>
          <p:nvSpPr>
            <p:cNvPr id="8" name="object 8"/>
            <p:cNvSpPr/>
            <p:nvPr/>
          </p:nvSpPr>
          <p:spPr>
            <a:xfrm>
              <a:off x="8593835" y="6620254"/>
              <a:ext cx="550164" cy="23774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674608" y="6556242"/>
              <a:ext cx="469392" cy="3017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514600" y="3048000"/>
              <a:ext cx="4724400" cy="335280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32740" y="1129664"/>
            <a:ext cx="8479790" cy="20459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5560" algn="ctr">
              <a:lnSpc>
                <a:spcPct val="100000"/>
              </a:lnSpc>
              <a:spcBef>
                <a:spcPts val="105"/>
              </a:spcBef>
            </a:pPr>
            <a:r>
              <a:rPr sz="2000" b="1" spc="-195" dirty="0">
                <a:solidFill>
                  <a:srgbClr val="C00000"/>
                </a:solidFill>
                <a:latin typeface="Arial"/>
                <a:cs typeface="Arial"/>
              </a:rPr>
              <a:t>2-Bit  </a:t>
            </a:r>
            <a:r>
              <a:rPr sz="2000" b="1" spc="-229" dirty="0">
                <a:solidFill>
                  <a:srgbClr val="C00000"/>
                </a:solidFill>
                <a:latin typeface="Arial"/>
                <a:cs typeface="Arial"/>
              </a:rPr>
              <a:t>by  </a:t>
            </a:r>
            <a:r>
              <a:rPr sz="2000" b="1" spc="-195" dirty="0">
                <a:solidFill>
                  <a:srgbClr val="C00000"/>
                </a:solidFill>
                <a:latin typeface="Arial"/>
                <a:cs typeface="Arial"/>
              </a:rPr>
              <a:t>2-Bit</a:t>
            </a:r>
            <a:r>
              <a:rPr sz="2000" b="1" spc="-39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140" dirty="0">
                <a:solidFill>
                  <a:srgbClr val="C00000"/>
                </a:solidFill>
                <a:latin typeface="Arial"/>
                <a:cs typeface="Arial"/>
              </a:rPr>
              <a:t>Multiplier</a:t>
            </a:r>
            <a:endParaRPr sz="2000">
              <a:latin typeface="Arial"/>
              <a:cs typeface="Arial"/>
            </a:endParaRPr>
          </a:p>
          <a:p>
            <a:pPr marL="527685" marR="55880" indent="-464820" algn="just">
              <a:lnSpc>
                <a:spcPct val="100000"/>
              </a:lnSpc>
              <a:spcBef>
                <a:spcPts val="55"/>
              </a:spcBef>
              <a:buClr>
                <a:srgbClr val="E36C09"/>
              </a:buClr>
              <a:buFont typeface="Wingdings"/>
              <a:buChar char=""/>
              <a:tabLst>
                <a:tab pos="528320" algn="l"/>
              </a:tabLst>
            </a:pP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270" dirty="0">
                <a:solidFill>
                  <a:srgbClr val="006FC0"/>
                </a:solidFill>
                <a:latin typeface="Arial"/>
                <a:cs typeface="Arial"/>
              </a:rPr>
              <a:t>second </a:t>
            </a:r>
            <a:r>
              <a:rPr sz="2800" spc="-135" dirty="0">
                <a:solidFill>
                  <a:srgbClr val="006FC0"/>
                </a:solidFill>
                <a:latin typeface="Arial"/>
                <a:cs typeface="Arial"/>
              </a:rPr>
              <a:t>partial </a:t>
            </a:r>
            <a:r>
              <a:rPr sz="2800" spc="-125" dirty="0">
                <a:solidFill>
                  <a:srgbClr val="006FC0"/>
                </a:solidFill>
                <a:latin typeface="Arial"/>
                <a:cs typeface="Arial"/>
              </a:rPr>
              <a:t>product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800" spc="-150" dirty="0">
                <a:solidFill>
                  <a:srgbClr val="006FC0"/>
                </a:solidFill>
                <a:latin typeface="Arial"/>
                <a:cs typeface="Arial"/>
              </a:rPr>
              <a:t>formed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by </a:t>
            </a:r>
            <a:r>
              <a:rPr sz="2800" spc="-120" dirty="0">
                <a:latin typeface="Arial"/>
                <a:cs typeface="Arial"/>
              </a:rPr>
              <a:t>multiplying </a:t>
            </a:r>
            <a:r>
              <a:rPr sz="2800" spc="-65" dirty="0">
                <a:latin typeface="Arial"/>
                <a:cs typeface="Arial"/>
              </a:rPr>
              <a:t>A</a:t>
            </a:r>
            <a:r>
              <a:rPr sz="2775" spc="-97" baseline="-21021" dirty="0">
                <a:latin typeface="Arial"/>
                <a:cs typeface="Arial"/>
              </a:rPr>
              <a:t>1 </a:t>
            </a:r>
            <a:r>
              <a:rPr sz="1850" spc="-65" dirty="0">
                <a:latin typeface="Arial"/>
                <a:cs typeface="Arial"/>
              </a:rPr>
              <a:t> </a:t>
            </a:r>
            <a:r>
              <a:rPr sz="2800" spc="-170" dirty="0">
                <a:latin typeface="Arial"/>
                <a:cs typeface="Arial"/>
              </a:rPr>
              <a:t>by </a:t>
            </a:r>
            <a:r>
              <a:rPr sz="2800" spc="-345" dirty="0">
                <a:latin typeface="Arial"/>
                <a:cs typeface="Arial"/>
              </a:rPr>
              <a:t>B</a:t>
            </a:r>
            <a:r>
              <a:rPr sz="2775" spc="-517" baseline="-21021" dirty="0">
                <a:latin typeface="Arial"/>
                <a:cs typeface="Arial"/>
              </a:rPr>
              <a:t>1</a:t>
            </a:r>
            <a:r>
              <a:rPr sz="2800" spc="-345" dirty="0">
                <a:latin typeface="Arial"/>
                <a:cs typeface="Arial"/>
              </a:rPr>
              <a:t>B</a:t>
            </a:r>
            <a:r>
              <a:rPr sz="2775" spc="-517" baseline="-21021" dirty="0">
                <a:latin typeface="Arial"/>
                <a:cs typeface="Arial"/>
              </a:rPr>
              <a:t>0 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shifted </a:t>
            </a:r>
            <a:r>
              <a:rPr sz="2800" spc="-240" dirty="0">
                <a:solidFill>
                  <a:srgbClr val="006FC0"/>
                </a:solidFill>
                <a:latin typeface="Arial"/>
                <a:cs typeface="Arial"/>
              </a:rPr>
              <a:t>one</a:t>
            </a:r>
            <a:r>
              <a:rPr sz="2800" spc="29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150" dirty="0">
                <a:solidFill>
                  <a:srgbClr val="006FC0"/>
                </a:solidFill>
                <a:latin typeface="Arial"/>
                <a:cs typeface="Arial"/>
              </a:rPr>
              <a:t>position </a:t>
            </a:r>
            <a:r>
              <a:rPr sz="2800" spc="-55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90" dirty="0">
                <a:solidFill>
                  <a:srgbClr val="006FC0"/>
                </a:solidFill>
                <a:latin typeface="Arial"/>
                <a:cs typeface="Arial"/>
              </a:rPr>
              <a:t>left. </a:t>
            </a: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25" dirty="0">
                <a:solidFill>
                  <a:srgbClr val="006FC0"/>
                </a:solidFill>
                <a:latin typeface="Arial"/>
                <a:cs typeface="Arial"/>
              </a:rPr>
              <a:t>two  </a:t>
            </a:r>
            <a:r>
              <a:rPr sz="2800" spc="-130" dirty="0">
                <a:solidFill>
                  <a:srgbClr val="006FC0"/>
                </a:solidFill>
                <a:latin typeface="Arial"/>
                <a:cs typeface="Arial"/>
              </a:rPr>
              <a:t>partial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products 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are </a:t>
            </a:r>
            <a:r>
              <a:rPr sz="2800" spc="-245" dirty="0">
                <a:solidFill>
                  <a:srgbClr val="006FC0"/>
                </a:solidFill>
                <a:latin typeface="Arial"/>
                <a:cs typeface="Arial"/>
              </a:rPr>
              <a:t>added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with </a:t>
            </a:r>
            <a:r>
              <a:rPr sz="2800" spc="-120" dirty="0">
                <a:latin typeface="Arial"/>
                <a:cs typeface="Arial"/>
              </a:rPr>
              <a:t>two </a:t>
            </a:r>
            <a:r>
              <a:rPr sz="2800" spc="-155" dirty="0">
                <a:latin typeface="Arial"/>
                <a:cs typeface="Arial"/>
              </a:rPr>
              <a:t>half </a:t>
            </a:r>
            <a:r>
              <a:rPr sz="2800" spc="-215" dirty="0">
                <a:latin typeface="Arial"/>
                <a:cs typeface="Arial"/>
              </a:rPr>
              <a:t>adder</a:t>
            </a:r>
            <a:r>
              <a:rPr sz="2800" spc="345" dirty="0">
                <a:latin typeface="Arial"/>
                <a:cs typeface="Arial"/>
              </a:rPr>
              <a:t> </a:t>
            </a:r>
            <a:r>
              <a:rPr sz="2800" spc="-120" dirty="0">
                <a:solidFill>
                  <a:srgbClr val="006FC0"/>
                </a:solidFill>
                <a:latin typeface="Arial"/>
                <a:cs typeface="Arial"/>
              </a:rPr>
              <a:t>(HA)  </a:t>
            </a:r>
            <a:r>
              <a:rPr sz="2800" spc="-150" dirty="0">
                <a:solidFill>
                  <a:srgbClr val="006FC0"/>
                </a:solidFill>
                <a:latin typeface="Arial"/>
                <a:cs typeface="Arial"/>
              </a:rPr>
              <a:t>circuits.</a:t>
            </a:r>
            <a:endParaRPr sz="28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787638" y="6649770"/>
            <a:ext cx="25654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rlito"/>
                <a:cs typeface="Carlito"/>
              </a:rPr>
              <a:t>82</a:t>
            </a:r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2497835" y="202679"/>
              <a:ext cx="4142232" cy="9342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771901" y="321386"/>
            <a:ext cx="360045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90" dirty="0">
                <a:latin typeface="Trebuchet MS"/>
                <a:cs typeface="Trebuchet MS"/>
              </a:rPr>
              <a:t>BINARY</a:t>
            </a:r>
            <a:r>
              <a:rPr sz="3200" b="1" spc="-95" dirty="0">
                <a:latin typeface="Trebuchet MS"/>
                <a:cs typeface="Trebuchet MS"/>
              </a:rPr>
              <a:t> </a:t>
            </a:r>
            <a:r>
              <a:rPr sz="3200" b="1" spc="-65" dirty="0">
                <a:latin typeface="Trebuchet MS"/>
                <a:cs typeface="Trebuchet MS"/>
              </a:rPr>
              <a:t>MULTIPLIER</a:t>
            </a:r>
            <a:endParaRPr sz="320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752600" y="1743455"/>
            <a:ext cx="7396480" cy="5114925"/>
            <a:chOff x="1752600" y="1743455"/>
            <a:chExt cx="7396480" cy="5114925"/>
          </a:xfrm>
        </p:grpSpPr>
        <p:sp>
          <p:nvSpPr>
            <p:cNvPr id="8" name="object 8"/>
            <p:cNvSpPr/>
            <p:nvPr/>
          </p:nvSpPr>
          <p:spPr>
            <a:xfrm>
              <a:off x="8593835" y="6620254"/>
              <a:ext cx="550164" cy="23774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674607" y="6556242"/>
              <a:ext cx="469392" cy="3017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641080" y="6644640"/>
              <a:ext cx="502920" cy="1828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752600" y="1743455"/>
              <a:ext cx="5209032" cy="420014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398011" y="1129664"/>
            <a:ext cx="230568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95" dirty="0">
                <a:solidFill>
                  <a:srgbClr val="C00000"/>
                </a:solidFill>
                <a:latin typeface="Arial"/>
                <a:cs typeface="Arial"/>
              </a:rPr>
              <a:t>2-Bit </a:t>
            </a:r>
            <a:r>
              <a:rPr sz="2000" b="1" spc="-229" dirty="0">
                <a:solidFill>
                  <a:srgbClr val="C00000"/>
                </a:solidFill>
                <a:latin typeface="Arial"/>
                <a:cs typeface="Arial"/>
              </a:rPr>
              <a:t>by </a:t>
            </a:r>
            <a:r>
              <a:rPr sz="2000" b="1" spc="-195" dirty="0">
                <a:solidFill>
                  <a:srgbClr val="C00000"/>
                </a:solidFill>
                <a:latin typeface="Arial"/>
                <a:cs typeface="Arial"/>
              </a:rPr>
              <a:t>2-Bit</a:t>
            </a:r>
            <a:r>
              <a:rPr sz="2000" b="1" spc="-8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140" dirty="0">
                <a:solidFill>
                  <a:srgbClr val="C00000"/>
                </a:solidFill>
                <a:latin typeface="Arial"/>
                <a:cs typeface="Arial"/>
              </a:rPr>
              <a:t>Multiplier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787638" y="6649770"/>
            <a:ext cx="25654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rlito"/>
                <a:cs typeface="Carlito"/>
              </a:rPr>
              <a:t>83</a:t>
            </a:r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2497835" y="202679"/>
              <a:ext cx="4142232" cy="9342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771901" y="321386"/>
            <a:ext cx="360045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90" dirty="0"/>
              <a:t>BINARY</a:t>
            </a:r>
            <a:r>
              <a:rPr spc="-95" dirty="0"/>
              <a:t> </a:t>
            </a:r>
            <a:r>
              <a:rPr spc="-65" dirty="0"/>
              <a:t>MULTIPLIER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sp>
          <p:nvSpPr>
            <p:cNvPr id="8" name="object 8"/>
            <p:cNvSpPr/>
            <p:nvPr/>
          </p:nvSpPr>
          <p:spPr>
            <a:xfrm>
              <a:off x="8593835" y="6620255"/>
              <a:ext cx="550164" cy="23774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674607" y="6556243"/>
              <a:ext cx="469392" cy="3017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83540" y="1129664"/>
            <a:ext cx="8379459" cy="53378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6830" algn="ctr">
              <a:lnSpc>
                <a:spcPct val="100000"/>
              </a:lnSpc>
              <a:spcBef>
                <a:spcPts val="105"/>
              </a:spcBef>
            </a:pPr>
            <a:r>
              <a:rPr sz="2000" b="1" spc="-195" dirty="0">
                <a:solidFill>
                  <a:srgbClr val="C00000"/>
                </a:solidFill>
                <a:latin typeface="Arial"/>
                <a:cs typeface="Arial"/>
              </a:rPr>
              <a:t>2-Bit  </a:t>
            </a:r>
            <a:r>
              <a:rPr sz="2000" b="1" spc="-229" dirty="0">
                <a:solidFill>
                  <a:srgbClr val="C00000"/>
                </a:solidFill>
                <a:latin typeface="Arial"/>
                <a:cs typeface="Arial"/>
              </a:rPr>
              <a:t>by  </a:t>
            </a:r>
            <a:r>
              <a:rPr sz="2000" b="1" spc="-195" dirty="0">
                <a:solidFill>
                  <a:srgbClr val="C00000"/>
                </a:solidFill>
                <a:latin typeface="Arial"/>
                <a:cs typeface="Arial"/>
              </a:rPr>
              <a:t>2-Bit</a:t>
            </a:r>
            <a:r>
              <a:rPr sz="2000" b="1" spc="-39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140" dirty="0">
                <a:solidFill>
                  <a:srgbClr val="C00000"/>
                </a:solidFill>
                <a:latin typeface="Arial"/>
                <a:cs typeface="Arial"/>
              </a:rPr>
              <a:t>Multiplier</a:t>
            </a:r>
            <a:endParaRPr sz="2000">
              <a:latin typeface="Arial"/>
              <a:cs typeface="Arial"/>
            </a:endParaRPr>
          </a:p>
          <a:p>
            <a:pPr marL="476884" marR="5080" indent="-464820" algn="just">
              <a:lnSpc>
                <a:spcPct val="100000"/>
              </a:lnSpc>
              <a:spcBef>
                <a:spcPts val="55"/>
              </a:spcBef>
              <a:buClr>
                <a:srgbClr val="F79546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-185" dirty="0">
                <a:solidFill>
                  <a:srgbClr val="006FC0"/>
                </a:solidFill>
                <a:latin typeface="Arial"/>
                <a:cs typeface="Arial"/>
              </a:rPr>
              <a:t>Usually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there 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are </a:t>
            </a:r>
            <a:r>
              <a:rPr sz="2800" spc="-190" dirty="0">
                <a:solidFill>
                  <a:srgbClr val="006FC0"/>
                </a:solidFill>
                <a:latin typeface="Arial"/>
                <a:cs typeface="Arial"/>
              </a:rPr>
              <a:t>more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bits </a:t>
            </a:r>
            <a:r>
              <a:rPr sz="2800" spc="-110" dirty="0">
                <a:solidFill>
                  <a:srgbClr val="006FC0"/>
                </a:solidFill>
                <a:latin typeface="Arial"/>
                <a:cs typeface="Arial"/>
              </a:rPr>
              <a:t>in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35" dirty="0">
                <a:solidFill>
                  <a:srgbClr val="006FC0"/>
                </a:solidFill>
                <a:latin typeface="Arial"/>
                <a:cs typeface="Arial"/>
              </a:rPr>
              <a:t>partial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products </a:t>
            </a:r>
            <a:r>
              <a:rPr sz="2800" spc="-260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spc="25" dirty="0">
                <a:solidFill>
                  <a:srgbClr val="006FC0"/>
                </a:solidFill>
                <a:latin typeface="Arial"/>
                <a:cs typeface="Arial"/>
              </a:rPr>
              <a:t>it 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800" spc="-305" dirty="0">
                <a:solidFill>
                  <a:srgbClr val="006FC0"/>
                </a:solidFill>
                <a:latin typeface="Arial"/>
                <a:cs typeface="Arial"/>
              </a:rPr>
              <a:t>necessary </a:t>
            </a:r>
            <a:r>
              <a:rPr sz="2800" spc="-55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800" spc="-355" dirty="0">
                <a:latin typeface="Arial"/>
                <a:cs typeface="Arial"/>
              </a:rPr>
              <a:t>use </a:t>
            </a:r>
            <a:r>
              <a:rPr sz="2800" spc="-65" dirty="0">
                <a:latin typeface="Arial"/>
                <a:cs typeface="Arial"/>
              </a:rPr>
              <a:t>full </a:t>
            </a:r>
            <a:r>
              <a:rPr sz="2800" spc="-265" dirty="0">
                <a:latin typeface="Arial"/>
                <a:cs typeface="Arial"/>
              </a:rPr>
              <a:t>adders </a:t>
            </a:r>
            <a:r>
              <a:rPr sz="2800" spc="-55" dirty="0">
                <a:latin typeface="Arial"/>
                <a:cs typeface="Arial"/>
              </a:rPr>
              <a:t>to </a:t>
            </a:r>
            <a:r>
              <a:rPr sz="2800" spc="-180" dirty="0">
                <a:latin typeface="Arial"/>
                <a:cs typeface="Arial"/>
              </a:rPr>
              <a:t>produce </a:t>
            </a:r>
            <a:r>
              <a:rPr sz="2800" spc="-170" dirty="0">
                <a:latin typeface="Arial"/>
                <a:cs typeface="Arial"/>
              </a:rPr>
              <a:t>the </a:t>
            </a:r>
            <a:r>
              <a:rPr sz="2800" spc="-320" dirty="0">
                <a:latin typeface="Arial"/>
                <a:cs typeface="Arial"/>
              </a:rPr>
              <a:t>sum </a:t>
            </a:r>
            <a:r>
              <a:rPr sz="2800" spc="-80" dirty="0">
                <a:latin typeface="Arial"/>
                <a:cs typeface="Arial"/>
              </a:rPr>
              <a:t>of </a:t>
            </a:r>
            <a:r>
              <a:rPr sz="2800" spc="-170" dirty="0">
                <a:latin typeface="Arial"/>
                <a:cs typeface="Arial"/>
              </a:rPr>
              <a:t>the  </a:t>
            </a:r>
            <a:r>
              <a:rPr sz="2800" spc="-130" dirty="0">
                <a:latin typeface="Arial"/>
                <a:cs typeface="Arial"/>
              </a:rPr>
              <a:t>partial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spc="-170" dirty="0">
                <a:latin typeface="Arial"/>
                <a:cs typeface="Arial"/>
              </a:rPr>
              <a:t>products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F79546"/>
              </a:buClr>
              <a:buFont typeface="Wingdings"/>
              <a:buChar char=""/>
            </a:pPr>
            <a:endParaRPr sz="2900">
              <a:latin typeface="Arial"/>
              <a:cs typeface="Arial"/>
            </a:endParaRPr>
          </a:p>
          <a:p>
            <a:pPr marL="476884" marR="6350" indent="-464820" algn="just">
              <a:lnSpc>
                <a:spcPct val="100000"/>
              </a:lnSpc>
              <a:buClr>
                <a:srgbClr val="F79546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245" dirty="0">
                <a:solidFill>
                  <a:srgbClr val="006FC0"/>
                </a:solidFill>
                <a:latin typeface="Arial"/>
                <a:cs typeface="Arial"/>
              </a:rPr>
              <a:t>least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significant </a:t>
            </a:r>
            <a:r>
              <a:rPr sz="2800" spc="-60" dirty="0">
                <a:solidFill>
                  <a:srgbClr val="006FC0"/>
                </a:solidFill>
                <a:latin typeface="Arial"/>
                <a:cs typeface="Arial"/>
              </a:rPr>
              <a:t>bit </a:t>
            </a:r>
            <a:r>
              <a:rPr sz="2800" spc="-80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25" dirty="0">
                <a:solidFill>
                  <a:srgbClr val="006FC0"/>
                </a:solidFill>
                <a:latin typeface="Arial"/>
                <a:cs typeface="Arial"/>
              </a:rPr>
              <a:t>product </a:t>
            </a:r>
            <a:r>
              <a:rPr sz="2800" spc="-300" dirty="0">
                <a:latin typeface="Arial"/>
                <a:cs typeface="Arial"/>
              </a:rPr>
              <a:t>does </a:t>
            </a:r>
            <a:r>
              <a:rPr sz="2800" spc="-105" dirty="0">
                <a:latin typeface="Arial"/>
                <a:cs typeface="Arial"/>
              </a:rPr>
              <a:t>not </a:t>
            </a:r>
            <a:r>
              <a:rPr sz="2800" spc="-290" dirty="0">
                <a:latin typeface="Arial"/>
                <a:cs typeface="Arial"/>
              </a:rPr>
              <a:t>have </a:t>
            </a:r>
            <a:r>
              <a:rPr sz="2800" spc="-65" dirty="0">
                <a:latin typeface="Arial"/>
                <a:cs typeface="Arial"/>
              </a:rPr>
              <a:t>to  </a:t>
            </a:r>
            <a:r>
              <a:rPr sz="2800" spc="-254" dirty="0">
                <a:latin typeface="Arial"/>
                <a:cs typeface="Arial"/>
              </a:rPr>
              <a:t>go </a:t>
            </a:r>
            <a:r>
              <a:rPr sz="2800" spc="-160" dirty="0">
                <a:latin typeface="Arial"/>
                <a:cs typeface="Arial"/>
              </a:rPr>
              <a:t>through </a:t>
            </a:r>
            <a:r>
              <a:rPr sz="2800" spc="-305" dirty="0">
                <a:latin typeface="Arial"/>
                <a:cs typeface="Arial"/>
              </a:rPr>
              <a:t>an </a:t>
            </a:r>
            <a:r>
              <a:rPr sz="2800" spc="-215" dirty="0">
                <a:latin typeface="Arial"/>
                <a:cs typeface="Arial"/>
              </a:rPr>
              <a:t>adder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since </a:t>
            </a:r>
            <a:r>
              <a:rPr sz="2800" spc="25" dirty="0">
                <a:solidFill>
                  <a:srgbClr val="006FC0"/>
                </a:solidFill>
                <a:latin typeface="Arial"/>
                <a:cs typeface="Arial"/>
              </a:rPr>
              <a:t>it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800" spc="-150" dirty="0">
                <a:solidFill>
                  <a:srgbClr val="006FC0"/>
                </a:solidFill>
                <a:latin typeface="Arial"/>
                <a:cs typeface="Arial"/>
              </a:rPr>
              <a:t>formed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by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output </a:t>
            </a:r>
            <a:r>
              <a:rPr sz="2800" spc="-70" dirty="0">
                <a:solidFill>
                  <a:srgbClr val="006FC0"/>
                </a:solidFill>
                <a:latin typeface="Arial"/>
                <a:cs typeface="Arial"/>
              </a:rPr>
              <a:t>of 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95" dirty="0">
                <a:solidFill>
                  <a:srgbClr val="006FC0"/>
                </a:solidFill>
                <a:latin typeface="Arial"/>
                <a:cs typeface="Arial"/>
              </a:rPr>
              <a:t>first </a:t>
            </a:r>
            <a:r>
              <a:rPr sz="2800" spc="-30" dirty="0">
                <a:solidFill>
                  <a:srgbClr val="006FC0"/>
                </a:solidFill>
                <a:latin typeface="Arial"/>
                <a:cs typeface="Arial"/>
              </a:rPr>
              <a:t>AND</a:t>
            </a:r>
            <a:r>
              <a:rPr sz="2800" spc="24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240" dirty="0">
                <a:solidFill>
                  <a:srgbClr val="006FC0"/>
                </a:solidFill>
                <a:latin typeface="Arial"/>
                <a:cs typeface="Arial"/>
              </a:rPr>
              <a:t>gate.</a:t>
            </a:r>
            <a:endParaRPr sz="2800">
              <a:latin typeface="Arial"/>
              <a:cs typeface="Arial"/>
            </a:endParaRPr>
          </a:p>
          <a:p>
            <a:pPr marL="476884" marR="6985" indent="-464820" algn="just">
              <a:lnSpc>
                <a:spcPct val="100000"/>
              </a:lnSpc>
              <a:spcBef>
                <a:spcPts val="2400"/>
              </a:spcBef>
              <a:buClr>
                <a:srgbClr val="F79546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135" dirty="0">
                <a:solidFill>
                  <a:srgbClr val="006FC0"/>
                </a:solidFill>
                <a:latin typeface="Arial"/>
                <a:cs typeface="Arial"/>
              </a:rPr>
              <a:t>A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combinational </a:t>
            </a:r>
            <a:r>
              <a:rPr sz="2800" spc="-95" dirty="0">
                <a:solidFill>
                  <a:srgbClr val="006FC0"/>
                </a:solidFill>
                <a:latin typeface="Arial"/>
                <a:cs typeface="Arial"/>
              </a:rPr>
              <a:t>circuit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binary </a:t>
            </a:r>
            <a:r>
              <a:rPr sz="2800" spc="-95" dirty="0">
                <a:solidFill>
                  <a:srgbClr val="006FC0"/>
                </a:solidFill>
                <a:latin typeface="Arial"/>
                <a:cs typeface="Arial"/>
              </a:rPr>
              <a:t>multiplier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with </a:t>
            </a:r>
            <a:r>
              <a:rPr sz="2800" spc="-185" dirty="0">
                <a:solidFill>
                  <a:srgbClr val="006FC0"/>
                </a:solidFill>
                <a:latin typeface="Arial"/>
                <a:cs typeface="Arial"/>
              </a:rPr>
              <a:t>more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bits  </a:t>
            </a:r>
            <a:r>
              <a:rPr sz="2800" spc="-280" dirty="0">
                <a:solidFill>
                  <a:srgbClr val="006FC0"/>
                </a:solidFill>
                <a:latin typeface="Arial"/>
                <a:cs typeface="Arial"/>
              </a:rPr>
              <a:t>can be </a:t>
            </a:r>
            <a:r>
              <a:rPr sz="2800" spc="-180" dirty="0">
                <a:solidFill>
                  <a:srgbClr val="006FC0"/>
                </a:solidFill>
                <a:latin typeface="Arial"/>
                <a:cs typeface="Arial"/>
              </a:rPr>
              <a:t>constructed </a:t>
            </a:r>
            <a:r>
              <a:rPr sz="2800" spc="-120" dirty="0">
                <a:solidFill>
                  <a:srgbClr val="006FC0"/>
                </a:solidFill>
                <a:latin typeface="Arial"/>
                <a:cs typeface="Arial"/>
              </a:rPr>
              <a:t>in </a:t>
            </a:r>
            <a:r>
              <a:rPr sz="2800" spc="-395" dirty="0">
                <a:solidFill>
                  <a:srgbClr val="006FC0"/>
                </a:solidFill>
                <a:latin typeface="Arial"/>
                <a:cs typeface="Arial"/>
              </a:rPr>
              <a:t>a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similar </a:t>
            </a:r>
            <a:r>
              <a:rPr sz="2800" spc="-210" dirty="0">
                <a:solidFill>
                  <a:srgbClr val="006FC0"/>
                </a:solidFill>
                <a:latin typeface="Arial"/>
                <a:cs typeface="Arial"/>
              </a:rPr>
              <a:t>fashion. </a:t>
            </a:r>
            <a:r>
              <a:rPr sz="2800" spc="135" dirty="0">
                <a:solidFill>
                  <a:srgbClr val="006FC0"/>
                </a:solidFill>
                <a:latin typeface="Arial"/>
                <a:cs typeface="Arial"/>
              </a:rPr>
              <a:t>A </a:t>
            </a:r>
            <a:r>
              <a:rPr sz="2800" spc="-55" dirty="0">
                <a:latin typeface="Arial"/>
                <a:cs typeface="Arial"/>
              </a:rPr>
              <a:t>bit </a:t>
            </a:r>
            <a:r>
              <a:rPr sz="2800" spc="-75" dirty="0">
                <a:latin typeface="Arial"/>
                <a:cs typeface="Arial"/>
              </a:rPr>
              <a:t>of </a:t>
            </a:r>
            <a:r>
              <a:rPr sz="2800" spc="-175" dirty="0">
                <a:latin typeface="Arial"/>
                <a:cs typeface="Arial"/>
              </a:rPr>
              <a:t>the  </a:t>
            </a:r>
            <a:r>
              <a:rPr sz="2800" spc="-95" dirty="0">
                <a:latin typeface="Arial"/>
                <a:cs typeface="Arial"/>
              </a:rPr>
              <a:t>multiplier </a:t>
            </a:r>
            <a:r>
              <a:rPr sz="2800" spc="-270" dirty="0">
                <a:latin typeface="Arial"/>
                <a:cs typeface="Arial"/>
              </a:rPr>
              <a:t>is </a:t>
            </a:r>
            <a:r>
              <a:rPr sz="2800" spc="-120" dirty="0">
                <a:latin typeface="Arial"/>
                <a:cs typeface="Arial"/>
              </a:rPr>
              <a:t>ANDed </a:t>
            </a:r>
            <a:r>
              <a:rPr sz="2800" spc="-105" dirty="0">
                <a:latin typeface="Arial"/>
                <a:cs typeface="Arial"/>
              </a:rPr>
              <a:t>with </a:t>
            </a:r>
            <a:r>
              <a:rPr sz="2800" spc="-305" dirty="0">
                <a:latin typeface="Arial"/>
                <a:cs typeface="Arial"/>
              </a:rPr>
              <a:t>each </a:t>
            </a:r>
            <a:r>
              <a:rPr sz="2800" spc="-55" dirty="0">
                <a:latin typeface="Arial"/>
                <a:cs typeface="Arial"/>
              </a:rPr>
              <a:t>bit </a:t>
            </a:r>
            <a:r>
              <a:rPr sz="2800" spc="-80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35" dirty="0">
                <a:solidFill>
                  <a:srgbClr val="006FC0"/>
                </a:solidFill>
                <a:latin typeface="Arial"/>
                <a:cs typeface="Arial"/>
              </a:rPr>
              <a:t>multiplicand </a:t>
            </a:r>
            <a:r>
              <a:rPr sz="2800" spc="-110" dirty="0">
                <a:solidFill>
                  <a:srgbClr val="006FC0"/>
                </a:solidFill>
                <a:latin typeface="Arial"/>
                <a:cs typeface="Arial"/>
              </a:rPr>
              <a:t>in  </a:t>
            </a:r>
            <a:r>
              <a:rPr sz="2800" spc="-455" dirty="0">
                <a:solidFill>
                  <a:srgbClr val="006FC0"/>
                </a:solidFill>
                <a:latin typeface="Arial"/>
                <a:cs typeface="Arial"/>
              </a:rPr>
              <a:t>as </a:t>
            </a:r>
            <a:r>
              <a:rPr sz="2800" spc="-245" dirty="0">
                <a:solidFill>
                  <a:srgbClr val="006FC0"/>
                </a:solidFill>
                <a:latin typeface="Arial"/>
                <a:cs typeface="Arial"/>
              </a:rPr>
              <a:t>many </a:t>
            </a:r>
            <a:r>
              <a:rPr sz="2800" spc="-240" dirty="0">
                <a:solidFill>
                  <a:srgbClr val="006FC0"/>
                </a:solidFill>
                <a:latin typeface="Arial"/>
                <a:cs typeface="Arial"/>
              </a:rPr>
              <a:t>levels </a:t>
            </a:r>
            <a:r>
              <a:rPr sz="2800" spc="-455" dirty="0">
                <a:solidFill>
                  <a:srgbClr val="006FC0"/>
                </a:solidFill>
                <a:latin typeface="Arial"/>
                <a:cs typeface="Arial"/>
              </a:rPr>
              <a:t>as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there 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are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bits </a:t>
            </a:r>
            <a:r>
              <a:rPr sz="2800" spc="-110" dirty="0">
                <a:solidFill>
                  <a:srgbClr val="006FC0"/>
                </a:solidFill>
                <a:latin typeface="Arial"/>
                <a:cs typeface="Arial"/>
              </a:rPr>
              <a:t>in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</a:t>
            </a:r>
            <a:r>
              <a:rPr sz="2800" spc="-21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100" dirty="0">
                <a:solidFill>
                  <a:srgbClr val="006FC0"/>
                </a:solidFill>
                <a:latin typeface="Arial"/>
                <a:cs typeface="Arial"/>
              </a:rPr>
              <a:t>multiplier.</a:t>
            </a:r>
            <a:endParaRPr sz="2800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787638" y="6649770"/>
            <a:ext cx="25654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rlito"/>
                <a:cs typeface="Carlito"/>
              </a:rPr>
              <a:t>84</a:t>
            </a:r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2497835" y="202679"/>
              <a:ext cx="4142232" cy="9342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771901" y="321386"/>
            <a:ext cx="360045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90" dirty="0"/>
              <a:t>BINARY</a:t>
            </a:r>
            <a:r>
              <a:rPr spc="-95" dirty="0"/>
              <a:t> </a:t>
            </a:r>
            <a:r>
              <a:rPr spc="-65" dirty="0"/>
              <a:t>MULTIPLIER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sp>
          <p:nvSpPr>
            <p:cNvPr id="8" name="object 8"/>
            <p:cNvSpPr/>
            <p:nvPr/>
          </p:nvSpPr>
          <p:spPr>
            <a:xfrm>
              <a:off x="8593835" y="6620255"/>
              <a:ext cx="550164" cy="23774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674607" y="6556243"/>
              <a:ext cx="469392" cy="3017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69240" y="960520"/>
            <a:ext cx="8452485" cy="5004435"/>
          </a:xfrm>
          <a:prstGeom prst="rect">
            <a:avLst/>
          </a:prstGeom>
        </p:spPr>
        <p:txBody>
          <a:bodyPr vert="horz" wrap="square" lIns="0" tIns="182245" rIns="0" bIns="0" rtlCol="0">
            <a:spAutoFit/>
          </a:bodyPr>
          <a:lstStyle/>
          <a:p>
            <a:pPr marL="110489" algn="ctr">
              <a:lnSpc>
                <a:spcPct val="100000"/>
              </a:lnSpc>
              <a:spcBef>
                <a:spcPts val="1435"/>
              </a:spcBef>
            </a:pPr>
            <a:r>
              <a:rPr sz="2000" b="1" spc="-195" dirty="0">
                <a:solidFill>
                  <a:srgbClr val="C00000"/>
                </a:solidFill>
                <a:latin typeface="Arial"/>
                <a:cs typeface="Arial"/>
              </a:rPr>
              <a:t>4-Bit  </a:t>
            </a:r>
            <a:r>
              <a:rPr sz="2000" b="1" spc="-229" dirty="0">
                <a:solidFill>
                  <a:srgbClr val="C00000"/>
                </a:solidFill>
                <a:latin typeface="Arial"/>
                <a:cs typeface="Arial"/>
              </a:rPr>
              <a:t>by  </a:t>
            </a:r>
            <a:r>
              <a:rPr sz="2000" b="1" spc="-195" dirty="0">
                <a:solidFill>
                  <a:srgbClr val="C00000"/>
                </a:solidFill>
                <a:latin typeface="Arial"/>
                <a:cs typeface="Arial"/>
              </a:rPr>
              <a:t>4-Bit</a:t>
            </a:r>
            <a:r>
              <a:rPr sz="2000" b="1" spc="-39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140" dirty="0">
                <a:solidFill>
                  <a:srgbClr val="C00000"/>
                </a:solidFill>
                <a:latin typeface="Arial"/>
                <a:cs typeface="Arial"/>
              </a:rPr>
              <a:t>Multiplier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600">
              <a:latin typeface="Arial"/>
              <a:cs typeface="Arial"/>
            </a:endParaRPr>
          </a:p>
          <a:p>
            <a:pPr marL="514984" marR="41275" indent="-464820" algn="just">
              <a:lnSpc>
                <a:spcPct val="100000"/>
              </a:lnSpc>
              <a:buClr>
                <a:srgbClr val="F79546"/>
              </a:buClr>
              <a:buFont typeface="Wingdings"/>
              <a:buChar char=""/>
              <a:tabLst>
                <a:tab pos="515620" algn="l"/>
              </a:tabLst>
            </a:pP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binary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output </a:t>
            </a:r>
            <a:r>
              <a:rPr sz="2800" spc="-110" dirty="0">
                <a:solidFill>
                  <a:srgbClr val="006FC0"/>
                </a:solidFill>
                <a:latin typeface="Arial"/>
                <a:cs typeface="Arial"/>
              </a:rPr>
              <a:t>in </a:t>
            </a:r>
            <a:r>
              <a:rPr sz="2800" spc="-300" dirty="0">
                <a:solidFill>
                  <a:srgbClr val="006FC0"/>
                </a:solidFill>
                <a:latin typeface="Arial"/>
                <a:cs typeface="Arial"/>
              </a:rPr>
              <a:t>each </a:t>
            </a:r>
            <a:r>
              <a:rPr sz="2800" spc="-185" dirty="0">
                <a:solidFill>
                  <a:srgbClr val="006FC0"/>
                </a:solidFill>
                <a:latin typeface="Arial"/>
                <a:cs typeface="Arial"/>
              </a:rPr>
              <a:t>level 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30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spc="-315" dirty="0">
                <a:solidFill>
                  <a:srgbClr val="006FC0"/>
                </a:solidFill>
                <a:latin typeface="Arial"/>
                <a:cs typeface="Arial"/>
              </a:rPr>
              <a:t>gates 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are </a:t>
            </a:r>
            <a:r>
              <a:rPr sz="2800" spc="-245" dirty="0">
                <a:latin typeface="Arial"/>
                <a:cs typeface="Arial"/>
              </a:rPr>
              <a:t>added  </a:t>
            </a:r>
            <a:r>
              <a:rPr sz="2800" spc="-105" dirty="0">
                <a:latin typeface="Arial"/>
                <a:cs typeface="Arial"/>
              </a:rPr>
              <a:t>with </a:t>
            </a:r>
            <a:r>
              <a:rPr sz="2800" spc="-170" dirty="0">
                <a:latin typeface="Arial"/>
                <a:cs typeface="Arial"/>
              </a:rPr>
              <a:t>the </a:t>
            </a:r>
            <a:r>
              <a:rPr sz="2800" spc="-135" dirty="0">
                <a:latin typeface="Arial"/>
                <a:cs typeface="Arial"/>
              </a:rPr>
              <a:t>partial </a:t>
            </a:r>
            <a:r>
              <a:rPr sz="2800" spc="-125" dirty="0">
                <a:latin typeface="Arial"/>
                <a:cs typeface="Arial"/>
              </a:rPr>
              <a:t>product 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200" dirty="0">
                <a:solidFill>
                  <a:srgbClr val="006FC0"/>
                </a:solidFill>
                <a:latin typeface="Arial"/>
                <a:cs typeface="Arial"/>
              </a:rPr>
              <a:t>previous </a:t>
            </a:r>
            <a:r>
              <a:rPr sz="2800" spc="-185" dirty="0">
                <a:solidFill>
                  <a:srgbClr val="006FC0"/>
                </a:solidFill>
                <a:latin typeface="Arial"/>
                <a:cs typeface="Arial"/>
              </a:rPr>
              <a:t>level </a:t>
            </a:r>
            <a:r>
              <a:rPr sz="2800" spc="-50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800" spc="-100" dirty="0">
                <a:solidFill>
                  <a:srgbClr val="006FC0"/>
                </a:solidFill>
                <a:latin typeface="Arial"/>
                <a:cs typeface="Arial"/>
              </a:rPr>
              <a:t>form </a:t>
            </a:r>
            <a:r>
              <a:rPr sz="2800" spc="-395" dirty="0">
                <a:solidFill>
                  <a:srgbClr val="006FC0"/>
                </a:solidFill>
                <a:latin typeface="Arial"/>
                <a:cs typeface="Arial"/>
              </a:rPr>
              <a:t>a  </a:t>
            </a:r>
            <a:r>
              <a:rPr sz="2800" spc="-275" dirty="0">
                <a:solidFill>
                  <a:srgbClr val="006FC0"/>
                </a:solidFill>
                <a:latin typeface="Arial"/>
                <a:cs typeface="Arial"/>
              </a:rPr>
              <a:t>new </a:t>
            </a:r>
            <a:r>
              <a:rPr sz="2800" spc="-135" dirty="0">
                <a:solidFill>
                  <a:srgbClr val="006FC0"/>
                </a:solidFill>
                <a:latin typeface="Arial"/>
                <a:cs typeface="Arial"/>
              </a:rPr>
              <a:t>partial </a:t>
            </a:r>
            <a:r>
              <a:rPr sz="2800" spc="-130" dirty="0">
                <a:solidFill>
                  <a:srgbClr val="006FC0"/>
                </a:solidFill>
                <a:latin typeface="Arial"/>
                <a:cs typeface="Arial"/>
              </a:rPr>
              <a:t>product. </a:t>
            </a: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220" dirty="0">
                <a:solidFill>
                  <a:srgbClr val="006FC0"/>
                </a:solidFill>
                <a:latin typeface="Arial"/>
                <a:cs typeface="Arial"/>
              </a:rPr>
              <a:t>last </a:t>
            </a:r>
            <a:r>
              <a:rPr sz="2800" spc="-185" dirty="0">
                <a:solidFill>
                  <a:srgbClr val="006FC0"/>
                </a:solidFill>
                <a:latin typeface="Arial"/>
                <a:cs typeface="Arial"/>
              </a:rPr>
              <a:t>level </a:t>
            </a:r>
            <a:r>
              <a:rPr sz="2800" spc="-225" dirty="0">
                <a:solidFill>
                  <a:srgbClr val="006FC0"/>
                </a:solidFill>
                <a:latin typeface="Arial"/>
                <a:cs typeface="Arial"/>
              </a:rPr>
              <a:t>produces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30" dirty="0">
                <a:latin typeface="Arial"/>
                <a:cs typeface="Arial"/>
              </a:rPr>
              <a:t>final  </a:t>
            </a:r>
            <a:r>
              <a:rPr sz="2800" spc="-125" dirty="0">
                <a:latin typeface="Arial"/>
                <a:cs typeface="Arial"/>
              </a:rPr>
              <a:t>product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spc="-170" dirty="0">
                <a:latin typeface="Arial"/>
                <a:cs typeface="Arial"/>
              </a:rPr>
              <a:t>result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F79546"/>
              </a:buClr>
              <a:buFont typeface="Wingdings"/>
              <a:buChar char=""/>
            </a:pPr>
            <a:endParaRPr sz="2900">
              <a:latin typeface="Arial"/>
              <a:cs typeface="Arial"/>
            </a:endParaRPr>
          </a:p>
          <a:p>
            <a:pPr marL="514984" marR="43815" indent="-464820" algn="just">
              <a:lnSpc>
                <a:spcPct val="100000"/>
              </a:lnSpc>
              <a:buClr>
                <a:srgbClr val="F79546"/>
              </a:buClr>
              <a:buFont typeface="Wingdings"/>
              <a:buChar char=""/>
              <a:tabLst>
                <a:tab pos="515620" algn="l"/>
              </a:tabLst>
            </a:pPr>
            <a:r>
              <a:rPr sz="2800" spc="-215" dirty="0">
                <a:solidFill>
                  <a:srgbClr val="006FC0"/>
                </a:solidFill>
                <a:latin typeface="Arial"/>
                <a:cs typeface="Arial"/>
              </a:rPr>
              <a:t>Consider</a:t>
            </a:r>
            <a:r>
              <a:rPr sz="2800" spc="34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395" dirty="0">
                <a:solidFill>
                  <a:srgbClr val="006FC0"/>
                </a:solidFill>
                <a:latin typeface="Arial"/>
                <a:cs typeface="Arial"/>
              </a:rPr>
              <a:t>a </a:t>
            </a:r>
            <a:r>
              <a:rPr sz="2800" spc="-95" dirty="0">
                <a:solidFill>
                  <a:srgbClr val="006FC0"/>
                </a:solidFill>
                <a:latin typeface="Arial"/>
                <a:cs typeface="Arial"/>
              </a:rPr>
              <a:t>multiplier circuit </a:t>
            </a:r>
            <a:r>
              <a:rPr sz="2800" spc="-125" dirty="0">
                <a:solidFill>
                  <a:srgbClr val="006FC0"/>
                </a:solidFill>
                <a:latin typeface="Arial"/>
                <a:cs typeface="Arial"/>
              </a:rPr>
              <a:t>that </a:t>
            </a:r>
            <a:r>
              <a:rPr sz="2800" spc="-150" dirty="0">
                <a:solidFill>
                  <a:srgbClr val="006FC0"/>
                </a:solidFill>
                <a:latin typeface="Arial"/>
                <a:cs typeface="Arial"/>
              </a:rPr>
              <a:t>multiplies </a:t>
            </a:r>
            <a:r>
              <a:rPr sz="2800" spc="-395" dirty="0">
                <a:solidFill>
                  <a:srgbClr val="006FC0"/>
                </a:solidFill>
                <a:latin typeface="Arial"/>
                <a:cs typeface="Arial"/>
              </a:rPr>
              <a:t>a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binary  </a:t>
            </a:r>
            <a:r>
              <a:rPr sz="2800" spc="-200" dirty="0">
                <a:solidFill>
                  <a:srgbClr val="006FC0"/>
                </a:solidFill>
                <a:latin typeface="Arial"/>
                <a:cs typeface="Arial"/>
              </a:rPr>
              <a:t>number</a:t>
            </a:r>
            <a:r>
              <a:rPr sz="2800" spc="-2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of</a:t>
            </a:r>
            <a:r>
              <a:rPr sz="2800" spc="-1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90" dirty="0">
                <a:latin typeface="Arial"/>
                <a:cs typeface="Arial"/>
              </a:rPr>
              <a:t>four</a:t>
            </a:r>
            <a:r>
              <a:rPr sz="2800" spc="-5" dirty="0">
                <a:latin typeface="Arial"/>
                <a:cs typeface="Arial"/>
              </a:rPr>
              <a:t> </a:t>
            </a:r>
            <a:r>
              <a:rPr sz="2800" spc="-170" dirty="0">
                <a:latin typeface="Arial"/>
                <a:cs typeface="Arial"/>
              </a:rPr>
              <a:t>bits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spc="-175" dirty="0">
                <a:latin typeface="Arial"/>
                <a:cs typeface="Arial"/>
              </a:rPr>
              <a:t>by</a:t>
            </a:r>
            <a:r>
              <a:rPr sz="2800" spc="-10" dirty="0">
                <a:latin typeface="Arial"/>
                <a:cs typeface="Arial"/>
              </a:rPr>
              <a:t> </a:t>
            </a:r>
            <a:r>
              <a:rPr sz="2800" spc="-395" dirty="0">
                <a:latin typeface="Arial"/>
                <a:cs typeface="Arial"/>
              </a:rPr>
              <a:t>a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spc="-200" dirty="0">
                <a:latin typeface="Arial"/>
                <a:cs typeface="Arial"/>
              </a:rPr>
              <a:t>number</a:t>
            </a:r>
            <a:r>
              <a:rPr sz="2800" spc="-5" dirty="0">
                <a:latin typeface="Arial"/>
                <a:cs typeface="Arial"/>
              </a:rPr>
              <a:t> </a:t>
            </a:r>
            <a:r>
              <a:rPr sz="2800" spc="-75" dirty="0">
                <a:latin typeface="Arial"/>
                <a:cs typeface="Arial"/>
              </a:rPr>
              <a:t>of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spc="-90" dirty="0">
                <a:latin typeface="Arial"/>
                <a:cs typeface="Arial"/>
              </a:rPr>
              <a:t>four</a:t>
            </a:r>
            <a:r>
              <a:rPr sz="2800" spc="-5" dirty="0">
                <a:latin typeface="Arial"/>
                <a:cs typeface="Arial"/>
              </a:rPr>
              <a:t> </a:t>
            </a:r>
            <a:r>
              <a:rPr sz="2800" spc="-170" dirty="0">
                <a:latin typeface="Arial"/>
                <a:cs typeface="Arial"/>
              </a:rPr>
              <a:t>bits.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F79546"/>
              </a:buClr>
              <a:buFont typeface="Wingdings"/>
              <a:buChar char=""/>
            </a:pPr>
            <a:endParaRPr sz="2900">
              <a:latin typeface="Arial"/>
              <a:cs typeface="Arial"/>
            </a:endParaRPr>
          </a:p>
          <a:p>
            <a:pPr marL="514984" marR="43180" indent="-464820" algn="just">
              <a:lnSpc>
                <a:spcPct val="100000"/>
              </a:lnSpc>
              <a:buClr>
                <a:srgbClr val="F79546"/>
              </a:buClr>
              <a:buFont typeface="Wingdings"/>
              <a:buChar char=""/>
              <a:tabLst>
                <a:tab pos="515620" algn="l"/>
              </a:tabLst>
            </a:pP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Let the </a:t>
            </a:r>
            <a:r>
              <a:rPr sz="2800" spc="-135" dirty="0">
                <a:solidFill>
                  <a:srgbClr val="006FC0"/>
                </a:solidFill>
                <a:latin typeface="Arial"/>
                <a:cs typeface="Arial"/>
              </a:rPr>
              <a:t>multiplicand </a:t>
            </a:r>
            <a:r>
              <a:rPr sz="2800" spc="-285" dirty="0">
                <a:solidFill>
                  <a:srgbClr val="006FC0"/>
                </a:solidFill>
                <a:latin typeface="Arial"/>
                <a:cs typeface="Arial"/>
              </a:rPr>
              <a:t>be </a:t>
            </a:r>
            <a:r>
              <a:rPr sz="2800" spc="-220" dirty="0">
                <a:solidFill>
                  <a:srgbClr val="006FC0"/>
                </a:solidFill>
                <a:latin typeface="Arial"/>
                <a:cs typeface="Arial"/>
              </a:rPr>
              <a:t>represented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by </a:t>
            </a:r>
            <a:r>
              <a:rPr sz="2800" spc="-280" dirty="0">
                <a:latin typeface="Arial"/>
                <a:cs typeface="Arial"/>
              </a:rPr>
              <a:t>B</a:t>
            </a:r>
            <a:r>
              <a:rPr sz="2775" spc="-419" baseline="-21021" dirty="0">
                <a:latin typeface="Arial"/>
                <a:cs typeface="Arial"/>
              </a:rPr>
              <a:t>3</a:t>
            </a:r>
            <a:r>
              <a:rPr sz="2800" spc="-280" dirty="0">
                <a:latin typeface="Arial"/>
                <a:cs typeface="Arial"/>
              </a:rPr>
              <a:t>, B</a:t>
            </a:r>
            <a:r>
              <a:rPr sz="2775" spc="-419" baseline="-21021" dirty="0">
                <a:latin typeface="Arial"/>
                <a:cs typeface="Arial"/>
              </a:rPr>
              <a:t>2</a:t>
            </a:r>
            <a:r>
              <a:rPr sz="2800" spc="-280" dirty="0">
                <a:latin typeface="Arial"/>
                <a:cs typeface="Arial"/>
              </a:rPr>
              <a:t>, B</a:t>
            </a:r>
            <a:r>
              <a:rPr sz="2775" spc="-419" baseline="-21021" dirty="0">
                <a:latin typeface="Arial"/>
                <a:cs typeface="Arial"/>
              </a:rPr>
              <a:t>1</a:t>
            </a:r>
            <a:r>
              <a:rPr sz="2800" spc="-280" dirty="0">
                <a:latin typeface="Arial"/>
                <a:cs typeface="Arial"/>
              </a:rPr>
              <a:t>, </a:t>
            </a:r>
            <a:r>
              <a:rPr sz="2800" spc="-340" dirty="0">
                <a:latin typeface="Arial"/>
                <a:cs typeface="Arial"/>
              </a:rPr>
              <a:t>B</a:t>
            </a:r>
            <a:r>
              <a:rPr sz="2775" spc="-509" baseline="-21021" dirty="0">
                <a:latin typeface="Arial"/>
                <a:cs typeface="Arial"/>
              </a:rPr>
              <a:t>0 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and 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95" dirty="0">
                <a:solidFill>
                  <a:srgbClr val="006FC0"/>
                </a:solidFill>
                <a:latin typeface="Arial"/>
                <a:cs typeface="Arial"/>
              </a:rPr>
              <a:t>multiplier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by </a:t>
            </a:r>
            <a:r>
              <a:rPr sz="2800" spc="-95" dirty="0">
                <a:latin typeface="Arial"/>
                <a:cs typeface="Arial"/>
              </a:rPr>
              <a:t>A</a:t>
            </a:r>
            <a:r>
              <a:rPr sz="2775" spc="-142" baseline="-21021" dirty="0">
                <a:latin typeface="Arial"/>
                <a:cs typeface="Arial"/>
              </a:rPr>
              <a:t>3</a:t>
            </a:r>
            <a:r>
              <a:rPr sz="2800" spc="-95" dirty="0">
                <a:latin typeface="Arial"/>
                <a:cs typeface="Arial"/>
              </a:rPr>
              <a:t>, A</a:t>
            </a:r>
            <a:r>
              <a:rPr sz="2775" spc="-142" baseline="-21021" dirty="0">
                <a:latin typeface="Arial"/>
                <a:cs typeface="Arial"/>
              </a:rPr>
              <a:t>2</a:t>
            </a:r>
            <a:r>
              <a:rPr sz="2800" spc="-95" dirty="0">
                <a:latin typeface="Arial"/>
                <a:cs typeface="Arial"/>
              </a:rPr>
              <a:t>, A</a:t>
            </a:r>
            <a:r>
              <a:rPr sz="2775" spc="-142" baseline="-21021" dirty="0">
                <a:latin typeface="Arial"/>
                <a:cs typeface="Arial"/>
              </a:rPr>
              <a:t>1</a:t>
            </a:r>
            <a:r>
              <a:rPr sz="2800" spc="-95" dirty="0">
                <a:latin typeface="Arial"/>
                <a:cs typeface="Arial"/>
              </a:rPr>
              <a:t>, </a:t>
            </a:r>
            <a:r>
              <a:rPr sz="2800" spc="-254" dirty="0">
                <a:latin typeface="Arial"/>
                <a:cs typeface="Arial"/>
              </a:rPr>
              <a:t>and</a:t>
            </a:r>
            <a:r>
              <a:rPr sz="2800" spc="190" dirty="0">
                <a:latin typeface="Arial"/>
                <a:cs typeface="Arial"/>
              </a:rPr>
              <a:t> </a:t>
            </a:r>
            <a:r>
              <a:rPr sz="2800" spc="-95" dirty="0">
                <a:latin typeface="Arial"/>
                <a:cs typeface="Arial"/>
              </a:rPr>
              <a:t>A</a:t>
            </a:r>
            <a:r>
              <a:rPr sz="2775" spc="-142" baseline="-21021" dirty="0">
                <a:latin typeface="Arial"/>
                <a:cs typeface="Arial"/>
              </a:rPr>
              <a:t>0</a:t>
            </a:r>
            <a:r>
              <a:rPr sz="2800" spc="-95" dirty="0">
                <a:solidFill>
                  <a:srgbClr val="006FC0"/>
                </a:solidFill>
                <a:latin typeface="Arial"/>
                <a:cs typeface="Arial"/>
              </a:rPr>
              <a:t>.</a:t>
            </a:r>
            <a:endParaRPr sz="2800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787638" y="6649770"/>
            <a:ext cx="25654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rlito"/>
                <a:cs typeface="Carlito"/>
              </a:rPr>
              <a:t>85</a:t>
            </a:r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2497835" y="202679"/>
              <a:ext cx="4142232" cy="9342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771901" y="321386"/>
            <a:ext cx="360045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90" dirty="0"/>
              <a:t>BINARY</a:t>
            </a:r>
            <a:r>
              <a:rPr spc="-95" dirty="0"/>
              <a:t> </a:t>
            </a:r>
            <a:r>
              <a:rPr spc="-65" dirty="0"/>
              <a:t>MULTIPLIER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sp>
          <p:nvSpPr>
            <p:cNvPr id="8" name="object 8"/>
            <p:cNvSpPr/>
            <p:nvPr/>
          </p:nvSpPr>
          <p:spPr>
            <a:xfrm>
              <a:off x="8593835" y="6620255"/>
              <a:ext cx="550164" cy="23774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674607" y="6556243"/>
              <a:ext cx="469392" cy="3017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83540" y="982640"/>
            <a:ext cx="8379459" cy="4950460"/>
          </a:xfrm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 marR="36830" algn="ctr">
              <a:lnSpc>
                <a:spcPct val="100000"/>
              </a:lnSpc>
              <a:spcBef>
                <a:spcPts val="1260"/>
              </a:spcBef>
            </a:pPr>
            <a:r>
              <a:rPr sz="2000" b="1" spc="-195" dirty="0">
                <a:solidFill>
                  <a:srgbClr val="C00000"/>
                </a:solidFill>
                <a:latin typeface="Arial"/>
                <a:cs typeface="Arial"/>
              </a:rPr>
              <a:t>4-Bit  </a:t>
            </a:r>
            <a:r>
              <a:rPr sz="2000" b="1" spc="-229" dirty="0">
                <a:solidFill>
                  <a:srgbClr val="C00000"/>
                </a:solidFill>
                <a:latin typeface="Arial"/>
                <a:cs typeface="Arial"/>
              </a:rPr>
              <a:t>by  </a:t>
            </a:r>
            <a:r>
              <a:rPr sz="2000" b="1" spc="-195" dirty="0">
                <a:solidFill>
                  <a:srgbClr val="C00000"/>
                </a:solidFill>
                <a:latin typeface="Arial"/>
                <a:cs typeface="Arial"/>
              </a:rPr>
              <a:t>4-Bit</a:t>
            </a:r>
            <a:r>
              <a:rPr sz="2000" b="1" spc="-39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140" dirty="0">
                <a:solidFill>
                  <a:srgbClr val="C00000"/>
                </a:solidFill>
                <a:latin typeface="Arial"/>
                <a:cs typeface="Arial"/>
              </a:rPr>
              <a:t>Multiplier</a:t>
            </a:r>
            <a:endParaRPr sz="2000">
              <a:latin typeface="Arial"/>
              <a:cs typeface="Arial"/>
            </a:endParaRPr>
          </a:p>
          <a:p>
            <a:pPr marL="476884" marR="5080" indent="-464820" algn="just">
              <a:lnSpc>
                <a:spcPct val="100000"/>
              </a:lnSpc>
              <a:spcBef>
                <a:spcPts val="1610"/>
              </a:spcBef>
              <a:buClr>
                <a:srgbClr val="F79546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-275" dirty="0">
                <a:solidFill>
                  <a:srgbClr val="006FC0"/>
                </a:solidFill>
                <a:latin typeface="Arial"/>
                <a:cs typeface="Arial"/>
              </a:rPr>
              <a:t>Since </a:t>
            </a:r>
            <a:r>
              <a:rPr sz="2800" spc="-330" dirty="0">
                <a:solidFill>
                  <a:srgbClr val="006FC0"/>
                </a:solidFill>
                <a:latin typeface="Arial"/>
                <a:cs typeface="Arial"/>
              </a:rPr>
              <a:t>4x4 </a:t>
            </a:r>
            <a:r>
              <a:rPr sz="2800" spc="-110" dirty="0">
                <a:solidFill>
                  <a:srgbClr val="006FC0"/>
                </a:solidFill>
                <a:latin typeface="Arial"/>
                <a:cs typeface="Arial"/>
              </a:rPr>
              <a:t>multiplication </a:t>
            </a:r>
            <a:r>
              <a:rPr sz="2800" spc="-280" dirty="0">
                <a:solidFill>
                  <a:srgbClr val="006FC0"/>
                </a:solidFill>
                <a:latin typeface="Arial"/>
                <a:cs typeface="Arial"/>
              </a:rPr>
              <a:t>process </a:t>
            </a:r>
            <a:r>
              <a:rPr sz="2800" spc="-300" dirty="0">
                <a:solidFill>
                  <a:srgbClr val="006FC0"/>
                </a:solidFill>
                <a:latin typeface="Arial"/>
                <a:cs typeface="Arial"/>
              </a:rPr>
              <a:t>we </a:t>
            </a:r>
            <a:r>
              <a:rPr sz="2800" spc="-270" dirty="0">
                <a:solidFill>
                  <a:srgbClr val="006FC0"/>
                </a:solidFill>
                <a:latin typeface="Arial"/>
                <a:cs typeface="Arial"/>
              </a:rPr>
              <a:t>need </a:t>
            </a:r>
            <a:r>
              <a:rPr sz="2800" spc="-400" dirty="0">
                <a:latin typeface="Arial"/>
                <a:cs typeface="Arial"/>
              </a:rPr>
              <a:t>16 </a:t>
            </a:r>
            <a:r>
              <a:rPr sz="2800" spc="-30" dirty="0">
                <a:latin typeface="Arial"/>
                <a:cs typeface="Arial"/>
              </a:rPr>
              <a:t>AND </a:t>
            </a:r>
            <a:r>
              <a:rPr sz="2800" spc="-315" dirty="0">
                <a:latin typeface="Arial"/>
                <a:cs typeface="Arial"/>
              </a:rPr>
              <a:t>gates </a:t>
            </a:r>
            <a:r>
              <a:rPr sz="2800" spc="-31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spc="-175" dirty="0">
                <a:latin typeface="Arial"/>
                <a:cs typeface="Arial"/>
              </a:rPr>
              <a:t>three </a:t>
            </a:r>
            <a:r>
              <a:rPr sz="2800" spc="-145" dirty="0">
                <a:latin typeface="Arial"/>
                <a:cs typeface="Arial"/>
              </a:rPr>
              <a:t>4-bit </a:t>
            </a:r>
            <a:r>
              <a:rPr sz="2800" spc="-170" dirty="0">
                <a:latin typeface="Arial"/>
                <a:cs typeface="Arial"/>
              </a:rPr>
              <a:t>parallel </a:t>
            </a:r>
            <a:r>
              <a:rPr sz="2800" spc="-265" dirty="0">
                <a:latin typeface="Arial"/>
                <a:cs typeface="Arial"/>
              </a:rPr>
              <a:t>adders </a:t>
            </a:r>
            <a:r>
              <a:rPr sz="2800" spc="-60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800" spc="-180" dirty="0">
                <a:solidFill>
                  <a:srgbClr val="006FC0"/>
                </a:solidFill>
                <a:latin typeface="Arial"/>
                <a:cs typeface="Arial"/>
              </a:rPr>
              <a:t>produce </a:t>
            </a:r>
            <a:r>
              <a:rPr sz="2800" spc="-395" dirty="0">
                <a:solidFill>
                  <a:srgbClr val="006FC0"/>
                </a:solidFill>
                <a:latin typeface="Arial"/>
                <a:cs typeface="Arial"/>
              </a:rPr>
              <a:t>a</a:t>
            </a:r>
            <a:r>
              <a:rPr sz="2800" spc="-1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125" dirty="0">
                <a:solidFill>
                  <a:srgbClr val="006FC0"/>
                </a:solidFill>
                <a:latin typeface="Arial"/>
                <a:cs typeface="Arial"/>
              </a:rPr>
              <a:t>product 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of 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eight</a:t>
            </a:r>
            <a:r>
              <a:rPr sz="2800" spc="-2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bits.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F79546"/>
              </a:buClr>
              <a:buFont typeface="Wingdings"/>
              <a:buChar char=""/>
            </a:pPr>
            <a:endParaRPr sz="2900">
              <a:latin typeface="Arial"/>
              <a:cs typeface="Arial"/>
            </a:endParaRPr>
          </a:p>
          <a:p>
            <a:pPr marL="476884" marR="5080" indent="-464820" algn="just">
              <a:lnSpc>
                <a:spcPct val="100000"/>
              </a:lnSpc>
              <a:buClr>
                <a:srgbClr val="F79546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-190" dirty="0">
                <a:solidFill>
                  <a:srgbClr val="006FC0"/>
                </a:solidFill>
                <a:latin typeface="Arial"/>
                <a:cs typeface="Arial"/>
              </a:rPr>
              <a:t>As</a:t>
            </a:r>
            <a:r>
              <a:rPr sz="2800" spc="39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270" dirty="0">
                <a:solidFill>
                  <a:srgbClr val="006FC0"/>
                </a:solidFill>
                <a:latin typeface="Arial"/>
                <a:cs typeface="Arial"/>
              </a:rPr>
              <a:t>shown </a:t>
            </a:r>
            <a:r>
              <a:rPr sz="2800" spc="-110" dirty="0">
                <a:solidFill>
                  <a:srgbClr val="006FC0"/>
                </a:solidFill>
                <a:latin typeface="Arial"/>
                <a:cs typeface="Arial"/>
              </a:rPr>
              <a:t>in </a:t>
            </a:r>
            <a:r>
              <a:rPr sz="2800" spc="-155" dirty="0">
                <a:solidFill>
                  <a:srgbClr val="006FC0"/>
                </a:solidFill>
                <a:latin typeface="Arial"/>
                <a:cs typeface="Arial"/>
              </a:rPr>
              <a:t>figure </a:t>
            </a:r>
            <a:r>
              <a:rPr sz="2800" spc="-300" dirty="0">
                <a:solidFill>
                  <a:srgbClr val="006FC0"/>
                </a:solidFill>
                <a:latin typeface="Arial"/>
                <a:cs typeface="Arial"/>
              </a:rPr>
              <a:t>each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shifted </a:t>
            </a:r>
            <a:r>
              <a:rPr sz="2800" spc="-135" dirty="0">
                <a:solidFill>
                  <a:srgbClr val="006FC0"/>
                </a:solidFill>
                <a:latin typeface="Arial"/>
                <a:cs typeface="Arial"/>
              </a:rPr>
              <a:t>multiplicand </a:t>
            </a:r>
            <a:r>
              <a:rPr sz="2800" spc="-190" dirty="0">
                <a:solidFill>
                  <a:srgbClr val="006FC0"/>
                </a:solidFill>
                <a:latin typeface="Arial"/>
                <a:cs typeface="Arial"/>
              </a:rPr>
              <a:t>which  </a:t>
            </a:r>
            <a:r>
              <a:rPr sz="2800" spc="-260" dirty="0">
                <a:solidFill>
                  <a:srgbClr val="006FC0"/>
                </a:solidFill>
                <a:latin typeface="Arial"/>
                <a:cs typeface="Arial"/>
              </a:rPr>
              <a:t>is  </a:t>
            </a:r>
            <a:r>
              <a:rPr sz="2800" spc="-110" dirty="0">
                <a:solidFill>
                  <a:srgbClr val="006FC0"/>
                </a:solidFill>
                <a:latin typeface="Arial"/>
                <a:cs typeface="Arial"/>
              </a:rPr>
              <a:t>multiplied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by </a:t>
            </a:r>
            <a:r>
              <a:rPr sz="2800" spc="-150" dirty="0">
                <a:solidFill>
                  <a:srgbClr val="006FC0"/>
                </a:solidFill>
                <a:latin typeface="Arial"/>
                <a:cs typeface="Arial"/>
              </a:rPr>
              <a:t>either </a:t>
            </a:r>
            <a:r>
              <a:rPr sz="2800" spc="-400" dirty="0">
                <a:solidFill>
                  <a:srgbClr val="006FC0"/>
                </a:solidFill>
                <a:latin typeface="Arial"/>
                <a:cs typeface="Arial"/>
              </a:rPr>
              <a:t>0 </a:t>
            </a:r>
            <a:r>
              <a:rPr sz="2800" spc="-80" dirty="0">
                <a:solidFill>
                  <a:srgbClr val="006FC0"/>
                </a:solidFill>
                <a:latin typeface="Arial"/>
                <a:cs typeface="Arial"/>
              </a:rPr>
              <a:t>or </a:t>
            </a:r>
            <a:r>
              <a:rPr sz="2800" spc="-400" dirty="0">
                <a:solidFill>
                  <a:srgbClr val="006FC0"/>
                </a:solidFill>
                <a:latin typeface="Arial"/>
                <a:cs typeface="Arial"/>
              </a:rPr>
              <a:t>1 </a:t>
            </a:r>
            <a:r>
              <a:rPr sz="2800" spc="-220" dirty="0">
                <a:solidFill>
                  <a:srgbClr val="006FC0"/>
                </a:solidFill>
                <a:latin typeface="Arial"/>
                <a:cs typeface="Arial"/>
              </a:rPr>
              <a:t>depending </a:t>
            </a:r>
            <a:r>
              <a:rPr sz="2800" spc="-190" dirty="0">
                <a:solidFill>
                  <a:srgbClr val="006FC0"/>
                </a:solidFill>
                <a:latin typeface="Arial"/>
                <a:cs typeface="Arial"/>
              </a:rPr>
              <a:t>on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 </a:t>
            </a:r>
            <a:r>
              <a:rPr sz="2800" spc="-190" dirty="0">
                <a:solidFill>
                  <a:srgbClr val="006FC0"/>
                </a:solidFill>
                <a:latin typeface="Arial"/>
                <a:cs typeface="Arial"/>
              </a:rPr>
              <a:t>corresponding, </a:t>
            </a:r>
            <a:r>
              <a:rPr sz="2800" spc="-95" dirty="0">
                <a:latin typeface="Arial"/>
                <a:cs typeface="Arial"/>
              </a:rPr>
              <a:t>multiplier </a:t>
            </a:r>
            <a:r>
              <a:rPr sz="2800" spc="-55" dirty="0">
                <a:latin typeface="Arial"/>
                <a:cs typeface="Arial"/>
              </a:rPr>
              <a:t>bit </a:t>
            </a:r>
            <a:r>
              <a:rPr sz="2800" spc="-265" dirty="0">
                <a:latin typeface="Arial"/>
                <a:cs typeface="Arial"/>
              </a:rPr>
              <a:t>is </a:t>
            </a:r>
            <a:r>
              <a:rPr sz="2800" spc="-195" dirty="0">
                <a:latin typeface="Arial"/>
                <a:cs typeface="Arial"/>
              </a:rPr>
              <a:t>called </a:t>
            </a:r>
            <a:r>
              <a:rPr sz="2800" spc="-135" dirty="0">
                <a:latin typeface="Arial"/>
                <a:cs typeface="Arial"/>
              </a:rPr>
              <a:t>partial</a:t>
            </a:r>
            <a:r>
              <a:rPr sz="2800" spc="229" dirty="0">
                <a:latin typeface="Arial"/>
                <a:cs typeface="Arial"/>
              </a:rPr>
              <a:t> </a:t>
            </a:r>
            <a:r>
              <a:rPr sz="2800" spc="-130" dirty="0">
                <a:latin typeface="Arial"/>
                <a:cs typeface="Arial"/>
              </a:rPr>
              <a:t>product</a:t>
            </a:r>
            <a:r>
              <a:rPr sz="2800" spc="-130" dirty="0">
                <a:solidFill>
                  <a:srgbClr val="006FC0"/>
                </a:solidFill>
                <a:latin typeface="Arial"/>
                <a:cs typeface="Arial"/>
              </a:rPr>
              <a:t>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F79546"/>
              </a:buClr>
              <a:buFont typeface="Wingdings"/>
              <a:buChar char=""/>
            </a:pPr>
            <a:endParaRPr sz="2900">
              <a:latin typeface="Arial"/>
              <a:cs typeface="Arial"/>
            </a:endParaRPr>
          </a:p>
          <a:p>
            <a:pPr marL="476884" marR="8255" indent="-464820" algn="just">
              <a:lnSpc>
                <a:spcPct val="100000"/>
              </a:lnSpc>
              <a:spcBef>
                <a:spcPts val="5"/>
              </a:spcBef>
              <a:buClr>
                <a:srgbClr val="F79546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30" dirty="0">
                <a:latin typeface="Arial"/>
                <a:cs typeface="Arial"/>
              </a:rPr>
              <a:t>final </a:t>
            </a:r>
            <a:r>
              <a:rPr sz="2800" spc="-145" dirty="0">
                <a:latin typeface="Arial"/>
                <a:cs typeface="Arial"/>
              </a:rPr>
              <a:t>8-bit </a:t>
            </a:r>
            <a:r>
              <a:rPr sz="2800" spc="-125" dirty="0">
                <a:latin typeface="Arial"/>
                <a:cs typeface="Arial"/>
              </a:rPr>
              <a:t>product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800" spc="-180" dirty="0">
                <a:solidFill>
                  <a:srgbClr val="006FC0"/>
                </a:solidFill>
                <a:latin typeface="Arial"/>
                <a:cs typeface="Arial"/>
              </a:rPr>
              <a:t>obtained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by </a:t>
            </a:r>
            <a:r>
              <a:rPr sz="2800" spc="-215" dirty="0">
                <a:solidFill>
                  <a:srgbClr val="006FC0"/>
                </a:solidFill>
                <a:latin typeface="Arial"/>
                <a:cs typeface="Arial"/>
              </a:rPr>
              <a:t>adding </a:t>
            </a:r>
            <a:r>
              <a:rPr sz="2800" spc="-145" dirty="0">
                <a:solidFill>
                  <a:srgbClr val="006FC0"/>
                </a:solidFill>
                <a:latin typeface="Arial"/>
                <a:cs typeface="Arial"/>
              </a:rPr>
              <a:t>all </a:t>
            </a:r>
            <a:r>
              <a:rPr sz="2800" spc="-135" dirty="0">
                <a:solidFill>
                  <a:srgbClr val="006FC0"/>
                </a:solidFill>
                <a:latin typeface="Arial"/>
                <a:cs typeface="Arial"/>
              </a:rPr>
              <a:t>partial 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products.</a:t>
            </a:r>
            <a:endParaRPr sz="2800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787638" y="6649770"/>
            <a:ext cx="25654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rlito"/>
                <a:cs typeface="Carlito"/>
              </a:rPr>
              <a:t>86</a:t>
            </a:r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2497835" y="202679"/>
              <a:ext cx="4142232" cy="9342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771901" y="321386"/>
            <a:ext cx="360045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90" dirty="0">
                <a:latin typeface="Trebuchet MS"/>
                <a:cs typeface="Trebuchet MS"/>
              </a:rPr>
              <a:t>BINARY</a:t>
            </a:r>
            <a:r>
              <a:rPr sz="3200" b="1" spc="-95" dirty="0">
                <a:latin typeface="Trebuchet MS"/>
                <a:cs typeface="Trebuchet MS"/>
              </a:rPr>
              <a:t> </a:t>
            </a:r>
            <a:r>
              <a:rPr sz="3200" b="1" spc="-65" dirty="0">
                <a:latin typeface="Trebuchet MS"/>
                <a:cs typeface="Trebuchet MS"/>
              </a:rPr>
              <a:t>MULTIPLIER</a:t>
            </a:r>
            <a:endParaRPr sz="320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56844" y="2133600"/>
            <a:ext cx="8492490" cy="4724400"/>
            <a:chOff x="656844" y="2133600"/>
            <a:chExt cx="8492490" cy="4724400"/>
          </a:xfrm>
        </p:grpSpPr>
        <p:sp>
          <p:nvSpPr>
            <p:cNvPr id="8" name="object 8"/>
            <p:cNvSpPr/>
            <p:nvPr/>
          </p:nvSpPr>
          <p:spPr>
            <a:xfrm>
              <a:off x="8593836" y="6620254"/>
              <a:ext cx="550164" cy="23774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674608" y="6556242"/>
              <a:ext cx="469392" cy="3017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56844" y="2133600"/>
              <a:ext cx="7830311" cy="320040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398011" y="1129664"/>
            <a:ext cx="230568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95" dirty="0">
                <a:solidFill>
                  <a:srgbClr val="C00000"/>
                </a:solidFill>
                <a:latin typeface="Arial"/>
                <a:cs typeface="Arial"/>
              </a:rPr>
              <a:t>4-Bit </a:t>
            </a:r>
            <a:r>
              <a:rPr sz="2000" b="1" spc="-229" dirty="0">
                <a:solidFill>
                  <a:srgbClr val="C00000"/>
                </a:solidFill>
                <a:latin typeface="Arial"/>
                <a:cs typeface="Arial"/>
              </a:rPr>
              <a:t>by </a:t>
            </a:r>
            <a:r>
              <a:rPr sz="2000" b="1" spc="-195" dirty="0">
                <a:solidFill>
                  <a:srgbClr val="C00000"/>
                </a:solidFill>
                <a:latin typeface="Arial"/>
                <a:cs typeface="Arial"/>
              </a:rPr>
              <a:t>4-Bit</a:t>
            </a:r>
            <a:r>
              <a:rPr sz="2000" b="1" spc="-8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140" dirty="0">
                <a:solidFill>
                  <a:srgbClr val="C00000"/>
                </a:solidFill>
                <a:latin typeface="Arial"/>
                <a:cs typeface="Arial"/>
              </a:rPr>
              <a:t>Multiplier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787638" y="6649770"/>
            <a:ext cx="25654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rlito"/>
                <a:cs typeface="Carlito"/>
              </a:rPr>
              <a:t>87</a:t>
            </a:r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2497835" y="202679"/>
              <a:ext cx="4142232" cy="9342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771901" y="321386"/>
            <a:ext cx="360045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90" dirty="0"/>
              <a:t>BINARY</a:t>
            </a:r>
            <a:r>
              <a:rPr spc="-95" dirty="0"/>
              <a:t> </a:t>
            </a:r>
            <a:r>
              <a:rPr spc="-65" dirty="0"/>
              <a:t>MULTIPLIER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sp>
          <p:nvSpPr>
            <p:cNvPr id="8" name="object 8"/>
            <p:cNvSpPr/>
            <p:nvPr/>
          </p:nvSpPr>
          <p:spPr>
            <a:xfrm>
              <a:off x="8593835" y="6620255"/>
              <a:ext cx="550164" cy="23774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674607" y="6556243"/>
              <a:ext cx="469392" cy="3017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32740" y="1129664"/>
            <a:ext cx="8479155" cy="53378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4925" algn="ctr">
              <a:lnSpc>
                <a:spcPct val="100000"/>
              </a:lnSpc>
              <a:spcBef>
                <a:spcPts val="105"/>
              </a:spcBef>
            </a:pPr>
            <a:r>
              <a:rPr sz="2000" b="1" spc="-195" dirty="0">
                <a:solidFill>
                  <a:srgbClr val="C00000"/>
                </a:solidFill>
                <a:latin typeface="Arial"/>
                <a:cs typeface="Arial"/>
              </a:rPr>
              <a:t>4-Bit  </a:t>
            </a:r>
            <a:r>
              <a:rPr sz="2000" b="1" spc="-229" dirty="0">
                <a:solidFill>
                  <a:srgbClr val="C00000"/>
                </a:solidFill>
                <a:latin typeface="Arial"/>
                <a:cs typeface="Arial"/>
              </a:rPr>
              <a:t>by  </a:t>
            </a:r>
            <a:r>
              <a:rPr sz="2000" b="1" spc="-195" dirty="0">
                <a:solidFill>
                  <a:srgbClr val="C00000"/>
                </a:solidFill>
                <a:latin typeface="Arial"/>
                <a:cs typeface="Arial"/>
              </a:rPr>
              <a:t>4-Bit</a:t>
            </a:r>
            <a:r>
              <a:rPr sz="2000" b="1" spc="-39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140" dirty="0">
                <a:solidFill>
                  <a:srgbClr val="C00000"/>
                </a:solidFill>
                <a:latin typeface="Arial"/>
                <a:cs typeface="Arial"/>
              </a:rPr>
              <a:t>Multiplier</a:t>
            </a:r>
            <a:endParaRPr sz="2000">
              <a:latin typeface="Arial"/>
              <a:cs typeface="Arial"/>
            </a:endParaRPr>
          </a:p>
          <a:p>
            <a:pPr marL="527685" marR="55880" indent="-464820" algn="just">
              <a:lnSpc>
                <a:spcPct val="100000"/>
              </a:lnSpc>
              <a:spcBef>
                <a:spcPts val="55"/>
              </a:spcBef>
              <a:buClr>
                <a:srgbClr val="F79546"/>
              </a:buClr>
              <a:buFont typeface="Wingdings"/>
              <a:buChar char=""/>
              <a:tabLst>
                <a:tab pos="528320" algn="l"/>
              </a:tabLst>
            </a:pP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10" dirty="0">
                <a:solidFill>
                  <a:srgbClr val="006FC0"/>
                </a:solidFill>
                <a:latin typeface="Arial"/>
                <a:cs typeface="Arial"/>
              </a:rPr>
              <a:t>multiplication </a:t>
            </a:r>
            <a:r>
              <a:rPr sz="2800" spc="-80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340" dirty="0">
                <a:solidFill>
                  <a:srgbClr val="006FC0"/>
                </a:solidFill>
                <a:latin typeface="Arial"/>
                <a:cs typeface="Arial"/>
              </a:rPr>
              <a:t>B</a:t>
            </a:r>
            <a:r>
              <a:rPr sz="2775" spc="-509" baseline="-21021" dirty="0">
                <a:solidFill>
                  <a:srgbClr val="006FC0"/>
                </a:solidFill>
                <a:latin typeface="Arial"/>
                <a:cs typeface="Arial"/>
              </a:rPr>
              <a:t>0 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spc="-60" dirty="0">
                <a:solidFill>
                  <a:srgbClr val="006FC0"/>
                </a:solidFill>
                <a:latin typeface="Arial"/>
                <a:cs typeface="Arial"/>
              </a:rPr>
              <a:t>A</a:t>
            </a:r>
            <a:r>
              <a:rPr sz="2775" spc="-89" baseline="-21021" dirty="0">
                <a:solidFill>
                  <a:srgbClr val="006FC0"/>
                </a:solidFill>
                <a:latin typeface="Arial"/>
                <a:cs typeface="Arial"/>
              </a:rPr>
              <a:t>0 </a:t>
            </a:r>
            <a:r>
              <a:rPr sz="2800" spc="-225" dirty="0">
                <a:solidFill>
                  <a:srgbClr val="006FC0"/>
                </a:solidFill>
                <a:latin typeface="Arial"/>
                <a:cs typeface="Arial"/>
              </a:rPr>
              <a:t>produces </a:t>
            </a:r>
            <a:r>
              <a:rPr sz="2800" spc="-395" dirty="0">
                <a:solidFill>
                  <a:srgbClr val="006FC0"/>
                </a:solidFill>
                <a:latin typeface="Arial"/>
                <a:cs typeface="Arial"/>
              </a:rPr>
              <a:t>a </a:t>
            </a:r>
            <a:r>
              <a:rPr sz="2800" spc="-400" dirty="0">
                <a:solidFill>
                  <a:srgbClr val="006FC0"/>
                </a:solidFill>
                <a:latin typeface="Arial"/>
                <a:cs typeface="Arial"/>
              </a:rPr>
              <a:t>1 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if </a:t>
            </a:r>
            <a:r>
              <a:rPr sz="2800" spc="-135" dirty="0">
                <a:solidFill>
                  <a:srgbClr val="006FC0"/>
                </a:solidFill>
                <a:latin typeface="Arial"/>
                <a:cs typeface="Arial"/>
              </a:rPr>
              <a:t>both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bits  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are </a:t>
            </a:r>
            <a:r>
              <a:rPr sz="2800" spc="-200" dirty="0">
                <a:solidFill>
                  <a:srgbClr val="006FC0"/>
                </a:solidFill>
                <a:latin typeface="Arial"/>
                <a:cs typeface="Arial"/>
              </a:rPr>
              <a:t>1; otherwise </a:t>
            </a:r>
            <a:r>
              <a:rPr sz="2800" spc="25" dirty="0">
                <a:solidFill>
                  <a:srgbClr val="006FC0"/>
                </a:solidFill>
                <a:latin typeface="Arial"/>
                <a:cs typeface="Arial"/>
              </a:rPr>
              <a:t>it </a:t>
            </a:r>
            <a:r>
              <a:rPr sz="2800" spc="-225" dirty="0">
                <a:solidFill>
                  <a:srgbClr val="006FC0"/>
                </a:solidFill>
                <a:latin typeface="Arial"/>
                <a:cs typeface="Arial"/>
              </a:rPr>
              <a:t>produces </a:t>
            </a:r>
            <a:r>
              <a:rPr sz="2800" spc="-280" dirty="0">
                <a:solidFill>
                  <a:srgbClr val="006FC0"/>
                </a:solidFill>
                <a:latin typeface="Arial"/>
                <a:cs typeface="Arial"/>
              </a:rPr>
              <a:t>0. </a:t>
            </a:r>
            <a:r>
              <a:rPr sz="2800" spc="-220" dirty="0">
                <a:solidFill>
                  <a:srgbClr val="006FC0"/>
                </a:solidFill>
                <a:latin typeface="Arial"/>
                <a:cs typeface="Arial"/>
              </a:rPr>
              <a:t>This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800" spc="-150" dirty="0">
                <a:solidFill>
                  <a:srgbClr val="006FC0"/>
                </a:solidFill>
                <a:latin typeface="Arial"/>
                <a:cs typeface="Arial"/>
              </a:rPr>
              <a:t>identical </a:t>
            </a:r>
            <a:r>
              <a:rPr sz="2800" spc="-60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800" spc="-30" dirty="0">
                <a:solidFill>
                  <a:srgbClr val="006FC0"/>
                </a:solidFill>
                <a:latin typeface="Arial"/>
                <a:cs typeface="Arial"/>
              </a:rPr>
              <a:t>AND  </a:t>
            </a:r>
            <a:r>
              <a:rPr sz="2800" spc="-310" dirty="0">
                <a:solidFill>
                  <a:srgbClr val="006FC0"/>
                </a:solidFill>
                <a:latin typeface="Arial"/>
                <a:cs typeface="Arial"/>
              </a:rPr>
              <a:t>gates </a:t>
            </a:r>
            <a:r>
              <a:rPr sz="2800" spc="-160" dirty="0">
                <a:solidFill>
                  <a:srgbClr val="006FC0"/>
                </a:solidFill>
                <a:latin typeface="Arial"/>
                <a:cs typeface="Arial"/>
              </a:rPr>
              <a:t>operation.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Therefore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35" dirty="0">
                <a:latin typeface="Arial"/>
                <a:cs typeface="Arial"/>
              </a:rPr>
              <a:t>partial </a:t>
            </a:r>
            <a:r>
              <a:rPr sz="2800" spc="-175" dirty="0">
                <a:latin typeface="Arial"/>
                <a:cs typeface="Arial"/>
              </a:rPr>
              <a:t>products </a:t>
            </a:r>
            <a:r>
              <a:rPr sz="2800" spc="-285" dirty="0">
                <a:latin typeface="Arial"/>
                <a:cs typeface="Arial"/>
              </a:rPr>
              <a:t>can </a:t>
            </a:r>
            <a:r>
              <a:rPr sz="2800" spc="-280" dirty="0">
                <a:latin typeface="Arial"/>
                <a:cs typeface="Arial"/>
              </a:rPr>
              <a:t>be  </a:t>
            </a:r>
            <a:r>
              <a:rPr sz="2800" spc="-185" dirty="0">
                <a:latin typeface="Arial"/>
                <a:cs typeface="Arial"/>
              </a:rPr>
              <a:t>implemented </a:t>
            </a:r>
            <a:r>
              <a:rPr sz="2800" spc="-105" dirty="0">
                <a:latin typeface="Arial"/>
                <a:cs typeface="Arial"/>
              </a:rPr>
              <a:t>with </a:t>
            </a:r>
            <a:r>
              <a:rPr sz="2800" spc="-30" dirty="0">
                <a:latin typeface="Arial"/>
                <a:cs typeface="Arial"/>
              </a:rPr>
              <a:t>AND</a:t>
            </a:r>
            <a:r>
              <a:rPr sz="2800" spc="265" dirty="0">
                <a:latin typeface="Arial"/>
                <a:cs typeface="Arial"/>
              </a:rPr>
              <a:t> </a:t>
            </a:r>
            <a:r>
              <a:rPr sz="2800" spc="-290" dirty="0">
                <a:latin typeface="Arial"/>
                <a:cs typeface="Arial"/>
              </a:rPr>
              <a:t>gates</a:t>
            </a:r>
            <a:r>
              <a:rPr sz="2800" spc="-290" dirty="0">
                <a:solidFill>
                  <a:srgbClr val="006FC0"/>
                </a:solidFill>
                <a:latin typeface="Arial"/>
                <a:cs typeface="Arial"/>
              </a:rPr>
              <a:t>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F79546"/>
              </a:buClr>
              <a:buFont typeface="Wingdings"/>
              <a:buChar char=""/>
            </a:pPr>
            <a:endParaRPr sz="2900">
              <a:latin typeface="Arial"/>
              <a:cs typeface="Arial"/>
            </a:endParaRPr>
          </a:p>
          <a:p>
            <a:pPr marL="527685" marR="55244" indent="-464820" algn="just">
              <a:lnSpc>
                <a:spcPct val="100000"/>
              </a:lnSpc>
              <a:buClr>
                <a:srgbClr val="F79546"/>
              </a:buClr>
              <a:buFont typeface="Wingdings"/>
              <a:buChar char=""/>
              <a:tabLst>
                <a:tab pos="528320" algn="l"/>
              </a:tabLst>
            </a:pP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45" dirty="0">
                <a:latin typeface="Arial"/>
                <a:cs typeface="Arial"/>
              </a:rPr>
              <a:t>4-bit </a:t>
            </a:r>
            <a:r>
              <a:rPr sz="2800" spc="-135" dirty="0">
                <a:latin typeface="Arial"/>
                <a:cs typeface="Arial"/>
              </a:rPr>
              <a:t>partial </a:t>
            </a:r>
            <a:r>
              <a:rPr sz="2800" spc="-175" dirty="0">
                <a:latin typeface="Arial"/>
                <a:cs typeface="Arial"/>
              </a:rPr>
              <a:t>products </a:t>
            </a:r>
            <a:r>
              <a:rPr sz="2800" spc="-250" dirty="0">
                <a:latin typeface="Arial"/>
                <a:cs typeface="Arial"/>
              </a:rPr>
              <a:t>are </a:t>
            </a:r>
            <a:r>
              <a:rPr sz="2800" spc="-245" dirty="0">
                <a:latin typeface="Arial"/>
                <a:cs typeface="Arial"/>
              </a:rPr>
              <a:t>added </a:t>
            </a:r>
            <a:r>
              <a:rPr sz="2800" spc="-265" dirty="0">
                <a:latin typeface="Arial"/>
                <a:cs typeface="Arial"/>
              </a:rPr>
              <a:t>using </a:t>
            </a:r>
            <a:r>
              <a:rPr sz="2800" spc="-145" dirty="0">
                <a:latin typeface="Arial"/>
                <a:cs typeface="Arial"/>
              </a:rPr>
              <a:t>4-bit </a:t>
            </a:r>
            <a:r>
              <a:rPr sz="2800" spc="-170" dirty="0">
                <a:latin typeface="Arial"/>
                <a:cs typeface="Arial"/>
              </a:rPr>
              <a:t>parallel  </a:t>
            </a:r>
            <a:r>
              <a:rPr sz="2800" spc="-204" dirty="0">
                <a:latin typeface="Arial"/>
                <a:cs typeface="Arial"/>
              </a:rPr>
              <a:t>adder.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During </a:t>
            </a:r>
            <a:r>
              <a:rPr sz="2800" spc="-135" dirty="0">
                <a:solidFill>
                  <a:srgbClr val="006FC0"/>
                </a:solidFill>
                <a:latin typeface="Arial"/>
                <a:cs typeface="Arial"/>
              </a:rPr>
              <a:t>addition 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95" dirty="0">
                <a:solidFill>
                  <a:srgbClr val="006FC0"/>
                </a:solidFill>
                <a:latin typeface="Arial"/>
                <a:cs typeface="Arial"/>
              </a:rPr>
              <a:t>first </a:t>
            </a:r>
            <a:r>
              <a:rPr sz="2800" spc="-135" dirty="0">
                <a:solidFill>
                  <a:srgbClr val="006FC0"/>
                </a:solidFill>
                <a:latin typeface="Arial"/>
                <a:cs typeface="Arial"/>
              </a:rPr>
              <a:t>partial </a:t>
            </a:r>
            <a:r>
              <a:rPr sz="2800" spc="-125" dirty="0">
                <a:solidFill>
                  <a:srgbClr val="006FC0"/>
                </a:solidFill>
                <a:latin typeface="Arial"/>
                <a:cs typeface="Arial"/>
              </a:rPr>
              <a:t>product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three </a:t>
            </a:r>
            <a:r>
              <a:rPr sz="2800" spc="-215" dirty="0">
                <a:solidFill>
                  <a:srgbClr val="006FC0"/>
                </a:solidFill>
                <a:latin typeface="Arial"/>
                <a:cs typeface="Arial"/>
              </a:rPr>
              <a:t>most 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significant bits 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25" dirty="0">
                <a:solidFill>
                  <a:srgbClr val="006FC0"/>
                </a:solidFill>
                <a:latin typeface="Arial"/>
                <a:cs typeface="Arial"/>
              </a:rPr>
              <a:t>it 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are added </a:t>
            </a:r>
            <a:r>
              <a:rPr sz="2800" spc="-50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275" dirty="0">
                <a:solidFill>
                  <a:srgbClr val="006FC0"/>
                </a:solidFill>
                <a:latin typeface="Arial"/>
                <a:cs typeface="Arial"/>
              </a:rPr>
              <a:t>second </a:t>
            </a:r>
            <a:r>
              <a:rPr sz="2800" spc="-135" dirty="0">
                <a:solidFill>
                  <a:srgbClr val="006FC0"/>
                </a:solidFill>
                <a:latin typeface="Arial"/>
                <a:cs typeface="Arial"/>
              </a:rPr>
              <a:t>partial  </a:t>
            </a:r>
            <a:r>
              <a:rPr sz="2800" spc="-125" dirty="0">
                <a:solidFill>
                  <a:srgbClr val="006FC0"/>
                </a:solidFill>
                <a:latin typeface="Arial"/>
                <a:cs typeface="Arial"/>
              </a:rPr>
              <a:t>product.</a:t>
            </a:r>
            <a:endParaRPr sz="2800">
              <a:latin typeface="Arial"/>
              <a:cs typeface="Arial"/>
            </a:endParaRPr>
          </a:p>
          <a:p>
            <a:pPr marL="527685" marR="57150" indent="-464820" algn="just">
              <a:lnSpc>
                <a:spcPct val="100000"/>
              </a:lnSpc>
              <a:spcBef>
                <a:spcPts val="2405"/>
              </a:spcBef>
              <a:buClr>
                <a:srgbClr val="F79546"/>
              </a:buClr>
              <a:buFont typeface="Wingdings"/>
              <a:buChar char=""/>
              <a:tabLst>
                <a:tab pos="528320" algn="l"/>
              </a:tabLst>
            </a:pPr>
            <a:r>
              <a:rPr sz="2800" spc="-190" dirty="0">
                <a:solidFill>
                  <a:srgbClr val="006FC0"/>
                </a:solidFill>
                <a:latin typeface="Arial"/>
                <a:cs typeface="Arial"/>
              </a:rPr>
              <a:t>As </a:t>
            </a:r>
            <a:r>
              <a:rPr sz="2800" spc="-300" dirty="0">
                <a:solidFill>
                  <a:srgbClr val="006FC0"/>
                </a:solidFill>
                <a:latin typeface="Arial"/>
                <a:cs typeface="Arial"/>
              </a:rPr>
              <a:t>we </a:t>
            </a:r>
            <a:r>
              <a:rPr sz="2800" spc="-225" dirty="0">
                <a:solidFill>
                  <a:srgbClr val="006FC0"/>
                </a:solidFill>
                <a:latin typeface="Arial"/>
                <a:cs typeface="Arial"/>
              </a:rPr>
              <a:t>take </a:t>
            </a:r>
            <a:r>
              <a:rPr sz="2800" spc="-130" dirty="0">
                <a:solidFill>
                  <a:srgbClr val="006FC0"/>
                </a:solidFill>
                <a:latin typeface="Arial"/>
                <a:cs typeface="Arial"/>
              </a:rPr>
              <a:t>only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three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bits </a:t>
            </a:r>
            <a:r>
              <a:rPr sz="2800" spc="-100" dirty="0">
                <a:solidFill>
                  <a:srgbClr val="006FC0"/>
                </a:solidFill>
                <a:latin typeface="Arial"/>
                <a:cs typeface="Arial"/>
              </a:rPr>
              <a:t>from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35" dirty="0">
                <a:solidFill>
                  <a:srgbClr val="006FC0"/>
                </a:solidFill>
                <a:latin typeface="Arial"/>
                <a:cs typeface="Arial"/>
              </a:rPr>
              <a:t>partial </a:t>
            </a:r>
            <a:r>
              <a:rPr sz="2800" spc="-130" dirty="0">
                <a:solidFill>
                  <a:srgbClr val="006FC0"/>
                </a:solidFill>
                <a:latin typeface="Arial"/>
                <a:cs typeface="Arial"/>
              </a:rPr>
              <a:t>product,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75" dirty="0">
                <a:latin typeface="Arial"/>
                <a:cs typeface="Arial"/>
              </a:rPr>
              <a:t> </a:t>
            </a:r>
            <a:r>
              <a:rPr sz="2800" spc="-85" dirty="0">
                <a:latin typeface="Arial"/>
                <a:cs typeface="Arial"/>
              </a:rPr>
              <a:t>fourth </a:t>
            </a:r>
            <a:r>
              <a:rPr sz="2800" spc="-55" dirty="0">
                <a:latin typeface="Arial"/>
                <a:cs typeface="Arial"/>
              </a:rPr>
              <a:t>bit </a:t>
            </a:r>
            <a:r>
              <a:rPr sz="2800" spc="-300" dirty="0">
                <a:latin typeface="Arial"/>
                <a:cs typeface="Arial"/>
              </a:rPr>
              <a:t>(MSB) </a:t>
            </a:r>
            <a:r>
              <a:rPr sz="2800" spc="-265" dirty="0">
                <a:latin typeface="Arial"/>
                <a:cs typeface="Arial"/>
              </a:rPr>
              <a:t>is </a:t>
            </a:r>
            <a:r>
              <a:rPr sz="2800" spc="-215" dirty="0">
                <a:latin typeface="Arial"/>
                <a:cs typeface="Arial"/>
              </a:rPr>
              <a:t>considered </a:t>
            </a:r>
            <a:r>
              <a:rPr sz="2800" spc="-455" dirty="0">
                <a:latin typeface="Arial"/>
                <a:cs typeface="Arial"/>
              </a:rPr>
              <a:t>as</a:t>
            </a:r>
            <a:r>
              <a:rPr sz="2800" spc="-430" dirty="0">
                <a:latin typeface="Arial"/>
                <a:cs typeface="Arial"/>
              </a:rPr>
              <a:t> </a:t>
            </a:r>
            <a:r>
              <a:rPr sz="2800" spc="-280" dirty="0">
                <a:latin typeface="Arial"/>
                <a:cs typeface="Arial"/>
              </a:rPr>
              <a:t>0</a:t>
            </a:r>
            <a:r>
              <a:rPr sz="2800" spc="-280" dirty="0">
                <a:solidFill>
                  <a:srgbClr val="006FC0"/>
                </a:solidFill>
                <a:latin typeface="Arial"/>
                <a:cs typeface="Arial"/>
              </a:rPr>
              <a:t>.</a:t>
            </a:r>
            <a:endParaRPr sz="2800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787638" y="6649770"/>
            <a:ext cx="25654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rlito"/>
                <a:cs typeface="Carlito"/>
              </a:rPr>
              <a:t>88</a:t>
            </a:r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2497835" y="202679"/>
              <a:ext cx="4142232" cy="9342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771901" y="321386"/>
            <a:ext cx="360045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90" dirty="0"/>
              <a:t>BINARY</a:t>
            </a:r>
            <a:r>
              <a:rPr spc="-95" dirty="0"/>
              <a:t> </a:t>
            </a:r>
            <a:r>
              <a:rPr spc="-65" dirty="0"/>
              <a:t>MULTIPLIER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sp>
          <p:nvSpPr>
            <p:cNvPr id="8" name="object 8"/>
            <p:cNvSpPr/>
            <p:nvPr/>
          </p:nvSpPr>
          <p:spPr>
            <a:xfrm>
              <a:off x="8593835" y="6620255"/>
              <a:ext cx="550164" cy="23774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674607" y="6556243"/>
              <a:ext cx="469392" cy="3017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45440" y="1037255"/>
            <a:ext cx="8476615" cy="5247005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R="58419" algn="ctr">
              <a:lnSpc>
                <a:spcPct val="100000"/>
              </a:lnSpc>
              <a:spcBef>
                <a:spcPts val="830"/>
              </a:spcBef>
            </a:pPr>
            <a:r>
              <a:rPr sz="2000" b="1" spc="-195" dirty="0">
                <a:solidFill>
                  <a:srgbClr val="C00000"/>
                </a:solidFill>
                <a:latin typeface="Arial"/>
                <a:cs typeface="Arial"/>
              </a:rPr>
              <a:t>4-Bit  </a:t>
            </a:r>
            <a:r>
              <a:rPr sz="2000" b="1" spc="-229" dirty="0">
                <a:solidFill>
                  <a:srgbClr val="C00000"/>
                </a:solidFill>
                <a:latin typeface="Arial"/>
                <a:cs typeface="Arial"/>
              </a:rPr>
              <a:t>by  </a:t>
            </a:r>
            <a:r>
              <a:rPr sz="2000" b="1" spc="-195" dirty="0">
                <a:solidFill>
                  <a:srgbClr val="C00000"/>
                </a:solidFill>
                <a:latin typeface="Arial"/>
                <a:cs typeface="Arial"/>
              </a:rPr>
              <a:t>4-Bit</a:t>
            </a:r>
            <a:r>
              <a:rPr sz="2000" b="1" spc="-39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140" dirty="0">
                <a:solidFill>
                  <a:srgbClr val="C00000"/>
                </a:solidFill>
                <a:latin typeface="Arial"/>
                <a:cs typeface="Arial"/>
              </a:rPr>
              <a:t>Multiplier</a:t>
            </a:r>
            <a:endParaRPr sz="2000">
              <a:latin typeface="Arial"/>
              <a:cs typeface="Arial"/>
            </a:endParaRPr>
          </a:p>
          <a:p>
            <a:pPr marL="514984" marR="67310" indent="-464820" algn="just">
              <a:lnSpc>
                <a:spcPct val="100000"/>
              </a:lnSpc>
              <a:spcBef>
                <a:spcPts val="1010"/>
              </a:spcBef>
              <a:buClr>
                <a:srgbClr val="F79546"/>
              </a:buClr>
              <a:buFont typeface="Wingdings"/>
              <a:buChar char=""/>
              <a:tabLst>
                <a:tab pos="515620" algn="l"/>
              </a:tabLst>
            </a:pP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70" dirty="0">
                <a:latin typeface="Arial"/>
                <a:cs typeface="Arial"/>
              </a:rPr>
              <a:t>three </a:t>
            </a:r>
            <a:r>
              <a:rPr sz="2800" spc="-215" dirty="0">
                <a:latin typeface="Arial"/>
                <a:cs typeface="Arial"/>
              </a:rPr>
              <a:t>most  </a:t>
            </a:r>
            <a:r>
              <a:rPr sz="2800" spc="-175" dirty="0">
                <a:latin typeface="Arial"/>
                <a:cs typeface="Arial"/>
              </a:rPr>
              <a:t>significant bits </a:t>
            </a:r>
            <a:r>
              <a:rPr sz="2800" spc="-254" dirty="0">
                <a:latin typeface="Arial"/>
                <a:cs typeface="Arial"/>
              </a:rPr>
              <a:t>and </a:t>
            </a:r>
            <a:r>
              <a:rPr sz="2800" spc="-155" dirty="0">
                <a:latin typeface="Arial"/>
                <a:cs typeface="Arial"/>
              </a:rPr>
              <a:t>carry </a:t>
            </a:r>
            <a:r>
              <a:rPr sz="2800" spc="-100" dirty="0">
                <a:solidFill>
                  <a:srgbClr val="006FC0"/>
                </a:solidFill>
                <a:latin typeface="Arial"/>
                <a:cs typeface="Arial"/>
              </a:rPr>
              <a:t>out 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95" dirty="0">
                <a:solidFill>
                  <a:srgbClr val="006FC0"/>
                </a:solidFill>
                <a:latin typeface="Arial"/>
                <a:cs typeface="Arial"/>
              </a:rPr>
              <a:t>first  </a:t>
            </a:r>
            <a:r>
              <a:rPr sz="2800" spc="-130" dirty="0">
                <a:solidFill>
                  <a:srgbClr val="006FC0"/>
                </a:solidFill>
                <a:latin typeface="Arial"/>
                <a:cs typeface="Arial"/>
              </a:rPr>
              <a:t>partial </a:t>
            </a:r>
            <a:r>
              <a:rPr sz="2800" spc="-320" dirty="0">
                <a:solidFill>
                  <a:srgbClr val="006FC0"/>
                </a:solidFill>
                <a:latin typeface="Arial"/>
                <a:cs typeface="Arial"/>
              </a:rPr>
              <a:t>sum 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are </a:t>
            </a:r>
            <a:r>
              <a:rPr sz="2800" spc="-180" dirty="0">
                <a:solidFill>
                  <a:srgbClr val="006FC0"/>
                </a:solidFill>
                <a:latin typeface="Arial"/>
                <a:cs typeface="Arial"/>
              </a:rPr>
              <a:t>then </a:t>
            </a:r>
            <a:r>
              <a:rPr sz="2800" spc="-245" dirty="0">
                <a:solidFill>
                  <a:srgbClr val="006FC0"/>
                </a:solidFill>
                <a:latin typeface="Arial"/>
                <a:cs typeface="Arial"/>
              </a:rPr>
              <a:t>added </a:t>
            </a:r>
            <a:r>
              <a:rPr sz="2800" spc="-50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70" dirty="0">
                <a:solidFill>
                  <a:srgbClr val="006FC0"/>
                </a:solidFill>
                <a:latin typeface="Arial"/>
                <a:cs typeface="Arial"/>
              </a:rPr>
              <a:t>third </a:t>
            </a:r>
            <a:r>
              <a:rPr sz="2800" spc="-135" dirty="0">
                <a:solidFill>
                  <a:srgbClr val="006FC0"/>
                </a:solidFill>
                <a:latin typeface="Arial"/>
                <a:cs typeface="Arial"/>
              </a:rPr>
              <a:t>partial</a:t>
            </a:r>
            <a:r>
              <a:rPr sz="2800" spc="-14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130" dirty="0">
                <a:solidFill>
                  <a:srgbClr val="006FC0"/>
                </a:solidFill>
                <a:latin typeface="Arial"/>
                <a:cs typeface="Arial"/>
              </a:rPr>
              <a:t>product.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F79546"/>
              </a:buClr>
              <a:buFont typeface="Wingdings"/>
              <a:buChar char=""/>
            </a:pPr>
            <a:endParaRPr sz="2900">
              <a:latin typeface="Arial"/>
              <a:cs typeface="Arial"/>
            </a:endParaRPr>
          </a:p>
          <a:p>
            <a:pPr marL="514984" marR="66040" indent="-464820" algn="just">
              <a:lnSpc>
                <a:spcPct val="100000"/>
              </a:lnSpc>
              <a:buClr>
                <a:srgbClr val="F79546"/>
              </a:buClr>
              <a:buFont typeface="Wingdings"/>
              <a:buChar char=""/>
              <a:tabLst>
                <a:tab pos="515620" algn="l"/>
              </a:tabLst>
            </a:pP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Finally the three </a:t>
            </a:r>
            <a:r>
              <a:rPr sz="2800" spc="-215" dirty="0">
                <a:solidFill>
                  <a:srgbClr val="006FC0"/>
                </a:solidFill>
                <a:latin typeface="Arial"/>
                <a:cs typeface="Arial"/>
              </a:rPr>
              <a:t>most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significant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bits </a:t>
            </a:r>
            <a:r>
              <a:rPr sz="2800" spc="-260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spc="-155" dirty="0">
                <a:solidFill>
                  <a:srgbClr val="006FC0"/>
                </a:solidFill>
                <a:latin typeface="Arial"/>
                <a:cs typeface="Arial"/>
              </a:rPr>
              <a:t>carry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out </a:t>
            </a:r>
            <a:r>
              <a:rPr sz="2800" spc="-70" dirty="0">
                <a:solidFill>
                  <a:srgbClr val="006FC0"/>
                </a:solidFill>
                <a:latin typeface="Arial"/>
                <a:cs typeface="Arial"/>
              </a:rPr>
              <a:t>of  </a:t>
            </a:r>
            <a:r>
              <a:rPr sz="2800" spc="-270" dirty="0">
                <a:solidFill>
                  <a:srgbClr val="006FC0"/>
                </a:solidFill>
                <a:latin typeface="Arial"/>
                <a:cs typeface="Arial"/>
              </a:rPr>
              <a:t>second </a:t>
            </a:r>
            <a:r>
              <a:rPr sz="2800" spc="-135" dirty="0">
                <a:solidFill>
                  <a:srgbClr val="006FC0"/>
                </a:solidFill>
                <a:latin typeface="Arial"/>
                <a:cs typeface="Arial"/>
              </a:rPr>
              <a:t>partial </a:t>
            </a:r>
            <a:r>
              <a:rPr sz="2800" spc="-325" dirty="0">
                <a:solidFill>
                  <a:srgbClr val="006FC0"/>
                </a:solidFill>
                <a:latin typeface="Arial"/>
                <a:cs typeface="Arial"/>
              </a:rPr>
              <a:t>sum 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are </a:t>
            </a:r>
            <a:r>
              <a:rPr sz="2800" spc="-245" dirty="0">
                <a:solidFill>
                  <a:srgbClr val="006FC0"/>
                </a:solidFill>
                <a:latin typeface="Arial"/>
                <a:cs typeface="Arial"/>
              </a:rPr>
              <a:t>added </a:t>
            </a:r>
            <a:r>
              <a:rPr sz="2800" spc="-50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90" dirty="0">
                <a:solidFill>
                  <a:srgbClr val="006FC0"/>
                </a:solidFill>
                <a:latin typeface="Arial"/>
                <a:cs typeface="Arial"/>
              </a:rPr>
              <a:t>fourth</a:t>
            </a:r>
            <a:r>
              <a:rPr sz="2800" spc="59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135" dirty="0">
                <a:solidFill>
                  <a:srgbClr val="006FC0"/>
                </a:solidFill>
                <a:latin typeface="Arial"/>
                <a:cs typeface="Arial"/>
              </a:rPr>
              <a:t>partial  </a:t>
            </a:r>
            <a:r>
              <a:rPr sz="2800" spc="-120" dirty="0">
                <a:solidFill>
                  <a:srgbClr val="006FC0"/>
                </a:solidFill>
                <a:latin typeface="Arial"/>
                <a:cs typeface="Arial"/>
              </a:rPr>
              <a:t>product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35" dirty="0">
                <a:solidFill>
                  <a:srgbClr val="006FC0"/>
                </a:solidFill>
                <a:latin typeface="Arial"/>
                <a:cs typeface="Arial"/>
              </a:rPr>
              <a:t>carryout 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spc="-70" dirty="0">
                <a:solidFill>
                  <a:srgbClr val="006FC0"/>
                </a:solidFill>
                <a:latin typeface="Arial"/>
                <a:cs typeface="Arial"/>
              </a:rPr>
              <a:t>third </a:t>
            </a:r>
            <a:r>
              <a:rPr sz="2800" spc="-320" dirty="0">
                <a:solidFill>
                  <a:srgbClr val="006FC0"/>
                </a:solidFill>
                <a:latin typeface="Arial"/>
                <a:cs typeface="Arial"/>
              </a:rPr>
              <a:t>sum </a:t>
            </a:r>
            <a:r>
              <a:rPr sz="2800" spc="-240" dirty="0">
                <a:solidFill>
                  <a:srgbClr val="006FC0"/>
                </a:solidFill>
                <a:latin typeface="Arial"/>
                <a:cs typeface="Arial"/>
              </a:rPr>
              <a:t>represents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40" dirty="0">
                <a:solidFill>
                  <a:srgbClr val="006FC0"/>
                </a:solidFill>
                <a:latin typeface="Arial"/>
                <a:cs typeface="Arial"/>
              </a:rPr>
              <a:t>five  </a:t>
            </a:r>
            <a:r>
              <a:rPr sz="2800" spc="-210" dirty="0">
                <a:solidFill>
                  <a:srgbClr val="006FC0"/>
                </a:solidFill>
                <a:latin typeface="Arial"/>
                <a:cs typeface="Arial"/>
              </a:rPr>
              <a:t>most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significant bits 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130" dirty="0">
                <a:solidFill>
                  <a:srgbClr val="006FC0"/>
                </a:solidFill>
                <a:latin typeface="Arial"/>
                <a:cs typeface="Arial"/>
              </a:rPr>
              <a:t>product.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F79546"/>
              </a:buClr>
              <a:buFont typeface="Wingdings"/>
              <a:buChar char=""/>
            </a:pPr>
            <a:endParaRPr sz="2900">
              <a:latin typeface="Arial"/>
              <a:cs typeface="Arial"/>
            </a:endParaRPr>
          </a:p>
          <a:p>
            <a:pPr marL="514984" marR="66040" indent="-464820" algn="just">
              <a:lnSpc>
                <a:spcPct val="100000"/>
              </a:lnSpc>
              <a:spcBef>
                <a:spcPts val="5"/>
              </a:spcBef>
              <a:buClr>
                <a:srgbClr val="F79546"/>
              </a:buClr>
              <a:buFont typeface="Wingdings"/>
              <a:buChar char=""/>
              <a:tabLst>
                <a:tab pos="515620" algn="l"/>
              </a:tabLst>
            </a:pPr>
            <a:r>
              <a:rPr sz="2800" spc="-280" dirty="0">
                <a:solidFill>
                  <a:srgbClr val="006FC0"/>
                </a:solidFill>
                <a:latin typeface="Arial"/>
                <a:cs typeface="Arial"/>
              </a:rPr>
              <a:t>Least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significant bits 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95" dirty="0">
                <a:solidFill>
                  <a:srgbClr val="006FC0"/>
                </a:solidFill>
                <a:latin typeface="Arial"/>
                <a:cs typeface="Arial"/>
              </a:rPr>
              <a:t>first 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spc="-275" dirty="0">
                <a:solidFill>
                  <a:srgbClr val="006FC0"/>
                </a:solidFill>
                <a:latin typeface="Arial"/>
                <a:cs typeface="Arial"/>
              </a:rPr>
              <a:t>second </a:t>
            </a:r>
            <a:r>
              <a:rPr sz="2800" spc="-130" dirty="0">
                <a:solidFill>
                  <a:srgbClr val="006FC0"/>
                </a:solidFill>
                <a:latin typeface="Arial"/>
                <a:cs typeface="Arial"/>
              </a:rPr>
              <a:t>partial </a:t>
            </a:r>
            <a:r>
              <a:rPr sz="2800" spc="-320" dirty="0">
                <a:solidFill>
                  <a:srgbClr val="006FC0"/>
                </a:solidFill>
                <a:latin typeface="Arial"/>
                <a:cs typeface="Arial"/>
              </a:rPr>
              <a:t>sum  </a:t>
            </a:r>
            <a:r>
              <a:rPr sz="2800" spc="-210" dirty="0">
                <a:solidFill>
                  <a:srgbClr val="006FC0"/>
                </a:solidFill>
                <a:latin typeface="Arial"/>
                <a:cs typeface="Arial"/>
              </a:rPr>
              <a:t>represent </a:t>
            </a:r>
            <a:r>
              <a:rPr sz="2800" spc="-409" dirty="0">
                <a:solidFill>
                  <a:srgbClr val="006FC0"/>
                </a:solidFill>
                <a:latin typeface="Arial"/>
                <a:cs typeface="Arial"/>
              </a:rPr>
              <a:t>P</a:t>
            </a:r>
            <a:r>
              <a:rPr sz="2775" spc="-615" baseline="-21021" dirty="0">
                <a:solidFill>
                  <a:srgbClr val="006FC0"/>
                </a:solidFill>
                <a:latin typeface="Arial"/>
                <a:cs typeface="Arial"/>
              </a:rPr>
              <a:t>1 </a:t>
            </a:r>
            <a:r>
              <a:rPr sz="2800" spc="-260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spc="-409" dirty="0">
                <a:solidFill>
                  <a:srgbClr val="006FC0"/>
                </a:solidFill>
                <a:latin typeface="Arial"/>
                <a:cs typeface="Arial"/>
              </a:rPr>
              <a:t>P</a:t>
            </a:r>
            <a:r>
              <a:rPr sz="2775" spc="-615" baseline="-21021" dirty="0">
                <a:solidFill>
                  <a:srgbClr val="006FC0"/>
                </a:solidFill>
                <a:latin typeface="Arial"/>
                <a:cs typeface="Arial"/>
              </a:rPr>
              <a:t>2 </a:t>
            </a:r>
            <a:r>
              <a:rPr sz="2800" spc="-195" dirty="0">
                <a:solidFill>
                  <a:srgbClr val="006FC0"/>
                </a:solidFill>
                <a:latin typeface="Arial"/>
                <a:cs typeface="Arial"/>
              </a:rPr>
              <a:t>respectively </a:t>
            </a:r>
            <a:r>
              <a:rPr sz="2800" spc="-80" dirty="0">
                <a:solidFill>
                  <a:srgbClr val="006FC0"/>
                </a:solidFill>
                <a:latin typeface="Arial"/>
                <a:cs typeface="Arial"/>
              </a:rPr>
              <a:t>&amp; </a:t>
            </a:r>
            <a:r>
              <a:rPr sz="2800" spc="-125" dirty="0">
                <a:solidFill>
                  <a:srgbClr val="006FC0"/>
                </a:solidFill>
                <a:latin typeface="Arial"/>
                <a:cs typeface="Arial"/>
              </a:rPr>
              <a:t>product </a:t>
            </a:r>
            <a:r>
              <a:rPr sz="2800" spc="-204" dirty="0">
                <a:solidFill>
                  <a:srgbClr val="006FC0"/>
                </a:solidFill>
                <a:latin typeface="Arial"/>
                <a:cs typeface="Arial"/>
              </a:rPr>
              <a:t>B</a:t>
            </a:r>
            <a:r>
              <a:rPr sz="2775" spc="-307" baseline="-21021" dirty="0">
                <a:solidFill>
                  <a:srgbClr val="006FC0"/>
                </a:solidFill>
                <a:latin typeface="Arial"/>
                <a:cs typeface="Arial"/>
              </a:rPr>
              <a:t>0</a:t>
            </a:r>
            <a:r>
              <a:rPr sz="2800" spc="-204" dirty="0">
                <a:solidFill>
                  <a:srgbClr val="006FC0"/>
                </a:solidFill>
                <a:latin typeface="Arial"/>
                <a:cs typeface="Arial"/>
              </a:rPr>
              <a:t>A</a:t>
            </a:r>
            <a:r>
              <a:rPr sz="2775" spc="-307" baseline="-21021" dirty="0">
                <a:solidFill>
                  <a:srgbClr val="006FC0"/>
                </a:solidFill>
                <a:latin typeface="Arial"/>
                <a:cs typeface="Arial"/>
              </a:rPr>
              <a:t>0 </a:t>
            </a:r>
            <a:r>
              <a:rPr sz="1850" spc="-204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240" dirty="0">
                <a:solidFill>
                  <a:srgbClr val="006FC0"/>
                </a:solidFill>
                <a:latin typeface="Arial"/>
                <a:cs typeface="Arial"/>
              </a:rPr>
              <a:t>represents</a:t>
            </a:r>
            <a:r>
              <a:rPr sz="2800" spc="-2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325" dirty="0">
                <a:solidFill>
                  <a:srgbClr val="006FC0"/>
                </a:solidFill>
                <a:latin typeface="Arial"/>
                <a:cs typeface="Arial"/>
              </a:rPr>
              <a:t>P</a:t>
            </a:r>
            <a:r>
              <a:rPr sz="2775" spc="-487" baseline="-21021" dirty="0">
                <a:solidFill>
                  <a:srgbClr val="006FC0"/>
                </a:solidFill>
                <a:latin typeface="Arial"/>
                <a:cs typeface="Arial"/>
              </a:rPr>
              <a:t>0</a:t>
            </a:r>
            <a:r>
              <a:rPr sz="2800" spc="-325" dirty="0">
                <a:solidFill>
                  <a:srgbClr val="006FC0"/>
                </a:solidFill>
                <a:latin typeface="Arial"/>
                <a:cs typeface="Arial"/>
              </a:rPr>
              <a:t>.</a:t>
            </a:r>
            <a:endParaRPr sz="2800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787638" y="6649770"/>
            <a:ext cx="25654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rlito"/>
                <a:cs typeface="Carlito"/>
              </a:rPr>
              <a:t>89</a:t>
            </a:r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2497835" y="202679"/>
              <a:ext cx="4142232" cy="9342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771901" y="321386"/>
            <a:ext cx="360045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90" dirty="0">
                <a:latin typeface="Trebuchet MS"/>
                <a:cs typeface="Trebuchet MS"/>
              </a:rPr>
              <a:t>BINARY</a:t>
            </a:r>
            <a:r>
              <a:rPr sz="3200" b="1" spc="-95" dirty="0">
                <a:latin typeface="Trebuchet MS"/>
                <a:cs typeface="Trebuchet MS"/>
              </a:rPr>
              <a:t> </a:t>
            </a:r>
            <a:r>
              <a:rPr sz="3200" b="1" spc="-65" dirty="0">
                <a:latin typeface="Trebuchet MS"/>
                <a:cs typeface="Trebuchet MS"/>
              </a:rPr>
              <a:t>MULTIPLIER</a:t>
            </a:r>
            <a:endParaRPr sz="320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273807" y="1600200"/>
            <a:ext cx="6875145" cy="5257800"/>
            <a:chOff x="2273807" y="1600200"/>
            <a:chExt cx="6875145" cy="5257800"/>
          </a:xfrm>
        </p:grpSpPr>
        <p:sp>
          <p:nvSpPr>
            <p:cNvPr id="8" name="object 8"/>
            <p:cNvSpPr/>
            <p:nvPr/>
          </p:nvSpPr>
          <p:spPr>
            <a:xfrm>
              <a:off x="8593836" y="6620254"/>
              <a:ext cx="550164" cy="23774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674607" y="6556242"/>
              <a:ext cx="469392" cy="3017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273807" y="1600200"/>
              <a:ext cx="4279392" cy="472440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398011" y="1129664"/>
            <a:ext cx="230568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95" dirty="0">
                <a:solidFill>
                  <a:srgbClr val="C00000"/>
                </a:solidFill>
                <a:latin typeface="Arial"/>
                <a:cs typeface="Arial"/>
              </a:rPr>
              <a:t>4-Bit </a:t>
            </a:r>
            <a:r>
              <a:rPr sz="2000" b="1" spc="-229" dirty="0">
                <a:solidFill>
                  <a:srgbClr val="C00000"/>
                </a:solidFill>
                <a:latin typeface="Arial"/>
                <a:cs typeface="Arial"/>
              </a:rPr>
              <a:t>by </a:t>
            </a:r>
            <a:r>
              <a:rPr sz="2000" b="1" spc="-195" dirty="0">
                <a:solidFill>
                  <a:srgbClr val="C00000"/>
                </a:solidFill>
                <a:latin typeface="Arial"/>
                <a:cs typeface="Arial"/>
              </a:rPr>
              <a:t>4-Bit</a:t>
            </a:r>
            <a:r>
              <a:rPr sz="2000" b="1" spc="-8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140" dirty="0">
                <a:solidFill>
                  <a:srgbClr val="C00000"/>
                </a:solidFill>
                <a:latin typeface="Arial"/>
                <a:cs typeface="Arial"/>
              </a:rPr>
              <a:t>Multiplier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787638" y="6649770"/>
            <a:ext cx="25654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sz="1400" b="1" dirty="0">
                <a:solidFill>
                  <a:srgbClr val="FFFFFF"/>
                </a:solidFill>
                <a:latin typeface="Carlito"/>
                <a:cs typeface="Carlito"/>
              </a:rPr>
              <a:t>90</a:t>
            </a:r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9080" cy="6841490"/>
            <a:chOff x="0" y="16764"/>
            <a:chExt cx="9149080" cy="6841490"/>
          </a:xfrm>
        </p:grpSpPr>
        <p:sp>
          <p:nvSpPr>
            <p:cNvPr id="3" name="object 3"/>
            <p:cNvSpPr/>
            <p:nvPr/>
          </p:nvSpPr>
          <p:spPr>
            <a:xfrm>
              <a:off x="1493519" y="1455419"/>
              <a:ext cx="6983730" cy="409270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593835" y="6620254"/>
              <a:ext cx="550164" cy="23774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630411" y="6556243"/>
              <a:ext cx="513588" cy="30175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641080" y="6644640"/>
              <a:ext cx="502920" cy="18288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126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793241" y="982217"/>
              <a:ext cx="7589519" cy="762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6764"/>
              <a:ext cx="9143999" cy="668274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53439" y="320001"/>
              <a:ext cx="7434072" cy="57611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938527" y="202679"/>
              <a:ext cx="5260848" cy="93422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212594" y="321386"/>
            <a:ext cx="471741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30" dirty="0"/>
              <a:t>MAGNITUDE</a:t>
            </a:r>
            <a:r>
              <a:rPr spc="-80" dirty="0"/>
              <a:t> </a:t>
            </a:r>
            <a:r>
              <a:rPr spc="-114" dirty="0"/>
              <a:t>COMPARATOR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07340" y="1109598"/>
            <a:ext cx="8377555" cy="3256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76884" marR="5080" indent="-464820" algn="just">
              <a:lnSpc>
                <a:spcPct val="100000"/>
              </a:lnSpc>
              <a:spcBef>
                <a:spcPts val="95"/>
              </a:spcBef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135" dirty="0">
                <a:solidFill>
                  <a:srgbClr val="006FC0"/>
                </a:solidFill>
                <a:latin typeface="Arial"/>
                <a:cs typeface="Arial"/>
              </a:rPr>
              <a:t>A </a:t>
            </a:r>
            <a:r>
              <a:rPr sz="2800" spc="-210" dirty="0">
                <a:solidFill>
                  <a:srgbClr val="006FC0"/>
                </a:solidFill>
                <a:latin typeface="Arial"/>
                <a:cs typeface="Arial"/>
              </a:rPr>
              <a:t>magnitude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comparator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800" spc="-395" dirty="0">
                <a:solidFill>
                  <a:srgbClr val="006FC0"/>
                </a:solidFill>
                <a:latin typeface="Arial"/>
                <a:cs typeface="Arial"/>
              </a:rPr>
              <a:t>a</a:t>
            </a:r>
            <a:r>
              <a:rPr sz="2800" spc="-1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combinational </a:t>
            </a:r>
            <a:r>
              <a:rPr sz="2800" spc="-95" dirty="0">
                <a:solidFill>
                  <a:srgbClr val="006FC0"/>
                </a:solidFill>
                <a:latin typeface="Arial"/>
                <a:cs typeface="Arial"/>
              </a:rPr>
              <a:t>circuit </a:t>
            </a:r>
            <a:r>
              <a:rPr sz="2800" spc="-130" dirty="0">
                <a:solidFill>
                  <a:srgbClr val="006FC0"/>
                </a:solidFill>
                <a:latin typeface="Arial"/>
                <a:cs typeface="Arial"/>
              </a:rPr>
              <a:t>that  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compares </a:t>
            </a:r>
            <a:r>
              <a:rPr sz="2800" spc="-125" dirty="0">
                <a:latin typeface="Arial"/>
                <a:cs typeface="Arial"/>
              </a:rPr>
              <a:t>two </a:t>
            </a:r>
            <a:r>
              <a:rPr sz="2800" spc="-225" dirty="0">
                <a:latin typeface="Arial"/>
                <a:cs typeface="Arial"/>
              </a:rPr>
              <a:t>given </a:t>
            </a:r>
            <a:r>
              <a:rPr sz="2800" spc="-250" dirty="0">
                <a:latin typeface="Arial"/>
                <a:cs typeface="Arial"/>
              </a:rPr>
              <a:t>numbers </a:t>
            </a:r>
            <a:r>
              <a:rPr sz="2800" spc="-50" dirty="0">
                <a:latin typeface="Arial"/>
                <a:cs typeface="Arial"/>
              </a:rPr>
              <a:t>(A </a:t>
            </a:r>
            <a:r>
              <a:rPr sz="2800" spc="-260" dirty="0">
                <a:latin typeface="Arial"/>
                <a:cs typeface="Arial"/>
              </a:rPr>
              <a:t>and </a:t>
            </a:r>
            <a:r>
              <a:rPr sz="2800" spc="-335" dirty="0">
                <a:latin typeface="Arial"/>
                <a:cs typeface="Arial"/>
              </a:rPr>
              <a:t>B</a:t>
            </a:r>
            <a:r>
              <a:rPr sz="2800" spc="-335" dirty="0">
                <a:solidFill>
                  <a:srgbClr val="006FC0"/>
                </a:solidFill>
                <a:latin typeface="Arial"/>
                <a:cs typeface="Arial"/>
              </a:rPr>
              <a:t>) </a:t>
            </a:r>
            <a:r>
              <a:rPr sz="2800" spc="-260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spc="-215" dirty="0">
                <a:solidFill>
                  <a:srgbClr val="006FC0"/>
                </a:solidFill>
                <a:latin typeface="Arial"/>
                <a:cs typeface="Arial"/>
              </a:rPr>
              <a:t>determines  </a:t>
            </a:r>
            <a:r>
              <a:rPr sz="2800" spc="-190" dirty="0">
                <a:solidFill>
                  <a:srgbClr val="006FC0"/>
                </a:solidFill>
                <a:latin typeface="Arial"/>
                <a:cs typeface="Arial"/>
              </a:rPr>
              <a:t>whether </a:t>
            </a:r>
            <a:r>
              <a:rPr sz="2800" spc="-240" dirty="0">
                <a:solidFill>
                  <a:srgbClr val="006FC0"/>
                </a:solidFill>
                <a:latin typeface="Arial"/>
                <a:cs typeface="Arial"/>
              </a:rPr>
              <a:t>one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800" spc="-240" dirty="0">
                <a:latin typeface="Arial"/>
                <a:cs typeface="Arial"/>
              </a:rPr>
              <a:t>equal </a:t>
            </a:r>
            <a:r>
              <a:rPr sz="2800" spc="-90" dirty="0">
                <a:latin typeface="Arial"/>
                <a:cs typeface="Arial"/>
              </a:rPr>
              <a:t>to, </a:t>
            </a:r>
            <a:r>
              <a:rPr sz="2800" spc="-350" dirty="0">
                <a:latin typeface="Arial"/>
                <a:cs typeface="Arial"/>
              </a:rPr>
              <a:t>less </a:t>
            </a:r>
            <a:r>
              <a:rPr sz="2800" spc="-195" dirty="0">
                <a:latin typeface="Arial"/>
                <a:cs typeface="Arial"/>
              </a:rPr>
              <a:t>than </a:t>
            </a:r>
            <a:r>
              <a:rPr sz="2800" spc="-80" dirty="0">
                <a:latin typeface="Arial"/>
                <a:cs typeface="Arial"/>
              </a:rPr>
              <a:t>or </a:t>
            </a:r>
            <a:r>
              <a:rPr sz="2800" spc="-200" dirty="0">
                <a:latin typeface="Arial"/>
                <a:cs typeface="Arial"/>
              </a:rPr>
              <a:t>greater </a:t>
            </a:r>
            <a:r>
              <a:rPr sz="2800" spc="-190" dirty="0">
                <a:latin typeface="Arial"/>
                <a:cs typeface="Arial"/>
              </a:rPr>
              <a:t>than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 </a:t>
            </a:r>
            <a:r>
              <a:rPr sz="2800" spc="-135" dirty="0">
                <a:solidFill>
                  <a:srgbClr val="006FC0"/>
                </a:solidFill>
                <a:latin typeface="Arial"/>
                <a:cs typeface="Arial"/>
              </a:rPr>
              <a:t>other.</a:t>
            </a:r>
            <a:endParaRPr sz="2800">
              <a:latin typeface="Arial"/>
              <a:cs typeface="Arial"/>
            </a:endParaRPr>
          </a:p>
          <a:p>
            <a:pPr marL="476884" marR="6350" indent="-464820" algn="just">
              <a:lnSpc>
                <a:spcPct val="100000"/>
              </a:lnSpc>
              <a:spcBef>
                <a:spcPts val="1920"/>
              </a:spcBef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output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800" spc="-110" dirty="0">
                <a:solidFill>
                  <a:srgbClr val="006FC0"/>
                </a:solidFill>
                <a:latin typeface="Arial"/>
                <a:cs typeface="Arial"/>
              </a:rPr>
              <a:t>in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00" dirty="0">
                <a:solidFill>
                  <a:srgbClr val="006FC0"/>
                </a:solidFill>
                <a:latin typeface="Arial"/>
                <a:cs typeface="Arial"/>
              </a:rPr>
              <a:t>form 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three binary </a:t>
            </a:r>
            <a:r>
              <a:rPr sz="2800" spc="-235" dirty="0">
                <a:solidFill>
                  <a:srgbClr val="006FC0"/>
                </a:solidFill>
                <a:latin typeface="Arial"/>
                <a:cs typeface="Arial"/>
              </a:rPr>
              <a:t>variables  </a:t>
            </a:r>
            <a:r>
              <a:rPr sz="2800" spc="-204" dirty="0">
                <a:solidFill>
                  <a:srgbClr val="006FC0"/>
                </a:solidFill>
                <a:latin typeface="Arial"/>
                <a:cs typeface="Arial"/>
              </a:rPr>
              <a:t>representing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conditions </a:t>
            </a:r>
            <a:r>
              <a:rPr sz="2800" spc="135" dirty="0">
                <a:latin typeface="Arial"/>
                <a:cs typeface="Arial"/>
              </a:rPr>
              <a:t>A </a:t>
            </a:r>
            <a:r>
              <a:rPr sz="2800" spc="70" dirty="0">
                <a:latin typeface="Arial"/>
                <a:cs typeface="Arial"/>
              </a:rPr>
              <a:t>= </a:t>
            </a:r>
            <a:r>
              <a:rPr sz="2800" spc="-295" dirty="0">
                <a:latin typeface="Arial"/>
                <a:cs typeface="Arial"/>
              </a:rPr>
              <a:t>B, </a:t>
            </a:r>
            <a:r>
              <a:rPr sz="2800" spc="-120" dirty="0">
                <a:latin typeface="Arial"/>
                <a:cs typeface="Arial"/>
              </a:rPr>
              <a:t>A&gt;B </a:t>
            </a:r>
            <a:r>
              <a:rPr sz="2800" spc="-254" dirty="0">
                <a:latin typeface="Arial"/>
                <a:cs typeface="Arial"/>
              </a:rPr>
              <a:t>and </a:t>
            </a:r>
            <a:r>
              <a:rPr sz="2800" spc="-135" dirty="0">
                <a:latin typeface="Arial"/>
                <a:cs typeface="Arial"/>
              </a:rPr>
              <a:t>A&lt;B</a:t>
            </a:r>
            <a:r>
              <a:rPr sz="2800" spc="-135" dirty="0">
                <a:solidFill>
                  <a:srgbClr val="006FC0"/>
                </a:solidFill>
                <a:latin typeface="Arial"/>
                <a:cs typeface="Arial"/>
              </a:rPr>
              <a:t>, 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if </a:t>
            </a:r>
            <a:r>
              <a:rPr sz="2800" spc="135" dirty="0">
                <a:solidFill>
                  <a:srgbClr val="006FC0"/>
                </a:solidFill>
                <a:latin typeface="Arial"/>
                <a:cs typeface="Arial"/>
              </a:rPr>
              <a:t>A  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spc="-425" dirty="0">
                <a:solidFill>
                  <a:srgbClr val="006FC0"/>
                </a:solidFill>
                <a:latin typeface="Arial"/>
                <a:cs typeface="Arial"/>
              </a:rPr>
              <a:t>B 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are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20" dirty="0">
                <a:solidFill>
                  <a:srgbClr val="006FC0"/>
                </a:solidFill>
                <a:latin typeface="Arial"/>
                <a:cs typeface="Arial"/>
              </a:rPr>
              <a:t>two </a:t>
            </a:r>
            <a:r>
              <a:rPr sz="2800" spc="-245" dirty="0">
                <a:solidFill>
                  <a:srgbClr val="006FC0"/>
                </a:solidFill>
                <a:latin typeface="Arial"/>
                <a:cs typeface="Arial"/>
              </a:rPr>
              <a:t>numbers </a:t>
            </a: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being</a:t>
            </a:r>
            <a:r>
              <a:rPr sz="2800" spc="-53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204" dirty="0">
                <a:solidFill>
                  <a:srgbClr val="006FC0"/>
                </a:solidFill>
                <a:latin typeface="Arial"/>
                <a:cs typeface="Arial"/>
              </a:rPr>
              <a:t>compared.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590800" y="4495800"/>
            <a:ext cx="6558280" cy="2362200"/>
            <a:chOff x="2590800" y="4495800"/>
            <a:chExt cx="6558280" cy="2362200"/>
          </a:xfrm>
        </p:grpSpPr>
        <p:sp>
          <p:nvSpPr>
            <p:cNvPr id="14" name="object 14"/>
            <p:cNvSpPr/>
            <p:nvPr/>
          </p:nvSpPr>
          <p:spPr>
            <a:xfrm>
              <a:off x="8593835" y="6620254"/>
              <a:ext cx="550164" cy="23774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630411" y="6556242"/>
              <a:ext cx="513588" cy="30175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641079" y="6644639"/>
              <a:ext cx="502920" cy="18288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641079" y="6644639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590800" y="4495800"/>
              <a:ext cx="3732276" cy="1539240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543682" y="6102807"/>
            <a:ext cx="397192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50" dirty="0">
                <a:latin typeface="Arial"/>
                <a:cs typeface="Arial"/>
              </a:rPr>
              <a:t>Block </a:t>
            </a:r>
            <a:r>
              <a:rPr sz="2000" b="1" spc="-235" dirty="0">
                <a:latin typeface="Arial"/>
                <a:cs typeface="Arial"/>
              </a:rPr>
              <a:t>diagram </a:t>
            </a:r>
            <a:r>
              <a:rPr sz="2000" b="1" spc="-155" dirty="0">
                <a:latin typeface="Arial"/>
                <a:cs typeface="Arial"/>
              </a:rPr>
              <a:t>of </a:t>
            </a:r>
            <a:r>
              <a:rPr sz="2000" b="1" spc="-235" dirty="0">
                <a:latin typeface="Arial"/>
                <a:cs typeface="Arial"/>
              </a:rPr>
              <a:t>magnitude</a:t>
            </a:r>
            <a:r>
              <a:rPr sz="2000" b="1" spc="-160" dirty="0">
                <a:latin typeface="Arial"/>
                <a:cs typeface="Arial"/>
              </a:rPr>
              <a:t> </a:t>
            </a:r>
            <a:r>
              <a:rPr sz="2000" b="1" spc="-204" dirty="0">
                <a:latin typeface="Arial"/>
                <a:cs typeface="Arial"/>
              </a:rPr>
              <a:t>comparator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127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793241" y="982217"/>
              <a:ext cx="7589519" cy="762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6764"/>
              <a:ext cx="9143999" cy="668274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53439" y="320001"/>
              <a:ext cx="7434072" cy="57611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938527" y="202679"/>
              <a:ext cx="5260848" cy="93422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212594" y="321386"/>
            <a:ext cx="471741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30" dirty="0"/>
              <a:t>MAGNITUDE</a:t>
            </a:r>
            <a:r>
              <a:rPr spc="-80" dirty="0"/>
              <a:t> </a:t>
            </a:r>
            <a:r>
              <a:rPr spc="-114" dirty="0"/>
              <a:t>COMPARATOR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sp>
          <p:nvSpPr>
            <p:cNvPr id="13" name="object 13"/>
            <p:cNvSpPr/>
            <p:nvPr/>
          </p:nvSpPr>
          <p:spPr>
            <a:xfrm>
              <a:off x="8593835" y="6620255"/>
              <a:ext cx="550164" cy="23774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630411" y="6556243"/>
              <a:ext cx="513588" cy="30175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117975" y="6102807"/>
            <a:ext cx="11855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55" dirty="0">
                <a:latin typeface="Arial"/>
                <a:cs typeface="Arial"/>
              </a:rPr>
              <a:t>Truth</a:t>
            </a:r>
            <a:r>
              <a:rPr sz="2000" b="1" spc="-114" dirty="0">
                <a:latin typeface="Arial"/>
                <a:cs typeface="Arial"/>
              </a:rPr>
              <a:t> </a:t>
            </a:r>
            <a:r>
              <a:rPr sz="2000" b="1" spc="-195" dirty="0">
                <a:latin typeface="Arial"/>
                <a:cs typeface="Arial"/>
              </a:rPr>
              <a:t>Table</a:t>
            </a:r>
            <a:endParaRPr sz="20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600200" y="1676400"/>
            <a:ext cx="6096000" cy="48310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1593850" y="1670050"/>
          <a:ext cx="6115050" cy="4356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05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5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5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5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5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5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12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41300">
                <a:tc gridSpan="4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400" b="1" spc="-5" dirty="0">
                          <a:latin typeface="Bookman Uralic"/>
                          <a:cs typeface="Bookman Uralic"/>
                        </a:rPr>
                        <a:t>Inputs</a:t>
                      </a:r>
                      <a:endParaRPr sz="1400">
                        <a:latin typeface="Bookman Uralic"/>
                        <a:cs typeface="Bookman Uralic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400" b="1" spc="-5" dirty="0">
                          <a:latin typeface="Bookman Uralic"/>
                          <a:cs typeface="Bookman Uralic"/>
                        </a:rPr>
                        <a:t>Outputs</a:t>
                      </a:r>
                      <a:endParaRPr sz="1400">
                        <a:latin typeface="Bookman Uralic"/>
                        <a:cs typeface="Bookman Uralic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400" b="1" spc="10" dirty="0">
                          <a:latin typeface="Bookman Uralic"/>
                          <a:cs typeface="Bookman Uralic"/>
                        </a:rPr>
                        <a:t>A</a:t>
                      </a:r>
                      <a:r>
                        <a:rPr sz="1350" b="1" spc="15" baseline="-21604" dirty="0">
                          <a:latin typeface="Bookman Uralic"/>
                          <a:cs typeface="Bookman Uralic"/>
                        </a:rPr>
                        <a:t>1</a:t>
                      </a:r>
                      <a:endParaRPr sz="1350" baseline="-21604">
                        <a:latin typeface="Bookman Uralic"/>
                        <a:cs typeface="Bookman Uralic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400" b="1" spc="10" dirty="0">
                          <a:latin typeface="Bookman Uralic"/>
                          <a:cs typeface="Bookman Uralic"/>
                        </a:rPr>
                        <a:t>A</a:t>
                      </a:r>
                      <a:r>
                        <a:rPr sz="1350" b="1" spc="15" baseline="-21604" dirty="0">
                          <a:latin typeface="Bookman Uralic"/>
                          <a:cs typeface="Bookman Uralic"/>
                        </a:rPr>
                        <a:t>0</a:t>
                      </a:r>
                      <a:endParaRPr sz="1350" baseline="-21604">
                        <a:latin typeface="Bookman Uralic"/>
                        <a:cs typeface="Bookman Uralic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400" b="1" spc="10" dirty="0">
                          <a:latin typeface="Bookman Uralic"/>
                          <a:cs typeface="Bookman Uralic"/>
                        </a:rPr>
                        <a:t>B</a:t>
                      </a:r>
                      <a:r>
                        <a:rPr sz="1350" b="1" spc="15" baseline="-21604" dirty="0">
                          <a:latin typeface="Bookman Uralic"/>
                          <a:cs typeface="Bookman Uralic"/>
                        </a:rPr>
                        <a:t>1</a:t>
                      </a:r>
                      <a:endParaRPr sz="1350" baseline="-21604">
                        <a:latin typeface="Bookman Uralic"/>
                        <a:cs typeface="Bookman Uralic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400" b="1" spc="10" dirty="0">
                          <a:latin typeface="Bookman Uralic"/>
                          <a:cs typeface="Bookman Uralic"/>
                        </a:rPr>
                        <a:t>B</a:t>
                      </a:r>
                      <a:r>
                        <a:rPr sz="1350" b="1" spc="15" baseline="-21604" dirty="0">
                          <a:latin typeface="Bookman Uralic"/>
                          <a:cs typeface="Bookman Uralic"/>
                        </a:rPr>
                        <a:t>0</a:t>
                      </a:r>
                      <a:endParaRPr sz="1350" baseline="-21604">
                        <a:latin typeface="Bookman Uralic"/>
                        <a:cs typeface="Bookman Uralic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400" b="1" spc="-5" dirty="0">
                          <a:latin typeface="Bookman Uralic"/>
                          <a:cs typeface="Bookman Uralic"/>
                        </a:rPr>
                        <a:t>A&gt;B</a:t>
                      </a:r>
                      <a:endParaRPr sz="1400">
                        <a:latin typeface="Bookman Uralic"/>
                        <a:cs typeface="Bookman Uralic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400" b="1" spc="-5" dirty="0">
                          <a:latin typeface="Bookman Uralic"/>
                          <a:cs typeface="Bookman Uralic"/>
                        </a:rPr>
                        <a:t>A=B</a:t>
                      </a:r>
                      <a:endParaRPr sz="1400">
                        <a:latin typeface="Bookman Uralic"/>
                        <a:cs typeface="Bookman Uralic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400" b="1" spc="-5" dirty="0">
                          <a:latin typeface="Bookman Uralic"/>
                          <a:cs typeface="Bookman Uralic"/>
                        </a:rPr>
                        <a:t>A&lt;B</a:t>
                      </a:r>
                      <a:endParaRPr sz="1400">
                        <a:latin typeface="Bookman Uralic"/>
                        <a:cs typeface="Bookman Uralic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400">
                        <a:latin typeface="Palladio Uralic"/>
                        <a:cs typeface="Palladio Uralic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21" name="object 2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128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3138932" y="1148841"/>
            <a:ext cx="283337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95" dirty="0">
                <a:solidFill>
                  <a:srgbClr val="C00000"/>
                </a:solidFill>
                <a:latin typeface="Arial"/>
                <a:cs typeface="Arial"/>
              </a:rPr>
              <a:t>2-Bit </a:t>
            </a:r>
            <a:r>
              <a:rPr sz="2000" b="1" spc="-200" dirty="0">
                <a:solidFill>
                  <a:srgbClr val="C00000"/>
                </a:solidFill>
                <a:latin typeface="Arial"/>
                <a:cs typeface="Arial"/>
              </a:rPr>
              <a:t>Magnitude</a:t>
            </a:r>
            <a:r>
              <a:rPr sz="2000" b="1" spc="-3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200" dirty="0">
                <a:solidFill>
                  <a:srgbClr val="C00000"/>
                </a:solidFill>
                <a:latin typeface="Arial"/>
                <a:cs typeface="Arial"/>
              </a:rPr>
              <a:t>Comparator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1938527" y="202679"/>
              <a:ext cx="5260848" cy="9342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212594" y="321386"/>
            <a:ext cx="471741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30" dirty="0"/>
              <a:t>MAGNITUDE</a:t>
            </a:r>
            <a:r>
              <a:rPr spc="-80" dirty="0"/>
              <a:t> </a:t>
            </a:r>
            <a:r>
              <a:rPr spc="-114" dirty="0"/>
              <a:t>COMPARATOR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304800" y="2133600"/>
            <a:ext cx="8844280" cy="4724400"/>
            <a:chOff x="304800" y="2133600"/>
            <a:chExt cx="8844280" cy="4724400"/>
          </a:xfrm>
        </p:grpSpPr>
        <p:sp>
          <p:nvSpPr>
            <p:cNvPr id="8" name="object 8"/>
            <p:cNvSpPr/>
            <p:nvPr/>
          </p:nvSpPr>
          <p:spPr>
            <a:xfrm>
              <a:off x="8593835" y="6620254"/>
              <a:ext cx="550164" cy="23774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630411" y="6556242"/>
              <a:ext cx="513588" cy="3017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641080" y="6644640"/>
              <a:ext cx="502920" cy="1828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4800" y="2133600"/>
              <a:ext cx="8604504" cy="3493008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584575" y="5950407"/>
            <a:ext cx="209423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60" dirty="0">
                <a:latin typeface="Arial"/>
                <a:cs typeface="Arial"/>
              </a:rPr>
              <a:t>K-Map</a:t>
            </a:r>
            <a:r>
              <a:rPr sz="2000" b="1" spc="-95" dirty="0">
                <a:latin typeface="Arial"/>
                <a:cs typeface="Arial"/>
              </a:rPr>
              <a:t> </a:t>
            </a:r>
            <a:r>
              <a:rPr sz="2000" b="1" spc="-195" dirty="0">
                <a:latin typeface="Arial"/>
                <a:cs typeface="Arial"/>
              </a:rPr>
              <a:t>Simplification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129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138932" y="1148841"/>
            <a:ext cx="283337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95" dirty="0">
                <a:solidFill>
                  <a:srgbClr val="C00000"/>
                </a:solidFill>
                <a:latin typeface="Arial"/>
                <a:cs typeface="Arial"/>
              </a:rPr>
              <a:t>2-Bit </a:t>
            </a:r>
            <a:r>
              <a:rPr sz="2000" b="1" spc="-200" dirty="0">
                <a:solidFill>
                  <a:srgbClr val="C00000"/>
                </a:solidFill>
                <a:latin typeface="Arial"/>
                <a:cs typeface="Arial"/>
              </a:rPr>
              <a:t>Magnitude</a:t>
            </a:r>
            <a:r>
              <a:rPr sz="2000" b="1" spc="-3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200" dirty="0">
                <a:solidFill>
                  <a:srgbClr val="C00000"/>
                </a:solidFill>
                <a:latin typeface="Arial"/>
                <a:cs typeface="Arial"/>
              </a:rPr>
              <a:t>Comparator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1938527" y="202679"/>
              <a:ext cx="5260848" cy="9342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212594" y="321386"/>
            <a:ext cx="471741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130" dirty="0">
                <a:latin typeface="Trebuchet MS"/>
                <a:cs typeface="Trebuchet MS"/>
              </a:rPr>
              <a:t>MAGNITUDE</a:t>
            </a:r>
            <a:r>
              <a:rPr sz="3200" b="1" spc="-80" dirty="0">
                <a:latin typeface="Trebuchet MS"/>
                <a:cs typeface="Trebuchet MS"/>
              </a:rPr>
              <a:t> </a:t>
            </a:r>
            <a:r>
              <a:rPr sz="3200" b="1" spc="-114" dirty="0">
                <a:latin typeface="Trebuchet MS"/>
                <a:cs typeface="Trebuchet MS"/>
              </a:rPr>
              <a:t>COMPARATOR</a:t>
            </a:r>
            <a:endParaRPr sz="320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209800" y="1671827"/>
            <a:ext cx="6939280" cy="5186680"/>
            <a:chOff x="2209800" y="1671827"/>
            <a:chExt cx="6939280" cy="5186680"/>
          </a:xfrm>
        </p:grpSpPr>
        <p:sp>
          <p:nvSpPr>
            <p:cNvPr id="8" name="object 8"/>
            <p:cNvSpPr/>
            <p:nvPr/>
          </p:nvSpPr>
          <p:spPr>
            <a:xfrm>
              <a:off x="8593835" y="6620254"/>
              <a:ext cx="550164" cy="23774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630411" y="6556243"/>
              <a:ext cx="513588" cy="3017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641079" y="6644639"/>
              <a:ext cx="502920" cy="1828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41079" y="6644639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209800" y="1671827"/>
              <a:ext cx="4681728" cy="4424172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138932" y="1148841"/>
            <a:ext cx="283337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95" dirty="0">
                <a:solidFill>
                  <a:srgbClr val="C00000"/>
                </a:solidFill>
                <a:latin typeface="Arial"/>
                <a:cs typeface="Arial"/>
              </a:rPr>
              <a:t>2-Bit </a:t>
            </a:r>
            <a:r>
              <a:rPr sz="2000" b="1" spc="-200" dirty="0">
                <a:solidFill>
                  <a:srgbClr val="C00000"/>
                </a:solidFill>
                <a:latin typeface="Arial"/>
                <a:cs typeface="Arial"/>
              </a:rPr>
              <a:t>Magnitude</a:t>
            </a:r>
            <a:r>
              <a:rPr sz="2000" b="1" spc="-3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200" dirty="0">
                <a:solidFill>
                  <a:srgbClr val="C00000"/>
                </a:solidFill>
                <a:latin typeface="Arial"/>
                <a:cs typeface="Arial"/>
              </a:rPr>
              <a:t>Comparator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96234" y="6224746"/>
            <a:ext cx="2504440" cy="5988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3060">
              <a:lnSpc>
                <a:spcPts val="1995"/>
              </a:lnSpc>
            </a:pPr>
            <a:r>
              <a:rPr sz="2000" b="1" spc="-245" dirty="0">
                <a:latin typeface="Arial"/>
                <a:cs typeface="Arial"/>
              </a:rPr>
              <a:t>Logic</a:t>
            </a:r>
            <a:r>
              <a:rPr sz="2000" b="1" spc="-60" dirty="0">
                <a:latin typeface="Arial"/>
                <a:cs typeface="Arial"/>
              </a:rPr>
              <a:t> </a:t>
            </a:r>
            <a:r>
              <a:rPr sz="2000" b="1" spc="-225" dirty="0">
                <a:latin typeface="Arial"/>
                <a:cs typeface="Arial"/>
              </a:rPr>
              <a:t>Diagram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sz="1000" b="1" spc="10" dirty="0">
                <a:solidFill>
                  <a:srgbClr val="C00000"/>
                </a:solidFill>
                <a:latin typeface="Arial"/>
                <a:cs typeface="Arial"/>
              </a:rPr>
              <a:t>BECE102L </a:t>
            </a:r>
            <a:r>
              <a:rPr sz="1000" b="1" spc="-60" dirty="0">
                <a:solidFill>
                  <a:srgbClr val="C00000"/>
                </a:solidFill>
                <a:latin typeface="Arial"/>
                <a:cs typeface="Arial"/>
              </a:rPr>
              <a:t>– </a:t>
            </a: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DIGITAL </a:t>
            </a:r>
            <a:r>
              <a:rPr sz="1000" b="1" spc="-10" dirty="0">
                <a:solidFill>
                  <a:srgbClr val="C00000"/>
                </a:solidFill>
                <a:latin typeface="Arial"/>
                <a:cs typeface="Arial"/>
              </a:rPr>
              <a:t>SYSTEM</a:t>
            </a:r>
            <a:r>
              <a:rPr sz="1000" b="1" spc="9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000" b="1" spc="5" dirty="0">
                <a:solidFill>
                  <a:srgbClr val="C00000"/>
                </a:solidFill>
                <a:latin typeface="Arial"/>
                <a:cs typeface="Arial"/>
              </a:rPr>
              <a:t>DESIGN</a:t>
            </a:r>
            <a:endParaRPr sz="100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130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1938527" y="202679"/>
              <a:ext cx="5260848" cy="9342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212594" y="321386"/>
            <a:ext cx="471741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30" dirty="0"/>
              <a:t>MAGNITUDE</a:t>
            </a:r>
            <a:r>
              <a:rPr spc="-80" dirty="0"/>
              <a:t> </a:t>
            </a:r>
            <a:r>
              <a:rPr spc="-114" dirty="0"/>
              <a:t>COMPARATOR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sp>
          <p:nvSpPr>
            <p:cNvPr id="8" name="object 8"/>
            <p:cNvSpPr/>
            <p:nvPr/>
          </p:nvSpPr>
          <p:spPr>
            <a:xfrm>
              <a:off x="8593835" y="6620255"/>
              <a:ext cx="550164" cy="23774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630411" y="6556243"/>
              <a:ext cx="513588" cy="3017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69240" y="1047999"/>
            <a:ext cx="8453120" cy="484060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2806065">
              <a:lnSpc>
                <a:spcPct val="100000"/>
              </a:lnSpc>
              <a:spcBef>
                <a:spcPts val="894"/>
              </a:spcBef>
            </a:pPr>
            <a:r>
              <a:rPr sz="2000" b="1" spc="-195" dirty="0">
                <a:solidFill>
                  <a:srgbClr val="C00000"/>
                </a:solidFill>
                <a:latin typeface="Arial"/>
                <a:cs typeface="Arial"/>
              </a:rPr>
              <a:t>4-Bit </a:t>
            </a:r>
            <a:r>
              <a:rPr sz="2000" b="1" spc="-200" dirty="0">
                <a:solidFill>
                  <a:srgbClr val="C00000"/>
                </a:solidFill>
                <a:latin typeface="Arial"/>
                <a:cs typeface="Arial"/>
              </a:rPr>
              <a:t>Magnitude</a:t>
            </a:r>
            <a:r>
              <a:rPr sz="2000" b="1" spc="-26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200" dirty="0">
                <a:solidFill>
                  <a:srgbClr val="C00000"/>
                </a:solidFill>
                <a:latin typeface="Arial"/>
                <a:cs typeface="Arial"/>
              </a:rPr>
              <a:t>Comparator</a:t>
            </a:r>
            <a:endParaRPr sz="2000">
              <a:latin typeface="Arial"/>
              <a:cs typeface="Arial"/>
            </a:endParaRPr>
          </a:p>
          <a:p>
            <a:pPr marL="514984" marR="42545" indent="-464820" algn="just">
              <a:lnSpc>
                <a:spcPct val="100000"/>
              </a:lnSpc>
              <a:spcBef>
                <a:spcPts val="1110"/>
              </a:spcBef>
              <a:buClr>
                <a:srgbClr val="F79546"/>
              </a:buClr>
              <a:buFont typeface="Wingdings"/>
              <a:buChar char=""/>
              <a:tabLst>
                <a:tab pos="515620" algn="l"/>
              </a:tabLst>
            </a:pP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Let </a:t>
            </a:r>
            <a:r>
              <a:rPr sz="2800" spc="-360" dirty="0">
                <a:solidFill>
                  <a:srgbClr val="006FC0"/>
                </a:solidFill>
                <a:latin typeface="Arial"/>
                <a:cs typeface="Arial"/>
              </a:rPr>
              <a:t>us </a:t>
            </a:r>
            <a:r>
              <a:rPr sz="2800" spc="-210" dirty="0">
                <a:solidFill>
                  <a:srgbClr val="006FC0"/>
                </a:solidFill>
                <a:latin typeface="Arial"/>
                <a:cs typeface="Arial"/>
              </a:rPr>
              <a:t>consider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25" dirty="0">
                <a:solidFill>
                  <a:srgbClr val="006FC0"/>
                </a:solidFill>
                <a:latin typeface="Arial"/>
                <a:cs typeface="Arial"/>
              </a:rPr>
              <a:t>two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binary 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numbers </a:t>
            </a:r>
            <a:r>
              <a:rPr sz="2800" spc="135" dirty="0">
                <a:latin typeface="Arial"/>
                <a:cs typeface="Arial"/>
              </a:rPr>
              <a:t>A </a:t>
            </a:r>
            <a:r>
              <a:rPr sz="2800" spc="-254" dirty="0">
                <a:latin typeface="Arial"/>
                <a:cs typeface="Arial"/>
              </a:rPr>
              <a:t>and </a:t>
            </a:r>
            <a:r>
              <a:rPr sz="2800" spc="-425" dirty="0">
                <a:latin typeface="Arial"/>
                <a:cs typeface="Arial"/>
              </a:rPr>
              <a:t>B </a:t>
            </a:r>
            <a:r>
              <a:rPr sz="2800" spc="-110" dirty="0">
                <a:latin typeface="Arial"/>
                <a:cs typeface="Arial"/>
              </a:rPr>
              <a:t>with  </a:t>
            </a:r>
            <a:r>
              <a:rPr sz="2800" spc="-90" dirty="0">
                <a:latin typeface="Arial"/>
                <a:cs typeface="Arial"/>
              </a:rPr>
              <a:t>four </a:t>
            </a:r>
            <a:r>
              <a:rPr sz="2800" spc="-170" dirty="0">
                <a:latin typeface="Arial"/>
                <a:cs typeface="Arial"/>
              </a:rPr>
              <a:t>digits </a:t>
            </a:r>
            <a:r>
              <a:rPr sz="2800" spc="-270" dirty="0">
                <a:solidFill>
                  <a:srgbClr val="006FC0"/>
                </a:solidFill>
                <a:latin typeface="Arial"/>
                <a:cs typeface="Arial"/>
              </a:rPr>
              <a:t>each. </a:t>
            </a:r>
            <a:r>
              <a:rPr sz="2800" spc="-120" dirty="0">
                <a:solidFill>
                  <a:srgbClr val="006FC0"/>
                </a:solidFill>
                <a:latin typeface="Arial"/>
                <a:cs typeface="Arial"/>
              </a:rPr>
              <a:t>Write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40" dirty="0">
                <a:solidFill>
                  <a:srgbClr val="006FC0"/>
                </a:solidFill>
                <a:latin typeface="Arial"/>
                <a:cs typeface="Arial"/>
              </a:rPr>
              <a:t>coefficient 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245" dirty="0">
                <a:solidFill>
                  <a:srgbClr val="006FC0"/>
                </a:solidFill>
                <a:latin typeface="Arial"/>
                <a:cs typeface="Arial"/>
              </a:rPr>
              <a:t>numbers </a:t>
            </a:r>
            <a:r>
              <a:rPr sz="2800" spc="-110" dirty="0">
                <a:solidFill>
                  <a:srgbClr val="006FC0"/>
                </a:solidFill>
                <a:latin typeface="Arial"/>
                <a:cs typeface="Arial"/>
              </a:rPr>
              <a:t>in  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descending </a:t>
            </a:r>
            <a:r>
              <a:rPr sz="2800" spc="-135" dirty="0">
                <a:solidFill>
                  <a:srgbClr val="006FC0"/>
                </a:solidFill>
                <a:latin typeface="Arial"/>
                <a:cs typeface="Arial"/>
              </a:rPr>
              <a:t>order</a:t>
            </a:r>
            <a:r>
              <a:rPr sz="2800" spc="-29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360" dirty="0">
                <a:solidFill>
                  <a:srgbClr val="006FC0"/>
                </a:solidFill>
                <a:latin typeface="Arial"/>
                <a:cs typeface="Arial"/>
              </a:rPr>
              <a:t>as,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F79546"/>
              </a:buClr>
              <a:buFont typeface="Wingdings"/>
              <a:buChar char=""/>
            </a:pPr>
            <a:endParaRPr sz="2900">
              <a:latin typeface="Arial"/>
              <a:cs typeface="Arial"/>
            </a:endParaRPr>
          </a:p>
          <a:p>
            <a:pPr marL="2794635" marR="3559810">
              <a:lnSpc>
                <a:spcPct val="100000"/>
              </a:lnSpc>
              <a:spcBef>
                <a:spcPts val="5"/>
              </a:spcBef>
            </a:pPr>
            <a:r>
              <a:rPr sz="2800" b="1" spc="-20" dirty="0">
                <a:solidFill>
                  <a:srgbClr val="006FC0"/>
                </a:solidFill>
                <a:latin typeface="Arial"/>
                <a:cs typeface="Arial"/>
              </a:rPr>
              <a:t>A </a:t>
            </a:r>
            <a:r>
              <a:rPr sz="2800" b="1" spc="70" dirty="0">
                <a:solidFill>
                  <a:srgbClr val="006FC0"/>
                </a:solidFill>
                <a:latin typeface="Arial"/>
                <a:cs typeface="Arial"/>
              </a:rPr>
              <a:t>=</a:t>
            </a:r>
            <a:r>
              <a:rPr sz="2800" b="1" spc="-6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b="1" spc="-130" dirty="0">
                <a:solidFill>
                  <a:srgbClr val="006FC0"/>
                </a:solidFill>
                <a:latin typeface="Arial"/>
                <a:cs typeface="Arial"/>
              </a:rPr>
              <a:t>A</a:t>
            </a:r>
            <a:r>
              <a:rPr sz="2775" b="1" spc="-195" baseline="-21021" dirty="0">
                <a:solidFill>
                  <a:srgbClr val="006FC0"/>
                </a:solidFill>
                <a:latin typeface="Arial"/>
                <a:cs typeface="Arial"/>
              </a:rPr>
              <a:t>3</a:t>
            </a:r>
            <a:r>
              <a:rPr sz="2800" b="1" spc="-130" dirty="0">
                <a:solidFill>
                  <a:srgbClr val="006FC0"/>
                </a:solidFill>
                <a:latin typeface="Arial"/>
                <a:cs typeface="Arial"/>
              </a:rPr>
              <a:t>A</a:t>
            </a:r>
            <a:r>
              <a:rPr sz="2775" b="1" spc="-195" baseline="-21021" dirty="0">
                <a:solidFill>
                  <a:srgbClr val="006FC0"/>
                </a:solidFill>
                <a:latin typeface="Arial"/>
                <a:cs typeface="Arial"/>
              </a:rPr>
              <a:t>2</a:t>
            </a:r>
            <a:r>
              <a:rPr sz="2800" b="1" spc="-130" dirty="0">
                <a:solidFill>
                  <a:srgbClr val="006FC0"/>
                </a:solidFill>
                <a:latin typeface="Arial"/>
                <a:cs typeface="Arial"/>
              </a:rPr>
              <a:t>A</a:t>
            </a:r>
            <a:r>
              <a:rPr sz="2775" b="1" spc="-195" baseline="-21021" dirty="0">
                <a:solidFill>
                  <a:srgbClr val="006FC0"/>
                </a:solidFill>
                <a:latin typeface="Arial"/>
                <a:cs typeface="Arial"/>
              </a:rPr>
              <a:t>1</a:t>
            </a:r>
            <a:r>
              <a:rPr sz="2800" b="1" spc="-130" dirty="0">
                <a:solidFill>
                  <a:srgbClr val="006FC0"/>
                </a:solidFill>
                <a:latin typeface="Arial"/>
                <a:cs typeface="Arial"/>
              </a:rPr>
              <a:t>A</a:t>
            </a:r>
            <a:r>
              <a:rPr sz="2775" b="1" spc="-195" baseline="-21021" dirty="0">
                <a:solidFill>
                  <a:srgbClr val="006FC0"/>
                </a:solidFill>
                <a:latin typeface="Arial"/>
                <a:cs typeface="Arial"/>
              </a:rPr>
              <a:t>0  </a:t>
            </a:r>
            <a:r>
              <a:rPr sz="2800" b="1" spc="-580" dirty="0">
                <a:solidFill>
                  <a:srgbClr val="006FC0"/>
                </a:solidFill>
                <a:latin typeface="Arial"/>
                <a:cs typeface="Arial"/>
              </a:rPr>
              <a:t>B </a:t>
            </a:r>
            <a:r>
              <a:rPr sz="2800" b="1" spc="70" dirty="0">
                <a:solidFill>
                  <a:srgbClr val="006FC0"/>
                </a:solidFill>
                <a:latin typeface="Arial"/>
                <a:cs typeface="Arial"/>
              </a:rPr>
              <a:t>= </a:t>
            </a:r>
            <a:r>
              <a:rPr sz="2800" b="1" spc="-415" dirty="0">
                <a:solidFill>
                  <a:srgbClr val="006FC0"/>
                </a:solidFill>
                <a:latin typeface="Arial"/>
                <a:cs typeface="Arial"/>
              </a:rPr>
              <a:t>B</a:t>
            </a:r>
            <a:r>
              <a:rPr sz="2775" b="1" spc="-622" baseline="-21021" dirty="0">
                <a:solidFill>
                  <a:srgbClr val="006FC0"/>
                </a:solidFill>
                <a:latin typeface="Arial"/>
                <a:cs typeface="Arial"/>
              </a:rPr>
              <a:t>3 </a:t>
            </a:r>
            <a:r>
              <a:rPr sz="2800" b="1" spc="-415" dirty="0">
                <a:solidFill>
                  <a:srgbClr val="006FC0"/>
                </a:solidFill>
                <a:latin typeface="Arial"/>
                <a:cs typeface="Arial"/>
              </a:rPr>
              <a:t>B</a:t>
            </a:r>
            <a:r>
              <a:rPr sz="2775" b="1" spc="-622" baseline="-21021" dirty="0">
                <a:solidFill>
                  <a:srgbClr val="006FC0"/>
                </a:solidFill>
                <a:latin typeface="Arial"/>
                <a:cs typeface="Arial"/>
              </a:rPr>
              <a:t>2 </a:t>
            </a:r>
            <a:r>
              <a:rPr sz="2800" b="1" spc="-415" dirty="0">
                <a:solidFill>
                  <a:srgbClr val="006FC0"/>
                </a:solidFill>
                <a:latin typeface="Arial"/>
                <a:cs typeface="Arial"/>
              </a:rPr>
              <a:t>B</a:t>
            </a:r>
            <a:r>
              <a:rPr sz="2775" b="1" spc="-622" baseline="-21021" dirty="0">
                <a:solidFill>
                  <a:srgbClr val="006FC0"/>
                </a:solidFill>
                <a:latin typeface="Arial"/>
                <a:cs typeface="Arial"/>
              </a:rPr>
              <a:t>1</a:t>
            </a:r>
            <a:r>
              <a:rPr sz="2775" b="1" spc="-487" baseline="-21021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b="1" spc="-415" dirty="0">
                <a:solidFill>
                  <a:srgbClr val="006FC0"/>
                </a:solidFill>
                <a:latin typeface="Arial"/>
                <a:cs typeface="Arial"/>
              </a:rPr>
              <a:t>B</a:t>
            </a:r>
            <a:r>
              <a:rPr sz="2775" b="1" spc="-622" baseline="-21021" dirty="0">
                <a:solidFill>
                  <a:srgbClr val="006FC0"/>
                </a:solidFill>
                <a:latin typeface="Arial"/>
                <a:cs typeface="Arial"/>
              </a:rPr>
              <a:t>0</a:t>
            </a:r>
            <a:endParaRPr sz="2775" baseline="-21021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00">
              <a:latin typeface="Arial"/>
              <a:cs typeface="Arial"/>
            </a:endParaRPr>
          </a:p>
          <a:p>
            <a:pPr marL="514984" marR="43180" indent="-464820" algn="just">
              <a:lnSpc>
                <a:spcPct val="100000"/>
              </a:lnSpc>
              <a:buClr>
                <a:srgbClr val="F79546"/>
              </a:buClr>
              <a:buFont typeface="Wingdings"/>
              <a:buChar char=""/>
              <a:tabLst>
                <a:tab pos="515620" algn="l"/>
              </a:tabLst>
            </a:pPr>
            <a:r>
              <a:rPr sz="2800" spc="-330" dirty="0">
                <a:solidFill>
                  <a:srgbClr val="006FC0"/>
                </a:solidFill>
                <a:latin typeface="Arial"/>
                <a:cs typeface="Arial"/>
              </a:rPr>
              <a:t>Each </a:t>
            </a:r>
            <a:r>
              <a:rPr sz="2800" spc="-215" dirty="0">
                <a:solidFill>
                  <a:srgbClr val="006FC0"/>
                </a:solidFill>
                <a:latin typeface="Arial"/>
                <a:cs typeface="Arial"/>
              </a:rPr>
              <a:t>subscripted </a:t>
            </a:r>
            <a:r>
              <a:rPr sz="2800" spc="-100" dirty="0">
                <a:solidFill>
                  <a:srgbClr val="006FC0"/>
                </a:solidFill>
                <a:latin typeface="Arial"/>
                <a:cs typeface="Arial"/>
              </a:rPr>
              <a:t>letter </a:t>
            </a:r>
            <a:r>
              <a:rPr sz="2800" spc="-240" dirty="0">
                <a:solidFill>
                  <a:srgbClr val="006FC0"/>
                </a:solidFill>
                <a:latin typeface="Arial"/>
                <a:cs typeface="Arial"/>
              </a:rPr>
              <a:t>represents </a:t>
            </a:r>
            <a:r>
              <a:rPr sz="2800" spc="-235" dirty="0">
                <a:solidFill>
                  <a:srgbClr val="006FC0"/>
                </a:solidFill>
                <a:latin typeface="Arial"/>
                <a:cs typeface="Arial"/>
              </a:rPr>
              <a:t>one 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digits </a:t>
            </a:r>
            <a:r>
              <a:rPr sz="2800" spc="-110" dirty="0">
                <a:solidFill>
                  <a:srgbClr val="006FC0"/>
                </a:solidFill>
                <a:latin typeface="Arial"/>
                <a:cs typeface="Arial"/>
              </a:rPr>
              <a:t>in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the  </a:t>
            </a:r>
            <a:r>
              <a:rPr sz="2800" spc="-200" dirty="0">
                <a:solidFill>
                  <a:srgbClr val="006FC0"/>
                </a:solidFill>
                <a:latin typeface="Arial"/>
                <a:cs typeface="Arial"/>
              </a:rPr>
              <a:t>number. </a:t>
            </a:r>
            <a:r>
              <a:rPr sz="2800" spc="35" dirty="0">
                <a:solidFill>
                  <a:srgbClr val="006FC0"/>
                </a:solidFill>
                <a:latin typeface="Arial"/>
                <a:cs typeface="Arial"/>
              </a:rPr>
              <a:t>It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800" spc="-240" dirty="0">
                <a:solidFill>
                  <a:srgbClr val="006FC0"/>
                </a:solidFill>
                <a:latin typeface="Arial"/>
                <a:cs typeface="Arial"/>
              </a:rPr>
              <a:t>observed</a:t>
            </a:r>
            <a:r>
              <a:rPr sz="2800" spc="29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100" dirty="0">
                <a:solidFill>
                  <a:srgbClr val="006FC0"/>
                </a:solidFill>
                <a:latin typeface="Arial"/>
                <a:cs typeface="Arial"/>
              </a:rPr>
              <a:t>from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55" dirty="0">
                <a:solidFill>
                  <a:srgbClr val="006FC0"/>
                </a:solidFill>
                <a:latin typeface="Arial"/>
                <a:cs typeface="Arial"/>
              </a:rPr>
              <a:t>bit </a:t>
            </a:r>
            <a:r>
              <a:rPr sz="2800" spc="-195" dirty="0">
                <a:solidFill>
                  <a:srgbClr val="006FC0"/>
                </a:solidFill>
                <a:latin typeface="Arial"/>
                <a:cs typeface="Arial"/>
              </a:rPr>
              <a:t>contents </a:t>
            </a:r>
            <a:r>
              <a:rPr sz="2800" spc="-80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125" dirty="0">
                <a:solidFill>
                  <a:srgbClr val="006FC0"/>
                </a:solidFill>
                <a:latin typeface="Arial"/>
                <a:cs typeface="Arial"/>
              </a:rPr>
              <a:t>two  </a:t>
            </a:r>
            <a:r>
              <a:rPr sz="2800" spc="-245" dirty="0">
                <a:solidFill>
                  <a:srgbClr val="006FC0"/>
                </a:solidFill>
                <a:latin typeface="Arial"/>
                <a:cs typeface="Arial"/>
              </a:rPr>
              <a:t>numbers </a:t>
            </a:r>
            <a:r>
              <a:rPr sz="2800" spc="-130" dirty="0">
                <a:solidFill>
                  <a:srgbClr val="006FC0"/>
                </a:solidFill>
                <a:latin typeface="Arial"/>
                <a:cs typeface="Arial"/>
              </a:rPr>
              <a:t>that </a:t>
            </a:r>
            <a:r>
              <a:rPr sz="2800" spc="135" dirty="0">
                <a:latin typeface="Arial"/>
                <a:cs typeface="Arial"/>
              </a:rPr>
              <a:t>A </a:t>
            </a:r>
            <a:r>
              <a:rPr sz="2800" spc="70" dirty="0">
                <a:latin typeface="Arial"/>
                <a:cs typeface="Arial"/>
              </a:rPr>
              <a:t>= </a:t>
            </a:r>
            <a:r>
              <a:rPr sz="2800" spc="-425" dirty="0">
                <a:latin typeface="Arial"/>
                <a:cs typeface="Arial"/>
              </a:rPr>
              <a:t>B </a:t>
            </a:r>
            <a:r>
              <a:rPr sz="2800" spc="-254" dirty="0">
                <a:latin typeface="Arial"/>
                <a:cs typeface="Arial"/>
              </a:rPr>
              <a:t>when </a:t>
            </a:r>
            <a:r>
              <a:rPr sz="2800" spc="-65" dirty="0">
                <a:latin typeface="Arial"/>
                <a:cs typeface="Arial"/>
              </a:rPr>
              <a:t>A</a:t>
            </a:r>
            <a:r>
              <a:rPr sz="2775" spc="-97" baseline="-21021" dirty="0">
                <a:latin typeface="Arial"/>
                <a:cs typeface="Arial"/>
              </a:rPr>
              <a:t>3 </a:t>
            </a:r>
            <a:r>
              <a:rPr sz="2800" spc="70" dirty="0">
                <a:latin typeface="Arial"/>
                <a:cs typeface="Arial"/>
              </a:rPr>
              <a:t>= </a:t>
            </a:r>
            <a:r>
              <a:rPr sz="2800" spc="-280" dirty="0">
                <a:latin typeface="Arial"/>
                <a:cs typeface="Arial"/>
              </a:rPr>
              <a:t>B</a:t>
            </a:r>
            <a:r>
              <a:rPr sz="2775" spc="-419" baseline="-21021" dirty="0">
                <a:latin typeface="Arial"/>
                <a:cs typeface="Arial"/>
              </a:rPr>
              <a:t>3</a:t>
            </a:r>
            <a:r>
              <a:rPr sz="2800" spc="-280" dirty="0">
                <a:latin typeface="Arial"/>
                <a:cs typeface="Arial"/>
              </a:rPr>
              <a:t>, </a:t>
            </a:r>
            <a:r>
              <a:rPr sz="2800" spc="-65" dirty="0">
                <a:latin typeface="Arial"/>
                <a:cs typeface="Arial"/>
              </a:rPr>
              <a:t>A</a:t>
            </a:r>
            <a:r>
              <a:rPr sz="2775" spc="-97" baseline="-21021" dirty="0">
                <a:latin typeface="Arial"/>
                <a:cs typeface="Arial"/>
              </a:rPr>
              <a:t>2 </a:t>
            </a:r>
            <a:r>
              <a:rPr sz="2800" spc="70" dirty="0">
                <a:latin typeface="Arial"/>
                <a:cs typeface="Arial"/>
              </a:rPr>
              <a:t>= </a:t>
            </a:r>
            <a:r>
              <a:rPr sz="2800" spc="-280" dirty="0">
                <a:latin typeface="Arial"/>
                <a:cs typeface="Arial"/>
              </a:rPr>
              <a:t>B</a:t>
            </a:r>
            <a:r>
              <a:rPr sz="2775" spc="-419" baseline="-21021" dirty="0">
                <a:latin typeface="Arial"/>
                <a:cs typeface="Arial"/>
              </a:rPr>
              <a:t>2</a:t>
            </a:r>
            <a:r>
              <a:rPr sz="2800" spc="-280" dirty="0">
                <a:latin typeface="Arial"/>
                <a:cs typeface="Arial"/>
              </a:rPr>
              <a:t>, </a:t>
            </a:r>
            <a:r>
              <a:rPr sz="2800" spc="-60" dirty="0">
                <a:latin typeface="Arial"/>
                <a:cs typeface="Arial"/>
              </a:rPr>
              <a:t>A</a:t>
            </a:r>
            <a:r>
              <a:rPr sz="2775" spc="-89" baseline="-21021" dirty="0">
                <a:latin typeface="Arial"/>
                <a:cs typeface="Arial"/>
              </a:rPr>
              <a:t>1 </a:t>
            </a:r>
            <a:r>
              <a:rPr sz="2800" spc="70" dirty="0">
                <a:latin typeface="Arial"/>
                <a:cs typeface="Arial"/>
              </a:rPr>
              <a:t>=</a:t>
            </a:r>
            <a:r>
              <a:rPr sz="2800" spc="330" dirty="0">
                <a:latin typeface="Arial"/>
                <a:cs typeface="Arial"/>
              </a:rPr>
              <a:t> </a:t>
            </a:r>
            <a:r>
              <a:rPr sz="2800" spc="-340" dirty="0">
                <a:latin typeface="Arial"/>
                <a:cs typeface="Arial"/>
              </a:rPr>
              <a:t>B</a:t>
            </a:r>
            <a:r>
              <a:rPr sz="2775" spc="-509" baseline="-21021" dirty="0">
                <a:latin typeface="Arial"/>
                <a:cs typeface="Arial"/>
              </a:rPr>
              <a:t>1 </a:t>
            </a:r>
            <a:r>
              <a:rPr sz="2800" spc="-254" dirty="0">
                <a:latin typeface="Arial"/>
                <a:cs typeface="Arial"/>
              </a:rPr>
              <a:t>and</a:t>
            </a:r>
            <a:endParaRPr sz="2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8739" y="5954462"/>
            <a:ext cx="1847850" cy="855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05485">
              <a:lnSpc>
                <a:spcPts val="2740"/>
              </a:lnSpc>
            </a:pPr>
            <a:r>
              <a:rPr sz="2800" spc="-60" dirty="0">
                <a:latin typeface="Arial"/>
                <a:cs typeface="Arial"/>
              </a:rPr>
              <a:t>A</a:t>
            </a:r>
            <a:r>
              <a:rPr sz="2775" spc="-89" baseline="-21021" dirty="0">
                <a:latin typeface="Arial"/>
                <a:cs typeface="Arial"/>
              </a:rPr>
              <a:t>0 </a:t>
            </a:r>
            <a:r>
              <a:rPr sz="2800" spc="70" dirty="0">
                <a:latin typeface="Arial"/>
                <a:cs typeface="Arial"/>
              </a:rPr>
              <a:t>=</a:t>
            </a:r>
            <a:r>
              <a:rPr sz="2800" spc="-215" dirty="0">
                <a:latin typeface="Arial"/>
                <a:cs typeface="Arial"/>
              </a:rPr>
              <a:t> </a:t>
            </a:r>
            <a:r>
              <a:rPr sz="2800" spc="-280" dirty="0">
                <a:latin typeface="Arial"/>
                <a:cs typeface="Arial"/>
              </a:rPr>
              <a:t>B</a:t>
            </a:r>
            <a:r>
              <a:rPr sz="2775" spc="-419" baseline="-21021" dirty="0">
                <a:latin typeface="Arial"/>
                <a:cs typeface="Arial"/>
              </a:rPr>
              <a:t>0</a:t>
            </a:r>
            <a:r>
              <a:rPr sz="2800" spc="-280" dirty="0">
                <a:solidFill>
                  <a:srgbClr val="006FC0"/>
                </a:solidFill>
                <a:latin typeface="Arial"/>
                <a:cs typeface="Arial"/>
              </a:rPr>
              <a:t>.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685"/>
              </a:spcBef>
            </a:pPr>
            <a:r>
              <a:rPr sz="1000" b="1" spc="20" dirty="0">
                <a:solidFill>
                  <a:srgbClr val="C00000"/>
                </a:solidFill>
                <a:latin typeface="Arial"/>
                <a:cs typeface="Arial"/>
              </a:rPr>
              <a:t>MODULE-</a:t>
            </a:r>
            <a:r>
              <a:rPr sz="1000" b="1" spc="8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000" b="1" spc="100" dirty="0">
                <a:solidFill>
                  <a:srgbClr val="C00000"/>
                </a:solidFill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131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1938527" y="202679"/>
              <a:ext cx="5260848" cy="9342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212594" y="321386"/>
            <a:ext cx="471741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30" dirty="0"/>
              <a:t>MAGNITUDE</a:t>
            </a:r>
            <a:r>
              <a:rPr spc="-80" dirty="0"/>
              <a:t> </a:t>
            </a:r>
            <a:r>
              <a:rPr spc="-114" dirty="0"/>
              <a:t>COMPARATOR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870828" y="3461992"/>
            <a:ext cx="2407285" cy="901700"/>
          </a:xfrm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L="12700" marR="5080">
              <a:lnSpc>
                <a:spcPts val="3360"/>
              </a:lnSpc>
              <a:spcBef>
                <a:spcPts val="359"/>
              </a:spcBef>
            </a:pPr>
            <a:r>
              <a:rPr sz="2800" spc="-55" dirty="0">
                <a:solidFill>
                  <a:srgbClr val="006FC0"/>
                </a:solidFill>
                <a:latin typeface="Arial"/>
                <a:cs typeface="Arial"/>
              </a:rPr>
              <a:t>for </a:t>
            </a:r>
            <a:r>
              <a:rPr sz="2950" i="1" spc="-50" dirty="0">
                <a:solidFill>
                  <a:srgbClr val="006FC0"/>
                </a:solidFill>
                <a:latin typeface="Arial"/>
                <a:cs typeface="Arial"/>
              </a:rPr>
              <a:t>i </a:t>
            </a:r>
            <a:r>
              <a:rPr sz="2800" spc="70" dirty="0">
                <a:solidFill>
                  <a:srgbClr val="006FC0"/>
                </a:solidFill>
                <a:latin typeface="Arial"/>
                <a:cs typeface="Arial"/>
              </a:rPr>
              <a:t>= </a:t>
            </a:r>
            <a:r>
              <a:rPr sz="2800" spc="-280" dirty="0">
                <a:solidFill>
                  <a:srgbClr val="006FC0"/>
                </a:solidFill>
                <a:latin typeface="Arial"/>
                <a:cs typeface="Arial"/>
              </a:rPr>
              <a:t>0, 1, 2, </a:t>
            </a:r>
            <a:r>
              <a:rPr sz="2800" spc="-400" dirty="0">
                <a:solidFill>
                  <a:srgbClr val="006FC0"/>
                </a:solidFill>
                <a:latin typeface="Arial"/>
                <a:cs typeface="Arial"/>
              </a:rPr>
              <a:t>3  </a:t>
            </a:r>
            <a:r>
              <a:rPr sz="2800" spc="-50" dirty="0">
                <a:solidFill>
                  <a:srgbClr val="006FC0"/>
                </a:solidFill>
                <a:latin typeface="Arial"/>
                <a:cs typeface="Arial"/>
              </a:rPr>
              <a:t>Or, </a:t>
            </a:r>
            <a:r>
              <a:rPr sz="2800" b="1" spc="-175" dirty="0">
                <a:solidFill>
                  <a:srgbClr val="006FC0"/>
                </a:solidFill>
                <a:latin typeface="Arial"/>
                <a:cs typeface="Arial"/>
              </a:rPr>
              <a:t>X</a:t>
            </a:r>
            <a:r>
              <a:rPr sz="2950" b="1" i="1" spc="-175" dirty="0">
                <a:solidFill>
                  <a:srgbClr val="006FC0"/>
                </a:solidFill>
                <a:latin typeface="Arial"/>
                <a:cs typeface="Arial"/>
              </a:rPr>
              <a:t>i </a:t>
            </a:r>
            <a:r>
              <a:rPr sz="2800" b="1" spc="-5" dirty="0">
                <a:solidFill>
                  <a:srgbClr val="006FC0"/>
                </a:solidFill>
                <a:latin typeface="Arial"/>
                <a:cs typeface="Arial"/>
              </a:rPr>
              <a:t>′ </a:t>
            </a:r>
            <a:r>
              <a:rPr sz="2800" b="1" spc="70" dirty="0">
                <a:solidFill>
                  <a:srgbClr val="006FC0"/>
                </a:solidFill>
                <a:latin typeface="Arial"/>
                <a:cs typeface="Arial"/>
              </a:rPr>
              <a:t>= </a:t>
            </a:r>
            <a:r>
              <a:rPr sz="2800" b="1" spc="-20" dirty="0">
                <a:solidFill>
                  <a:srgbClr val="006FC0"/>
                </a:solidFill>
                <a:latin typeface="Arial"/>
                <a:cs typeface="Arial"/>
              </a:rPr>
              <a:t>A </a:t>
            </a:r>
            <a:r>
              <a:rPr sz="2800" b="1" spc="-5" dirty="0">
                <a:solidFill>
                  <a:srgbClr val="006FC0"/>
                </a:solidFill>
                <a:latin typeface="Symbol"/>
                <a:cs typeface="Symbol"/>
              </a:rPr>
              <a:t></a:t>
            </a:r>
            <a:r>
              <a:rPr sz="2800" b="1" spc="14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800" b="1" spc="-580" dirty="0">
                <a:solidFill>
                  <a:srgbClr val="006FC0"/>
                </a:solidFill>
                <a:latin typeface="Arial"/>
                <a:cs typeface="Arial"/>
              </a:rPr>
              <a:t>B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48360" y="3907916"/>
            <a:ext cx="53022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45" dirty="0">
                <a:solidFill>
                  <a:srgbClr val="006FC0"/>
                </a:solidFill>
                <a:latin typeface="Arial"/>
                <a:cs typeface="Arial"/>
              </a:rPr>
              <a:t>Or,</a:t>
            </a:r>
            <a:endParaRPr sz="2800">
              <a:latin typeface="Arial"/>
              <a:cs typeface="Arial"/>
            </a:endParaRPr>
          </a:p>
          <a:p>
            <a:pPr marL="40005">
              <a:lnSpc>
                <a:spcPct val="100000"/>
              </a:lnSpc>
            </a:pPr>
            <a:r>
              <a:rPr sz="2800" spc="10" dirty="0">
                <a:solidFill>
                  <a:srgbClr val="006FC0"/>
                </a:solidFill>
                <a:latin typeface="Arial"/>
                <a:cs typeface="Arial"/>
              </a:rPr>
              <a:t>O</a:t>
            </a:r>
            <a:r>
              <a:rPr sz="2800" spc="5" dirty="0">
                <a:solidFill>
                  <a:srgbClr val="006FC0"/>
                </a:solidFill>
                <a:latin typeface="Arial"/>
                <a:cs typeface="Arial"/>
              </a:rPr>
              <a:t>r</a:t>
            </a:r>
            <a:r>
              <a:rPr sz="2800" spc="-160" dirty="0">
                <a:solidFill>
                  <a:srgbClr val="006FC0"/>
                </a:solidFill>
                <a:latin typeface="Arial"/>
                <a:cs typeface="Arial"/>
              </a:rPr>
              <a:t>,</a:t>
            </a:r>
            <a:endParaRPr sz="2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12594" y="3461992"/>
            <a:ext cx="3171825" cy="1328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450"/>
              </a:lnSpc>
              <a:spcBef>
                <a:spcPts val="95"/>
              </a:spcBef>
              <a:tabLst>
                <a:tab pos="1256030" algn="l"/>
                <a:tab pos="1715135" algn="l"/>
              </a:tabLst>
            </a:pPr>
            <a:r>
              <a:rPr sz="2800" b="1" spc="-175" dirty="0">
                <a:solidFill>
                  <a:srgbClr val="006FC0"/>
                </a:solidFill>
                <a:latin typeface="Arial"/>
                <a:cs typeface="Arial"/>
              </a:rPr>
              <a:t>X</a:t>
            </a:r>
            <a:r>
              <a:rPr sz="2950" b="1" i="1" spc="-175" dirty="0">
                <a:solidFill>
                  <a:srgbClr val="006FC0"/>
                </a:solidFill>
                <a:latin typeface="Arial"/>
                <a:cs typeface="Arial"/>
              </a:rPr>
              <a:t>i</a:t>
            </a:r>
            <a:r>
              <a:rPr sz="2950" b="1" i="1" spc="-6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b="1" spc="70" dirty="0">
                <a:solidFill>
                  <a:srgbClr val="006FC0"/>
                </a:solidFill>
                <a:latin typeface="Arial"/>
                <a:cs typeface="Arial"/>
              </a:rPr>
              <a:t>=</a:t>
            </a:r>
            <a:r>
              <a:rPr sz="2800" b="1" spc="1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b="1" spc="-114" dirty="0">
                <a:solidFill>
                  <a:srgbClr val="006FC0"/>
                </a:solidFill>
                <a:latin typeface="Arial"/>
                <a:cs typeface="Arial"/>
              </a:rPr>
              <a:t>A</a:t>
            </a:r>
            <a:r>
              <a:rPr sz="2950" b="1" i="1" spc="-114" dirty="0">
                <a:solidFill>
                  <a:srgbClr val="006FC0"/>
                </a:solidFill>
                <a:latin typeface="Arial"/>
                <a:cs typeface="Arial"/>
              </a:rPr>
              <a:t>i	</a:t>
            </a:r>
            <a:r>
              <a:rPr sz="2800" b="1" spc="-395" dirty="0">
                <a:solidFill>
                  <a:srgbClr val="006FC0"/>
                </a:solidFill>
                <a:latin typeface="Arial"/>
                <a:cs typeface="Arial"/>
              </a:rPr>
              <a:t>B</a:t>
            </a:r>
            <a:r>
              <a:rPr sz="2950" b="1" i="1" spc="-395" dirty="0">
                <a:solidFill>
                  <a:srgbClr val="006FC0"/>
                </a:solidFill>
                <a:latin typeface="Arial"/>
                <a:cs typeface="Arial"/>
              </a:rPr>
              <a:t>i	</a:t>
            </a:r>
            <a:r>
              <a:rPr sz="2800" b="1" spc="70" dirty="0">
                <a:solidFill>
                  <a:srgbClr val="006FC0"/>
                </a:solidFill>
                <a:latin typeface="Arial"/>
                <a:cs typeface="Arial"/>
              </a:rPr>
              <a:t>+ </a:t>
            </a:r>
            <a:r>
              <a:rPr sz="2800" b="1" spc="-114" dirty="0">
                <a:solidFill>
                  <a:srgbClr val="006FC0"/>
                </a:solidFill>
                <a:latin typeface="Arial"/>
                <a:cs typeface="Arial"/>
              </a:rPr>
              <a:t>A</a:t>
            </a:r>
            <a:r>
              <a:rPr sz="2950" b="1" i="1" spc="-114" dirty="0">
                <a:solidFill>
                  <a:srgbClr val="006FC0"/>
                </a:solidFill>
                <a:latin typeface="Arial"/>
                <a:cs typeface="Arial"/>
              </a:rPr>
              <a:t>i </a:t>
            </a:r>
            <a:r>
              <a:rPr sz="2800" b="1" spc="-5" dirty="0">
                <a:solidFill>
                  <a:srgbClr val="006FC0"/>
                </a:solidFill>
                <a:latin typeface="Arial"/>
                <a:cs typeface="Arial"/>
              </a:rPr>
              <a:t>′ </a:t>
            </a:r>
            <a:r>
              <a:rPr sz="2800" b="1" spc="-395" dirty="0">
                <a:solidFill>
                  <a:srgbClr val="006FC0"/>
                </a:solidFill>
                <a:latin typeface="Arial"/>
                <a:cs typeface="Arial"/>
              </a:rPr>
              <a:t>B</a:t>
            </a:r>
            <a:r>
              <a:rPr sz="2950" b="1" i="1" spc="-395" dirty="0">
                <a:solidFill>
                  <a:srgbClr val="006FC0"/>
                </a:solidFill>
                <a:latin typeface="Arial"/>
                <a:cs typeface="Arial"/>
              </a:rPr>
              <a:t>i</a:t>
            </a:r>
            <a:r>
              <a:rPr sz="2950" b="1" i="1" spc="-114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006FC0"/>
                </a:solidFill>
                <a:latin typeface="Arial"/>
                <a:cs typeface="Arial"/>
              </a:rPr>
              <a:t>′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ts val="3360"/>
              </a:lnSpc>
            </a:pPr>
            <a:r>
              <a:rPr sz="2800" b="1" spc="-175" dirty="0">
                <a:solidFill>
                  <a:srgbClr val="006FC0"/>
                </a:solidFill>
                <a:latin typeface="Arial"/>
                <a:cs typeface="Arial"/>
              </a:rPr>
              <a:t>X</a:t>
            </a:r>
            <a:r>
              <a:rPr sz="2950" b="1" i="1" spc="-175" dirty="0">
                <a:solidFill>
                  <a:srgbClr val="006FC0"/>
                </a:solidFill>
                <a:latin typeface="Arial"/>
                <a:cs typeface="Arial"/>
              </a:rPr>
              <a:t>i </a:t>
            </a:r>
            <a:r>
              <a:rPr sz="2800" b="1" spc="70" dirty="0">
                <a:solidFill>
                  <a:srgbClr val="006FC0"/>
                </a:solidFill>
                <a:latin typeface="Arial"/>
                <a:cs typeface="Arial"/>
              </a:rPr>
              <a:t>= </a:t>
            </a:r>
            <a:r>
              <a:rPr sz="2800" spc="-130" dirty="0">
                <a:solidFill>
                  <a:srgbClr val="006FC0"/>
                </a:solidFill>
                <a:latin typeface="Arial"/>
                <a:cs typeface="Arial"/>
              </a:rPr>
              <a:t>(</a:t>
            </a:r>
            <a:r>
              <a:rPr sz="2800" b="1" spc="-130" dirty="0">
                <a:solidFill>
                  <a:srgbClr val="006FC0"/>
                </a:solidFill>
                <a:latin typeface="Arial"/>
                <a:cs typeface="Arial"/>
              </a:rPr>
              <a:t>A </a:t>
            </a:r>
            <a:r>
              <a:rPr sz="2800" b="1" spc="-5" dirty="0">
                <a:solidFill>
                  <a:srgbClr val="006FC0"/>
                </a:solidFill>
                <a:latin typeface="Symbol"/>
                <a:cs typeface="Symbol"/>
              </a:rPr>
              <a:t></a:t>
            </a:r>
            <a:r>
              <a:rPr sz="2800" b="1" spc="24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800" b="1" spc="-275" dirty="0">
                <a:solidFill>
                  <a:srgbClr val="006FC0"/>
                </a:solidFill>
                <a:latin typeface="Arial"/>
                <a:cs typeface="Arial"/>
              </a:rPr>
              <a:t>B</a:t>
            </a:r>
            <a:r>
              <a:rPr sz="2800" spc="-275" dirty="0">
                <a:solidFill>
                  <a:srgbClr val="006FC0"/>
                </a:solidFill>
                <a:latin typeface="Arial"/>
                <a:cs typeface="Arial"/>
              </a:rPr>
              <a:t>)′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ts val="3450"/>
              </a:lnSpc>
            </a:pPr>
            <a:r>
              <a:rPr sz="2800" b="1" spc="-175" dirty="0">
                <a:latin typeface="Arial"/>
                <a:cs typeface="Arial"/>
              </a:rPr>
              <a:t>X</a:t>
            </a:r>
            <a:r>
              <a:rPr sz="2950" b="1" i="1" spc="-175" dirty="0">
                <a:latin typeface="Arial"/>
                <a:cs typeface="Arial"/>
              </a:rPr>
              <a:t>i </a:t>
            </a:r>
            <a:r>
              <a:rPr sz="2800" b="1" spc="70" dirty="0">
                <a:latin typeface="Arial"/>
                <a:cs typeface="Arial"/>
              </a:rPr>
              <a:t>= </a:t>
            </a:r>
            <a:r>
              <a:rPr sz="2800" b="1" spc="-150" dirty="0">
                <a:latin typeface="Arial"/>
                <a:cs typeface="Arial"/>
              </a:rPr>
              <a:t>(A</a:t>
            </a:r>
            <a:r>
              <a:rPr sz="2950" b="1" i="1" spc="-150" dirty="0">
                <a:latin typeface="Arial"/>
                <a:cs typeface="Arial"/>
              </a:rPr>
              <a:t>i </a:t>
            </a:r>
            <a:r>
              <a:rPr sz="2800" b="1" spc="-395" dirty="0">
                <a:latin typeface="Arial"/>
                <a:cs typeface="Arial"/>
              </a:rPr>
              <a:t>B</a:t>
            </a:r>
            <a:r>
              <a:rPr sz="2950" b="1" i="1" spc="-395" dirty="0">
                <a:latin typeface="Arial"/>
                <a:cs typeface="Arial"/>
              </a:rPr>
              <a:t>i </a:t>
            </a:r>
            <a:r>
              <a:rPr sz="2800" b="1" spc="-5" dirty="0">
                <a:latin typeface="Arial"/>
                <a:cs typeface="Arial"/>
              </a:rPr>
              <a:t>′ </a:t>
            </a:r>
            <a:r>
              <a:rPr sz="2800" b="1" spc="70" dirty="0">
                <a:latin typeface="Arial"/>
                <a:cs typeface="Arial"/>
              </a:rPr>
              <a:t>+ </a:t>
            </a:r>
            <a:r>
              <a:rPr sz="2800" b="1" spc="-110" dirty="0">
                <a:latin typeface="Arial"/>
                <a:cs typeface="Arial"/>
              </a:rPr>
              <a:t>A</a:t>
            </a:r>
            <a:r>
              <a:rPr sz="2950" b="1" i="1" spc="-110" dirty="0">
                <a:latin typeface="Arial"/>
                <a:cs typeface="Arial"/>
              </a:rPr>
              <a:t>i </a:t>
            </a:r>
            <a:r>
              <a:rPr sz="2800" b="1" spc="-265" dirty="0">
                <a:latin typeface="Arial"/>
                <a:cs typeface="Arial"/>
              </a:rPr>
              <a:t>′B</a:t>
            </a:r>
            <a:r>
              <a:rPr sz="2950" b="1" i="1" spc="-265" dirty="0">
                <a:latin typeface="Arial"/>
                <a:cs typeface="Arial"/>
              </a:rPr>
              <a:t>i</a:t>
            </a:r>
            <a:r>
              <a:rPr sz="2950" b="1" i="1" spc="-25" dirty="0">
                <a:latin typeface="Arial"/>
                <a:cs typeface="Arial"/>
              </a:rPr>
              <a:t> </a:t>
            </a:r>
            <a:r>
              <a:rPr sz="2800" b="1" spc="-114" dirty="0">
                <a:latin typeface="Arial"/>
                <a:cs typeface="Arial"/>
              </a:rPr>
              <a:t>)′</a:t>
            </a:r>
            <a:endParaRPr sz="2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48360" y="5161633"/>
            <a:ext cx="7912100" cy="897890"/>
          </a:xfrm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L="12700" marR="5080">
              <a:lnSpc>
                <a:spcPts val="3360"/>
              </a:lnSpc>
              <a:spcBef>
                <a:spcPts val="359"/>
              </a:spcBef>
              <a:tabLst>
                <a:tab pos="1228725" algn="l"/>
                <a:tab pos="1681480" algn="l"/>
                <a:tab pos="2202815" algn="l"/>
                <a:tab pos="2946400" algn="l"/>
                <a:tab pos="3280410" algn="l"/>
                <a:tab pos="3867150" algn="l"/>
                <a:tab pos="4545330" algn="l"/>
                <a:tab pos="4979670" algn="l"/>
                <a:tab pos="5604510" algn="l"/>
                <a:tab pos="6008370" algn="l"/>
                <a:tab pos="7246620" algn="l"/>
                <a:tab pos="7478395" algn="l"/>
              </a:tabLst>
            </a:pP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w</a:t>
            </a:r>
            <a:r>
              <a:rPr sz="2800" spc="-285" dirty="0">
                <a:solidFill>
                  <a:srgbClr val="006FC0"/>
                </a:solidFill>
                <a:latin typeface="Arial"/>
                <a:cs typeface="Arial"/>
              </a:rPr>
              <a:t>h</a:t>
            </a:r>
            <a:r>
              <a:rPr sz="2800" spc="-275" dirty="0">
                <a:solidFill>
                  <a:srgbClr val="006FC0"/>
                </a:solidFill>
                <a:latin typeface="Arial"/>
                <a:cs typeface="Arial"/>
              </a:rPr>
              <a:t>e</a:t>
            </a:r>
            <a:r>
              <a:rPr sz="2800" spc="-135" dirty="0">
                <a:solidFill>
                  <a:srgbClr val="006FC0"/>
                </a:solidFill>
                <a:latin typeface="Arial"/>
                <a:cs typeface="Arial"/>
              </a:rPr>
              <a:t>r</a:t>
            </a:r>
            <a:r>
              <a:rPr sz="2800" spc="-215" dirty="0">
                <a:solidFill>
                  <a:srgbClr val="006FC0"/>
                </a:solidFill>
                <a:latin typeface="Arial"/>
                <a:cs typeface="Arial"/>
              </a:rPr>
              <a:t>e</a:t>
            </a:r>
            <a:r>
              <a:rPr sz="2800" spc="-160" dirty="0">
                <a:solidFill>
                  <a:srgbClr val="006FC0"/>
                </a:solidFill>
                <a:latin typeface="Arial"/>
                <a:cs typeface="Arial"/>
              </a:rPr>
              <a:t>,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145" dirty="0">
                <a:solidFill>
                  <a:srgbClr val="006FC0"/>
                </a:solidFill>
                <a:latin typeface="Arial"/>
                <a:cs typeface="Arial"/>
              </a:rPr>
              <a:t>X</a:t>
            </a:r>
            <a:r>
              <a:rPr sz="2950" i="1" spc="-50" dirty="0">
                <a:solidFill>
                  <a:srgbClr val="006FC0"/>
                </a:solidFill>
                <a:latin typeface="Arial"/>
                <a:cs typeface="Arial"/>
              </a:rPr>
              <a:t>i</a:t>
            </a:r>
            <a:r>
              <a:rPr sz="2950" i="1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950" i="1" spc="-25" dirty="0">
                <a:solidFill>
                  <a:srgbClr val="006FC0"/>
                </a:solidFill>
                <a:latin typeface="Arial"/>
                <a:cs typeface="Arial"/>
              </a:rPr>
              <a:t>=</a:t>
            </a:r>
            <a:r>
              <a:rPr sz="2950" i="1" spc="-484" dirty="0">
                <a:solidFill>
                  <a:srgbClr val="006FC0"/>
                </a:solidFill>
                <a:latin typeface="Arial"/>
                <a:cs typeface="Arial"/>
              </a:rPr>
              <a:t>1</a:t>
            </a:r>
            <a:r>
              <a:rPr sz="2950" i="1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135" dirty="0">
                <a:solidFill>
                  <a:srgbClr val="006FC0"/>
                </a:solidFill>
                <a:latin typeface="Arial"/>
                <a:cs typeface="Arial"/>
              </a:rPr>
              <a:t>only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15" dirty="0">
                <a:solidFill>
                  <a:srgbClr val="006FC0"/>
                </a:solidFill>
                <a:latin typeface="Arial"/>
                <a:cs typeface="Arial"/>
              </a:rPr>
              <a:t>i</a:t>
            </a:r>
            <a:r>
              <a:rPr sz="2800" spc="-5" dirty="0">
                <a:solidFill>
                  <a:srgbClr val="006FC0"/>
                </a:solidFill>
                <a:latin typeface="Arial"/>
                <a:cs typeface="Arial"/>
              </a:rPr>
              <a:t>f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45" dirty="0">
                <a:solidFill>
                  <a:srgbClr val="006FC0"/>
                </a:solidFill>
                <a:latin typeface="Arial"/>
                <a:cs typeface="Arial"/>
              </a:rPr>
              <a:t>t</a:t>
            </a:r>
            <a:r>
              <a:rPr sz="2800" spc="-285" dirty="0">
                <a:solidFill>
                  <a:srgbClr val="006FC0"/>
                </a:solidFill>
                <a:latin typeface="Arial"/>
                <a:cs typeface="Arial"/>
              </a:rPr>
              <a:t>h</a:t>
            </a:r>
            <a:r>
              <a:rPr sz="2800" spc="-280" dirty="0">
                <a:solidFill>
                  <a:srgbClr val="006FC0"/>
                </a:solidFill>
                <a:latin typeface="Arial"/>
                <a:cs typeface="Arial"/>
              </a:rPr>
              <a:t>e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240" dirty="0">
                <a:solidFill>
                  <a:srgbClr val="006FC0"/>
                </a:solidFill>
                <a:latin typeface="Arial"/>
                <a:cs typeface="Arial"/>
              </a:rPr>
              <a:t>pa</a:t>
            </a:r>
            <a:r>
              <a:rPr sz="2800" spc="-90" dirty="0">
                <a:solidFill>
                  <a:srgbClr val="006FC0"/>
                </a:solidFill>
                <a:latin typeface="Arial"/>
                <a:cs typeface="Arial"/>
              </a:rPr>
              <a:t>i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r	</a:t>
            </a:r>
            <a:r>
              <a:rPr sz="2800" spc="-95" dirty="0">
                <a:solidFill>
                  <a:srgbClr val="006FC0"/>
                </a:solidFill>
                <a:latin typeface="Arial"/>
                <a:cs typeface="Arial"/>
              </a:rPr>
              <a:t>o</a:t>
            </a:r>
            <a:r>
              <a:rPr sz="2800" spc="-50" dirty="0">
                <a:solidFill>
                  <a:srgbClr val="006FC0"/>
                </a:solidFill>
                <a:latin typeface="Arial"/>
                <a:cs typeface="Arial"/>
              </a:rPr>
              <a:t>f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b</a:t>
            </a:r>
            <a:r>
              <a:rPr sz="2800" spc="-60" dirty="0">
                <a:solidFill>
                  <a:srgbClr val="006FC0"/>
                </a:solidFill>
                <a:latin typeface="Arial"/>
                <a:cs typeface="Arial"/>
              </a:rPr>
              <a:t>i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</a:t>
            </a:r>
            <a:r>
              <a:rPr sz="2800" spc="-295" dirty="0">
                <a:solidFill>
                  <a:srgbClr val="006FC0"/>
                </a:solidFill>
                <a:latin typeface="Arial"/>
                <a:cs typeface="Arial"/>
              </a:rPr>
              <a:t>s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60" dirty="0">
                <a:solidFill>
                  <a:srgbClr val="006FC0"/>
                </a:solidFill>
                <a:latin typeface="Arial"/>
                <a:cs typeface="Arial"/>
              </a:rPr>
              <a:t>i</a:t>
            </a:r>
            <a:r>
              <a:rPr sz="2800" spc="-160" dirty="0">
                <a:solidFill>
                  <a:srgbClr val="006FC0"/>
                </a:solidFill>
                <a:latin typeface="Arial"/>
                <a:cs typeface="Arial"/>
              </a:rPr>
              <a:t>n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160" dirty="0">
                <a:solidFill>
                  <a:srgbClr val="006FC0"/>
                </a:solidFill>
                <a:latin typeface="Arial"/>
                <a:cs typeface="Arial"/>
              </a:rPr>
              <a:t>p</a:t>
            </a:r>
            <a:r>
              <a:rPr sz="2800" spc="-155" dirty="0">
                <a:solidFill>
                  <a:srgbClr val="006FC0"/>
                </a:solidFill>
                <a:latin typeface="Arial"/>
                <a:cs typeface="Arial"/>
              </a:rPr>
              <a:t>o</a:t>
            </a:r>
            <a:r>
              <a:rPr sz="2800" spc="-135" dirty="0">
                <a:solidFill>
                  <a:srgbClr val="006FC0"/>
                </a:solidFill>
                <a:latin typeface="Arial"/>
                <a:cs typeface="Arial"/>
              </a:rPr>
              <a:t>sit</a:t>
            </a:r>
            <a:r>
              <a:rPr sz="2800" spc="-80" dirty="0">
                <a:solidFill>
                  <a:srgbClr val="006FC0"/>
                </a:solidFill>
                <a:latin typeface="Arial"/>
                <a:cs typeface="Arial"/>
              </a:rPr>
              <a:t>i</a:t>
            </a:r>
            <a:r>
              <a:rPr sz="2800" spc="-185" dirty="0">
                <a:solidFill>
                  <a:srgbClr val="006FC0"/>
                </a:solidFill>
                <a:latin typeface="Arial"/>
                <a:cs typeface="Arial"/>
              </a:rPr>
              <a:t>on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20" dirty="0">
                <a:solidFill>
                  <a:srgbClr val="006FC0"/>
                </a:solidFill>
                <a:latin typeface="Arial"/>
                <a:cs typeface="Arial"/>
              </a:rPr>
              <a:t>i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204" dirty="0">
                <a:solidFill>
                  <a:srgbClr val="006FC0"/>
                </a:solidFill>
                <a:latin typeface="Arial"/>
                <a:cs typeface="Arial"/>
              </a:rPr>
              <a:t>are  </a:t>
            </a:r>
            <a:r>
              <a:rPr sz="2800" spc="-235" dirty="0">
                <a:solidFill>
                  <a:srgbClr val="006FC0"/>
                </a:solidFill>
                <a:latin typeface="Arial"/>
                <a:cs typeface="Arial"/>
              </a:rPr>
              <a:t>equal </a:t>
            </a:r>
            <a:r>
              <a:rPr sz="2800" spc="-180" dirty="0">
                <a:solidFill>
                  <a:srgbClr val="006FC0"/>
                </a:solidFill>
                <a:latin typeface="Arial"/>
                <a:cs typeface="Arial"/>
              </a:rPr>
              <a:t>(i.e., 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if </a:t>
            </a:r>
            <a:r>
              <a:rPr sz="2800" spc="-130" dirty="0">
                <a:solidFill>
                  <a:srgbClr val="006FC0"/>
                </a:solidFill>
                <a:latin typeface="Arial"/>
                <a:cs typeface="Arial"/>
              </a:rPr>
              <a:t>both 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are </a:t>
            </a:r>
            <a:r>
              <a:rPr sz="2800" spc="-400" dirty="0">
                <a:solidFill>
                  <a:srgbClr val="006FC0"/>
                </a:solidFill>
                <a:latin typeface="Arial"/>
                <a:cs typeface="Arial"/>
              </a:rPr>
              <a:t>1 </a:t>
            </a:r>
            <a:r>
              <a:rPr sz="2800" spc="-80" dirty="0">
                <a:solidFill>
                  <a:srgbClr val="006FC0"/>
                </a:solidFill>
                <a:latin typeface="Arial"/>
                <a:cs typeface="Arial"/>
              </a:rPr>
              <a:t>or </a:t>
            </a:r>
            <a:r>
              <a:rPr sz="2800" spc="-130" dirty="0">
                <a:solidFill>
                  <a:srgbClr val="006FC0"/>
                </a:solidFill>
                <a:latin typeface="Arial"/>
                <a:cs typeface="Arial"/>
              </a:rPr>
              <a:t>both 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are</a:t>
            </a:r>
            <a:r>
              <a:rPr sz="2800" spc="-10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270" dirty="0">
                <a:solidFill>
                  <a:srgbClr val="006FC0"/>
                </a:solidFill>
                <a:latin typeface="Arial"/>
                <a:cs typeface="Arial"/>
              </a:rPr>
              <a:t>0).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sp>
          <p:nvSpPr>
            <p:cNvPr id="12" name="object 12"/>
            <p:cNvSpPr/>
            <p:nvPr/>
          </p:nvSpPr>
          <p:spPr>
            <a:xfrm>
              <a:off x="8593835" y="6620255"/>
              <a:ext cx="550164" cy="23774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630411" y="6556243"/>
              <a:ext cx="513588" cy="3017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83540" y="1205864"/>
            <a:ext cx="8379459" cy="1865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179705" algn="ctr">
              <a:lnSpc>
                <a:spcPct val="100000"/>
              </a:lnSpc>
              <a:spcBef>
                <a:spcPts val="105"/>
              </a:spcBef>
            </a:pPr>
            <a:r>
              <a:rPr sz="2000" b="1" spc="-195" dirty="0">
                <a:solidFill>
                  <a:srgbClr val="C00000"/>
                </a:solidFill>
                <a:latin typeface="Arial"/>
                <a:cs typeface="Arial"/>
              </a:rPr>
              <a:t>4-Bit </a:t>
            </a:r>
            <a:r>
              <a:rPr sz="2000" b="1" spc="-200" dirty="0">
                <a:solidFill>
                  <a:srgbClr val="C00000"/>
                </a:solidFill>
                <a:latin typeface="Arial"/>
                <a:cs typeface="Arial"/>
              </a:rPr>
              <a:t>Magnitude</a:t>
            </a:r>
            <a:r>
              <a:rPr sz="2000" b="1" spc="-26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200" dirty="0">
                <a:solidFill>
                  <a:srgbClr val="C00000"/>
                </a:solidFill>
                <a:latin typeface="Arial"/>
                <a:cs typeface="Arial"/>
              </a:rPr>
              <a:t>Comparator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700">
              <a:latin typeface="Arial"/>
              <a:cs typeface="Arial"/>
            </a:endParaRPr>
          </a:p>
          <a:p>
            <a:pPr marL="476884" marR="5080" indent="-464820" algn="just">
              <a:lnSpc>
                <a:spcPct val="100000"/>
              </a:lnSpc>
              <a:buClr>
                <a:srgbClr val="F79546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-260" dirty="0">
                <a:solidFill>
                  <a:srgbClr val="006FC0"/>
                </a:solidFill>
                <a:latin typeface="Arial"/>
                <a:cs typeface="Arial"/>
              </a:rPr>
              <a:t>When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numbers 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are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binary they </a:t>
            </a:r>
            <a:r>
              <a:rPr sz="2800" spc="-390" dirty="0">
                <a:solidFill>
                  <a:srgbClr val="006FC0"/>
                </a:solidFill>
                <a:latin typeface="Arial"/>
                <a:cs typeface="Arial"/>
              </a:rPr>
              <a:t>possess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235" dirty="0">
                <a:solidFill>
                  <a:srgbClr val="006FC0"/>
                </a:solidFill>
                <a:latin typeface="Arial"/>
                <a:cs typeface="Arial"/>
              </a:rPr>
              <a:t>value </a:t>
            </a:r>
            <a:r>
              <a:rPr sz="2800" spc="-70" dirty="0">
                <a:solidFill>
                  <a:srgbClr val="006FC0"/>
                </a:solidFill>
                <a:latin typeface="Arial"/>
                <a:cs typeface="Arial"/>
              </a:rPr>
              <a:t>of  </a:t>
            </a:r>
            <a:r>
              <a:rPr sz="2800" spc="-145" dirty="0">
                <a:solidFill>
                  <a:srgbClr val="006FC0"/>
                </a:solidFill>
                <a:latin typeface="Arial"/>
                <a:cs typeface="Arial"/>
              </a:rPr>
              <a:t>either </a:t>
            </a:r>
            <a:r>
              <a:rPr sz="2800" spc="-400" dirty="0">
                <a:solidFill>
                  <a:srgbClr val="006FC0"/>
                </a:solidFill>
                <a:latin typeface="Arial"/>
                <a:cs typeface="Arial"/>
              </a:rPr>
              <a:t>1 </a:t>
            </a:r>
            <a:r>
              <a:rPr sz="2800" spc="-80" dirty="0">
                <a:solidFill>
                  <a:srgbClr val="006FC0"/>
                </a:solidFill>
                <a:latin typeface="Arial"/>
                <a:cs typeface="Arial"/>
              </a:rPr>
              <a:t>or </a:t>
            </a:r>
            <a:r>
              <a:rPr sz="2800" spc="-280" dirty="0">
                <a:solidFill>
                  <a:srgbClr val="006FC0"/>
                </a:solidFill>
                <a:latin typeface="Arial"/>
                <a:cs typeface="Arial"/>
              </a:rPr>
              <a:t>0,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equality </a:t>
            </a:r>
            <a:r>
              <a:rPr sz="2800" spc="-140" dirty="0">
                <a:solidFill>
                  <a:srgbClr val="006FC0"/>
                </a:solidFill>
                <a:latin typeface="Arial"/>
                <a:cs typeface="Arial"/>
              </a:rPr>
              <a:t>relation </a:t>
            </a:r>
            <a:r>
              <a:rPr sz="2800" spc="-80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305" dirty="0">
                <a:solidFill>
                  <a:srgbClr val="006FC0"/>
                </a:solidFill>
                <a:latin typeface="Arial"/>
                <a:cs typeface="Arial"/>
              </a:rPr>
              <a:t>each </a:t>
            </a:r>
            <a:r>
              <a:rPr sz="2800" spc="-145" dirty="0">
                <a:solidFill>
                  <a:srgbClr val="006FC0"/>
                </a:solidFill>
                <a:latin typeface="Arial"/>
                <a:cs typeface="Arial"/>
              </a:rPr>
              <a:t>pair </a:t>
            </a:r>
            <a:r>
              <a:rPr sz="2800" spc="-285" dirty="0">
                <a:solidFill>
                  <a:srgbClr val="006FC0"/>
                </a:solidFill>
                <a:latin typeface="Arial"/>
                <a:cs typeface="Arial"/>
              </a:rPr>
              <a:t>can </a:t>
            </a:r>
            <a:r>
              <a:rPr sz="2800" spc="-280" dirty="0">
                <a:solidFill>
                  <a:srgbClr val="006FC0"/>
                </a:solidFill>
                <a:latin typeface="Arial"/>
                <a:cs typeface="Arial"/>
              </a:rPr>
              <a:t>be  </a:t>
            </a:r>
            <a:r>
              <a:rPr sz="2800" spc="-290" dirty="0">
                <a:solidFill>
                  <a:srgbClr val="006FC0"/>
                </a:solidFill>
                <a:latin typeface="Arial"/>
                <a:cs typeface="Arial"/>
              </a:rPr>
              <a:t>expressed </a:t>
            </a:r>
            <a:r>
              <a:rPr sz="2800" spc="-150" dirty="0">
                <a:solidFill>
                  <a:srgbClr val="006FC0"/>
                </a:solidFill>
                <a:latin typeface="Arial"/>
                <a:cs typeface="Arial"/>
              </a:rPr>
              <a:t>logically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by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equivalence </a:t>
            </a:r>
            <a:r>
              <a:rPr sz="2800" spc="-120" dirty="0">
                <a:solidFill>
                  <a:srgbClr val="006FC0"/>
                </a:solidFill>
                <a:latin typeface="Arial"/>
                <a:cs typeface="Arial"/>
              </a:rPr>
              <a:t>function</a:t>
            </a:r>
            <a:r>
              <a:rPr sz="2800" spc="-8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459" dirty="0">
                <a:solidFill>
                  <a:srgbClr val="006FC0"/>
                </a:solidFill>
                <a:latin typeface="Arial"/>
                <a:cs typeface="Arial"/>
              </a:rPr>
              <a:t>as</a:t>
            </a:r>
            <a:endParaRPr sz="2800">
              <a:latin typeface="Arial"/>
              <a:cs typeface="Arial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8768842" y="6649770"/>
            <a:ext cx="296545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spc="-5" dirty="0">
                <a:solidFill>
                  <a:srgbClr val="FFFFFF"/>
                </a:solidFill>
                <a:latin typeface="Carlito"/>
                <a:cs typeface="Carlito"/>
              </a:rPr>
              <a:t>132</a:t>
            </a:r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1938527" y="202679"/>
              <a:ext cx="5260848" cy="9342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212594" y="321386"/>
            <a:ext cx="471741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30" dirty="0"/>
              <a:t>MAGNITUDE</a:t>
            </a:r>
            <a:r>
              <a:rPr spc="-80" dirty="0"/>
              <a:t> </a:t>
            </a:r>
            <a:r>
              <a:rPr spc="-114" dirty="0"/>
              <a:t>COMPARATOR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sp>
          <p:nvSpPr>
            <p:cNvPr id="8" name="object 8"/>
            <p:cNvSpPr/>
            <p:nvPr/>
          </p:nvSpPr>
          <p:spPr>
            <a:xfrm>
              <a:off x="8593835" y="6620255"/>
              <a:ext cx="550164" cy="23774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630411" y="6556243"/>
              <a:ext cx="513588" cy="3017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32740" y="1205864"/>
            <a:ext cx="8478520" cy="4853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177165" algn="ctr">
              <a:lnSpc>
                <a:spcPct val="100000"/>
              </a:lnSpc>
              <a:spcBef>
                <a:spcPts val="105"/>
              </a:spcBef>
            </a:pPr>
            <a:r>
              <a:rPr sz="2000" b="1" spc="-195" dirty="0">
                <a:solidFill>
                  <a:srgbClr val="C00000"/>
                </a:solidFill>
                <a:latin typeface="Arial"/>
                <a:cs typeface="Arial"/>
              </a:rPr>
              <a:t>4-Bit </a:t>
            </a:r>
            <a:r>
              <a:rPr sz="2000" b="1" spc="-200" dirty="0">
                <a:solidFill>
                  <a:srgbClr val="C00000"/>
                </a:solidFill>
                <a:latin typeface="Arial"/>
                <a:cs typeface="Arial"/>
              </a:rPr>
              <a:t>Magnitude</a:t>
            </a:r>
            <a:r>
              <a:rPr sz="2000" b="1" spc="-26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200" dirty="0">
                <a:solidFill>
                  <a:srgbClr val="C00000"/>
                </a:solidFill>
                <a:latin typeface="Arial"/>
                <a:cs typeface="Arial"/>
              </a:rPr>
              <a:t>Comparator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800">
              <a:latin typeface="Arial"/>
              <a:cs typeface="Arial"/>
            </a:endParaRPr>
          </a:p>
          <a:p>
            <a:pPr marL="527685" marR="56515" indent="-464820" algn="just">
              <a:lnSpc>
                <a:spcPts val="3360"/>
              </a:lnSpc>
              <a:buClr>
                <a:srgbClr val="F79546"/>
              </a:buClr>
              <a:buFont typeface="Wingdings"/>
              <a:buChar char=""/>
              <a:tabLst>
                <a:tab pos="528320" algn="l"/>
              </a:tabLst>
            </a:pPr>
            <a:r>
              <a:rPr sz="2800" spc="-145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800" spc="-215" dirty="0">
                <a:solidFill>
                  <a:srgbClr val="006FC0"/>
                </a:solidFill>
                <a:latin typeface="Arial"/>
                <a:cs typeface="Arial"/>
              </a:rPr>
              <a:t>satisfy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equality </a:t>
            </a:r>
            <a:r>
              <a:rPr sz="2800" spc="-125" dirty="0">
                <a:solidFill>
                  <a:srgbClr val="006FC0"/>
                </a:solidFill>
                <a:latin typeface="Arial"/>
                <a:cs typeface="Arial"/>
              </a:rPr>
              <a:t>condition 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120" dirty="0">
                <a:solidFill>
                  <a:srgbClr val="006FC0"/>
                </a:solidFill>
                <a:latin typeface="Arial"/>
                <a:cs typeface="Arial"/>
              </a:rPr>
              <a:t>two 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numbers </a:t>
            </a:r>
            <a:r>
              <a:rPr sz="2800" spc="135" dirty="0">
                <a:solidFill>
                  <a:srgbClr val="006FC0"/>
                </a:solidFill>
                <a:latin typeface="Arial"/>
                <a:cs typeface="Arial"/>
              </a:rPr>
              <a:t>A 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and  </a:t>
            </a:r>
            <a:r>
              <a:rPr sz="2800" spc="-295" dirty="0">
                <a:solidFill>
                  <a:srgbClr val="006FC0"/>
                </a:solidFill>
                <a:latin typeface="Arial"/>
                <a:cs typeface="Arial"/>
              </a:rPr>
              <a:t>B, </a:t>
            </a:r>
            <a:r>
              <a:rPr sz="2800" spc="25" dirty="0">
                <a:solidFill>
                  <a:srgbClr val="006FC0"/>
                </a:solidFill>
                <a:latin typeface="Arial"/>
                <a:cs typeface="Arial"/>
              </a:rPr>
              <a:t>it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800" spc="-305" dirty="0">
                <a:solidFill>
                  <a:srgbClr val="006FC0"/>
                </a:solidFill>
                <a:latin typeface="Arial"/>
                <a:cs typeface="Arial"/>
              </a:rPr>
              <a:t>necessary </a:t>
            </a:r>
            <a:r>
              <a:rPr sz="2800" spc="-125" dirty="0">
                <a:solidFill>
                  <a:srgbClr val="006FC0"/>
                </a:solidFill>
                <a:latin typeface="Arial"/>
                <a:cs typeface="Arial"/>
              </a:rPr>
              <a:t>that </a:t>
            </a:r>
            <a:r>
              <a:rPr sz="2800" spc="-145" dirty="0">
                <a:solidFill>
                  <a:srgbClr val="006FC0"/>
                </a:solidFill>
                <a:latin typeface="Arial"/>
                <a:cs typeface="Arial"/>
              </a:rPr>
              <a:t>all </a:t>
            </a:r>
            <a:r>
              <a:rPr sz="2800" spc="-100" dirty="0">
                <a:solidFill>
                  <a:srgbClr val="006FC0"/>
                </a:solidFill>
                <a:latin typeface="Arial"/>
                <a:cs typeface="Arial"/>
              </a:rPr>
              <a:t>X</a:t>
            </a:r>
            <a:r>
              <a:rPr sz="2950" i="1" spc="-100" dirty="0">
                <a:solidFill>
                  <a:srgbClr val="006FC0"/>
                </a:solidFill>
                <a:latin typeface="Arial"/>
                <a:cs typeface="Arial"/>
              </a:rPr>
              <a:t>i </a:t>
            </a: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must </a:t>
            </a:r>
            <a:r>
              <a:rPr sz="2800" spc="-280" dirty="0">
                <a:solidFill>
                  <a:srgbClr val="006FC0"/>
                </a:solidFill>
                <a:latin typeface="Arial"/>
                <a:cs typeface="Arial"/>
              </a:rPr>
              <a:t>be </a:t>
            </a:r>
            <a:r>
              <a:rPr sz="2800" spc="-240" dirty="0">
                <a:solidFill>
                  <a:srgbClr val="006FC0"/>
                </a:solidFill>
                <a:latin typeface="Arial"/>
                <a:cs typeface="Arial"/>
              </a:rPr>
              <a:t>equal </a:t>
            </a:r>
            <a:r>
              <a:rPr sz="2800" spc="-60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800" spc="-155" dirty="0">
                <a:solidFill>
                  <a:srgbClr val="006FC0"/>
                </a:solidFill>
                <a:latin typeface="Arial"/>
                <a:cs typeface="Arial"/>
              </a:rPr>
              <a:t>logic </a:t>
            </a:r>
            <a:r>
              <a:rPr sz="2800" spc="-280" dirty="0">
                <a:solidFill>
                  <a:srgbClr val="006FC0"/>
                </a:solidFill>
                <a:latin typeface="Arial"/>
                <a:cs typeface="Arial"/>
              </a:rPr>
              <a:t>1. </a:t>
            </a:r>
            <a:r>
              <a:rPr sz="2800" spc="-220" dirty="0">
                <a:solidFill>
                  <a:srgbClr val="006FC0"/>
                </a:solidFill>
                <a:latin typeface="Arial"/>
                <a:cs typeface="Arial"/>
              </a:rPr>
              <a:t>This  </a:t>
            </a:r>
            <a:r>
              <a:rPr sz="2800" spc="-200" dirty="0">
                <a:solidFill>
                  <a:srgbClr val="006FC0"/>
                </a:solidFill>
                <a:latin typeface="Arial"/>
                <a:cs typeface="Arial"/>
              </a:rPr>
              <a:t>indicates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30" dirty="0">
                <a:latin typeface="Arial"/>
                <a:cs typeface="Arial"/>
              </a:rPr>
              <a:t>AND </a:t>
            </a:r>
            <a:r>
              <a:rPr sz="2800" spc="-155" dirty="0">
                <a:latin typeface="Arial"/>
                <a:cs typeface="Arial"/>
              </a:rPr>
              <a:t>operation </a:t>
            </a:r>
            <a:r>
              <a:rPr sz="2800" spc="-75" dirty="0">
                <a:latin typeface="Arial"/>
                <a:cs typeface="Arial"/>
              </a:rPr>
              <a:t>of </a:t>
            </a:r>
            <a:r>
              <a:rPr sz="2800" spc="-145" dirty="0">
                <a:latin typeface="Arial"/>
                <a:cs typeface="Arial"/>
              </a:rPr>
              <a:t>all </a:t>
            </a:r>
            <a:r>
              <a:rPr sz="2800" spc="-100" dirty="0">
                <a:latin typeface="Arial"/>
                <a:cs typeface="Arial"/>
              </a:rPr>
              <a:t>X</a:t>
            </a:r>
            <a:r>
              <a:rPr sz="2950" i="1" spc="-100" dirty="0">
                <a:latin typeface="Arial"/>
                <a:cs typeface="Arial"/>
              </a:rPr>
              <a:t>i</a:t>
            </a:r>
            <a:r>
              <a:rPr sz="2950" i="1" spc="-65" dirty="0">
                <a:latin typeface="Arial"/>
                <a:cs typeface="Arial"/>
              </a:rPr>
              <a:t> </a:t>
            </a:r>
            <a:r>
              <a:rPr sz="2800" spc="-225" dirty="0">
                <a:latin typeface="Arial"/>
                <a:cs typeface="Arial"/>
              </a:rPr>
              <a:t>variables</a:t>
            </a:r>
            <a:r>
              <a:rPr sz="2800" spc="-225" dirty="0">
                <a:solidFill>
                  <a:srgbClr val="006FC0"/>
                </a:solidFill>
                <a:latin typeface="Arial"/>
                <a:cs typeface="Arial"/>
              </a:rPr>
              <a:t>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F79546"/>
              </a:buClr>
              <a:buFont typeface="Wingdings"/>
              <a:buChar char=""/>
            </a:pPr>
            <a:endParaRPr sz="2800">
              <a:latin typeface="Arial"/>
              <a:cs typeface="Arial"/>
            </a:endParaRPr>
          </a:p>
          <a:p>
            <a:pPr marL="527685" marR="55880" indent="-464820" algn="just">
              <a:lnSpc>
                <a:spcPct val="100000"/>
              </a:lnSpc>
              <a:buClr>
                <a:srgbClr val="F79546"/>
              </a:buClr>
              <a:buFont typeface="Wingdings"/>
              <a:buChar char=""/>
              <a:tabLst>
                <a:tab pos="528320" algn="l"/>
              </a:tabLst>
            </a:pPr>
            <a:r>
              <a:rPr sz="2800" spc="-100" dirty="0">
                <a:solidFill>
                  <a:srgbClr val="006FC0"/>
                </a:solidFill>
                <a:latin typeface="Arial"/>
                <a:cs typeface="Arial"/>
              </a:rPr>
              <a:t>In </a:t>
            </a:r>
            <a:r>
              <a:rPr sz="2800" spc="-130" dirty="0">
                <a:solidFill>
                  <a:srgbClr val="006FC0"/>
                </a:solidFill>
                <a:latin typeface="Arial"/>
                <a:cs typeface="Arial"/>
              </a:rPr>
              <a:t>other </a:t>
            </a:r>
            <a:r>
              <a:rPr sz="2800" spc="-210" dirty="0">
                <a:solidFill>
                  <a:srgbClr val="006FC0"/>
                </a:solidFill>
                <a:latin typeface="Arial"/>
                <a:cs typeface="Arial"/>
              </a:rPr>
              <a:t>words, </a:t>
            </a:r>
            <a:r>
              <a:rPr sz="2800" spc="-300" dirty="0">
                <a:solidFill>
                  <a:srgbClr val="006FC0"/>
                </a:solidFill>
                <a:latin typeface="Arial"/>
                <a:cs typeface="Arial"/>
              </a:rPr>
              <a:t>we </a:t>
            </a:r>
            <a:r>
              <a:rPr sz="2800" spc="-285" dirty="0">
                <a:solidFill>
                  <a:srgbClr val="006FC0"/>
                </a:solidFill>
                <a:latin typeface="Arial"/>
                <a:cs typeface="Arial"/>
              </a:rPr>
              <a:t>can </a:t>
            </a:r>
            <a:r>
              <a:rPr sz="2800" spc="-114" dirty="0">
                <a:solidFill>
                  <a:srgbClr val="006FC0"/>
                </a:solidFill>
                <a:latin typeface="Arial"/>
                <a:cs typeface="Arial"/>
              </a:rPr>
              <a:t>write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245" dirty="0">
                <a:solidFill>
                  <a:srgbClr val="006FC0"/>
                </a:solidFill>
                <a:latin typeface="Arial"/>
                <a:cs typeface="Arial"/>
              </a:rPr>
              <a:t>Boolean 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expression </a:t>
            </a:r>
            <a:r>
              <a:rPr sz="2800" spc="-55" dirty="0">
                <a:solidFill>
                  <a:srgbClr val="006FC0"/>
                </a:solidFill>
                <a:latin typeface="Arial"/>
                <a:cs typeface="Arial"/>
              </a:rPr>
              <a:t>for  </a:t>
            </a:r>
            <a:r>
              <a:rPr sz="2800" spc="-120" dirty="0">
                <a:solidFill>
                  <a:srgbClr val="006FC0"/>
                </a:solidFill>
                <a:latin typeface="Arial"/>
                <a:cs typeface="Arial"/>
              </a:rPr>
              <a:t>two </a:t>
            </a:r>
            <a:r>
              <a:rPr sz="2800" spc="-235" dirty="0">
                <a:solidFill>
                  <a:srgbClr val="006FC0"/>
                </a:solidFill>
                <a:latin typeface="Arial"/>
                <a:cs typeface="Arial"/>
              </a:rPr>
              <a:t>equal </a:t>
            </a:r>
            <a:r>
              <a:rPr sz="2800" spc="-145" dirty="0">
                <a:solidFill>
                  <a:srgbClr val="006FC0"/>
                </a:solidFill>
                <a:latin typeface="Arial"/>
                <a:cs typeface="Arial"/>
              </a:rPr>
              <a:t>4-bit</a:t>
            </a: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235" dirty="0">
                <a:solidFill>
                  <a:srgbClr val="006FC0"/>
                </a:solidFill>
                <a:latin typeface="Arial"/>
                <a:cs typeface="Arial"/>
              </a:rPr>
              <a:t>numbers.</a:t>
            </a:r>
            <a:endParaRPr sz="2800">
              <a:latin typeface="Arial"/>
              <a:cs typeface="Arial"/>
            </a:endParaRPr>
          </a:p>
          <a:p>
            <a:pPr marL="1892300">
              <a:lnSpc>
                <a:spcPct val="100000"/>
              </a:lnSpc>
              <a:tabLst>
                <a:tab pos="5182235" algn="l"/>
              </a:tabLst>
            </a:pPr>
            <a:r>
              <a:rPr sz="2800" spc="-55" dirty="0">
                <a:latin typeface="Arial"/>
                <a:cs typeface="Arial"/>
              </a:rPr>
              <a:t>(A </a:t>
            </a:r>
            <a:r>
              <a:rPr sz="2800" spc="70" dirty="0">
                <a:latin typeface="Arial"/>
                <a:cs typeface="Arial"/>
              </a:rPr>
              <a:t>= </a:t>
            </a:r>
            <a:r>
              <a:rPr sz="2800" spc="-330" dirty="0">
                <a:latin typeface="Arial"/>
                <a:cs typeface="Arial"/>
              </a:rPr>
              <a:t>B)  </a:t>
            </a:r>
            <a:r>
              <a:rPr sz="2800" spc="70" dirty="0">
                <a:latin typeface="Arial"/>
                <a:cs typeface="Arial"/>
              </a:rPr>
              <a:t>=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200" dirty="0">
                <a:latin typeface="Arial"/>
                <a:cs typeface="Arial"/>
              </a:rPr>
              <a:t>X</a:t>
            </a:r>
            <a:r>
              <a:rPr sz="2775" spc="-300" baseline="-21021" dirty="0">
                <a:latin typeface="Arial"/>
                <a:cs typeface="Arial"/>
              </a:rPr>
              <a:t>3</a:t>
            </a:r>
            <a:r>
              <a:rPr sz="2800" spc="-200" dirty="0">
                <a:latin typeface="Arial"/>
                <a:cs typeface="Arial"/>
              </a:rPr>
              <a:t>X</a:t>
            </a:r>
            <a:r>
              <a:rPr sz="2775" spc="-300" baseline="-21021" dirty="0">
                <a:latin typeface="Arial"/>
                <a:cs typeface="Arial"/>
              </a:rPr>
              <a:t>2</a:t>
            </a:r>
            <a:r>
              <a:rPr sz="2800" spc="-200" dirty="0">
                <a:latin typeface="Arial"/>
                <a:cs typeface="Arial"/>
              </a:rPr>
              <a:t>X</a:t>
            </a:r>
            <a:r>
              <a:rPr sz="2775" spc="-300" baseline="-21021" dirty="0">
                <a:latin typeface="Arial"/>
                <a:cs typeface="Arial"/>
              </a:rPr>
              <a:t>1 </a:t>
            </a:r>
            <a:r>
              <a:rPr sz="2775" spc="-104" baseline="-21021" dirty="0">
                <a:latin typeface="Arial"/>
                <a:cs typeface="Arial"/>
              </a:rPr>
              <a:t> </a:t>
            </a:r>
            <a:r>
              <a:rPr sz="2800" spc="-185" dirty="0">
                <a:latin typeface="Arial"/>
                <a:cs typeface="Arial"/>
              </a:rPr>
              <a:t>X</a:t>
            </a:r>
            <a:r>
              <a:rPr sz="2775" spc="-277" baseline="-21021" dirty="0">
                <a:latin typeface="Arial"/>
                <a:cs typeface="Arial"/>
              </a:rPr>
              <a:t>0</a:t>
            </a:r>
            <a:r>
              <a:rPr sz="2800" spc="-185" dirty="0">
                <a:latin typeface="Arial"/>
                <a:cs typeface="Arial"/>
              </a:rPr>
              <a:t>.	</a:t>
            </a:r>
            <a:r>
              <a:rPr sz="2800" spc="-235" dirty="0">
                <a:latin typeface="Arial"/>
                <a:cs typeface="Arial"/>
              </a:rPr>
              <a:t>(where </a:t>
            </a:r>
            <a:r>
              <a:rPr sz="2800" spc="-145" dirty="0">
                <a:latin typeface="Arial"/>
                <a:cs typeface="Arial"/>
              </a:rPr>
              <a:t>X </a:t>
            </a:r>
            <a:r>
              <a:rPr sz="2800" spc="70" dirty="0">
                <a:latin typeface="Arial"/>
                <a:cs typeface="Arial"/>
              </a:rPr>
              <a:t>= </a:t>
            </a:r>
            <a:r>
              <a:rPr sz="2800" spc="135" dirty="0">
                <a:latin typeface="Arial"/>
                <a:cs typeface="Arial"/>
              </a:rPr>
              <a:t>A </a:t>
            </a:r>
            <a:r>
              <a:rPr sz="2800" spc="-140" dirty="0">
                <a:latin typeface="Arial"/>
                <a:cs typeface="Arial"/>
              </a:rPr>
              <a:t>xnor</a:t>
            </a:r>
            <a:r>
              <a:rPr sz="2800" spc="-430" dirty="0">
                <a:latin typeface="Arial"/>
                <a:cs typeface="Arial"/>
              </a:rPr>
              <a:t> </a:t>
            </a:r>
            <a:r>
              <a:rPr sz="2800" spc="-340" dirty="0">
                <a:latin typeface="Arial"/>
                <a:cs typeface="Arial"/>
              </a:rPr>
              <a:t>B)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900">
              <a:latin typeface="Arial"/>
              <a:cs typeface="Arial"/>
            </a:endParaRPr>
          </a:p>
          <a:p>
            <a:pPr marL="527685" marR="163830" indent="-464820" algn="just">
              <a:lnSpc>
                <a:spcPct val="100000"/>
              </a:lnSpc>
              <a:buClr>
                <a:srgbClr val="F79546"/>
              </a:buClr>
              <a:buFont typeface="Wingdings"/>
              <a:buChar char=""/>
              <a:tabLst>
                <a:tab pos="528320" algn="l"/>
              </a:tabLst>
            </a:pP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binary </a:t>
            </a:r>
            <a:r>
              <a:rPr sz="2800" spc="-195" dirty="0">
                <a:solidFill>
                  <a:srgbClr val="006FC0"/>
                </a:solidFill>
                <a:latin typeface="Arial"/>
                <a:cs typeface="Arial"/>
              </a:rPr>
              <a:t>variable </a:t>
            </a:r>
            <a:r>
              <a:rPr sz="2800" spc="-145" dirty="0">
                <a:solidFill>
                  <a:srgbClr val="006FC0"/>
                </a:solidFill>
                <a:latin typeface="Arial"/>
                <a:cs typeface="Arial"/>
              </a:rPr>
              <a:t>(A=B)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800" spc="-235" dirty="0">
                <a:solidFill>
                  <a:srgbClr val="006FC0"/>
                </a:solidFill>
                <a:latin typeface="Arial"/>
                <a:cs typeface="Arial"/>
              </a:rPr>
              <a:t>equal </a:t>
            </a:r>
            <a:r>
              <a:rPr sz="2800" spc="-55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800" spc="-400" dirty="0">
                <a:solidFill>
                  <a:srgbClr val="006FC0"/>
                </a:solidFill>
                <a:latin typeface="Arial"/>
                <a:cs typeface="Arial"/>
              </a:rPr>
              <a:t>1 </a:t>
            </a:r>
            <a:r>
              <a:rPr sz="2800" spc="-130" dirty="0">
                <a:solidFill>
                  <a:srgbClr val="006FC0"/>
                </a:solidFill>
                <a:latin typeface="Arial"/>
                <a:cs typeface="Arial"/>
              </a:rPr>
              <a:t>only </a:t>
            </a:r>
            <a:r>
              <a:rPr sz="2800" spc="-5" dirty="0">
                <a:solidFill>
                  <a:srgbClr val="006FC0"/>
                </a:solidFill>
                <a:latin typeface="Arial"/>
                <a:cs typeface="Arial"/>
              </a:rPr>
              <a:t>if </a:t>
            </a:r>
            <a:r>
              <a:rPr sz="2800" spc="-145" dirty="0">
                <a:solidFill>
                  <a:srgbClr val="006FC0"/>
                </a:solidFill>
                <a:latin typeface="Arial"/>
                <a:cs typeface="Arial"/>
              </a:rPr>
              <a:t>all </a:t>
            </a:r>
            <a:r>
              <a:rPr sz="2800" spc="-220" dirty="0">
                <a:solidFill>
                  <a:srgbClr val="006FC0"/>
                </a:solidFill>
                <a:latin typeface="Arial"/>
                <a:cs typeface="Arial"/>
              </a:rPr>
              <a:t>pairs </a:t>
            </a:r>
            <a:r>
              <a:rPr sz="2800" spc="-70" dirty="0">
                <a:solidFill>
                  <a:srgbClr val="006FC0"/>
                </a:solidFill>
                <a:latin typeface="Arial"/>
                <a:cs typeface="Arial"/>
              </a:rPr>
              <a:t>of 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digits 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20" dirty="0">
                <a:solidFill>
                  <a:srgbClr val="006FC0"/>
                </a:solidFill>
                <a:latin typeface="Arial"/>
                <a:cs typeface="Arial"/>
              </a:rPr>
              <a:t>two </a:t>
            </a:r>
            <a:r>
              <a:rPr sz="2800" spc="-245" dirty="0">
                <a:solidFill>
                  <a:srgbClr val="006FC0"/>
                </a:solidFill>
                <a:latin typeface="Arial"/>
                <a:cs typeface="Arial"/>
              </a:rPr>
              <a:t>numbers 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are</a:t>
            </a:r>
            <a:r>
              <a:rPr sz="2800" spc="229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220" dirty="0">
                <a:solidFill>
                  <a:srgbClr val="006FC0"/>
                </a:solidFill>
                <a:latin typeface="Arial"/>
                <a:cs typeface="Arial"/>
              </a:rPr>
              <a:t>equal.</a:t>
            </a:r>
            <a:endParaRPr sz="2800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133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1938527" y="202679"/>
              <a:ext cx="5260848" cy="9342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212594" y="321386"/>
            <a:ext cx="471741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30" dirty="0"/>
              <a:t>MAGNITUDE</a:t>
            </a:r>
            <a:r>
              <a:rPr spc="-80" dirty="0"/>
              <a:t> </a:t>
            </a:r>
            <a:r>
              <a:rPr spc="-114" dirty="0"/>
              <a:t>COMPARATOR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sp>
          <p:nvSpPr>
            <p:cNvPr id="8" name="object 8"/>
            <p:cNvSpPr/>
            <p:nvPr/>
          </p:nvSpPr>
          <p:spPr>
            <a:xfrm>
              <a:off x="8593835" y="6620255"/>
              <a:ext cx="550164" cy="23774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630411" y="6556243"/>
              <a:ext cx="513588" cy="3017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83540" y="1029750"/>
            <a:ext cx="8378190" cy="5554980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R="178435" algn="ctr">
              <a:lnSpc>
                <a:spcPct val="100000"/>
              </a:lnSpc>
              <a:spcBef>
                <a:spcPts val="440"/>
              </a:spcBef>
            </a:pPr>
            <a:r>
              <a:rPr sz="2000" b="1" spc="-195" dirty="0">
                <a:solidFill>
                  <a:srgbClr val="C00000"/>
                </a:solidFill>
                <a:latin typeface="Arial"/>
                <a:cs typeface="Arial"/>
              </a:rPr>
              <a:t>4-Bit </a:t>
            </a:r>
            <a:r>
              <a:rPr sz="2000" b="1" spc="-200" dirty="0">
                <a:solidFill>
                  <a:srgbClr val="C00000"/>
                </a:solidFill>
                <a:latin typeface="Arial"/>
                <a:cs typeface="Arial"/>
              </a:rPr>
              <a:t>Magnitude</a:t>
            </a:r>
            <a:r>
              <a:rPr sz="2000" b="1" spc="-26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200" dirty="0">
                <a:solidFill>
                  <a:srgbClr val="C00000"/>
                </a:solidFill>
                <a:latin typeface="Arial"/>
                <a:cs typeface="Arial"/>
              </a:rPr>
              <a:t>Comparator</a:t>
            </a:r>
            <a:endParaRPr sz="2000">
              <a:latin typeface="Arial"/>
              <a:cs typeface="Arial"/>
            </a:endParaRPr>
          </a:p>
          <a:p>
            <a:pPr marL="476884" marR="5080" indent="-464820" algn="just">
              <a:lnSpc>
                <a:spcPct val="100000"/>
              </a:lnSpc>
              <a:spcBef>
                <a:spcPts val="470"/>
              </a:spcBef>
              <a:buClr>
                <a:srgbClr val="F79546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-145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800" spc="-180" dirty="0">
                <a:latin typeface="Arial"/>
                <a:cs typeface="Arial"/>
              </a:rPr>
              <a:t>determine </a:t>
            </a:r>
            <a:r>
              <a:rPr sz="2800" dirty="0">
                <a:latin typeface="Arial"/>
                <a:cs typeface="Arial"/>
              </a:rPr>
              <a:t>if </a:t>
            </a:r>
            <a:r>
              <a:rPr sz="2800" spc="135" dirty="0">
                <a:latin typeface="Arial"/>
                <a:cs typeface="Arial"/>
              </a:rPr>
              <a:t>A </a:t>
            </a:r>
            <a:r>
              <a:rPr sz="2800" spc="-265" dirty="0">
                <a:latin typeface="Arial"/>
                <a:cs typeface="Arial"/>
              </a:rPr>
              <a:t>is </a:t>
            </a:r>
            <a:r>
              <a:rPr sz="2800" spc="-200" dirty="0">
                <a:latin typeface="Arial"/>
                <a:cs typeface="Arial"/>
              </a:rPr>
              <a:t>greater </a:t>
            </a:r>
            <a:r>
              <a:rPr sz="2800" spc="-195" dirty="0">
                <a:latin typeface="Arial"/>
                <a:cs typeface="Arial"/>
              </a:rPr>
              <a:t>than </a:t>
            </a:r>
            <a:r>
              <a:rPr sz="2800" spc="-80" dirty="0">
                <a:latin typeface="Arial"/>
                <a:cs typeface="Arial"/>
              </a:rPr>
              <a:t>or </a:t>
            </a:r>
            <a:r>
              <a:rPr sz="2800" spc="-350" dirty="0">
                <a:latin typeface="Arial"/>
                <a:cs typeface="Arial"/>
              </a:rPr>
              <a:t>less </a:t>
            </a:r>
            <a:r>
              <a:rPr sz="2800" spc="-190" dirty="0">
                <a:latin typeface="Arial"/>
                <a:cs typeface="Arial"/>
              </a:rPr>
              <a:t>than </a:t>
            </a:r>
            <a:r>
              <a:rPr sz="2800" spc="-295" dirty="0">
                <a:latin typeface="Arial"/>
                <a:cs typeface="Arial"/>
              </a:rPr>
              <a:t>B</a:t>
            </a:r>
            <a:r>
              <a:rPr sz="2800" spc="-295" dirty="0">
                <a:solidFill>
                  <a:srgbClr val="006FC0"/>
                </a:solidFill>
                <a:latin typeface="Arial"/>
                <a:cs typeface="Arial"/>
              </a:rPr>
              <a:t>, we  </a:t>
            </a:r>
            <a:r>
              <a:rPr sz="2800" spc="-204" dirty="0">
                <a:solidFill>
                  <a:srgbClr val="006FC0"/>
                </a:solidFill>
                <a:latin typeface="Arial"/>
                <a:cs typeface="Arial"/>
              </a:rPr>
              <a:t>inspect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60" dirty="0">
                <a:solidFill>
                  <a:srgbClr val="006FC0"/>
                </a:solidFill>
                <a:latin typeface="Arial"/>
                <a:cs typeface="Arial"/>
              </a:rPr>
              <a:t>relative </a:t>
            </a:r>
            <a:r>
              <a:rPr sz="2800" spc="-240" dirty="0">
                <a:solidFill>
                  <a:srgbClr val="006FC0"/>
                </a:solidFill>
                <a:latin typeface="Arial"/>
                <a:cs typeface="Arial"/>
              </a:rPr>
              <a:t>magnitudes 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220" dirty="0">
                <a:solidFill>
                  <a:srgbClr val="006FC0"/>
                </a:solidFill>
                <a:latin typeface="Arial"/>
                <a:cs typeface="Arial"/>
              </a:rPr>
              <a:t>pairs 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significant bits 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starting </a:t>
            </a:r>
            <a:r>
              <a:rPr sz="2800" spc="-100" dirty="0">
                <a:solidFill>
                  <a:srgbClr val="006FC0"/>
                </a:solidFill>
                <a:latin typeface="Arial"/>
                <a:cs typeface="Arial"/>
              </a:rPr>
              <a:t>from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215" dirty="0">
                <a:solidFill>
                  <a:srgbClr val="006FC0"/>
                </a:solidFill>
                <a:latin typeface="Arial"/>
                <a:cs typeface="Arial"/>
              </a:rPr>
              <a:t>most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significant</a:t>
            </a:r>
            <a:r>
              <a:rPr sz="2800" spc="4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80" dirty="0">
                <a:solidFill>
                  <a:srgbClr val="006FC0"/>
                </a:solidFill>
                <a:latin typeface="Arial"/>
                <a:cs typeface="Arial"/>
              </a:rPr>
              <a:t>bit.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F79546"/>
              </a:buClr>
              <a:buFont typeface="Wingdings"/>
              <a:buChar char=""/>
            </a:pPr>
            <a:endParaRPr sz="2900">
              <a:latin typeface="Arial"/>
              <a:cs typeface="Arial"/>
            </a:endParaRPr>
          </a:p>
          <a:p>
            <a:pPr marL="476884" marR="5080" indent="-464820" algn="just">
              <a:lnSpc>
                <a:spcPct val="100000"/>
              </a:lnSpc>
              <a:buClr>
                <a:srgbClr val="F79546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10" dirty="0">
                <a:solidFill>
                  <a:srgbClr val="006FC0"/>
                </a:solidFill>
                <a:latin typeface="Arial"/>
                <a:cs typeface="Arial"/>
              </a:rPr>
              <a:t>If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20" dirty="0">
                <a:solidFill>
                  <a:srgbClr val="006FC0"/>
                </a:solidFill>
                <a:latin typeface="Arial"/>
                <a:cs typeface="Arial"/>
              </a:rPr>
              <a:t>two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digits 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215" dirty="0">
                <a:solidFill>
                  <a:srgbClr val="006FC0"/>
                </a:solidFill>
                <a:latin typeface="Arial"/>
                <a:cs typeface="Arial"/>
              </a:rPr>
              <a:t>most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significant </a:t>
            </a:r>
            <a:r>
              <a:rPr sz="2800" spc="-145" dirty="0">
                <a:solidFill>
                  <a:srgbClr val="006FC0"/>
                </a:solidFill>
                <a:latin typeface="Arial"/>
                <a:cs typeface="Arial"/>
              </a:rPr>
              <a:t>position 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are </a:t>
            </a: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equal, 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the</a:t>
            </a:r>
            <a:r>
              <a:rPr sz="2800" spc="44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175" dirty="0">
                <a:latin typeface="Arial"/>
                <a:cs typeface="Arial"/>
              </a:rPr>
              <a:t>next significant </a:t>
            </a:r>
            <a:r>
              <a:rPr sz="2800" spc="-145" dirty="0">
                <a:latin typeface="Arial"/>
                <a:cs typeface="Arial"/>
              </a:rPr>
              <a:t>pair </a:t>
            </a:r>
            <a:r>
              <a:rPr sz="2800" spc="-75" dirty="0">
                <a:latin typeface="Arial"/>
                <a:cs typeface="Arial"/>
              </a:rPr>
              <a:t>of </a:t>
            </a:r>
            <a:r>
              <a:rPr sz="2800" spc="-170" dirty="0">
                <a:latin typeface="Arial"/>
                <a:cs typeface="Arial"/>
              </a:rPr>
              <a:t>digits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800" spc="-204" dirty="0">
                <a:solidFill>
                  <a:srgbClr val="006FC0"/>
                </a:solidFill>
                <a:latin typeface="Arial"/>
                <a:cs typeface="Arial"/>
              </a:rPr>
              <a:t>compared. </a:t>
            </a:r>
            <a:r>
              <a:rPr sz="2800" spc="-235" dirty="0">
                <a:solidFill>
                  <a:srgbClr val="006FC0"/>
                </a:solidFill>
                <a:latin typeface="Arial"/>
                <a:cs typeface="Arial"/>
              </a:rPr>
              <a:t>The  </a:t>
            </a:r>
            <a:r>
              <a:rPr sz="2800" spc="-204" dirty="0">
                <a:solidFill>
                  <a:srgbClr val="006FC0"/>
                </a:solidFill>
                <a:latin typeface="Arial"/>
                <a:cs typeface="Arial"/>
              </a:rPr>
              <a:t>comparison </a:t>
            </a:r>
            <a:r>
              <a:rPr sz="2800" spc="-275" dirty="0">
                <a:solidFill>
                  <a:srgbClr val="006FC0"/>
                </a:solidFill>
                <a:latin typeface="Arial"/>
                <a:cs typeface="Arial"/>
              </a:rPr>
              <a:t>process </a:t>
            </a:r>
            <a:r>
              <a:rPr sz="2800" spc="-270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continued </a:t>
            </a:r>
            <a:r>
              <a:rPr sz="2800" spc="-85" dirty="0">
                <a:latin typeface="Arial"/>
                <a:cs typeface="Arial"/>
              </a:rPr>
              <a:t>until </a:t>
            </a:r>
            <a:r>
              <a:rPr sz="2800" spc="-395" dirty="0">
                <a:latin typeface="Arial"/>
                <a:cs typeface="Arial"/>
              </a:rPr>
              <a:t>a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spc="-145" dirty="0">
                <a:latin typeface="Arial"/>
                <a:cs typeface="Arial"/>
              </a:rPr>
              <a:t>pair </a:t>
            </a:r>
            <a:r>
              <a:rPr sz="2800" spc="-75" dirty="0">
                <a:latin typeface="Arial"/>
                <a:cs typeface="Arial"/>
              </a:rPr>
              <a:t>of </a:t>
            </a:r>
            <a:r>
              <a:rPr sz="2800" spc="-229" dirty="0">
                <a:latin typeface="Arial"/>
                <a:cs typeface="Arial"/>
              </a:rPr>
              <a:t>unequal  </a:t>
            </a:r>
            <a:r>
              <a:rPr sz="2800" spc="-165" dirty="0">
                <a:latin typeface="Arial"/>
                <a:cs typeface="Arial"/>
              </a:rPr>
              <a:t>digits </a:t>
            </a:r>
            <a:r>
              <a:rPr sz="2800" spc="-265" dirty="0">
                <a:latin typeface="Arial"/>
                <a:cs typeface="Arial"/>
              </a:rPr>
              <a:t>is</a:t>
            </a:r>
            <a:r>
              <a:rPr sz="2800" spc="145" dirty="0">
                <a:latin typeface="Arial"/>
                <a:cs typeface="Arial"/>
              </a:rPr>
              <a:t> </a:t>
            </a:r>
            <a:r>
              <a:rPr sz="2800" spc="-150" dirty="0">
                <a:latin typeface="Arial"/>
                <a:cs typeface="Arial"/>
              </a:rPr>
              <a:t>found</a:t>
            </a:r>
            <a:r>
              <a:rPr sz="2800" spc="-150" dirty="0">
                <a:solidFill>
                  <a:srgbClr val="006FC0"/>
                </a:solidFill>
                <a:latin typeface="Arial"/>
                <a:cs typeface="Arial"/>
              </a:rPr>
              <a:t>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F79546"/>
              </a:buClr>
              <a:buFont typeface="Wingdings"/>
              <a:buChar char=""/>
            </a:pPr>
            <a:endParaRPr sz="2900">
              <a:latin typeface="Arial"/>
              <a:cs typeface="Arial"/>
            </a:endParaRPr>
          </a:p>
          <a:p>
            <a:pPr marL="476884" marR="5080" indent="-464820" algn="just">
              <a:lnSpc>
                <a:spcPct val="100000"/>
              </a:lnSpc>
              <a:buClr>
                <a:srgbClr val="F79546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35" dirty="0">
                <a:solidFill>
                  <a:srgbClr val="006FC0"/>
                </a:solidFill>
                <a:latin typeface="Arial"/>
                <a:cs typeface="Arial"/>
              </a:rPr>
              <a:t>It </a:t>
            </a:r>
            <a:r>
              <a:rPr sz="2800" spc="-260" dirty="0">
                <a:solidFill>
                  <a:srgbClr val="006FC0"/>
                </a:solidFill>
                <a:latin typeface="Arial"/>
                <a:cs typeface="Arial"/>
              </a:rPr>
              <a:t>may </a:t>
            </a:r>
            <a:r>
              <a:rPr sz="2800" spc="-280" dirty="0">
                <a:solidFill>
                  <a:srgbClr val="006FC0"/>
                </a:solidFill>
                <a:latin typeface="Arial"/>
                <a:cs typeface="Arial"/>
              </a:rPr>
              <a:t>be </a:t>
            </a:r>
            <a:r>
              <a:rPr sz="2800" spc="-195" dirty="0">
                <a:solidFill>
                  <a:srgbClr val="006FC0"/>
                </a:solidFill>
                <a:latin typeface="Arial"/>
                <a:cs typeface="Arial"/>
              </a:rPr>
              <a:t>concluded </a:t>
            </a:r>
            <a:r>
              <a:rPr sz="2800" spc="-125" dirty="0">
                <a:solidFill>
                  <a:srgbClr val="006FC0"/>
                </a:solidFill>
                <a:latin typeface="Arial"/>
                <a:cs typeface="Arial"/>
              </a:rPr>
              <a:t>that </a:t>
            </a:r>
            <a:r>
              <a:rPr sz="2800" spc="-135" dirty="0">
                <a:solidFill>
                  <a:srgbClr val="006FC0"/>
                </a:solidFill>
                <a:latin typeface="Arial"/>
                <a:cs typeface="Arial"/>
              </a:rPr>
              <a:t>A&gt;B, 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if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200" dirty="0">
                <a:solidFill>
                  <a:srgbClr val="006FC0"/>
                </a:solidFill>
                <a:latin typeface="Arial"/>
                <a:cs typeface="Arial"/>
              </a:rPr>
              <a:t>corresponding </a:t>
            </a:r>
            <a:r>
              <a:rPr sz="2800" spc="-100" dirty="0">
                <a:solidFill>
                  <a:srgbClr val="006FC0"/>
                </a:solidFill>
                <a:latin typeface="Arial"/>
                <a:cs typeface="Arial"/>
              </a:rPr>
              <a:t>digit  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135" dirty="0">
                <a:solidFill>
                  <a:srgbClr val="006FC0"/>
                </a:solidFill>
                <a:latin typeface="Arial"/>
                <a:cs typeface="Arial"/>
              </a:rPr>
              <a:t>A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800" spc="-400" dirty="0">
                <a:solidFill>
                  <a:srgbClr val="006FC0"/>
                </a:solidFill>
                <a:latin typeface="Arial"/>
                <a:cs typeface="Arial"/>
              </a:rPr>
              <a:t>1 </a:t>
            </a:r>
            <a:r>
              <a:rPr sz="2800" spc="-260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spc="-425" dirty="0">
                <a:solidFill>
                  <a:srgbClr val="006FC0"/>
                </a:solidFill>
                <a:latin typeface="Arial"/>
                <a:cs typeface="Arial"/>
              </a:rPr>
              <a:t>B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800" spc="-280" dirty="0">
                <a:solidFill>
                  <a:srgbClr val="006FC0"/>
                </a:solidFill>
                <a:latin typeface="Arial"/>
                <a:cs typeface="Arial"/>
              </a:rPr>
              <a:t>0. </a:t>
            </a:r>
            <a:r>
              <a:rPr sz="2800" spc="5" dirty="0">
                <a:solidFill>
                  <a:srgbClr val="006FC0"/>
                </a:solidFill>
                <a:latin typeface="Arial"/>
                <a:cs typeface="Arial"/>
              </a:rPr>
              <a:t>If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200" dirty="0">
                <a:solidFill>
                  <a:srgbClr val="006FC0"/>
                </a:solidFill>
                <a:latin typeface="Arial"/>
                <a:cs typeface="Arial"/>
              </a:rPr>
              <a:t>corresponding </a:t>
            </a:r>
            <a:r>
              <a:rPr sz="2800" spc="-100" dirty="0">
                <a:solidFill>
                  <a:srgbClr val="006FC0"/>
                </a:solidFill>
                <a:latin typeface="Arial"/>
                <a:cs typeface="Arial"/>
              </a:rPr>
              <a:t>digit </a:t>
            </a:r>
            <a:r>
              <a:rPr sz="2800" spc="-80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135" dirty="0">
                <a:solidFill>
                  <a:srgbClr val="006FC0"/>
                </a:solidFill>
                <a:latin typeface="Arial"/>
                <a:cs typeface="Arial"/>
              </a:rPr>
              <a:t>A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800" spc="-400" dirty="0">
                <a:solidFill>
                  <a:srgbClr val="006FC0"/>
                </a:solidFill>
                <a:latin typeface="Arial"/>
                <a:cs typeface="Arial"/>
              </a:rPr>
              <a:t>0  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spc="-425" dirty="0">
                <a:solidFill>
                  <a:srgbClr val="006FC0"/>
                </a:solidFill>
                <a:latin typeface="Arial"/>
                <a:cs typeface="Arial"/>
              </a:rPr>
              <a:t>B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800" spc="-280" dirty="0">
                <a:solidFill>
                  <a:srgbClr val="006FC0"/>
                </a:solidFill>
                <a:latin typeface="Arial"/>
                <a:cs typeface="Arial"/>
              </a:rPr>
              <a:t>1, </a:t>
            </a:r>
            <a:r>
              <a:rPr sz="2800" spc="-300" dirty="0">
                <a:solidFill>
                  <a:srgbClr val="006FC0"/>
                </a:solidFill>
                <a:latin typeface="Arial"/>
                <a:cs typeface="Arial"/>
              </a:rPr>
              <a:t>we </a:t>
            </a:r>
            <a:r>
              <a:rPr sz="2800" spc="-195" dirty="0">
                <a:solidFill>
                  <a:srgbClr val="006FC0"/>
                </a:solidFill>
                <a:latin typeface="Arial"/>
                <a:cs typeface="Arial"/>
              </a:rPr>
              <a:t>conclude </a:t>
            </a:r>
            <a:r>
              <a:rPr sz="2800" spc="-125" dirty="0">
                <a:solidFill>
                  <a:srgbClr val="006FC0"/>
                </a:solidFill>
                <a:latin typeface="Arial"/>
                <a:cs typeface="Arial"/>
              </a:rPr>
              <a:t>that</a:t>
            </a:r>
            <a:r>
              <a:rPr sz="2800" spc="-18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135" dirty="0">
                <a:solidFill>
                  <a:srgbClr val="006FC0"/>
                </a:solidFill>
                <a:latin typeface="Arial"/>
                <a:cs typeface="Arial"/>
              </a:rPr>
              <a:t>A&lt;B.</a:t>
            </a:r>
            <a:endParaRPr sz="2800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134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1938527" y="202679"/>
              <a:ext cx="5260848" cy="9342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212594" y="321386"/>
            <a:ext cx="471741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30" dirty="0"/>
              <a:t>MAGNITUDE</a:t>
            </a:r>
            <a:r>
              <a:rPr spc="-80" dirty="0"/>
              <a:t> </a:t>
            </a:r>
            <a:r>
              <a:rPr spc="-114" dirty="0"/>
              <a:t>COMPARATOR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sp>
          <p:nvSpPr>
            <p:cNvPr id="8" name="object 8"/>
            <p:cNvSpPr/>
            <p:nvPr/>
          </p:nvSpPr>
          <p:spPr>
            <a:xfrm>
              <a:off x="8593835" y="6620255"/>
              <a:ext cx="550164" cy="23774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630411" y="6556243"/>
              <a:ext cx="513588" cy="3017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83540" y="1029750"/>
            <a:ext cx="8378825" cy="5317490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R="179070" algn="ctr">
              <a:lnSpc>
                <a:spcPct val="100000"/>
              </a:lnSpc>
              <a:spcBef>
                <a:spcPts val="440"/>
              </a:spcBef>
            </a:pPr>
            <a:r>
              <a:rPr sz="2000" b="1" spc="-195" dirty="0">
                <a:solidFill>
                  <a:srgbClr val="C00000"/>
                </a:solidFill>
                <a:latin typeface="Arial"/>
                <a:cs typeface="Arial"/>
              </a:rPr>
              <a:t>4-Bit </a:t>
            </a:r>
            <a:r>
              <a:rPr sz="2000" b="1" spc="-200" dirty="0">
                <a:solidFill>
                  <a:srgbClr val="C00000"/>
                </a:solidFill>
                <a:latin typeface="Arial"/>
                <a:cs typeface="Arial"/>
              </a:rPr>
              <a:t>Magnitude</a:t>
            </a:r>
            <a:r>
              <a:rPr sz="2000" b="1" spc="-26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200" dirty="0">
                <a:solidFill>
                  <a:srgbClr val="C00000"/>
                </a:solidFill>
                <a:latin typeface="Arial"/>
                <a:cs typeface="Arial"/>
              </a:rPr>
              <a:t>Comparator</a:t>
            </a:r>
            <a:endParaRPr sz="2000">
              <a:latin typeface="Arial"/>
              <a:cs typeface="Arial"/>
            </a:endParaRPr>
          </a:p>
          <a:p>
            <a:pPr marL="476884" marR="6350" indent="-464820">
              <a:lnSpc>
                <a:spcPct val="100000"/>
              </a:lnSpc>
              <a:spcBef>
                <a:spcPts val="470"/>
              </a:spcBef>
              <a:buClr>
                <a:srgbClr val="F79546"/>
              </a:buClr>
              <a:buFont typeface="Wingdings"/>
              <a:buChar char=""/>
              <a:tabLst>
                <a:tab pos="476884" algn="l"/>
                <a:tab pos="477520" algn="l"/>
                <a:tab pos="955675" algn="l"/>
                <a:tab pos="1309370" algn="l"/>
                <a:tab pos="2115820" algn="l"/>
                <a:tab pos="3909695" algn="l"/>
                <a:tab pos="4548505" algn="l"/>
                <a:tab pos="6038850" algn="l"/>
                <a:tab pos="6520815" algn="l"/>
                <a:tab pos="7364095" algn="l"/>
                <a:tab pos="8037195" algn="l"/>
              </a:tabLst>
            </a:pPr>
            <a:r>
              <a:rPr sz="2800" spc="-100" dirty="0">
                <a:solidFill>
                  <a:srgbClr val="006FC0"/>
                </a:solidFill>
                <a:latin typeface="Arial"/>
                <a:cs typeface="Arial"/>
              </a:rPr>
              <a:t>In	</a:t>
            </a:r>
            <a:r>
              <a:rPr sz="2800" spc="-395" dirty="0">
                <a:solidFill>
                  <a:srgbClr val="006FC0"/>
                </a:solidFill>
                <a:latin typeface="Arial"/>
                <a:cs typeface="Arial"/>
              </a:rPr>
              <a:t>a	</a:t>
            </a:r>
            <a:r>
              <a:rPr sz="2800" spc="-409" dirty="0">
                <a:solidFill>
                  <a:srgbClr val="006FC0"/>
                </a:solidFill>
                <a:latin typeface="Arial"/>
                <a:cs typeface="Arial"/>
              </a:rPr>
              <a:t>4</a:t>
            </a:r>
            <a:r>
              <a:rPr sz="2800" spc="-155" dirty="0">
                <a:solidFill>
                  <a:srgbClr val="006FC0"/>
                </a:solidFill>
                <a:latin typeface="Arial"/>
                <a:cs typeface="Arial"/>
              </a:rPr>
              <a:t>-</a:t>
            </a:r>
            <a:r>
              <a:rPr sz="2800" spc="-55" dirty="0">
                <a:solidFill>
                  <a:srgbClr val="006FC0"/>
                </a:solidFill>
                <a:latin typeface="Arial"/>
                <a:cs typeface="Arial"/>
              </a:rPr>
              <a:t>bit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204" dirty="0">
                <a:solidFill>
                  <a:srgbClr val="006FC0"/>
                </a:solidFill>
                <a:latin typeface="Arial"/>
                <a:cs typeface="Arial"/>
              </a:rPr>
              <a:t>com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p</a:t>
            </a:r>
            <a:r>
              <a:rPr sz="2800" spc="-204" dirty="0">
                <a:solidFill>
                  <a:srgbClr val="006FC0"/>
                </a:solidFill>
                <a:latin typeface="Arial"/>
                <a:cs typeface="Arial"/>
              </a:rPr>
              <a:t>ara</a:t>
            </a:r>
            <a:r>
              <a:rPr sz="2800" spc="-130" dirty="0">
                <a:solidFill>
                  <a:srgbClr val="006FC0"/>
                </a:solidFill>
                <a:latin typeface="Arial"/>
                <a:cs typeface="Arial"/>
              </a:rPr>
              <a:t>t</a:t>
            </a:r>
            <a:r>
              <a:rPr sz="2800" spc="-80" dirty="0">
                <a:solidFill>
                  <a:srgbClr val="006FC0"/>
                </a:solidFill>
                <a:latin typeface="Arial"/>
                <a:cs typeface="Arial"/>
              </a:rPr>
              <a:t>or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155" dirty="0">
                <a:solidFill>
                  <a:srgbClr val="006FC0"/>
                </a:solidFill>
                <a:latin typeface="Arial"/>
                <a:cs typeface="Arial"/>
              </a:rPr>
              <a:t>th</a:t>
            </a:r>
            <a:r>
              <a:rPr sz="2800" spc="-200" dirty="0">
                <a:solidFill>
                  <a:srgbClr val="006FC0"/>
                </a:solidFill>
                <a:latin typeface="Arial"/>
                <a:cs typeface="Arial"/>
              </a:rPr>
              <a:t>e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c</a:t>
            </a:r>
            <a:r>
              <a:rPr sz="2800" spc="-160" dirty="0">
                <a:solidFill>
                  <a:srgbClr val="006FC0"/>
                </a:solidFill>
                <a:latin typeface="Arial"/>
                <a:cs typeface="Arial"/>
              </a:rPr>
              <a:t>ond</a:t>
            </a:r>
            <a:r>
              <a:rPr sz="2800" spc="-60" dirty="0">
                <a:solidFill>
                  <a:srgbClr val="006FC0"/>
                </a:solidFill>
                <a:latin typeface="Arial"/>
                <a:cs typeface="Arial"/>
              </a:rPr>
              <a:t>i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tio</a:t>
            </a:r>
            <a:r>
              <a:rPr sz="2800" spc="-114" dirty="0">
                <a:solidFill>
                  <a:srgbClr val="006FC0"/>
                </a:solidFill>
                <a:latin typeface="Arial"/>
                <a:cs typeface="Arial"/>
              </a:rPr>
              <a:t>n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110" dirty="0">
                <a:solidFill>
                  <a:srgbClr val="006FC0"/>
                </a:solidFill>
                <a:latin typeface="Arial"/>
                <a:cs typeface="Arial"/>
              </a:rPr>
              <a:t>o</a:t>
            </a:r>
            <a:r>
              <a:rPr sz="2800" spc="-50" dirty="0">
                <a:solidFill>
                  <a:srgbClr val="006FC0"/>
                </a:solidFill>
                <a:latin typeface="Arial"/>
                <a:cs typeface="Arial"/>
              </a:rPr>
              <a:t>f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35" dirty="0">
                <a:solidFill>
                  <a:srgbClr val="006FC0"/>
                </a:solidFill>
                <a:latin typeface="Arial"/>
                <a:cs typeface="Arial"/>
              </a:rPr>
              <a:t>A&gt;</a:t>
            </a:r>
            <a:r>
              <a:rPr sz="2800" spc="-425" dirty="0">
                <a:solidFill>
                  <a:srgbClr val="006FC0"/>
                </a:solidFill>
                <a:latin typeface="Arial"/>
                <a:cs typeface="Arial"/>
              </a:rPr>
              <a:t>B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280" dirty="0">
                <a:solidFill>
                  <a:srgbClr val="006FC0"/>
                </a:solidFill>
                <a:latin typeface="Arial"/>
                <a:cs typeface="Arial"/>
              </a:rPr>
              <a:t>ca</a:t>
            </a:r>
            <a:r>
              <a:rPr sz="2800" spc="-290" dirty="0">
                <a:solidFill>
                  <a:srgbClr val="006FC0"/>
                </a:solidFill>
                <a:latin typeface="Arial"/>
                <a:cs typeface="Arial"/>
              </a:rPr>
              <a:t>n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210" dirty="0">
                <a:solidFill>
                  <a:srgbClr val="006FC0"/>
                </a:solidFill>
                <a:latin typeface="Arial"/>
                <a:cs typeface="Arial"/>
              </a:rPr>
              <a:t>be  </a:t>
            </a:r>
            <a:r>
              <a:rPr sz="2800" spc="-240" dirty="0">
                <a:solidFill>
                  <a:srgbClr val="006FC0"/>
                </a:solidFill>
                <a:latin typeface="Arial"/>
                <a:cs typeface="Arial"/>
              </a:rPr>
              <a:t>possible </a:t>
            </a:r>
            <a:r>
              <a:rPr sz="2800" spc="-110" dirty="0">
                <a:solidFill>
                  <a:srgbClr val="006FC0"/>
                </a:solidFill>
                <a:latin typeface="Arial"/>
                <a:cs typeface="Arial"/>
              </a:rPr>
              <a:t>in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25" dirty="0">
                <a:solidFill>
                  <a:srgbClr val="006FC0"/>
                </a:solidFill>
                <a:latin typeface="Arial"/>
                <a:cs typeface="Arial"/>
              </a:rPr>
              <a:t>following </a:t>
            </a:r>
            <a:r>
              <a:rPr sz="2800" spc="-90" dirty="0">
                <a:solidFill>
                  <a:srgbClr val="006FC0"/>
                </a:solidFill>
                <a:latin typeface="Arial"/>
                <a:cs typeface="Arial"/>
              </a:rPr>
              <a:t>four</a:t>
            </a:r>
            <a:r>
              <a:rPr sz="2800" spc="1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335" dirty="0">
                <a:solidFill>
                  <a:srgbClr val="006FC0"/>
                </a:solidFill>
                <a:latin typeface="Arial"/>
                <a:cs typeface="Arial"/>
              </a:rPr>
              <a:t>cases:</a:t>
            </a:r>
            <a:endParaRPr sz="2800">
              <a:latin typeface="Arial"/>
              <a:cs typeface="Arial"/>
            </a:endParaRPr>
          </a:p>
          <a:p>
            <a:pPr marL="984885" lvl="1" indent="-515620">
              <a:lnSpc>
                <a:spcPct val="100000"/>
              </a:lnSpc>
              <a:spcBef>
                <a:spcPts val="50"/>
              </a:spcBef>
              <a:buClr>
                <a:srgbClr val="F79546"/>
              </a:buClr>
              <a:buAutoNum type="arabicPeriod"/>
              <a:tabLst>
                <a:tab pos="984885" algn="l"/>
                <a:tab pos="985519" algn="l"/>
              </a:tabLst>
            </a:pPr>
            <a:r>
              <a:rPr sz="2400" spc="10" dirty="0">
                <a:latin typeface="Arial"/>
                <a:cs typeface="Arial"/>
              </a:rPr>
              <a:t>If </a:t>
            </a:r>
            <a:r>
              <a:rPr sz="2400" spc="-114" dirty="0">
                <a:latin typeface="Arial"/>
                <a:cs typeface="Arial"/>
              </a:rPr>
              <a:t>A3 </a:t>
            </a:r>
            <a:r>
              <a:rPr sz="2400" spc="60" dirty="0">
                <a:latin typeface="Arial"/>
                <a:cs typeface="Arial"/>
              </a:rPr>
              <a:t>= </a:t>
            </a:r>
            <a:r>
              <a:rPr sz="2400" spc="-340" dirty="0">
                <a:latin typeface="Arial"/>
                <a:cs typeface="Arial"/>
              </a:rPr>
              <a:t>1 </a:t>
            </a:r>
            <a:r>
              <a:rPr sz="2400" spc="-215" dirty="0">
                <a:latin typeface="Arial"/>
                <a:cs typeface="Arial"/>
              </a:rPr>
              <a:t>and </a:t>
            </a:r>
            <a:r>
              <a:rPr sz="2400" spc="-355" dirty="0">
                <a:latin typeface="Arial"/>
                <a:cs typeface="Arial"/>
              </a:rPr>
              <a:t>B3 </a:t>
            </a:r>
            <a:r>
              <a:rPr sz="2400" spc="60" dirty="0">
                <a:latin typeface="Arial"/>
                <a:cs typeface="Arial"/>
              </a:rPr>
              <a:t>=</a:t>
            </a:r>
            <a:r>
              <a:rPr sz="2400" spc="-175" dirty="0">
                <a:latin typeface="Arial"/>
                <a:cs typeface="Arial"/>
              </a:rPr>
              <a:t> </a:t>
            </a:r>
            <a:r>
              <a:rPr sz="2400" spc="-340" dirty="0">
                <a:latin typeface="Arial"/>
                <a:cs typeface="Arial"/>
              </a:rPr>
              <a:t>0</a:t>
            </a:r>
            <a:endParaRPr sz="2400">
              <a:latin typeface="Arial"/>
              <a:cs typeface="Arial"/>
            </a:endParaRPr>
          </a:p>
          <a:p>
            <a:pPr marL="984885" lvl="1" indent="-515620">
              <a:lnSpc>
                <a:spcPct val="100000"/>
              </a:lnSpc>
              <a:buClr>
                <a:srgbClr val="F79546"/>
              </a:buClr>
              <a:buAutoNum type="arabicPeriod"/>
              <a:tabLst>
                <a:tab pos="984885" algn="l"/>
                <a:tab pos="985519" algn="l"/>
              </a:tabLst>
            </a:pPr>
            <a:r>
              <a:rPr sz="2400" spc="10" dirty="0">
                <a:latin typeface="Arial"/>
                <a:cs typeface="Arial"/>
              </a:rPr>
              <a:t>If </a:t>
            </a:r>
            <a:r>
              <a:rPr sz="2400" spc="-114" dirty="0">
                <a:latin typeface="Arial"/>
                <a:cs typeface="Arial"/>
              </a:rPr>
              <a:t>A3 </a:t>
            </a:r>
            <a:r>
              <a:rPr sz="2400" spc="60" dirty="0">
                <a:latin typeface="Arial"/>
                <a:cs typeface="Arial"/>
              </a:rPr>
              <a:t>= </a:t>
            </a:r>
            <a:r>
              <a:rPr sz="2400" spc="-355" dirty="0">
                <a:latin typeface="Arial"/>
                <a:cs typeface="Arial"/>
              </a:rPr>
              <a:t>B3 </a:t>
            </a:r>
            <a:r>
              <a:rPr sz="2400" spc="-215" dirty="0">
                <a:latin typeface="Arial"/>
                <a:cs typeface="Arial"/>
              </a:rPr>
              <a:t>and </a:t>
            </a:r>
            <a:r>
              <a:rPr sz="2400" spc="-114" dirty="0">
                <a:latin typeface="Arial"/>
                <a:cs typeface="Arial"/>
              </a:rPr>
              <a:t>A2 </a:t>
            </a:r>
            <a:r>
              <a:rPr sz="2400" spc="60" dirty="0">
                <a:latin typeface="Arial"/>
                <a:cs typeface="Arial"/>
              </a:rPr>
              <a:t>= </a:t>
            </a:r>
            <a:r>
              <a:rPr sz="2400" spc="-340" dirty="0">
                <a:latin typeface="Arial"/>
                <a:cs typeface="Arial"/>
              </a:rPr>
              <a:t>1 </a:t>
            </a:r>
            <a:r>
              <a:rPr sz="2400" spc="-215" dirty="0">
                <a:latin typeface="Arial"/>
                <a:cs typeface="Arial"/>
              </a:rPr>
              <a:t>and </a:t>
            </a:r>
            <a:r>
              <a:rPr sz="2400" spc="-355" dirty="0">
                <a:latin typeface="Arial"/>
                <a:cs typeface="Arial"/>
              </a:rPr>
              <a:t>B2 </a:t>
            </a:r>
            <a:r>
              <a:rPr sz="2400" spc="60" dirty="0">
                <a:latin typeface="Arial"/>
                <a:cs typeface="Arial"/>
              </a:rPr>
              <a:t>=</a:t>
            </a:r>
            <a:r>
              <a:rPr sz="2400" spc="-330" dirty="0">
                <a:latin typeface="Arial"/>
                <a:cs typeface="Arial"/>
              </a:rPr>
              <a:t> </a:t>
            </a:r>
            <a:r>
              <a:rPr sz="2400" spc="-340" dirty="0">
                <a:latin typeface="Arial"/>
                <a:cs typeface="Arial"/>
              </a:rPr>
              <a:t>0</a:t>
            </a:r>
            <a:endParaRPr sz="2400">
              <a:latin typeface="Arial"/>
              <a:cs typeface="Arial"/>
            </a:endParaRPr>
          </a:p>
          <a:p>
            <a:pPr marL="984885" lvl="1" indent="-515620">
              <a:lnSpc>
                <a:spcPct val="100000"/>
              </a:lnSpc>
              <a:buClr>
                <a:srgbClr val="F79546"/>
              </a:buClr>
              <a:buAutoNum type="arabicPeriod"/>
              <a:tabLst>
                <a:tab pos="984885" algn="l"/>
                <a:tab pos="985519" algn="l"/>
              </a:tabLst>
            </a:pPr>
            <a:r>
              <a:rPr sz="2400" spc="10" dirty="0">
                <a:latin typeface="Arial"/>
                <a:cs typeface="Arial"/>
              </a:rPr>
              <a:t>If </a:t>
            </a:r>
            <a:r>
              <a:rPr sz="2400" spc="-114" dirty="0">
                <a:latin typeface="Arial"/>
                <a:cs typeface="Arial"/>
              </a:rPr>
              <a:t>A3 </a:t>
            </a:r>
            <a:r>
              <a:rPr sz="2400" spc="60" dirty="0">
                <a:latin typeface="Arial"/>
                <a:cs typeface="Arial"/>
              </a:rPr>
              <a:t>= </a:t>
            </a:r>
            <a:r>
              <a:rPr sz="2400" spc="-285" dirty="0">
                <a:latin typeface="Arial"/>
                <a:cs typeface="Arial"/>
              </a:rPr>
              <a:t>B3, </a:t>
            </a:r>
            <a:r>
              <a:rPr sz="2400" spc="-114" dirty="0">
                <a:latin typeface="Arial"/>
                <a:cs typeface="Arial"/>
              </a:rPr>
              <a:t>A2 </a:t>
            </a:r>
            <a:r>
              <a:rPr sz="2400" spc="60" dirty="0">
                <a:latin typeface="Arial"/>
                <a:cs typeface="Arial"/>
              </a:rPr>
              <a:t>= </a:t>
            </a:r>
            <a:r>
              <a:rPr sz="2400" spc="-355" dirty="0">
                <a:latin typeface="Arial"/>
                <a:cs typeface="Arial"/>
              </a:rPr>
              <a:t>B2 </a:t>
            </a:r>
            <a:r>
              <a:rPr sz="2400" spc="-215" dirty="0">
                <a:latin typeface="Arial"/>
                <a:cs typeface="Arial"/>
              </a:rPr>
              <a:t>and </a:t>
            </a:r>
            <a:r>
              <a:rPr sz="2400" spc="-114" dirty="0">
                <a:latin typeface="Arial"/>
                <a:cs typeface="Arial"/>
              </a:rPr>
              <a:t>A1 </a:t>
            </a:r>
            <a:r>
              <a:rPr sz="2400" spc="60" dirty="0">
                <a:latin typeface="Arial"/>
                <a:cs typeface="Arial"/>
              </a:rPr>
              <a:t>= </a:t>
            </a:r>
            <a:r>
              <a:rPr sz="2400" spc="-340" dirty="0">
                <a:latin typeface="Arial"/>
                <a:cs typeface="Arial"/>
              </a:rPr>
              <a:t>1 </a:t>
            </a:r>
            <a:r>
              <a:rPr sz="2400" spc="-215" dirty="0">
                <a:latin typeface="Arial"/>
                <a:cs typeface="Arial"/>
              </a:rPr>
              <a:t>and </a:t>
            </a:r>
            <a:r>
              <a:rPr sz="2400" spc="-355" dirty="0">
                <a:latin typeface="Arial"/>
                <a:cs typeface="Arial"/>
              </a:rPr>
              <a:t>B1 </a:t>
            </a:r>
            <a:r>
              <a:rPr sz="2400" spc="60" dirty="0">
                <a:latin typeface="Arial"/>
                <a:cs typeface="Arial"/>
              </a:rPr>
              <a:t>=</a:t>
            </a:r>
            <a:r>
              <a:rPr sz="2400" spc="-375" dirty="0">
                <a:latin typeface="Arial"/>
                <a:cs typeface="Arial"/>
              </a:rPr>
              <a:t> </a:t>
            </a:r>
            <a:r>
              <a:rPr sz="2400" spc="-340" dirty="0">
                <a:latin typeface="Arial"/>
                <a:cs typeface="Arial"/>
              </a:rPr>
              <a:t>0</a:t>
            </a:r>
            <a:endParaRPr sz="24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tabLst>
                <a:tab pos="984885" algn="l"/>
              </a:tabLst>
            </a:pPr>
            <a:r>
              <a:rPr sz="2400" spc="-240" dirty="0">
                <a:solidFill>
                  <a:srgbClr val="F79546"/>
                </a:solidFill>
                <a:latin typeface="Arial"/>
                <a:cs typeface="Arial"/>
              </a:rPr>
              <a:t>4.	</a:t>
            </a:r>
            <a:r>
              <a:rPr sz="2400" spc="10" dirty="0">
                <a:latin typeface="Arial"/>
                <a:cs typeface="Arial"/>
              </a:rPr>
              <a:t>If </a:t>
            </a:r>
            <a:r>
              <a:rPr sz="2400" spc="-114" dirty="0">
                <a:latin typeface="Arial"/>
                <a:cs typeface="Arial"/>
              </a:rPr>
              <a:t>A3 </a:t>
            </a:r>
            <a:r>
              <a:rPr sz="2400" spc="60" dirty="0">
                <a:latin typeface="Arial"/>
                <a:cs typeface="Arial"/>
              </a:rPr>
              <a:t>= </a:t>
            </a:r>
            <a:r>
              <a:rPr sz="2400" spc="-285" dirty="0">
                <a:latin typeface="Arial"/>
                <a:cs typeface="Arial"/>
              </a:rPr>
              <a:t>B3, </a:t>
            </a:r>
            <a:r>
              <a:rPr sz="2400" spc="-114" dirty="0">
                <a:latin typeface="Arial"/>
                <a:cs typeface="Arial"/>
              </a:rPr>
              <a:t>A2 </a:t>
            </a:r>
            <a:r>
              <a:rPr sz="2400" spc="60" dirty="0">
                <a:latin typeface="Arial"/>
                <a:cs typeface="Arial"/>
              </a:rPr>
              <a:t>= </a:t>
            </a:r>
            <a:r>
              <a:rPr sz="2400" spc="-285" dirty="0">
                <a:latin typeface="Arial"/>
                <a:cs typeface="Arial"/>
              </a:rPr>
              <a:t>B2, </a:t>
            </a:r>
            <a:r>
              <a:rPr sz="2400" spc="-114" dirty="0">
                <a:latin typeface="Arial"/>
                <a:cs typeface="Arial"/>
              </a:rPr>
              <a:t>A1 </a:t>
            </a:r>
            <a:r>
              <a:rPr sz="2400" spc="60" dirty="0">
                <a:latin typeface="Arial"/>
                <a:cs typeface="Arial"/>
              </a:rPr>
              <a:t>= </a:t>
            </a:r>
            <a:r>
              <a:rPr sz="2400" spc="-355" dirty="0">
                <a:latin typeface="Arial"/>
                <a:cs typeface="Arial"/>
              </a:rPr>
              <a:t>B1 </a:t>
            </a:r>
            <a:r>
              <a:rPr sz="2400" spc="-215" dirty="0">
                <a:latin typeface="Arial"/>
                <a:cs typeface="Arial"/>
              </a:rPr>
              <a:t>and </a:t>
            </a:r>
            <a:r>
              <a:rPr sz="2400" spc="-114" dirty="0">
                <a:latin typeface="Arial"/>
                <a:cs typeface="Arial"/>
              </a:rPr>
              <a:t>A0 </a:t>
            </a:r>
            <a:r>
              <a:rPr sz="2400" spc="60" dirty="0">
                <a:latin typeface="Arial"/>
                <a:cs typeface="Arial"/>
              </a:rPr>
              <a:t>= </a:t>
            </a:r>
            <a:r>
              <a:rPr sz="2400" spc="-340" dirty="0">
                <a:latin typeface="Arial"/>
                <a:cs typeface="Arial"/>
              </a:rPr>
              <a:t>1 </a:t>
            </a:r>
            <a:r>
              <a:rPr sz="2400" spc="-215" dirty="0">
                <a:latin typeface="Arial"/>
                <a:cs typeface="Arial"/>
              </a:rPr>
              <a:t>and </a:t>
            </a:r>
            <a:r>
              <a:rPr sz="2400" spc="-355" dirty="0">
                <a:latin typeface="Arial"/>
                <a:cs typeface="Arial"/>
              </a:rPr>
              <a:t>B0 </a:t>
            </a:r>
            <a:r>
              <a:rPr sz="2400" spc="60" dirty="0">
                <a:latin typeface="Arial"/>
                <a:cs typeface="Arial"/>
              </a:rPr>
              <a:t>=</a:t>
            </a:r>
            <a:r>
              <a:rPr sz="2400" spc="-465" dirty="0">
                <a:latin typeface="Arial"/>
                <a:cs typeface="Arial"/>
              </a:rPr>
              <a:t> </a:t>
            </a:r>
            <a:r>
              <a:rPr sz="2400" spc="-340" dirty="0">
                <a:latin typeface="Arial"/>
                <a:cs typeface="Arial"/>
              </a:rPr>
              <a:t>0</a:t>
            </a:r>
            <a:endParaRPr sz="2400">
              <a:latin typeface="Arial"/>
              <a:cs typeface="Arial"/>
            </a:endParaRPr>
          </a:p>
          <a:p>
            <a:pPr marL="455930" marR="5080" indent="-443865">
              <a:lnSpc>
                <a:spcPct val="100000"/>
              </a:lnSpc>
              <a:spcBef>
                <a:spcPts val="1870"/>
              </a:spcBef>
              <a:buClr>
                <a:srgbClr val="F79546"/>
              </a:buClr>
              <a:buFont typeface="Wingdings"/>
              <a:buChar char=""/>
              <a:tabLst>
                <a:tab pos="456565" algn="l"/>
                <a:tab pos="1788160" algn="l"/>
                <a:tab pos="2382520" algn="l"/>
                <a:tab pos="3829050" algn="l"/>
                <a:tab pos="4388485" algn="l"/>
                <a:tab pos="5185410" algn="l"/>
                <a:tab pos="5815330" algn="l"/>
                <a:tab pos="6299835" algn="l"/>
                <a:tab pos="7524115" algn="l"/>
                <a:tab pos="7933690" algn="l"/>
              </a:tabLst>
            </a:pPr>
            <a:r>
              <a:rPr sz="2800" spc="-434" dirty="0">
                <a:solidFill>
                  <a:srgbClr val="006FC0"/>
                </a:solidFill>
                <a:latin typeface="Arial"/>
                <a:cs typeface="Arial"/>
              </a:rPr>
              <a:t>S</a:t>
            </a:r>
            <a:r>
              <a:rPr sz="2800" spc="-140" dirty="0">
                <a:solidFill>
                  <a:srgbClr val="006FC0"/>
                </a:solidFill>
                <a:latin typeface="Arial"/>
                <a:cs typeface="Arial"/>
              </a:rPr>
              <a:t>i</a:t>
            </a:r>
            <a:r>
              <a:rPr sz="2800" spc="-200" dirty="0">
                <a:solidFill>
                  <a:srgbClr val="006FC0"/>
                </a:solidFill>
                <a:latin typeface="Arial"/>
                <a:cs typeface="Arial"/>
              </a:rPr>
              <a:t>m</a:t>
            </a:r>
            <a:r>
              <a:rPr sz="2800" spc="-45" dirty="0">
                <a:solidFill>
                  <a:srgbClr val="006FC0"/>
                </a:solidFill>
                <a:latin typeface="Arial"/>
                <a:cs typeface="Arial"/>
              </a:rPr>
              <a:t>i</a:t>
            </a:r>
            <a:r>
              <a:rPr sz="2800" spc="-145" dirty="0">
                <a:solidFill>
                  <a:srgbClr val="006FC0"/>
                </a:solidFill>
                <a:latin typeface="Arial"/>
                <a:cs typeface="Arial"/>
              </a:rPr>
              <a:t>la</a:t>
            </a:r>
            <a:r>
              <a:rPr sz="2800" spc="-114" dirty="0">
                <a:solidFill>
                  <a:srgbClr val="006FC0"/>
                </a:solidFill>
                <a:latin typeface="Arial"/>
                <a:cs typeface="Arial"/>
              </a:rPr>
              <a:t>r</a:t>
            </a:r>
            <a:r>
              <a:rPr sz="2800" spc="-80" dirty="0">
                <a:solidFill>
                  <a:srgbClr val="006FC0"/>
                </a:solidFill>
                <a:latin typeface="Arial"/>
                <a:cs typeface="Arial"/>
              </a:rPr>
              <a:t>ly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155" dirty="0">
                <a:solidFill>
                  <a:srgbClr val="006FC0"/>
                </a:solidFill>
                <a:latin typeface="Arial"/>
                <a:cs typeface="Arial"/>
              </a:rPr>
              <a:t>th</a:t>
            </a:r>
            <a:r>
              <a:rPr sz="2800" spc="-200" dirty="0">
                <a:solidFill>
                  <a:srgbClr val="006FC0"/>
                </a:solidFill>
                <a:latin typeface="Arial"/>
                <a:cs typeface="Arial"/>
              </a:rPr>
              <a:t>e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180" dirty="0">
                <a:solidFill>
                  <a:srgbClr val="006FC0"/>
                </a:solidFill>
                <a:latin typeface="Arial"/>
                <a:cs typeface="Arial"/>
              </a:rPr>
              <a:t>cond</a:t>
            </a:r>
            <a:r>
              <a:rPr sz="2800" spc="-70" dirty="0">
                <a:solidFill>
                  <a:srgbClr val="006FC0"/>
                </a:solidFill>
                <a:latin typeface="Arial"/>
                <a:cs typeface="Arial"/>
              </a:rPr>
              <a:t>i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tio</a:t>
            </a:r>
            <a:r>
              <a:rPr sz="2800" spc="-114" dirty="0">
                <a:solidFill>
                  <a:srgbClr val="006FC0"/>
                </a:solidFill>
                <a:latin typeface="Arial"/>
                <a:cs typeface="Arial"/>
              </a:rPr>
              <a:t>n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60" dirty="0">
                <a:solidFill>
                  <a:srgbClr val="006FC0"/>
                </a:solidFill>
                <a:latin typeface="Arial"/>
                <a:cs typeface="Arial"/>
              </a:rPr>
              <a:t>fo</a:t>
            </a:r>
            <a:r>
              <a:rPr sz="2800" spc="-45" dirty="0">
                <a:solidFill>
                  <a:srgbClr val="006FC0"/>
                </a:solidFill>
                <a:latin typeface="Arial"/>
                <a:cs typeface="Arial"/>
              </a:rPr>
              <a:t>r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120" dirty="0">
                <a:solidFill>
                  <a:srgbClr val="006FC0"/>
                </a:solidFill>
                <a:latin typeface="Arial"/>
                <a:cs typeface="Arial"/>
              </a:rPr>
              <a:t>A&lt;B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280" dirty="0">
                <a:solidFill>
                  <a:srgbClr val="006FC0"/>
                </a:solidFill>
                <a:latin typeface="Arial"/>
                <a:cs typeface="Arial"/>
              </a:rPr>
              <a:t>ca</a:t>
            </a:r>
            <a:r>
              <a:rPr sz="2800" spc="-290" dirty="0">
                <a:solidFill>
                  <a:srgbClr val="006FC0"/>
                </a:solidFill>
                <a:latin typeface="Arial"/>
                <a:cs typeface="Arial"/>
              </a:rPr>
              <a:t>n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280" dirty="0">
                <a:solidFill>
                  <a:srgbClr val="006FC0"/>
                </a:solidFill>
                <a:latin typeface="Arial"/>
                <a:cs typeface="Arial"/>
              </a:rPr>
              <a:t>be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160" dirty="0">
                <a:solidFill>
                  <a:srgbClr val="006FC0"/>
                </a:solidFill>
                <a:latin typeface="Arial"/>
                <a:cs typeface="Arial"/>
              </a:rPr>
              <a:t>p</a:t>
            </a:r>
            <a:r>
              <a:rPr sz="2800" spc="-155" dirty="0">
                <a:solidFill>
                  <a:srgbClr val="006FC0"/>
                </a:solidFill>
                <a:latin typeface="Arial"/>
                <a:cs typeface="Arial"/>
              </a:rPr>
              <a:t>o</a:t>
            </a:r>
            <a:r>
              <a:rPr sz="2800" spc="-430" dirty="0">
                <a:solidFill>
                  <a:srgbClr val="006FC0"/>
                </a:solidFill>
                <a:latin typeface="Arial"/>
                <a:cs typeface="Arial"/>
              </a:rPr>
              <a:t>ss</a:t>
            </a:r>
            <a:r>
              <a:rPr sz="2800" spc="-185" dirty="0">
                <a:solidFill>
                  <a:srgbClr val="006FC0"/>
                </a:solidFill>
                <a:latin typeface="Arial"/>
                <a:cs typeface="Arial"/>
              </a:rPr>
              <a:t>i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b</a:t>
            </a:r>
            <a:r>
              <a:rPr sz="2800" spc="-60" dirty="0">
                <a:solidFill>
                  <a:srgbClr val="006FC0"/>
                </a:solidFill>
                <a:latin typeface="Arial"/>
                <a:cs typeface="Arial"/>
              </a:rPr>
              <a:t>l</a:t>
            </a:r>
            <a:r>
              <a:rPr sz="2800" spc="-350" dirty="0">
                <a:solidFill>
                  <a:srgbClr val="006FC0"/>
                </a:solidFill>
                <a:latin typeface="Arial"/>
                <a:cs typeface="Arial"/>
              </a:rPr>
              <a:t>e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60" dirty="0">
                <a:solidFill>
                  <a:srgbClr val="006FC0"/>
                </a:solidFill>
                <a:latin typeface="Arial"/>
                <a:cs typeface="Arial"/>
              </a:rPr>
              <a:t>i</a:t>
            </a:r>
            <a:r>
              <a:rPr sz="2800" spc="-160" dirty="0">
                <a:solidFill>
                  <a:srgbClr val="006FC0"/>
                </a:solidFill>
                <a:latin typeface="Arial"/>
                <a:cs typeface="Arial"/>
              </a:rPr>
              <a:t>n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145" dirty="0">
                <a:solidFill>
                  <a:srgbClr val="006FC0"/>
                </a:solidFill>
                <a:latin typeface="Arial"/>
                <a:cs typeface="Arial"/>
              </a:rPr>
              <a:t>the  </a:t>
            </a:r>
            <a:r>
              <a:rPr sz="2800" spc="-130" dirty="0">
                <a:solidFill>
                  <a:srgbClr val="006FC0"/>
                </a:solidFill>
                <a:latin typeface="Arial"/>
                <a:cs typeface="Arial"/>
              </a:rPr>
              <a:t>following </a:t>
            </a:r>
            <a:r>
              <a:rPr sz="2800" spc="-90" dirty="0">
                <a:solidFill>
                  <a:srgbClr val="006FC0"/>
                </a:solidFill>
                <a:latin typeface="Arial"/>
                <a:cs typeface="Arial"/>
              </a:rPr>
              <a:t>four</a:t>
            </a:r>
            <a:r>
              <a:rPr sz="2800" spc="9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335" dirty="0">
                <a:solidFill>
                  <a:srgbClr val="006FC0"/>
                </a:solidFill>
                <a:latin typeface="Arial"/>
                <a:cs typeface="Arial"/>
              </a:rPr>
              <a:t>cases:</a:t>
            </a:r>
            <a:endParaRPr sz="2800">
              <a:latin typeface="Arial"/>
              <a:cs typeface="Arial"/>
            </a:endParaRPr>
          </a:p>
          <a:p>
            <a:pPr marL="984885" lvl="1" indent="-515620">
              <a:lnSpc>
                <a:spcPct val="100000"/>
              </a:lnSpc>
              <a:spcBef>
                <a:spcPts val="55"/>
              </a:spcBef>
              <a:buClr>
                <a:srgbClr val="F79546"/>
              </a:buClr>
              <a:buAutoNum type="arabicPeriod"/>
              <a:tabLst>
                <a:tab pos="984885" algn="l"/>
                <a:tab pos="985519" algn="l"/>
              </a:tabLst>
            </a:pPr>
            <a:r>
              <a:rPr sz="2400" spc="10" dirty="0">
                <a:latin typeface="Arial"/>
                <a:cs typeface="Arial"/>
              </a:rPr>
              <a:t>If </a:t>
            </a:r>
            <a:r>
              <a:rPr sz="2400" spc="-114" dirty="0">
                <a:latin typeface="Arial"/>
                <a:cs typeface="Arial"/>
              </a:rPr>
              <a:t>A3 </a:t>
            </a:r>
            <a:r>
              <a:rPr sz="2400" spc="60" dirty="0">
                <a:latin typeface="Arial"/>
                <a:cs typeface="Arial"/>
              </a:rPr>
              <a:t>= </a:t>
            </a:r>
            <a:r>
              <a:rPr sz="2400" spc="-340" dirty="0">
                <a:latin typeface="Arial"/>
                <a:cs typeface="Arial"/>
              </a:rPr>
              <a:t>0 </a:t>
            </a:r>
            <a:r>
              <a:rPr sz="2400" spc="-215" dirty="0">
                <a:latin typeface="Arial"/>
                <a:cs typeface="Arial"/>
              </a:rPr>
              <a:t>and </a:t>
            </a:r>
            <a:r>
              <a:rPr sz="2400" spc="-355" dirty="0">
                <a:latin typeface="Arial"/>
                <a:cs typeface="Arial"/>
              </a:rPr>
              <a:t>B3 </a:t>
            </a:r>
            <a:r>
              <a:rPr sz="2400" spc="60" dirty="0">
                <a:latin typeface="Arial"/>
                <a:cs typeface="Arial"/>
              </a:rPr>
              <a:t>=</a:t>
            </a:r>
            <a:r>
              <a:rPr sz="2400" spc="-195" dirty="0">
                <a:latin typeface="Arial"/>
                <a:cs typeface="Arial"/>
              </a:rPr>
              <a:t> </a:t>
            </a:r>
            <a:r>
              <a:rPr sz="2400" spc="-340" dirty="0"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  <a:p>
            <a:pPr marL="984885" lvl="1" indent="-515620">
              <a:lnSpc>
                <a:spcPct val="100000"/>
              </a:lnSpc>
              <a:buClr>
                <a:srgbClr val="F79546"/>
              </a:buClr>
              <a:buAutoNum type="arabicPeriod"/>
              <a:tabLst>
                <a:tab pos="984885" algn="l"/>
                <a:tab pos="985519" algn="l"/>
              </a:tabLst>
            </a:pPr>
            <a:r>
              <a:rPr sz="2400" spc="10" dirty="0">
                <a:latin typeface="Arial"/>
                <a:cs typeface="Arial"/>
              </a:rPr>
              <a:t>If </a:t>
            </a:r>
            <a:r>
              <a:rPr sz="2400" spc="-114" dirty="0">
                <a:latin typeface="Arial"/>
                <a:cs typeface="Arial"/>
              </a:rPr>
              <a:t>A3 </a:t>
            </a:r>
            <a:r>
              <a:rPr sz="2400" spc="60" dirty="0">
                <a:latin typeface="Arial"/>
                <a:cs typeface="Arial"/>
              </a:rPr>
              <a:t>= </a:t>
            </a:r>
            <a:r>
              <a:rPr sz="2400" spc="-355" dirty="0">
                <a:latin typeface="Arial"/>
                <a:cs typeface="Arial"/>
              </a:rPr>
              <a:t>B3 </a:t>
            </a:r>
            <a:r>
              <a:rPr sz="2400" spc="-215" dirty="0">
                <a:latin typeface="Arial"/>
                <a:cs typeface="Arial"/>
              </a:rPr>
              <a:t>and </a:t>
            </a:r>
            <a:r>
              <a:rPr sz="2400" spc="-114" dirty="0">
                <a:latin typeface="Arial"/>
                <a:cs typeface="Arial"/>
              </a:rPr>
              <a:t>A2 </a:t>
            </a:r>
            <a:r>
              <a:rPr sz="2400" spc="60" dirty="0">
                <a:latin typeface="Arial"/>
                <a:cs typeface="Arial"/>
              </a:rPr>
              <a:t>= </a:t>
            </a:r>
            <a:r>
              <a:rPr sz="2400" spc="-340" dirty="0">
                <a:latin typeface="Arial"/>
                <a:cs typeface="Arial"/>
              </a:rPr>
              <a:t>0 </a:t>
            </a:r>
            <a:r>
              <a:rPr sz="2400" spc="-215" dirty="0">
                <a:latin typeface="Arial"/>
                <a:cs typeface="Arial"/>
              </a:rPr>
              <a:t>and </a:t>
            </a:r>
            <a:r>
              <a:rPr sz="2400" spc="-355" dirty="0">
                <a:latin typeface="Arial"/>
                <a:cs typeface="Arial"/>
              </a:rPr>
              <a:t>B2 </a:t>
            </a:r>
            <a:r>
              <a:rPr sz="2400" spc="60" dirty="0">
                <a:latin typeface="Arial"/>
                <a:cs typeface="Arial"/>
              </a:rPr>
              <a:t>=</a:t>
            </a:r>
            <a:r>
              <a:rPr sz="2400" spc="-330" dirty="0">
                <a:latin typeface="Arial"/>
                <a:cs typeface="Arial"/>
              </a:rPr>
              <a:t> </a:t>
            </a:r>
            <a:r>
              <a:rPr sz="2400" spc="-340" dirty="0"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  <a:p>
            <a:pPr marL="984885" lvl="1" indent="-515620">
              <a:lnSpc>
                <a:spcPct val="100000"/>
              </a:lnSpc>
              <a:buClr>
                <a:srgbClr val="F79546"/>
              </a:buClr>
              <a:buAutoNum type="arabicPeriod"/>
              <a:tabLst>
                <a:tab pos="984885" algn="l"/>
                <a:tab pos="985519" algn="l"/>
              </a:tabLst>
            </a:pPr>
            <a:r>
              <a:rPr sz="2400" spc="10" dirty="0">
                <a:latin typeface="Arial"/>
                <a:cs typeface="Arial"/>
              </a:rPr>
              <a:t>If </a:t>
            </a:r>
            <a:r>
              <a:rPr sz="2400" spc="-114" dirty="0">
                <a:latin typeface="Arial"/>
                <a:cs typeface="Arial"/>
              </a:rPr>
              <a:t>A3 </a:t>
            </a:r>
            <a:r>
              <a:rPr sz="2400" spc="60" dirty="0">
                <a:latin typeface="Arial"/>
                <a:cs typeface="Arial"/>
              </a:rPr>
              <a:t>= </a:t>
            </a:r>
            <a:r>
              <a:rPr sz="2400" spc="-285" dirty="0">
                <a:latin typeface="Arial"/>
                <a:cs typeface="Arial"/>
              </a:rPr>
              <a:t>B3, </a:t>
            </a:r>
            <a:r>
              <a:rPr sz="2400" spc="-114" dirty="0">
                <a:latin typeface="Arial"/>
                <a:cs typeface="Arial"/>
              </a:rPr>
              <a:t>A2 </a:t>
            </a:r>
            <a:r>
              <a:rPr sz="2400" spc="60" dirty="0">
                <a:latin typeface="Arial"/>
                <a:cs typeface="Arial"/>
              </a:rPr>
              <a:t>= </a:t>
            </a:r>
            <a:r>
              <a:rPr sz="2400" spc="-355" dirty="0">
                <a:latin typeface="Arial"/>
                <a:cs typeface="Arial"/>
              </a:rPr>
              <a:t>B2 </a:t>
            </a:r>
            <a:r>
              <a:rPr sz="2400" spc="-215" dirty="0">
                <a:latin typeface="Arial"/>
                <a:cs typeface="Arial"/>
              </a:rPr>
              <a:t>and </a:t>
            </a:r>
            <a:r>
              <a:rPr sz="2400" spc="-114" dirty="0">
                <a:latin typeface="Arial"/>
                <a:cs typeface="Arial"/>
              </a:rPr>
              <a:t>A1 </a:t>
            </a:r>
            <a:r>
              <a:rPr sz="2400" spc="60" dirty="0">
                <a:latin typeface="Arial"/>
                <a:cs typeface="Arial"/>
              </a:rPr>
              <a:t>= </a:t>
            </a:r>
            <a:r>
              <a:rPr sz="2400" spc="-340" dirty="0">
                <a:latin typeface="Arial"/>
                <a:cs typeface="Arial"/>
              </a:rPr>
              <a:t>0 </a:t>
            </a:r>
            <a:r>
              <a:rPr sz="2400" spc="-215" dirty="0">
                <a:latin typeface="Arial"/>
                <a:cs typeface="Arial"/>
              </a:rPr>
              <a:t>and </a:t>
            </a:r>
            <a:r>
              <a:rPr sz="2400" spc="-355" dirty="0">
                <a:latin typeface="Arial"/>
                <a:cs typeface="Arial"/>
              </a:rPr>
              <a:t>B1 </a:t>
            </a:r>
            <a:r>
              <a:rPr sz="2400" spc="60" dirty="0">
                <a:latin typeface="Arial"/>
                <a:cs typeface="Arial"/>
              </a:rPr>
              <a:t>=</a:t>
            </a:r>
            <a:r>
              <a:rPr sz="2400" spc="-375" dirty="0">
                <a:latin typeface="Arial"/>
                <a:cs typeface="Arial"/>
              </a:rPr>
              <a:t> </a:t>
            </a:r>
            <a:r>
              <a:rPr sz="2400" spc="-340" dirty="0"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tabLst>
                <a:tab pos="984885" algn="l"/>
              </a:tabLst>
            </a:pPr>
            <a:r>
              <a:rPr sz="2400" spc="-240" dirty="0">
                <a:solidFill>
                  <a:srgbClr val="F79546"/>
                </a:solidFill>
                <a:latin typeface="Arial"/>
                <a:cs typeface="Arial"/>
              </a:rPr>
              <a:t>4.	</a:t>
            </a:r>
            <a:r>
              <a:rPr sz="2400" spc="10" dirty="0">
                <a:latin typeface="Arial"/>
                <a:cs typeface="Arial"/>
              </a:rPr>
              <a:t>If </a:t>
            </a:r>
            <a:r>
              <a:rPr sz="2400" spc="-114" dirty="0">
                <a:latin typeface="Arial"/>
                <a:cs typeface="Arial"/>
              </a:rPr>
              <a:t>A3 </a:t>
            </a:r>
            <a:r>
              <a:rPr sz="2400" spc="60" dirty="0">
                <a:latin typeface="Arial"/>
                <a:cs typeface="Arial"/>
              </a:rPr>
              <a:t>= </a:t>
            </a:r>
            <a:r>
              <a:rPr sz="2400" spc="-285" dirty="0">
                <a:latin typeface="Arial"/>
                <a:cs typeface="Arial"/>
              </a:rPr>
              <a:t>B3, </a:t>
            </a:r>
            <a:r>
              <a:rPr sz="2400" spc="-114" dirty="0">
                <a:latin typeface="Arial"/>
                <a:cs typeface="Arial"/>
              </a:rPr>
              <a:t>A2 </a:t>
            </a:r>
            <a:r>
              <a:rPr sz="2400" spc="60" dirty="0">
                <a:latin typeface="Arial"/>
                <a:cs typeface="Arial"/>
              </a:rPr>
              <a:t>= </a:t>
            </a:r>
            <a:r>
              <a:rPr sz="2400" spc="-285" dirty="0">
                <a:latin typeface="Arial"/>
                <a:cs typeface="Arial"/>
              </a:rPr>
              <a:t>B2, </a:t>
            </a:r>
            <a:r>
              <a:rPr sz="2400" spc="-114" dirty="0">
                <a:latin typeface="Arial"/>
                <a:cs typeface="Arial"/>
              </a:rPr>
              <a:t>A1 </a:t>
            </a:r>
            <a:r>
              <a:rPr sz="2400" spc="60" dirty="0">
                <a:latin typeface="Arial"/>
                <a:cs typeface="Arial"/>
              </a:rPr>
              <a:t>= </a:t>
            </a:r>
            <a:r>
              <a:rPr sz="2400" spc="-355" dirty="0">
                <a:latin typeface="Arial"/>
                <a:cs typeface="Arial"/>
              </a:rPr>
              <a:t>B1 </a:t>
            </a:r>
            <a:r>
              <a:rPr sz="2400" spc="-215" dirty="0">
                <a:latin typeface="Arial"/>
                <a:cs typeface="Arial"/>
              </a:rPr>
              <a:t>and </a:t>
            </a:r>
            <a:r>
              <a:rPr sz="2400" spc="-114" dirty="0">
                <a:latin typeface="Arial"/>
                <a:cs typeface="Arial"/>
              </a:rPr>
              <a:t>A0 </a:t>
            </a:r>
            <a:r>
              <a:rPr sz="2400" spc="60" dirty="0">
                <a:latin typeface="Arial"/>
                <a:cs typeface="Arial"/>
              </a:rPr>
              <a:t>= </a:t>
            </a:r>
            <a:r>
              <a:rPr sz="2400" spc="-340" dirty="0">
                <a:latin typeface="Arial"/>
                <a:cs typeface="Arial"/>
              </a:rPr>
              <a:t>0 </a:t>
            </a:r>
            <a:r>
              <a:rPr sz="2400" spc="-215" dirty="0">
                <a:latin typeface="Arial"/>
                <a:cs typeface="Arial"/>
              </a:rPr>
              <a:t>and </a:t>
            </a:r>
            <a:r>
              <a:rPr sz="2400" spc="-355" dirty="0">
                <a:latin typeface="Arial"/>
                <a:cs typeface="Arial"/>
              </a:rPr>
              <a:t>B0 </a:t>
            </a:r>
            <a:r>
              <a:rPr sz="2400" spc="60" dirty="0">
                <a:latin typeface="Arial"/>
                <a:cs typeface="Arial"/>
              </a:rPr>
              <a:t>=</a:t>
            </a:r>
            <a:r>
              <a:rPr sz="2400" spc="-420" dirty="0">
                <a:latin typeface="Arial"/>
                <a:cs typeface="Arial"/>
              </a:rPr>
              <a:t> </a:t>
            </a:r>
            <a:r>
              <a:rPr sz="2400" spc="-340" dirty="0"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768842" y="6649770"/>
            <a:ext cx="296545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spc="-5" dirty="0">
                <a:solidFill>
                  <a:srgbClr val="FFFFFF"/>
                </a:solidFill>
                <a:latin typeface="Carlito"/>
                <a:cs typeface="Carlito"/>
              </a:rPr>
              <a:t>134</a:t>
            </a:r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793241" y="982217"/>
              <a:ext cx="7589519" cy="762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6764"/>
              <a:ext cx="9143999" cy="668274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53439" y="320001"/>
              <a:ext cx="7434072" cy="57611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938527" y="202679"/>
              <a:ext cx="5260848" cy="93422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212594" y="321386"/>
            <a:ext cx="471741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130" dirty="0">
                <a:latin typeface="Trebuchet MS"/>
                <a:cs typeface="Trebuchet MS"/>
              </a:rPr>
              <a:t>MAGNITUDE</a:t>
            </a:r>
            <a:r>
              <a:rPr sz="3200" b="1" spc="-80" dirty="0">
                <a:latin typeface="Trebuchet MS"/>
                <a:cs typeface="Trebuchet MS"/>
              </a:rPr>
              <a:t> </a:t>
            </a:r>
            <a:r>
              <a:rPr sz="3200" b="1" spc="-114" dirty="0">
                <a:latin typeface="Trebuchet MS"/>
                <a:cs typeface="Trebuchet MS"/>
              </a:rPr>
              <a:t>COMPARATOR</a:t>
            </a:r>
            <a:endParaRPr sz="320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205483" y="1491996"/>
            <a:ext cx="7943850" cy="5366385"/>
            <a:chOff x="1205483" y="1491996"/>
            <a:chExt cx="7943850" cy="5366385"/>
          </a:xfrm>
        </p:grpSpPr>
        <p:sp>
          <p:nvSpPr>
            <p:cNvPr id="13" name="object 13"/>
            <p:cNvSpPr/>
            <p:nvPr/>
          </p:nvSpPr>
          <p:spPr>
            <a:xfrm>
              <a:off x="8593836" y="6620254"/>
              <a:ext cx="550164" cy="23774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630412" y="6556243"/>
              <a:ext cx="513588" cy="30175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05483" y="1491996"/>
              <a:ext cx="6885432" cy="4872228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062732" y="1072641"/>
            <a:ext cx="283337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95" dirty="0">
                <a:solidFill>
                  <a:srgbClr val="C00000"/>
                </a:solidFill>
                <a:latin typeface="Arial"/>
                <a:cs typeface="Arial"/>
              </a:rPr>
              <a:t>4-Bit </a:t>
            </a:r>
            <a:r>
              <a:rPr sz="2000" b="1" spc="-200" dirty="0">
                <a:solidFill>
                  <a:srgbClr val="C00000"/>
                </a:solidFill>
                <a:latin typeface="Arial"/>
                <a:cs typeface="Arial"/>
              </a:rPr>
              <a:t>Magnitude</a:t>
            </a:r>
            <a:r>
              <a:rPr sz="2000" b="1" spc="-3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200" dirty="0">
                <a:solidFill>
                  <a:srgbClr val="C00000"/>
                </a:solidFill>
                <a:latin typeface="Arial"/>
                <a:cs typeface="Arial"/>
              </a:rPr>
              <a:t>Comparator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8768842" y="6649770"/>
            <a:ext cx="296545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spc="-5" dirty="0">
                <a:solidFill>
                  <a:srgbClr val="FFFFFF"/>
                </a:solidFill>
                <a:latin typeface="Carlito"/>
                <a:cs typeface="Carlito"/>
              </a:rPr>
              <a:t>134</a:t>
            </a:r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1938527" y="202679"/>
              <a:ext cx="5260848" cy="9342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212594" y="321386"/>
            <a:ext cx="471741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30" dirty="0"/>
              <a:t>MAGNITUDE</a:t>
            </a:r>
            <a:r>
              <a:rPr spc="-80" dirty="0"/>
              <a:t> </a:t>
            </a:r>
            <a:r>
              <a:rPr spc="-114" dirty="0"/>
              <a:t>COMPARATOR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sp>
          <p:nvSpPr>
            <p:cNvPr id="8" name="object 8"/>
            <p:cNvSpPr/>
            <p:nvPr/>
          </p:nvSpPr>
          <p:spPr>
            <a:xfrm>
              <a:off x="8593835" y="6620255"/>
              <a:ext cx="550164" cy="23774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630411" y="6556243"/>
              <a:ext cx="513588" cy="3017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58140" y="1072641"/>
            <a:ext cx="8427720" cy="55111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177165" algn="ctr">
              <a:lnSpc>
                <a:spcPts val="2270"/>
              </a:lnSpc>
              <a:spcBef>
                <a:spcPts val="105"/>
              </a:spcBef>
            </a:pPr>
            <a:r>
              <a:rPr sz="2000" b="1" spc="-195" dirty="0">
                <a:solidFill>
                  <a:srgbClr val="C00000"/>
                </a:solidFill>
                <a:latin typeface="Arial"/>
                <a:cs typeface="Arial"/>
              </a:rPr>
              <a:t>4-Bit </a:t>
            </a:r>
            <a:r>
              <a:rPr sz="2000" b="1" spc="-200" dirty="0">
                <a:solidFill>
                  <a:srgbClr val="C00000"/>
                </a:solidFill>
                <a:latin typeface="Arial"/>
                <a:cs typeface="Arial"/>
              </a:rPr>
              <a:t>Magnitude</a:t>
            </a:r>
            <a:r>
              <a:rPr sz="2000" b="1" spc="-26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200" dirty="0">
                <a:solidFill>
                  <a:srgbClr val="C00000"/>
                </a:solidFill>
                <a:latin typeface="Arial"/>
                <a:cs typeface="Arial"/>
              </a:rPr>
              <a:t>Comparator</a:t>
            </a:r>
            <a:endParaRPr sz="2000">
              <a:latin typeface="Arial"/>
              <a:cs typeface="Arial"/>
            </a:endParaRPr>
          </a:p>
          <a:p>
            <a:pPr marL="502920" indent="-464820">
              <a:lnSpc>
                <a:spcPts val="3229"/>
              </a:lnSpc>
              <a:buClr>
                <a:srgbClr val="F79546"/>
              </a:buClr>
              <a:buFont typeface="Wingdings"/>
              <a:buChar char=""/>
              <a:tabLst>
                <a:tab pos="502284" algn="l"/>
                <a:tab pos="502920" algn="l"/>
                <a:tab pos="2083435" algn="l"/>
                <a:tab pos="2611755" algn="l"/>
                <a:tab pos="4211320" algn="l"/>
                <a:tab pos="4791710" algn="l"/>
                <a:tab pos="5800725" algn="l"/>
                <a:tab pos="7360284" algn="l"/>
              </a:tabLst>
            </a:pP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Therefore,	</a:t>
            </a:r>
            <a:r>
              <a:rPr sz="2800" spc="-300" dirty="0">
                <a:solidFill>
                  <a:srgbClr val="006FC0"/>
                </a:solidFill>
                <a:latin typeface="Arial"/>
                <a:cs typeface="Arial"/>
              </a:rPr>
              <a:t>we	</a:t>
            </a:r>
            <a:r>
              <a:rPr sz="2800" spc="-285" dirty="0">
                <a:solidFill>
                  <a:srgbClr val="006FC0"/>
                </a:solidFill>
                <a:latin typeface="Arial"/>
                <a:cs typeface="Arial"/>
              </a:rPr>
              <a:t>can </a:t>
            </a:r>
            <a:r>
              <a:rPr sz="2800" spc="-9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180" dirty="0">
                <a:solidFill>
                  <a:srgbClr val="006FC0"/>
                </a:solidFill>
                <a:latin typeface="Arial"/>
                <a:cs typeface="Arial"/>
              </a:rPr>
              <a:t>derive	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	logical	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expression	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of</a:t>
            </a:r>
            <a:r>
              <a:rPr sz="2800" spc="32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300" dirty="0">
                <a:solidFill>
                  <a:srgbClr val="006FC0"/>
                </a:solidFill>
                <a:latin typeface="Arial"/>
                <a:cs typeface="Arial"/>
              </a:rPr>
              <a:t>such</a:t>
            </a:r>
            <a:endParaRPr sz="2800">
              <a:latin typeface="Arial"/>
              <a:cs typeface="Arial"/>
            </a:endParaRPr>
          </a:p>
          <a:p>
            <a:pPr marL="502284">
              <a:lnSpc>
                <a:spcPct val="100000"/>
              </a:lnSpc>
            </a:pPr>
            <a:r>
              <a:rPr sz="2800" spc="-220" dirty="0">
                <a:solidFill>
                  <a:srgbClr val="006FC0"/>
                </a:solidFill>
                <a:latin typeface="Arial"/>
                <a:cs typeface="Arial"/>
              </a:rPr>
              <a:t>sequential </a:t>
            </a:r>
            <a:r>
              <a:rPr sz="2800" spc="-210" dirty="0">
                <a:solidFill>
                  <a:srgbClr val="006FC0"/>
                </a:solidFill>
                <a:latin typeface="Arial"/>
                <a:cs typeface="Arial"/>
              </a:rPr>
              <a:t>comparison</a:t>
            </a:r>
            <a:r>
              <a:rPr sz="2800" spc="-38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by,</a:t>
            </a:r>
            <a:endParaRPr sz="2800">
              <a:latin typeface="Arial"/>
              <a:cs typeface="Arial"/>
            </a:endParaRPr>
          </a:p>
          <a:p>
            <a:pPr marL="952500" marR="1488440">
              <a:lnSpc>
                <a:spcPct val="100000"/>
              </a:lnSpc>
              <a:spcBef>
                <a:spcPts val="90"/>
              </a:spcBef>
            </a:pPr>
            <a:r>
              <a:rPr sz="2400" b="1" spc="-190" dirty="0">
                <a:latin typeface="Arial"/>
                <a:cs typeface="Arial"/>
              </a:rPr>
              <a:t>(A&gt;B) </a:t>
            </a:r>
            <a:r>
              <a:rPr sz="2400" b="1" spc="60" dirty="0">
                <a:latin typeface="Arial"/>
                <a:cs typeface="Arial"/>
              </a:rPr>
              <a:t>= </a:t>
            </a:r>
            <a:r>
              <a:rPr sz="2400" b="1" spc="-190" dirty="0">
                <a:latin typeface="Arial"/>
                <a:cs typeface="Arial"/>
              </a:rPr>
              <a:t>A</a:t>
            </a:r>
            <a:r>
              <a:rPr sz="2400" b="1" spc="-284" baseline="-20833" dirty="0">
                <a:latin typeface="Arial"/>
                <a:cs typeface="Arial"/>
              </a:rPr>
              <a:t>3</a:t>
            </a:r>
            <a:r>
              <a:rPr sz="2400" b="1" spc="-190" dirty="0">
                <a:latin typeface="Arial"/>
                <a:cs typeface="Arial"/>
              </a:rPr>
              <a:t>B</a:t>
            </a:r>
            <a:r>
              <a:rPr sz="2400" b="1" spc="-284" baseline="-20833" dirty="0">
                <a:latin typeface="Arial"/>
                <a:cs typeface="Arial"/>
              </a:rPr>
              <a:t>3</a:t>
            </a:r>
            <a:r>
              <a:rPr sz="2400" b="1" spc="-190" dirty="0">
                <a:latin typeface="Arial"/>
                <a:cs typeface="Arial"/>
              </a:rPr>
              <a:t>′ </a:t>
            </a:r>
            <a:r>
              <a:rPr sz="2400" b="1" spc="-155" dirty="0">
                <a:latin typeface="Arial"/>
                <a:cs typeface="Arial"/>
              </a:rPr>
              <a:t>+X</a:t>
            </a:r>
            <a:r>
              <a:rPr sz="2400" b="1" spc="-232" baseline="-20833" dirty="0">
                <a:latin typeface="Arial"/>
                <a:cs typeface="Arial"/>
              </a:rPr>
              <a:t>3</a:t>
            </a:r>
            <a:r>
              <a:rPr sz="2400" b="1" spc="-155" dirty="0">
                <a:latin typeface="Arial"/>
                <a:cs typeface="Arial"/>
              </a:rPr>
              <a:t>A</a:t>
            </a:r>
            <a:r>
              <a:rPr sz="2400" b="1" spc="-232" baseline="-20833" dirty="0">
                <a:latin typeface="Arial"/>
                <a:cs typeface="Arial"/>
              </a:rPr>
              <a:t>2</a:t>
            </a:r>
            <a:r>
              <a:rPr sz="2400" b="1" spc="-155" dirty="0">
                <a:latin typeface="Arial"/>
                <a:cs typeface="Arial"/>
              </a:rPr>
              <a:t>B</a:t>
            </a:r>
            <a:r>
              <a:rPr sz="2400" b="1" spc="-232" baseline="-20833" dirty="0">
                <a:latin typeface="Arial"/>
                <a:cs typeface="Arial"/>
              </a:rPr>
              <a:t>2</a:t>
            </a:r>
            <a:r>
              <a:rPr sz="2400" b="1" spc="-155" dirty="0">
                <a:latin typeface="Arial"/>
                <a:cs typeface="Arial"/>
              </a:rPr>
              <a:t>′ </a:t>
            </a:r>
            <a:r>
              <a:rPr sz="2400" b="1" spc="-160" dirty="0">
                <a:latin typeface="Arial"/>
                <a:cs typeface="Arial"/>
              </a:rPr>
              <a:t>+X</a:t>
            </a:r>
            <a:r>
              <a:rPr sz="2400" b="1" spc="-240" baseline="-20833" dirty="0">
                <a:latin typeface="Arial"/>
                <a:cs typeface="Arial"/>
              </a:rPr>
              <a:t>3</a:t>
            </a:r>
            <a:r>
              <a:rPr sz="2400" b="1" spc="-160" dirty="0">
                <a:latin typeface="Arial"/>
                <a:cs typeface="Arial"/>
              </a:rPr>
              <a:t>X</a:t>
            </a:r>
            <a:r>
              <a:rPr sz="2400" b="1" spc="-240" baseline="-20833" dirty="0">
                <a:latin typeface="Arial"/>
                <a:cs typeface="Arial"/>
              </a:rPr>
              <a:t>2</a:t>
            </a:r>
            <a:r>
              <a:rPr sz="2400" b="1" spc="-160" dirty="0">
                <a:latin typeface="Arial"/>
                <a:cs typeface="Arial"/>
              </a:rPr>
              <a:t>A</a:t>
            </a:r>
            <a:r>
              <a:rPr sz="2400" b="1" spc="-240" baseline="-20833" dirty="0">
                <a:latin typeface="Arial"/>
                <a:cs typeface="Arial"/>
              </a:rPr>
              <a:t>1</a:t>
            </a:r>
            <a:r>
              <a:rPr sz="2400" b="1" spc="-160" dirty="0">
                <a:latin typeface="Arial"/>
                <a:cs typeface="Arial"/>
              </a:rPr>
              <a:t>B</a:t>
            </a:r>
            <a:r>
              <a:rPr sz="2400" b="1" spc="-240" baseline="-20833" dirty="0">
                <a:latin typeface="Arial"/>
                <a:cs typeface="Arial"/>
              </a:rPr>
              <a:t>1</a:t>
            </a:r>
            <a:r>
              <a:rPr sz="2400" b="1" spc="-160" dirty="0">
                <a:latin typeface="Arial"/>
                <a:cs typeface="Arial"/>
              </a:rPr>
              <a:t>′ +X</a:t>
            </a:r>
            <a:r>
              <a:rPr sz="2400" b="1" spc="-240" baseline="-20833" dirty="0">
                <a:latin typeface="Arial"/>
                <a:cs typeface="Arial"/>
              </a:rPr>
              <a:t>3</a:t>
            </a:r>
            <a:r>
              <a:rPr sz="2400" b="1" spc="-160" dirty="0">
                <a:latin typeface="Arial"/>
                <a:cs typeface="Arial"/>
              </a:rPr>
              <a:t>X</a:t>
            </a:r>
            <a:r>
              <a:rPr sz="2400" b="1" spc="-240" baseline="-20833" dirty="0">
                <a:latin typeface="Arial"/>
                <a:cs typeface="Arial"/>
              </a:rPr>
              <a:t>2</a:t>
            </a:r>
            <a:r>
              <a:rPr sz="2400" b="1" spc="-160" dirty="0">
                <a:latin typeface="Arial"/>
                <a:cs typeface="Arial"/>
              </a:rPr>
              <a:t>X</a:t>
            </a:r>
            <a:r>
              <a:rPr sz="2400" b="1" spc="-240" baseline="-20833" dirty="0">
                <a:latin typeface="Arial"/>
                <a:cs typeface="Arial"/>
              </a:rPr>
              <a:t>1</a:t>
            </a:r>
            <a:r>
              <a:rPr sz="2400" b="1" spc="-160" dirty="0">
                <a:latin typeface="Arial"/>
                <a:cs typeface="Arial"/>
              </a:rPr>
              <a:t>A</a:t>
            </a:r>
            <a:r>
              <a:rPr sz="2400" b="1" spc="-240" baseline="-20833" dirty="0">
                <a:latin typeface="Arial"/>
                <a:cs typeface="Arial"/>
              </a:rPr>
              <a:t>0</a:t>
            </a:r>
            <a:r>
              <a:rPr sz="2400" b="1" spc="-160" dirty="0">
                <a:latin typeface="Arial"/>
                <a:cs typeface="Arial"/>
              </a:rPr>
              <a:t>B</a:t>
            </a:r>
            <a:r>
              <a:rPr sz="2400" b="1" spc="-240" baseline="-20833" dirty="0">
                <a:latin typeface="Arial"/>
                <a:cs typeface="Arial"/>
              </a:rPr>
              <a:t>0</a:t>
            </a:r>
            <a:r>
              <a:rPr sz="2400" b="1" spc="-160" dirty="0">
                <a:latin typeface="Arial"/>
                <a:cs typeface="Arial"/>
              </a:rPr>
              <a:t>′  </a:t>
            </a:r>
            <a:r>
              <a:rPr sz="2400" b="1" spc="-190" dirty="0">
                <a:latin typeface="Arial"/>
                <a:cs typeface="Arial"/>
              </a:rPr>
              <a:t>(A&lt;B) </a:t>
            </a:r>
            <a:r>
              <a:rPr sz="2400" b="1" spc="60" dirty="0">
                <a:latin typeface="Arial"/>
                <a:cs typeface="Arial"/>
              </a:rPr>
              <a:t>= </a:t>
            </a:r>
            <a:r>
              <a:rPr sz="2400" b="1" spc="-190" dirty="0">
                <a:latin typeface="Arial"/>
                <a:cs typeface="Arial"/>
              </a:rPr>
              <a:t>A</a:t>
            </a:r>
            <a:r>
              <a:rPr sz="2400" b="1" spc="-284" baseline="-20833" dirty="0">
                <a:latin typeface="Arial"/>
                <a:cs typeface="Arial"/>
              </a:rPr>
              <a:t>3</a:t>
            </a:r>
            <a:r>
              <a:rPr sz="2400" b="1" spc="-190" dirty="0">
                <a:latin typeface="Arial"/>
                <a:cs typeface="Arial"/>
              </a:rPr>
              <a:t>′B</a:t>
            </a:r>
            <a:r>
              <a:rPr sz="2400" b="1" spc="-284" baseline="-20833" dirty="0">
                <a:latin typeface="Arial"/>
                <a:cs typeface="Arial"/>
              </a:rPr>
              <a:t>3 </a:t>
            </a:r>
            <a:r>
              <a:rPr sz="2400" b="1" spc="-155" dirty="0">
                <a:latin typeface="Arial"/>
                <a:cs typeface="Arial"/>
              </a:rPr>
              <a:t>+X</a:t>
            </a:r>
            <a:r>
              <a:rPr sz="2400" b="1" spc="-232" baseline="-20833" dirty="0">
                <a:latin typeface="Arial"/>
                <a:cs typeface="Arial"/>
              </a:rPr>
              <a:t>3</a:t>
            </a:r>
            <a:r>
              <a:rPr sz="2400" b="1" spc="-155" dirty="0">
                <a:latin typeface="Arial"/>
                <a:cs typeface="Arial"/>
              </a:rPr>
              <a:t>A</a:t>
            </a:r>
            <a:r>
              <a:rPr sz="2400" b="1" spc="-232" baseline="-20833" dirty="0">
                <a:latin typeface="Arial"/>
                <a:cs typeface="Arial"/>
              </a:rPr>
              <a:t>2</a:t>
            </a:r>
            <a:r>
              <a:rPr sz="2400" b="1" spc="-155" dirty="0">
                <a:latin typeface="Arial"/>
                <a:cs typeface="Arial"/>
              </a:rPr>
              <a:t>′B</a:t>
            </a:r>
            <a:r>
              <a:rPr sz="2400" b="1" spc="-232" baseline="-20833" dirty="0">
                <a:latin typeface="Arial"/>
                <a:cs typeface="Arial"/>
              </a:rPr>
              <a:t>2 </a:t>
            </a:r>
            <a:r>
              <a:rPr sz="2400" b="1" spc="-160" dirty="0">
                <a:latin typeface="Arial"/>
                <a:cs typeface="Arial"/>
              </a:rPr>
              <a:t>+X</a:t>
            </a:r>
            <a:r>
              <a:rPr sz="2400" b="1" spc="-240" baseline="-20833" dirty="0">
                <a:latin typeface="Arial"/>
                <a:cs typeface="Arial"/>
              </a:rPr>
              <a:t>3</a:t>
            </a:r>
            <a:r>
              <a:rPr sz="2400" b="1" spc="-160" dirty="0">
                <a:latin typeface="Arial"/>
                <a:cs typeface="Arial"/>
              </a:rPr>
              <a:t>X</a:t>
            </a:r>
            <a:r>
              <a:rPr sz="2400" b="1" spc="-240" baseline="-20833" dirty="0">
                <a:latin typeface="Arial"/>
                <a:cs typeface="Arial"/>
              </a:rPr>
              <a:t>2</a:t>
            </a:r>
            <a:r>
              <a:rPr sz="2400" b="1" spc="-160" dirty="0">
                <a:latin typeface="Arial"/>
                <a:cs typeface="Arial"/>
              </a:rPr>
              <a:t>A</a:t>
            </a:r>
            <a:r>
              <a:rPr sz="2400" b="1" spc="-240" baseline="-20833" dirty="0">
                <a:latin typeface="Arial"/>
                <a:cs typeface="Arial"/>
              </a:rPr>
              <a:t>1</a:t>
            </a:r>
            <a:r>
              <a:rPr sz="2400" b="1" spc="-160" dirty="0">
                <a:latin typeface="Arial"/>
                <a:cs typeface="Arial"/>
              </a:rPr>
              <a:t>′B</a:t>
            </a:r>
            <a:r>
              <a:rPr sz="2400" b="1" spc="-240" baseline="-20833" dirty="0">
                <a:latin typeface="Arial"/>
                <a:cs typeface="Arial"/>
              </a:rPr>
              <a:t>1</a:t>
            </a:r>
            <a:r>
              <a:rPr sz="2400" b="1" spc="-165" baseline="-20833" dirty="0">
                <a:latin typeface="Arial"/>
                <a:cs typeface="Arial"/>
              </a:rPr>
              <a:t> </a:t>
            </a:r>
            <a:r>
              <a:rPr sz="2400" b="1" spc="-160" dirty="0">
                <a:latin typeface="Arial"/>
                <a:cs typeface="Arial"/>
              </a:rPr>
              <a:t>+X</a:t>
            </a:r>
            <a:r>
              <a:rPr sz="2400" b="1" spc="-240" baseline="-20833" dirty="0">
                <a:latin typeface="Arial"/>
                <a:cs typeface="Arial"/>
              </a:rPr>
              <a:t>3</a:t>
            </a:r>
            <a:r>
              <a:rPr sz="2400" b="1" spc="-160" dirty="0">
                <a:latin typeface="Arial"/>
                <a:cs typeface="Arial"/>
              </a:rPr>
              <a:t>X</a:t>
            </a:r>
            <a:r>
              <a:rPr sz="2400" b="1" spc="-240" baseline="-20833" dirty="0">
                <a:latin typeface="Arial"/>
                <a:cs typeface="Arial"/>
              </a:rPr>
              <a:t>2</a:t>
            </a:r>
            <a:r>
              <a:rPr sz="2400" b="1" spc="-160" dirty="0">
                <a:latin typeface="Arial"/>
                <a:cs typeface="Arial"/>
              </a:rPr>
              <a:t>X</a:t>
            </a:r>
            <a:r>
              <a:rPr sz="2400" b="1" spc="-240" baseline="-20833" dirty="0">
                <a:latin typeface="Arial"/>
                <a:cs typeface="Arial"/>
              </a:rPr>
              <a:t>1</a:t>
            </a:r>
            <a:r>
              <a:rPr sz="2400" b="1" spc="-160" dirty="0">
                <a:latin typeface="Arial"/>
                <a:cs typeface="Arial"/>
              </a:rPr>
              <a:t>A</a:t>
            </a:r>
            <a:r>
              <a:rPr sz="2400" b="1" spc="-240" baseline="-20833" dirty="0">
                <a:latin typeface="Arial"/>
                <a:cs typeface="Arial"/>
              </a:rPr>
              <a:t>0</a:t>
            </a:r>
            <a:r>
              <a:rPr sz="2400" b="1" spc="-160" dirty="0">
                <a:latin typeface="Arial"/>
                <a:cs typeface="Arial"/>
              </a:rPr>
              <a:t>′B</a:t>
            </a:r>
            <a:r>
              <a:rPr sz="2400" b="1" spc="-240" baseline="-20833" dirty="0">
                <a:latin typeface="Arial"/>
                <a:cs typeface="Arial"/>
              </a:rPr>
              <a:t>0</a:t>
            </a:r>
            <a:endParaRPr sz="2400" baseline="-20833">
              <a:latin typeface="Arial"/>
              <a:cs typeface="Arial"/>
            </a:endParaRPr>
          </a:p>
          <a:p>
            <a:pPr marL="502284" marR="38735" indent="-464820" algn="just">
              <a:lnSpc>
                <a:spcPct val="100000"/>
              </a:lnSpc>
              <a:spcBef>
                <a:spcPts val="1590"/>
              </a:spcBef>
              <a:buClr>
                <a:srgbClr val="F79546"/>
              </a:buClr>
              <a:buFont typeface="Wingdings"/>
              <a:buChar char=""/>
              <a:tabLst>
                <a:tab pos="502920" algn="l"/>
              </a:tabLst>
            </a:pP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symbols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(A&gt;B) 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(A&lt;B) 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are </a:t>
            </a:r>
            <a:r>
              <a:rPr sz="2800" spc="-160" dirty="0">
                <a:solidFill>
                  <a:srgbClr val="006FC0"/>
                </a:solidFill>
                <a:latin typeface="Arial"/>
                <a:cs typeface="Arial"/>
              </a:rPr>
              <a:t>binary </a:t>
            </a:r>
            <a:r>
              <a:rPr sz="2800" spc="-100" dirty="0">
                <a:solidFill>
                  <a:srgbClr val="006FC0"/>
                </a:solidFill>
                <a:latin typeface="Arial"/>
                <a:cs typeface="Arial"/>
              </a:rPr>
              <a:t>output </a:t>
            </a: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variables  </a:t>
            </a:r>
            <a:r>
              <a:rPr sz="2800" spc="-120" dirty="0">
                <a:solidFill>
                  <a:srgbClr val="006FC0"/>
                </a:solidFill>
                <a:latin typeface="Arial"/>
                <a:cs typeface="Arial"/>
              </a:rPr>
              <a:t>that 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are </a:t>
            </a:r>
            <a:r>
              <a:rPr sz="2800" spc="-235" dirty="0">
                <a:solidFill>
                  <a:srgbClr val="006FC0"/>
                </a:solidFill>
                <a:latin typeface="Arial"/>
                <a:cs typeface="Arial"/>
              </a:rPr>
              <a:t>equal </a:t>
            </a:r>
            <a:r>
              <a:rPr sz="2800" spc="-55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800" spc="-400" dirty="0">
                <a:solidFill>
                  <a:srgbClr val="006FC0"/>
                </a:solidFill>
                <a:latin typeface="Arial"/>
                <a:cs typeface="Arial"/>
              </a:rPr>
              <a:t>1 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when </a:t>
            </a:r>
            <a:r>
              <a:rPr sz="2800" spc="-120" dirty="0">
                <a:solidFill>
                  <a:srgbClr val="006FC0"/>
                </a:solidFill>
                <a:latin typeface="Arial"/>
                <a:cs typeface="Arial"/>
              </a:rPr>
              <a:t>A&gt;B </a:t>
            </a:r>
            <a:r>
              <a:rPr sz="2800" spc="-80" dirty="0">
                <a:solidFill>
                  <a:srgbClr val="006FC0"/>
                </a:solidFill>
                <a:latin typeface="Arial"/>
                <a:cs typeface="Arial"/>
              </a:rPr>
              <a:t>or </a:t>
            </a:r>
            <a:r>
              <a:rPr sz="2800" spc="-130" dirty="0">
                <a:solidFill>
                  <a:srgbClr val="006FC0"/>
                </a:solidFill>
                <a:latin typeface="Arial"/>
                <a:cs typeface="Arial"/>
              </a:rPr>
              <a:t>A&lt;B,</a:t>
            </a:r>
            <a:r>
              <a:rPr sz="2800" spc="-43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190" dirty="0">
                <a:solidFill>
                  <a:srgbClr val="006FC0"/>
                </a:solidFill>
                <a:latin typeface="Arial"/>
                <a:cs typeface="Arial"/>
              </a:rPr>
              <a:t>respectively.</a:t>
            </a:r>
            <a:endParaRPr sz="2800">
              <a:latin typeface="Arial"/>
              <a:cs typeface="Arial"/>
            </a:endParaRPr>
          </a:p>
          <a:p>
            <a:pPr marL="502284" marR="32384" indent="-464820" algn="just">
              <a:lnSpc>
                <a:spcPct val="100000"/>
              </a:lnSpc>
              <a:spcBef>
                <a:spcPts val="1685"/>
              </a:spcBef>
              <a:buClr>
                <a:srgbClr val="F79546"/>
              </a:buClr>
              <a:buFont typeface="Wingdings"/>
              <a:buChar char=""/>
              <a:tabLst>
                <a:tab pos="502920" algn="l"/>
              </a:tabLst>
            </a:pP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260" dirty="0">
                <a:solidFill>
                  <a:srgbClr val="006FC0"/>
                </a:solidFill>
                <a:latin typeface="Arial"/>
                <a:cs typeface="Arial"/>
              </a:rPr>
              <a:t>gate </a:t>
            </a:r>
            <a:r>
              <a:rPr sz="2800" spc="-160" dirty="0">
                <a:solidFill>
                  <a:srgbClr val="006FC0"/>
                </a:solidFill>
                <a:latin typeface="Arial"/>
                <a:cs typeface="Arial"/>
              </a:rPr>
              <a:t>implementation </a:t>
            </a:r>
            <a:r>
              <a:rPr sz="2800" spc="-80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three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output </a:t>
            </a:r>
            <a:r>
              <a:rPr sz="2800" spc="-240" dirty="0">
                <a:solidFill>
                  <a:srgbClr val="006FC0"/>
                </a:solidFill>
                <a:latin typeface="Arial"/>
                <a:cs typeface="Arial"/>
              </a:rPr>
              <a:t>variables 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just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derived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800" spc="-185" dirty="0">
                <a:solidFill>
                  <a:srgbClr val="006FC0"/>
                </a:solidFill>
                <a:latin typeface="Arial"/>
                <a:cs typeface="Arial"/>
              </a:rPr>
              <a:t>simpler </a:t>
            </a:r>
            <a:r>
              <a:rPr sz="2800" spc="-190" dirty="0">
                <a:solidFill>
                  <a:srgbClr val="006FC0"/>
                </a:solidFill>
                <a:latin typeface="Arial"/>
                <a:cs typeface="Arial"/>
              </a:rPr>
              <a:t>than </a:t>
            </a:r>
            <a:r>
              <a:rPr sz="2800" spc="25" dirty="0">
                <a:solidFill>
                  <a:srgbClr val="006FC0"/>
                </a:solidFill>
                <a:latin typeface="Arial"/>
                <a:cs typeface="Arial"/>
              </a:rPr>
              <a:t>it </a:t>
            </a:r>
            <a:r>
              <a:rPr sz="2800" spc="-395" dirty="0">
                <a:solidFill>
                  <a:srgbClr val="006FC0"/>
                </a:solidFill>
                <a:latin typeface="Arial"/>
                <a:cs typeface="Arial"/>
              </a:rPr>
              <a:t>seems </a:t>
            </a:r>
            <a:r>
              <a:rPr sz="2800" spc="-325" dirty="0">
                <a:solidFill>
                  <a:srgbClr val="006FC0"/>
                </a:solidFill>
                <a:latin typeface="Arial"/>
                <a:cs typeface="Arial"/>
              </a:rPr>
              <a:t>because </a:t>
            </a:r>
            <a:r>
              <a:rPr sz="2800" spc="25" dirty="0">
                <a:solidFill>
                  <a:srgbClr val="006FC0"/>
                </a:solidFill>
                <a:latin typeface="Arial"/>
                <a:cs typeface="Arial"/>
              </a:rPr>
              <a:t>it </a:t>
            </a:r>
            <a:r>
              <a:rPr sz="2800" spc="-210" dirty="0">
                <a:solidFill>
                  <a:srgbClr val="006FC0"/>
                </a:solidFill>
                <a:latin typeface="Arial"/>
                <a:cs typeface="Arial"/>
              </a:rPr>
              <a:t>involves </a:t>
            </a:r>
            <a:r>
              <a:rPr sz="2800" spc="-395" dirty="0">
                <a:solidFill>
                  <a:srgbClr val="006FC0"/>
                </a:solidFill>
                <a:latin typeface="Arial"/>
                <a:cs typeface="Arial"/>
              </a:rPr>
              <a:t>a 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certain </a:t>
            </a:r>
            <a:r>
              <a:rPr sz="2800" spc="-190" dirty="0">
                <a:solidFill>
                  <a:srgbClr val="006FC0"/>
                </a:solidFill>
                <a:latin typeface="Arial"/>
                <a:cs typeface="Arial"/>
              </a:rPr>
              <a:t>amount 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of</a:t>
            </a:r>
            <a:r>
              <a:rPr sz="2800" spc="30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120" dirty="0">
                <a:solidFill>
                  <a:srgbClr val="006FC0"/>
                </a:solidFill>
                <a:latin typeface="Arial"/>
                <a:cs typeface="Arial"/>
              </a:rPr>
              <a:t>repetition.</a:t>
            </a:r>
            <a:endParaRPr sz="2800">
              <a:latin typeface="Arial"/>
              <a:cs typeface="Arial"/>
            </a:endParaRPr>
          </a:p>
          <a:p>
            <a:pPr marL="502284" marR="31750" indent="-464820" algn="just">
              <a:lnSpc>
                <a:spcPct val="100000"/>
              </a:lnSpc>
              <a:spcBef>
                <a:spcPts val="1680"/>
              </a:spcBef>
              <a:buClr>
                <a:srgbClr val="F79546"/>
              </a:buClr>
              <a:buFont typeface="Wingdings"/>
              <a:buChar char=""/>
              <a:tabLst>
                <a:tab pos="502920" algn="l"/>
              </a:tabLst>
            </a:pP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235" dirty="0">
                <a:solidFill>
                  <a:srgbClr val="006FC0"/>
                </a:solidFill>
                <a:latin typeface="Arial"/>
                <a:cs typeface="Arial"/>
              </a:rPr>
              <a:t>unequal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outputs </a:t>
            </a:r>
            <a:r>
              <a:rPr sz="2800" spc="-285" dirty="0">
                <a:solidFill>
                  <a:srgbClr val="006FC0"/>
                </a:solidFill>
                <a:latin typeface="Arial"/>
                <a:cs typeface="Arial"/>
              </a:rPr>
              <a:t>can </a:t>
            </a:r>
            <a:r>
              <a:rPr sz="2800" spc="-360" dirty="0">
                <a:solidFill>
                  <a:srgbClr val="006FC0"/>
                </a:solidFill>
                <a:latin typeface="Arial"/>
                <a:cs typeface="Arial"/>
              </a:rPr>
              <a:t>use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375" dirty="0">
                <a:solidFill>
                  <a:srgbClr val="006FC0"/>
                </a:solidFill>
                <a:latin typeface="Arial"/>
                <a:cs typeface="Arial"/>
              </a:rPr>
              <a:t>same </a:t>
            </a:r>
            <a:r>
              <a:rPr sz="2800" spc="-315" dirty="0">
                <a:solidFill>
                  <a:srgbClr val="006FC0"/>
                </a:solidFill>
                <a:latin typeface="Arial"/>
                <a:cs typeface="Arial"/>
              </a:rPr>
              <a:t>gates </a:t>
            </a:r>
            <a:r>
              <a:rPr sz="2800" spc="-125" dirty="0">
                <a:solidFill>
                  <a:srgbClr val="006FC0"/>
                </a:solidFill>
                <a:latin typeface="Arial"/>
                <a:cs typeface="Arial"/>
              </a:rPr>
              <a:t>that 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are 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needed </a:t>
            </a:r>
            <a:r>
              <a:rPr sz="2800" spc="-55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800" spc="-245" dirty="0">
                <a:solidFill>
                  <a:srgbClr val="006FC0"/>
                </a:solidFill>
                <a:latin typeface="Arial"/>
                <a:cs typeface="Arial"/>
              </a:rPr>
              <a:t>generate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235" dirty="0">
                <a:solidFill>
                  <a:srgbClr val="006FC0"/>
                </a:solidFill>
                <a:latin typeface="Arial"/>
                <a:cs typeface="Arial"/>
              </a:rPr>
              <a:t>equal</a:t>
            </a:r>
            <a:r>
              <a:rPr sz="2800" spc="-37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110" dirty="0">
                <a:solidFill>
                  <a:srgbClr val="006FC0"/>
                </a:solidFill>
                <a:latin typeface="Arial"/>
                <a:cs typeface="Arial"/>
              </a:rPr>
              <a:t>output.</a:t>
            </a:r>
            <a:endParaRPr sz="2800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135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1938527" y="202679"/>
              <a:ext cx="5260848" cy="9342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212594" y="321386"/>
            <a:ext cx="471741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30" dirty="0"/>
              <a:t>MAGNITUDE</a:t>
            </a:r>
            <a:r>
              <a:rPr spc="-80" dirty="0"/>
              <a:t> </a:t>
            </a:r>
            <a:r>
              <a:rPr spc="-114" dirty="0"/>
              <a:t>COMPARATOR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1143000" y="1752600"/>
            <a:ext cx="8006080" cy="5105400"/>
            <a:chOff x="1143000" y="1752600"/>
            <a:chExt cx="8006080" cy="5105400"/>
          </a:xfrm>
        </p:grpSpPr>
        <p:sp>
          <p:nvSpPr>
            <p:cNvPr id="8" name="object 8"/>
            <p:cNvSpPr/>
            <p:nvPr/>
          </p:nvSpPr>
          <p:spPr>
            <a:xfrm>
              <a:off x="8593835" y="6620254"/>
              <a:ext cx="550164" cy="23774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630411" y="6556242"/>
              <a:ext cx="513588" cy="3017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641080" y="6644640"/>
              <a:ext cx="502920" cy="1828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143000" y="1752600"/>
              <a:ext cx="7431024" cy="3875531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722501" y="6037884"/>
            <a:ext cx="539432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00860" algn="l"/>
              </a:tabLst>
            </a:pPr>
            <a:r>
              <a:rPr sz="2000" b="1" spc="-250" dirty="0">
                <a:latin typeface="Arial"/>
                <a:cs typeface="Arial"/>
              </a:rPr>
              <a:t>Block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spc="-235" dirty="0">
                <a:latin typeface="Arial"/>
                <a:cs typeface="Arial"/>
              </a:rPr>
              <a:t>diagram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spc="-155" dirty="0">
                <a:latin typeface="Arial"/>
                <a:cs typeface="Arial"/>
              </a:rPr>
              <a:t>of	</a:t>
            </a:r>
            <a:r>
              <a:rPr sz="2000" b="1" spc="-200" dirty="0">
                <a:latin typeface="Arial"/>
                <a:cs typeface="Arial"/>
              </a:rPr>
              <a:t>4-Bit </a:t>
            </a:r>
            <a:r>
              <a:rPr sz="2000" b="1" spc="-229" dirty="0">
                <a:latin typeface="Arial"/>
                <a:cs typeface="Arial"/>
              </a:rPr>
              <a:t>magnitude </a:t>
            </a:r>
            <a:r>
              <a:rPr sz="2000" b="1" spc="-204" dirty="0">
                <a:latin typeface="Arial"/>
                <a:cs typeface="Arial"/>
              </a:rPr>
              <a:t>comparator</a:t>
            </a:r>
            <a:r>
              <a:rPr sz="2000" b="1" spc="-95" dirty="0">
                <a:latin typeface="Arial"/>
                <a:cs typeface="Arial"/>
              </a:rPr>
              <a:t> </a:t>
            </a:r>
            <a:r>
              <a:rPr sz="2000" b="1" spc="-210" dirty="0">
                <a:solidFill>
                  <a:srgbClr val="C00000"/>
                </a:solidFill>
                <a:latin typeface="Arial"/>
                <a:cs typeface="Arial"/>
              </a:rPr>
              <a:t>(IC7485)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768842" y="6649770"/>
            <a:ext cx="296545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spc="-5" dirty="0">
                <a:solidFill>
                  <a:srgbClr val="FFFFFF"/>
                </a:solidFill>
                <a:latin typeface="Carlito"/>
                <a:cs typeface="Carlito"/>
              </a:rPr>
              <a:t>136</a:t>
            </a:r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1938527" y="202679"/>
              <a:ext cx="5260848" cy="9342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212594" y="321386"/>
            <a:ext cx="471741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30" dirty="0"/>
              <a:t>MAGNITUDE</a:t>
            </a:r>
            <a:r>
              <a:rPr spc="-80" dirty="0"/>
              <a:t> </a:t>
            </a:r>
            <a:r>
              <a:rPr spc="-114" dirty="0"/>
              <a:t>COMPARATOR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4622291" y="1228344"/>
            <a:ext cx="4526915" cy="5629910"/>
            <a:chOff x="4622291" y="1228344"/>
            <a:chExt cx="4526915" cy="5629910"/>
          </a:xfrm>
        </p:grpSpPr>
        <p:sp>
          <p:nvSpPr>
            <p:cNvPr id="8" name="object 8"/>
            <p:cNvSpPr/>
            <p:nvPr/>
          </p:nvSpPr>
          <p:spPr>
            <a:xfrm>
              <a:off x="8593835" y="6620254"/>
              <a:ext cx="550164" cy="23774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630411" y="6556242"/>
              <a:ext cx="513588" cy="3017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622291" y="1228344"/>
              <a:ext cx="3666744" cy="526389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282064" y="3011500"/>
            <a:ext cx="2254885" cy="6369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5"/>
              </a:spcBef>
              <a:tabLst>
                <a:tab pos="1793239" algn="l"/>
              </a:tabLst>
            </a:pPr>
            <a:r>
              <a:rPr sz="2000" b="1" spc="-245" dirty="0">
                <a:latin typeface="Arial"/>
                <a:cs typeface="Arial"/>
              </a:rPr>
              <a:t>Logic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spc="-235" dirty="0">
                <a:latin typeface="Arial"/>
                <a:cs typeface="Arial"/>
              </a:rPr>
              <a:t>diagram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spc="-155" dirty="0">
                <a:latin typeface="Arial"/>
                <a:cs typeface="Arial"/>
              </a:rPr>
              <a:t>of	</a:t>
            </a:r>
            <a:r>
              <a:rPr sz="2000" b="1" spc="-195" dirty="0">
                <a:latin typeface="Arial"/>
                <a:cs typeface="Arial"/>
              </a:rPr>
              <a:t>4-Bit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spc="-235" dirty="0">
                <a:latin typeface="Arial"/>
                <a:cs typeface="Arial"/>
              </a:rPr>
              <a:t>magnitude</a:t>
            </a:r>
            <a:r>
              <a:rPr sz="2000" b="1" spc="-95" dirty="0">
                <a:latin typeface="Arial"/>
                <a:cs typeface="Arial"/>
              </a:rPr>
              <a:t> </a:t>
            </a:r>
            <a:r>
              <a:rPr sz="2000" b="1" spc="-204" dirty="0">
                <a:latin typeface="Arial"/>
                <a:cs typeface="Arial"/>
              </a:rPr>
              <a:t>comparator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768842" y="6649770"/>
            <a:ext cx="296545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spc="-5" dirty="0">
                <a:solidFill>
                  <a:srgbClr val="FFFFFF"/>
                </a:solidFill>
                <a:latin typeface="Carlito"/>
                <a:cs typeface="Carlito"/>
              </a:rPr>
              <a:t>136</a:t>
            </a:r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1938527" y="202679"/>
              <a:ext cx="5260848" cy="9342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212594" y="321386"/>
            <a:ext cx="471741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30" dirty="0"/>
              <a:t>MAGNITUDE</a:t>
            </a:r>
            <a:r>
              <a:rPr spc="-80" dirty="0"/>
              <a:t> </a:t>
            </a:r>
            <a:r>
              <a:rPr spc="-114" dirty="0"/>
              <a:t>COMPARATOR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3657600" y="1188719"/>
            <a:ext cx="5491480" cy="5669280"/>
            <a:chOff x="3657600" y="1188719"/>
            <a:chExt cx="5491480" cy="5669280"/>
          </a:xfrm>
        </p:grpSpPr>
        <p:sp>
          <p:nvSpPr>
            <p:cNvPr id="8" name="object 8"/>
            <p:cNvSpPr/>
            <p:nvPr/>
          </p:nvSpPr>
          <p:spPr>
            <a:xfrm>
              <a:off x="8593835" y="6620254"/>
              <a:ext cx="550164" cy="23774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630411" y="6556242"/>
              <a:ext cx="513588" cy="3017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657600" y="1188719"/>
              <a:ext cx="5000244" cy="522884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80110" y="3011500"/>
            <a:ext cx="2326640" cy="6369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83260" algn="l"/>
                <a:tab pos="1870075" algn="l"/>
              </a:tabLst>
            </a:pPr>
            <a:r>
              <a:rPr sz="2000" b="1" spc="-409" dirty="0">
                <a:latin typeface="Arial"/>
                <a:cs typeface="Arial"/>
              </a:rPr>
              <a:t>B</a:t>
            </a:r>
            <a:r>
              <a:rPr sz="2000" b="1" spc="-120" dirty="0">
                <a:latin typeface="Arial"/>
                <a:cs typeface="Arial"/>
              </a:rPr>
              <a:t>l</a:t>
            </a:r>
            <a:r>
              <a:rPr sz="2000" b="1" spc="-210" dirty="0">
                <a:latin typeface="Arial"/>
                <a:cs typeface="Arial"/>
              </a:rPr>
              <a:t>o</a:t>
            </a:r>
            <a:r>
              <a:rPr sz="2000" b="1" spc="-260" dirty="0">
                <a:latin typeface="Arial"/>
                <a:cs typeface="Arial"/>
              </a:rPr>
              <a:t>ck</a:t>
            </a:r>
            <a:r>
              <a:rPr sz="2000" b="1" dirty="0">
                <a:latin typeface="Arial"/>
                <a:cs typeface="Arial"/>
              </a:rPr>
              <a:t>	</a:t>
            </a:r>
            <a:r>
              <a:rPr sz="2000" b="1" spc="-210" dirty="0">
                <a:latin typeface="Arial"/>
                <a:cs typeface="Arial"/>
              </a:rPr>
              <a:t>d</a:t>
            </a:r>
            <a:r>
              <a:rPr sz="2000" b="1" spc="-229" dirty="0">
                <a:latin typeface="Arial"/>
                <a:cs typeface="Arial"/>
              </a:rPr>
              <a:t>iag</a:t>
            </a:r>
            <a:r>
              <a:rPr sz="2000" b="1" spc="-200" dirty="0">
                <a:latin typeface="Arial"/>
                <a:cs typeface="Arial"/>
              </a:rPr>
              <a:t>r</a:t>
            </a:r>
            <a:r>
              <a:rPr sz="2000" b="1" spc="-280" dirty="0">
                <a:latin typeface="Arial"/>
                <a:cs typeface="Arial"/>
              </a:rPr>
              <a:t>am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spc="-210" dirty="0">
                <a:latin typeface="Arial"/>
                <a:cs typeface="Arial"/>
              </a:rPr>
              <a:t>o</a:t>
            </a:r>
            <a:r>
              <a:rPr sz="2000" b="1" spc="-100" dirty="0">
                <a:latin typeface="Arial"/>
                <a:cs typeface="Arial"/>
              </a:rPr>
              <a:t>f</a:t>
            </a:r>
            <a:r>
              <a:rPr sz="2000" b="1" dirty="0">
                <a:latin typeface="Arial"/>
                <a:cs typeface="Arial"/>
              </a:rPr>
              <a:t>	</a:t>
            </a:r>
            <a:r>
              <a:rPr sz="2000" b="1" spc="-260" dirty="0">
                <a:latin typeface="Arial"/>
                <a:cs typeface="Arial"/>
              </a:rPr>
              <a:t>8</a:t>
            </a:r>
            <a:r>
              <a:rPr sz="2000" b="1" spc="-120" dirty="0">
                <a:latin typeface="Arial"/>
                <a:cs typeface="Arial"/>
              </a:rPr>
              <a:t>-</a:t>
            </a:r>
            <a:r>
              <a:rPr sz="2000" b="1" spc="-409" dirty="0">
                <a:latin typeface="Arial"/>
                <a:cs typeface="Arial"/>
              </a:rPr>
              <a:t>B</a:t>
            </a:r>
            <a:r>
              <a:rPr sz="2000" b="1" spc="-95" dirty="0">
                <a:latin typeface="Arial"/>
                <a:cs typeface="Arial"/>
              </a:rPr>
              <a:t>it</a:t>
            </a:r>
            <a:endParaRPr sz="2000">
              <a:latin typeface="Arial"/>
              <a:cs typeface="Arial"/>
            </a:endParaRPr>
          </a:p>
          <a:p>
            <a:pPr marL="48895">
              <a:lnSpc>
                <a:spcPct val="100000"/>
              </a:lnSpc>
              <a:spcBef>
                <a:spcPts val="5"/>
              </a:spcBef>
            </a:pPr>
            <a:r>
              <a:rPr sz="2000" b="1" spc="-235" dirty="0">
                <a:latin typeface="Arial"/>
                <a:cs typeface="Arial"/>
              </a:rPr>
              <a:t>magnitude</a:t>
            </a:r>
            <a:r>
              <a:rPr sz="2000" b="1" spc="-80" dirty="0">
                <a:latin typeface="Arial"/>
                <a:cs typeface="Arial"/>
              </a:rPr>
              <a:t> </a:t>
            </a:r>
            <a:r>
              <a:rPr sz="2000" b="1" spc="-204" dirty="0">
                <a:latin typeface="Arial"/>
                <a:cs typeface="Arial"/>
              </a:rPr>
              <a:t>comparator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768842" y="6649770"/>
            <a:ext cx="296545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spc="-5" dirty="0">
                <a:solidFill>
                  <a:srgbClr val="FFFFFF"/>
                </a:solidFill>
                <a:latin typeface="Carlito"/>
                <a:cs typeface="Carlito"/>
              </a:rPr>
              <a:t>136</a:t>
            </a:r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793241" y="982217"/>
              <a:ext cx="7589519" cy="762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6764"/>
              <a:ext cx="9143999" cy="668274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53439" y="320001"/>
              <a:ext cx="7434072" cy="57611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938527" y="202679"/>
              <a:ext cx="5260848" cy="93422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212594" y="321386"/>
            <a:ext cx="471741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30" dirty="0"/>
              <a:t>MAGNITUDE</a:t>
            </a:r>
            <a:r>
              <a:rPr spc="-80" dirty="0"/>
              <a:t> </a:t>
            </a:r>
            <a:r>
              <a:rPr spc="-114" dirty="0"/>
              <a:t>COMPARATOR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sp>
          <p:nvSpPr>
            <p:cNvPr id="13" name="object 13"/>
            <p:cNvSpPr/>
            <p:nvPr/>
          </p:nvSpPr>
          <p:spPr>
            <a:xfrm>
              <a:off x="8593835" y="6620255"/>
              <a:ext cx="550164" cy="23774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630411" y="6556243"/>
              <a:ext cx="513588" cy="30175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83540" y="1205864"/>
            <a:ext cx="8376920" cy="50888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216535" algn="ctr">
              <a:lnSpc>
                <a:spcPct val="100000"/>
              </a:lnSpc>
              <a:spcBef>
                <a:spcPts val="105"/>
              </a:spcBef>
            </a:pPr>
            <a:r>
              <a:rPr sz="2000" b="1" spc="-200" dirty="0">
                <a:solidFill>
                  <a:srgbClr val="C00000"/>
                </a:solidFill>
                <a:latin typeface="Arial"/>
                <a:cs typeface="Arial"/>
              </a:rPr>
              <a:t>Applications </a:t>
            </a:r>
            <a:r>
              <a:rPr sz="2000" b="1" spc="-155" dirty="0">
                <a:solidFill>
                  <a:srgbClr val="C00000"/>
                </a:solidFill>
                <a:latin typeface="Arial"/>
                <a:cs typeface="Arial"/>
              </a:rPr>
              <a:t>of </a:t>
            </a:r>
            <a:r>
              <a:rPr sz="2000" b="1" spc="-200" dirty="0">
                <a:solidFill>
                  <a:srgbClr val="C00000"/>
                </a:solidFill>
                <a:latin typeface="Arial"/>
                <a:cs typeface="Arial"/>
              </a:rPr>
              <a:t>Magnitude</a:t>
            </a:r>
            <a:r>
              <a:rPr sz="2000" b="1" spc="-1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200" dirty="0">
                <a:solidFill>
                  <a:srgbClr val="C00000"/>
                </a:solidFill>
                <a:latin typeface="Arial"/>
                <a:cs typeface="Arial"/>
              </a:rPr>
              <a:t>Comparator</a:t>
            </a:r>
            <a:endParaRPr sz="2000">
              <a:latin typeface="Arial"/>
              <a:cs typeface="Arial"/>
            </a:endParaRPr>
          </a:p>
          <a:p>
            <a:pPr marL="476884" marR="5715" indent="-464820" algn="just">
              <a:lnSpc>
                <a:spcPct val="100000"/>
              </a:lnSpc>
              <a:spcBef>
                <a:spcPts val="15"/>
              </a:spcBef>
              <a:buClr>
                <a:srgbClr val="F79546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-204" dirty="0">
                <a:solidFill>
                  <a:srgbClr val="006FC0"/>
                </a:solidFill>
                <a:latin typeface="Arial"/>
                <a:cs typeface="Arial"/>
              </a:rPr>
              <a:t>Comparators 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are </a:t>
            </a:r>
            <a:r>
              <a:rPr sz="2800" spc="-310" dirty="0">
                <a:solidFill>
                  <a:srgbClr val="006FC0"/>
                </a:solidFill>
                <a:latin typeface="Arial"/>
                <a:cs typeface="Arial"/>
              </a:rPr>
              <a:t>used </a:t>
            </a:r>
            <a:r>
              <a:rPr sz="2800" spc="-110" dirty="0">
                <a:solidFill>
                  <a:srgbClr val="006FC0"/>
                </a:solidFill>
                <a:latin typeface="Arial"/>
                <a:cs typeface="Arial"/>
              </a:rPr>
              <a:t>in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central 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processing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units </a:t>
            </a:r>
            <a:r>
              <a:rPr sz="2800" spc="-320" dirty="0">
                <a:solidFill>
                  <a:srgbClr val="006FC0"/>
                </a:solidFill>
                <a:latin typeface="Arial"/>
                <a:cs typeface="Arial"/>
              </a:rPr>
              <a:t>(CPUs)  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spc="-140" dirty="0">
                <a:solidFill>
                  <a:srgbClr val="006FC0"/>
                </a:solidFill>
                <a:latin typeface="Arial"/>
                <a:cs typeface="Arial"/>
              </a:rPr>
              <a:t>microcontrollers</a:t>
            </a:r>
            <a:r>
              <a:rPr sz="2800" spc="-29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125" dirty="0">
                <a:solidFill>
                  <a:srgbClr val="006FC0"/>
                </a:solidFill>
                <a:latin typeface="Arial"/>
                <a:cs typeface="Arial"/>
              </a:rPr>
              <a:t>(ALU).</a:t>
            </a:r>
            <a:endParaRPr sz="2800">
              <a:latin typeface="Arial"/>
              <a:cs typeface="Arial"/>
            </a:endParaRPr>
          </a:p>
          <a:p>
            <a:pPr marL="476884" marR="5080" indent="-464820" algn="just">
              <a:lnSpc>
                <a:spcPct val="100000"/>
              </a:lnSpc>
              <a:spcBef>
                <a:spcPts val="2405"/>
              </a:spcBef>
              <a:buClr>
                <a:srgbClr val="F79546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-310" dirty="0">
                <a:solidFill>
                  <a:srgbClr val="006FC0"/>
                </a:solidFill>
                <a:latin typeface="Arial"/>
                <a:cs typeface="Arial"/>
              </a:rPr>
              <a:t>These 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are </a:t>
            </a:r>
            <a:r>
              <a:rPr sz="2800" spc="-310" dirty="0">
                <a:solidFill>
                  <a:srgbClr val="006FC0"/>
                </a:solidFill>
                <a:latin typeface="Arial"/>
                <a:cs typeface="Arial"/>
              </a:rPr>
              <a:t>used </a:t>
            </a:r>
            <a:r>
              <a:rPr sz="2800" spc="-110" dirty="0">
                <a:solidFill>
                  <a:srgbClr val="006FC0"/>
                </a:solidFill>
                <a:latin typeface="Arial"/>
                <a:cs typeface="Arial"/>
              </a:rPr>
              <a:t>in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control </a:t>
            </a:r>
            <a:r>
              <a:rPr sz="2800" spc="-185" dirty="0">
                <a:solidFill>
                  <a:srgbClr val="006FC0"/>
                </a:solidFill>
                <a:latin typeface="Arial"/>
                <a:cs typeface="Arial"/>
              </a:rPr>
              <a:t>applications </a:t>
            </a:r>
            <a:r>
              <a:rPr sz="2800" spc="-120" dirty="0">
                <a:solidFill>
                  <a:srgbClr val="006FC0"/>
                </a:solidFill>
                <a:latin typeface="Arial"/>
                <a:cs typeface="Arial"/>
              </a:rPr>
              <a:t>in </a:t>
            </a:r>
            <a:r>
              <a:rPr sz="2800" spc="-190" dirty="0">
                <a:solidFill>
                  <a:srgbClr val="006FC0"/>
                </a:solidFill>
                <a:latin typeface="Arial"/>
                <a:cs typeface="Arial"/>
              </a:rPr>
              <a:t>which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binary  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numbers </a:t>
            </a:r>
            <a:r>
              <a:rPr sz="2800" spc="-204" dirty="0">
                <a:solidFill>
                  <a:srgbClr val="006FC0"/>
                </a:solidFill>
                <a:latin typeface="Arial"/>
                <a:cs typeface="Arial"/>
              </a:rPr>
              <a:t>representing </a:t>
            </a:r>
            <a:r>
              <a:rPr sz="2800" spc="-215" dirty="0">
                <a:solidFill>
                  <a:srgbClr val="006FC0"/>
                </a:solidFill>
                <a:latin typeface="Arial"/>
                <a:cs typeface="Arial"/>
              </a:rPr>
              <a:t>physical </a:t>
            </a:r>
            <a:r>
              <a:rPr sz="2800" spc="-235" dirty="0">
                <a:solidFill>
                  <a:srgbClr val="006FC0"/>
                </a:solidFill>
                <a:latin typeface="Arial"/>
                <a:cs typeface="Arial"/>
              </a:rPr>
              <a:t>variables </a:t>
            </a:r>
            <a:r>
              <a:rPr sz="2800" spc="-295" dirty="0">
                <a:solidFill>
                  <a:srgbClr val="006FC0"/>
                </a:solidFill>
                <a:latin typeface="Arial"/>
                <a:cs typeface="Arial"/>
              </a:rPr>
              <a:t>such </a:t>
            </a:r>
            <a:r>
              <a:rPr sz="2800" spc="-459" dirty="0">
                <a:solidFill>
                  <a:srgbClr val="006FC0"/>
                </a:solidFill>
                <a:latin typeface="Arial"/>
                <a:cs typeface="Arial"/>
              </a:rPr>
              <a:t>as 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temperature, </a:t>
            </a:r>
            <a:r>
              <a:rPr sz="2800" spc="-150" dirty="0">
                <a:solidFill>
                  <a:srgbClr val="006FC0"/>
                </a:solidFill>
                <a:latin typeface="Arial"/>
                <a:cs typeface="Arial"/>
              </a:rPr>
              <a:t>position,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etc. 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are </a:t>
            </a:r>
            <a:r>
              <a:rPr sz="2800" spc="-215" dirty="0">
                <a:solidFill>
                  <a:srgbClr val="006FC0"/>
                </a:solidFill>
                <a:latin typeface="Arial"/>
                <a:cs typeface="Arial"/>
              </a:rPr>
              <a:t>compared </a:t>
            </a:r>
            <a:r>
              <a:rPr sz="2800" spc="-110" dirty="0">
                <a:solidFill>
                  <a:srgbClr val="006FC0"/>
                </a:solidFill>
                <a:latin typeface="Arial"/>
                <a:cs typeface="Arial"/>
              </a:rPr>
              <a:t>with </a:t>
            </a:r>
            <a:r>
              <a:rPr sz="2800" spc="-395" dirty="0">
                <a:solidFill>
                  <a:srgbClr val="006FC0"/>
                </a:solidFill>
                <a:latin typeface="Arial"/>
                <a:cs typeface="Arial"/>
              </a:rPr>
              <a:t>a </a:t>
            </a:r>
            <a:r>
              <a:rPr sz="2800" spc="-210" dirty="0">
                <a:solidFill>
                  <a:srgbClr val="006FC0"/>
                </a:solidFill>
                <a:latin typeface="Arial"/>
                <a:cs typeface="Arial"/>
              </a:rPr>
              <a:t>reference  </a:t>
            </a:r>
            <a:r>
              <a:rPr sz="2800" spc="-220" dirty="0">
                <a:solidFill>
                  <a:srgbClr val="006FC0"/>
                </a:solidFill>
                <a:latin typeface="Arial"/>
                <a:cs typeface="Arial"/>
              </a:rPr>
              <a:t>value.</a:t>
            </a:r>
            <a:endParaRPr sz="2800">
              <a:latin typeface="Arial"/>
              <a:cs typeface="Arial"/>
            </a:endParaRPr>
          </a:p>
          <a:p>
            <a:pPr marL="476884" marR="5715" indent="-464820" algn="just">
              <a:lnSpc>
                <a:spcPct val="100000"/>
              </a:lnSpc>
              <a:spcBef>
                <a:spcPts val="2400"/>
              </a:spcBef>
              <a:buClr>
                <a:srgbClr val="F79546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-204" dirty="0">
                <a:solidFill>
                  <a:srgbClr val="006FC0"/>
                </a:solidFill>
                <a:latin typeface="Arial"/>
                <a:cs typeface="Arial"/>
              </a:rPr>
              <a:t>Comparators 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are </a:t>
            </a:r>
            <a:r>
              <a:rPr sz="2800" spc="-270" dirty="0">
                <a:solidFill>
                  <a:srgbClr val="006FC0"/>
                </a:solidFill>
                <a:latin typeface="Arial"/>
                <a:cs typeface="Arial"/>
              </a:rPr>
              <a:t>also </a:t>
            </a:r>
            <a:r>
              <a:rPr sz="2800" spc="-310" dirty="0">
                <a:solidFill>
                  <a:srgbClr val="006FC0"/>
                </a:solidFill>
                <a:latin typeface="Arial"/>
                <a:cs typeface="Arial"/>
              </a:rPr>
              <a:t>used </a:t>
            </a:r>
            <a:r>
              <a:rPr sz="2800" spc="-455" dirty="0">
                <a:solidFill>
                  <a:srgbClr val="006FC0"/>
                </a:solidFill>
                <a:latin typeface="Arial"/>
                <a:cs typeface="Arial"/>
              </a:rPr>
              <a:t>as </a:t>
            </a:r>
            <a:r>
              <a:rPr sz="2800" spc="-275" dirty="0">
                <a:solidFill>
                  <a:srgbClr val="006FC0"/>
                </a:solidFill>
                <a:latin typeface="Arial"/>
                <a:cs typeface="Arial"/>
              </a:rPr>
              <a:t>process </a:t>
            </a:r>
            <a:r>
              <a:rPr sz="2800" spc="-145" dirty="0">
                <a:solidFill>
                  <a:srgbClr val="006FC0"/>
                </a:solidFill>
                <a:latin typeface="Arial"/>
                <a:cs typeface="Arial"/>
              </a:rPr>
              <a:t>controllers 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spc="-55" dirty="0">
                <a:solidFill>
                  <a:srgbClr val="006FC0"/>
                </a:solidFill>
                <a:latin typeface="Arial"/>
                <a:cs typeface="Arial"/>
              </a:rPr>
              <a:t>for  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Servo </a:t>
            </a:r>
            <a:r>
              <a:rPr sz="2800" spc="-100" dirty="0">
                <a:solidFill>
                  <a:srgbClr val="006FC0"/>
                </a:solidFill>
                <a:latin typeface="Arial"/>
                <a:cs typeface="Arial"/>
              </a:rPr>
              <a:t>motor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110" dirty="0">
                <a:solidFill>
                  <a:srgbClr val="006FC0"/>
                </a:solidFill>
                <a:latin typeface="Arial"/>
                <a:cs typeface="Arial"/>
              </a:rPr>
              <a:t>control.</a:t>
            </a:r>
            <a:endParaRPr sz="2800">
              <a:latin typeface="Arial"/>
              <a:cs typeface="Arial"/>
            </a:endParaRPr>
          </a:p>
          <a:p>
            <a:pPr marL="477520" indent="-464820">
              <a:lnSpc>
                <a:spcPct val="100000"/>
              </a:lnSpc>
              <a:spcBef>
                <a:spcPts val="2405"/>
              </a:spcBef>
              <a:buClr>
                <a:srgbClr val="F79546"/>
              </a:buClr>
              <a:buFont typeface="Wingdings"/>
              <a:buChar char=""/>
              <a:tabLst>
                <a:tab pos="476884" algn="l"/>
                <a:tab pos="477520" algn="l"/>
              </a:tabLst>
            </a:pPr>
            <a:r>
              <a:rPr sz="2800" spc="-155" dirty="0">
                <a:solidFill>
                  <a:srgbClr val="006FC0"/>
                </a:solidFill>
                <a:latin typeface="Arial"/>
                <a:cs typeface="Arial"/>
              </a:rPr>
              <a:t>Analogue-to-Digital </a:t>
            </a:r>
            <a:r>
              <a:rPr sz="2800" spc="-195" dirty="0">
                <a:solidFill>
                  <a:srgbClr val="006FC0"/>
                </a:solidFill>
                <a:latin typeface="Arial"/>
                <a:cs typeface="Arial"/>
              </a:rPr>
              <a:t>converters,</a:t>
            </a:r>
            <a:r>
              <a:rPr sz="2800" spc="14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185" dirty="0">
                <a:solidFill>
                  <a:srgbClr val="006FC0"/>
                </a:solidFill>
                <a:latin typeface="Arial"/>
                <a:cs typeface="Arial"/>
              </a:rPr>
              <a:t>(ADC)</a:t>
            </a:r>
            <a:endParaRPr sz="2800">
              <a:latin typeface="Arial"/>
              <a:cs typeface="Arial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8768842" y="6649770"/>
            <a:ext cx="296545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spc="-5" dirty="0">
                <a:solidFill>
                  <a:srgbClr val="FFFFFF"/>
                </a:solidFill>
                <a:latin typeface="Carlito"/>
                <a:cs typeface="Carlito"/>
              </a:rPr>
              <a:t>133</a:t>
            </a:r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9080" cy="6841490"/>
            <a:chOff x="0" y="16764"/>
            <a:chExt cx="9149080" cy="6841490"/>
          </a:xfrm>
        </p:grpSpPr>
        <p:sp>
          <p:nvSpPr>
            <p:cNvPr id="3" name="object 3"/>
            <p:cNvSpPr/>
            <p:nvPr/>
          </p:nvSpPr>
          <p:spPr>
            <a:xfrm>
              <a:off x="1493519" y="1455419"/>
              <a:ext cx="6983730" cy="417804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593835" y="6620254"/>
              <a:ext cx="550164" cy="23774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630411" y="6556243"/>
              <a:ext cx="513588" cy="30175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641080" y="6644640"/>
              <a:ext cx="502920" cy="18288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137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2516123" y="202679"/>
              <a:ext cx="4105655" cy="9342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790189" y="321386"/>
            <a:ext cx="356489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14" dirty="0"/>
              <a:t>PARITY</a:t>
            </a:r>
            <a:r>
              <a:rPr spc="-100" dirty="0"/>
              <a:t> </a:t>
            </a:r>
            <a:r>
              <a:rPr spc="-130" dirty="0"/>
              <a:t>GENERATOR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83540" y="1113889"/>
            <a:ext cx="8379459" cy="5169535"/>
          </a:xfrm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L="476884" marR="5080" indent="-464820" algn="just">
              <a:lnSpc>
                <a:spcPts val="3360"/>
              </a:lnSpc>
              <a:spcBef>
                <a:spcPts val="359"/>
              </a:spcBef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135" dirty="0">
                <a:solidFill>
                  <a:srgbClr val="006FC0"/>
                </a:solidFill>
                <a:latin typeface="Arial"/>
                <a:cs typeface="Arial"/>
              </a:rPr>
              <a:t>A </a:t>
            </a:r>
            <a:r>
              <a:rPr sz="2950" b="1" i="1" spc="-350" dirty="0">
                <a:latin typeface="Arial"/>
                <a:cs typeface="Arial"/>
              </a:rPr>
              <a:t>Parity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800" spc="-395" dirty="0">
                <a:solidFill>
                  <a:srgbClr val="006FC0"/>
                </a:solidFill>
                <a:latin typeface="Arial"/>
                <a:cs typeface="Arial"/>
              </a:rPr>
              <a:t>a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very </a:t>
            </a:r>
            <a:r>
              <a:rPr sz="2800" spc="-220" dirty="0">
                <a:solidFill>
                  <a:srgbClr val="006FC0"/>
                </a:solidFill>
                <a:latin typeface="Arial"/>
                <a:cs typeface="Arial"/>
              </a:rPr>
              <a:t>useful 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tool </a:t>
            </a:r>
            <a:r>
              <a:rPr sz="2800" spc="-114" dirty="0">
                <a:solidFill>
                  <a:srgbClr val="006FC0"/>
                </a:solidFill>
                <a:latin typeface="Arial"/>
                <a:cs typeface="Arial"/>
              </a:rPr>
              <a:t>in </a:t>
            </a:r>
            <a:r>
              <a:rPr sz="2800" spc="-120" dirty="0">
                <a:solidFill>
                  <a:srgbClr val="006FC0"/>
                </a:solidFill>
                <a:latin typeface="Arial"/>
                <a:cs typeface="Arial"/>
              </a:rPr>
              <a:t>information 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processing </a:t>
            </a:r>
            <a:r>
              <a:rPr sz="2800" spc="-110" dirty="0">
                <a:solidFill>
                  <a:srgbClr val="006FC0"/>
                </a:solidFill>
                <a:latin typeface="Arial"/>
                <a:cs typeface="Arial"/>
              </a:rPr>
              <a:t>in 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130" dirty="0">
                <a:latin typeface="Arial"/>
                <a:cs typeface="Arial"/>
              </a:rPr>
              <a:t>digital </a:t>
            </a:r>
            <a:r>
              <a:rPr sz="2800" spc="-200" dirty="0">
                <a:latin typeface="Arial"/>
                <a:cs typeface="Arial"/>
              </a:rPr>
              <a:t>computers </a:t>
            </a:r>
            <a:r>
              <a:rPr sz="2800" spc="-55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indicate 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any </a:t>
            </a:r>
            <a:r>
              <a:rPr sz="2800" spc="-275" dirty="0">
                <a:solidFill>
                  <a:srgbClr val="006FC0"/>
                </a:solidFill>
                <a:latin typeface="Arial"/>
                <a:cs typeface="Arial"/>
              </a:rPr>
              <a:t>presence 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error </a:t>
            </a:r>
            <a:r>
              <a:rPr sz="2800" spc="-114" dirty="0">
                <a:solidFill>
                  <a:srgbClr val="006FC0"/>
                </a:solidFill>
                <a:latin typeface="Arial"/>
                <a:cs typeface="Arial"/>
              </a:rPr>
              <a:t>in </a:t>
            </a:r>
            <a:r>
              <a:rPr sz="2800" spc="-55" dirty="0">
                <a:solidFill>
                  <a:srgbClr val="006FC0"/>
                </a:solidFill>
                <a:latin typeface="Arial"/>
                <a:cs typeface="Arial"/>
              </a:rPr>
              <a:t>bit  </a:t>
            </a:r>
            <a:r>
              <a:rPr sz="2800" spc="-125" dirty="0">
                <a:solidFill>
                  <a:srgbClr val="006FC0"/>
                </a:solidFill>
                <a:latin typeface="Arial"/>
                <a:cs typeface="Arial"/>
              </a:rPr>
              <a:t>information.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E36C09"/>
              </a:buClr>
              <a:buFont typeface="Wingdings"/>
              <a:buChar char=""/>
            </a:pPr>
            <a:endParaRPr sz="2800">
              <a:latin typeface="Arial"/>
              <a:cs typeface="Arial"/>
            </a:endParaRPr>
          </a:p>
          <a:p>
            <a:pPr marL="476884" marR="5080" indent="-464820" algn="just">
              <a:lnSpc>
                <a:spcPct val="100000"/>
              </a:lnSpc>
              <a:spcBef>
                <a:spcPts val="5"/>
              </a:spcBef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-195" dirty="0">
                <a:solidFill>
                  <a:srgbClr val="006FC0"/>
                </a:solidFill>
                <a:latin typeface="Arial"/>
                <a:cs typeface="Arial"/>
              </a:rPr>
              <a:t>External 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noise and </a:t>
            </a:r>
            <a:r>
              <a:rPr sz="2800" spc="-305" dirty="0">
                <a:solidFill>
                  <a:srgbClr val="006FC0"/>
                </a:solidFill>
                <a:latin typeface="Arial"/>
                <a:cs typeface="Arial"/>
              </a:rPr>
              <a:t>loss 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signal </a:t>
            </a:r>
            <a:r>
              <a:rPr sz="2800" spc="-190" dirty="0">
                <a:solidFill>
                  <a:srgbClr val="006FC0"/>
                </a:solidFill>
                <a:latin typeface="Arial"/>
                <a:cs typeface="Arial"/>
              </a:rPr>
              <a:t>strength </a:t>
            </a:r>
            <a:r>
              <a:rPr sz="2800" spc="-370" dirty="0">
                <a:solidFill>
                  <a:srgbClr val="006FC0"/>
                </a:solidFill>
                <a:latin typeface="Arial"/>
                <a:cs typeface="Arial"/>
              </a:rPr>
              <a:t>causes </a:t>
            </a:r>
            <a:r>
              <a:rPr sz="2800" spc="-305" dirty="0">
                <a:solidFill>
                  <a:srgbClr val="006FC0"/>
                </a:solidFill>
                <a:latin typeface="Arial"/>
                <a:cs typeface="Arial"/>
              </a:rPr>
              <a:t>loss </a:t>
            </a:r>
            <a:r>
              <a:rPr sz="2800" spc="-70" dirty="0">
                <a:solidFill>
                  <a:srgbClr val="006FC0"/>
                </a:solidFill>
                <a:latin typeface="Arial"/>
                <a:cs typeface="Arial"/>
              </a:rPr>
              <a:t>of  </a:t>
            </a:r>
            <a:r>
              <a:rPr sz="2800" spc="-220" dirty="0">
                <a:solidFill>
                  <a:srgbClr val="006FC0"/>
                </a:solidFill>
                <a:latin typeface="Arial"/>
                <a:cs typeface="Arial"/>
              </a:rPr>
              <a:t>data </a:t>
            </a:r>
            <a:r>
              <a:rPr sz="2800" spc="-55" dirty="0">
                <a:solidFill>
                  <a:srgbClr val="006FC0"/>
                </a:solidFill>
                <a:latin typeface="Arial"/>
                <a:cs typeface="Arial"/>
              </a:rPr>
              <a:t>bit </a:t>
            </a:r>
            <a:r>
              <a:rPr sz="2800" spc="-120" dirty="0">
                <a:solidFill>
                  <a:srgbClr val="006FC0"/>
                </a:solidFill>
                <a:latin typeface="Arial"/>
                <a:cs typeface="Arial"/>
              </a:rPr>
              <a:t>information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while </a:t>
            </a:r>
            <a:r>
              <a:rPr sz="2800" spc="-160" dirty="0">
                <a:solidFill>
                  <a:srgbClr val="006FC0"/>
                </a:solidFill>
                <a:latin typeface="Arial"/>
                <a:cs typeface="Arial"/>
              </a:rPr>
              <a:t>transporting </a:t>
            </a:r>
            <a:r>
              <a:rPr sz="2800" spc="-225" dirty="0">
                <a:solidFill>
                  <a:srgbClr val="006FC0"/>
                </a:solidFill>
                <a:latin typeface="Arial"/>
                <a:cs typeface="Arial"/>
              </a:rPr>
              <a:t>data </a:t>
            </a:r>
            <a:r>
              <a:rPr sz="2800" spc="-100" dirty="0">
                <a:solidFill>
                  <a:srgbClr val="006FC0"/>
                </a:solidFill>
                <a:latin typeface="Arial"/>
                <a:cs typeface="Arial"/>
              </a:rPr>
              <a:t>from </a:t>
            </a:r>
            <a:r>
              <a:rPr sz="2800" spc="-240" dirty="0">
                <a:solidFill>
                  <a:srgbClr val="006FC0"/>
                </a:solidFill>
                <a:latin typeface="Arial"/>
                <a:cs typeface="Arial"/>
              </a:rPr>
              <a:t>one  </a:t>
            </a:r>
            <a:r>
              <a:rPr sz="2800" spc="-215" dirty="0">
                <a:solidFill>
                  <a:srgbClr val="006FC0"/>
                </a:solidFill>
                <a:latin typeface="Arial"/>
                <a:cs typeface="Arial"/>
              </a:rPr>
              <a:t>device </a:t>
            </a:r>
            <a:r>
              <a:rPr sz="2800" spc="-50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800" spc="-130" dirty="0">
                <a:solidFill>
                  <a:srgbClr val="006FC0"/>
                </a:solidFill>
                <a:latin typeface="Arial"/>
                <a:cs typeface="Arial"/>
              </a:rPr>
              <a:t>other </a:t>
            </a:r>
            <a:r>
              <a:rPr sz="2800" spc="-210" dirty="0">
                <a:solidFill>
                  <a:srgbClr val="006FC0"/>
                </a:solidFill>
                <a:latin typeface="Arial"/>
                <a:cs typeface="Arial"/>
              </a:rPr>
              <a:t>device, </a:t>
            </a:r>
            <a:r>
              <a:rPr sz="2800" spc="-180" dirty="0">
                <a:solidFill>
                  <a:srgbClr val="006FC0"/>
                </a:solidFill>
                <a:latin typeface="Arial"/>
                <a:cs typeface="Arial"/>
              </a:rPr>
              <a:t>located </a:t>
            </a:r>
            <a:r>
              <a:rPr sz="2800" spc="-210" dirty="0">
                <a:solidFill>
                  <a:srgbClr val="006FC0"/>
                </a:solidFill>
                <a:latin typeface="Arial"/>
                <a:cs typeface="Arial"/>
              </a:rPr>
              <a:t>inside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60" dirty="0">
                <a:solidFill>
                  <a:srgbClr val="006FC0"/>
                </a:solidFill>
                <a:latin typeface="Arial"/>
                <a:cs typeface="Arial"/>
              </a:rPr>
              <a:t>computer 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or 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externally.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E36C09"/>
              </a:buClr>
              <a:buFont typeface="Wingdings"/>
              <a:buChar char=""/>
            </a:pPr>
            <a:endParaRPr sz="2950">
              <a:latin typeface="Arial"/>
              <a:cs typeface="Arial"/>
            </a:endParaRPr>
          </a:p>
          <a:p>
            <a:pPr marL="476884" marR="6350" indent="-464820" algn="just">
              <a:lnSpc>
                <a:spcPct val="97900"/>
              </a:lnSpc>
              <a:spcBef>
                <a:spcPts val="5"/>
              </a:spcBef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-145" dirty="0">
                <a:latin typeface="Arial"/>
                <a:cs typeface="Arial"/>
              </a:rPr>
              <a:t>To </a:t>
            </a:r>
            <a:r>
              <a:rPr sz="2800" spc="-165" dirty="0">
                <a:latin typeface="Arial"/>
                <a:cs typeface="Arial"/>
              </a:rPr>
              <a:t>indicate</a:t>
            </a:r>
            <a:r>
              <a:rPr sz="2800" spc="445" dirty="0">
                <a:latin typeface="Arial"/>
                <a:cs typeface="Arial"/>
              </a:rPr>
              <a:t> </a:t>
            </a:r>
            <a:r>
              <a:rPr sz="2800" spc="-250" dirty="0">
                <a:latin typeface="Arial"/>
                <a:cs typeface="Arial"/>
              </a:rPr>
              <a:t>any </a:t>
            </a:r>
            <a:r>
              <a:rPr sz="2800" spc="-200" dirty="0">
                <a:latin typeface="Arial"/>
                <a:cs typeface="Arial"/>
              </a:rPr>
              <a:t>occurrence </a:t>
            </a:r>
            <a:r>
              <a:rPr sz="2800" spc="-80" dirty="0">
                <a:latin typeface="Arial"/>
                <a:cs typeface="Arial"/>
              </a:rPr>
              <a:t>of </a:t>
            </a:r>
            <a:r>
              <a:rPr sz="2800" spc="-110" dirty="0">
                <a:latin typeface="Arial"/>
                <a:cs typeface="Arial"/>
              </a:rPr>
              <a:t>error</a:t>
            </a:r>
            <a:r>
              <a:rPr sz="2800" spc="-110" dirty="0">
                <a:solidFill>
                  <a:srgbClr val="006FC0"/>
                </a:solidFill>
                <a:latin typeface="Arial"/>
                <a:cs typeface="Arial"/>
              </a:rPr>
              <a:t>, </a:t>
            </a:r>
            <a:r>
              <a:rPr sz="2800" spc="-305" dirty="0">
                <a:solidFill>
                  <a:srgbClr val="006FC0"/>
                </a:solidFill>
                <a:latin typeface="Arial"/>
                <a:cs typeface="Arial"/>
              </a:rPr>
              <a:t>an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extra </a:t>
            </a:r>
            <a:r>
              <a:rPr sz="2800" spc="-55" dirty="0">
                <a:solidFill>
                  <a:srgbClr val="006FC0"/>
                </a:solidFill>
                <a:latin typeface="Arial"/>
                <a:cs typeface="Arial"/>
              </a:rPr>
              <a:t>bit </a:t>
            </a:r>
            <a:r>
              <a:rPr sz="2800" spc="-260" dirty="0">
                <a:solidFill>
                  <a:srgbClr val="006FC0"/>
                </a:solidFill>
                <a:latin typeface="Arial"/>
                <a:cs typeface="Arial"/>
              </a:rPr>
              <a:t>is 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included </a:t>
            </a:r>
            <a:r>
              <a:rPr sz="2800" spc="-110" dirty="0">
                <a:solidFill>
                  <a:srgbClr val="006FC0"/>
                </a:solidFill>
                <a:latin typeface="Arial"/>
                <a:cs typeface="Arial"/>
              </a:rPr>
              <a:t>with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385" dirty="0">
                <a:solidFill>
                  <a:srgbClr val="006FC0"/>
                </a:solidFill>
                <a:latin typeface="Arial"/>
                <a:cs typeface="Arial"/>
              </a:rPr>
              <a:t>message </a:t>
            </a:r>
            <a:r>
              <a:rPr sz="2800" spc="-195" dirty="0">
                <a:solidFill>
                  <a:srgbClr val="006FC0"/>
                </a:solidFill>
                <a:latin typeface="Arial"/>
                <a:cs typeface="Arial"/>
              </a:rPr>
              <a:t>according </a:t>
            </a:r>
            <a:r>
              <a:rPr sz="2800" spc="-50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95" dirty="0">
                <a:latin typeface="Arial"/>
                <a:cs typeface="Arial"/>
              </a:rPr>
              <a:t>total </a:t>
            </a:r>
            <a:r>
              <a:rPr sz="2800" spc="-210" dirty="0">
                <a:latin typeface="Arial"/>
                <a:cs typeface="Arial"/>
              </a:rPr>
              <a:t>number  </a:t>
            </a:r>
            <a:r>
              <a:rPr sz="2800" spc="-75" dirty="0">
                <a:latin typeface="Arial"/>
                <a:cs typeface="Arial"/>
              </a:rPr>
              <a:t>of </a:t>
            </a:r>
            <a:r>
              <a:rPr sz="2800" spc="-459" dirty="0">
                <a:latin typeface="Arial"/>
                <a:cs typeface="Arial"/>
              </a:rPr>
              <a:t>1s </a:t>
            </a:r>
            <a:r>
              <a:rPr sz="2800" spc="-110" dirty="0">
                <a:solidFill>
                  <a:srgbClr val="006FC0"/>
                </a:solidFill>
                <a:latin typeface="Arial"/>
                <a:cs typeface="Arial"/>
              </a:rPr>
              <a:t>in </a:t>
            </a:r>
            <a:r>
              <a:rPr sz="2800" spc="-395" dirty="0">
                <a:solidFill>
                  <a:srgbClr val="006FC0"/>
                </a:solidFill>
                <a:latin typeface="Arial"/>
                <a:cs typeface="Arial"/>
              </a:rPr>
              <a:t>a </a:t>
            </a:r>
            <a:r>
              <a:rPr sz="2800" spc="-270" dirty="0">
                <a:solidFill>
                  <a:srgbClr val="006FC0"/>
                </a:solidFill>
                <a:latin typeface="Arial"/>
                <a:cs typeface="Arial"/>
              </a:rPr>
              <a:t>set 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210" dirty="0">
                <a:solidFill>
                  <a:srgbClr val="006FC0"/>
                </a:solidFill>
                <a:latin typeface="Arial"/>
                <a:cs typeface="Arial"/>
              </a:rPr>
              <a:t>data, </a:t>
            </a:r>
            <a:r>
              <a:rPr sz="2800" spc="-185" dirty="0">
                <a:solidFill>
                  <a:srgbClr val="006FC0"/>
                </a:solidFill>
                <a:latin typeface="Arial"/>
                <a:cs typeface="Arial"/>
              </a:rPr>
              <a:t>which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800" spc="-195" dirty="0">
                <a:solidFill>
                  <a:srgbClr val="006FC0"/>
                </a:solidFill>
                <a:latin typeface="Arial"/>
                <a:cs typeface="Arial"/>
              </a:rPr>
              <a:t>called</a:t>
            </a:r>
            <a:r>
              <a:rPr sz="2800" spc="-8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950" b="1" i="1" spc="-280" dirty="0">
                <a:solidFill>
                  <a:srgbClr val="006FC0"/>
                </a:solidFill>
                <a:latin typeface="Arial"/>
                <a:cs typeface="Arial"/>
              </a:rPr>
              <a:t>parity</a:t>
            </a:r>
            <a:r>
              <a:rPr sz="2800" spc="-280" dirty="0">
                <a:solidFill>
                  <a:srgbClr val="006FC0"/>
                </a:solidFill>
                <a:latin typeface="Arial"/>
                <a:cs typeface="Arial"/>
              </a:rPr>
              <a:t>.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sp>
          <p:nvSpPr>
            <p:cNvPr id="9" name="object 9"/>
            <p:cNvSpPr/>
            <p:nvPr/>
          </p:nvSpPr>
          <p:spPr>
            <a:xfrm>
              <a:off x="8593835" y="6620255"/>
              <a:ext cx="550164" cy="23774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630411" y="6556243"/>
              <a:ext cx="513588" cy="3017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138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793241" y="982217"/>
              <a:ext cx="7589519" cy="762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6764"/>
              <a:ext cx="9143999" cy="668274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53439" y="320001"/>
              <a:ext cx="7434072" cy="57611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516123" y="202679"/>
              <a:ext cx="4105655" cy="93422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83540" y="321386"/>
            <a:ext cx="8378190" cy="5497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3200" b="1" spc="-114" dirty="0">
                <a:latin typeface="Trebuchet MS"/>
                <a:cs typeface="Trebuchet MS"/>
              </a:rPr>
              <a:t>PARITY</a:t>
            </a:r>
            <a:r>
              <a:rPr sz="3200" b="1" spc="-45" dirty="0">
                <a:latin typeface="Trebuchet MS"/>
                <a:cs typeface="Trebuchet MS"/>
              </a:rPr>
              <a:t> </a:t>
            </a:r>
            <a:r>
              <a:rPr sz="3200" b="1" spc="-130" dirty="0">
                <a:latin typeface="Trebuchet MS"/>
                <a:cs typeface="Trebuchet MS"/>
              </a:rPr>
              <a:t>GENERATOR</a:t>
            </a:r>
            <a:endParaRPr sz="3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4000">
              <a:latin typeface="Trebuchet MS"/>
              <a:cs typeface="Trebuchet MS"/>
            </a:endParaRPr>
          </a:p>
          <a:p>
            <a:pPr marL="476884" marR="5080" indent="-464820" algn="just">
              <a:lnSpc>
                <a:spcPct val="100000"/>
              </a:lnSpc>
              <a:spcBef>
                <a:spcPts val="5"/>
              </a:spcBef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3600" spc="15" dirty="0">
                <a:solidFill>
                  <a:srgbClr val="006FC0"/>
                </a:solidFill>
                <a:latin typeface="Arial"/>
                <a:cs typeface="Arial"/>
              </a:rPr>
              <a:t>If </a:t>
            </a:r>
            <a:r>
              <a:rPr sz="3600" spc="-21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3600" spc="-225" dirty="0">
                <a:solidFill>
                  <a:srgbClr val="006FC0"/>
                </a:solidFill>
                <a:latin typeface="Arial"/>
                <a:cs typeface="Arial"/>
              </a:rPr>
              <a:t>extra </a:t>
            </a:r>
            <a:r>
              <a:rPr sz="3600" spc="-75" dirty="0">
                <a:solidFill>
                  <a:srgbClr val="006FC0"/>
                </a:solidFill>
                <a:latin typeface="Arial"/>
                <a:cs typeface="Arial"/>
              </a:rPr>
              <a:t>bit </a:t>
            </a:r>
            <a:r>
              <a:rPr sz="3600" spc="-34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3600" spc="-280" dirty="0">
                <a:solidFill>
                  <a:srgbClr val="006FC0"/>
                </a:solidFill>
                <a:latin typeface="Arial"/>
                <a:cs typeface="Arial"/>
              </a:rPr>
              <a:t>considered </a:t>
            </a:r>
            <a:r>
              <a:rPr sz="3600" spc="-509" dirty="0">
                <a:solidFill>
                  <a:srgbClr val="006FC0"/>
                </a:solidFill>
                <a:latin typeface="Arial"/>
                <a:cs typeface="Arial"/>
              </a:rPr>
              <a:t>0 </a:t>
            </a:r>
            <a:r>
              <a:rPr sz="3600" spc="-5" dirty="0">
                <a:solidFill>
                  <a:srgbClr val="006FC0"/>
                </a:solidFill>
                <a:latin typeface="Arial"/>
                <a:cs typeface="Arial"/>
              </a:rPr>
              <a:t>if </a:t>
            </a:r>
            <a:r>
              <a:rPr sz="3600" spc="-21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3600" spc="-120" dirty="0">
                <a:solidFill>
                  <a:srgbClr val="006FC0"/>
                </a:solidFill>
                <a:latin typeface="Arial"/>
                <a:cs typeface="Arial"/>
              </a:rPr>
              <a:t>total  </a:t>
            </a:r>
            <a:r>
              <a:rPr sz="3600" spc="-260" dirty="0">
                <a:solidFill>
                  <a:srgbClr val="006FC0"/>
                </a:solidFill>
                <a:latin typeface="Arial"/>
                <a:cs typeface="Arial"/>
              </a:rPr>
              <a:t>number </a:t>
            </a:r>
            <a:r>
              <a:rPr sz="3600" spc="-9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3600" spc="-585" dirty="0">
                <a:solidFill>
                  <a:srgbClr val="006FC0"/>
                </a:solidFill>
                <a:latin typeface="Arial"/>
                <a:cs typeface="Arial"/>
              </a:rPr>
              <a:t>1s </a:t>
            </a:r>
            <a:r>
              <a:rPr sz="3600" spc="-34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3600" spc="-350" dirty="0">
                <a:solidFill>
                  <a:srgbClr val="006FC0"/>
                </a:solidFill>
                <a:latin typeface="Arial"/>
                <a:cs typeface="Arial"/>
              </a:rPr>
              <a:t>even </a:t>
            </a:r>
            <a:r>
              <a:rPr sz="3600" spc="-325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3600" spc="-509" dirty="0">
                <a:solidFill>
                  <a:srgbClr val="006FC0"/>
                </a:solidFill>
                <a:latin typeface="Arial"/>
                <a:cs typeface="Arial"/>
              </a:rPr>
              <a:t>1 </a:t>
            </a:r>
            <a:r>
              <a:rPr sz="3600" spc="-65" dirty="0">
                <a:solidFill>
                  <a:srgbClr val="006FC0"/>
                </a:solidFill>
                <a:latin typeface="Arial"/>
                <a:cs typeface="Arial"/>
              </a:rPr>
              <a:t>for </a:t>
            </a:r>
            <a:r>
              <a:rPr sz="3600" spc="-204" dirty="0">
                <a:solidFill>
                  <a:srgbClr val="006FC0"/>
                </a:solidFill>
                <a:latin typeface="Arial"/>
                <a:cs typeface="Arial"/>
              </a:rPr>
              <a:t>odd  </a:t>
            </a:r>
            <a:r>
              <a:rPr sz="3600" spc="-235" dirty="0">
                <a:solidFill>
                  <a:srgbClr val="006FC0"/>
                </a:solidFill>
                <a:latin typeface="Arial"/>
                <a:cs typeface="Arial"/>
              </a:rPr>
              <a:t>quantities </a:t>
            </a:r>
            <a:r>
              <a:rPr sz="3600" spc="-9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3600" spc="-585" dirty="0">
                <a:solidFill>
                  <a:srgbClr val="006FC0"/>
                </a:solidFill>
                <a:latin typeface="Arial"/>
                <a:cs typeface="Arial"/>
              </a:rPr>
              <a:t>1s </a:t>
            </a:r>
            <a:r>
              <a:rPr sz="3600" spc="-145" dirty="0">
                <a:solidFill>
                  <a:srgbClr val="006FC0"/>
                </a:solidFill>
                <a:latin typeface="Arial"/>
                <a:cs typeface="Arial"/>
              </a:rPr>
              <a:t>in </a:t>
            </a:r>
            <a:r>
              <a:rPr sz="3600" spc="-505" dirty="0">
                <a:solidFill>
                  <a:srgbClr val="006FC0"/>
                </a:solidFill>
                <a:latin typeface="Arial"/>
                <a:cs typeface="Arial"/>
              </a:rPr>
              <a:t>a </a:t>
            </a:r>
            <a:r>
              <a:rPr sz="3600" spc="-340" dirty="0">
                <a:solidFill>
                  <a:srgbClr val="006FC0"/>
                </a:solidFill>
                <a:latin typeface="Arial"/>
                <a:cs typeface="Arial"/>
              </a:rPr>
              <a:t>set </a:t>
            </a:r>
            <a:r>
              <a:rPr sz="3600" spc="-9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3600" spc="-270" dirty="0">
                <a:solidFill>
                  <a:srgbClr val="006FC0"/>
                </a:solidFill>
                <a:latin typeface="Arial"/>
                <a:cs typeface="Arial"/>
              </a:rPr>
              <a:t>data, </a:t>
            </a:r>
            <a:r>
              <a:rPr sz="3600" spc="-225" dirty="0">
                <a:solidFill>
                  <a:srgbClr val="006FC0"/>
                </a:solidFill>
                <a:latin typeface="Arial"/>
                <a:cs typeface="Arial"/>
              </a:rPr>
              <a:t>then </a:t>
            </a:r>
            <a:r>
              <a:rPr sz="3600" spc="25" dirty="0">
                <a:solidFill>
                  <a:srgbClr val="006FC0"/>
                </a:solidFill>
                <a:latin typeface="Arial"/>
                <a:cs typeface="Arial"/>
              </a:rPr>
              <a:t>it </a:t>
            </a:r>
            <a:r>
              <a:rPr sz="3600" spc="-345" dirty="0">
                <a:solidFill>
                  <a:srgbClr val="006FC0"/>
                </a:solidFill>
                <a:latin typeface="Arial"/>
                <a:cs typeface="Arial"/>
              </a:rPr>
              <a:t>is  </a:t>
            </a:r>
            <a:r>
              <a:rPr sz="3600" spc="-250" dirty="0">
                <a:solidFill>
                  <a:srgbClr val="006FC0"/>
                </a:solidFill>
                <a:latin typeface="Arial"/>
                <a:cs typeface="Arial"/>
              </a:rPr>
              <a:t>called </a:t>
            </a:r>
            <a:r>
              <a:rPr sz="3600" b="1" spc="-440" dirty="0">
                <a:latin typeface="Arial"/>
                <a:cs typeface="Arial"/>
              </a:rPr>
              <a:t>even</a:t>
            </a:r>
            <a:r>
              <a:rPr sz="3600" b="1" spc="-375" dirty="0">
                <a:latin typeface="Arial"/>
                <a:cs typeface="Arial"/>
              </a:rPr>
              <a:t> </a:t>
            </a:r>
            <a:r>
              <a:rPr sz="3600" b="1" spc="-285" dirty="0">
                <a:latin typeface="Arial"/>
                <a:cs typeface="Arial"/>
              </a:rPr>
              <a:t>parity</a:t>
            </a:r>
            <a:r>
              <a:rPr sz="3600" spc="-285" dirty="0">
                <a:latin typeface="Arial"/>
                <a:cs typeface="Arial"/>
              </a:rPr>
              <a:t>.</a:t>
            </a:r>
            <a:endParaRPr sz="3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E36C09"/>
              </a:buClr>
              <a:buFont typeface="Wingdings"/>
              <a:buChar char=""/>
            </a:pPr>
            <a:endParaRPr sz="3750">
              <a:latin typeface="Arial"/>
              <a:cs typeface="Arial"/>
            </a:endParaRPr>
          </a:p>
          <a:p>
            <a:pPr marL="476884" marR="5715" indent="-464820" algn="just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3600" spc="-125" dirty="0">
                <a:solidFill>
                  <a:srgbClr val="006FC0"/>
                </a:solidFill>
                <a:latin typeface="Arial"/>
                <a:cs typeface="Arial"/>
              </a:rPr>
              <a:t>On </a:t>
            </a:r>
            <a:r>
              <a:rPr sz="3600" spc="-21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3600" spc="-165" dirty="0">
                <a:solidFill>
                  <a:srgbClr val="006FC0"/>
                </a:solidFill>
                <a:latin typeface="Arial"/>
                <a:cs typeface="Arial"/>
              </a:rPr>
              <a:t>other </a:t>
            </a:r>
            <a:r>
              <a:rPr sz="3600" spc="-290" dirty="0">
                <a:solidFill>
                  <a:srgbClr val="006FC0"/>
                </a:solidFill>
                <a:latin typeface="Arial"/>
                <a:cs typeface="Arial"/>
              </a:rPr>
              <a:t>hand, </a:t>
            </a:r>
            <a:r>
              <a:rPr sz="3600" spc="-5" dirty="0">
                <a:solidFill>
                  <a:srgbClr val="006FC0"/>
                </a:solidFill>
                <a:latin typeface="Arial"/>
                <a:cs typeface="Arial"/>
              </a:rPr>
              <a:t>if </a:t>
            </a:r>
            <a:r>
              <a:rPr sz="3600" spc="-21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3600" spc="-225" dirty="0">
                <a:solidFill>
                  <a:srgbClr val="006FC0"/>
                </a:solidFill>
                <a:latin typeface="Arial"/>
                <a:cs typeface="Arial"/>
              </a:rPr>
              <a:t>extra </a:t>
            </a:r>
            <a:r>
              <a:rPr sz="3600" spc="-70" dirty="0">
                <a:solidFill>
                  <a:srgbClr val="006FC0"/>
                </a:solidFill>
                <a:latin typeface="Arial"/>
                <a:cs typeface="Arial"/>
              </a:rPr>
              <a:t>bit </a:t>
            </a:r>
            <a:r>
              <a:rPr sz="3600" spc="-34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3600" spc="-509" dirty="0">
                <a:solidFill>
                  <a:srgbClr val="006FC0"/>
                </a:solidFill>
                <a:latin typeface="Arial"/>
                <a:cs typeface="Arial"/>
              </a:rPr>
              <a:t>1 </a:t>
            </a:r>
            <a:r>
              <a:rPr sz="3600" spc="-65" dirty="0">
                <a:solidFill>
                  <a:srgbClr val="006FC0"/>
                </a:solidFill>
                <a:latin typeface="Arial"/>
                <a:cs typeface="Arial"/>
              </a:rPr>
              <a:t>for  </a:t>
            </a:r>
            <a:r>
              <a:rPr sz="3600" spc="-350" dirty="0">
                <a:solidFill>
                  <a:srgbClr val="006FC0"/>
                </a:solidFill>
                <a:latin typeface="Arial"/>
                <a:cs typeface="Arial"/>
              </a:rPr>
              <a:t>even </a:t>
            </a:r>
            <a:r>
              <a:rPr sz="3600" spc="-235" dirty="0">
                <a:solidFill>
                  <a:srgbClr val="006FC0"/>
                </a:solidFill>
                <a:latin typeface="Arial"/>
                <a:cs typeface="Arial"/>
              </a:rPr>
              <a:t>quantities </a:t>
            </a:r>
            <a:r>
              <a:rPr sz="3600" spc="-9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3600" spc="-585" dirty="0">
                <a:solidFill>
                  <a:srgbClr val="006FC0"/>
                </a:solidFill>
                <a:latin typeface="Arial"/>
                <a:cs typeface="Arial"/>
              </a:rPr>
              <a:t>1s </a:t>
            </a:r>
            <a:r>
              <a:rPr sz="3600" spc="-325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3600" spc="-509" dirty="0">
                <a:solidFill>
                  <a:srgbClr val="006FC0"/>
                </a:solidFill>
                <a:latin typeface="Arial"/>
                <a:cs typeface="Arial"/>
              </a:rPr>
              <a:t>0 </a:t>
            </a:r>
            <a:r>
              <a:rPr sz="3600" spc="-60" dirty="0">
                <a:solidFill>
                  <a:srgbClr val="006FC0"/>
                </a:solidFill>
                <a:latin typeface="Arial"/>
                <a:cs typeface="Arial"/>
              </a:rPr>
              <a:t>for </a:t>
            </a:r>
            <a:r>
              <a:rPr sz="3600" spc="-385" dirty="0">
                <a:solidFill>
                  <a:srgbClr val="006FC0"/>
                </a:solidFill>
                <a:latin typeface="Arial"/>
                <a:cs typeface="Arial"/>
              </a:rPr>
              <a:t>an </a:t>
            </a:r>
            <a:r>
              <a:rPr sz="3600" spc="-204" dirty="0">
                <a:solidFill>
                  <a:srgbClr val="006FC0"/>
                </a:solidFill>
                <a:latin typeface="Arial"/>
                <a:cs typeface="Arial"/>
              </a:rPr>
              <a:t>odd  </a:t>
            </a:r>
            <a:r>
              <a:rPr sz="3600" spc="-260" dirty="0">
                <a:solidFill>
                  <a:srgbClr val="006FC0"/>
                </a:solidFill>
                <a:latin typeface="Arial"/>
                <a:cs typeface="Arial"/>
              </a:rPr>
              <a:t>number </a:t>
            </a:r>
            <a:r>
              <a:rPr sz="3600" spc="-9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3600" spc="-459" dirty="0">
                <a:solidFill>
                  <a:srgbClr val="006FC0"/>
                </a:solidFill>
                <a:latin typeface="Arial"/>
                <a:cs typeface="Arial"/>
              </a:rPr>
              <a:t>1s, </a:t>
            </a:r>
            <a:r>
              <a:rPr sz="3600" spc="-229" dirty="0">
                <a:solidFill>
                  <a:srgbClr val="006FC0"/>
                </a:solidFill>
                <a:latin typeface="Arial"/>
                <a:cs typeface="Arial"/>
              </a:rPr>
              <a:t>then </a:t>
            </a:r>
            <a:r>
              <a:rPr sz="3600" spc="25" dirty="0">
                <a:solidFill>
                  <a:srgbClr val="006FC0"/>
                </a:solidFill>
                <a:latin typeface="Arial"/>
                <a:cs typeface="Arial"/>
              </a:rPr>
              <a:t>it </a:t>
            </a:r>
            <a:r>
              <a:rPr sz="3600" spc="-34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3600" spc="-250" dirty="0">
                <a:solidFill>
                  <a:srgbClr val="006FC0"/>
                </a:solidFill>
                <a:latin typeface="Arial"/>
                <a:cs typeface="Arial"/>
              </a:rPr>
              <a:t>called </a:t>
            </a:r>
            <a:r>
              <a:rPr sz="3600" b="1" spc="-395" dirty="0">
                <a:latin typeface="Arial"/>
                <a:cs typeface="Arial"/>
              </a:rPr>
              <a:t>odd</a:t>
            </a:r>
            <a:r>
              <a:rPr sz="3600" b="1" spc="-280" dirty="0">
                <a:latin typeface="Arial"/>
                <a:cs typeface="Arial"/>
              </a:rPr>
              <a:t> </a:t>
            </a:r>
            <a:r>
              <a:rPr sz="3600" b="1" spc="-285" dirty="0">
                <a:latin typeface="Arial"/>
                <a:cs typeface="Arial"/>
              </a:rPr>
              <a:t>parity.</a:t>
            </a:r>
            <a:endParaRPr sz="36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sp>
          <p:nvSpPr>
            <p:cNvPr id="13" name="object 13"/>
            <p:cNvSpPr/>
            <p:nvPr/>
          </p:nvSpPr>
          <p:spPr>
            <a:xfrm>
              <a:off x="8593835" y="6620255"/>
              <a:ext cx="550164" cy="23774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630411" y="6556243"/>
              <a:ext cx="513588" cy="30175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139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793241" y="982217"/>
              <a:ext cx="7589519" cy="762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6764"/>
              <a:ext cx="9143999" cy="668274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53439" y="320001"/>
              <a:ext cx="7434072" cy="57611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516123" y="202679"/>
              <a:ext cx="4105655" cy="93422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790189" y="321386"/>
            <a:ext cx="356489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14" dirty="0"/>
              <a:t>PARITY</a:t>
            </a:r>
            <a:r>
              <a:rPr spc="-100" dirty="0"/>
              <a:t> </a:t>
            </a:r>
            <a:r>
              <a:rPr spc="-130" dirty="0"/>
              <a:t>GENERATOR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3540" y="1209293"/>
            <a:ext cx="8377555" cy="51466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76884" marR="6985" indent="-464820" algn="just">
              <a:lnSpc>
                <a:spcPct val="100000"/>
              </a:lnSpc>
              <a:spcBef>
                <a:spcPts val="95"/>
              </a:spcBef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385" dirty="0">
                <a:solidFill>
                  <a:srgbClr val="006FC0"/>
                </a:solidFill>
                <a:latin typeface="Arial"/>
                <a:cs typeface="Arial"/>
              </a:rPr>
              <a:t>message </a:t>
            </a:r>
            <a:r>
              <a:rPr sz="2800" spc="-160" dirty="0">
                <a:solidFill>
                  <a:srgbClr val="006FC0"/>
                </a:solidFill>
                <a:latin typeface="Arial"/>
                <a:cs typeface="Arial"/>
              </a:rPr>
              <a:t>including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10" dirty="0">
                <a:solidFill>
                  <a:srgbClr val="006FC0"/>
                </a:solidFill>
                <a:latin typeface="Arial"/>
                <a:cs typeface="Arial"/>
              </a:rPr>
              <a:t>parity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800" spc="-155" dirty="0">
                <a:solidFill>
                  <a:srgbClr val="006FC0"/>
                </a:solidFill>
                <a:latin typeface="Arial"/>
                <a:cs typeface="Arial"/>
              </a:rPr>
              <a:t>transmitted </a:t>
            </a:r>
            <a:r>
              <a:rPr sz="2800" spc="-260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spc="-185" dirty="0">
                <a:solidFill>
                  <a:srgbClr val="006FC0"/>
                </a:solidFill>
                <a:latin typeface="Arial"/>
                <a:cs typeface="Arial"/>
              </a:rPr>
              <a:t>then </a:t>
            </a:r>
            <a:r>
              <a:rPr sz="2800" spc="-185" dirty="0">
                <a:latin typeface="Arial"/>
                <a:cs typeface="Arial"/>
              </a:rPr>
              <a:t> </a:t>
            </a:r>
            <a:r>
              <a:rPr sz="2800" spc="-245" dirty="0">
                <a:latin typeface="Arial"/>
                <a:cs typeface="Arial"/>
              </a:rPr>
              <a:t>checked </a:t>
            </a:r>
            <a:r>
              <a:rPr sz="2800" spc="-170" dirty="0">
                <a:latin typeface="Arial"/>
                <a:cs typeface="Arial"/>
              </a:rPr>
              <a:t>at the </a:t>
            </a:r>
            <a:r>
              <a:rPr sz="2800" spc="-190" dirty="0">
                <a:latin typeface="Arial"/>
                <a:cs typeface="Arial"/>
              </a:rPr>
              <a:t>receiving </a:t>
            </a:r>
            <a:r>
              <a:rPr sz="2800" spc="-240" dirty="0">
                <a:latin typeface="Arial"/>
                <a:cs typeface="Arial"/>
              </a:rPr>
              <a:t>end </a:t>
            </a:r>
            <a:r>
              <a:rPr sz="2800" spc="-55" dirty="0">
                <a:solidFill>
                  <a:srgbClr val="006FC0"/>
                </a:solidFill>
                <a:latin typeface="Arial"/>
                <a:cs typeface="Arial"/>
              </a:rPr>
              <a:t>for</a:t>
            </a:r>
            <a:r>
              <a:rPr sz="2800" spc="-13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errors.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E36C09"/>
              </a:buClr>
              <a:buFont typeface="Wingdings"/>
              <a:buChar char=""/>
            </a:pPr>
            <a:endParaRPr sz="2900">
              <a:latin typeface="Arial"/>
              <a:cs typeface="Arial"/>
            </a:endParaRPr>
          </a:p>
          <a:p>
            <a:pPr marL="476884" marR="5080" indent="-464820" algn="just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-35" dirty="0">
                <a:solidFill>
                  <a:srgbClr val="006FC0"/>
                </a:solidFill>
                <a:latin typeface="Arial"/>
                <a:cs typeface="Arial"/>
              </a:rPr>
              <a:t>An </a:t>
            </a:r>
            <a:r>
              <a:rPr sz="2800" spc="-105" dirty="0">
                <a:latin typeface="Arial"/>
                <a:cs typeface="Arial"/>
              </a:rPr>
              <a:t>error </a:t>
            </a:r>
            <a:r>
              <a:rPr sz="2800" spc="-265" dirty="0">
                <a:latin typeface="Arial"/>
                <a:cs typeface="Arial"/>
              </a:rPr>
              <a:t>is </a:t>
            </a:r>
            <a:r>
              <a:rPr sz="2800" spc="-190" dirty="0">
                <a:latin typeface="Arial"/>
                <a:cs typeface="Arial"/>
              </a:rPr>
              <a:t>detected</a:t>
            </a:r>
            <a:r>
              <a:rPr sz="2800" spc="395" dirty="0"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if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checked </a:t>
            </a:r>
            <a:r>
              <a:rPr sz="2800" spc="-110" dirty="0">
                <a:solidFill>
                  <a:srgbClr val="006FC0"/>
                </a:solidFill>
                <a:latin typeface="Arial"/>
                <a:cs typeface="Arial"/>
              </a:rPr>
              <a:t>parity </a:t>
            </a:r>
            <a:r>
              <a:rPr sz="2800" spc="-295" dirty="0">
                <a:solidFill>
                  <a:srgbClr val="006FC0"/>
                </a:solidFill>
                <a:latin typeface="Arial"/>
                <a:cs typeface="Arial"/>
              </a:rPr>
              <a:t>does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not  </a:t>
            </a:r>
            <a:r>
              <a:rPr sz="2800" spc="-195" dirty="0">
                <a:solidFill>
                  <a:srgbClr val="006FC0"/>
                </a:solidFill>
                <a:latin typeface="Arial"/>
                <a:cs typeface="Arial"/>
              </a:rPr>
              <a:t>correspond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with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235" dirty="0">
                <a:solidFill>
                  <a:srgbClr val="006FC0"/>
                </a:solidFill>
                <a:latin typeface="Arial"/>
                <a:cs typeface="Arial"/>
              </a:rPr>
              <a:t>one</a:t>
            </a:r>
            <a:r>
              <a:rPr sz="2800" spc="-13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155" dirty="0">
                <a:solidFill>
                  <a:srgbClr val="006FC0"/>
                </a:solidFill>
                <a:latin typeface="Arial"/>
                <a:cs typeface="Arial"/>
              </a:rPr>
              <a:t>transmitted.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E36C09"/>
              </a:buClr>
              <a:buFont typeface="Wingdings"/>
              <a:buChar char=""/>
            </a:pPr>
            <a:endParaRPr sz="2900">
              <a:latin typeface="Arial"/>
              <a:cs typeface="Arial"/>
            </a:endParaRPr>
          </a:p>
          <a:p>
            <a:pPr marL="476884" marR="5080" indent="-464820" algn="just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95" dirty="0">
                <a:solidFill>
                  <a:srgbClr val="006FC0"/>
                </a:solidFill>
                <a:latin typeface="Arial"/>
                <a:cs typeface="Arial"/>
              </a:rPr>
              <a:t>circuit </a:t>
            </a:r>
            <a:r>
              <a:rPr sz="2800" spc="-125" dirty="0">
                <a:solidFill>
                  <a:srgbClr val="006FC0"/>
                </a:solidFill>
                <a:latin typeface="Arial"/>
                <a:cs typeface="Arial"/>
              </a:rPr>
              <a:t>that </a:t>
            </a:r>
            <a:r>
              <a:rPr sz="2800" spc="-275" dirty="0">
                <a:solidFill>
                  <a:srgbClr val="006FC0"/>
                </a:solidFill>
                <a:latin typeface="Arial"/>
                <a:cs typeface="Arial"/>
              </a:rPr>
              <a:t>generates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10" dirty="0">
                <a:solidFill>
                  <a:srgbClr val="006FC0"/>
                </a:solidFill>
                <a:latin typeface="Arial"/>
                <a:cs typeface="Arial"/>
              </a:rPr>
              <a:t>parity </a:t>
            </a:r>
            <a:r>
              <a:rPr sz="2800" spc="-55" dirty="0">
                <a:solidFill>
                  <a:srgbClr val="006FC0"/>
                </a:solidFill>
                <a:latin typeface="Arial"/>
                <a:cs typeface="Arial"/>
              </a:rPr>
              <a:t>bit </a:t>
            </a:r>
            <a:r>
              <a:rPr sz="2800" spc="-110" dirty="0">
                <a:solidFill>
                  <a:srgbClr val="006FC0"/>
                </a:solidFill>
                <a:latin typeface="Arial"/>
                <a:cs typeface="Arial"/>
              </a:rPr>
              <a:t>in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45" dirty="0">
                <a:solidFill>
                  <a:srgbClr val="006FC0"/>
                </a:solidFill>
                <a:latin typeface="Arial"/>
                <a:cs typeface="Arial"/>
              </a:rPr>
              <a:t>transmitter 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800" spc="-195" dirty="0">
                <a:solidFill>
                  <a:srgbClr val="006FC0"/>
                </a:solidFill>
                <a:latin typeface="Arial"/>
                <a:cs typeface="Arial"/>
              </a:rPr>
              <a:t>called </a:t>
            </a:r>
            <a:r>
              <a:rPr sz="2800" spc="-395" dirty="0">
                <a:solidFill>
                  <a:srgbClr val="006FC0"/>
                </a:solidFill>
                <a:latin typeface="Arial"/>
                <a:cs typeface="Arial"/>
              </a:rPr>
              <a:t>a </a:t>
            </a:r>
            <a:r>
              <a:rPr sz="2800" spc="-110" dirty="0">
                <a:latin typeface="Arial"/>
                <a:cs typeface="Arial"/>
              </a:rPr>
              <a:t>parity </a:t>
            </a:r>
            <a:r>
              <a:rPr sz="2800" spc="-200" dirty="0">
                <a:latin typeface="Arial"/>
                <a:cs typeface="Arial"/>
              </a:rPr>
              <a:t>generator </a:t>
            </a:r>
            <a:r>
              <a:rPr sz="2800" spc="-260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95" dirty="0">
                <a:solidFill>
                  <a:srgbClr val="006FC0"/>
                </a:solidFill>
                <a:latin typeface="Arial"/>
                <a:cs typeface="Arial"/>
              </a:rPr>
              <a:t>circuit </a:t>
            </a:r>
            <a:r>
              <a:rPr sz="2800" spc="-125" dirty="0">
                <a:solidFill>
                  <a:srgbClr val="006FC0"/>
                </a:solidFill>
                <a:latin typeface="Arial"/>
                <a:cs typeface="Arial"/>
              </a:rPr>
              <a:t>that </a:t>
            </a:r>
            <a:r>
              <a:rPr sz="2800" spc="-295" dirty="0">
                <a:solidFill>
                  <a:srgbClr val="006FC0"/>
                </a:solidFill>
                <a:latin typeface="Arial"/>
                <a:cs typeface="Arial"/>
              </a:rPr>
              <a:t>checks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 </a:t>
            </a:r>
            <a:r>
              <a:rPr sz="2800" spc="-110" dirty="0">
                <a:solidFill>
                  <a:srgbClr val="006FC0"/>
                </a:solidFill>
                <a:latin typeface="Arial"/>
                <a:cs typeface="Arial"/>
              </a:rPr>
              <a:t>parity in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90" dirty="0">
                <a:solidFill>
                  <a:srgbClr val="006FC0"/>
                </a:solidFill>
                <a:latin typeface="Arial"/>
                <a:cs typeface="Arial"/>
              </a:rPr>
              <a:t>receiver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800" spc="-195" dirty="0">
                <a:solidFill>
                  <a:srgbClr val="006FC0"/>
                </a:solidFill>
                <a:latin typeface="Arial"/>
                <a:cs typeface="Arial"/>
              </a:rPr>
              <a:t>called </a:t>
            </a:r>
            <a:r>
              <a:rPr sz="2800" spc="-395" dirty="0">
                <a:solidFill>
                  <a:srgbClr val="006FC0"/>
                </a:solidFill>
                <a:latin typeface="Arial"/>
                <a:cs typeface="Arial"/>
              </a:rPr>
              <a:t>a </a:t>
            </a:r>
            <a:r>
              <a:rPr sz="2800" spc="-110" dirty="0">
                <a:latin typeface="Arial"/>
                <a:cs typeface="Arial"/>
              </a:rPr>
              <a:t>parity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215" dirty="0">
                <a:latin typeface="Arial"/>
                <a:cs typeface="Arial"/>
              </a:rPr>
              <a:t>checker</a:t>
            </a:r>
            <a:r>
              <a:rPr sz="2800" spc="-215" dirty="0">
                <a:solidFill>
                  <a:srgbClr val="006FC0"/>
                </a:solidFill>
                <a:latin typeface="Arial"/>
                <a:cs typeface="Arial"/>
              </a:rPr>
              <a:t>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E36C09"/>
              </a:buClr>
              <a:buFont typeface="Wingdings"/>
              <a:buChar char=""/>
            </a:pPr>
            <a:endParaRPr sz="2900">
              <a:latin typeface="Arial"/>
              <a:cs typeface="Arial"/>
            </a:endParaRPr>
          </a:p>
          <a:p>
            <a:pPr marL="476884" marR="7620" indent="-464820" algn="just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135" dirty="0">
                <a:solidFill>
                  <a:srgbClr val="006FC0"/>
                </a:solidFill>
                <a:latin typeface="Arial"/>
                <a:cs typeface="Arial"/>
              </a:rPr>
              <a:t>A </a:t>
            </a:r>
            <a:r>
              <a:rPr sz="2800" b="1" spc="-240" dirty="0">
                <a:solidFill>
                  <a:srgbClr val="006FC0"/>
                </a:solidFill>
                <a:latin typeface="Arial"/>
                <a:cs typeface="Arial"/>
              </a:rPr>
              <a:t>parity</a:t>
            </a:r>
            <a:r>
              <a:rPr sz="2800" b="1" spc="29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b="1" spc="-300" dirty="0">
                <a:solidFill>
                  <a:srgbClr val="006FC0"/>
                </a:solidFill>
                <a:latin typeface="Arial"/>
                <a:cs typeface="Arial"/>
              </a:rPr>
              <a:t>generator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800" spc="-395" dirty="0">
                <a:solidFill>
                  <a:srgbClr val="006FC0"/>
                </a:solidFill>
                <a:latin typeface="Arial"/>
                <a:cs typeface="Arial"/>
              </a:rPr>
              <a:t>a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combination  </a:t>
            </a:r>
            <a:r>
              <a:rPr sz="2800" spc="-160" dirty="0">
                <a:solidFill>
                  <a:srgbClr val="006FC0"/>
                </a:solidFill>
                <a:latin typeface="Arial"/>
                <a:cs typeface="Arial"/>
              </a:rPr>
              <a:t>logic </a:t>
            </a:r>
            <a:r>
              <a:rPr sz="2800" spc="-285" dirty="0">
                <a:solidFill>
                  <a:srgbClr val="006FC0"/>
                </a:solidFill>
                <a:latin typeface="Arial"/>
                <a:cs typeface="Arial"/>
              </a:rPr>
              <a:t>system </a:t>
            </a:r>
            <a:r>
              <a:rPr sz="2800" spc="-50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spc="-245" dirty="0">
                <a:latin typeface="Arial"/>
                <a:cs typeface="Arial"/>
              </a:rPr>
              <a:t>generate </a:t>
            </a:r>
            <a:r>
              <a:rPr sz="2800" spc="-170" dirty="0">
                <a:latin typeface="Arial"/>
                <a:cs typeface="Arial"/>
              </a:rPr>
              <a:t>the </a:t>
            </a:r>
            <a:r>
              <a:rPr sz="2800" spc="-110" dirty="0">
                <a:latin typeface="Arial"/>
                <a:cs typeface="Arial"/>
              </a:rPr>
              <a:t>parity </a:t>
            </a:r>
            <a:r>
              <a:rPr sz="2800" spc="-55" dirty="0">
                <a:latin typeface="Arial"/>
                <a:cs typeface="Arial"/>
              </a:rPr>
              <a:t>bit </a:t>
            </a:r>
            <a:r>
              <a:rPr sz="2800" spc="-170" dirty="0">
                <a:latin typeface="Arial"/>
                <a:cs typeface="Arial"/>
              </a:rPr>
              <a:t>at the </a:t>
            </a:r>
            <a:r>
              <a:rPr sz="2800" spc="-150" dirty="0">
                <a:latin typeface="Arial"/>
                <a:cs typeface="Arial"/>
              </a:rPr>
              <a:t>transmitting</a:t>
            </a:r>
            <a:r>
              <a:rPr sz="2800" spc="335" dirty="0">
                <a:latin typeface="Arial"/>
                <a:cs typeface="Arial"/>
              </a:rPr>
              <a:t> </a:t>
            </a:r>
            <a:r>
              <a:rPr sz="2800" spc="-240" dirty="0">
                <a:latin typeface="Arial"/>
                <a:cs typeface="Arial"/>
              </a:rPr>
              <a:t>side</a:t>
            </a:r>
            <a:r>
              <a:rPr sz="2800" spc="-240" dirty="0">
                <a:solidFill>
                  <a:srgbClr val="006FC0"/>
                </a:solidFill>
                <a:latin typeface="Arial"/>
                <a:cs typeface="Arial"/>
              </a:rPr>
              <a:t>.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sp>
          <p:nvSpPr>
            <p:cNvPr id="14" name="object 14"/>
            <p:cNvSpPr/>
            <p:nvPr/>
          </p:nvSpPr>
          <p:spPr>
            <a:xfrm>
              <a:off x="8593835" y="6620255"/>
              <a:ext cx="550164" cy="23774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630411" y="6556243"/>
              <a:ext cx="513588" cy="30175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140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2516123" y="202679"/>
              <a:ext cx="4105655" cy="9342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790189" y="321386"/>
            <a:ext cx="356489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14" dirty="0"/>
              <a:t>PARITY</a:t>
            </a:r>
            <a:r>
              <a:rPr spc="-100" dirty="0"/>
              <a:t> </a:t>
            </a:r>
            <a:r>
              <a:rPr spc="-130" dirty="0"/>
              <a:t>GENERATOR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557783" y="1752600"/>
            <a:ext cx="8591550" cy="5105400"/>
            <a:chOff x="557783" y="1752600"/>
            <a:chExt cx="8591550" cy="5105400"/>
          </a:xfrm>
        </p:grpSpPr>
        <p:sp>
          <p:nvSpPr>
            <p:cNvPr id="8" name="object 8"/>
            <p:cNvSpPr/>
            <p:nvPr/>
          </p:nvSpPr>
          <p:spPr>
            <a:xfrm>
              <a:off x="8593836" y="6620254"/>
              <a:ext cx="550164" cy="23774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630412" y="6556242"/>
              <a:ext cx="513588" cy="3017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57783" y="1752600"/>
              <a:ext cx="7847076" cy="421995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768842" y="6649770"/>
            <a:ext cx="296545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spc="-5" dirty="0">
                <a:solidFill>
                  <a:srgbClr val="FFFFFF"/>
                </a:solidFill>
                <a:latin typeface="Carlito"/>
                <a:cs typeface="Carlito"/>
              </a:rPr>
              <a:t>141</a:t>
            </a:r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793241" y="982217"/>
              <a:ext cx="7589519" cy="762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6764"/>
              <a:ext cx="9143999" cy="668274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53439" y="320001"/>
              <a:ext cx="7434072" cy="57611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516123" y="202679"/>
              <a:ext cx="4105655" cy="93422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790189" y="321386"/>
            <a:ext cx="356489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14" dirty="0"/>
              <a:t>PARITY</a:t>
            </a:r>
            <a:r>
              <a:rPr spc="-100" dirty="0"/>
              <a:t> </a:t>
            </a:r>
            <a:r>
              <a:rPr spc="-130" dirty="0"/>
              <a:t>GENERATOR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3540" y="1209293"/>
            <a:ext cx="837692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76884" marR="5080" indent="-464820">
              <a:lnSpc>
                <a:spcPct val="100000"/>
              </a:lnSpc>
              <a:spcBef>
                <a:spcPts val="95"/>
              </a:spcBef>
              <a:buClr>
                <a:srgbClr val="E36C09"/>
              </a:buClr>
              <a:buFont typeface="Wingdings"/>
              <a:buChar char=""/>
              <a:tabLst>
                <a:tab pos="476884" algn="l"/>
                <a:tab pos="477520" algn="l"/>
              </a:tabLst>
            </a:pPr>
            <a:r>
              <a:rPr sz="2800" spc="135" dirty="0">
                <a:solidFill>
                  <a:srgbClr val="006FC0"/>
                </a:solidFill>
                <a:latin typeface="Arial"/>
                <a:cs typeface="Arial"/>
              </a:rPr>
              <a:t>A </a:t>
            </a:r>
            <a:r>
              <a:rPr sz="2800" spc="-185" dirty="0">
                <a:solidFill>
                  <a:srgbClr val="006FC0"/>
                </a:solidFill>
                <a:latin typeface="Arial"/>
                <a:cs typeface="Arial"/>
              </a:rPr>
              <a:t>table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illustrates </a:t>
            </a:r>
            <a:r>
              <a:rPr sz="2800" spc="-280" dirty="0">
                <a:solidFill>
                  <a:srgbClr val="006FC0"/>
                </a:solidFill>
                <a:latin typeface="Arial"/>
                <a:cs typeface="Arial"/>
              </a:rPr>
              <a:t>even </a:t>
            </a:r>
            <a:r>
              <a:rPr sz="2800" spc="-110" dirty="0">
                <a:solidFill>
                  <a:srgbClr val="006FC0"/>
                </a:solidFill>
                <a:latin typeface="Arial"/>
                <a:cs typeface="Arial"/>
              </a:rPr>
              <a:t>parity </a:t>
            </a:r>
            <a:r>
              <a:rPr sz="2800" spc="-465" dirty="0">
                <a:solidFill>
                  <a:srgbClr val="006FC0"/>
                </a:solidFill>
                <a:latin typeface="Arial"/>
                <a:cs typeface="Arial"/>
              </a:rPr>
              <a:t>as </a:t>
            </a:r>
            <a:r>
              <a:rPr sz="2800" spc="-160" dirty="0">
                <a:solidFill>
                  <a:srgbClr val="006FC0"/>
                </a:solidFill>
                <a:latin typeface="Arial"/>
                <a:cs typeface="Arial"/>
              </a:rPr>
              <a:t>well </a:t>
            </a:r>
            <a:r>
              <a:rPr sz="2800" spc="-465" dirty="0">
                <a:solidFill>
                  <a:srgbClr val="006FC0"/>
                </a:solidFill>
                <a:latin typeface="Arial"/>
                <a:cs typeface="Arial"/>
              </a:rPr>
              <a:t>as </a:t>
            </a:r>
            <a:r>
              <a:rPr sz="2800" spc="-160" dirty="0">
                <a:solidFill>
                  <a:srgbClr val="006FC0"/>
                </a:solidFill>
                <a:latin typeface="Arial"/>
                <a:cs typeface="Arial"/>
              </a:rPr>
              <a:t>odd </a:t>
            </a:r>
            <a:r>
              <a:rPr sz="2800" spc="-110" dirty="0">
                <a:solidFill>
                  <a:srgbClr val="006FC0"/>
                </a:solidFill>
                <a:latin typeface="Arial"/>
                <a:cs typeface="Arial"/>
              </a:rPr>
              <a:t>parity </a:t>
            </a:r>
            <a:r>
              <a:rPr sz="2800" spc="-55" dirty="0">
                <a:solidFill>
                  <a:srgbClr val="006FC0"/>
                </a:solidFill>
                <a:latin typeface="Arial"/>
                <a:cs typeface="Arial"/>
              </a:rPr>
              <a:t>for </a:t>
            </a:r>
            <a:r>
              <a:rPr sz="2800" spc="-395" dirty="0">
                <a:solidFill>
                  <a:srgbClr val="006FC0"/>
                </a:solidFill>
                <a:latin typeface="Arial"/>
                <a:cs typeface="Arial"/>
              </a:rPr>
              <a:t>a  </a:t>
            </a:r>
            <a:r>
              <a:rPr sz="2800" spc="-385" dirty="0">
                <a:solidFill>
                  <a:srgbClr val="006FC0"/>
                </a:solidFill>
                <a:latin typeface="Arial"/>
                <a:cs typeface="Arial"/>
              </a:rPr>
              <a:t>message </a:t>
            </a:r>
            <a:r>
              <a:rPr sz="2800" spc="-215" dirty="0">
                <a:solidFill>
                  <a:srgbClr val="006FC0"/>
                </a:solidFill>
                <a:latin typeface="Arial"/>
                <a:cs typeface="Arial"/>
              </a:rPr>
              <a:t>consisting 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three</a:t>
            </a:r>
            <a:r>
              <a:rPr sz="2800" spc="21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bits.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sp>
          <p:nvSpPr>
            <p:cNvPr id="14" name="object 14"/>
            <p:cNvSpPr/>
            <p:nvPr/>
          </p:nvSpPr>
          <p:spPr>
            <a:xfrm>
              <a:off x="8593835" y="6620255"/>
              <a:ext cx="550164" cy="23774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630411" y="6556243"/>
              <a:ext cx="513588" cy="30175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/>
          <p:nvPr/>
        </p:nvSpPr>
        <p:spPr>
          <a:xfrm>
            <a:off x="2133600" y="2387600"/>
            <a:ext cx="5161788" cy="68122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2127250" y="2381250"/>
          <a:ext cx="5181600" cy="34163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7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81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81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0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74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0360">
                <a:tc gridSpan="3">
                  <a:txBody>
                    <a:bodyPr/>
                    <a:lstStyle/>
                    <a:p>
                      <a:pPr marL="52070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b="1" spc="-5" dirty="0">
                          <a:latin typeface="Palladio Uralic"/>
                          <a:cs typeface="Palladio Uralic"/>
                        </a:rPr>
                        <a:t>3-bit</a:t>
                      </a:r>
                      <a:r>
                        <a:rPr sz="1600" b="1" spc="15" dirty="0">
                          <a:latin typeface="Palladio Uralic"/>
                          <a:cs typeface="Palladio Uralic"/>
                        </a:rPr>
                        <a:t> </a:t>
                      </a:r>
                      <a:r>
                        <a:rPr sz="1600" b="1" spc="-5" dirty="0">
                          <a:latin typeface="Palladio Uralic"/>
                          <a:cs typeface="Palladio Uralic"/>
                        </a:rPr>
                        <a:t>Message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535940" marR="180975" indent="-347980">
                        <a:lnSpc>
                          <a:spcPct val="114999"/>
                        </a:lnSpc>
                        <a:spcBef>
                          <a:spcPts val="305"/>
                        </a:spcBef>
                      </a:pPr>
                      <a:r>
                        <a:rPr sz="1600" b="1" spc="-5" dirty="0">
                          <a:latin typeface="Palladio Uralic"/>
                          <a:cs typeface="Palladio Uralic"/>
                        </a:rPr>
                        <a:t>Odd</a:t>
                      </a:r>
                      <a:r>
                        <a:rPr sz="1600" b="1" spc="-70" dirty="0">
                          <a:latin typeface="Palladio Uralic"/>
                          <a:cs typeface="Palladio Uralic"/>
                        </a:rPr>
                        <a:t> </a:t>
                      </a:r>
                      <a:r>
                        <a:rPr sz="1600" b="1" spc="-5" dirty="0">
                          <a:latin typeface="Palladio Uralic"/>
                          <a:cs typeface="Palladio Uralic"/>
                        </a:rPr>
                        <a:t>Party  </a:t>
                      </a:r>
                      <a:r>
                        <a:rPr sz="1600" b="1" spc="-10" dirty="0">
                          <a:latin typeface="Palladio Uralic"/>
                          <a:cs typeface="Palladio Uralic"/>
                        </a:rPr>
                        <a:t>bit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625475" marR="213360" indent="-403860">
                        <a:lnSpc>
                          <a:spcPct val="114999"/>
                        </a:lnSpc>
                        <a:spcBef>
                          <a:spcPts val="305"/>
                        </a:spcBef>
                      </a:pPr>
                      <a:r>
                        <a:rPr sz="1600" b="1" spc="-5" dirty="0">
                          <a:latin typeface="Palladio Uralic"/>
                          <a:cs typeface="Palladio Uralic"/>
                        </a:rPr>
                        <a:t>Even</a:t>
                      </a:r>
                      <a:r>
                        <a:rPr sz="1600" b="1" spc="-70" dirty="0">
                          <a:latin typeface="Palladio Uralic"/>
                          <a:cs typeface="Palladio Uralic"/>
                        </a:rPr>
                        <a:t> </a:t>
                      </a:r>
                      <a:r>
                        <a:rPr sz="1600" b="1" spc="-10" dirty="0">
                          <a:latin typeface="Palladio Uralic"/>
                          <a:cs typeface="Palladio Uralic"/>
                        </a:rPr>
                        <a:t>Parity  bit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3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600" b="1" dirty="0">
                          <a:latin typeface="Palladio Uralic"/>
                          <a:cs typeface="Palladio Uralic"/>
                        </a:rPr>
                        <a:t>A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600" b="1" dirty="0">
                          <a:latin typeface="Palladio Uralic"/>
                          <a:cs typeface="Palladio Uralic"/>
                        </a:rPr>
                        <a:t>B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512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600" b="1" dirty="0">
                          <a:latin typeface="Palladio Uralic"/>
                          <a:cs typeface="Palladio Uralic"/>
                        </a:rPr>
                        <a:t>C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3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798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3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798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3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798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03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798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03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798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03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798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03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798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03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798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1" name="object 2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8768842" y="6649770"/>
            <a:ext cx="296545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spc="-5" dirty="0">
                <a:solidFill>
                  <a:srgbClr val="FFFFFF"/>
                </a:solidFill>
                <a:latin typeface="Carlito"/>
                <a:cs typeface="Carlito"/>
              </a:rPr>
              <a:t>141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602994" y="5945835"/>
            <a:ext cx="6070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35" dirty="0">
                <a:latin typeface="Arial"/>
                <a:cs typeface="Arial"/>
              </a:rPr>
              <a:t>Parity </a:t>
            </a:r>
            <a:r>
              <a:rPr sz="2400" b="1" spc="-254" dirty="0">
                <a:latin typeface="Arial"/>
                <a:cs typeface="Arial"/>
              </a:rPr>
              <a:t>generator </a:t>
            </a:r>
            <a:r>
              <a:rPr sz="2400" b="1" spc="-175" dirty="0">
                <a:latin typeface="Arial"/>
                <a:cs typeface="Arial"/>
              </a:rPr>
              <a:t>truth </a:t>
            </a:r>
            <a:r>
              <a:rPr sz="2400" b="1" spc="-229" dirty="0">
                <a:latin typeface="Arial"/>
                <a:cs typeface="Arial"/>
              </a:rPr>
              <a:t>table </a:t>
            </a:r>
            <a:r>
              <a:rPr sz="2400" b="1" spc="-170" dirty="0">
                <a:latin typeface="Arial"/>
                <a:cs typeface="Arial"/>
              </a:rPr>
              <a:t>for </a:t>
            </a:r>
            <a:r>
              <a:rPr sz="2400" b="1" spc="-300" dirty="0">
                <a:latin typeface="Arial"/>
                <a:cs typeface="Arial"/>
              </a:rPr>
              <a:t>even and </a:t>
            </a:r>
            <a:r>
              <a:rPr sz="2400" b="1" spc="-265" dirty="0">
                <a:latin typeface="Arial"/>
                <a:cs typeface="Arial"/>
              </a:rPr>
              <a:t>odd</a:t>
            </a:r>
            <a:r>
              <a:rPr sz="2400" b="1" spc="-180" dirty="0">
                <a:latin typeface="Arial"/>
                <a:cs typeface="Arial"/>
              </a:rPr>
              <a:t> </a:t>
            </a:r>
            <a:r>
              <a:rPr sz="2400" b="1" spc="-200" dirty="0">
                <a:latin typeface="Arial"/>
                <a:cs typeface="Arial"/>
              </a:rPr>
              <a:t>parity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793241" y="982217"/>
              <a:ext cx="7589519" cy="762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6764"/>
              <a:ext cx="9143999" cy="668274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53439" y="320001"/>
              <a:ext cx="7434072" cy="57611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516123" y="202679"/>
              <a:ext cx="4105655" cy="93422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790189" y="321386"/>
            <a:ext cx="356489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14" dirty="0"/>
              <a:t>PARITY</a:t>
            </a:r>
            <a:r>
              <a:rPr spc="-100" dirty="0"/>
              <a:t> </a:t>
            </a:r>
            <a:r>
              <a:rPr spc="-130" dirty="0"/>
              <a:t>GENERATOR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32740" y="1209293"/>
            <a:ext cx="8481060" cy="52152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27685" marR="55880" indent="-464820" algn="just">
              <a:lnSpc>
                <a:spcPct val="100000"/>
              </a:lnSpc>
              <a:spcBef>
                <a:spcPts val="95"/>
              </a:spcBef>
              <a:buClr>
                <a:srgbClr val="F79546"/>
              </a:buClr>
              <a:buFont typeface="Wingdings"/>
              <a:buChar char=""/>
              <a:tabLst>
                <a:tab pos="528320" algn="l"/>
              </a:tabLst>
            </a:pPr>
            <a:r>
              <a:rPr sz="2800" spc="10" dirty="0">
                <a:solidFill>
                  <a:srgbClr val="006FC0"/>
                </a:solidFill>
                <a:latin typeface="Arial"/>
                <a:cs typeface="Arial"/>
              </a:rPr>
              <a:t>If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385" dirty="0">
                <a:solidFill>
                  <a:srgbClr val="006FC0"/>
                </a:solidFill>
                <a:latin typeface="Arial"/>
                <a:cs typeface="Arial"/>
              </a:rPr>
              <a:t>message </a:t>
            </a:r>
            <a:r>
              <a:rPr sz="2800" spc="-50" dirty="0">
                <a:solidFill>
                  <a:srgbClr val="006FC0"/>
                </a:solidFill>
                <a:latin typeface="Arial"/>
                <a:cs typeface="Arial"/>
              </a:rPr>
              <a:t>bit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combination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800" spc="-245" dirty="0">
                <a:solidFill>
                  <a:srgbClr val="006FC0"/>
                </a:solidFill>
                <a:latin typeface="Arial"/>
                <a:cs typeface="Arial"/>
              </a:rPr>
              <a:t>designated </a:t>
            </a:r>
            <a:r>
              <a:rPr sz="2800" spc="-459" dirty="0">
                <a:solidFill>
                  <a:srgbClr val="006FC0"/>
                </a:solidFill>
                <a:latin typeface="Arial"/>
                <a:cs typeface="Arial"/>
              </a:rPr>
              <a:t>as </a:t>
            </a:r>
            <a:r>
              <a:rPr sz="2800" spc="-15" dirty="0">
                <a:solidFill>
                  <a:srgbClr val="006FC0"/>
                </a:solidFill>
                <a:latin typeface="Arial"/>
                <a:cs typeface="Arial"/>
              </a:rPr>
              <a:t>A, </a:t>
            </a:r>
            <a:r>
              <a:rPr sz="2800" spc="-290" dirty="0">
                <a:solidFill>
                  <a:srgbClr val="006FC0"/>
                </a:solidFill>
                <a:latin typeface="Arial"/>
                <a:cs typeface="Arial"/>
              </a:rPr>
              <a:t>B, </a:t>
            </a:r>
            <a:r>
              <a:rPr sz="2800" spc="-300" dirty="0">
                <a:solidFill>
                  <a:srgbClr val="006FC0"/>
                </a:solidFill>
                <a:latin typeface="Arial"/>
                <a:cs typeface="Arial"/>
              </a:rPr>
              <a:t>C  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spc="-315" dirty="0">
                <a:solidFill>
                  <a:srgbClr val="006FC0"/>
                </a:solidFill>
                <a:latin typeface="Arial"/>
                <a:cs typeface="Arial"/>
              </a:rPr>
              <a:t>P</a:t>
            </a:r>
            <a:r>
              <a:rPr sz="2775" spc="-472" baseline="-21021" dirty="0">
                <a:solidFill>
                  <a:srgbClr val="006FC0"/>
                </a:solidFill>
                <a:latin typeface="Arial"/>
                <a:cs typeface="Arial"/>
              </a:rPr>
              <a:t>e</a:t>
            </a:r>
            <a:r>
              <a:rPr sz="2800" spc="-315" dirty="0">
                <a:solidFill>
                  <a:srgbClr val="006FC0"/>
                </a:solidFill>
                <a:latin typeface="Arial"/>
                <a:cs typeface="Arial"/>
              </a:rPr>
              <a:t>, </a:t>
            </a:r>
            <a:r>
              <a:rPr sz="2800" spc="-330" dirty="0">
                <a:solidFill>
                  <a:srgbClr val="006FC0"/>
                </a:solidFill>
                <a:latin typeface="Arial"/>
                <a:cs typeface="Arial"/>
              </a:rPr>
              <a:t>P</a:t>
            </a:r>
            <a:r>
              <a:rPr sz="2775" spc="-494" baseline="-21021" dirty="0">
                <a:solidFill>
                  <a:srgbClr val="006FC0"/>
                </a:solidFill>
                <a:latin typeface="Arial"/>
                <a:cs typeface="Arial"/>
              </a:rPr>
              <a:t>o</a:t>
            </a:r>
            <a:r>
              <a:rPr sz="2775" spc="-225" baseline="-21021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are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280" dirty="0">
                <a:solidFill>
                  <a:srgbClr val="006FC0"/>
                </a:solidFill>
                <a:latin typeface="Arial"/>
                <a:cs typeface="Arial"/>
              </a:rPr>
              <a:t>even 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spc="-160" dirty="0">
                <a:solidFill>
                  <a:srgbClr val="006FC0"/>
                </a:solidFill>
                <a:latin typeface="Arial"/>
                <a:cs typeface="Arial"/>
              </a:rPr>
              <a:t>odd </a:t>
            </a:r>
            <a:r>
              <a:rPr sz="2800" spc="-110" dirty="0">
                <a:solidFill>
                  <a:srgbClr val="006FC0"/>
                </a:solidFill>
                <a:latin typeface="Arial"/>
                <a:cs typeface="Arial"/>
              </a:rPr>
              <a:t>parity </a:t>
            </a:r>
            <a:r>
              <a:rPr sz="2800" spc="-190" dirty="0">
                <a:solidFill>
                  <a:srgbClr val="006FC0"/>
                </a:solidFill>
                <a:latin typeface="Arial"/>
                <a:cs typeface="Arial"/>
              </a:rPr>
              <a:t>respectively, </a:t>
            </a:r>
            <a:r>
              <a:rPr sz="2800" spc="-180" dirty="0">
                <a:solidFill>
                  <a:srgbClr val="006FC0"/>
                </a:solidFill>
                <a:latin typeface="Arial"/>
                <a:cs typeface="Arial"/>
              </a:rPr>
              <a:t>then  </a:t>
            </a:r>
            <a:r>
              <a:rPr sz="2800" spc="25" dirty="0">
                <a:solidFill>
                  <a:srgbClr val="006FC0"/>
                </a:solidFill>
                <a:latin typeface="Arial"/>
                <a:cs typeface="Arial"/>
              </a:rPr>
              <a:t>it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800" spc="-210" dirty="0">
                <a:solidFill>
                  <a:srgbClr val="006FC0"/>
                </a:solidFill>
                <a:latin typeface="Arial"/>
                <a:cs typeface="Arial"/>
              </a:rPr>
              <a:t>obvious </a:t>
            </a:r>
            <a:r>
              <a:rPr sz="2800" spc="-100" dirty="0">
                <a:solidFill>
                  <a:srgbClr val="006FC0"/>
                </a:solidFill>
                <a:latin typeface="Arial"/>
                <a:cs typeface="Arial"/>
              </a:rPr>
              <a:t>from </a:t>
            </a:r>
            <a:r>
              <a:rPr sz="2800" spc="-185" dirty="0">
                <a:solidFill>
                  <a:srgbClr val="006FC0"/>
                </a:solidFill>
                <a:latin typeface="Arial"/>
                <a:cs typeface="Arial"/>
              </a:rPr>
              <a:t>table </a:t>
            </a:r>
            <a:r>
              <a:rPr sz="2800" spc="-125" dirty="0">
                <a:solidFill>
                  <a:srgbClr val="006FC0"/>
                </a:solidFill>
                <a:latin typeface="Arial"/>
                <a:cs typeface="Arial"/>
              </a:rPr>
              <a:t>that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215" dirty="0">
                <a:solidFill>
                  <a:srgbClr val="006FC0"/>
                </a:solidFill>
                <a:latin typeface="Arial"/>
                <a:cs typeface="Arial"/>
              </a:rPr>
              <a:t>boolean </a:t>
            </a:r>
            <a:r>
              <a:rPr sz="2800" spc="-275" dirty="0">
                <a:solidFill>
                  <a:srgbClr val="006FC0"/>
                </a:solidFill>
                <a:latin typeface="Arial"/>
                <a:cs typeface="Arial"/>
              </a:rPr>
              <a:t>expressions </a:t>
            </a:r>
            <a:r>
              <a:rPr sz="2800" spc="-70" dirty="0">
                <a:solidFill>
                  <a:srgbClr val="006FC0"/>
                </a:solidFill>
                <a:latin typeface="Arial"/>
                <a:cs typeface="Arial"/>
              </a:rPr>
              <a:t>of  </a:t>
            </a:r>
            <a:r>
              <a:rPr sz="2800" spc="-275" dirty="0">
                <a:solidFill>
                  <a:srgbClr val="006FC0"/>
                </a:solidFill>
                <a:latin typeface="Arial"/>
                <a:cs typeface="Arial"/>
              </a:rPr>
              <a:t>even </a:t>
            </a:r>
            <a:r>
              <a:rPr sz="2800" spc="-110" dirty="0">
                <a:solidFill>
                  <a:srgbClr val="006FC0"/>
                </a:solidFill>
                <a:latin typeface="Arial"/>
                <a:cs typeface="Arial"/>
              </a:rPr>
              <a:t>parity 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spc="-160" dirty="0">
                <a:solidFill>
                  <a:srgbClr val="006FC0"/>
                </a:solidFill>
                <a:latin typeface="Arial"/>
                <a:cs typeface="Arial"/>
              </a:rPr>
              <a:t>odd </a:t>
            </a:r>
            <a:r>
              <a:rPr sz="2800" spc="-110" dirty="0">
                <a:solidFill>
                  <a:srgbClr val="006FC0"/>
                </a:solidFill>
                <a:latin typeface="Arial"/>
                <a:cs typeface="Arial"/>
              </a:rPr>
              <a:t>parity</a:t>
            </a:r>
            <a:r>
              <a:rPr sz="2800" spc="-26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are</a:t>
            </a:r>
            <a:endParaRPr sz="2800">
              <a:latin typeface="Arial"/>
              <a:cs typeface="Arial"/>
            </a:endParaRPr>
          </a:p>
          <a:p>
            <a:pPr marR="292735" algn="ctr">
              <a:lnSpc>
                <a:spcPct val="100000"/>
              </a:lnSpc>
              <a:spcBef>
                <a:spcPts val="60"/>
              </a:spcBef>
              <a:tabLst>
                <a:tab pos="2743200" algn="l"/>
                <a:tab pos="3657600" algn="l"/>
              </a:tabLst>
            </a:pPr>
            <a:r>
              <a:rPr sz="2800" b="1" spc="-390" dirty="0">
                <a:latin typeface="Arial"/>
                <a:cs typeface="Arial"/>
              </a:rPr>
              <a:t>P</a:t>
            </a:r>
            <a:r>
              <a:rPr sz="2775" b="1" spc="-585" baseline="-21021" dirty="0">
                <a:latin typeface="Arial"/>
                <a:cs typeface="Arial"/>
              </a:rPr>
              <a:t>e      </a:t>
            </a:r>
            <a:r>
              <a:rPr sz="2800" b="1" spc="70" dirty="0">
                <a:latin typeface="Arial"/>
                <a:cs typeface="Arial"/>
              </a:rPr>
              <a:t>= </a:t>
            </a:r>
            <a:r>
              <a:rPr sz="2800" b="1" spc="-130" dirty="0">
                <a:latin typeface="Arial"/>
                <a:cs typeface="Arial"/>
              </a:rPr>
              <a:t>(A </a:t>
            </a:r>
            <a:r>
              <a:rPr sz="2800" b="1" spc="-5" dirty="0">
                <a:latin typeface="Symbol"/>
                <a:cs typeface="Symbol"/>
              </a:rPr>
              <a:t></a:t>
            </a:r>
            <a:r>
              <a:rPr sz="2800" b="1" spc="-5" dirty="0">
                <a:latin typeface="Times New Roman"/>
                <a:cs typeface="Times New Roman"/>
              </a:rPr>
              <a:t> </a:t>
            </a:r>
            <a:r>
              <a:rPr sz="2800" b="1" spc="-580" dirty="0">
                <a:latin typeface="Arial"/>
                <a:cs typeface="Arial"/>
              </a:rPr>
              <a:t>B   </a:t>
            </a:r>
            <a:r>
              <a:rPr sz="2800" b="1" spc="-409" dirty="0">
                <a:latin typeface="Arial"/>
                <a:cs typeface="Arial"/>
              </a:rPr>
              <a:t> </a:t>
            </a:r>
            <a:r>
              <a:rPr sz="2800" b="1" spc="-5" dirty="0">
                <a:latin typeface="Symbol"/>
                <a:cs typeface="Symbol"/>
              </a:rPr>
              <a:t></a:t>
            </a:r>
            <a:r>
              <a:rPr sz="2800" b="1" spc="85" dirty="0">
                <a:latin typeface="Times New Roman"/>
                <a:cs typeface="Times New Roman"/>
              </a:rPr>
              <a:t> </a:t>
            </a:r>
            <a:r>
              <a:rPr sz="2800" b="1" spc="-260" dirty="0">
                <a:latin typeface="Arial"/>
                <a:cs typeface="Arial"/>
              </a:rPr>
              <a:t>C)	</a:t>
            </a:r>
            <a:r>
              <a:rPr sz="2800" spc="-254" dirty="0">
                <a:latin typeface="Arial"/>
                <a:cs typeface="Arial"/>
              </a:rPr>
              <a:t>and	</a:t>
            </a:r>
            <a:r>
              <a:rPr sz="2800" b="1" spc="-375" dirty="0">
                <a:latin typeface="Arial"/>
                <a:cs typeface="Arial"/>
              </a:rPr>
              <a:t>P</a:t>
            </a:r>
            <a:r>
              <a:rPr sz="2775" b="1" spc="-562" baseline="-21021" dirty="0">
                <a:latin typeface="Arial"/>
                <a:cs typeface="Arial"/>
              </a:rPr>
              <a:t>o </a:t>
            </a:r>
            <a:r>
              <a:rPr sz="2800" b="1" spc="70" dirty="0">
                <a:latin typeface="Arial"/>
                <a:cs typeface="Arial"/>
              </a:rPr>
              <a:t>= </a:t>
            </a:r>
            <a:r>
              <a:rPr sz="2800" b="1" spc="-130" dirty="0">
                <a:latin typeface="Arial"/>
                <a:cs typeface="Arial"/>
              </a:rPr>
              <a:t>(A </a:t>
            </a:r>
            <a:r>
              <a:rPr sz="2800" b="1" spc="-5" dirty="0">
                <a:latin typeface="Symbol"/>
                <a:cs typeface="Symbol"/>
              </a:rPr>
              <a:t></a:t>
            </a:r>
            <a:r>
              <a:rPr sz="2800" b="1" spc="-5" dirty="0">
                <a:latin typeface="Times New Roman"/>
                <a:cs typeface="Times New Roman"/>
              </a:rPr>
              <a:t> </a:t>
            </a:r>
            <a:r>
              <a:rPr sz="2800" b="1" spc="-580" dirty="0">
                <a:latin typeface="Arial"/>
                <a:cs typeface="Arial"/>
              </a:rPr>
              <a:t>B </a:t>
            </a:r>
            <a:r>
              <a:rPr sz="2800" b="1" spc="-5" dirty="0">
                <a:latin typeface="Symbol"/>
                <a:cs typeface="Symbol"/>
              </a:rPr>
              <a:t></a:t>
            </a:r>
            <a:r>
              <a:rPr sz="2800" b="1" spc="110" dirty="0">
                <a:latin typeface="Times New Roman"/>
                <a:cs typeface="Times New Roman"/>
              </a:rPr>
              <a:t> </a:t>
            </a:r>
            <a:r>
              <a:rPr sz="2800" b="1" spc="-170" dirty="0">
                <a:latin typeface="Arial"/>
                <a:cs typeface="Arial"/>
              </a:rPr>
              <a:t>C)′</a:t>
            </a:r>
            <a:endParaRPr sz="2800">
              <a:latin typeface="Arial"/>
              <a:cs typeface="Arial"/>
            </a:endParaRPr>
          </a:p>
          <a:p>
            <a:pPr marR="2590165" algn="r">
              <a:lnSpc>
                <a:spcPct val="100000"/>
              </a:lnSpc>
              <a:spcBef>
                <a:spcPts val="3304"/>
              </a:spcBef>
              <a:tabLst>
                <a:tab pos="401955" algn="l"/>
              </a:tabLst>
            </a:pPr>
            <a:r>
              <a:rPr sz="2800" b="1" spc="-390" dirty="0">
                <a:solidFill>
                  <a:srgbClr val="006FC0"/>
                </a:solidFill>
                <a:latin typeface="Arial"/>
                <a:cs typeface="Arial"/>
              </a:rPr>
              <a:t>P</a:t>
            </a:r>
            <a:r>
              <a:rPr sz="2775" b="1" spc="-585" baseline="-21021" dirty="0">
                <a:solidFill>
                  <a:srgbClr val="006FC0"/>
                </a:solidFill>
                <a:latin typeface="Arial"/>
                <a:cs typeface="Arial"/>
              </a:rPr>
              <a:t>e	</a:t>
            </a:r>
            <a:r>
              <a:rPr sz="2800" b="1" spc="70" dirty="0">
                <a:solidFill>
                  <a:srgbClr val="006FC0"/>
                </a:solidFill>
                <a:latin typeface="Arial"/>
                <a:cs typeface="Arial"/>
              </a:rPr>
              <a:t>= </a:t>
            </a:r>
            <a:r>
              <a:rPr sz="2800" b="1" spc="-130" dirty="0">
                <a:solidFill>
                  <a:srgbClr val="006FC0"/>
                </a:solidFill>
                <a:latin typeface="Arial"/>
                <a:cs typeface="Arial"/>
              </a:rPr>
              <a:t>A’B’C+ A’BC’+ AB’C’+</a:t>
            </a:r>
            <a:r>
              <a:rPr sz="2800" b="1" spc="7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b="1" spc="-300" dirty="0">
                <a:solidFill>
                  <a:srgbClr val="006FC0"/>
                </a:solidFill>
                <a:latin typeface="Arial"/>
                <a:cs typeface="Arial"/>
              </a:rPr>
              <a:t>ABC</a:t>
            </a:r>
            <a:endParaRPr sz="2800">
              <a:latin typeface="Arial"/>
              <a:cs typeface="Arial"/>
            </a:endParaRPr>
          </a:p>
          <a:p>
            <a:pPr marR="2557145" algn="r">
              <a:lnSpc>
                <a:spcPct val="100000"/>
              </a:lnSpc>
              <a:spcBef>
                <a:spcPts val="2400"/>
              </a:spcBef>
            </a:pPr>
            <a:r>
              <a:rPr sz="2800" b="1" spc="70" dirty="0">
                <a:solidFill>
                  <a:srgbClr val="006FC0"/>
                </a:solidFill>
                <a:latin typeface="Arial"/>
                <a:cs typeface="Arial"/>
              </a:rPr>
              <a:t>= </a:t>
            </a:r>
            <a:r>
              <a:rPr sz="2800" b="1" dirty="0">
                <a:solidFill>
                  <a:srgbClr val="006FC0"/>
                </a:solidFill>
                <a:latin typeface="Arial"/>
                <a:cs typeface="Arial"/>
              </a:rPr>
              <a:t>A’ </a:t>
            </a:r>
            <a:r>
              <a:rPr sz="2800" b="1" spc="-204" dirty="0">
                <a:solidFill>
                  <a:srgbClr val="006FC0"/>
                </a:solidFill>
                <a:latin typeface="Arial"/>
                <a:cs typeface="Arial"/>
              </a:rPr>
              <a:t>(B’C+ </a:t>
            </a:r>
            <a:r>
              <a:rPr sz="2800" b="1" spc="-270" dirty="0">
                <a:solidFill>
                  <a:srgbClr val="006FC0"/>
                </a:solidFill>
                <a:latin typeface="Arial"/>
                <a:cs typeface="Arial"/>
              </a:rPr>
              <a:t>BC’) </a:t>
            </a:r>
            <a:r>
              <a:rPr sz="2800" b="1" spc="70" dirty="0">
                <a:solidFill>
                  <a:srgbClr val="006FC0"/>
                </a:solidFill>
                <a:latin typeface="Arial"/>
                <a:cs typeface="Arial"/>
              </a:rPr>
              <a:t>+ </a:t>
            </a:r>
            <a:r>
              <a:rPr sz="2800" b="1" spc="-20" dirty="0">
                <a:solidFill>
                  <a:srgbClr val="006FC0"/>
                </a:solidFill>
                <a:latin typeface="Arial"/>
                <a:cs typeface="Arial"/>
              </a:rPr>
              <a:t>A </a:t>
            </a:r>
            <a:r>
              <a:rPr sz="2800" b="1" spc="-165" dirty="0">
                <a:solidFill>
                  <a:srgbClr val="006FC0"/>
                </a:solidFill>
                <a:latin typeface="Arial"/>
                <a:cs typeface="Arial"/>
              </a:rPr>
              <a:t>(B’C’+</a:t>
            </a:r>
            <a:r>
              <a:rPr sz="2800" b="1" spc="-30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b="1" spc="-365" dirty="0">
                <a:solidFill>
                  <a:srgbClr val="006FC0"/>
                </a:solidFill>
                <a:latin typeface="Arial"/>
                <a:cs typeface="Arial"/>
              </a:rPr>
              <a:t>BC)</a:t>
            </a:r>
            <a:endParaRPr sz="2800">
              <a:latin typeface="Arial"/>
              <a:cs typeface="Arial"/>
            </a:endParaRPr>
          </a:p>
          <a:p>
            <a:pPr marL="1443990">
              <a:lnSpc>
                <a:spcPct val="100000"/>
              </a:lnSpc>
              <a:spcBef>
                <a:spcPts val="2460"/>
              </a:spcBef>
            </a:pPr>
            <a:r>
              <a:rPr sz="2800" b="1" spc="70" dirty="0">
                <a:solidFill>
                  <a:srgbClr val="006FC0"/>
                </a:solidFill>
                <a:latin typeface="Arial"/>
                <a:cs typeface="Arial"/>
              </a:rPr>
              <a:t>= </a:t>
            </a:r>
            <a:r>
              <a:rPr sz="2800" b="1" dirty="0">
                <a:solidFill>
                  <a:srgbClr val="006FC0"/>
                </a:solidFill>
                <a:latin typeface="Arial"/>
                <a:cs typeface="Arial"/>
              </a:rPr>
              <a:t>A’ </a:t>
            </a:r>
            <a:r>
              <a:rPr sz="2800" b="1" spc="-265" dirty="0">
                <a:solidFill>
                  <a:srgbClr val="006FC0"/>
                </a:solidFill>
                <a:latin typeface="Arial"/>
                <a:cs typeface="Arial"/>
              </a:rPr>
              <a:t>(B</a:t>
            </a:r>
            <a:r>
              <a:rPr sz="2800" b="1" spc="-265" dirty="0">
                <a:solidFill>
                  <a:srgbClr val="006FC0"/>
                </a:solidFill>
                <a:latin typeface="Symbol"/>
                <a:cs typeface="Symbol"/>
              </a:rPr>
              <a:t></a:t>
            </a:r>
            <a:r>
              <a:rPr sz="2800" b="1" spc="-265" dirty="0">
                <a:solidFill>
                  <a:srgbClr val="006FC0"/>
                </a:solidFill>
                <a:latin typeface="Arial"/>
                <a:cs typeface="Arial"/>
              </a:rPr>
              <a:t>C) </a:t>
            </a:r>
            <a:r>
              <a:rPr sz="2800" b="1" spc="70" dirty="0">
                <a:solidFill>
                  <a:srgbClr val="006FC0"/>
                </a:solidFill>
                <a:latin typeface="Arial"/>
                <a:cs typeface="Arial"/>
              </a:rPr>
              <a:t>+ </a:t>
            </a:r>
            <a:r>
              <a:rPr sz="2800" b="1" spc="-20" dirty="0">
                <a:solidFill>
                  <a:srgbClr val="006FC0"/>
                </a:solidFill>
                <a:latin typeface="Arial"/>
                <a:cs typeface="Arial"/>
              </a:rPr>
              <a:t>A</a:t>
            </a:r>
            <a:r>
              <a:rPr sz="2800" b="1" spc="-45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b="1" spc="-220" dirty="0">
                <a:solidFill>
                  <a:srgbClr val="006FC0"/>
                </a:solidFill>
                <a:latin typeface="Arial"/>
                <a:cs typeface="Arial"/>
              </a:rPr>
              <a:t>(B</a:t>
            </a:r>
            <a:r>
              <a:rPr sz="2800" b="1" spc="-220" dirty="0">
                <a:solidFill>
                  <a:srgbClr val="006FC0"/>
                </a:solidFill>
                <a:latin typeface="Symbol"/>
                <a:cs typeface="Symbol"/>
              </a:rPr>
              <a:t></a:t>
            </a:r>
            <a:r>
              <a:rPr sz="2800" b="1" spc="-220" dirty="0">
                <a:solidFill>
                  <a:srgbClr val="006FC0"/>
                </a:solidFill>
                <a:latin typeface="Arial"/>
                <a:cs typeface="Arial"/>
              </a:rPr>
              <a:t>C)’</a:t>
            </a:r>
            <a:endParaRPr sz="2800">
              <a:latin typeface="Arial"/>
              <a:cs typeface="Arial"/>
            </a:endParaRPr>
          </a:p>
          <a:p>
            <a:pPr marL="1470025">
              <a:lnSpc>
                <a:spcPct val="100000"/>
              </a:lnSpc>
              <a:spcBef>
                <a:spcPts val="2400"/>
              </a:spcBef>
            </a:pPr>
            <a:r>
              <a:rPr sz="2800" b="1" spc="70" dirty="0">
                <a:solidFill>
                  <a:srgbClr val="006FC0"/>
                </a:solidFill>
                <a:latin typeface="Arial"/>
                <a:cs typeface="Arial"/>
              </a:rPr>
              <a:t>= </a:t>
            </a:r>
            <a:r>
              <a:rPr sz="2800" b="1" spc="-130" dirty="0">
                <a:solidFill>
                  <a:srgbClr val="006FC0"/>
                </a:solidFill>
                <a:latin typeface="Arial"/>
                <a:cs typeface="Arial"/>
              </a:rPr>
              <a:t>(A </a:t>
            </a:r>
            <a:r>
              <a:rPr sz="2800" b="1" spc="-5" dirty="0">
                <a:solidFill>
                  <a:srgbClr val="006FC0"/>
                </a:solidFill>
                <a:latin typeface="Symbol"/>
                <a:cs typeface="Symbol"/>
              </a:rPr>
              <a:t></a:t>
            </a:r>
            <a:r>
              <a:rPr sz="28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800" b="1" spc="-580" dirty="0">
                <a:solidFill>
                  <a:srgbClr val="006FC0"/>
                </a:solidFill>
                <a:latin typeface="Arial"/>
                <a:cs typeface="Arial"/>
              </a:rPr>
              <a:t>B </a:t>
            </a:r>
            <a:r>
              <a:rPr sz="2800" b="1" spc="-5" dirty="0">
                <a:solidFill>
                  <a:srgbClr val="006FC0"/>
                </a:solidFill>
                <a:latin typeface="Symbol"/>
                <a:cs typeface="Symbol"/>
              </a:rPr>
              <a:t></a:t>
            </a:r>
            <a:r>
              <a:rPr sz="2800" b="1" spc="2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800" b="1" spc="-254" dirty="0">
                <a:solidFill>
                  <a:srgbClr val="006FC0"/>
                </a:solidFill>
                <a:latin typeface="Arial"/>
                <a:cs typeface="Arial"/>
              </a:rPr>
              <a:t>C)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sp>
          <p:nvSpPr>
            <p:cNvPr id="14" name="object 14"/>
            <p:cNvSpPr/>
            <p:nvPr/>
          </p:nvSpPr>
          <p:spPr>
            <a:xfrm>
              <a:off x="8593835" y="6620255"/>
              <a:ext cx="550164" cy="23774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630411" y="6556243"/>
              <a:ext cx="513588" cy="30175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142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793241" y="982217"/>
              <a:ext cx="7589519" cy="762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6764"/>
              <a:ext cx="9143999" cy="668274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53439" y="320001"/>
              <a:ext cx="7434072" cy="57611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516123" y="202679"/>
              <a:ext cx="4105655" cy="93422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790189" y="321386"/>
            <a:ext cx="356489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14" dirty="0"/>
              <a:t>PARITY</a:t>
            </a:r>
            <a:r>
              <a:rPr spc="-100" dirty="0"/>
              <a:t> </a:t>
            </a:r>
            <a:r>
              <a:rPr spc="-130" dirty="0"/>
              <a:t>GENERATOR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1143000" y="1219200"/>
            <a:ext cx="8006080" cy="5638800"/>
            <a:chOff x="1143000" y="1219200"/>
            <a:chExt cx="8006080" cy="5638800"/>
          </a:xfrm>
        </p:grpSpPr>
        <p:sp>
          <p:nvSpPr>
            <p:cNvPr id="13" name="object 13"/>
            <p:cNvSpPr/>
            <p:nvPr/>
          </p:nvSpPr>
          <p:spPr>
            <a:xfrm>
              <a:off x="8593835" y="6620254"/>
              <a:ext cx="550164" cy="23774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630411" y="6556242"/>
              <a:ext cx="513588" cy="30175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641080" y="6644640"/>
              <a:ext cx="502920" cy="18288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143000" y="1219200"/>
              <a:ext cx="6009132" cy="2442972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19200" y="3657600"/>
              <a:ext cx="5614415" cy="2790444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143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2734055" y="202679"/>
              <a:ext cx="3671316" cy="9342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008502" y="321386"/>
            <a:ext cx="312610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0" dirty="0"/>
              <a:t>PARITY</a:t>
            </a:r>
            <a:r>
              <a:rPr spc="-90" dirty="0"/>
              <a:t> </a:t>
            </a:r>
            <a:r>
              <a:rPr spc="-30" dirty="0"/>
              <a:t>CHECKER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83540" y="1209293"/>
            <a:ext cx="8377555" cy="51466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476884" marR="5080" indent="-464820" algn="just">
              <a:lnSpc>
                <a:spcPct val="98600"/>
              </a:lnSpc>
              <a:spcBef>
                <a:spcPts val="140"/>
              </a:spcBef>
              <a:buClr>
                <a:srgbClr val="F79546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385" dirty="0">
                <a:solidFill>
                  <a:srgbClr val="006FC0"/>
                </a:solidFill>
                <a:latin typeface="Arial"/>
                <a:cs typeface="Arial"/>
              </a:rPr>
              <a:t>message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bits </a:t>
            </a:r>
            <a:r>
              <a:rPr sz="2800" spc="-110" dirty="0">
                <a:solidFill>
                  <a:srgbClr val="006FC0"/>
                </a:solidFill>
                <a:latin typeface="Arial"/>
                <a:cs typeface="Arial"/>
              </a:rPr>
              <a:t>with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10" dirty="0">
                <a:solidFill>
                  <a:srgbClr val="006FC0"/>
                </a:solidFill>
                <a:latin typeface="Arial"/>
                <a:cs typeface="Arial"/>
              </a:rPr>
              <a:t>parity </a:t>
            </a:r>
            <a:r>
              <a:rPr sz="2800" spc="-55" dirty="0">
                <a:solidFill>
                  <a:srgbClr val="006FC0"/>
                </a:solidFill>
                <a:latin typeface="Arial"/>
                <a:cs typeface="Arial"/>
              </a:rPr>
              <a:t>bit 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are </a:t>
            </a:r>
            <a:r>
              <a:rPr sz="2800" spc="-160" dirty="0">
                <a:solidFill>
                  <a:srgbClr val="006FC0"/>
                </a:solidFill>
                <a:latin typeface="Arial"/>
                <a:cs typeface="Arial"/>
              </a:rPr>
              <a:t>transmitted </a:t>
            </a:r>
            <a:r>
              <a:rPr sz="2800" spc="-50" dirty="0">
                <a:solidFill>
                  <a:srgbClr val="006FC0"/>
                </a:solidFill>
                <a:latin typeface="Arial"/>
                <a:cs typeface="Arial"/>
              </a:rPr>
              <a:t>to 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their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destination, </a:t>
            </a:r>
            <a:r>
              <a:rPr sz="2800" spc="-235" dirty="0">
                <a:solidFill>
                  <a:srgbClr val="006FC0"/>
                </a:solidFill>
                <a:latin typeface="Arial"/>
                <a:cs typeface="Arial"/>
              </a:rPr>
              <a:t>where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they</a:t>
            </a:r>
            <a:r>
              <a:rPr sz="2800" spc="44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are </a:t>
            </a:r>
            <a:r>
              <a:rPr sz="2800" spc="-180" dirty="0">
                <a:solidFill>
                  <a:srgbClr val="006FC0"/>
                </a:solidFill>
                <a:latin typeface="Arial"/>
                <a:cs typeface="Arial"/>
              </a:rPr>
              <a:t>applied </a:t>
            </a:r>
            <a:r>
              <a:rPr sz="2800" spc="-55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800" spc="-395" dirty="0">
                <a:solidFill>
                  <a:srgbClr val="006FC0"/>
                </a:solidFill>
                <a:latin typeface="Arial"/>
                <a:cs typeface="Arial"/>
              </a:rPr>
              <a:t>a </a:t>
            </a:r>
            <a:r>
              <a:rPr sz="2800" spc="-114" dirty="0">
                <a:solidFill>
                  <a:srgbClr val="006FC0"/>
                </a:solidFill>
                <a:latin typeface="Arial"/>
                <a:cs typeface="Arial"/>
              </a:rPr>
              <a:t>parity  </a:t>
            </a:r>
            <a:r>
              <a:rPr sz="2800" spc="-225" dirty="0">
                <a:solidFill>
                  <a:srgbClr val="006FC0"/>
                </a:solidFill>
                <a:latin typeface="Arial"/>
                <a:cs typeface="Arial"/>
              </a:rPr>
              <a:t>checker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circuit. </a:t>
            </a: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95" dirty="0">
                <a:solidFill>
                  <a:srgbClr val="006FC0"/>
                </a:solidFill>
                <a:latin typeface="Arial"/>
                <a:cs typeface="Arial"/>
              </a:rPr>
              <a:t>circuit </a:t>
            </a:r>
            <a:r>
              <a:rPr sz="2800" spc="-125" dirty="0">
                <a:solidFill>
                  <a:srgbClr val="006FC0"/>
                </a:solidFill>
                <a:latin typeface="Arial"/>
                <a:cs typeface="Arial"/>
              </a:rPr>
              <a:t>that </a:t>
            </a:r>
            <a:r>
              <a:rPr sz="2800" spc="-290" dirty="0">
                <a:solidFill>
                  <a:srgbClr val="006FC0"/>
                </a:solidFill>
                <a:latin typeface="Arial"/>
                <a:cs typeface="Arial"/>
              </a:rPr>
              <a:t>checks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10" dirty="0">
                <a:solidFill>
                  <a:srgbClr val="006FC0"/>
                </a:solidFill>
                <a:latin typeface="Arial"/>
                <a:cs typeface="Arial"/>
              </a:rPr>
              <a:t>parity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at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the  </a:t>
            </a:r>
            <a:r>
              <a:rPr sz="2800" spc="-190" dirty="0">
                <a:solidFill>
                  <a:srgbClr val="006FC0"/>
                </a:solidFill>
                <a:latin typeface="Arial"/>
                <a:cs typeface="Arial"/>
              </a:rPr>
              <a:t>receiver </a:t>
            </a:r>
            <a:r>
              <a:rPr sz="2800" spc="-260" dirty="0">
                <a:solidFill>
                  <a:srgbClr val="006FC0"/>
                </a:solidFill>
                <a:latin typeface="Arial"/>
                <a:cs typeface="Arial"/>
              </a:rPr>
              <a:t>side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800" spc="-195" dirty="0">
                <a:solidFill>
                  <a:srgbClr val="006FC0"/>
                </a:solidFill>
                <a:latin typeface="Arial"/>
                <a:cs typeface="Arial"/>
              </a:rPr>
              <a:t>called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950" b="1" i="1" spc="-305" dirty="0">
                <a:latin typeface="Arial"/>
                <a:cs typeface="Arial"/>
              </a:rPr>
              <a:t>parity</a:t>
            </a:r>
            <a:r>
              <a:rPr sz="2950" b="1" i="1" spc="-45" dirty="0">
                <a:latin typeface="Arial"/>
                <a:cs typeface="Arial"/>
              </a:rPr>
              <a:t> </a:t>
            </a:r>
            <a:r>
              <a:rPr sz="2950" b="1" i="1" spc="-385" dirty="0">
                <a:latin typeface="Arial"/>
                <a:cs typeface="Arial"/>
              </a:rPr>
              <a:t>checker</a:t>
            </a:r>
            <a:r>
              <a:rPr sz="2800" b="1" spc="-385" dirty="0">
                <a:solidFill>
                  <a:srgbClr val="006FC0"/>
                </a:solidFill>
                <a:latin typeface="Arial"/>
                <a:cs typeface="Arial"/>
              </a:rPr>
              <a:t>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F79546"/>
              </a:buClr>
              <a:buFont typeface="Wingdings"/>
              <a:buChar char=""/>
            </a:pPr>
            <a:endParaRPr sz="2850">
              <a:latin typeface="Arial"/>
              <a:cs typeface="Arial"/>
            </a:endParaRPr>
          </a:p>
          <a:p>
            <a:pPr marL="476884" marR="5080" indent="-464820" algn="just">
              <a:lnSpc>
                <a:spcPct val="100000"/>
              </a:lnSpc>
              <a:buClr>
                <a:srgbClr val="F79546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14" dirty="0">
                <a:solidFill>
                  <a:srgbClr val="006FC0"/>
                </a:solidFill>
                <a:latin typeface="Arial"/>
                <a:cs typeface="Arial"/>
              </a:rPr>
              <a:t>parity </a:t>
            </a: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checker </a:t>
            </a:r>
            <a:r>
              <a:rPr sz="2800" spc="-95" dirty="0">
                <a:solidFill>
                  <a:srgbClr val="006FC0"/>
                </a:solidFill>
                <a:latin typeface="Arial"/>
                <a:cs typeface="Arial"/>
              </a:rPr>
              <a:t>circuit </a:t>
            </a:r>
            <a:r>
              <a:rPr sz="2800" spc="-225" dirty="0">
                <a:solidFill>
                  <a:srgbClr val="006FC0"/>
                </a:solidFill>
                <a:latin typeface="Arial"/>
                <a:cs typeface="Arial"/>
              </a:rPr>
              <a:t>produces </a:t>
            </a:r>
            <a:r>
              <a:rPr sz="2800" spc="-395" dirty="0">
                <a:solidFill>
                  <a:srgbClr val="006FC0"/>
                </a:solidFill>
                <a:latin typeface="Arial"/>
                <a:cs typeface="Arial"/>
              </a:rPr>
              <a:t>a</a:t>
            </a:r>
            <a:r>
              <a:rPr sz="2800" spc="-1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245" dirty="0">
                <a:solidFill>
                  <a:srgbClr val="006FC0"/>
                </a:solidFill>
                <a:latin typeface="Arial"/>
                <a:cs typeface="Arial"/>
              </a:rPr>
              <a:t>check </a:t>
            </a:r>
            <a:r>
              <a:rPr sz="2800" spc="-60" dirty="0">
                <a:solidFill>
                  <a:srgbClr val="006FC0"/>
                </a:solidFill>
                <a:latin typeface="Arial"/>
                <a:cs typeface="Arial"/>
              </a:rPr>
              <a:t>bit 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spc="-275" dirty="0">
                <a:solidFill>
                  <a:srgbClr val="006FC0"/>
                </a:solidFill>
                <a:latin typeface="Arial"/>
                <a:cs typeface="Arial"/>
              </a:rPr>
              <a:t>is 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very similar </a:t>
            </a:r>
            <a:r>
              <a:rPr sz="2800" spc="-50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10" dirty="0">
                <a:solidFill>
                  <a:srgbClr val="006FC0"/>
                </a:solidFill>
                <a:latin typeface="Arial"/>
                <a:cs typeface="Arial"/>
              </a:rPr>
              <a:t>parity </a:t>
            </a:r>
            <a:r>
              <a:rPr sz="2800" spc="-195" dirty="0">
                <a:solidFill>
                  <a:srgbClr val="006FC0"/>
                </a:solidFill>
                <a:latin typeface="Arial"/>
                <a:cs typeface="Arial"/>
              </a:rPr>
              <a:t>generator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circuit. </a:t>
            </a:r>
            <a:r>
              <a:rPr sz="2800" spc="10" dirty="0">
                <a:latin typeface="Arial"/>
                <a:cs typeface="Arial"/>
              </a:rPr>
              <a:t>If </a:t>
            </a:r>
            <a:r>
              <a:rPr sz="2800" spc="-170" dirty="0">
                <a:latin typeface="Arial"/>
                <a:cs typeface="Arial"/>
              </a:rPr>
              <a:t>the </a:t>
            </a:r>
            <a:r>
              <a:rPr sz="2800" spc="-250" dirty="0">
                <a:latin typeface="Arial"/>
                <a:cs typeface="Arial"/>
              </a:rPr>
              <a:t>check  </a:t>
            </a:r>
            <a:r>
              <a:rPr sz="2800" spc="-50" dirty="0">
                <a:latin typeface="Arial"/>
                <a:cs typeface="Arial"/>
              </a:rPr>
              <a:t>bit </a:t>
            </a:r>
            <a:r>
              <a:rPr sz="2800" spc="-265" dirty="0">
                <a:latin typeface="Arial"/>
                <a:cs typeface="Arial"/>
              </a:rPr>
              <a:t>is </a:t>
            </a:r>
            <a:r>
              <a:rPr sz="2800" spc="-280" dirty="0">
                <a:latin typeface="Arial"/>
                <a:cs typeface="Arial"/>
              </a:rPr>
              <a:t>1</a:t>
            </a:r>
            <a:r>
              <a:rPr sz="2800" spc="-280" dirty="0">
                <a:solidFill>
                  <a:srgbClr val="006FC0"/>
                </a:solidFill>
                <a:latin typeface="Arial"/>
                <a:cs typeface="Arial"/>
              </a:rPr>
              <a:t>, </a:t>
            </a:r>
            <a:r>
              <a:rPr sz="2800" spc="-185" dirty="0">
                <a:solidFill>
                  <a:srgbClr val="006FC0"/>
                </a:solidFill>
                <a:latin typeface="Arial"/>
                <a:cs typeface="Arial"/>
              </a:rPr>
              <a:t>then </a:t>
            </a:r>
            <a:r>
              <a:rPr sz="2800" spc="25" dirty="0">
                <a:solidFill>
                  <a:srgbClr val="006FC0"/>
                </a:solidFill>
                <a:latin typeface="Arial"/>
                <a:cs typeface="Arial"/>
              </a:rPr>
              <a:t>it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800" spc="-340" dirty="0">
                <a:solidFill>
                  <a:srgbClr val="006FC0"/>
                </a:solidFill>
                <a:latin typeface="Arial"/>
                <a:cs typeface="Arial"/>
              </a:rPr>
              <a:t>assumed </a:t>
            </a:r>
            <a:r>
              <a:rPr sz="2800" spc="-125" dirty="0">
                <a:solidFill>
                  <a:srgbClr val="006FC0"/>
                </a:solidFill>
                <a:latin typeface="Arial"/>
                <a:cs typeface="Arial"/>
              </a:rPr>
              <a:t>that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210" dirty="0">
                <a:latin typeface="Arial"/>
                <a:cs typeface="Arial"/>
              </a:rPr>
              <a:t>received </a:t>
            </a:r>
            <a:r>
              <a:rPr sz="2800" spc="-229" dirty="0">
                <a:latin typeface="Arial"/>
                <a:cs typeface="Arial"/>
              </a:rPr>
              <a:t>data </a:t>
            </a:r>
            <a:r>
              <a:rPr sz="2800" spc="-260" dirty="0">
                <a:latin typeface="Arial"/>
                <a:cs typeface="Arial"/>
              </a:rPr>
              <a:t>is  </a:t>
            </a:r>
            <a:r>
              <a:rPr sz="2800" spc="-135" dirty="0">
                <a:latin typeface="Arial"/>
                <a:cs typeface="Arial"/>
              </a:rPr>
              <a:t>incorrect.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F79546"/>
              </a:buClr>
              <a:buFont typeface="Wingdings"/>
              <a:buChar char=""/>
            </a:pPr>
            <a:endParaRPr sz="2900">
              <a:latin typeface="Arial"/>
              <a:cs typeface="Arial"/>
            </a:endParaRPr>
          </a:p>
          <a:p>
            <a:pPr marL="476884" marR="6350" indent="-464820" algn="just">
              <a:lnSpc>
                <a:spcPct val="100000"/>
              </a:lnSpc>
              <a:buClr>
                <a:srgbClr val="F79546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245" dirty="0">
                <a:latin typeface="Arial"/>
                <a:cs typeface="Arial"/>
              </a:rPr>
              <a:t>check </a:t>
            </a:r>
            <a:r>
              <a:rPr sz="2800" spc="-55" dirty="0">
                <a:latin typeface="Arial"/>
                <a:cs typeface="Arial"/>
              </a:rPr>
              <a:t>bit </a:t>
            </a:r>
            <a:r>
              <a:rPr sz="2800" spc="-75" dirty="0">
                <a:latin typeface="Arial"/>
                <a:cs typeface="Arial"/>
              </a:rPr>
              <a:t>will </a:t>
            </a:r>
            <a:r>
              <a:rPr sz="2800" spc="-280" dirty="0">
                <a:latin typeface="Arial"/>
                <a:cs typeface="Arial"/>
              </a:rPr>
              <a:t>be </a:t>
            </a:r>
            <a:r>
              <a:rPr sz="2800" spc="-400" dirty="0">
                <a:latin typeface="Arial"/>
                <a:cs typeface="Arial"/>
              </a:rPr>
              <a:t>0 </a:t>
            </a:r>
            <a:r>
              <a:rPr sz="2800" dirty="0">
                <a:latin typeface="Arial"/>
                <a:cs typeface="Arial"/>
              </a:rPr>
              <a:t>if </a:t>
            </a:r>
            <a:r>
              <a:rPr sz="2800" spc="-175" dirty="0">
                <a:latin typeface="Arial"/>
                <a:cs typeface="Arial"/>
              </a:rPr>
              <a:t>the </a:t>
            </a:r>
            <a:r>
              <a:rPr sz="2800" spc="-210" dirty="0">
                <a:latin typeface="Arial"/>
                <a:cs typeface="Arial"/>
              </a:rPr>
              <a:t>received </a:t>
            </a:r>
            <a:r>
              <a:rPr sz="2800" spc="-225" dirty="0">
                <a:latin typeface="Arial"/>
                <a:cs typeface="Arial"/>
              </a:rPr>
              <a:t>data </a:t>
            </a:r>
            <a:r>
              <a:rPr sz="2800" spc="-265" dirty="0">
                <a:latin typeface="Arial"/>
                <a:cs typeface="Arial"/>
              </a:rPr>
              <a:t>is </a:t>
            </a:r>
            <a:r>
              <a:rPr sz="2800" spc="-135" dirty="0">
                <a:latin typeface="Arial"/>
                <a:cs typeface="Arial"/>
              </a:rPr>
              <a:t>correct</a:t>
            </a:r>
            <a:r>
              <a:rPr sz="2800" spc="-135" dirty="0">
                <a:solidFill>
                  <a:srgbClr val="006FC0"/>
                </a:solidFill>
                <a:latin typeface="Arial"/>
                <a:cs typeface="Arial"/>
              </a:rPr>
              <a:t>. </a:t>
            </a:r>
            <a:r>
              <a:rPr sz="2800" spc="-235" dirty="0">
                <a:solidFill>
                  <a:srgbClr val="006FC0"/>
                </a:solidFill>
                <a:latin typeface="Arial"/>
                <a:cs typeface="Arial"/>
              </a:rPr>
              <a:t>The  </a:t>
            </a:r>
            <a:r>
              <a:rPr sz="2800" spc="-185" dirty="0">
                <a:solidFill>
                  <a:srgbClr val="006FC0"/>
                </a:solidFill>
                <a:latin typeface="Arial"/>
                <a:cs typeface="Arial"/>
              </a:rPr>
              <a:t>table </a:t>
            </a:r>
            <a:r>
              <a:rPr sz="2800" spc="-330" dirty="0">
                <a:solidFill>
                  <a:srgbClr val="006FC0"/>
                </a:solidFill>
                <a:latin typeface="Arial"/>
                <a:cs typeface="Arial"/>
              </a:rPr>
              <a:t>shows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60" dirty="0">
                <a:solidFill>
                  <a:srgbClr val="006FC0"/>
                </a:solidFill>
                <a:latin typeface="Arial"/>
                <a:cs typeface="Arial"/>
              </a:rPr>
              <a:t>truth </a:t>
            </a:r>
            <a:r>
              <a:rPr sz="2800" spc="-185" dirty="0">
                <a:solidFill>
                  <a:srgbClr val="006FC0"/>
                </a:solidFill>
                <a:latin typeface="Arial"/>
                <a:cs typeface="Arial"/>
              </a:rPr>
              <a:t>table </a:t>
            </a:r>
            <a:r>
              <a:rPr sz="2800" spc="-55" dirty="0">
                <a:solidFill>
                  <a:srgbClr val="006FC0"/>
                </a:solidFill>
                <a:latin typeface="Arial"/>
                <a:cs typeface="Arial"/>
              </a:rPr>
              <a:t>for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275" dirty="0">
                <a:solidFill>
                  <a:srgbClr val="006FC0"/>
                </a:solidFill>
                <a:latin typeface="Arial"/>
                <a:cs typeface="Arial"/>
              </a:rPr>
              <a:t>even </a:t>
            </a:r>
            <a:r>
              <a:rPr sz="2800" spc="-110" dirty="0">
                <a:solidFill>
                  <a:srgbClr val="006FC0"/>
                </a:solidFill>
                <a:latin typeface="Arial"/>
                <a:cs typeface="Arial"/>
              </a:rPr>
              <a:t>parity</a:t>
            </a:r>
            <a:r>
              <a:rPr sz="2800" spc="42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215" dirty="0">
                <a:solidFill>
                  <a:srgbClr val="006FC0"/>
                </a:solidFill>
                <a:latin typeface="Arial"/>
                <a:cs typeface="Arial"/>
              </a:rPr>
              <a:t>checker.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sp>
          <p:nvSpPr>
            <p:cNvPr id="9" name="object 9"/>
            <p:cNvSpPr/>
            <p:nvPr/>
          </p:nvSpPr>
          <p:spPr>
            <a:xfrm>
              <a:off x="8593835" y="6620255"/>
              <a:ext cx="550164" cy="23774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630411" y="6556243"/>
              <a:ext cx="513588" cy="3017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144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2734055" y="202679"/>
              <a:ext cx="3671316" cy="9342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008502" y="321386"/>
            <a:ext cx="312610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0" dirty="0"/>
              <a:t>PARITY</a:t>
            </a:r>
            <a:r>
              <a:rPr spc="-90" dirty="0"/>
              <a:t> </a:t>
            </a:r>
            <a:r>
              <a:rPr spc="-30" dirty="0"/>
              <a:t>CHECKER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sp>
          <p:nvSpPr>
            <p:cNvPr id="8" name="object 8"/>
            <p:cNvSpPr/>
            <p:nvPr/>
          </p:nvSpPr>
          <p:spPr>
            <a:xfrm>
              <a:off x="8593835" y="6620255"/>
              <a:ext cx="550164" cy="23774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630411" y="6556243"/>
              <a:ext cx="513588" cy="3017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129408" y="6174435"/>
            <a:ext cx="48025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35" dirty="0">
                <a:latin typeface="Arial"/>
                <a:cs typeface="Arial"/>
              </a:rPr>
              <a:t>Parity </a:t>
            </a:r>
            <a:r>
              <a:rPr sz="2400" b="1" spc="-285" dirty="0">
                <a:latin typeface="Arial"/>
                <a:cs typeface="Arial"/>
              </a:rPr>
              <a:t>checker </a:t>
            </a:r>
            <a:r>
              <a:rPr sz="2400" b="1" spc="-180" dirty="0">
                <a:latin typeface="Arial"/>
                <a:cs typeface="Arial"/>
              </a:rPr>
              <a:t>truth </a:t>
            </a:r>
            <a:r>
              <a:rPr sz="2400" b="1" spc="-229" dirty="0">
                <a:latin typeface="Arial"/>
                <a:cs typeface="Arial"/>
              </a:rPr>
              <a:t>table </a:t>
            </a:r>
            <a:r>
              <a:rPr sz="2400" b="1" spc="-170" dirty="0">
                <a:latin typeface="Arial"/>
                <a:cs typeface="Arial"/>
              </a:rPr>
              <a:t>for </a:t>
            </a:r>
            <a:r>
              <a:rPr sz="2400" b="1" spc="-295" dirty="0">
                <a:latin typeface="Arial"/>
                <a:cs typeface="Arial"/>
              </a:rPr>
              <a:t>even</a:t>
            </a:r>
            <a:r>
              <a:rPr sz="2400" b="1" spc="-409" dirty="0">
                <a:latin typeface="Arial"/>
                <a:cs typeface="Arial"/>
              </a:rPr>
              <a:t> </a:t>
            </a:r>
            <a:r>
              <a:rPr sz="2400" b="1" spc="-200" dirty="0">
                <a:latin typeface="Arial"/>
                <a:cs typeface="Arial"/>
              </a:rPr>
              <a:t>parity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996185" y="1111758"/>
            <a:ext cx="5181600" cy="54559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1989835" y="1105408"/>
          <a:ext cx="5200650" cy="4841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562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93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93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74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992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7715">
                <a:tc gridSpan="4">
                  <a:txBody>
                    <a:bodyPr/>
                    <a:lstStyle/>
                    <a:p>
                      <a:pPr marL="972819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b="1" spc="-5" dirty="0">
                          <a:latin typeface="Palladio Uralic"/>
                          <a:cs typeface="Palladio Uralic"/>
                        </a:rPr>
                        <a:t>4-Bit</a:t>
                      </a:r>
                      <a:r>
                        <a:rPr sz="1600" b="1" spc="5" dirty="0">
                          <a:latin typeface="Palladio Uralic"/>
                          <a:cs typeface="Palladio Uralic"/>
                        </a:rPr>
                        <a:t> </a:t>
                      </a:r>
                      <a:r>
                        <a:rPr sz="1600" b="1" spc="-5" dirty="0">
                          <a:latin typeface="Palladio Uralic"/>
                          <a:cs typeface="Palladio Uralic"/>
                        </a:rPr>
                        <a:t>Received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600" b="1" spc="-5" dirty="0">
                          <a:latin typeface="Palladio Uralic"/>
                          <a:cs typeface="Palladio Uralic"/>
                        </a:rPr>
                        <a:t>Parity Error</a:t>
                      </a:r>
                      <a:r>
                        <a:rPr sz="1600" b="1" spc="-10" dirty="0">
                          <a:latin typeface="Palladio Uralic"/>
                          <a:cs typeface="Palladio Uralic"/>
                        </a:rPr>
                        <a:t> </a:t>
                      </a:r>
                      <a:r>
                        <a:rPr sz="1600" b="1" spc="-5" dirty="0">
                          <a:latin typeface="Palladio Uralic"/>
                          <a:cs typeface="Palladio Uralic"/>
                        </a:rPr>
                        <a:t>Check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600" b="1" spc="-5" dirty="0">
                          <a:latin typeface="Palladio Uralic"/>
                          <a:cs typeface="Palladio Uralic"/>
                        </a:rPr>
                        <a:t>(PEC)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24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600" b="1" dirty="0">
                          <a:latin typeface="Palladio Uralic"/>
                          <a:cs typeface="Palladio Uralic"/>
                        </a:rPr>
                        <a:t>A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133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671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600" b="1" dirty="0">
                          <a:latin typeface="Palladio Uralic"/>
                          <a:cs typeface="Palladio Uralic"/>
                        </a:rPr>
                        <a:t>B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133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099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600" b="1" dirty="0">
                          <a:latin typeface="Palladio Uralic"/>
                          <a:cs typeface="Palladio Uralic"/>
                        </a:rPr>
                        <a:t>C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133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274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600" b="1" dirty="0">
                          <a:latin typeface="Palladio Uralic"/>
                          <a:cs typeface="Palladio Uralic"/>
                        </a:rPr>
                        <a:t>P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133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7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385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385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290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91540" algn="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7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385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385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290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91540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77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385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385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290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91540" algn="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77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385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385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290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91540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77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385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385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290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91540" algn="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77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385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385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290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91540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77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385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385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290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91540" algn="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77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385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385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290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91540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77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385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385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290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91540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77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385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385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290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91540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77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385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385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290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91540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77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385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385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290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91540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77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385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385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290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91540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77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385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385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290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91540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676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95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38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95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38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95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290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95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9154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95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677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95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38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95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38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95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290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95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9154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95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145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2734055" y="202679"/>
              <a:ext cx="3671316" cy="9342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008502" y="321386"/>
            <a:ext cx="312610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0" dirty="0"/>
              <a:t>PARITY</a:t>
            </a:r>
            <a:r>
              <a:rPr spc="-90" dirty="0"/>
              <a:t> </a:t>
            </a:r>
            <a:r>
              <a:rPr spc="-30" dirty="0"/>
              <a:t>CHECKER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457200" y="1524000"/>
            <a:ext cx="8691880" cy="5334000"/>
            <a:chOff x="457200" y="1524000"/>
            <a:chExt cx="8691880" cy="5334000"/>
          </a:xfrm>
        </p:grpSpPr>
        <p:sp>
          <p:nvSpPr>
            <p:cNvPr id="8" name="object 8"/>
            <p:cNvSpPr/>
            <p:nvPr/>
          </p:nvSpPr>
          <p:spPr>
            <a:xfrm>
              <a:off x="8593835" y="6620254"/>
              <a:ext cx="550164" cy="23774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630411" y="6556242"/>
              <a:ext cx="513588" cy="3017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641080" y="6644640"/>
              <a:ext cx="502920" cy="1828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7200" y="1524000"/>
              <a:ext cx="8305800" cy="4544568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146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2734055" y="202679"/>
              <a:ext cx="3671316" cy="9342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008502" y="321386"/>
            <a:ext cx="312610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0" dirty="0"/>
              <a:t>PARITY</a:t>
            </a:r>
            <a:r>
              <a:rPr spc="-90" dirty="0"/>
              <a:t> </a:t>
            </a:r>
            <a:r>
              <a:rPr spc="-30" dirty="0"/>
              <a:t>CHECKER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381000" y="2286000"/>
            <a:ext cx="8768080" cy="4572000"/>
            <a:chOff x="381000" y="2286000"/>
            <a:chExt cx="8768080" cy="4572000"/>
          </a:xfrm>
        </p:grpSpPr>
        <p:sp>
          <p:nvSpPr>
            <p:cNvPr id="8" name="object 8"/>
            <p:cNvSpPr/>
            <p:nvPr/>
          </p:nvSpPr>
          <p:spPr>
            <a:xfrm>
              <a:off x="8593835" y="6620254"/>
              <a:ext cx="550164" cy="23774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630411" y="6556242"/>
              <a:ext cx="513588" cy="3017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641080" y="6644640"/>
              <a:ext cx="502920" cy="1828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81000" y="2286000"/>
              <a:ext cx="8229600" cy="311048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147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2734055" y="202679"/>
              <a:ext cx="3671316" cy="9342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008502" y="321386"/>
            <a:ext cx="312610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0" dirty="0"/>
              <a:t>PARITY</a:t>
            </a:r>
            <a:r>
              <a:rPr spc="-90" dirty="0"/>
              <a:t> </a:t>
            </a:r>
            <a:r>
              <a:rPr spc="-30" dirty="0"/>
              <a:t>CHECKER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83540" y="1075464"/>
            <a:ext cx="8378190" cy="5372100"/>
          </a:xfrm>
          <a:prstGeom prst="rect">
            <a:avLst/>
          </a:prstGeom>
        </p:spPr>
        <p:txBody>
          <a:bodyPr vert="horz" wrap="square" lIns="0" tIns="1574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40"/>
              </a:spcBef>
            </a:pPr>
            <a:r>
              <a:rPr sz="2000" b="1" spc="-145" dirty="0">
                <a:solidFill>
                  <a:srgbClr val="C00000"/>
                </a:solidFill>
                <a:latin typeface="Arial"/>
                <a:cs typeface="Arial"/>
              </a:rPr>
              <a:t>APPLICATIONS</a:t>
            </a:r>
            <a:endParaRPr sz="2000">
              <a:latin typeface="Arial"/>
              <a:cs typeface="Arial"/>
            </a:endParaRPr>
          </a:p>
          <a:p>
            <a:pPr marL="476884" marR="5080" indent="-464820" algn="just">
              <a:lnSpc>
                <a:spcPct val="100000"/>
              </a:lnSpc>
              <a:spcBef>
                <a:spcPts val="1590"/>
              </a:spcBef>
              <a:buClr>
                <a:srgbClr val="F79546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Parity </a:t>
            </a:r>
            <a:r>
              <a:rPr sz="2800" spc="-55" dirty="0">
                <a:solidFill>
                  <a:srgbClr val="006FC0"/>
                </a:solidFill>
                <a:latin typeface="Arial"/>
                <a:cs typeface="Arial"/>
              </a:rPr>
              <a:t>bit </a:t>
            </a:r>
            <a:r>
              <a:rPr sz="2800" spc="-195" dirty="0">
                <a:solidFill>
                  <a:srgbClr val="006FC0"/>
                </a:solidFill>
                <a:latin typeface="Arial"/>
                <a:cs typeface="Arial"/>
              </a:rPr>
              <a:t>generator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800" spc="-310" dirty="0">
                <a:solidFill>
                  <a:srgbClr val="006FC0"/>
                </a:solidFill>
                <a:latin typeface="Arial"/>
                <a:cs typeface="Arial"/>
              </a:rPr>
              <a:t>used </a:t>
            </a:r>
            <a:r>
              <a:rPr sz="2800" spc="-114" dirty="0">
                <a:solidFill>
                  <a:srgbClr val="006FC0"/>
                </a:solidFill>
                <a:latin typeface="Arial"/>
                <a:cs typeface="Arial"/>
              </a:rPr>
              <a:t>in </a:t>
            </a:r>
            <a:r>
              <a:rPr sz="2800" spc="-130" dirty="0">
                <a:solidFill>
                  <a:srgbClr val="006FC0"/>
                </a:solidFill>
                <a:latin typeface="Arial"/>
                <a:cs typeface="Arial"/>
              </a:rPr>
              <a:t>digital </a:t>
            </a:r>
            <a:r>
              <a:rPr sz="2800" spc="-200" dirty="0">
                <a:solidFill>
                  <a:srgbClr val="006FC0"/>
                </a:solidFill>
                <a:latin typeface="Arial"/>
                <a:cs typeface="Arial"/>
              </a:rPr>
              <a:t>communications  </a:t>
            </a:r>
            <a:r>
              <a:rPr sz="2800" spc="-235" dirty="0">
                <a:solidFill>
                  <a:srgbClr val="006FC0"/>
                </a:solidFill>
                <a:latin typeface="Arial"/>
                <a:cs typeface="Arial"/>
              </a:rPr>
              <a:t>where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405" dirty="0">
                <a:solidFill>
                  <a:srgbClr val="006FC0"/>
                </a:solidFill>
                <a:latin typeface="Arial"/>
                <a:cs typeface="Arial"/>
              </a:rPr>
              <a:t>messages 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are </a:t>
            </a:r>
            <a:r>
              <a:rPr sz="2800" spc="-155" dirty="0">
                <a:solidFill>
                  <a:srgbClr val="006FC0"/>
                </a:solidFill>
                <a:latin typeface="Arial"/>
                <a:cs typeface="Arial"/>
              </a:rPr>
              <a:t>transmitted </a:t>
            </a:r>
            <a:r>
              <a:rPr sz="2800" spc="-110" dirty="0">
                <a:solidFill>
                  <a:srgbClr val="006FC0"/>
                </a:solidFill>
                <a:latin typeface="Arial"/>
                <a:cs typeface="Arial"/>
              </a:rPr>
              <a:t>in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00" dirty="0">
                <a:solidFill>
                  <a:srgbClr val="006FC0"/>
                </a:solidFill>
                <a:latin typeface="Arial"/>
                <a:cs typeface="Arial"/>
              </a:rPr>
              <a:t>form </a:t>
            </a:r>
            <a:r>
              <a:rPr sz="2800" spc="-80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1’s  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and</a:t>
            </a:r>
            <a:r>
              <a:rPr sz="2800" spc="-1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0’s.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F79546"/>
              </a:buClr>
              <a:buFont typeface="Wingdings"/>
              <a:buChar char=""/>
            </a:pPr>
            <a:endParaRPr sz="2900">
              <a:latin typeface="Arial"/>
              <a:cs typeface="Arial"/>
            </a:endParaRPr>
          </a:p>
          <a:p>
            <a:pPr marL="476884" marR="5080" indent="-464820" algn="just">
              <a:lnSpc>
                <a:spcPct val="100000"/>
              </a:lnSpc>
              <a:buClr>
                <a:srgbClr val="F79546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355" dirty="0">
                <a:solidFill>
                  <a:srgbClr val="006FC0"/>
                </a:solidFill>
                <a:latin typeface="Arial"/>
                <a:cs typeface="Arial"/>
              </a:rPr>
              <a:t>SCSI 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spc="-285" dirty="0">
                <a:solidFill>
                  <a:srgbClr val="006FC0"/>
                </a:solidFill>
                <a:latin typeface="Arial"/>
                <a:cs typeface="Arial"/>
              </a:rPr>
              <a:t>PCI </a:t>
            </a:r>
            <a:r>
              <a:rPr sz="2800" spc="-365" dirty="0">
                <a:solidFill>
                  <a:srgbClr val="006FC0"/>
                </a:solidFill>
                <a:latin typeface="Arial"/>
                <a:cs typeface="Arial"/>
              </a:rPr>
              <a:t>buses </a:t>
            </a:r>
            <a:r>
              <a:rPr sz="2800" spc="-360" dirty="0">
                <a:solidFill>
                  <a:srgbClr val="006FC0"/>
                </a:solidFill>
                <a:latin typeface="Arial"/>
                <a:cs typeface="Arial"/>
              </a:rPr>
              <a:t>use </a:t>
            </a:r>
            <a:r>
              <a:rPr sz="2800" spc="-110" dirty="0">
                <a:solidFill>
                  <a:srgbClr val="006FC0"/>
                </a:solidFill>
                <a:latin typeface="Arial"/>
                <a:cs typeface="Arial"/>
              </a:rPr>
              <a:t>parity </a:t>
            </a:r>
            <a:r>
              <a:rPr sz="2800" spc="-55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800" spc="-160" dirty="0">
                <a:solidFill>
                  <a:srgbClr val="006FC0"/>
                </a:solidFill>
                <a:latin typeface="Arial"/>
                <a:cs typeface="Arial"/>
              </a:rPr>
              <a:t>detect </a:t>
            </a:r>
            <a:r>
              <a:rPr sz="2800" spc="-225" dirty="0">
                <a:solidFill>
                  <a:srgbClr val="006FC0"/>
                </a:solidFill>
                <a:latin typeface="Arial"/>
                <a:cs typeface="Arial"/>
              </a:rPr>
              <a:t>transmission 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errors, </a:t>
            </a:r>
            <a:r>
              <a:rPr sz="2800" spc="-260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many </a:t>
            </a:r>
            <a:r>
              <a:rPr sz="2800" spc="-200" dirty="0">
                <a:solidFill>
                  <a:srgbClr val="006FC0"/>
                </a:solidFill>
                <a:latin typeface="Arial"/>
                <a:cs typeface="Arial"/>
              </a:rPr>
              <a:t>microprocessor </a:t>
            </a:r>
            <a:r>
              <a:rPr sz="2800" spc="-135" dirty="0">
                <a:solidFill>
                  <a:srgbClr val="006FC0"/>
                </a:solidFill>
                <a:latin typeface="Arial"/>
                <a:cs typeface="Arial"/>
              </a:rPr>
              <a:t>instruction </a:t>
            </a:r>
            <a:r>
              <a:rPr sz="2800" spc="-325" dirty="0">
                <a:solidFill>
                  <a:srgbClr val="006FC0"/>
                </a:solidFill>
                <a:latin typeface="Arial"/>
                <a:cs typeface="Arial"/>
              </a:rPr>
              <a:t>caches 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include </a:t>
            </a:r>
            <a:r>
              <a:rPr sz="2800" spc="-110" dirty="0">
                <a:solidFill>
                  <a:srgbClr val="006FC0"/>
                </a:solidFill>
                <a:latin typeface="Arial"/>
                <a:cs typeface="Arial"/>
              </a:rPr>
              <a:t>parity</a:t>
            </a:r>
            <a:r>
              <a:rPr sz="2800" spc="13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120" dirty="0">
                <a:solidFill>
                  <a:srgbClr val="006FC0"/>
                </a:solidFill>
                <a:latin typeface="Arial"/>
                <a:cs typeface="Arial"/>
              </a:rPr>
              <a:t>protection.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F79546"/>
              </a:buClr>
              <a:buFont typeface="Wingdings"/>
              <a:buChar char=""/>
            </a:pPr>
            <a:endParaRPr sz="2900">
              <a:latin typeface="Arial"/>
              <a:cs typeface="Arial"/>
            </a:endParaRPr>
          </a:p>
          <a:p>
            <a:pPr marL="476884" marR="5715" indent="-464820" algn="just">
              <a:lnSpc>
                <a:spcPct val="100000"/>
              </a:lnSpc>
              <a:buClr>
                <a:srgbClr val="F79546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-100" dirty="0">
                <a:solidFill>
                  <a:srgbClr val="006FC0"/>
                </a:solidFill>
                <a:latin typeface="Arial"/>
                <a:cs typeface="Arial"/>
              </a:rPr>
              <a:t>In </a:t>
            </a:r>
            <a:r>
              <a:rPr sz="2800" spc="-215" dirty="0">
                <a:solidFill>
                  <a:srgbClr val="006FC0"/>
                </a:solidFill>
                <a:latin typeface="Arial"/>
                <a:cs typeface="Arial"/>
              </a:rPr>
              <a:t>serial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communication </a:t>
            </a:r>
            <a:r>
              <a:rPr sz="2800" spc="-190" dirty="0">
                <a:solidFill>
                  <a:srgbClr val="006FC0"/>
                </a:solidFill>
                <a:latin typeface="Arial"/>
                <a:cs typeface="Arial"/>
              </a:rPr>
              <a:t>contexts, </a:t>
            </a:r>
            <a:r>
              <a:rPr sz="2800" spc="-110" dirty="0">
                <a:solidFill>
                  <a:srgbClr val="006FC0"/>
                </a:solidFill>
                <a:latin typeface="Arial"/>
                <a:cs typeface="Arial"/>
              </a:rPr>
              <a:t>parity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800" spc="-220" dirty="0">
                <a:solidFill>
                  <a:srgbClr val="006FC0"/>
                </a:solidFill>
                <a:latin typeface="Arial"/>
                <a:cs typeface="Arial"/>
              </a:rPr>
              <a:t>usually  </a:t>
            </a:r>
            <a:r>
              <a:rPr sz="2800" spc="-235" dirty="0">
                <a:solidFill>
                  <a:srgbClr val="006FC0"/>
                </a:solidFill>
                <a:latin typeface="Arial"/>
                <a:cs typeface="Arial"/>
              </a:rPr>
              <a:t>generated 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checked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by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interface </a:t>
            </a:r>
            <a:r>
              <a:rPr sz="2800" spc="-225" dirty="0">
                <a:solidFill>
                  <a:srgbClr val="006FC0"/>
                </a:solidFill>
                <a:latin typeface="Arial"/>
                <a:cs typeface="Arial"/>
              </a:rPr>
              <a:t>hardware </a:t>
            </a:r>
            <a:r>
              <a:rPr sz="2800" spc="-240" dirty="0">
                <a:solidFill>
                  <a:srgbClr val="006FC0"/>
                </a:solidFill>
                <a:latin typeface="Arial"/>
                <a:cs typeface="Arial"/>
              </a:rPr>
              <a:t>(e.g.,  </a:t>
            </a:r>
            <a:r>
              <a:rPr sz="2800" spc="-395" dirty="0">
                <a:solidFill>
                  <a:srgbClr val="006FC0"/>
                </a:solidFill>
                <a:latin typeface="Arial"/>
                <a:cs typeface="Arial"/>
              </a:rPr>
              <a:t>a  </a:t>
            </a:r>
            <a:r>
              <a:rPr sz="2800" spc="-140" dirty="0">
                <a:solidFill>
                  <a:srgbClr val="006FC0"/>
                </a:solidFill>
                <a:latin typeface="Arial"/>
                <a:cs typeface="Arial"/>
              </a:rPr>
              <a:t>UART)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sp>
          <p:nvSpPr>
            <p:cNvPr id="9" name="object 9"/>
            <p:cNvSpPr/>
            <p:nvPr/>
          </p:nvSpPr>
          <p:spPr>
            <a:xfrm>
              <a:off x="8593835" y="6620255"/>
              <a:ext cx="550164" cy="23774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630411" y="6556243"/>
              <a:ext cx="513588" cy="3017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768842" y="6649770"/>
            <a:ext cx="296545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spc="-5" dirty="0">
                <a:solidFill>
                  <a:srgbClr val="FFFFFF"/>
                </a:solidFill>
                <a:latin typeface="Carlito"/>
                <a:cs typeface="Carlito"/>
              </a:rPr>
              <a:t>144</a:t>
            </a:r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9080" cy="6841490"/>
            <a:chOff x="0" y="16764"/>
            <a:chExt cx="9149080" cy="6841490"/>
          </a:xfrm>
        </p:grpSpPr>
        <p:sp>
          <p:nvSpPr>
            <p:cNvPr id="3" name="object 3"/>
            <p:cNvSpPr/>
            <p:nvPr/>
          </p:nvSpPr>
          <p:spPr>
            <a:xfrm>
              <a:off x="1493519" y="1455419"/>
              <a:ext cx="6983730" cy="409270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593835" y="6620254"/>
              <a:ext cx="550164" cy="23774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630411" y="6556243"/>
              <a:ext cx="513588" cy="30175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641080" y="6644640"/>
              <a:ext cx="502920" cy="18288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148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2939795" y="202679"/>
              <a:ext cx="3259835" cy="9342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214242" y="321386"/>
            <a:ext cx="271462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70" dirty="0"/>
              <a:t>MULTIPLEXERS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94640" y="1195169"/>
            <a:ext cx="8540750" cy="5165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65785" marR="78740" indent="-464820" algn="just">
              <a:lnSpc>
                <a:spcPct val="99600"/>
              </a:lnSpc>
              <a:spcBef>
                <a:spcPts val="110"/>
              </a:spcBef>
              <a:buClr>
                <a:srgbClr val="E36C09"/>
              </a:buClr>
              <a:buFont typeface="Wingdings"/>
              <a:buChar char=""/>
              <a:tabLst>
                <a:tab pos="566420" algn="l"/>
              </a:tabLst>
            </a:pPr>
            <a:r>
              <a:rPr sz="2800" b="1" spc="-20" dirty="0">
                <a:solidFill>
                  <a:srgbClr val="006FC0"/>
                </a:solidFill>
                <a:latin typeface="Arial"/>
                <a:cs typeface="Arial"/>
              </a:rPr>
              <a:t>A </a:t>
            </a:r>
            <a:r>
              <a:rPr sz="2950" b="1" i="1" spc="-300" dirty="0">
                <a:latin typeface="Arial"/>
                <a:cs typeface="Arial"/>
              </a:rPr>
              <a:t>Multiplexer </a:t>
            </a:r>
            <a:r>
              <a:rPr sz="2800" b="1" spc="-235" dirty="0">
                <a:latin typeface="Arial"/>
                <a:cs typeface="Arial"/>
              </a:rPr>
              <a:t>or </a:t>
            </a:r>
            <a:r>
              <a:rPr sz="2950" b="1" i="1" spc="-165" dirty="0">
                <a:latin typeface="Arial"/>
                <a:cs typeface="Arial"/>
              </a:rPr>
              <a:t>MUX</a:t>
            </a:r>
            <a:r>
              <a:rPr sz="2800" spc="-165" dirty="0">
                <a:latin typeface="Arial"/>
                <a:cs typeface="Arial"/>
              </a:rPr>
              <a:t>,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800" spc="-395" dirty="0">
                <a:solidFill>
                  <a:srgbClr val="006FC0"/>
                </a:solidFill>
                <a:latin typeface="Arial"/>
                <a:cs typeface="Arial"/>
              </a:rPr>
              <a:t>a</a:t>
            </a:r>
            <a:r>
              <a:rPr sz="2800" spc="-1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combinational </a:t>
            </a:r>
            <a:r>
              <a:rPr sz="2800" spc="-95" dirty="0">
                <a:solidFill>
                  <a:srgbClr val="006FC0"/>
                </a:solidFill>
                <a:latin typeface="Arial"/>
                <a:cs typeface="Arial"/>
              </a:rPr>
              <a:t>circuit </a:t>
            </a:r>
            <a:r>
              <a:rPr sz="2800" spc="-110" dirty="0">
                <a:solidFill>
                  <a:srgbClr val="006FC0"/>
                </a:solidFill>
                <a:latin typeface="Arial"/>
                <a:cs typeface="Arial"/>
              </a:rPr>
              <a:t>with  </a:t>
            </a:r>
            <a:r>
              <a:rPr sz="2800" spc="-185" dirty="0">
                <a:solidFill>
                  <a:srgbClr val="006FC0"/>
                </a:solidFill>
                <a:latin typeface="Arial"/>
                <a:cs typeface="Arial"/>
              </a:rPr>
              <a:t>more </a:t>
            </a:r>
            <a:r>
              <a:rPr sz="2800" spc="-195" dirty="0">
                <a:solidFill>
                  <a:srgbClr val="006FC0"/>
                </a:solidFill>
                <a:latin typeface="Arial"/>
                <a:cs typeface="Arial"/>
              </a:rPr>
              <a:t>than </a:t>
            </a:r>
            <a:r>
              <a:rPr sz="2800" spc="-240" dirty="0">
                <a:solidFill>
                  <a:srgbClr val="006FC0"/>
                </a:solidFill>
                <a:latin typeface="Arial"/>
                <a:cs typeface="Arial"/>
              </a:rPr>
              <a:t>one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input </a:t>
            </a:r>
            <a:r>
              <a:rPr sz="2800" spc="-150" dirty="0">
                <a:solidFill>
                  <a:srgbClr val="006FC0"/>
                </a:solidFill>
                <a:latin typeface="Arial"/>
                <a:cs typeface="Arial"/>
              </a:rPr>
              <a:t>line, </a:t>
            </a:r>
            <a:r>
              <a:rPr sz="2800" spc="-240" dirty="0">
                <a:solidFill>
                  <a:srgbClr val="006FC0"/>
                </a:solidFill>
                <a:latin typeface="Arial"/>
                <a:cs typeface="Arial"/>
              </a:rPr>
              <a:t>one </a:t>
            </a:r>
            <a:r>
              <a:rPr sz="2800" spc="-100" dirty="0">
                <a:solidFill>
                  <a:srgbClr val="006FC0"/>
                </a:solidFill>
                <a:latin typeface="Arial"/>
                <a:cs typeface="Arial"/>
              </a:rPr>
              <a:t>output </a:t>
            </a:r>
            <a:r>
              <a:rPr sz="2800" spc="-150" dirty="0">
                <a:solidFill>
                  <a:srgbClr val="006FC0"/>
                </a:solidFill>
                <a:latin typeface="Arial"/>
                <a:cs typeface="Arial"/>
              </a:rPr>
              <a:t>line </a:t>
            </a:r>
            <a:r>
              <a:rPr sz="2800" spc="-260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spc="-185" dirty="0">
                <a:solidFill>
                  <a:srgbClr val="006FC0"/>
                </a:solidFill>
                <a:latin typeface="Arial"/>
                <a:cs typeface="Arial"/>
              </a:rPr>
              <a:t>more </a:t>
            </a:r>
            <a:r>
              <a:rPr sz="2800" spc="-195" dirty="0">
                <a:solidFill>
                  <a:srgbClr val="006FC0"/>
                </a:solidFill>
                <a:latin typeface="Arial"/>
                <a:cs typeface="Arial"/>
              </a:rPr>
              <a:t>than  </a:t>
            </a:r>
            <a:r>
              <a:rPr sz="2800" spc="-235" dirty="0">
                <a:solidFill>
                  <a:srgbClr val="006FC0"/>
                </a:solidFill>
                <a:latin typeface="Arial"/>
                <a:cs typeface="Arial"/>
              </a:rPr>
              <a:t>one </a:t>
            </a:r>
            <a:r>
              <a:rPr sz="2800" spc="-200" dirty="0">
                <a:solidFill>
                  <a:srgbClr val="006FC0"/>
                </a:solidFill>
                <a:latin typeface="Arial"/>
                <a:cs typeface="Arial"/>
              </a:rPr>
              <a:t>selection</a:t>
            </a:r>
            <a:r>
              <a:rPr sz="2800" spc="-34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150" dirty="0">
                <a:solidFill>
                  <a:srgbClr val="006FC0"/>
                </a:solidFill>
                <a:latin typeface="Arial"/>
                <a:cs typeface="Arial"/>
              </a:rPr>
              <a:t>line.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E36C09"/>
              </a:buClr>
              <a:buFont typeface="Wingdings"/>
              <a:buChar char=""/>
            </a:pPr>
            <a:endParaRPr sz="2900">
              <a:latin typeface="Arial"/>
              <a:cs typeface="Arial"/>
            </a:endParaRPr>
          </a:p>
          <a:p>
            <a:pPr marL="565785" marR="78740" indent="-464820" algn="just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566420" algn="l"/>
              </a:tabLst>
            </a:pPr>
            <a:r>
              <a:rPr sz="2800" spc="135" dirty="0">
                <a:solidFill>
                  <a:srgbClr val="006FC0"/>
                </a:solidFill>
                <a:latin typeface="Arial"/>
                <a:cs typeface="Arial"/>
              </a:rPr>
              <a:t>A </a:t>
            </a:r>
            <a:r>
              <a:rPr sz="2800" spc="-135" dirty="0">
                <a:solidFill>
                  <a:srgbClr val="006FC0"/>
                </a:solidFill>
                <a:latin typeface="Arial"/>
                <a:cs typeface="Arial"/>
              </a:rPr>
              <a:t>multiplexer </a:t>
            </a:r>
            <a:r>
              <a:rPr sz="2800" spc="-275" dirty="0">
                <a:solidFill>
                  <a:srgbClr val="006FC0"/>
                </a:solidFill>
                <a:latin typeface="Arial"/>
                <a:cs typeface="Arial"/>
              </a:rPr>
              <a:t>selects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binary </a:t>
            </a:r>
            <a:r>
              <a:rPr sz="2800" spc="-125" dirty="0">
                <a:solidFill>
                  <a:srgbClr val="006FC0"/>
                </a:solidFill>
                <a:latin typeface="Arial"/>
                <a:cs typeface="Arial"/>
              </a:rPr>
              <a:t>information </a:t>
            </a:r>
            <a:r>
              <a:rPr sz="2800" spc="-220" dirty="0">
                <a:solidFill>
                  <a:srgbClr val="006FC0"/>
                </a:solidFill>
                <a:latin typeface="Arial"/>
                <a:cs typeface="Arial"/>
              </a:rPr>
              <a:t>present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from 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235" dirty="0">
                <a:latin typeface="Arial"/>
                <a:cs typeface="Arial"/>
              </a:rPr>
              <a:t>one </a:t>
            </a:r>
            <a:r>
              <a:rPr sz="2800" spc="-80" dirty="0">
                <a:latin typeface="Arial"/>
                <a:cs typeface="Arial"/>
              </a:rPr>
              <a:t>of </a:t>
            </a:r>
            <a:r>
              <a:rPr sz="2800" spc="-250" dirty="0">
                <a:latin typeface="Arial"/>
                <a:cs typeface="Arial"/>
              </a:rPr>
              <a:t>many </a:t>
            </a:r>
            <a:r>
              <a:rPr sz="2800" spc="-105" dirty="0">
                <a:latin typeface="Arial"/>
                <a:cs typeface="Arial"/>
              </a:rPr>
              <a:t>input </a:t>
            </a:r>
            <a:r>
              <a:rPr sz="2800" spc="-210" dirty="0">
                <a:latin typeface="Arial"/>
                <a:cs typeface="Arial"/>
              </a:rPr>
              <a:t>lines</a:t>
            </a:r>
            <a:r>
              <a:rPr sz="2800" spc="-210" dirty="0">
                <a:solidFill>
                  <a:srgbClr val="006FC0"/>
                </a:solidFill>
                <a:latin typeface="Arial"/>
                <a:cs typeface="Arial"/>
              </a:rPr>
              <a:t>, </a:t>
            </a:r>
            <a:r>
              <a:rPr sz="2800" spc="-220" dirty="0">
                <a:solidFill>
                  <a:srgbClr val="006FC0"/>
                </a:solidFill>
                <a:latin typeface="Arial"/>
                <a:cs typeface="Arial"/>
              </a:rPr>
              <a:t>depending </a:t>
            </a:r>
            <a:r>
              <a:rPr sz="2800" spc="-190" dirty="0">
                <a:solidFill>
                  <a:srgbClr val="006FC0"/>
                </a:solidFill>
                <a:latin typeface="Arial"/>
                <a:cs typeface="Arial"/>
              </a:rPr>
              <a:t>upon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55" dirty="0">
                <a:solidFill>
                  <a:srgbClr val="006FC0"/>
                </a:solidFill>
                <a:latin typeface="Arial"/>
                <a:cs typeface="Arial"/>
              </a:rPr>
              <a:t>logic 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status  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200" dirty="0">
                <a:latin typeface="Arial"/>
                <a:cs typeface="Arial"/>
              </a:rPr>
              <a:t>selection </a:t>
            </a:r>
            <a:r>
              <a:rPr sz="2800" spc="-170" dirty="0">
                <a:latin typeface="Arial"/>
                <a:cs typeface="Arial"/>
              </a:rPr>
              <a:t>inputs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, 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spc="-200" dirty="0">
                <a:solidFill>
                  <a:srgbClr val="006FC0"/>
                </a:solidFill>
                <a:latin typeface="Arial"/>
                <a:cs typeface="Arial"/>
              </a:rPr>
              <a:t>routes </a:t>
            </a:r>
            <a:r>
              <a:rPr sz="2800" spc="25" dirty="0">
                <a:solidFill>
                  <a:srgbClr val="006FC0"/>
                </a:solidFill>
                <a:latin typeface="Arial"/>
                <a:cs typeface="Arial"/>
              </a:rPr>
              <a:t>it </a:t>
            </a:r>
            <a:r>
              <a:rPr sz="2800" spc="-50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05" dirty="0">
                <a:latin typeface="Arial"/>
                <a:cs typeface="Arial"/>
              </a:rPr>
              <a:t>output</a:t>
            </a:r>
            <a:r>
              <a:rPr sz="2800" spc="105" dirty="0">
                <a:latin typeface="Arial"/>
                <a:cs typeface="Arial"/>
              </a:rPr>
              <a:t> </a:t>
            </a:r>
            <a:r>
              <a:rPr sz="2800" spc="-150" dirty="0">
                <a:latin typeface="Arial"/>
                <a:cs typeface="Arial"/>
              </a:rPr>
              <a:t>line</a:t>
            </a:r>
            <a:r>
              <a:rPr sz="2800" spc="-150" dirty="0">
                <a:solidFill>
                  <a:srgbClr val="006FC0"/>
                </a:solidFill>
                <a:latin typeface="Arial"/>
                <a:cs typeface="Arial"/>
              </a:rPr>
              <a:t>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E36C09"/>
              </a:buClr>
              <a:buFont typeface="Wingdings"/>
              <a:buChar char=""/>
            </a:pPr>
            <a:endParaRPr sz="2900">
              <a:latin typeface="Arial"/>
              <a:cs typeface="Arial"/>
            </a:endParaRPr>
          </a:p>
          <a:p>
            <a:pPr marL="565785" marR="77470" indent="-464820" algn="just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566420" algn="l"/>
              </a:tabLst>
            </a:pPr>
            <a:r>
              <a:rPr sz="2800" spc="-120" dirty="0">
                <a:solidFill>
                  <a:srgbClr val="006FC0"/>
                </a:solidFill>
                <a:latin typeface="Arial"/>
                <a:cs typeface="Arial"/>
              </a:rPr>
              <a:t>Normally,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there 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are </a:t>
            </a:r>
            <a:r>
              <a:rPr sz="2800" spc="-265" dirty="0">
                <a:latin typeface="Arial"/>
                <a:cs typeface="Arial"/>
              </a:rPr>
              <a:t>2</a:t>
            </a:r>
            <a:r>
              <a:rPr sz="2775" spc="-397" baseline="25525" dirty="0">
                <a:latin typeface="Arial"/>
                <a:cs typeface="Arial"/>
              </a:rPr>
              <a:t>n </a:t>
            </a:r>
            <a:r>
              <a:rPr sz="2800" spc="-105" dirty="0">
                <a:latin typeface="Arial"/>
                <a:cs typeface="Arial"/>
              </a:rPr>
              <a:t>input </a:t>
            </a:r>
            <a:r>
              <a:rPr sz="2800" spc="-220" dirty="0">
                <a:latin typeface="Arial"/>
                <a:cs typeface="Arial"/>
              </a:rPr>
              <a:t>lines </a:t>
            </a:r>
            <a:r>
              <a:rPr sz="2800" spc="-260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spc="-210" dirty="0">
                <a:latin typeface="Arial"/>
                <a:cs typeface="Arial"/>
              </a:rPr>
              <a:t>n </a:t>
            </a:r>
            <a:r>
              <a:rPr sz="2800" spc="-200" dirty="0">
                <a:latin typeface="Arial"/>
                <a:cs typeface="Arial"/>
              </a:rPr>
              <a:t>selection </a:t>
            </a:r>
            <a:r>
              <a:rPr sz="2800" spc="-225" dirty="0">
                <a:latin typeface="Arial"/>
                <a:cs typeface="Arial"/>
              </a:rPr>
              <a:t>lines </a:t>
            </a:r>
            <a:r>
              <a:rPr sz="2800" spc="-22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295" dirty="0">
                <a:solidFill>
                  <a:srgbClr val="006FC0"/>
                </a:solidFill>
                <a:latin typeface="Arial"/>
                <a:cs typeface="Arial"/>
              </a:rPr>
              <a:t>whose </a:t>
            </a:r>
            <a:r>
              <a:rPr sz="2800" spc="-60" dirty="0">
                <a:solidFill>
                  <a:srgbClr val="006FC0"/>
                </a:solidFill>
                <a:latin typeface="Arial"/>
                <a:cs typeface="Arial"/>
              </a:rPr>
              <a:t>bit </a:t>
            </a:r>
            <a:r>
              <a:rPr sz="2800" spc="-195" dirty="0">
                <a:solidFill>
                  <a:srgbClr val="006FC0"/>
                </a:solidFill>
                <a:latin typeface="Arial"/>
                <a:cs typeface="Arial"/>
              </a:rPr>
              <a:t>combinations </a:t>
            </a:r>
            <a:r>
              <a:rPr sz="2800" spc="-180" dirty="0">
                <a:solidFill>
                  <a:srgbClr val="006FC0"/>
                </a:solidFill>
                <a:latin typeface="Arial"/>
                <a:cs typeface="Arial"/>
              </a:rPr>
              <a:t>determine </a:t>
            </a:r>
            <a:r>
              <a:rPr sz="2800" spc="-190" dirty="0">
                <a:solidFill>
                  <a:srgbClr val="006FC0"/>
                </a:solidFill>
                <a:latin typeface="Arial"/>
                <a:cs typeface="Arial"/>
              </a:rPr>
              <a:t>which </a:t>
            </a:r>
            <a:r>
              <a:rPr sz="2800" spc="-105" dirty="0">
                <a:latin typeface="Arial"/>
                <a:cs typeface="Arial"/>
              </a:rPr>
              <a:t>input </a:t>
            </a:r>
            <a:r>
              <a:rPr sz="2800" spc="-260" dirty="0">
                <a:latin typeface="Arial"/>
                <a:cs typeface="Arial"/>
              </a:rPr>
              <a:t>is  </a:t>
            </a:r>
            <a:r>
              <a:rPr sz="2800" spc="-229" dirty="0">
                <a:latin typeface="Arial"/>
                <a:cs typeface="Arial"/>
              </a:rPr>
              <a:t>selected</a:t>
            </a: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. </a:t>
            </a:r>
            <a:r>
              <a:rPr sz="2800" spc="-23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35" dirty="0">
                <a:solidFill>
                  <a:srgbClr val="006FC0"/>
                </a:solidFill>
                <a:latin typeface="Arial"/>
                <a:cs typeface="Arial"/>
              </a:rPr>
              <a:t>multiplexer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800" spc="-135" dirty="0">
                <a:solidFill>
                  <a:srgbClr val="006FC0"/>
                </a:solidFill>
                <a:latin typeface="Arial"/>
                <a:cs typeface="Arial"/>
              </a:rPr>
              <a:t>often </a:t>
            </a:r>
            <a:r>
              <a:rPr sz="2800" spc="-215" dirty="0">
                <a:solidFill>
                  <a:srgbClr val="006FC0"/>
                </a:solidFill>
                <a:latin typeface="Arial"/>
                <a:cs typeface="Arial"/>
              </a:rPr>
              <a:t>labeled  </a:t>
            </a:r>
            <a:r>
              <a:rPr sz="2800" spc="-455" dirty="0">
                <a:solidFill>
                  <a:srgbClr val="006FC0"/>
                </a:solidFill>
                <a:latin typeface="Arial"/>
                <a:cs typeface="Arial"/>
              </a:rPr>
              <a:t>as </a:t>
            </a:r>
            <a:r>
              <a:rPr sz="2800" spc="-60" dirty="0">
                <a:solidFill>
                  <a:srgbClr val="006FC0"/>
                </a:solidFill>
                <a:latin typeface="Arial"/>
                <a:cs typeface="Arial"/>
              </a:rPr>
              <a:t>MUX </a:t>
            </a:r>
            <a:r>
              <a:rPr sz="2800" spc="-110" dirty="0">
                <a:solidFill>
                  <a:srgbClr val="006FC0"/>
                </a:solidFill>
                <a:latin typeface="Arial"/>
                <a:cs typeface="Arial"/>
              </a:rPr>
              <a:t>in  </a:t>
            </a:r>
            <a:r>
              <a:rPr sz="2800" spc="-160" dirty="0">
                <a:solidFill>
                  <a:srgbClr val="006FC0"/>
                </a:solidFill>
                <a:latin typeface="Arial"/>
                <a:cs typeface="Arial"/>
              </a:rPr>
              <a:t>block</a:t>
            </a:r>
            <a:r>
              <a:rPr sz="2800" spc="-1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diagrams.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sp>
          <p:nvSpPr>
            <p:cNvPr id="9" name="object 9"/>
            <p:cNvSpPr/>
            <p:nvPr/>
          </p:nvSpPr>
          <p:spPr>
            <a:xfrm>
              <a:off x="8593835" y="6620255"/>
              <a:ext cx="550164" cy="23774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630411" y="6556243"/>
              <a:ext cx="513588" cy="3017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149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793241" y="982217"/>
              <a:ext cx="7589519" cy="762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6764"/>
              <a:ext cx="9143999" cy="668274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53439" y="320001"/>
              <a:ext cx="7434072" cy="57611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939795" y="202679"/>
              <a:ext cx="3259835" cy="93422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214242" y="321386"/>
            <a:ext cx="271462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70" dirty="0"/>
              <a:t>MULTIPLEXERS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3540" y="1214373"/>
            <a:ext cx="8377555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76884" marR="5080" indent="-464820" algn="just">
              <a:lnSpc>
                <a:spcPct val="100000"/>
              </a:lnSpc>
              <a:spcBef>
                <a:spcPts val="95"/>
              </a:spcBef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135" dirty="0">
                <a:solidFill>
                  <a:srgbClr val="006FC0"/>
                </a:solidFill>
                <a:latin typeface="Arial"/>
                <a:cs typeface="Arial"/>
              </a:rPr>
              <a:t>A </a:t>
            </a:r>
            <a:r>
              <a:rPr sz="2800" spc="-135" dirty="0">
                <a:solidFill>
                  <a:srgbClr val="006FC0"/>
                </a:solidFill>
                <a:latin typeface="Arial"/>
                <a:cs typeface="Arial"/>
              </a:rPr>
              <a:t>multiplexer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800" spc="-275" dirty="0">
                <a:solidFill>
                  <a:srgbClr val="006FC0"/>
                </a:solidFill>
                <a:latin typeface="Arial"/>
                <a:cs typeface="Arial"/>
              </a:rPr>
              <a:t>also </a:t>
            </a:r>
            <a:r>
              <a:rPr sz="2800" spc="-195" dirty="0">
                <a:solidFill>
                  <a:srgbClr val="006FC0"/>
                </a:solidFill>
                <a:latin typeface="Arial"/>
                <a:cs typeface="Arial"/>
              </a:rPr>
              <a:t>called </a:t>
            </a:r>
            <a:r>
              <a:rPr sz="2800" spc="-395" dirty="0">
                <a:solidFill>
                  <a:srgbClr val="006FC0"/>
                </a:solidFill>
                <a:latin typeface="Arial"/>
                <a:cs typeface="Arial"/>
              </a:rPr>
              <a:t>a </a:t>
            </a:r>
            <a:r>
              <a:rPr sz="2800" b="1" spc="-300" dirty="0">
                <a:latin typeface="Arial"/>
                <a:cs typeface="Arial"/>
              </a:rPr>
              <a:t>data </a:t>
            </a:r>
            <a:r>
              <a:rPr sz="2800" b="1" spc="-295" dirty="0">
                <a:latin typeface="Arial"/>
                <a:cs typeface="Arial"/>
              </a:rPr>
              <a:t>selector</a:t>
            </a:r>
            <a:r>
              <a:rPr sz="2800" spc="-295" dirty="0">
                <a:solidFill>
                  <a:srgbClr val="006FC0"/>
                </a:solidFill>
                <a:latin typeface="Arial"/>
                <a:cs typeface="Arial"/>
              </a:rPr>
              <a:t>,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since </a:t>
            </a:r>
            <a:r>
              <a:rPr sz="2800" spc="25" dirty="0">
                <a:solidFill>
                  <a:srgbClr val="006FC0"/>
                </a:solidFill>
                <a:latin typeface="Arial"/>
                <a:cs typeface="Arial"/>
              </a:rPr>
              <a:t>it </a:t>
            </a:r>
            <a:r>
              <a:rPr sz="2800" spc="-275" dirty="0">
                <a:solidFill>
                  <a:srgbClr val="006FC0"/>
                </a:solidFill>
                <a:latin typeface="Arial"/>
                <a:cs typeface="Arial"/>
              </a:rPr>
              <a:t>selects  </a:t>
            </a:r>
            <a:r>
              <a:rPr sz="2800" spc="-235" dirty="0">
                <a:solidFill>
                  <a:srgbClr val="006FC0"/>
                </a:solidFill>
                <a:latin typeface="Arial"/>
                <a:cs typeface="Arial"/>
              </a:rPr>
              <a:t>one 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many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inputs </a:t>
            </a:r>
            <a:r>
              <a:rPr sz="2800" spc="-260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spc="-280" dirty="0">
                <a:solidFill>
                  <a:srgbClr val="006FC0"/>
                </a:solidFill>
                <a:latin typeface="Arial"/>
                <a:cs typeface="Arial"/>
              </a:rPr>
              <a:t>steers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binary </a:t>
            </a:r>
            <a:r>
              <a:rPr sz="2800" spc="-120" dirty="0">
                <a:solidFill>
                  <a:srgbClr val="006FC0"/>
                </a:solidFill>
                <a:latin typeface="Arial"/>
                <a:cs typeface="Arial"/>
              </a:rPr>
              <a:t>information </a:t>
            </a:r>
            <a:r>
              <a:rPr sz="2800" spc="-55" dirty="0">
                <a:solidFill>
                  <a:srgbClr val="006FC0"/>
                </a:solidFill>
                <a:latin typeface="Arial"/>
                <a:cs typeface="Arial"/>
              </a:rPr>
              <a:t>to 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output</a:t>
            </a:r>
            <a:r>
              <a:rPr sz="2800" spc="12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150" dirty="0">
                <a:solidFill>
                  <a:srgbClr val="006FC0"/>
                </a:solidFill>
                <a:latin typeface="Arial"/>
                <a:cs typeface="Arial"/>
              </a:rPr>
              <a:t>line.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209800" y="2895600"/>
            <a:ext cx="6939280" cy="3962400"/>
            <a:chOff x="2209800" y="2895600"/>
            <a:chExt cx="6939280" cy="3962400"/>
          </a:xfrm>
        </p:grpSpPr>
        <p:sp>
          <p:nvSpPr>
            <p:cNvPr id="14" name="object 14"/>
            <p:cNvSpPr/>
            <p:nvPr/>
          </p:nvSpPr>
          <p:spPr>
            <a:xfrm>
              <a:off x="8593835" y="6620254"/>
              <a:ext cx="550164" cy="23774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630411" y="6556242"/>
              <a:ext cx="513588" cy="30175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209800" y="2895600"/>
              <a:ext cx="5410200" cy="2819400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669794" y="5865672"/>
            <a:ext cx="399922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355" dirty="0">
                <a:latin typeface="Arial"/>
                <a:cs typeface="Arial"/>
              </a:rPr>
              <a:t>Block </a:t>
            </a:r>
            <a:r>
              <a:rPr sz="2800" b="1" spc="-330" dirty="0">
                <a:latin typeface="Arial"/>
                <a:cs typeface="Arial"/>
              </a:rPr>
              <a:t>diagram </a:t>
            </a:r>
            <a:r>
              <a:rPr sz="2800" b="1" spc="-225" dirty="0">
                <a:latin typeface="Arial"/>
                <a:cs typeface="Arial"/>
              </a:rPr>
              <a:t>of</a:t>
            </a:r>
            <a:r>
              <a:rPr sz="2800" b="1" spc="-325" dirty="0">
                <a:latin typeface="Arial"/>
                <a:cs typeface="Arial"/>
              </a:rPr>
              <a:t> </a:t>
            </a:r>
            <a:r>
              <a:rPr sz="2800" b="1" spc="-225" dirty="0">
                <a:latin typeface="Arial"/>
                <a:cs typeface="Arial"/>
              </a:rPr>
              <a:t>Multiplexer</a:t>
            </a:r>
            <a:endParaRPr sz="2800">
              <a:latin typeface="Arial"/>
              <a:cs typeface="Aria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150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2939795" y="202679"/>
              <a:ext cx="3259835" cy="9342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214242" y="321386"/>
            <a:ext cx="271462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70" dirty="0"/>
              <a:t>MULTIPLEXERS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sp>
          <p:nvSpPr>
            <p:cNvPr id="8" name="object 8"/>
            <p:cNvSpPr/>
            <p:nvPr/>
          </p:nvSpPr>
          <p:spPr>
            <a:xfrm>
              <a:off x="8593835" y="6620255"/>
              <a:ext cx="550164" cy="23774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630411" y="6556243"/>
              <a:ext cx="513588" cy="3017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32740" y="1047999"/>
            <a:ext cx="8477250" cy="526732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R="122555" algn="ctr">
              <a:lnSpc>
                <a:spcPct val="100000"/>
              </a:lnSpc>
              <a:spcBef>
                <a:spcPts val="894"/>
              </a:spcBef>
            </a:pPr>
            <a:r>
              <a:rPr sz="2000" b="1" spc="-225" dirty="0">
                <a:solidFill>
                  <a:srgbClr val="C00000"/>
                </a:solidFill>
                <a:latin typeface="Arial"/>
                <a:cs typeface="Arial"/>
              </a:rPr>
              <a:t>2:1</a:t>
            </a:r>
            <a:r>
              <a:rPr sz="2000" b="1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30" dirty="0">
                <a:solidFill>
                  <a:srgbClr val="C00000"/>
                </a:solidFill>
                <a:latin typeface="Arial"/>
                <a:cs typeface="Arial"/>
              </a:rPr>
              <a:t>MUX</a:t>
            </a:r>
            <a:endParaRPr sz="2000">
              <a:latin typeface="Arial"/>
              <a:cs typeface="Arial"/>
            </a:endParaRPr>
          </a:p>
          <a:p>
            <a:pPr marL="527685" marR="54610" indent="-464820">
              <a:lnSpc>
                <a:spcPct val="100000"/>
              </a:lnSpc>
              <a:spcBef>
                <a:spcPts val="1110"/>
              </a:spcBef>
              <a:buClr>
                <a:srgbClr val="E36C09"/>
              </a:buClr>
              <a:buFont typeface="Wingdings"/>
              <a:buChar char=""/>
              <a:tabLst>
                <a:tab pos="527685" algn="l"/>
                <a:tab pos="528320" algn="l"/>
                <a:tab pos="1233805" algn="l"/>
                <a:tab pos="1806575" algn="l"/>
                <a:tab pos="3520440" algn="l"/>
                <a:tab pos="4213860" algn="l"/>
                <a:tab pos="4855210" algn="l"/>
                <a:tab pos="5352415" algn="l"/>
                <a:tab pos="6863080" algn="l"/>
                <a:tab pos="7882255" algn="l"/>
              </a:tabLst>
            </a:pPr>
            <a:r>
              <a:rPr sz="2800" spc="-180" dirty="0">
                <a:solidFill>
                  <a:srgbClr val="006FC0"/>
                </a:solidFill>
                <a:latin typeface="Arial"/>
                <a:cs typeface="Arial"/>
              </a:rPr>
              <a:t>T</a:t>
            </a:r>
            <a:r>
              <a:rPr sz="2800" spc="-160" dirty="0">
                <a:solidFill>
                  <a:srgbClr val="006FC0"/>
                </a:solidFill>
                <a:latin typeface="Arial"/>
                <a:cs typeface="Arial"/>
              </a:rPr>
              <a:t>h</a:t>
            </a:r>
            <a:r>
              <a:rPr sz="2800" spc="-350" dirty="0">
                <a:solidFill>
                  <a:srgbClr val="006FC0"/>
                </a:solidFill>
                <a:latin typeface="Arial"/>
                <a:cs typeface="Arial"/>
              </a:rPr>
              <a:t>e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400" dirty="0">
                <a:solidFill>
                  <a:srgbClr val="006FC0"/>
                </a:solidFill>
                <a:latin typeface="Arial"/>
                <a:cs typeface="Arial"/>
              </a:rPr>
              <a:t>2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:</a:t>
            </a:r>
            <a:r>
              <a:rPr sz="2800" spc="-400" dirty="0">
                <a:solidFill>
                  <a:srgbClr val="006FC0"/>
                </a:solidFill>
                <a:latin typeface="Arial"/>
                <a:cs typeface="Arial"/>
              </a:rPr>
              <a:t>1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m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u</a:t>
            </a:r>
            <a:r>
              <a:rPr sz="2800" spc="-65" dirty="0">
                <a:solidFill>
                  <a:srgbClr val="006FC0"/>
                </a:solidFill>
                <a:latin typeface="Arial"/>
                <a:cs typeface="Arial"/>
              </a:rPr>
              <a:t>l</a:t>
            </a:r>
            <a:r>
              <a:rPr sz="2800" spc="-35" dirty="0">
                <a:solidFill>
                  <a:srgbClr val="006FC0"/>
                </a:solidFill>
                <a:latin typeface="Arial"/>
                <a:cs typeface="Arial"/>
              </a:rPr>
              <a:t>ti</a:t>
            </a:r>
            <a:r>
              <a:rPr sz="2800" spc="-55" dirty="0">
                <a:solidFill>
                  <a:srgbClr val="006FC0"/>
                </a:solidFill>
                <a:latin typeface="Arial"/>
                <a:cs typeface="Arial"/>
              </a:rPr>
              <a:t>p</a:t>
            </a:r>
            <a:r>
              <a:rPr sz="2800" spc="-180" dirty="0">
                <a:solidFill>
                  <a:srgbClr val="006FC0"/>
                </a:solidFill>
                <a:latin typeface="Arial"/>
                <a:cs typeface="Arial"/>
              </a:rPr>
              <a:t>lexer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270" dirty="0">
                <a:solidFill>
                  <a:srgbClr val="006FC0"/>
                </a:solidFill>
                <a:latin typeface="Arial"/>
                <a:cs typeface="Arial"/>
              </a:rPr>
              <a:t>acts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20" dirty="0">
                <a:solidFill>
                  <a:srgbClr val="006FC0"/>
                </a:solidFill>
                <a:latin typeface="Arial"/>
                <a:cs typeface="Arial"/>
              </a:rPr>
              <a:t>l</a:t>
            </a:r>
            <a:r>
              <a:rPr sz="2800" spc="-15" dirty="0">
                <a:solidFill>
                  <a:srgbClr val="006FC0"/>
                </a:solidFill>
                <a:latin typeface="Arial"/>
                <a:cs typeface="Arial"/>
              </a:rPr>
              <a:t>i</a:t>
            </a:r>
            <a:r>
              <a:rPr sz="2800" spc="-260" dirty="0">
                <a:solidFill>
                  <a:srgbClr val="006FC0"/>
                </a:solidFill>
                <a:latin typeface="Arial"/>
                <a:cs typeface="Arial"/>
              </a:rPr>
              <a:t>k</a:t>
            </a:r>
            <a:r>
              <a:rPr sz="2800" spc="-285" dirty="0">
                <a:solidFill>
                  <a:srgbClr val="006FC0"/>
                </a:solidFill>
                <a:latin typeface="Arial"/>
                <a:cs typeface="Arial"/>
              </a:rPr>
              <a:t>e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315" dirty="0">
                <a:solidFill>
                  <a:srgbClr val="006FC0"/>
                </a:solidFill>
                <a:latin typeface="Arial"/>
                <a:cs typeface="Arial"/>
              </a:rPr>
              <a:t>a</a:t>
            </a:r>
            <a:r>
              <a:rPr sz="2800" spc="-300" dirty="0">
                <a:solidFill>
                  <a:srgbClr val="006FC0"/>
                </a:solidFill>
                <a:latin typeface="Arial"/>
                <a:cs typeface="Arial"/>
              </a:rPr>
              <a:t>n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155" dirty="0">
                <a:solidFill>
                  <a:srgbClr val="006FC0"/>
                </a:solidFill>
                <a:latin typeface="Arial"/>
                <a:cs typeface="Arial"/>
              </a:rPr>
              <a:t>electroni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c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330" dirty="0">
                <a:solidFill>
                  <a:srgbClr val="006FC0"/>
                </a:solidFill>
                <a:latin typeface="Arial"/>
                <a:cs typeface="Arial"/>
              </a:rPr>
              <a:t>sw</a:t>
            </a:r>
            <a:r>
              <a:rPr sz="2800" spc="-114" dirty="0">
                <a:solidFill>
                  <a:srgbClr val="006FC0"/>
                </a:solidFill>
                <a:latin typeface="Arial"/>
                <a:cs typeface="Arial"/>
              </a:rPr>
              <a:t>itc</a:t>
            </a:r>
            <a:r>
              <a:rPr sz="2800" spc="-160" dirty="0">
                <a:solidFill>
                  <a:srgbClr val="006FC0"/>
                </a:solidFill>
                <a:latin typeface="Arial"/>
                <a:cs typeface="Arial"/>
              </a:rPr>
              <a:t>h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45" dirty="0">
                <a:solidFill>
                  <a:srgbClr val="006FC0"/>
                </a:solidFill>
                <a:latin typeface="Arial"/>
                <a:cs typeface="Arial"/>
              </a:rPr>
              <a:t>t</a:t>
            </a:r>
            <a:r>
              <a:rPr sz="2800" spc="-155" dirty="0">
                <a:solidFill>
                  <a:srgbClr val="006FC0"/>
                </a:solidFill>
                <a:latin typeface="Arial"/>
                <a:cs typeface="Arial"/>
              </a:rPr>
              <a:t>hat  </a:t>
            </a:r>
            <a:r>
              <a:rPr sz="2800" spc="-275" dirty="0">
                <a:solidFill>
                  <a:srgbClr val="006FC0"/>
                </a:solidFill>
                <a:latin typeface="Arial"/>
                <a:cs typeface="Arial"/>
              </a:rPr>
              <a:t>selects </a:t>
            </a:r>
            <a:r>
              <a:rPr sz="2800" spc="-235" dirty="0">
                <a:solidFill>
                  <a:srgbClr val="006FC0"/>
                </a:solidFill>
                <a:latin typeface="Arial"/>
                <a:cs typeface="Arial"/>
              </a:rPr>
              <a:t>one 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20" dirty="0">
                <a:solidFill>
                  <a:srgbClr val="006FC0"/>
                </a:solidFill>
                <a:latin typeface="Arial"/>
                <a:cs typeface="Arial"/>
              </a:rPr>
              <a:t>two</a:t>
            </a:r>
            <a:r>
              <a:rPr sz="2800" spc="-33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270" dirty="0">
                <a:solidFill>
                  <a:srgbClr val="006FC0"/>
                </a:solidFill>
                <a:latin typeface="Arial"/>
                <a:cs typeface="Arial"/>
              </a:rPr>
              <a:t>sources.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E36C09"/>
              </a:buClr>
              <a:buFont typeface="Wingdings"/>
              <a:buChar char=""/>
            </a:pPr>
            <a:endParaRPr sz="2900">
              <a:latin typeface="Arial"/>
              <a:cs typeface="Arial"/>
            </a:endParaRPr>
          </a:p>
          <a:p>
            <a:pPr marL="527685" marR="54610" indent="-464820">
              <a:lnSpc>
                <a:spcPct val="100000"/>
              </a:lnSpc>
              <a:spcBef>
                <a:spcPts val="5"/>
              </a:spcBef>
              <a:buClr>
                <a:srgbClr val="E36C09"/>
              </a:buClr>
              <a:buFont typeface="Wingdings"/>
              <a:buChar char=""/>
              <a:tabLst>
                <a:tab pos="527685" algn="l"/>
                <a:tab pos="528320" algn="l"/>
              </a:tabLst>
            </a:pP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95" dirty="0">
                <a:solidFill>
                  <a:srgbClr val="006FC0"/>
                </a:solidFill>
                <a:latin typeface="Arial"/>
                <a:cs typeface="Arial"/>
              </a:rPr>
              <a:t>circuit </a:t>
            </a:r>
            <a:r>
              <a:rPr sz="2800" spc="-375" dirty="0">
                <a:solidFill>
                  <a:srgbClr val="006FC0"/>
                </a:solidFill>
                <a:latin typeface="Arial"/>
                <a:cs typeface="Arial"/>
              </a:rPr>
              <a:t>has </a:t>
            </a:r>
            <a:r>
              <a:rPr sz="2800" spc="-120" dirty="0">
                <a:solidFill>
                  <a:srgbClr val="006FC0"/>
                </a:solidFill>
                <a:latin typeface="Arial"/>
                <a:cs typeface="Arial"/>
              </a:rPr>
              <a:t>two </a:t>
            </a:r>
            <a:r>
              <a:rPr sz="2800" spc="-225" dirty="0">
                <a:solidFill>
                  <a:srgbClr val="006FC0"/>
                </a:solidFill>
                <a:latin typeface="Arial"/>
                <a:cs typeface="Arial"/>
              </a:rPr>
              <a:t>data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input </a:t>
            </a:r>
            <a:r>
              <a:rPr sz="2800" spc="-210" dirty="0">
                <a:solidFill>
                  <a:srgbClr val="006FC0"/>
                </a:solidFill>
                <a:latin typeface="Arial"/>
                <a:cs typeface="Arial"/>
              </a:rPr>
              <a:t>lines, </a:t>
            </a:r>
            <a:r>
              <a:rPr sz="2800" spc="-235" dirty="0">
                <a:solidFill>
                  <a:srgbClr val="006FC0"/>
                </a:solidFill>
                <a:latin typeface="Arial"/>
                <a:cs typeface="Arial"/>
              </a:rPr>
              <a:t>one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output </a:t>
            </a:r>
            <a:r>
              <a:rPr sz="2800" spc="-145" dirty="0">
                <a:solidFill>
                  <a:srgbClr val="006FC0"/>
                </a:solidFill>
                <a:latin typeface="Arial"/>
                <a:cs typeface="Arial"/>
              </a:rPr>
              <a:t>line 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and  </a:t>
            </a:r>
            <a:r>
              <a:rPr sz="2800" spc="-235" dirty="0">
                <a:solidFill>
                  <a:srgbClr val="006FC0"/>
                </a:solidFill>
                <a:latin typeface="Arial"/>
                <a:cs typeface="Arial"/>
              </a:rPr>
              <a:t>one </a:t>
            </a:r>
            <a:r>
              <a:rPr sz="2800" spc="-200" dirty="0">
                <a:solidFill>
                  <a:srgbClr val="006FC0"/>
                </a:solidFill>
                <a:latin typeface="Arial"/>
                <a:cs typeface="Arial"/>
              </a:rPr>
              <a:t>selection </a:t>
            </a:r>
            <a:r>
              <a:rPr sz="2800" spc="-150" dirty="0">
                <a:solidFill>
                  <a:srgbClr val="006FC0"/>
                </a:solidFill>
                <a:latin typeface="Arial"/>
                <a:cs typeface="Arial"/>
              </a:rPr>
              <a:t>line,</a:t>
            </a:r>
            <a:r>
              <a:rPr sz="2800" spc="-13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365" dirty="0">
                <a:solidFill>
                  <a:srgbClr val="006FC0"/>
                </a:solidFill>
                <a:latin typeface="Arial"/>
                <a:cs typeface="Arial"/>
              </a:rPr>
              <a:t>S.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E36C09"/>
              </a:buClr>
              <a:buFont typeface="Wingdings"/>
              <a:buChar char=""/>
            </a:pPr>
            <a:endParaRPr sz="2900">
              <a:latin typeface="Arial"/>
              <a:cs typeface="Arial"/>
            </a:endParaRPr>
          </a:p>
          <a:p>
            <a:pPr marL="527685" marR="55880" indent="-464820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527685" algn="l"/>
                <a:tab pos="528320" algn="l"/>
              </a:tabLst>
            </a:pPr>
            <a:r>
              <a:rPr sz="2800" spc="-260" dirty="0">
                <a:solidFill>
                  <a:srgbClr val="006FC0"/>
                </a:solidFill>
                <a:latin typeface="Arial"/>
                <a:cs typeface="Arial"/>
              </a:rPr>
              <a:t>When 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S= </a:t>
            </a:r>
            <a:r>
              <a:rPr sz="2800" spc="-280" dirty="0">
                <a:solidFill>
                  <a:srgbClr val="006FC0"/>
                </a:solidFill>
                <a:latin typeface="Arial"/>
                <a:cs typeface="Arial"/>
              </a:rPr>
              <a:t>0,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80" dirty="0">
                <a:solidFill>
                  <a:srgbClr val="006FC0"/>
                </a:solidFill>
                <a:latin typeface="Arial"/>
                <a:cs typeface="Arial"/>
              </a:rPr>
              <a:t>upper </a:t>
            </a:r>
            <a:r>
              <a:rPr sz="2800" spc="-30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spc="-260" dirty="0">
                <a:solidFill>
                  <a:srgbClr val="006FC0"/>
                </a:solidFill>
                <a:latin typeface="Arial"/>
                <a:cs typeface="Arial"/>
              </a:rPr>
              <a:t>gate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800" spc="-245" dirty="0">
                <a:solidFill>
                  <a:srgbClr val="006FC0"/>
                </a:solidFill>
                <a:latin typeface="Arial"/>
                <a:cs typeface="Arial"/>
              </a:rPr>
              <a:t>enabled 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spc="-130" dirty="0">
                <a:solidFill>
                  <a:srgbClr val="006FC0"/>
                </a:solidFill>
                <a:latin typeface="Arial"/>
                <a:cs typeface="Arial"/>
              </a:rPr>
              <a:t>I</a:t>
            </a:r>
            <a:r>
              <a:rPr sz="2775" spc="-195" baseline="-21021" dirty="0">
                <a:solidFill>
                  <a:srgbClr val="006FC0"/>
                </a:solidFill>
                <a:latin typeface="Arial"/>
                <a:cs typeface="Arial"/>
              </a:rPr>
              <a:t>0 </a:t>
            </a:r>
            <a:r>
              <a:rPr sz="2800" spc="-380" dirty="0">
                <a:solidFill>
                  <a:srgbClr val="006FC0"/>
                </a:solidFill>
                <a:latin typeface="Arial"/>
                <a:cs typeface="Arial"/>
              </a:rPr>
              <a:t>has </a:t>
            </a:r>
            <a:r>
              <a:rPr sz="2800" spc="-395" dirty="0">
                <a:solidFill>
                  <a:srgbClr val="006FC0"/>
                </a:solidFill>
                <a:latin typeface="Arial"/>
                <a:cs typeface="Arial"/>
              </a:rPr>
              <a:t>a 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path </a:t>
            </a:r>
            <a:r>
              <a:rPr sz="2800" spc="-50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</a:t>
            </a:r>
            <a:r>
              <a:rPr sz="2800" spc="19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110" dirty="0">
                <a:solidFill>
                  <a:srgbClr val="006FC0"/>
                </a:solidFill>
                <a:latin typeface="Arial"/>
                <a:cs typeface="Arial"/>
              </a:rPr>
              <a:t>output.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E36C09"/>
              </a:buClr>
              <a:buFont typeface="Wingdings"/>
              <a:buChar char=""/>
            </a:pPr>
            <a:endParaRPr sz="2900">
              <a:latin typeface="Arial"/>
              <a:cs typeface="Arial"/>
            </a:endParaRPr>
          </a:p>
          <a:p>
            <a:pPr marL="527685" marR="53975" indent="-464820">
              <a:lnSpc>
                <a:spcPct val="100000"/>
              </a:lnSpc>
              <a:spcBef>
                <a:spcPts val="5"/>
              </a:spcBef>
              <a:buClr>
                <a:srgbClr val="E36C09"/>
              </a:buClr>
              <a:buFont typeface="Wingdings"/>
              <a:buChar char=""/>
              <a:tabLst>
                <a:tab pos="527685" algn="l"/>
                <a:tab pos="528320" algn="l"/>
                <a:tab pos="7701280" algn="l"/>
              </a:tabLst>
            </a:pPr>
            <a:r>
              <a:rPr sz="2800" spc="-260" dirty="0">
                <a:solidFill>
                  <a:srgbClr val="006FC0"/>
                </a:solidFill>
                <a:latin typeface="Arial"/>
                <a:cs typeface="Arial"/>
              </a:rPr>
              <a:t>When 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S=1, 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 </a:t>
            </a:r>
            <a:r>
              <a:rPr sz="2800" spc="-160" dirty="0">
                <a:solidFill>
                  <a:srgbClr val="006FC0"/>
                </a:solidFill>
                <a:latin typeface="Arial"/>
                <a:cs typeface="Arial"/>
              </a:rPr>
              <a:t>lower  </a:t>
            </a:r>
            <a:r>
              <a:rPr sz="2800" spc="-30" dirty="0">
                <a:solidFill>
                  <a:srgbClr val="006FC0"/>
                </a:solidFill>
                <a:latin typeface="Arial"/>
                <a:cs typeface="Arial"/>
              </a:rPr>
              <a:t>AND 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gate  is  </a:t>
            </a:r>
            <a:r>
              <a:rPr sz="2800" spc="-245" dirty="0">
                <a:solidFill>
                  <a:srgbClr val="006FC0"/>
                </a:solidFill>
                <a:latin typeface="Arial"/>
                <a:cs typeface="Arial"/>
              </a:rPr>
              <a:t>enabled</a:t>
            </a:r>
            <a:r>
              <a:rPr sz="2800" spc="-33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and  </a:t>
            </a:r>
            <a:r>
              <a:rPr sz="2800" spc="-120" dirty="0">
                <a:solidFill>
                  <a:srgbClr val="006FC0"/>
                </a:solidFill>
                <a:latin typeface="Arial"/>
                <a:cs typeface="Arial"/>
              </a:rPr>
              <a:t>I</a:t>
            </a:r>
            <a:r>
              <a:rPr sz="2775" spc="-179" baseline="-21021" dirty="0">
                <a:solidFill>
                  <a:srgbClr val="006FC0"/>
                </a:solidFill>
                <a:latin typeface="Arial"/>
                <a:cs typeface="Arial"/>
              </a:rPr>
              <a:t>1	</a:t>
            </a:r>
            <a:r>
              <a:rPr sz="2800" spc="-380" dirty="0">
                <a:solidFill>
                  <a:srgbClr val="006FC0"/>
                </a:solidFill>
                <a:latin typeface="Arial"/>
                <a:cs typeface="Arial"/>
              </a:rPr>
              <a:t>has </a:t>
            </a:r>
            <a:r>
              <a:rPr sz="2800" spc="-395" dirty="0">
                <a:solidFill>
                  <a:srgbClr val="006FC0"/>
                </a:solidFill>
                <a:latin typeface="Arial"/>
                <a:cs typeface="Arial"/>
              </a:rPr>
              <a:t>a 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path </a:t>
            </a:r>
            <a:r>
              <a:rPr sz="2800" spc="-50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</a:t>
            </a:r>
            <a:r>
              <a:rPr sz="2800" spc="19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110" dirty="0">
                <a:solidFill>
                  <a:srgbClr val="006FC0"/>
                </a:solidFill>
                <a:latin typeface="Arial"/>
                <a:cs typeface="Arial"/>
              </a:rPr>
              <a:t>output.</a:t>
            </a:r>
            <a:endParaRPr sz="2800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151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793241" y="982217"/>
              <a:ext cx="7589519" cy="762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6764"/>
              <a:ext cx="9143999" cy="668274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53439" y="320001"/>
              <a:ext cx="7434072" cy="57611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939795" y="202679"/>
              <a:ext cx="3259835" cy="93422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214242" y="321386"/>
            <a:ext cx="271462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70" dirty="0">
                <a:latin typeface="Trebuchet MS"/>
                <a:cs typeface="Trebuchet MS"/>
              </a:rPr>
              <a:t>MULTIPLEXERS</a:t>
            </a:r>
            <a:endParaRPr sz="320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81000" y="2590800"/>
            <a:ext cx="8768080" cy="4267200"/>
            <a:chOff x="381000" y="2590800"/>
            <a:chExt cx="8768080" cy="4267200"/>
          </a:xfrm>
        </p:grpSpPr>
        <p:sp>
          <p:nvSpPr>
            <p:cNvPr id="13" name="object 13"/>
            <p:cNvSpPr/>
            <p:nvPr/>
          </p:nvSpPr>
          <p:spPr>
            <a:xfrm>
              <a:off x="8593835" y="6620254"/>
              <a:ext cx="550164" cy="23774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630411" y="6556242"/>
              <a:ext cx="513588" cy="30175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641080" y="6644640"/>
              <a:ext cx="502920" cy="18288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810000" y="2590800"/>
              <a:ext cx="5047488" cy="2714244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81000" y="3657600"/>
              <a:ext cx="3124200" cy="1245108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33400" y="2667000"/>
              <a:ext cx="1328927" cy="35204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041775" y="1148841"/>
            <a:ext cx="928369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25" dirty="0">
                <a:solidFill>
                  <a:srgbClr val="C00000"/>
                </a:solidFill>
                <a:latin typeface="Arial"/>
                <a:cs typeface="Arial"/>
              </a:rPr>
              <a:t>2:1</a:t>
            </a:r>
            <a:r>
              <a:rPr sz="2000" b="1" spc="-114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30" dirty="0">
                <a:solidFill>
                  <a:srgbClr val="C00000"/>
                </a:solidFill>
                <a:latin typeface="Arial"/>
                <a:cs typeface="Arial"/>
              </a:rPr>
              <a:t>MUX</a:t>
            </a:r>
            <a:endParaRPr sz="2000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152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793241" y="982217"/>
              <a:ext cx="7589519" cy="762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6764"/>
              <a:ext cx="9143999" cy="668274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53439" y="320001"/>
              <a:ext cx="7434072" cy="57611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939795" y="202679"/>
              <a:ext cx="3259835" cy="93422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214242" y="321386"/>
            <a:ext cx="271462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70" dirty="0"/>
              <a:t>MULTIPLEXERS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sp>
          <p:nvSpPr>
            <p:cNvPr id="13" name="object 13"/>
            <p:cNvSpPr/>
            <p:nvPr/>
          </p:nvSpPr>
          <p:spPr>
            <a:xfrm>
              <a:off x="8593835" y="6620255"/>
              <a:ext cx="550164" cy="23774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630411" y="6556243"/>
              <a:ext cx="513588" cy="30175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32740" y="1047999"/>
            <a:ext cx="8478520" cy="484060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R="123825" algn="ctr">
              <a:lnSpc>
                <a:spcPct val="100000"/>
              </a:lnSpc>
              <a:spcBef>
                <a:spcPts val="894"/>
              </a:spcBef>
            </a:pPr>
            <a:r>
              <a:rPr sz="2000" b="1" spc="-225" dirty="0">
                <a:solidFill>
                  <a:srgbClr val="C00000"/>
                </a:solidFill>
                <a:latin typeface="Arial"/>
                <a:cs typeface="Arial"/>
              </a:rPr>
              <a:t>4:1</a:t>
            </a:r>
            <a:r>
              <a:rPr sz="2000" b="1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30" dirty="0">
                <a:solidFill>
                  <a:srgbClr val="C00000"/>
                </a:solidFill>
                <a:latin typeface="Arial"/>
                <a:cs typeface="Arial"/>
              </a:rPr>
              <a:t>MUX</a:t>
            </a:r>
            <a:endParaRPr sz="2000">
              <a:latin typeface="Arial"/>
              <a:cs typeface="Arial"/>
            </a:endParaRPr>
          </a:p>
          <a:p>
            <a:pPr marL="527685" marR="55880" indent="-464820" algn="just">
              <a:lnSpc>
                <a:spcPct val="100000"/>
              </a:lnSpc>
              <a:spcBef>
                <a:spcPts val="1110"/>
              </a:spcBef>
              <a:buClr>
                <a:srgbClr val="E36C09"/>
              </a:buClr>
              <a:buFont typeface="Wingdings"/>
              <a:buChar char=""/>
              <a:tabLst>
                <a:tab pos="528320" algn="l"/>
              </a:tabLst>
            </a:pPr>
            <a:r>
              <a:rPr sz="2800" spc="135" dirty="0">
                <a:solidFill>
                  <a:srgbClr val="006FC0"/>
                </a:solidFill>
                <a:latin typeface="Arial"/>
                <a:cs typeface="Arial"/>
              </a:rPr>
              <a:t>A </a:t>
            </a:r>
            <a:r>
              <a:rPr sz="2800" spc="-180" dirty="0">
                <a:solidFill>
                  <a:srgbClr val="006FC0"/>
                </a:solidFill>
                <a:latin typeface="Arial"/>
                <a:cs typeface="Arial"/>
              </a:rPr>
              <a:t>4-to-1-line </a:t>
            </a:r>
            <a:r>
              <a:rPr sz="2800" spc="-135" dirty="0">
                <a:solidFill>
                  <a:srgbClr val="006FC0"/>
                </a:solidFill>
                <a:latin typeface="Arial"/>
                <a:cs typeface="Arial"/>
              </a:rPr>
              <a:t>multiplexer </a:t>
            </a:r>
            <a:r>
              <a:rPr sz="2800" spc="-375" dirty="0">
                <a:solidFill>
                  <a:srgbClr val="006FC0"/>
                </a:solidFill>
                <a:latin typeface="Arial"/>
                <a:cs typeface="Arial"/>
              </a:rPr>
              <a:t>has </a:t>
            </a:r>
            <a:r>
              <a:rPr sz="2800" spc="-95" dirty="0">
                <a:latin typeface="Arial"/>
                <a:cs typeface="Arial"/>
              </a:rPr>
              <a:t>four </a:t>
            </a:r>
            <a:r>
              <a:rPr sz="2800" spc="-254" dirty="0">
                <a:latin typeface="Arial"/>
                <a:cs typeface="Arial"/>
              </a:rPr>
              <a:t>(2</a:t>
            </a:r>
            <a:r>
              <a:rPr sz="2775" spc="-382" baseline="25525" dirty="0">
                <a:latin typeface="Arial"/>
                <a:cs typeface="Arial"/>
              </a:rPr>
              <a:t>n</a:t>
            </a:r>
            <a:r>
              <a:rPr sz="2800" spc="-254" dirty="0">
                <a:latin typeface="Arial"/>
                <a:cs typeface="Arial"/>
              </a:rPr>
              <a:t>) </a:t>
            </a:r>
            <a:r>
              <a:rPr sz="2800" spc="-105" dirty="0">
                <a:latin typeface="Arial"/>
                <a:cs typeface="Arial"/>
              </a:rPr>
              <a:t>input </a:t>
            </a:r>
            <a:r>
              <a:rPr sz="2800" spc="-215" dirty="0">
                <a:latin typeface="Arial"/>
                <a:cs typeface="Arial"/>
              </a:rPr>
              <a:t>lines, </a:t>
            </a:r>
            <a:r>
              <a:rPr sz="2800" spc="-120" dirty="0">
                <a:latin typeface="Arial"/>
                <a:cs typeface="Arial"/>
              </a:rPr>
              <a:t>two </a:t>
            </a:r>
            <a:r>
              <a:rPr sz="2800" spc="-235" dirty="0">
                <a:latin typeface="Arial"/>
                <a:cs typeface="Arial"/>
              </a:rPr>
              <a:t>(n)  select </a:t>
            </a:r>
            <a:r>
              <a:rPr sz="2800" spc="-225" dirty="0">
                <a:latin typeface="Arial"/>
                <a:cs typeface="Arial"/>
              </a:rPr>
              <a:t>lines </a:t>
            </a:r>
            <a:r>
              <a:rPr sz="2800" spc="-254" dirty="0">
                <a:latin typeface="Arial"/>
                <a:cs typeface="Arial"/>
              </a:rPr>
              <a:t>and </a:t>
            </a:r>
            <a:r>
              <a:rPr sz="2800" spc="-235" dirty="0">
                <a:latin typeface="Arial"/>
                <a:cs typeface="Arial"/>
              </a:rPr>
              <a:t>one </a:t>
            </a:r>
            <a:r>
              <a:rPr sz="2800" spc="-105" dirty="0">
                <a:latin typeface="Arial"/>
                <a:cs typeface="Arial"/>
              </a:rPr>
              <a:t>output</a:t>
            </a:r>
            <a:r>
              <a:rPr sz="2800" spc="360" dirty="0">
                <a:latin typeface="Arial"/>
                <a:cs typeface="Arial"/>
              </a:rPr>
              <a:t> </a:t>
            </a:r>
            <a:r>
              <a:rPr sz="2800" spc="-150" dirty="0">
                <a:latin typeface="Arial"/>
                <a:cs typeface="Arial"/>
              </a:rPr>
              <a:t>line.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E36C09"/>
              </a:buClr>
              <a:buFont typeface="Wingdings"/>
              <a:buChar char=""/>
            </a:pPr>
            <a:endParaRPr sz="2900">
              <a:latin typeface="Arial"/>
              <a:cs typeface="Arial"/>
            </a:endParaRPr>
          </a:p>
          <a:p>
            <a:pPr marL="527685" marR="54610" indent="-464820" algn="just">
              <a:lnSpc>
                <a:spcPct val="100000"/>
              </a:lnSpc>
              <a:spcBef>
                <a:spcPts val="5"/>
              </a:spcBef>
              <a:buClr>
                <a:srgbClr val="E36C09"/>
              </a:buClr>
              <a:buFont typeface="Wingdings"/>
              <a:buChar char=""/>
              <a:tabLst>
                <a:tab pos="528320" algn="l"/>
              </a:tabLst>
            </a:pPr>
            <a:r>
              <a:rPr sz="2800" spc="35" dirty="0">
                <a:solidFill>
                  <a:srgbClr val="006FC0"/>
                </a:solidFill>
                <a:latin typeface="Arial"/>
                <a:cs typeface="Arial"/>
              </a:rPr>
              <a:t>It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35" dirty="0">
                <a:solidFill>
                  <a:srgbClr val="006FC0"/>
                </a:solidFill>
                <a:latin typeface="Arial"/>
                <a:cs typeface="Arial"/>
              </a:rPr>
              <a:t>multiplexer </a:t>
            </a:r>
            <a:r>
              <a:rPr sz="2800" spc="-220" dirty="0">
                <a:solidFill>
                  <a:srgbClr val="006FC0"/>
                </a:solidFill>
                <a:latin typeface="Arial"/>
                <a:cs typeface="Arial"/>
              </a:rPr>
              <a:t>consisting </a:t>
            </a:r>
            <a:r>
              <a:rPr sz="2800" spc="-80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95" dirty="0">
                <a:solidFill>
                  <a:srgbClr val="006FC0"/>
                </a:solidFill>
                <a:latin typeface="Arial"/>
                <a:cs typeface="Arial"/>
              </a:rPr>
              <a:t>four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input </a:t>
            </a:r>
            <a:r>
              <a:rPr sz="2800" spc="-270" dirty="0">
                <a:solidFill>
                  <a:srgbClr val="006FC0"/>
                </a:solidFill>
                <a:latin typeface="Arial"/>
                <a:cs typeface="Arial"/>
              </a:rPr>
              <a:t>channels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and  </a:t>
            </a:r>
            <a:r>
              <a:rPr sz="2800" spc="-120" dirty="0">
                <a:solidFill>
                  <a:srgbClr val="006FC0"/>
                </a:solidFill>
                <a:latin typeface="Arial"/>
                <a:cs typeface="Arial"/>
              </a:rPr>
              <a:t>information 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235" dirty="0">
                <a:solidFill>
                  <a:srgbClr val="006FC0"/>
                </a:solidFill>
                <a:latin typeface="Arial"/>
                <a:cs typeface="Arial"/>
              </a:rPr>
              <a:t>one </a:t>
            </a:r>
            <a:r>
              <a:rPr sz="2800" spc="-80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270" dirty="0">
                <a:solidFill>
                  <a:srgbClr val="006FC0"/>
                </a:solidFill>
                <a:latin typeface="Arial"/>
                <a:cs typeface="Arial"/>
              </a:rPr>
              <a:t>channels </a:t>
            </a:r>
            <a:r>
              <a:rPr sz="2800" spc="-285" dirty="0">
                <a:solidFill>
                  <a:srgbClr val="006FC0"/>
                </a:solidFill>
                <a:latin typeface="Arial"/>
                <a:cs typeface="Arial"/>
              </a:rPr>
              <a:t>can </a:t>
            </a:r>
            <a:r>
              <a:rPr sz="2800" spc="-280" dirty="0">
                <a:solidFill>
                  <a:srgbClr val="006FC0"/>
                </a:solidFill>
                <a:latin typeface="Arial"/>
                <a:cs typeface="Arial"/>
              </a:rPr>
              <a:t>be </a:t>
            </a:r>
            <a:r>
              <a:rPr sz="2800" spc="-240" dirty="0">
                <a:solidFill>
                  <a:srgbClr val="006FC0"/>
                </a:solidFill>
                <a:latin typeface="Arial"/>
                <a:cs typeface="Arial"/>
              </a:rPr>
              <a:t>selected 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and  </a:t>
            </a:r>
            <a:r>
              <a:rPr sz="2800" spc="-155" dirty="0">
                <a:solidFill>
                  <a:srgbClr val="006FC0"/>
                </a:solidFill>
                <a:latin typeface="Arial"/>
                <a:cs typeface="Arial"/>
              </a:rPr>
              <a:t>transmitted </a:t>
            </a:r>
            <a:r>
              <a:rPr sz="2800" spc="-50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800" spc="-305" dirty="0">
                <a:solidFill>
                  <a:srgbClr val="006FC0"/>
                </a:solidFill>
                <a:latin typeface="Arial"/>
                <a:cs typeface="Arial"/>
              </a:rPr>
              <a:t>an </a:t>
            </a:r>
            <a:r>
              <a:rPr sz="2800" spc="-105" dirty="0">
                <a:latin typeface="Arial"/>
                <a:cs typeface="Arial"/>
              </a:rPr>
              <a:t>output </a:t>
            </a:r>
            <a:r>
              <a:rPr sz="2800" spc="-145" dirty="0">
                <a:latin typeface="Arial"/>
                <a:cs typeface="Arial"/>
              </a:rPr>
              <a:t>line </a:t>
            </a:r>
            <a:r>
              <a:rPr sz="2800" spc="-195" dirty="0">
                <a:latin typeface="Arial"/>
                <a:cs typeface="Arial"/>
              </a:rPr>
              <a:t>according </a:t>
            </a:r>
            <a:r>
              <a:rPr sz="2800" spc="-50" dirty="0">
                <a:latin typeface="Arial"/>
                <a:cs typeface="Arial"/>
              </a:rPr>
              <a:t>to </a:t>
            </a:r>
            <a:r>
              <a:rPr sz="2800" spc="-175" dirty="0">
                <a:latin typeface="Arial"/>
                <a:cs typeface="Arial"/>
              </a:rPr>
              <a:t>the </a:t>
            </a:r>
            <a:r>
              <a:rPr sz="2800" spc="-235" dirty="0">
                <a:latin typeface="Arial"/>
                <a:cs typeface="Arial"/>
              </a:rPr>
              <a:t>select  </a:t>
            </a:r>
            <a:r>
              <a:rPr sz="2800" spc="-175" dirty="0">
                <a:latin typeface="Arial"/>
                <a:cs typeface="Arial"/>
              </a:rPr>
              <a:t>inputs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spc="-190" dirty="0">
                <a:latin typeface="Arial"/>
                <a:cs typeface="Arial"/>
              </a:rPr>
              <a:t>combinations.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E36C09"/>
              </a:buClr>
              <a:buFont typeface="Wingdings"/>
              <a:buChar char=""/>
            </a:pPr>
            <a:endParaRPr sz="2900">
              <a:latin typeface="Arial"/>
              <a:cs typeface="Arial"/>
            </a:endParaRPr>
          </a:p>
          <a:p>
            <a:pPr marL="527685" marR="55244" indent="-464820" algn="just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528320" algn="l"/>
              </a:tabLst>
            </a:pPr>
            <a:r>
              <a:rPr sz="2800" spc="-204" dirty="0">
                <a:solidFill>
                  <a:srgbClr val="006FC0"/>
                </a:solidFill>
                <a:latin typeface="Arial"/>
                <a:cs typeface="Arial"/>
              </a:rPr>
              <a:t>Selection </a:t>
            </a:r>
            <a:r>
              <a:rPr sz="2800" spc="-80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240" dirty="0">
                <a:solidFill>
                  <a:srgbClr val="006FC0"/>
                </a:solidFill>
                <a:latin typeface="Arial"/>
                <a:cs typeface="Arial"/>
              </a:rPr>
              <a:t>one 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90" dirty="0">
                <a:solidFill>
                  <a:srgbClr val="006FC0"/>
                </a:solidFill>
                <a:latin typeface="Arial"/>
                <a:cs typeface="Arial"/>
              </a:rPr>
              <a:t>four </a:t>
            </a:r>
            <a:r>
              <a:rPr sz="2800" spc="-110" dirty="0">
                <a:solidFill>
                  <a:srgbClr val="006FC0"/>
                </a:solidFill>
                <a:latin typeface="Arial"/>
                <a:cs typeface="Arial"/>
              </a:rPr>
              <a:t>input </a:t>
            </a:r>
            <a:r>
              <a:rPr sz="2800" spc="-235" dirty="0">
                <a:solidFill>
                  <a:srgbClr val="006FC0"/>
                </a:solidFill>
                <a:latin typeface="Arial"/>
                <a:cs typeface="Arial"/>
              </a:rPr>
              <a:t>channel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800" spc="-240" dirty="0">
                <a:solidFill>
                  <a:srgbClr val="006FC0"/>
                </a:solidFill>
                <a:latin typeface="Arial"/>
                <a:cs typeface="Arial"/>
              </a:rPr>
              <a:t>possible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by </a:t>
            </a:r>
            <a:r>
              <a:rPr sz="2800" spc="-175" dirty="0">
                <a:latin typeface="Arial"/>
                <a:cs typeface="Arial"/>
              </a:rPr>
              <a:t> </a:t>
            </a:r>
            <a:r>
              <a:rPr sz="2800" spc="-120" dirty="0">
                <a:latin typeface="Arial"/>
                <a:cs typeface="Arial"/>
              </a:rPr>
              <a:t>two </a:t>
            </a:r>
            <a:r>
              <a:rPr sz="2800" spc="-200" dirty="0">
                <a:latin typeface="Arial"/>
                <a:cs typeface="Arial"/>
              </a:rPr>
              <a:t>selection</a:t>
            </a:r>
            <a:r>
              <a:rPr sz="2800" spc="105" dirty="0">
                <a:latin typeface="Arial"/>
                <a:cs typeface="Arial"/>
              </a:rPr>
              <a:t> </a:t>
            </a:r>
            <a:r>
              <a:rPr sz="2800" spc="-170" dirty="0">
                <a:latin typeface="Arial"/>
                <a:cs typeface="Arial"/>
              </a:rPr>
              <a:t>inputs.</a:t>
            </a:r>
            <a:endParaRPr sz="2800">
              <a:latin typeface="Arial"/>
              <a:cs typeface="Arial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153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793241" y="982217"/>
              <a:ext cx="7589519" cy="762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6764"/>
              <a:ext cx="9143999" cy="668274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53439" y="320001"/>
              <a:ext cx="7434072" cy="57611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939795" y="202679"/>
              <a:ext cx="3259835" cy="93422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214242" y="321386"/>
            <a:ext cx="271462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70" dirty="0"/>
              <a:t>MULTIPLEXERS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sp>
          <p:nvSpPr>
            <p:cNvPr id="13" name="object 13"/>
            <p:cNvSpPr/>
            <p:nvPr/>
          </p:nvSpPr>
          <p:spPr>
            <a:xfrm>
              <a:off x="8593835" y="6620255"/>
              <a:ext cx="550164" cy="23774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630411" y="6556243"/>
              <a:ext cx="513588" cy="30175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45440" y="1148841"/>
            <a:ext cx="8455660" cy="28956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126364" algn="ctr">
              <a:lnSpc>
                <a:spcPct val="100000"/>
              </a:lnSpc>
              <a:spcBef>
                <a:spcPts val="105"/>
              </a:spcBef>
            </a:pPr>
            <a:r>
              <a:rPr sz="2000" b="1" spc="-225" dirty="0">
                <a:solidFill>
                  <a:srgbClr val="C00000"/>
                </a:solidFill>
                <a:latin typeface="Arial"/>
                <a:cs typeface="Arial"/>
              </a:rPr>
              <a:t>4:1</a:t>
            </a:r>
            <a:r>
              <a:rPr sz="2000" b="1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30" dirty="0">
                <a:solidFill>
                  <a:srgbClr val="C00000"/>
                </a:solidFill>
                <a:latin typeface="Arial"/>
                <a:cs typeface="Arial"/>
              </a:rPr>
              <a:t>MUX</a:t>
            </a:r>
            <a:endParaRPr sz="2000">
              <a:latin typeface="Arial"/>
              <a:cs typeface="Arial"/>
            </a:endParaRPr>
          </a:p>
          <a:p>
            <a:pPr marL="514984" marR="43180" indent="-464820" algn="just">
              <a:lnSpc>
                <a:spcPct val="100000"/>
              </a:lnSpc>
              <a:spcBef>
                <a:spcPts val="30"/>
              </a:spcBef>
              <a:buClr>
                <a:srgbClr val="E36C09"/>
              </a:buClr>
              <a:buFont typeface="Wingdings"/>
              <a:buChar char=""/>
              <a:tabLst>
                <a:tab pos="515620" algn="l"/>
              </a:tabLst>
            </a:pPr>
            <a:r>
              <a:rPr sz="2800" spc="-325" dirty="0">
                <a:solidFill>
                  <a:srgbClr val="006FC0"/>
                </a:solidFill>
                <a:latin typeface="Arial"/>
                <a:cs typeface="Arial"/>
              </a:rPr>
              <a:t>Each </a:t>
            </a:r>
            <a:r>
              <a:rPr sz="2800" spc="-80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95" dirty="0">
                <a:solidFill>
                  <a:srgbClr val="006FC0"/>
                </a:solidFill>
                <a:latin typeface="Arial"/>
                <a:cs typeface="Arial"/>
              </a:rPr>
              <a:t>four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inputs </a:t>
            </a:r>
            <a:r>
              <a:rPr sz="2800" spc="-120" dirty="0">
                <a:solidFill>
                  <a:srgbClr val="006FC0"/>
                </a:solidFill>
                <a:latin typeface="Arial"/>
                <a:cs typeface="Arial"/>
              </a:rPr>
              <a:t>I</a:t>
            </a:r>
            <a:r>
              <a:rPr sz="2775" spc="-179" baseline="-21021" dirty="0">
                <a:solidFill>
                  <a:srgbClr val="006FC0"/>
                </a:solidFill>
                <a:latin typeface="Arial"/>
                <a:cs typeface="Arial"/>
              </a:rPr>
              <a:t>0</a:t>
            </a:r>
            <a:r>
              <a:rPr sz="2775" spc="405" baseline="-21021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155" dirty="0">
                <a:solidFill>
                  <a:srgbClr val="006FC0"/>
                </a:solidFill>
                <a:latin typeface="Arial"/>
                <a:cs typeface="Arial"/>
              </a:rPr>
              <a:t>through </a:t>
            </a:r>
            <a:r>
              <a:rPr sz="2800" spc="-140" dirty="0">
                <a:solidFill>
                  <a:srgbClr val="006FC0"/>
                </a:solidFill>
                <a:latin typeface="Arial"/>
                <a:cs typeface="Arial"/>
              </a:rPr>
              <a:t>I</a:t>
            </a:r>
            <a:r>
              <a:rPr sz="2775" spc="-209" baseline="-21021" dirty="0">
                <a:solidFill>
                  <a:srgbClr val="006FC0"/>
                </a:solidFill>
                <a:latin typeface="Arial"/>
                <a:cs typeface="Arial"/>
              </a:rPr>
              <a:t>3</a:t>
            </a:r>
            <a:r>
              <a:rPr sz="2800" spc="-140" dirty="0">
                <a:solidFill>
                  <a:srgbClr val="006FC0"/>
                </a:solidFill>
                <a:latin typeface="Arial"/>
                <a:cs typeface="Arial"/>
              </a:rPr>
              <a:t>,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800" spc="-180" dirty="0">
                <a:solidFill>
                  <a:srgbClr val="006FC0"/>
                </a:solidFill>
                <a:latin typeface="Arial"/>
                <a:cs typeface="Arial"/>
              </a:rPr>
              <a:t>applied </a:t>
            </a:r>
            <a:r>
              <a:rPr sz="2800" spc="-50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800" spc="-235" dirty="0">
                <a:solidFill>
                  <a:srgbClr val="006FC0"/>
                </a:solidFill>
                <a:latin typeface="Arial"/>
                <a:cs typeface="Arial"/>
              </a:rPr>
              <a:t>one 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input </a:t>
            </a:r>
            <a:r>
              <a:rPr sz="2800" spc="-80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30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spc="-240" dirty="0">
                <a:solidFill>
                  <a:srgbClr val="006FC0"/>
                </a:solidFill>
                <a:latin typeface="Arial"/>
                <a:cs typeface="Arial"/>
              </a:rPr>
              <a:t>gate. </a:t>
            </a:r>
            <a:r>
              <a:rPr sz="2800" spc="-210" dirty="0">
                <a:solidFill>
                  <a:srgbClr val="006FC0"/>
                </a:solidFill>
                <a:latin typeface="Arial"/>
                <a:cs typeface="Arial"/>
              </a:rPr>
              <a:t>Selection </a:t>
            </a:r>
            <a:r>
              <a:rPr sz="2800" spc="-220" dirty="0">
                <a:solidFill>
                  <a:srgbClr val="006FC0"/>
                </a:solidFill>
                <a:latin typeface="Arial"/>
                <a:cs typeface="Arial"/>
              </a:rPr>
              <a:t>lines </a:t>
            </a:r>
            <a:r>
              <a:rPr sz="2800" spc="-409" dirty="0">
                <a:solidFill>
                  <a:srgbClr val="006FC0"/>
                </a:solidFill>
                <a:latin typeface="Arial"/>
                <a:cs typeface="Arial"/>
              </a:rPr>
              <a:t>S</a:t>
            </a:r>
            <a:r>
              <a:rPr sz="2775" spc="-615" baseline="-21021" dirty="0">
                <a:solidFill>
                  <a:srgbClr val="006FC0"/>
                </a:solidFill>
                <a:latin typeface="Arial"/>
                <a:cs typeface="Arial"/>
              </a:rPr>
              <a:t>1 </a:t>
            </a:r>
            <a:r>
              <a:rPr sz="2800" spc="-260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spc="-415" dirty="0">
                <a:solidFill>
                  <a:srgbClr val="006FC0"/>
                </a:solidFill>
                <a:latin typeface="Arial"/>
                <a:cs typeface="Arial"/>
              </a:rPr>
              <a:t>S</a:t>
            </a:r>
            <a:r>
              <a:rPr sz="2775" spc="-622" baseline="-21021" dirty="0">
                <a:solidFill>
                  <a:srgbClr val="006FC0"/>
                </a:solidFill>
                <a:latin typeface="Arial"/>
                <a:cs typeface="Arial"/>
              </a:rPr>
              <a:t>0 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are </a:t>
            </a: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decoded  </a:t>
            </a:r>
            <a:r>
              <a:rPr sz="2800" spc="-50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800" spc="-235" dirty="0">
                <a:solidFill>
                  <a:srgbClr val="006FC0"/>
                </a:solidFill>
                <a:latin typeface="Arial"/>
                <a:cs typeface="Arial"/>
              </a:rPr>
              <a:t>select </a:t>
            </a:r>
            <a:r>
              <a:rPr sz="2800" spc="-395" dirty="0">
                <a:solidFill>
                  <a:srgbClr val="006FC0"/>
                </a:solidFill>
                <a:latin typeface="Arial"/>
                <a:cs typeface="Arial"/>
              </a:rPr>
              <a:t>a </a:t>
            </a:r>
            <a:r>
              <a:rPr sz="2800" spc="-140" dirty="0">
                <a:solidFill>
                  <a:srgbClr val="006FC0"/>
                </a:solidFill>
                <a:latin typeface="Arial"/>
                <a:cs typeface="Arial"/>
              </a:rPr>
              <a:t>particular </a:t>
            </a:r>
            <a:r>
              <a:rPr sz="2800" spc="-30" dirty="0">
                <a:latin typeface="Arial"/>
                <a:cs typeface="Arial"/>
              </a:rPr>
              <a:t>AND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240" dirty="0">
                <a:latin typeface="Arial"/>
                <a:cs typeface="Arial"/>
              </a:rPr>
              <a:t>gate</a:t>
            </a:r>
            <a:r>
              <a:rPr sz="2800" spc="-240" dirty="0">
                <a:solidFill>
                  <a:srgbClr val="006FC0"/>
                </a:solidFill>
                <a:latin typeface="Arial"/>
                <a:cs typeface="Arial"/>
              </a:rPr>
              <a:t>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E36C09"/>
              </a:buClr>
              <a:buFont typeface="Wingdings"/>
              <a:buChar char=""/>
            </a:pPr>
            <a:endParaRPr sz="2900">
              <a:latin typeface="Arial"/>
              <a:cs typeface="Arial"/>
            </a:endParaRPr>
          </a:p>
          <a:p>
            <a:pPr marL="514984" marR="46355" indent="-464820" algn="just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515620" algn="l"/>
              </a:tabLst>
            </a:pP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outputs 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30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spc="-260" dirty="0">
                <a:solidFill>
                  <a:srgbClr val="006FC0"/>
                </a:solidFill>
                <a:latin typeface="Arial"/>
                <a:cs typeface="Arial"/>
              </a:rPr>
              <a:t>gate 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are </a:t>
            </a:r>
            <a:r>
              <a:rPr sz="2800" spc="-180" dirty="0">
                <a:solidFill>
                  <a:srgbClr val="006FC0"/>
                </a:solidFill>
                <a:latin typeface="Arial"/>
                <a:cs typeface="Arial"/>
              </a:rPr>
              <a:t>applied </a:t>
            </a:r>
            <a:r>
              <a:rPr sz="2800" spc="-60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800" spc="-395" dirty="0">
                <a:solidFill>
                  <a:srgbClr val="006FC0"/>
                </a:solidFill>
                <a:latin typeface="Arial"/>
                <a:cs typeface="Arial"/>
              </a:rPr>
              <a:t>a </a:t>
            </a:r>
            <a:r>
              <a:rPr sz="2800" spc="-245" dirty="0">
                <a:latin typeface="Arial"/>
                <a:cs typeface="Arial"/>
              </a:rPr>
              <a:t>single </a:t>
            </a:r>
            <a:r>
              <a:rPr sz="2800" spc="-215" dirty="0">
                <a:latin typeface="Arial"/>
                <a:cs typeface="Arial"/>
              </a:rPr>
              <a:t>OR </a:t>
            </a:r>
            <a:r>
              <a:rPr sz="2800" spc="-21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260" dirty="0">
                <a:solidFill>
                  <a:srgbClr val="006FC0"/>
                </a:solidFill>
                <a:latin typeface="Arial"/>
                <a:cs typeface="Arial"/>
              </a:rPr>
              <a:t>gate </a:t>
            </a:r>
            <a:r>
              <a:rPr sz="2800" spc="-125" dirty="0">
                <a:solidFill>
                  <a:srgbClr val="006FC0"/>
                </a:solidFill>
                <a:latin typeface="Arial"/>
                <a:cs typeface="Arial"/>
              </a:rPr>
              <a:t>that </a:t>
            </a:r>
            <a:r>
              <a:rPr sz="2800" spc="-195" dirty="0">
                <a:solidFill>
                  <a:srgbClr val="006FC0"/>
                </a:solidFill>
                <a:latin typeface="Arial"/>
                <a:cs typeface="Arial"/>
              </a:rPr>
              <a:t>provides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90" dirty="0">
                <a:solidFill>
                  <a:srgbClr val="006FC0"/>
                </a:solidFill>
                <a:latin typeface="Arial"/>
                <a:cs typeface="Arial"/>
              </a:rPr>
              <a:t>1-line</a:t>
            </a:r>
            <a:r>
              <a:rPr sz="2800" spc="18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110" dirty="0">
                <a:solidFill>
                  <a:srgbClr val="006FC0"/>
                </a:solidFill>
                <a:latin typeface="Arial"/>
                <a:cs typeface="Arial"/>
              </a:rPr>
              <a:t>output.</a:t>
            </a:r>
            <a:endParaRPr sz="28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819400" y="4076700"/>
            <a:ext cx="3681984" cy="217170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041775" y="6170167"/>
            <a:ext cx="13398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85" dirty="0">
                <a:latin typeface="Arial"/>
                <a:cs typeface="Arial"/>
              </a:rPr>
              <a:t>Truth</a:t>
            </a:r>
            <a:r>
              <a:rPr sz="2400" b="1" spc="-90" dirty="0">
                <a:latin typeface="Arial"/>
                <a:cs typeface="Arial"/>
              </a:rPr>
              <a:t> </a:t>
            </a:r>
            <a:r>
              <a:rPr sz="2400" b="1" spc="-229" dirty="0">
                <a:latin typeface="Arial"/>
                <a:cs typeface="Arial"/>
              </a:rPr>
              <a:t>table</a:t>
            </a:r>
            <a:endParaRPr sz="2400">
              <a:latin typeface="Arial"/>
              <a:cs typeface="Aria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154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793241" y="982217"/>
              <a:ext cx="7589519" cy="762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6764"/>
              <a:ext cx="9143999" cy="668274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53439" y="320001"/>
              <a:ext cx="7434072" cy="57611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939795" y="202679"/>
              <a:ext cx="3259835" cy="93422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214242" y="321386"/>
            <a:ext cx="271462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70" dirty="0"/>
              <a:t>MULTIPLEXERS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sp>
          <p:nvSpPr>
            <p:cNvPr id="13" name="object 13"/>
            <p:cNvSpPr/>
            <p:nvPr/>
          </p:nvSpPr>
          <p:spPr>
            <a:xfrm>
              <a:off x="8593835" y="6620255"/>
              <a:ext cx="550164" cy="23774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630411" y="6556243"/>
              <a:ext cx="513588" cy="30175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07340" y="1063204"/>
            <a:ext cx="8499475" cy="488823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R="94615" algn="ctr">
              <a:lnSpc>
                <a:spcPct val="100000"/>
              </a:lnSpc>
              <a:spcBef>
                <a:spcPts val="775"/>
              </a:spcBef>
            </a:pPr>
            <a:r>
              <a:rPr sz="2000" b="1" spc="-225" dirty="0">
                <a:solidFill>
                  <a:srgbClr val="C00000"/>
                </a:solidFill>
                <a:latin typeface="Arial"/>
                <a:cs typeface="Arial"/>
              </a:rPr>
              <a:t>4:1</a:t>
            </a:r>
            <a:r>
              <a:rPr sz="2000" b="1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30" dirty="0">
                <a:solidFill>
                  <a:srgbClr val="C00000"/>
                </a:solidFill>
                <a:latin typeface="Arial"/>
                <a:cs typeface="Arial"/>
              </a:rPr>
              <a:t>MUX</a:t>
            </a:r>
            <a:endParaRPr sz="2000">
              <a:latin typeface="Arial"/>
              <a:cs typeface="Arial"/>
            </a:endParaRPr>
          </a:p>
          <a:p>
            <a:pPr marL="88900">
              <a:lnSpc>
                <a:spcPct val="100000"/>
              </a:lnSpc>
              <a:spcBef>
                <a:spcPts val="885"/>
              </a:spcBef>
            </a:pPr>
            <a:r>
              <a:rPr sz="2600" spc="-21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600" spc="-204" dirty="0">
                <a:solidFill>
                  <a:srgbClr val="006FC0"/>
                </a:solidFill>
                <a:latin typeface="Arial"/>
                <a:cs typeface="Arial"/>
              </a:rPr>
              <a:t>data </a:t>
            </a:r>
            <a:r>
              <a:rPr sz="2600" spc="-95" dirty="0">
                <a:solidFill>
                  <a:srgbClr val="006FC0"/>
                </a:solidFill>
                <a:latin typeface="Arial"/>
                <a:cs typeface="Arial"/>
              </a:rPr>
              <a:t>output </a:t>
            </a:r>
            <a:r>
              <a:rPr sz="2600" spc="-250" dirty="0">
                <a:solidFill>
                  <a:srgbClr val="006FC0"/>
                </a:solidFill>
                <a:latin typeface="Arial"/>
                <a:cs typeface="Arial"/>
              </a:rPr>
              <a:t>is  </a:t>
            </a:r>
            <a:r>
              <a:rPr sz="2600" spc="-220" dirty="0">
                <a:solidFill>
                  <a:srgbClr val="006FC0"/>
                </a:solidFill>
                <a:latin typeface="Arial"/>
                <a:cs typeface="Arial"/>
              </a:rPr>
              <a:t>equal  </a:t>
            </a:r>
            <a:r>
              <a:rPr sz="2600" spc="-45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600" spc="-100" dirty="0">
                <a:solidFill>
                  <a:srgbClr val="006FC0"/>
                </a:solidFill>
                <a:latin typeface="Arial"/>
                <a:cs typeface="Arial"/>
              </a:rPr>
              <a:t>I</a:t>
            </a:r>
            <a:r>
              <a:rPr sz="2550" spc="-150" baseline="-21241" dirty="0">
                <a:solidFill>
                  <a:srgbClr val="006FC0"/>
                </a:solidFill>
                <a:latin typeface="Arial"/>
                <a:cs typeface="Arial"/>
              </a:rPr>
              <a:t>0  </a:t>
            </a:r>
            <a:r>
              <a:rPr sz="2600" spc="-120" dirty="0">
                <a:solidFill>
                  <a:srgbClr val="006FC0"/>
                </a:solidFill>
                <a:latin typeface="Arial"/>
                <a:cs typeface="Arial"/>
              </a:rPr>
              <a:t>only </a:t>
            </a:r>
            <a:r>
              <a:rPr sz="2600" dirty="0">
                <a:solidFill>
                  <a:srgbClr val="006FC0"/>
                </a:solidFill>
                <a:latin typeface="Arial"/>
                <a:cs typeface="Arial"/>
              </a:rPr>
              <a:t>if </a:t>
            </a:r>
            <a:r>
              <a:rPr sz="2600" spc="-229" dirty="0">
                <a:solidFill>
                  <a:srgbClr val="006FC0"/>
                </a:solidFill>
                <a:latin typeface="Arial"/>
                <a:cs typeface="Arial"/>
              </a:rPr>
              <a:t>S</a:t>
            </a:r>
            <a:r>
              <a:rPr sz="2550" spc="-345" baseline="-21241" dirty="0">
                <a:solidFill>
                  <a:srgbClr val="006FC0"/>
                </a:solidFill>
                <a:latin typeface="Arial"/>
                <a:cs typeface="Arial"/>
              </a:rPr>
              <a:t>1</a:t>
            </a:r>
            <a:r>
              <a:rPr sz="2600" spc="-229" dirty="0">
                <a:solidFill>
                  <a:srgbClr val="006FC0"/>
                </a:solidFill>
                <a:latin typeface="Arial"/>
                <a:cs typeface="Arial"/>
              </a:rPr>
              <a:t>=  </a:t>
            </a:r>
            <a:r>
              <a:rPr sz="2600" spc="-370" dirty="0">
                <a:solidFill>
                  <a:srgbClr val="006FC0"/>
                </a:solidFill>
                <a:latin typeface="Arial"/>
                <a:cs typeface="Arial"/>
              </a:rPr>
              <a:t>0  </a:t>
            </a:r>
            <a:r>
              <a:rPr sz="2600" spc="-235" dirty="0">
                <a:solidFill>
                  <a:srgbClr val="006FC0"/>
                </a:solidFill>
                <a:latin typeface="Arial"/>
                <a:cs typeface="Arial"/>
              </a:rPr>
              <a:t>and  </a:t>
            </a:r>
            <a:r>
              <a:rPr sz="2600" spc="-229" dirty="0">
                <a:solidFill>
                  <a:srgbClr val="006FC0"/>
                </a:solidFill>
                <a:latin typeface="Arial"/>
                <a:cs typeface="Arial"/>
              </a:rPr>
              <a:t>S</a:t>
            </a:r>
            <a:r>
              <a:rPr sz="2550" spc="-345" baseline="-21241" dirty="0">
                <a:solidFill>
                  <a:srgbClr val="006FC0"/>
                </a:solidFill>
                <a:latin typeface="Arial"/>
                <a:cs typeface="Arial"/>
              </a:rPr>
              <a:t>0</a:t>
            </a:r>
            <a:r>
              <a:rPr sz="2600" spc="-229" dirty="0">
                <a:solidFill>
                  <a:srgbClr val="006FC0"/>
                </a:solidFill>
                <a:latin typeface="Arial"/>
                <a:cs typeface="Arial"/>
              </a:rPr>
              <a:t>=  </a:t>
            </a:r>
            <a:r>
              <a:rPr sz="2600" spc="-190" dirty="0">
                <a:solidFill>
                  <a:srgbClr val="006FC0"/>
                </a:solidFill>
                <a:latin typeface="Arial"/>
                <a:cs typeface="Arial"/>
              </a:rPr>
              <a:t>0; </a:t>
            </a:r>
            <a:r>
              <a:rPr sz="2600" spc="-75" dirty="0">
                <a:latin typeface="Arial"/>
                <a:cs typeface="Arial"/>
              </a:rPr>
              <a:t>Y=</a:t>
            </a:r>
            <a:r>
              <a:rPr sz="2600" spc="-385" dirty="0">
                <a:latin typeface="Arial"/>
                <a:cs typeface="Arial"/>
              </a:rPr>
              <a:t> </a:t>
            </a:r>
            <a:r>
              <a:rPr sz="2600" spc="-180" dirty="0">
                <a:latin typeface="Arial"/>
                <a:cs typeface="Arial"/>
              </a:rPr>
              <a:t>I</a:t>
            </a:r>
            <a:r>
              <a:rPr sz="2550" spc="-270" baseline="-21241" dirty="0">
                <a:latin typeface="Arial"/>
                <a:cs typeface="Arial"/>
              </a:rPr>
              <a:t>0</a:t>
            </a:r>
            <a:r>
              <a:rPr sz="2600" spc="-180" dirty="0">
                <a:latin typeface="Arial"/>
                <a:cs typeface="Arial"/>
              </a:rPr>
              <a:t>S</a:t>
            </a:r>
            <a:r>
              <a:rPr sz="2550" spc="-270" baseline="-21241" dirty="0">
                <a:latin typeface="Arial"/>
                <a:cs typeface="Arial"/>
              </a:rPr>
              <a:t>1</a:t>
            </a:r>
            <a:r>
              <a:rPr sz="2600" spc="-180" dirty="0">
                <a:latin typeface="Arial"/>
                <a:cs typeface="Arial"/>
              </a:rPr>
              <a:t>’S</a:t>
            </a:r>
            <a:r>
              <a:rPr sz="2550" spc="-270" baseline="-21241" dirty="0">
                <a:latin typeface="Arial"/>
                <a:cs typeface="Arial"/>
              </a:rPr>
              <a:t>0</a:t>
            </a:r>
            <a:r>
              <a:rPr sz="2600" spc="-180" dirty="0">
                <a:latin typeface="Arial"/>
                <a:cs typeface="Arial"/>
              </a:rPr>
              <a:t>’.</a:t>
            </a:r>
            <a:endParaRPr sz="2600">
              <a:latin typeface="Arial"/>
              <a:cs typeface="Arial"/>
            </a:endParaRPr>
          </a:p>
          <a:p>
            <a:pPr marL="88900" marR="173355">
              <a:lnSpc>
                <a:spcPts val="6240"/>
              </a:lnSpc>
              <a:spcBef>
                <a:spcPts val="725"/>
              </a:spcBef>
            </a:pPr>
            <a:r>
              <a:rPr sz="2600" spc="-21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600" spc="-204" dirty="0">
                <a:solidFill>
                  <a:srgbClr val="006FC0"/>
                </a:solidFill>
                <a:latin typeface="Arial"/>
                <a:cs typeface="Arial"/>
              </a:rPr>
              <a:t>data </a:t>
            </a:r>
            <a:r>
              <a:rPr sz="2600" spc="-90" dirty="0">
                <a:solidFill>
                  <a:srgbClr val="006FC0"/>
                </a:solidFill>
                <a:latin typeface="Arial"/>
                <a:cs typeface="Arial"/>
              </a:rPr>
              <a:t>output </a:t>
            </a:r>
            <a:r>
              <a:rPr sz="2600" spc="-24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600" spc="-220" dirty="0">
                <a:solidFill>
                  <a:srgbClr val="006FC0"/>
                </a:solidFill>
                <a:latin typeface="Arial"/>
                <a:cs typeface="Arial"/>
              </a:rPr>
              <a:t>equal </a:t>
            </a:r>
            <a:r>
              <a:rPr sz="2600" spc="-45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600" spc="-105" dirty="0">
                <a:solidFill>
                  <a:srgbClr val="006FC0"/>
                </a:solidFill>
                <a:latin typeface="Arial"/>
                <a:cs typeface="Arial"/>
              </a:rPr>
              <a:t>I</a:t>
            </a:r>
            <a:r>
              <a:rPr sz="2550" spc="-157" baseline="-21241" dirty="0">
                <a:solidFill>
                  <a:srgbClr val="006FC0"/>
                </a:solidFill>
                <a:latin typeface="Arial"/>
                <a:cs typeface="Arial"/>
              </a:rPr>
              <a:t>1 </a:t>
            </a:r>
            <a:r>
              <a:rPr sz="2600" spc="-120" dirty="0">
                <a:solidFill>
                  <a:srgbClr val="006FC0"/>
                </a:solidFill>
                <a:latin typeface="Arial"/>
                <a:cs typeface="Arial"/>
              </a:rPr>
              <a:t>only </a:t>
            </a:r>
            <a:r>
              <a:rPr sz="2600" dirty="0">
                <a:solidFill>
                  <a:srgbClr val="006FC0"/>
                </a:solidFill>
                <a:latin typeface="Arial"/>
                <a:cs typeface="Arial"/>
              </a:rPr>
              <a:t>if </a:t>
            </a:r>
            <a:r>
              <a:rPr sz="2600" spc="-229" dirty="0">
                <a:solidFill>
                  <a:srgbClr val="006FC0"/>
                </a:solidFill>
                <a:latin typeface="Arial"/>
                <a:cs typeface="Arial"/>
              </a:rPr>
              <a:t>S</a:t>
            </a:r>
            <a:r>
              <a:rPr sz="2550" spc="-345" baseline="-21241" dirty="0">
                <a:solidFill>
                  <a:srgbClr val="006FC0"/>
                </a:solidFill>
                <a:latin typeface="Arial"/>
                <a:cs typeface="Arial"/>
              </a:rPr>
              <a:t>1</a:t>
            </a:r>
            <a:r>
              <a:rPr sz="2600" spc="-229" dirty="0">
                <a:solidFill>
                  <a:srgbClr val="006FC0"/>
                </a:solidFill>
                <a:latin typeface="Arial"/>
                <a:cs typeface="Arial"/>
              </a:rPr>
              <a:t>= </a:t>
            </a:r>
            <a:r>
              <a:rPr sz="2600" spc="-365" dirty="0">
                <a:solidFill>
                  <a:srgbClr val="006FC0"/>
                </a:solidFill>
                <a:latin typeface="Arial"/>
                <a:cs typeface="Arial"/>
              </a:rPr>
              <a:t>0 </a:t>
            </a:r>
            <a:r>
              <a:rPr sz="2600" spc="-229" dirty="0">
                <a:solidFill>
                  <a:srgbClr val="006FC0"/>
                </a:solidFill>
                <a:latin typeface="Arial"/>
                <a:cs typeface="Arial"/>
              </a:rPr>
              <a:t>and S</a:t>
            </a:r>
            <a:r>
              <a:rPr sz="2550" spc="-345" baseline="-21241" dirty="0">
                <a:solidFill>
                  <a:srgbClr val="006FC0"/>
                </a:solidFill>
                <a:latin typeface="Arial"/>
                <a:cs typeface="Arial"/>
              </a:rPr>
              <a:t>0</a:t>
            </a:r>
            <a:r>
              <a:rPr sz="2600" spc="-229" dirty="0">
                <a:solidFill>
                  <a:srgbClr val="006FC0"/>
                </a:solidFill>
                <a:latin typeface="Arial"/>
                <a:cs typeface="Arial"/>
              </a:rPr>
              <a:t>= </a:t>
            </a:r>
            <a:r>
              <a:rPr sz="2600" spc="-185" dirty="0">
                <a:solidFill>
                  <a:srgbClr val="006FC0"/>
                </a:solidFill>
                <a:latin typeface="Arial"/>
                <a:cs typeface="Arial"/>
              </a:rPr>
              <a:t>1; </a:t>
            </a:r>
            <a:r>
              <a:rPr sz="2600" spc="-75" dirty="0">
                <a:latin typeface="Arial"/>
                <a:cs typeface="Arial"/>
              </a:rPr>
              <a:t>Y= </a:t>
            </a:r>
            <a:r>
              <a:rPr sz="2600" spc="-215" dirty="0">
                <a:latin typeface="Arial"/>
                <a:cs typeface="Arial"/>
              </a:rPr>
              <a:t>I</a:t>
            </a:r>
            <a:r>
              <a:rPr sz="2550" spc="-322" baseline="-21241" dirty="0">
                <a:latin typeface="Arial"/>
                <a:cs typeface="Arial"/>
              </a:rPr>
              <a:t>1</a:t>
            </a:r>
            <a:r>
              <a:rPr sz="2600" spc="-215" dirty="0">
                <a:latin typeface="Arial"/>
                <a:cs typeface="Arial"/>
              </a:rPr>
              <a:t>S</a:t>
            </a:r>
            <a:r>
              <a:rPr sz="2550" spc="-322" baseline="-21241" dirty="0">
                <a:latin typeface="Arial"/>
                <a:cs typeface="Arial"/>
              </a:rPr>
              <a:t>1</a:t>
            </a:r>
            <a:r>
              <a:rPr sz="2600" spc="-215" dirty="0">
                <a:latin typeface="Arial"/>
                <a:cs typeface="Arial"/>
              </a:rPr>
              <a:t>’S</a:t>
            </a:r>
            <a:r>
              <a:rPr sz="2550" spc="-322" baseline="-21241" dirty="0">
                <a:latin typeface="Arial"/>
                <a:cs typeface="Arial"/>
              </a:rPr>
              <a:t>0</a:t>
            </a:r>
            <a:r>
              <a:rPr sz="2600" spc="-215" dirty="0">
                <a:latin typeface="Arial"/>
                <a:cs typeface="Arial"/>
              </a:rPr>
              <a:t>.  </a:t>
            </a:r>
            <a:r>
              <a:rPr sz="2600" spc="-21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600" spc="-204" dirty="0">
                <a:solidFill>
                  <a:srgbClr val="006FC0"/>
                </a:solidFill>
                <a:latin typeface="Arial"/>
                <a:cs typeface="Arial"/>
              </a:rPr>
              <a:t>data </a:t>
            </a:r>
            <a:r>
              <a:rPr sz="2600" spc="-95" dirty="0">
                <a:solidFill>
                  <a:srgbClr val="006FC0"/>
                </a:solidFill>
                <a:latin typeface="Arial"/>
                <a:cs typeface="Arial"/>
              </a:rPr>
              <a:t>output </a:t>
            </a:r>
            <a:r>
              <a:rPr sz="2600" spc="-250" dirty="0">
                <a:solidFill>
                  <a:srgbClr val="006FC0"/>
                </a:solidFill>
                <a:latin typeface="Arial"/>
                <a:cs typeface="Arial"/>
              </a:rPr>
              <a:t>is  </a:t>
            </a:r>
            <a:r>
              <a:rPr sz="2600" spc="-220" dirty="0">
                <a:solidFill>
                  <a:srgbClr val="006FC0"/>
                </a:solidFill>
                <a:latin typeface="Arial"/>
                <a:cs typeface="Arial"/>
              </a:rPr>
              <a:t>equal  </a:t>
            </a:r>
            <a:r>
              <a:rPr sz="2600" spc="-45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600" spc="-100" dirty="0">
                <a:solidFill>
                  <a:srgbClr val="006FC0"/>
                </a:solidFill>
                <a:latin typeface="Arial"/>
                <a:cs typeface="Arial"/>
              </a:rPr>
              <a:t>I</a:t>
            </a:r>
            <a:r>
              <a:rPr sz="2550" spc="-150" baseline="-21241" dirty="0">
                <a:solidFill>
                  <a:srgbClr val="006FC0"/>
                </a:solidFill>
                <a:latin typeface="Arial"/>
                <a:cs typeface="Arial"/>
              </a:rPr>
              <a:t>2  </a:t>
            </a:r>
            <a:r>
              <a:rPr sz="2600" spc="-120" dirty="0">
                <a:solidFill>
                  <a:srgbClr val="006FC0"/>
                </a:solidFill>
                <a:latin typeface="Arial"/>
                <a:cs typeface="Arial"/>
              </a:rPr>
              <a:t>only </a:t>
            </a:r>
            <a:r>
              <a:rPr sz="2600" dirty="0">
                <a:solidFill>
                  <a:srgbClr val="006FC0"/>
                </a:solidFill>
                <a:latin typeface="Arial"/>
                <a:cs typeface="Arial"/>
              </a:rPr>
              <a:t>if </a:t>
            </a:r>
            <a:r>
              <a:rPr sz="2600" spc="-229" dirty="0">
                <a:solidFill>
                  <a:srgbClr val="006FC0"/>
                </a:solidFill>
                <a:latin typeface="Arial"/>
                <a:cs typeface="Arial"/>
              </a:rPr>
              <a:t>S</a:t>
            </a:r>
            <a:r>
              <a:rPr sz="2550" spc="-345" baseline="-21241" dirty="0">
                <a:solidFill>
                  <a:srgbClr val="006FC0"/>
                </a:solidFill>
                <a:latin typeface="Arial"/>
                <a:cs typeface="Arial"/>
              </a:rPr>
              <a:t>1</a:t>
            </a:r>
            <a:r>
              <a:rPr sz="2600" spc="-229" dirty="0">
                <a:solidFill>
                  <a:srgbClr val="006FC0"/>
                </a:solidFill>
                <a:latin typeface="Arial"/>
                <a:cs typeface="Arial"/>
              </a:rPr>
              <a:t>=  </a:t>
            </a:r>
            <a:r>
              <a:rPr sz="2600" spc="-370" dirty="0">
                <a:solidFill>
                  <a:srgbClr val="006FC0"/>
                </a:solidFill>
                <a:latin typeface="Arial"/>
                <a:cs typeface="Arial"/>
              </a:rPr>
              <a:t>1  </a:t>
            </a:r>
            <a:r>
              <a:rPr sz="2600" spc="-235" dirty="0">
                <a:solidFill>
                  <a:srgbClr val="006FC0"/>
                </a:solidFill>
                <a:latin typeface="Arial"/>
                <a:cs typeface="Arial"/>
              </a:rPr>
              <a:t>and  </a:t>
            </a:r>
            <a:r>
              <a:rPr sz="2600" spc="-229" dirty="0">
                <a:solidFill>
                  <a:srgbClr val="006FC0"/>
                </a:solidFill>
                <a:latin typeface="Arial"/>
                <a:cs typeface="Arial"/>
              </a:rPr>
              <a:t>S</a:t>
            </a:r>
            <a:r>
              <a:rPr sz="2550" spc="-345" baseline="-21241" dirty="0">
                <a:solidFill>
                  <a:srgbClr val="006FC0"/>
                </a:solidFill>
                <a:latin typeface="Arial"/>
                <a:cs typeface="Arial"/>
              </a:rPr>
              <a:t>0</a:t>
            </a:r>
            <a:r>
              <a:rPr sz="2600" spc="-229" dirty="0">
                <a:solidFill>
                  <a:srgbClr val="006FC0"/>
                </a:solidFill>
                <a:latin typeface="Arial"/>
                <a:cs typeface="Arial"/>
              </a:rPr>
              <a:t>=  </a:t>
            </a:r>
            <a:r>
              <a:rPr sz="2600" spc="-190" dirty="0">
                <a:solidFill>
                  <a:srgbClr val="006FC0"/>
                </a:solidFill>
                <a:latin typeface="Arial"/>
                <a:cs typeface="Arial"/>
              </a:rPr>
              <a:t>0; </a:t>
            </a:r>
            <a:r>
              <a:rPr sz="2600" spc="-75" dirty="0">
                <a:latin typeface="Arial"/>
                <a:cs typeface="Arial"/>
              </a:rPr>
              <a:t>Y=</a:t>
            </a:r>
            <a:r>
              <a:rPr sz="2600" spc="-395" dirty="0">
                <a:latin typeface="Arial"/>
                <a:cs typeface="Arial"/>
              </a:rPr>
              <a:t> </a:t>
            </a:r>
            <a:r>
              <a:rPr sz="2600" spc="-220" dirty="0">
                <a:latin typeface="Arial"/>
                <a:cs typeface="Arial"/>
              </a:rPr>
              <a:t>I</a:t>
            </a:r>
            <a:r>
              <a:rPr sz="2550" spc="-330" baseline="-21241" dirty="0">
                <a:latin typeface="Arial"/>
                <a:cs typeface="Arial"/>
              </a:rPr>
              <a:t>2</a:t>
            </a:r>
            <a:r>
              <a:rPr sz="2600" spc="-220" dirty="0">
                <a:latin typeface="Arial"/>
                <a:cs typeface="Arial"/>
              </a:rPr>
              <a:t>S</a:t>
            </a:r>
            <a:r>
              <a:rPr sz="2550" spc="-330" baseline="-21241" dirty="0">
                <a:latin typeface="Arial"/>
                <a:cs typeface="Arial"/>
              </a:rPr>
              <a:t>1</a:t>
            </a:r>
            <a:r>
              <a:rPr sz="2600" spc="-220" dirty="0">
                <a:latin typeface="Arial"/>
                <a:cs typeface="Arial"/>
              </a:rPr>
              <a:t>S</a:t>
            </a:r>
            <a:r>
              <a:rPr sz="2550" spc="-330" baseline="-21241" dirty="0">
                <a:latin typeface="Arial"/>
                <a:cs typeface="Arial"/>
              </a:rPr>
              <a:t>0</a:t>
            </a:r>
            <a:r>
              <a:rPr sz="2600" spc="-220" dirty="0">
                <a:latin typeface="Arial"/>
                <a:cs typeface="Arial"/>
              </a:rPr>
              <a:t>’.</a:t>
            </a:r>
            <a:endParaRPr sz="2600">
              <a:latin typeface="Arial"/>
              <a:cs typeface="Arial"/>
            </a:endParaRPr>
          </a:p>
          <a:p>
            <a:pPr marL="88900">
              <a:lnSpc>
                <a:spcPct val="100000"/>
              </a:lnSpc>
              <a:spcBef>
                <a:spcPts val="2395"/>
              </a:spcBef>
            </a:pPr>
            <a:r>
              <a:rPr sz="2600" spc="-21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600" spc="-204" dirty="0">
                <a:solidFill>
                  <a:srgbClr val="006FC0"/>
                </a:solidFill>
                <a:latin typeface="Arial"/>
                <a:cs typeface="Arial"/>
              </a:rPr>
              <a:t>data </a:t>
            </a:r>
            <a:r>
              <a:rPr sz="2600" spc="-90" dirty="0">
                <a:solidFill>
                  <a:srgbClr val="006FC0"/>
                </a:solidFill>
                <a:latin typeface="Arial"/>
                <a:cs typeface="Arial"/>
              </a:rPr>
              <a:t>output </a:t>
            </a:r>
            <a:r>
              <a:rPr sz="2600" spc="-245" dirty="0">
                <a:solidFill>
                  <a:srgbClr val="006FC0"/>
                </a:solidFill>
                <a:latin typeface="Arial"/>
                <a:cs typeface="Arial"/>
              </a:rPr>
              <a:t>is  </a:t>
            </a:r>
            <a:r>
              <a:rPr sz="2600" spc="-220" dirty="0">
                <a:solidFill>
                  <a:srgbClr val="006FC0"/>
                </a:solidFill>
                <a:latin typeface="Arial"/>
                <a:cs typeface="Arial"/>
              </a:rPr>
              <a:t>equal  </a:t>
            </a:r>
            <a:r>
              <a:rPr sz="2600" spc="-45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600" spc="-105" dirty="0">
                <a:solidFill>
                  <a:srgbClr val="006FC0"/>
                </a:solidFill>
                <a:latin typeface="Arial"/>
                <a:cs typeface="Arial"/>
              </a:rPr>
              <a:t>I</a:t>
            </a:r>
            <a:r>
              <a:rPr sz="2550" spc="-157" baseline="-21241" dirty="0">
                <a:solidFill>
                  <a:srgbClr val="006FC0"/>
                </a:solidFill>
                <a:latin typeface="Arial"/>
                <a:cs typeface="Arial"/>
              </a:rPr>
              <a:t>3  </a:t>
            </a:r>
            <a:r>
              <a:rPr sz="2600" spc="-120" dirty="0">
                <a:solidFill>
                  <a:srgbClr val="006FC0"/>
                </a:solidFill>
                <a:latin typeface="Arial"/>
                <a:cs typeface="Arial"/>
              </a:rPr>
              <a:t>only </a:t>
            </a:r>
            <a:r>
              <a:rPr sz="2600" dirty="0">
                <a:solidFill>
                  <a:srgbClr val="006FC0"/>
                </a:solidFill>
                <a:latin typeface="Arial"/>
                <a:cs typeface="Arial"/>
              </a:rPr>
              <a:t>if </a:t>
            </a:r>
            <a:r>
              <a:rPr sz="2600" spc="-229" dirty="0">
                <a:solidFill>
                  <a:srgbClr val="006FC0"/>
                </a:solidFill>
                <a:latin typeface="Arial"/>
                <a:cs typeface="Arial"/>
              </a:rPr>
              <a:t>S</a:t>
            </a:r>
            <a:r>
              <a:rPr sz="2550" spc="-345" baseline="-21241" dirty="0">
                <a:solidFill>
                  <a:srgbClr val="006FC0"/>
                </a:solidFill>
                <a:latin typeface="Arial"/>
                <a:cs typeface="Arial"/>
              </a:rPr>
              <a:t>1</a:t>
            </a:r>
            <a:r>
              <a:rPr sz="2600" spc="-229" dirty="0">
                <a:solidFill>
                  <a:srgbClr val="006FC0"/>
                </a:solidFill>
                <a:latin typeface="Arial"/>
                <a:cs typeface="Arial"/>
              </a:rPr>
              <a:t>=  </a:t>
            </a:r>
            <a:r>
              <a:rPr sz="2600" spc="-365" dirty="0">
                <a:solidFill>
                  <a:srgbClr val="006FC0"/>
                </a:solidFill>
                <a:latin typeface="Arial"/>
                <a:cs typeface="Arial"/>
              </a:rPr>
              <a:t>1  </a:t>
            </a:r>
            <a:r>
              <a:rPr sz="2600" spc="-229" dirty="0">
                <a:solidFill>
                  <a:srgbClr val="006FC0"/>
                </a:solidFill>
                <a:latin typeface="Arial"/>
                <a:cs typeface="Arial"/>
              </a:rPr>
              <a:t>and  S</a:t>
            </a:r>
            <a:r>
              <a:rPr sz="2550" spc="-345" baseline="-21241" dirty="0">
                <a:solidFill>
                  <a:srgbClr val="006FC0"/>
                </a:solidFill>
                <a:latin typeface="Arial"/>
                <a:cs typeface="Arial"/>
              </a:rPr>
              <a:t>0</a:t>
            </a:r>
            <a:r>
              <a:rPr sz="2600" spc="-229" dirty="0">
                <a:solidFill>
                  <a:srgbClr val="006FC0"/>
                </a:solidFill>
                <a:latin typeface="Arial"/>
                <a:cs typeface="Arial"/>
              </a:rPr>
              <a:t>=  </a:t>
            </a:r>
            <a:r>
              <a:rPr sz="2600" spc="-185" dirty="0">
                <a:solidFill>
                  <a:srgbClr val="006FC0"/>
                </a:solidFill>
                <a:latin typeface="Arial"/>
                <a:cs typeface="Arial"/>
              </a:rPr>
              <a:t>1; </a:t>
            </a:r>
            <a:r>
              <a:rPr sz="2600" spc="-75" dirty="0">
                <a:latin typeface="Arial"/>
                <a:cs typeface="Arial"/>
              </a:rPr>
              <a:t>Y=</a:t>
            </a:r>
            <a:r>
              <a:rPr sz="2600" spc="-480" dirty="0">
                <a:latin typeface="Arial"/>
                <a:cs typeface="Arial"/>
              </a:rPr>
              <a:t> </a:t>
            </a:r>
            <a:r>
              <a:rPr sz="2600" spc="-270" dirty="0">
                <a:latin typeface="Arial"/>
                <a:cs typeface="Arial"/>
              </a:rPr>
              <a:t>I</a:t>
            </a:r>
            <a:r>
              <a:rPr sz="2550" spc="-405" baseline="-21241" dirty="0">
                <a:latin typeface="Arial"/>
                <a:cs typeface="Arial"/>
              </a:rPr>
              <a:t>3</a:t>
            </a:r>
            <a:r>
              <a:rPr sz="2600" spc="-270" dirty="0">
                <a:latin typeface="Arial"/>
                <a:cs typeface="Arial"/>
              </a:rPr>
              <a:t>S</a:t>
            </a:r>
            <a:r>
              <a:rPr sz="2550" spc="-405" baseline="-21241" dirty="0">
                <a:latin typeface="Arial"/>
                <a:cs typeface="Arial"/>
              </a:rPr>
              <a:t>1</a:t>
            </a:r>
            <a:r>
              <a:rPr sz="2600" spc="-270" dirty="0">
                <a:latin typeface="Arial"/>
                <a:cs typeface="Arial"/>
              </a:rPr>
              <a:t>S</a:t>
            </a:r>
            <a:r>
              <a:rPr sz="2550" spc="-405" baseline="-21241" dirty="0">
                <a:latin typeface="Arial"/>
                <a:cs typeface="Arial"/>
              </a:rPr>
              <a:t>0</a:t>
            </a:r>
            <a:r>
              <a:rPr sz="2600" spc="-270" dirty="0">
                <a:latin typeface="Arial"/>
                <a:cs typeface="Arial"/>
              </a:rPr>
              <a:t>.</a:t>
            </a:r>
            <a:endParaRPr sz="2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700">
              <a:latin typeface="Arial"/>
              <a:cs typeface="Arial"/>
            </a:endParaRPr>
          </a:p>
          <a:p>
            <a:pPr marL="88900" marR="575310">
              <a:lnSpc>
                <a:spcPct val="100000"/>
              </a:lnSpc>
              <a:spcBef>
                <a:spcPts val="5"/>
              </a:spcBef>
            </a:pPr>
            <a:r>
              <a:rPr sz="2600" spc="-240" dirty="0">
                <a:solidFill>
                  <a:srgbClr val="006FC0"/>
                </a:solidFill>
                <a:latin typeface="Arial"/>
                <a:cs typeface="Arial"/>
              </a:rPr>
              <a:t>When </a:t>
            </a:r>
            <a:r>
              <a:rPr sz="2600" spc="-254" dirty="0">
                <a:solidFill>
                  <a:srgbClr val="006FC0"/>
                </a:solidFill>
                <a:latin typeface="Arial"/>
                <a:cs typeface="Arial"/>
              </a:rPr>
              <a:t>these </a:t>
            </a:r>
            <a:r>
              <a:rPr sz="2600" spc="-195" dirty="0">
                <a:solidFill>
                  <a:srgbClr val="006FC0"/>
                </a:solidFill>
                <a:latin typeface="Arial"/>
                <a:cs typeface="Arial"/>
              </a:rPr>
              <a:t>terms </a:t>
            </a:r>
            <a:r>
              <a:rPr sz="2600" spc="-229" dirty="0">
                <a:solidFill>
                  <a:srgbClr val="006FC0"/>
                </a:solidFill>
                <a:latin typeface="Arial"/>
                <a:cs typeface="Arial"/>
              </a:rPr>
              <a:t>are </a:t>
            </a:r>
            <a:r>
              <a:rPr sz="2600" spc="-200" dirty="0">
                <a:solidFill>
                  <a:srgbClr val="006FC0"/>
                </a:solidFill>
                <a:latin typeface="Arial"/>
                <a:cs typeface="Arial"/>
              </a:rPr>
              <a:t>ORed, </a:t>
            </a:r>
            <a:r>
              <a:rPr sz="2600" spc="-15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600" spc="-85" dirty="0">
                <a:solidFill>
                  <a:srgbClr val="006FC0"/>
                </a:solidFill>
                <a:latin typeface="Arial"/>
                <a:cs typeface="Arial"/>
              </a:rPr>
              <a:t>total </a:t>
            </a:r>
            <a:r>
              <a:rPr sz="2600" spc="-229" dirty="0">
                <a:solidFill>
                  <a:srgbClr val="006FC0"/>
                </a:solidFill>
                <a:latin typeface="Arial"/>
                <a:cs typeface="Arial"/>
              </a:rPr>
              <a:t>expression </a:t>
            </a:r>
            <a:r>
              <a:rPr sz="2600" spc="-50" dirty="0">
                <a:solidFill>
                  <a:srgbClr val="006FC0"/>
                </a:solidFill>
                <a:latin typeface="Arial"/>
                <a:cs typeface="Arial"/>
              </a:rPr>
              <a:t>for </a:t>
            </a:r>
            <a:r>
              <a:rPr sz="2600" spc="-15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600" spc="-204" dirty="0">
                <a:solidFill>
                  <a:srgbClr val="006FC0"/>
                </a:solidFill>
                <a:latin typeface="Arial"/>
                <a:cs typeface="Arial"/>
              </a:rPr>
              <a:t>data  </a:t>
            </a:r>
            <a:r>
              <a:rPr sz="2600" spc="-95" dirty="0">
                <a:solidFill>
                  <a:srgbClr val="006FC0"/>
                </a:solidFill>
                <a:latin typeface="Arial"/>
                <a:cs typeface="Arial"/>
              </a:rPr>
              <a:t>output</a:t>
            </a:r>
            <a:r>
              <a:rPr sz="2600" spc="-1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600" spc="-215" dirty="0">
                <a:solidFill>
                  <a:srgbClr val="006FC0"/>
                </a:solidFill>
                <a:latin typeface="Arial"/>
                <a:cs typeface="Arial"/>
              </a:rPr>
              <a:t>is,</a:t>
            </a:r>
            <a:endParaRPr sz="2600">
              <a:latin typeface="Arial"/>
              <a:cs typeface="Arial"/>
            </a:endParaRPr>
          </a:p>
          <a:p>
            <a:pPr marL="119380" algn="ctr">
              <a:lnSpc>
                <a:spcPct val="100000"/>
              </a:lnSpc>
            </a:pPr>
            <a:r>
              <a:rPr sz="2600" b="1" spc="-70" dirty="0">
                <a:latin typeface="Arial"/>
                <a:cs typeface="Arial"/>
              </a:rPr>
              <a:t>Y= </a:t>
            </a:r>
            <a:r>
              <a:rPr sz="2600" b="1" spc="-175" dirty="0">
                <a:latin typeface="Arial"/>
                <a:cs typeface="Arial"/>
              </a:rPr>
              <a:t>I</a:t>
            </a:r>
            <a:r>
              <a:rPr sz="2550" b="1" spc="-262" baseline="-21241" dirty="0">
                <a:latin typeface="Arial"/>
                <a:cs typeface="Arial"/>
              </a:rPr>
              <a:t>0</a:t>
            </a:r>
            <a:r>
              <a:rPr sz="2600" b="1" spc="-175" dirty="0">
                <a:latin typeface="Arial"/>
                <a:cs typeface="Arial"/>
              </a:rPr>
              <a:t>S</a:t>
            </a:r>
            <a:r>
              <a:rPr sz="2550" b="1" spc="-262" baseline="-21241" dirty="0">
                <a:latin typeface="Arial"/>
                <a:cs typeface="Arial"/>
              </a:rPr>
              <a:t>1</a:t>
            </a:r>
            <a:r>
              <a:rPr sz="2600" b="1" spc="-175" dirty="0">
                <a:latin typeface="Arial"/>
                <a:cs typeface="Arial"/>
              </a:rPr>
              <a:t>’S</a:t>
            </a:r>
            <a:r>
              <a:rPr sz="2550" b="1" spc="-262" baseline="-21241" dirty="0">
                <a:latin typeface="Arial"/>
                <a:cs typeface="Arial"/>
              </a:rPr>
              <a:t>0</a:t>
            </a:r>
            <a:r>
              <a:rPr sz="2600" b="1" spc="-175" dirty="0">
                <a:latin typeface="Arial"/>
                <a:cs typeface="Arial"/>
              </a:rPr>
              <a:t>’+ </a:t>
            </a:r>
            <a:r>
              <a:rPr sz="2600" b="1" spc="-240" dirty="0">
                <a:latin typeface="Arial"/>
                <a:cs typeface="Arial"/>
              </a:rPr>
              <a:t>I</a:t>
            </a:r>
            <a:r>
              <a:rPr sz="2550" b="1" spc="-359" baseline="-21241" dirty="0">
                <a:latin typeface="Arial"/>
                <a:cs typeface="Arial"/>
              </a:rPr>
              <a:t>1</a:t>
            </a:r>
            <a:r>
              <a:rPr sz="2600" b="1" spc="-240" dirty="0">
                <a:latin typeface="Arial"/>
                <a:cs typeface="Arial"/>
              </a:rPr>
              <a:t>S</a:t>
            </a:r>
            <a:r>
              <a:rPr sz="2550" b="1" spc="-359" baseline="-21241" dirty="0">
                <a:latin typeface="Arial"/>
                <a:cs typeface="Arial"/>
              </a:rPr>
              <a:t>1</a:t>
            </a:r>
            <a:r>
              <a:rPr sz="2600" b="1" spc="-240" dirty="0">
                <a:latin typeface="Arial"/>
                <a:cs typeface="Arial"/>
              </a:rPr>
              <a:t>’S</a:t>
            </a:r>
            <a:r>
              <a:rPr sz="2550" b="1" spc="-359" baseline="-21241" dirty="0">
                <a:latin typeface="Arial"/>
                <a:cs typeface="Arial"/>
              </a:rPr>
              <a:t>0 </a:t>
            </a:r>
            <a:r>
              <a:rPr sz="2600" b="1" spc="-170" dirty="0">
                <a:latin typeface="Arial"/>
                <a:cs typeface="Arial"/>
              </a:rPr>
              <a:t>+I</a:t>
            </a:r>
            <a:r>
              <a:rPr sz="2550" b="1" spc="-254" baseline="-21241" dirty="0">
                <a:latin typeface="Arial"/>
                <a:cs typeface="Arial"/>
              </a:rPr>
              <a:t>2</a:t>
            </a:r>
            <a:r>
              <a:rPr sz="2600" b="1" spc="-170" dirty="0">
                <a:latin typeface="Arial"/>
                <a:cs typeface="Arial"/>
              </a:rPr>
              <a:t>S</a:t>
            </a:r>
            <a:r>
              <a:rPr sz="2550" b="1" spc="-254" baseline="-21241" dirty="0">
                <a:latin typeface="Arial"/>
                <a:cs typeface="Arial"/>
              </a:rPr>
              <a:t>1</a:t>
            </a:r>
            <a:r>
              <a:rPr sz="2600" b="1" spc="-170" dirty="0">
                <a:latin typeface="Arial"/>
                <a:cs typeface="Arial"/>
              </a:rPr>
              <a:t>S</a:t>
            </a:r>
            <a:r>
              <a:rPr sz="2550" b="1" spc="-254" baseline="-21241" dirty="0">
                <a:latin typeface="Arial"/>
                <a:cs typeface="Arial"/>
              </a:rPr>
              <a:t>0</a:t>
            </a:r>
            <a:r>
              <a:rPr sz="2600" b="1" spc="-170" dirty="0">
                <a:latin typeface="Arial"/>
                <a:cs typeface="Arial"/>
              </a:rPr>
              <a:t>’+</a:t>
            </a:r>
            <a:r>
              <a:rPr sz="2600" b="1" spc="120" dirty="0">
                <a:latin typeface="Arial"/>
                <a:cs typeface="Arial"/>
              </a:rPr>
              <a:t> </a:t>
            </a:r>
            <a:r>
              <a:rPr sz="2600" b="1" spc="-254" dirty="0">
                <a:latin typeface="Arial"/>
                <a:cs typeface="Arial"/>
              </a:rPr>
              <a:t>I</a:t>
            </a:r>
            <a:r>
              <a:rPr sz="2550" b="1" spc="-382" baseline="-21241" dirty="0">
                <a:latin typeface="Arial"/>
                <a:cs typeface="Arial"/>
              </a:rPr>
              <a:t>3</a:t>
            </a:r>
            <a:r>
              <a:rPr sz="2600" b="1" spc="-254" dirty="0">
                <a:latin typeface="Arial"/>
                <a:cs typeface="Arial"/>
              </a:rPr>
              <a:t>S</a:t>
            </a:r>
            <a:r>
              <a:rPr sz="2550" b="1" spc="-382" baseline="-21241" dirty="0">
                <a:latin typeface="Arial"/>
                <a:cs typeface="Arial"/>
              </a:rPr>
              <a:t>1</a:t>
            </a:r>
            <a:r>
              <a:rPr sz="2600" b="1" spc="-254" dirty="0">
                <a:latin typeface="Arial"/>
                <a:cs typeface="Arial"/>
              </a:rPr>
              <a:t>S</a:t>
            </a:r>
            <a:r>
              <a:rPr sz="2550" b="1" spc="-382" baseline="-21241" dirty="0">
                <a:latin typeface="Arial"/>
                <a:cs typeface="Arial"/>
              </a:rPr>
              <a:t>0.</a:t>
            </a:r>
            <a:endParaRPr sz="2550" baseline="-21241">
              <a:latin typeface="Arial"/>
              <a:cs typeface="Arial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8768842" y="6649770"/>
            <a:ext cx="296545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spc="-5" dirty="0">
                <a:solidFill>
                  <a:srgbClr val="FFFFFF"/>
                </a:solidFill>
                <a:latin typeface="Carlito"/>
                <a:cs typeface="Carlito"/>
              </a:rPr>
              <a:t>157</a:t>
            </a:r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793241" y="982217"/>
              <a:ext cx="7589519" cy="762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6764"/>
              <a:ext cx="9143999" cy="668274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53439" y="320001"/>
              <a:ext cx="7434072" cy="57611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939795" y="202679"/>
              <a:ext cx="3259835" cy="93422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214242" y="321386"/>
            <a:ext cx="271462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70" dirty="0">
                <a:latin typeface="Trebuchet MS"/>
                <a:cs typeface="Trebuchet MS"/>
              </a:rPr>
              <a:t>MULTIPLEXERS</a:t>
            </a:r>
            <a:endParaRPr sz="320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607819" y="1676400"/>
            <a:ext cx="7541259" cy="5181600"/>
            <a:chOff x="1607819" y="1676400"/>
            <a:chExt cx="7541259" cy="5181600"/>
          </a:xfrm>
        </p:grpSpPr>
        <p:sp>
          <p:nvSpPr>
            <p:cNvPr id="13" name="object 13"/>
            <p:cNvSpPr/>
            <p:nvPr/>
          </p:nvSpPr>
          <p:spPr>
            <a:xfrm>
              <a:off x="8593836" y="6620254"/>
              <a:ext cx="550164" cy="23774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630412" y="6556242"/>
              <a:ext cx="513588" cy="30175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607819" y="1676400"/>
              <a:ext cx="6012180" cy="4669536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041775" y="1148841"/>
            <a:ext cx="928369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25" dirty="0">
                <a:solidFill>
                  <a:srgbClr val="C00000"/>
                </a:solidFill>
                <a:latin typeface="Arial"/>
                <a:cs typeface="Arial"/>
              </a:rPr>
              <a:t>4:1</a:t>
            </a:r>
            <a:r>
              <a:rPr sz="2000" b="1" spc="-114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30" dirty="0">
                <a:solidFill>
                  <a:srgbClr val="C00000"/>
                </a:solidFill>
                <a:latin typeface="Arial"/>
                <a:cs typeface="Arial"/>
              </a:rPr>
              <a:t>MUX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155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793241" y="982217"/>
              <a:ext cx="7589519" cy="762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6764"/>
              <a:ext cx="9143999" cy="668274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53439" y="320001"/>
              <a:ext cx="7434072" cy="57611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939795" y="202679"/>
              <a:ext cx="3259835" cy="93422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214242" y="321386"/>
            <a:ext cx="271462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70" dirty="0"/>
              <a:t>MULTIPLEXERS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sp>
          <p:nvSpPr>
            <p:cNvPr id="13" name="object 13"/>
            <p:cNvSpPr/>
            <p:nvPr/>
          </p:nvSpPr>
          <p:spPr>
            <a:xfrm>
              <a:off x="8593835" y="6620255"/>
              <a:ext cx="550164" cy="23774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630411" y="6556243"/>
              <a:ext cx="513588" cy="30175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94640" y="1070177"/>
            <a:ext cx="8542020" cy="521398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R="111760" algn="ctr">
              <a:lnSpc>
                <a:spcPct val="100000"/>
              </a:lnSpc>
              <a:spcBef>
                <a:spcPts val="720"/>
              </a:spcBef>
            </a:pPr>
            <a:r>
              <a:rPr sz="2000" b="1" spc="-225" dirty="0">
                <a:solidFill>
                  <a:srgbClr val="C00000"/>
                </a:solidFill>
                <a:latin typeface="Arial"/>
                <a:cs typeface="Arial"/>
              </a:rPr>
              <a:t>4:1</a:t>
            </a:r>
            <a:r>
              <a:rPr sz="2000" b="1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30" dirty="0">
                <a:solidFill>
                  <a:srgbClr val="C00000"/>
                </a:solidFill>
                <a:latin typeface="Arial"/>
                <a:cs typeface="Arial"/>
              </a:rPr>
              <a:t>MUX</a:t>
            </a:r>
            <a:endParaRPr sz="2000">
              <a:latin typeface="Arial"/>
              <a:cs typeface="Arial"/>
            </a:endParaRPr>
          </a:p>
          <a:p>
            <a:pPr marL="565785" marR="81280" indent="-464820">
              <a:lnSpc>
                <a:spcPct val="100000"/>
              </a:lnSpc>
              <a:spcBef>
                <a:spcPts val="865"/>
              </a:spcBef>
              <a:buClr>
                <a:srgbClr val="E36C09"/>
              </a:buClr>
              <a:buFont typeface="Wingdings"/>
              <a:buChar char=""/>
              <a:tabLst>
                <a:tab pos="565785" algn="l"/>
                <a:tab pos="566420" algn="l"/>
              </a:tabLst>
            </a:pPr>
            <a:r>
              <a:rPr sz="2800" spc="-145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800" spc="-204" dirty="0">
                <a:solidFill>
                  <a:srgbClr val="006FC0"/>
                </a:solidFill>
                <a:latin typeface="Arial"/>
                <a:cs typeface="Arial"/>
              </a:rPr>
              <a:t>demonstrate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95" dirty="0">
                <a:solidFill>
                  <a:srgbClr val="006FC0"/>
                </a:solidFill>
                <a:latin typeface="Arial"/>
                <a:cs typeface="Arial"/>
              </a:rPr>
              <a:t>circuit </a:t>
            </a:r>
            <a:r>
              <a:rPr sz="2800" spc="-160" dirty="0">
                <a:solidFill>
                  <a:srgbClr val="006FC0"/>
                </a:solidFill>
                <a:latin typeface="Arial"/>
                <a:cs typeface="Arial"/>
              </a:rPr>
              <a:t>operation, </a:t>
            </a:r>
            <a:r>
              <a:rPr sz="2800" spc="-210" dirty="0">
                <a:solidFill>
                  <a:srgbClr val="006FC0"/>
                </a:solidFill>
                <a:latin typeface="Arial"/>
                <a:cs typeface="Arial"/>
              </a:rPr>
              <a:t>consider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380" dirty="0">
                <a:solidFill>
                  <a:srgbClr val="006FC0"/>
                </a:solidFill>
                <a:latin typeface="Arial"/>
                <a:cs typeface="Arial"/>
              </a:rPr>
              <a:t>case  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when </a:t>
            </a:r>
            <a:r>
              <a:rPr sz="2800" spc="-315" dirty="0">
                <a:solidFill>
                  <a:srgbClr val="006FC0"/>
                </a:solidFill>
                <a:latin typeface="Arial"/>
                <a:cs typeface="Arial"/>
              </a:rPr>
              <a:t>S</a:t>
            </a:r>
            <a:r>
              <a:rPr sz="2775" spc="-472" baseline="-21021" dirty="0">
                <a:solidFill>
                  <a:srgbClr val="006FC0"/>
                </a:solidFill>
                <a:latin typeface="Arial"/>
                <a:cs typeface="Arial"/>
              </a:rPr>
              <a:t>1</a:t>
            </a:r>
            <a:r>
              <a:rPr sz="2800" spc="-315" dirty="0">
                <a:solidFill>
                  <a:srgbClr val="006FC0"/>
                </a:solidFill>
                <a:latin typeface="Arial"/>
                <a:cs typeface="Arial"/>
              </a:rPr>
              <a:t>S</a:t>
            </a:r>
            <a:r>
              <a:rPr sz="2775" spc="-472" baseline="-21021" dirty="0">
                <a:solidFill>
                  <a:srgbClr val="006FC0"/>
                </a:solidFill>
                <a:latin typeface="Arial"/>
                <a:cs typeface="Arial"/>
              </a:rPr>
              <a:t>0</a:t>
            </a:r>
            <a:r>
              <a:rPr sz="2800" spc="-315" dirty="0">
                <a:solidFill>
                  <a:srgbClr val="006FC0"/>
                </a:solidFill>
                <a:latin typeface="Arial"/>
                <a:cs typeface="Arial"/>
              </a:rPr>
              <a:t>=</a:t>
            </a:r>
            <a:r>
              <a:rPr sz="2800" spc="-28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320" dirty="0">
                <a:solidFill>
                  <a:srgbClr val="006FC0"/>
                </a:solidFill>
                <a:latin typeface="Arial"/>
                <a:cs typeface="Arial"/>
              </a:rPr>
              <a:t>10.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E36C09"/>
              </a:buClr>
              <a:buFont typeface="Wingdings"/>
              <a:buChar char=""/>
            </a:pPr>
            <a:endParaRPr sz="2900">
              <a:latin typeface="Arial"/>
              <a:cs typeface="Arial"/>
            </a:endParaRPr>
          </a:p>
          <a:p>
            <a:pPr marL="565785" marR="81915" indent="-464820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565785" algn="l"/>
                <a:tab pos="566420" algn="l"/>
                <a:tab pos="1263015" algn="l"/>
                <a:tab pos="2172335" algn="l"/>
                <a:tab pos="2904490" algn="l"/>
                <a:tab pos="4436110" algn="l"/>
                <a:tab pos="5186045" algn="l"/>
                <a:tab pos="6061075" algn="l"/>
                <a:tab pos="6426835" algn="l"/>
                <a:tab pos="7028815" algn="l"/>
                <a:tab pos="7706995" algn="l"/>
                <a:tab pos="8155305" algn="l"/>
              </a:tabLst>
            </a:pPr>
            <a:r>
              <a:rPr sz="2800" spc="-180" dirty="0">
                <a:solidFill>
                  <a:srgbClr val="006FC0"/>
                </a:solidFill>
                <a:latin typeface="Arial"/>
                <a:cs typeface="Arial"/>
              </a:rPr>
              <a:t>T</a:t>
            </a:r>
            <a:r>
              <a:rPr sz="2800" spc="-155" dirty="0">
                <a:solidFill>
                  <a:srgbClr val="006FC0"/>
                </a:solidFill>
                <a:latin typeface="Arial"/>
                <a:cs typeface="Arial"/>
              </a:rPr>
              <a:t>h</a:t>
            </a:r>
            <a:r>
              <a:rPr sz="2800" spc="-350" dirty="0">
                <a:solidFill>
                  <a:srgbClr val="006FC0"/>
                </a:solidFill>
                <a:latin typeface="Arial"/>
                <a:cs typeface="Arial"/>
              </a:rPr>
              <a:t>e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30" dirty="0">
                <a:solidFill>
                  <a:srgbClr val="006FC0"/>
                </a:solidFill>
                <a:latin typeface="Arial"/>
                <a:cs typeface="Arial"/>
              </a:rPr>
              <a:t>AND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gat</a:t>
            </a:r>
            <a:r>
              <a:rPr sz="2800" spc="-295" dirty="0">
                <a:solidFill>
                  <a:srgbClr val="006FC0"/>
                </a:solidFill>
                <a:latin typeface="Arial"/>
                <a:cs typeface="Arial"/>
              </a:rPr>
              <a:t>e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270" dirty="0">
                <a:solidFill>
                  <a:srgbClr val="006FC0"/>
                </a:solidFill>
                <a:latin typeface="Arial"/>
                <a:cs typeface="Arial"/>
              </a:rPr>
              <a:t>associated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210" dirty="0">
                <a:solidFill>
                  <a:srgbClr val="006FC0"/>
                </a:solidFill>
                <a:latin typeface="Arial"/>
                <a:cs typeface="Arial"/>
              </a:rPr>
              <a:t>w</a:t>
            </a:r>
            <a:r>
              <a:rPr sz="2800" spc="-60" dirty="0">
                <a:solidFill>
                  <a:srgbClr val="006FC0"/>
                </a:solidFill>
                <a:latin typeface="Arial"/>
                <a:cs typeface="Arial"/>
              </a:rPr>
              <a:t>i</a:t>
            </a:r>
            <a:r>
              <a:rPr sz="2800" spc="45" dirty="0">
                <a:solidFill>
                  <a:srgbClr val="006FC0"/>
                </a:solidFill>
                <a:latin typeface="Arial"/>
                <a:cs typeface="Arial"/>
              </a:rPr>
              <a:t>t</a:t>
            </a:r>
            <a:r>
              <a:rPr sz="2800" spc="-210" dirty="0">
                <a:solidFill>
                  <a:srgbClr val="006FC0"/>
                </a:solidFill>
                <a:latin typeface="Arial"/>
                <a:cs typeface="Arial"/>
              </a:rPr>
              <a:t>h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65" dirty="0">
                <a:solidFill>
                  <a:srgbClr val="006FC0"/>
                </a:solidFill>
                <a:latin typeface="Arial"/>
                <a:cs typeface="Arial"/>
              </a:rPr>
              <a:t>i</a:t>
            </a:r>
            <a:r>
              <a:rPr sz="2800" spc="-155" dirty="0">
                <a:solidFill>
                  <a:srgbClr val="006FC0"/>
                </a:solidFill>
                <a:latin typeface="Arial"/>
                <a:cs typeface="Arial"/>
              </a:rPr>
              <a:t>n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put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5" dirty="0">
                <a:solidFill>
                  <a:srgbClr val="006FC0"/>
                </a:solidFill>
                <a:latin typeface="Arial"/>
                <a:cs typeface="Arial"/>
              </a:rPr>
              <a:t>I</a:t>
            </a:r>
            <a:r>
              <a:rPr sz="2775" spc="-382" baseline="-21021" dirty="0">
                <a:solidFill>
                  <a:srgbClr val="006FC0"/>
                </a:solidFill>
                <a:latin typeface="Arial"/>
                <a:cs typeface="Arial"/>
              </a:rPr>
              <a:t>2</a:t>
            </a:r>
            <a:r>
              <a:rPr sz="2775" baseline="-21021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390" dirty="0">
                <a:solidFill>
                  <a:srgbClr val="006FC0"/>
                </a:solidFill>
                <a:latin typeface="Arial"/>
                <a:cs typeface="Arial"/>
              </a:rPr>
              <a:t>ha</a:t>
            </a:r>
            <a:r>
              <a:rPr sz="2800" spc="-345" dirty="0">
                <a:solidFill>
                  <a:srgbClr val="006FC0"/>
                </a:solidFill>
                <a:latin typeface="Arial"/>
                <a:cs typeface="Arial"/>
              </a:rPr>
              <a:t>s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120" dirty="0">
                <a:solidFill>
                  <a:srgbClr val="006FC0"/>
                </a:solidFill>
                <a:latin typeface="Arial"/>
                <a:cs typeface="Arial"/>
              </a:rPr>
              <a:t>tw</a:t>
            </a:r>
            <a:r>
              <a:rPr sz="2800" spc="-125" dirty="0">
                <a:solidFill>
                  <a:srgbClr val="006FC0"/>
                </a:solidFill>
                <a:latin typeface="Arial"/>
                <a:cs typeface="Arial"/>
              </a:rPr>
              <a:t>o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95" dirty="0">
                <a:solidFill>
                  <a:srgbClr val="006FC0"/>
                </a:solidFill>
                <a:latin typeface="Arial"/>
                <a:cs typeface="Arial"/>
              </a:rPr>
              <a:t>o</a:t>
            </a:r>
            <a:r>
              <a:rPr sz="2800" spc="-50" dirty="0">
                <a:solidFill>
                  <a:srgbClr val="006FC0"/>
                </a:solidFill>
                <a:latin typeface="Arial"/>
                <a:cs typeface="Arial"/>
              </a:rPr>
              <a:t>f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150" dirty="0">
                <a:solidFill>
                  <a:srgbClr val="006FC0"/>
                </a:solidFill>
                <a:latin typeface="Arial"/>
                <a:cs typeface="Arial"/>
              </a:rPr>
              <a:t>its 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inputs </a:t>
            </a:r>
            <a:r>
              <a:rPr sz="2800" spc="-235" dirty="0">
                <a:solidFill>
                  <a:srgbClr val="006FC0"/>
                </a:solidFill>
                <a:latin typeface="Arial"/>
                <a:cs typeface="Arial"/>
              </a:rPr>
              <a:t>equal </a:t>
            </a:r>
            <a:r>
              <a:rPr sz="2800" spc="-50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800" spc="-400" dirty="0">
                <a:solidFill>
                  <a:srgbClr val="006FC0"/>
                </a:solidFill>
                <a:latin typeface="Arial"/>
                <a:cs typeface="Arial"/>
              </a:rPr>
              <a:t>1 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70" dirty="0">
                <a:solidFill>
                  <a:srgbClr val="006FC0"/>
                </a:solidFill>
                <a:latin typeface="Arial"/>
                <a:cs typeface="Arial"/>
              </a:rPr>
              <a:t>third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input </a:t>
            </a:r>
            <a:r>
              <a:rPr sz="2800" spc="-210" dirty="0">
                <a:solidFill>
                  <a:srgbClr val="006FC0"/>
                </a:solidFill>
                <a:latin typeface="Arial"/>
                <a:cs typeface="Arial"/>
              </a:rPr>
              <a:t>connected </a:t>
            </a:r>
            <a:r>
              <a:rPr sz="2800" spc="-50" dirty="0">
                <a:solidFill>
                  <a:srgbClr val="006FC0"/>
                </a:solidFill>
                <a:latin typeface="Arial"/>
                <a:cs typeface="Arial"/>
              </a:rPr>
              <a:t>to</a:t>
            </a:r>
            <a:r>
              <a:rPr sz="2800" spc="-409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135" dirty="0">
                <a:solidFill>
                  <a:srgbClr val="006FC0"/>
                </a:solidFill>
                <a:latin typeface="Arial"/>
                <a:cs typeface="Arial"/>
              </a:rPr>
              <a:t>I</a:t>
            </a:r>
            <a:r>
              <a:rPr sz="2775" spc="-202" baseline="-21021" dirty="0">
                <a:solidFill>
                  <a:srgbClr val="006FC0"/>
                </a:solidFill>
                <a:latin typeface="Arial"/>
                <a:cs typeface="Arial"/>
              </a:rPr>
              <a:t>2</a:t>
            </a:r>
            <a:r>
              <a:rPr sz="2800" spc="-135" dirty="0">
                <a:solidFill>
                  <a:srgbClr val="006FC0"/>
                </a:solidFill>
                <a:latin typeface="Arial"/>
                <a:cs typeface="Arial"/>
              </a:rPr>
              <a:t>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E36C09"/>
              </a:buClr>
              <a:buFont typeface="Wingdings"/>
              <a:buChar char=""/>
            </a:pPr>
            <a:endParaRPr sz="2900">
              <a:latin typeface="Arial"/>
              <a:cs typeface="Arial"/>
            </a:endParaRPr>
          </a:p>
          <a:p>
            <a:pPr marL="565785" marR="81915" indent="-464820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565785" algn="l"/>
                <a:tab pos="566420" algn="l"/>
              </a:tabLst>
            </a:pP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30" dirty="0">
                <a:solidFill>
                  <a:srgbClr val="006FC0"/>
                </a:solidFill>
                <a:latin typeface="Arial"/>
                <a:cs typeface="Arial"/>
              </a:rPr>
              <a:t>other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three </a:t>
            </a:r>
            <a:r>
              <a:rPr sz="2800" spc="-30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spc="-315" dirty="0">
                <a:solidFill>
                  <a:srgbClr val="006FC0"/>
                </a:solidFill>
                <a:latin typeface="Arial"/>
                <a:cs typeface="Arial"/>
              </a:rPr>
              <a:t>gates </a:t>
            </a:r>
            <a:r>
              <a:rPr sz="2800" spc="-290" dirty="0">
                <a:solidFill>
                  <a:srgbClr val="006FC0"/>
                </a:solidFill>
                <a:latin typeface="Arial"/>
                <a:cs typeface="Arial"/>
              </a:rPr>
              <a:t>have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at </a:t>
            </a:r>
            <a:r>
              <a:rPr sz="2800" spc="-245" dirty="0">
                <a:solidFill>
                  <a:srgbClr val="006FC0"/>
                </a:solidFill>
                <a:latin typeface="Arial"/>
                <a:cs typeface="Arial"/>
              </a:rPr>
              <a:t>least </a:t>
            </a:r>
            <a:r>
              <a:rPr sz="2800" spc="-240" dirty="0">
                <a:solidFill>
                  <a:srgbClr val="006FC0"/>
                </a:solidFill>
                <a:latin typeface="Arial"/>
                <a:cs typeface="Arial"/>
              </a:rPr>
              <a:t>one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input </a:t>
            </a:r>
            <a:r>
              <a:rPr sz="2800" spc="-245" dirty="0">
                <a:solidFill>
                  <a:srgbClr val="006FC0"/>
                </a:solidFill>
                <a:latin typeface="Arial"/>
                <a:cs typeface="Arial"/>
              </a:rPr>
              <a:t>equal  </a:t>
            </a:r>
            <a:r>
              <a:rPr sz="2800" spc="-50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800" spc="-280" dirty="0">
                <a:solidFill>
                  <a:srgbClr val="006FC0"/>
                </a:solidFill>
                <a:latin typeface="Arial"/>
                <a:cs typeface="Arial"/>
              </a:rPr>
              <a:t>0, </a:t>
            </a:r>
            <a:r>
              <a:rPr sz="2800" spc="-185" dirty="0">
                <a:solidFill>
                  <a:srgbClr val="006FC0"/>
                </a:solidFill>
                <a:latin typeface="Arial"/>
                <a:cs typeface="Arial"/>
              </a:rPr>
              <a:t>which </a:t>
            </a:r>
            <a:r>
              <a:rPr sz="2800" spc="-340" dirty="0">
                <a:solidFill>
                  <a:srgbClr val="006FC0"/>
                </a:solidFill>
                <a:latin typeface="Arial"/>
                <a:cs typeface="Arial"/>
              </a:rPr>
              <a:t>makes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their </a:t>
            </a:r>
            <a:r>
              <a:rPr sz="2800" spc="-160" dirty="0">
                <a:solidFill>
                  <a:srgbClr val="006FC0"/>
                </a:solidFill>
                <a:latin typeface="Arial"/>
                <a:cs typeface="Arial"/>
              </a:rPr>
              <a:t>outputs </a:t>
            </a:r>
            <a:r>
              <a:rPr sz="2800" spc="-235" dirty="0">
                <a:solidFill>
                  <a:srgbClr val="006FC0"/>
                </a:solidFill>
                <a:latin typeface="Arial"/>
                <a:cs typeface="Arial"/>
              </a:rPr>
              <a:t>equal </a:t>
            </a:r>
            <a:r>
              <a:rPr sz="2800" spc="-50" dirty="0">
                <a:solidFill>
                  <a:srgbClr val="006FC0"/>
                </a:solidFill>
                <a:latin typeface="Arial"/>
                <a:cs typeface="Arial"/>
              </a:rPr>
              <a:t>to</a:t>
            </a:r>
            <a:r>
              <a:rPr sz="2800" spc="-18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280" dirty="0">
                <a:solidFill>
                  <a:srgbClr val="006FC0"/>
                </a:solidFill>
                <a:latin typeface="Arial"/>
                <a:cs typeface="Arial"/>
              </a:rPr>
              <a:t>0.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E36C09"/>
              </a:buClr>
              <a:buFont typeface="Wingdings"/>
              <a:buChar char=""/>
            </a:pPr>
            <a:endParaRPr sz="2900">
              <a:latin typeface="Arial"/>
              <a:cs typeface="Arial"/>
            </a:endParaRPr>
          </a:p>
          <a:p>
            <a:pPr marL="565785" marR="81915" indent="-464820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565785" algn="l"/>
                <a:tab pos="566420" algn="l"/>
              </a:tabLst>
            </a:pP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215" dirty="0">
                <a:solidFill>
                  <a:srgbClr val="006FC0"/>
                </a:solidFill>
                <a:latin typeface="Arial"/>
                <a:cs typeface="Arial"/>
              </a:rPr>
              <a:t>OR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output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800" spc="-215" dirty="0">
                <a:solidFill>
                  <a:srgbClr val="006FC0"/>
                </a:solidFill>
                <a:latin typeface="Arial"/>
                <a:cs typeface="Arial"/>
              </a:rPr>
              <a:t>now </a:t>
            </a:r>
            <a:r>
              <a:rPr sz="2800" spc="-240" dirty="0">
                <a:solidFill>
                  <a:srgbClr val="006FC0"/>
                </a:solidFill>
                <a:latin typeface="Arial"/>
                <a:cs typeface="Arial"/>
              </a:rPr>
              <a:t>equal </a:t>
            </a:r>
            <a:r>
              <a:rPr sz="2800" spc="-55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235" dirty="0">
                <a:solidFill>
                  <a:srgbClr val="006FC0"/>
                </a:solidFill>
                <a:latin typeface="Arial"/>
                <a:cs typeface="Arial"/>
              </a:rPr>
              <a:t>value 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135" dirty="0">
                <a:solidFill>
                  <a:srgbClr val="006FC0"/>
                </a:solidFill>
                <a:latin typeface="Arial"/>
                <a:cs typeface="Arial"/>
              </a:rPr>
              <a:t>I</a:t>
            </a:r>
            <a:r>
              <a:rPr sz="2775" spc="-202" baseline="-21021" dirty="0">
                <a:solidFill>
                  <a:srgbClr val="006FC0"/>
                </a:solidFill>
                <a:latin typeface="Arial"/>
                <a:cs typeface="Arial"/>
              </a:rPr>
              <a:t>2</a:t>
            </a:r>
            <a:r>
              <a:rPr sz="2800" spc="-135" dirty="0">
                <a:solidFill>
                  <a:srgbClr val="006FC0"/>
                </a:solidFill>
                <a:latin typeface="Arial"/>
                <a:cs typeface="Arial"/>
              </a:rPr>
              <a:t>, </a:t>
            </a:r>
            <a:r>
              <a:rPr sz="2800" spc="-140" dirty="0">
                <a:solidFill>
                  <a:srgbClr val="006FC0"/>
                </a:solidFill>
                <a:latin typeface="Arial"/>
                <a:cs typeface="Arial"/>
              </a:rPr>
              <a:t>providing  </a:t>
            </a:r>
            <a:r>
              <a:rPr sz="2800" spc="-395" dirty="0">
                <a:solidFill>
                  <a:srgbClr val="006FC0"/>
                </a:solidFill>
                <a:latin typeface="Arial"/>
                <a:cs typeface="Arial"/>
              </a:rPr>
              <a:t>a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path </a:t>
            </a:r>
            <a:r>
              <a:rPr sz="2800" spc="-100" dirty="0">
                <a:solidFill>
                  <a:srgbClr val="006FC0"/>
                </a:solidFill>
                <a:latin typeface="Arial"/>
                <a:cs typeface="Arial"/>
              </a:rPr>
              <a:t>from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240" dirty="0">
                <a:solidFill>
                  <a:srgbClr val="006FC0"/>
                </a:solidFill>
                <a:latin typeface="Arial"/>
                <a:cs typeface="Arial"/>
              </a:rPr>
              <a:t>selected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input </a:t>
            </a:r>
            <a:r>
              <a:rPr sz="2800" spc="-50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</a:t>
            </a:r>
            <a:r>
              <a:rPr sz="2800" spc="254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110" dirty="0">
                <a:solidFill>
                  <a:srgbClr val="006FC0"/>
                </a:solidFill>
                <a:latin typeface="Arial"/>
                <a:cs typeface="Arial"/>
              </a:rPr>
              <a:t>output.</a:t>
            </a:r>
            <a:endParaRPr sz="2800">
              <a:latin typeface="Arial"/>
              <a:cs typeface="Arial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156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793241" y="982217"/>
              <a:ext cx="7589519" cy="762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6764"/>
              <a:ext cx="9143999" cy="668274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53439" y="320001"/>
              <a:ext cx="7434072" cy="57611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939795" y="202679"/>
              <a:ext cx="3259835" cy="93422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214242" y="321386"/>
            <a:ext cx="271462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70" dirty="0">
                <a:latin typeface="Trebuchet MS"/>
                <a:cs typeface="Trebuchet MS"/>
              </a:rPr>
              <a:t>MULTIPLEXERS</a:t>
            </a:r>
            <a:endParaRPr sz="320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301239" y="1599691"/>
            <a:ext cx="6847840" cy="5258435"/>
            <a:chOff x="2301239" y="1599691"/>
            <a:chExt cx="6847840" cy="5258435"/>
          </a:xfrm>
        </p:grpSpPr>
        <p:sp>
          <p:nvSpPr>
            <p:cNvPr id="13" name="object 13"/>
            <p:cNvSpPr/>
            <p:nvPr/>
          </p:nvSpPr>
          <p:spPr>
            <a:xfrm>
              <a:off x="8593836" y="6620254"/>
              <a:ext cx="550164" cy="23774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630411" y="6556242"/>
              <a:ext cx="513588" cy="30175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641080" y="6644639"/>
              <a:ext cx="502920" cy="18288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641080" y="6644639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301239" y="1599691"/>
              <a:ext cx="4521356" cy="4801107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041775" y="1148841"/>
            <a:ext cx="928369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25" dirty="0">
                <a:solidFill>
                  <a:srgbClr val="C00000"/>
                </a:solidFill>
                <a:latin typeface="Arial"/>
                <a:cs typeface="Arial"/>
              </a:rPr>
              <a:t>8:1</a:t>
            </a:r>
            <a:r>
              <a:rPr sz="2000" b="1" spc="-114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30" dirty="0">
                <a:solidFill>
                  <a:srgbClr val="C00000"/>
                </a:solidFill>
                <a:latin typeface="Arial"/>
                <a:cs typeface="Arial"/>
              </a:rPr>
              <a:t>MUX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158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793241" y="982217"/>
              <a:ext cx="7589519" cy="762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6764"/>
              <a:ext cx="9143999" cy="668274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53439" y="320001"/>
              <a:ext cx="7434072" cy="57611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939795" y="202679"/>
              <a:ext cx="3259835" cy="93422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214242" y="321386"/>
            <a:ext cx="271462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70" dirty="0"/>
              <a:t>MULTIPLEXERS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sp>
          <p:nvSpPr>
            <p:cNvPr id="13" name="object 13"/>
            <p:cNvSpPr/>
            <p:nvPr/>
          </p:nvSpPr>
          <p:spPr>
            <a:xfrm>
              <a:off x="8593835" y="6620255"/>
              <a:ext cx="550164" cy="23774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630411" y="6556243"/>
              <a:ext cx="513588" cy="30175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83540" y="1053464"/>
            <a:ext cx="8378190" cy="5466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102235" algn="ctr">
              <a:lnSpc>
                <a:spcPct val="100000"/>
              </a:lnSpc>
              <a:spcBef>
                <a:spcPts val="105"/>
              </a:spcBef>
            </a:pPr>
            <a:r>
              <a:rPr sz="2000" b="1" spc="-30" dirty="0">
                <a:solidFill>
                  <a:srgbClr val="C00000"/>
                </a:solidFill>
                <a:latin typeface="Arial"/>
                <a:cs typeface="Arial"/>
              </a:rPr>
              <a:t>MUX</a:t>
            </a:r>
            <a:r>
              <a:rPr sz="2000" b="1" spc="-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145" dirty="0">
                <a:solidFill>
                  <a:srgbClr val="C00000"/>
                </a:solidFill>
                <a:latin typeface="Arial"/>
                <a:cs typeface="Arial"/>
              </a:rPr>
              <a:t>APPLICATIONS</a:t>
            </a:r>
            <a:endParaRPr sz="2000">
              <a:latin typeface="Arial"/>
              <a:cs typeface="Arial"/>
            </a:endParaRPr>
          </a:p>
          <a:p>
            <a:pPr marL="476884" marR="5080" indent="-464820" algn="just">
              <a:lnSpc>
                <a:spcPct val="100000"/>
              </a:lnSpc>
              <a:spcBef>
                <a:spcPts val="110"/>
              </a:spcBef>
              <a:buClr>
                <a:srgbClr val="F79546"/>
              </a:buClr>
              <a:buFont typeface="Wingdings"/>
              <a:buChar char=""/>
              <a:tabLst>
                <a:tab pos="477520" algn="l"/>
              </a:tabLst>
            </a:pPr>
            <a:r>
              <a:rPr sz="2400" b="1" spc="-265" dirty="0">
                <a:solidFill>
                  <a:srgbClr val="C00000"/>
                </a:solidFill>
                <a:latin typeface="Arial"/>
                <a:cs typeface="Arial"/>
              </a:rPr>
              <a:t>Communication </a:t>
            </a:r>
            <a:r>
              <a:rPr sz="2400" b="1" spc="-355" dirty="0">
                <a:solidFill>
                  <a:srgbClr val="C00000"/>
                </a:solidFill>
                <a:latin typeface="Arial"/>
                <a:cs typeface="Arial"/>
              </a:rPr>
              <a:t>system </a:t>
            </a:r>
            <a:r>
              <a:rPr sz="2400" spc="-145" dirty="0">
                <a:solidFill>
                  <a:srgbClr val="006FC0"/>
                </a:solidFill>
                <a:latin typeface="Arial"/>
                <a:cs typeface="Arial"/>
              </a:rPr>
              <a:t>–The </a:t>
            </a:r>
            <a:r>
              <a:rPr sz="2400" spc="-135" dirty="0">
                <a:solidFill>
                  <a:srgbClr val="006FC0"/>
                </a:solidFill>
                <a:latin typeface="Arial"/>
                <a:cs typeface="Arial"/>
              </a:rPr>
              <a:t>efficiency </a:t>
            </a:r>
            <a:r>
              <a:rPr sz="2400" spc="-6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400" spc="-150" dirty="0">
                <a:solidFill>
                  <a:srgbClr val="006FC0"/>
                </a:solidFill>
                <a:latin typeface="Arial"/>
                <a:cs typeface="Arial"/>
              </a:rPr>
              <a:t>communication </a:t>
            </a:r>
            <a:r>
              <a:rPr sz="2400" spc="-240" dirty="0">
                <a:solidFill>
                  <a:srgbClr val="006FC0"/>
                </a:solidFill>
                <a:latin typeface="Arial"/>
                <a:cs typeface="Arial"/>
              </a:rPr>
              <a:t>system  can </a:t>
            </a:r>
            <a:r>
              <a:rPr sz="2400" spc="-235" dirty="0">
                <a:solidFill>
                  <a:srgbClr val="006FC0"/>
                </a:solidFill>
                <a:latin typeface="Arial"/>
                <a:cs typeface="Arial"/>
              </a:rPr>
              <a:t>be </a:t>
            </a:r>
            <a:r>
              <a:rPr sz="2400" spc="-215" dirty="0">
                <a:solidFill>
                  <a:srgbClr val="006FC0"/>
                </a:solidFill>
                <a:latin typeface="Arial"/>
                <a:cs typeface="Arial"/>
              </a:rPr>
              <a:t>increased </a:t>
            </a:r>
            <a:r>
              <a:rPr sz="2400" spc="-170" dirty="0">
                <a:solidFill>
                  <a:srgbClr val="006FC0"/>
                </a:solidFill>
                <a:latin typeface="Arial"/>
                <a:cs typeface="Arial"/>
              </a:rPr>
              <a:t>considerably </a:t>
            </a:r>
            <a:r>
              <a:rPr sz="2400" spc="-220" dirty="0">
                <a:solidFill>
                  <a:srgbClr val="006FC0"/>
                </a:solidFill>
                <a:latin typeface="Arial"/>
                <a:cs typeface="Arial"/>
              </a:rPr>
              <a:t>using </a:t>
            </a:r>
            <a:r>
              <a:rPr sz="2400" spc="-114" dirty="0">
                <a:solidFill>
                  <a:srgbClr val="006FC0"/>
                </a:solidFill>
                <a:latin typeface="Arial"/>
                <a:cs typeface="Arial"/>
              </a:rPr>
              <a:t>multiplexer. </a:t>
            </a:r>
            <a:r>
              <a:rPr sz="2400" spc="-95" dirty="0">
                <a:solidFill>
                  <a:srgbClr val="006FC0"/>
                </a:solidFill>
                <a:latin typeface="Arial"/>
                <a:cs typeface="Arial"/>
              </a:rPr>
              <a:t>Multiplexer </a:t>
            </a:r>
            <a:r>
              <a:rPr sz="2400" spc="-145" dirty="0">
                <a:solidFill>
                  <a:srgbClr val="006FC0"/>
                </a:solidFill>
                <a:latin typeface="Arial"/>
                <a:cs typeface="Arial"/>
              </a:rPr>
              <a:t>allow  </a:t>
            </a:r>
            <a:r>
              <a:rPr sz="2400" spc="-14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400" spc="-235" dirty="0">
                <a:solidFill>
                  <a:srgbClr val="006FC0"/>
                </a:solidFill>
                <a:latin typeface="Arial"/>
                <a:cs typeface="Arial"/>
              </a:rPr>
              <a:t>process </a:t>
            </a:r>
            <a:r>
              <a:rPr sz="2400" spc="-6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400" spc="-130" dirty="0">
                <a:solidFill>
                  <a:srgbClr val="006FC0"/>
                </a:solidFill>
                <a:latin typeface="Arial"/>
                <a:cs typeface="Arial"/>
              </a:rPr>
              <a:t>transmitting </a:t>
            </a:r>
            <a:r>
              <a:rPr sz="2400" spc="-100" dirty="0">
                <a:solidFill>
                  <a:srgbClr val="006FC0"/>
                </a:solidFill>
                <a:latin typeface="Arial"/>
                <a:cs typeface="Arial"/>
              </a:rPr>
              <a:t>different </a:t>
            </a:r>
            <a:r>
              <a:rPr sz="2400" spc="-130" dirty="0">
                <a:solidFill>
                  <a:srgbClr val="006FC0"/>
                </a:solidFill>
                <a:latin typeface="Arial"/>
                <a:cs typeface="Arial"/>
              </a:rPr>
              <a:t>type </a:t>
            </a:r>
            <a:r>
              <a:rPr sz="2400" spc="-6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400" spc="-190" dirty="0">
                <a:solidFill>
                  <a:srgbClr val="006FC0"/>
                </a:solidFill>
                <a:latin typeface="Arial"/>
                <a:cs typeface="Arial"/>
              </a:rPr>
              <a:t>data </a:t>
            </a:r>
            <a:r>
              <a:rPr sz="2400" spc="-250" dirty="0">
                <a:solidFill>
                  <a:srgbClr val="006FC0"/>
                </a:solidFill>
                <a:latin typeface="Arial"/>
                <a:cs typeface="Arial"/>
              </a:rPr>
              <a:t>such </a:t>
            </a:r>
            <a:r>
              <a:rPr sz="2400" spc="-390" dirty="0">
                <a:solidFill>
                  <a:srgbClr val="006FC0"/>
                </a:solidFill>
                <a:latin typeface="Arial"/>
                <a:cs typeface="Arial"/>
              </a:rPr>
              <a:t>as </a:t>
            </a:r>
            <a:r>
              <a:rPr sz="2400" spc="-155" dirty="0">
                <a:solidFill>
                  <a:srgbClr val="006FC0"/>
                </a:solidFill>
                <a:latin typeface="Arial"/>
                <a:cs typeface="Arial"/>
              </a:rPr>
              <a:t>audio,  video </a:t>
            </a:r>
            <a:r>
              <a:rPr sz="2400" spc="-145" dirty="0">
                <a:solidFill>
                  <a:srgbClr val="006FC0"/>
                </a:solidFill>
                <a:latin typeface="Arial"/>
                <a:cs typeface="Arial"/>
              </a:rPr>
              <a:t>at the </a:t>
            </a:r>
            <a:r>
              <a:rPr sz="2400" spc="-320" dirty="0">
                <a:solidFill>
                  <a:srgbClr val="006FC0"/>
                </a:solidFill>
                <a:latin typeface="Arial"/>
                <a:cs typeface="Arial"/>
              </a:rPr>
              <a:t>same </a:t>
            </a:r>
            <a:r>
              <a:rPr sz="2400" spc="-120" dirty="0">
                <a:solidFill>
                  <a:srgbClr val="006FC0"/>
                </a:solidFill>
                <a:latin typeface="Arial"/>
                <a:cs typeface="Arial"/>
              </a:rPr>
              <a:t>time </a:t>
            </a:r>
            <a:r>
              <a:rPr sz="2400" spc="-225" dirty="0">
                <a:solidFill>
                  <a:srgbClr val="006FC0"/>
                </a:solidFill>
                <a:latin typeface="Arial"/>
                <a:cs typeface="Arial"/>
              </a:rPr>
              <a:t>using </a:t>
            </a:r>
            <a:r>
              <a:rPr sz="2400" spc="-340" dirty="0">
                <a:solidFill>
                  <a:srgbClr val="006FC0"/>
                </a:solidFill>
                <a:latin typeface="Arial"/>
                <a:cs typeface="Arial"/>
              </a:rPr>
              <a:t>a </a:t>
            </a:r>
            <a:r>
              <a:rPr sz="2400" spc="-210" dirty="0">
                <a:solidFill>
                  <a:srgbClr val="006FC0"/>
                </a:solidFill>
                <a:latin typeface="Arial"/>
                <a:cs typeface="Arial"/>
              </a:rPr>
              <a:t>single </a:t>
            </a:r>
            <a:r>
              <a:rPr sz="2400" spc="-200" dirty="0">
                <a:solidFill>
                  <a:srgbClr val="006FC0"/>
                </a:solidFill>
                <a:latin typeface="Arial"/>
                <a:cs typeface="Arial"/>
              </a:rPr>
              <a:t>transmission</a:t>
            </a:r>
            <a:r>
              <a:rPr sz="2400" spc="14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400" spc="-130" dirty="0">
                <a:solidFill>
                  <a:srgbClr val="006FC0"/>
                </a:solidFill>
                <a:latin typeface="Arial"/>
                <a:cs typeface="Arial"/>
              </a:rPr>
              <a:t>line.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F79546"/>
              </a:buClr>
              <a:buFont typeface="Wingdings"/>
              <a:buChar char=""/>
            </a:pPr>
            <a:endParaRPr sz="2500">
              <a:latin typeface="Arial"/>
              <a:cs typeface="Arial"/>
            </a:endParaRPr>
          </a:p>
          <a:p>
            <a:pPr marL="476884" marR="5080" indent="-464820" algn="just">
              <a:lnSpc>
                <a:spcPct val="100000"/>
              </a:lnSpc>
              <a:buClr>
                <a:srgbClr val="F79546"/>
              </a:buClr>
              <a:buFont typeface="Wingdings"/>
              <a:buChar char=""/>
              <a:tabLst>
                <a:tab pos="477520" algn="l"/>
              </a:tabLst>
            </a:pPr>
            <a:r>
              <a:rPr sz="2400" b="1" spc="-254" dirty="0">
                <a:solidFill>
                  <a:srgbClr val="C00000"/>
                </a:solidFill>
                <a:latin typeface="Arial"/>
                <a:cs typeface="Arial"/>
              </a:rPr>
              <a:t>Telephone </a:t>
            </a:r>
            <a:r>
              <a:rPr sz="2400" b="1" spc="-250" dirty="0">
                <a:solidFill>
                  <a:srgbClr val="C00000"/>
                </a:solidFill>
                <a:latin typeface="Arial"/>
                <a:cs typeface="Arial"/>
              </a:rPr>
              <a:t>network </a:t>
            </a:r>
            <a:r>
              <a:rPr sz="2400" b="1" spc="20" dirty="0">
                <a:solidFill>
                  <a:srgbClr val="006FC0"/>
                </a:solidFill>
                <a:latin typeface="Arial"/>
                <a:cs typeface="Arial"/>
              </a:rPr>
              <a:t>– </a:t>
            </a:r>
            <a:r>
              <a:rPr sz="2400" spc="-85" dirty="0">
                <a:solidFill>
                  <a:srgbClr val="006FC0"/>
                </a:solidFill>
                <a:latin typeface="Arial"/>
                <a:cs typeface="Arial"/>
              </a:rPr>
              <a:t>In </a:t>
            </a:r>
            <a:r>
              <a:rPr sz="2400" spc="-165" dirty="0">
                <a:solidFill>
                  <a:srgbClr val="006FC0"/>
                </a:solidFill>
                <a:latin typeface="Arial"/>
                <a:cs typeface="Arial"/>
              </a:rPr>
              <a:t>telephone </a:t>
            </a:r>
            <a:r>
              <a:rPr sz="2400" spc="-140" dirty="0">
                <a:solidFill>
                  <a:srgbClr val="006FC0"/>
                </a:solidFill>
                <a:latin typeface="Arial"/>
                <a:cs typeface="Arial"/>
              </a:rPr>
              <a:t>network, </a:t>
            </a:r>
            <a:r>
              <a:rPr sz="2400" spc="-100" dirty="0">
                <a:solidFill>
                  <a:srgbClr val="006FC0"/>
                </a:solidFill>
                <a:latin typeface="Arial"/>
                <a:cs typeface="Arial"/>
              </a:rPr>
              <a:t>multiple </a:t>
            </a:r>
            <a:r>
              <a:rPr sz="2400" spc="-160" dirty="0">
                <a:solidFill>
                  <a:srgbClr val="006FC0"/>
                </a:solidFill>
                <a:latin typeface="Arial"/>
                <a:cs typeface="Arial"/>
              </a:rPr>
              <a:t>audio </a:t>
            </a:r>
            <a:r>
              <a:rPr sz="2400" spc="-245" dirty="0">
                <a:solidFill>
                  <a:srgbClr val="006FC0"/>
                </a:solidFill>
                <a:latin typeface="Arial"/>
                <a:cs typeface="Arial"/>
              </a:rPr>
              <a:t>signals  </a:t>
            </a:r>
            <a:r>
              <a:rPr sz="2400" spc="-210" dirty="0">
                <a:solidFill>
                  <a:srgbClr val="006FC0"/>
                </a:solidFill>
                <a:latin typeface="Arial"/>
                <a:cs typeface="Arial"/>
              </a:rPr>
              <a:t>are </a:t>
            </a:r>
            <a:r>
              <a:rPr sz="2400" spc="-145" dirty="0">
                <a:solidFill>
                  <a:srgbClr val="006FC0"/>
                </a:solidFill>
                <a:latin typeface="Arial"/>
                <a:cs typeface="Arial"/>
              </a:rPr>
              <a:t>integrated </a:t>
            </a:r>
            <a:r>
              <a:rPr sz="2400" spc="-155" dirty="0">
                <a:solidFill>
                  <a:srgbClr val="006FC0"/>
                </a:solidFill>
                <a:latin typeface="Arial"/>
                <a:cs typeface="Arial"/>
              </a:rPr>
              <a:t>on </a:t>
            </a:r>
            <a:r>
              <a:rPr sz="2400" spc="-340" dirty="0">
                <a:solidFill>
                  <a:srgbClr val="006FC0"/>
                </a:solidFill>
                <a:latin typeface="Arial"/>
                <a:cs typeface="Arial"/>
              </a:rPr>
              <a:t>a </a:t>
            </a:r>
            <a:r>
              <a:rPr sz="2400" spc="-204" dirty="0">
                <a:solidFill>
                  <a:srgbClr val="006FC0"/>
                </a:solidFill>
                <a:latin typeface="Arial"/>
                <a:cs typeface="Arial"/>
              </a:rPr>
              <a:t>single </a:t>
            </a:r>
            <a:r>
              <a:rPr sz="2400" spc="-130" dirty="0">
                <a:solidFill>
                  <a:srgbClr val="006FC0"/>
                </a:solidFill>
                <a:latin typeface="Arial"/>
                <a:cs typeface="Arial"/>
              </a:rPr>
              <a:t>line </a:t>
            </a:r>
            <a:r>
              <a:rPr sz="2400" spc="-45" dirty="0">
                <a:solidFill>
                  <a:srgbClr val="006FC0"/>
                </a:solidFill>
                <a:latin typeface="Arial"/>
                <a:cs typeface="Arial"/>
              </a:rPr>
              <a:t>for </a:t>
            </a:r>
            <a:r>
              <a:rPr sz="2400" spc="-195" dirty="0">
                <a:solidFill>
                  <a:srgbClr val="006FC0"/>
                </a:solidFill>
                <a:latin typeface="Arial"/>
                <a:cs typeface="Arial"/>
              </a:rPr>
              <a:t>transmission </a:t>
            </a:r>
            <a:r>
              <a:rPr sz="2400" spc="-85" dirty="0">
                <a:solidFill>
                  <a:srgbClr val="006FC0"/>
                </a:solidFill>
                <a:latin typeface="Arial"/>
                <a:cs typeface="Arial"/>
              </a:rPr>
              <a:t>with </a:t>
            </a:r>
            <a:r>
              <a:rPr sz="2400" spc="-14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400" spc="-155" dirty="0">
                <a:solidFill>
                  <a:srgbClr val="006FC0"/>
                </a:solidFill>
                <a:latin typeface="Arial"/>
                <a:cs typeface="Arial"/>
              </a:rPr>
              <a:t>help </a:t>
            </a:r>
            <a:r>
              <a:rPr sz="2400" spc="-65" dirty="0">
                <a:solidFill>
                  <a:srgbClr val="006FC0"/>
                </a:solidFill>
                <a:latin typeface="Arial"/>
                <a:cs typeface="Arial"/>
              </a:rPr>
              <a:t>of  </a:t>
            </a:r>
            <a:r>
              <a:rPr sz="2400" spc="-140" dirty="0">
                <a:solidFill>
                  <a:srgbClr val="006FC0"/>
                </a:solidFill>
                <a:latin typeface="Arial"/>
                <a:cs typeface="Arial"/>
              </a:rPr>
              <a:t>multiplexers. </a:t>
            </a:r>
            <a:r>
              <a:rPr sz="2400" spc="-85" dirty="0">
                <a:solidFill>
                  <a:srgbClr val="006FC0"/>
                </a:solidFill>
                <a:latin typeface="Arial"/>
                <a:cs typeface="Arial"/>
              </a:rPr>
              <a:t>In </a:t>
            </a:r>
            <a:r>
              <a:rPr sz="2400" spc="-150" dirty="0">
                <a:solidFill>
                  <a:srgbClr val="006FC0"/>
                </a:solidFill>
                <a:latin typeface="Arial"/>
                <a:cs typeface="Arial"/>
              </a:rPr>
              <a:t>this </a:t>
            </a:r>
            <a:r>
              <a:rPr sz="2400" spc="-200" dirty="0">
                <a:solidFill>
                  <a:srgbClr val="006FC0"/>
                </a:solidFill>
                <a:latin typeface="Arial"/>
                <a:cs typeface="Arial"/>
              </a:rPr>
              <a:t>way, </a:t>
            </a:r>
            <a:r>
              <a:rPr sz="2400" spc="-100" dirty="0">
                <a:solidFill>
                  <a:srgbClr val="006FC0"/>
                </a:solidFill>
                <a:latin typeface="Arial"/>
                <a:cs typeface="Arial"/>
              </a:rPr>
              <a:t>multiple </a:t>
            </a:r>
            <a:r>
              <a:rPr sz="2400" spc="-160" dirty="0">
                <a:solidFill>
                  <a:srgbClr val="006FC0"/>
                </a:solidFill>
                <a:latin typeface="Arial"/>
                <a:cs typeface="Arial"/>
              </a:rPr>
              <a:t>audio </a:t>
            </a:r>
            <a:r>
              <a:rPr sz="2400" spc="-250" dirty="0">
                <a:solidFill>
                  <a:srgbClr val="006FC0"/>
                </a:solidFill>
                <a:latin typeface="Arial"/>
                <a:cs typeface="Arial"/>
              </a:rPr>
              <a:t>signals </a:t>
            </a:r>
            <a:r>
              <a:rPr sz="2400" spc="-245" dirty="0">
                <a:solidFill>
                  <a:srgbClr val="006FC0"/>
                </a:solidFill>
                <a:latin typeface="Arial"/>
                <a:cs typeface="Arial"/>
              </a:rPr>
              <a:t>can </a:t>
            </a:r>
            <a:r>
              <a:rPr sz="2400" spc="-235" dirty="0">
                <a:solidFill>
                  <a:srgbClr val="006FC0"/>
                </a:solidFill>
                <a:latin typeface="Arial"/>
                <a:cs typeface="Arial"/>
              </a:rPr>
              <a:t>be </a:t>
            </a:r>
            <a:r>
              <a:rPr sz="2400" spc="-165" dirty="0">
                <a:solidFill>
                  <a:srgbClr val="006FC0"/>
                </a:solidFill>
                <a:latin typeface="Arial"/>
                <a:cs typeface="Arial"/>
              </a:rPr>
              <a:t>isolated </a:t>
            </a:r>
            <a:r>
              <a:rPr sz="2400" spc="-215" dirty="0">
                <a:solidFill>
                  <a:srgbClr val="006FC0"/>
                </a:solidFill>
                <a:latin typeface="Arial"/>
                <a:cs typeface="Arial"/>
              </a:rPr>
              <a:t>and  </a:t>
            </a:r>
            <a:r>
              <a:rPr sz="2400" spc="-155" dirty="0">
                <a:solidFill>
                  <a:srgbClr val="006FC0"/>
                </a:solidFill>
                <a:latin typeface="Arial"/>
                <a:cs typeface="Arial"/>
              </a:rPr>
              <a:t>eventually, </a:t>
            </a:r>
            <a:r>
              <a:rPr sz="2400" spc="-14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400" spc="-200" dirty="0">
                <a:solidFill>
                  <a:srgbClr val="006FC0"/>
                </a:solidFill>
                <a:latin typeface="Arial"/>
                <a:cs typeface="Arial"/>
              </a:rPr>
              <a:t>desire </a:t>
            </a:r>
            <a:r>
              <a:rPr sz="2400" spc="-160" dirty="0">
                <a:solidFill>
                  <a:srgbClr val="006FC0"/>
                </a:solidFill>
                <a:latin typeface="Arial"/>
                <a:cs typeface="Arial"/>
              </a:rPr>
              <a:t>audio </a:t>
            </a:r>
            <a:r>
              <a:rPr sz="2400" spc="-250" dirty="0">
                <a:solidFill>
                  <a:srgbClr val="006FC0"/>
                </a:solidFill>
                <a:latin typeface="Arial"/>
                <a:cs typeface="Arial"/>
              </a:rPr>
              <a:t>signals </a:t>
            </a:r>
            <a:r>
              <a:rPr sz="2400" spc="-200" dirty="0">
                <a:solidFill>
                  <a:srgbClr val="006FC0"/>
                </a:solidFill>
                <a:latin typeface="Arial"/>
                <a:cs typeface="Arial"/>
              </a:rPr>
              <a:t>reach </a:t>
            </a:r>
            <a:r>
              <a:rPr sz="2400" spc="-14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400" spc="-150" dirty="0">
                <a:solidFill>
                  <a:srgbClr val="006FC0"/>
                </a:solidFill>
                <a:latin typeface="Arial"/>
                <a:cs typeface="Arial"/>
              </a:rPr>
              <a:t>intended</a:t>
            </a:r>
            <a:r>
              <a:rPr sz="2400" spc="-7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400" spc="-155" dirty="0">
                <a:solidFill>
                  <a:srgbClr val="006FC0"/>
                </a:solidFill>
                <a:latin typeface="Arial"/>
                <a:cs typeface="Arial"/>
              </a:rPr>
              <a:t>recipients.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F79546"/>
              </a:buClr>
              <a:buFont typeface="Wingdings"/>
              <a:buChar char=""/>
            </a:pPr>
            <a:endParaRPr sz="2500">
              <a:latin typeface="Arial"/>
              <a:cs typeface="Arial"/>
            </a:endParaRPr>
          </a:p>
          <a:p>
            <a:pPr marL="476884" marR="5080" indent="-464820" algn="just">
              <a:lnSpc>
                <a:spcPct val="100000"/>
              </a:lnSpc>
              <a:buClr>
                <a:srgbClr val="F79546"/>
              </a:buClr>
              <a:buFont typeface="Wingdings"/>
              <a:buChar char=""/>
              <a:tabLst>
                <a:tab pos="477520" algn="l"/>
              </a:tabLst>
            </a:pPr>
            <a:r>
              <a:rPr sz="2400" b="1" spc="-315" dirty="0">
                <a:solidFill>
                  <a:srgbClr val="C00000"/>
                </a:solidFill>
                <a:latin typeface="Arial"/>
                <a:cs typeface="Arial"/>
              </a:rPr>
              <a:t>Transmission </a:t>
            </a:r>
            <a:r>
              <a:rPr sz="2400" b="1" spc="-215" dirty="0">
                <a:solidFill>
                  <a:srgbClr val="C00000"/>
                </a:solidFill>
                <a:latin typeface="Arial"/>
                <a:cs typeface="Arial"/>
              </a:rPr>
              <a:t>from </a:t>
            </a:r>
            <a:r>
              <a:rPr sz="2400" b="1" spc="-229" dirty="0">
                <a:solidFill>
                  <a:srgbClr val="C00000"/>
                </a:solidFill>
                <a:latin typeface="Arial"/>
                <a:cs typeface="Arial"/>
              </a:rPr>
              <a:t>the </a:t>
            </a:r>
            <a:r>
              <a:rPr sz="2400" b="1" spc="-254" dirty="0">
                <a:solidFill>
                  <a:srgbClr val="C00000"/>
                </a:solidFill>
                <a:latin typeface="Arial"/>
                <a:cs typeface="Arial"/>
              </a:rPr>
              <a:t>computer </a:t>
            </a:r>
            <a:r>
              <a:rPr sz="2400" b="1" spc="-355" dirty="0">
                <a:solidFill>
                  <a:srgbClr val="C00000"/>
                </a:solidFill>
                <a:latin typeface="Arial"/>
                <a:cs typeface="Arial"/>
              </a:rPr>
              <a:t>system </a:t>
            </a:r>
            <a:r>
              <a:rPr sz="2400" b="1" spc="-195" dirty="0">
                <a:solidFill>
                  <a:srgbClr val="C00000"/>
                </a:solidFill>
                <a:latin typeface="Arial"/>
                <a:cs typeface="Arial"/>
              </a:rPr>
              <a:t>of </a:t>
            </a:r>
            <a:r>
              <a:rPr sz="2400" b="1" spc="-335" dirty="0">
                <a:solidFill>
                  <a:srgbClr val="C00000"/>
                </a:solidFill>
                <a:latin typeface="Arial"/>
                <a:cs typeface="Arial"/>
              </a:rPr>
              <a:t>a </a:t>
            </a:r>
            <a:r>
              <a:rPr sz="2400" b="1" spc="-235" dirty="0">
                <a:solidFill>
                  <a:srgbClr val="C00000"/>
                </a:solidFill>
                <a:latin typeface="Arial"/>
                <a:cs typeface="Arial"/>
              </a:rPr>
              <a:t>satellite </a:t>
            </a:r>
            <a:r>
              <a:rPr sz="2400" spc="25" dirty="0">
                <a:solidFill>
                  <a:srgbClr val="006FC0"/>
                </a:solidFill>
                <a:latin typeface="Arial"/>
                <a:cs typeface="Arial"/>
              </a:rPr>
              <a:t>– </a:t>
            </a:r>
            <a:r>
              <a:rPr sz="2400" spc="-95" dirty="0">
                <a:solidFill>
                  <a:srgbClr val="006FC0"/>
                </a:solidFill>
                <a:latin typeface="Arial"/>
                <a:cs typeface="Arial"/>
              </a:rPr>
              <a:t>Multiplexer  </a:t>
            </a:r>
            <a:r>
              <a:rPr sz="2400" spc="-245" dirty="0">
                <a:solidFill>
                  <a:srgbClr val="006FC0"/>
                </a:solidFill>
                <a:latin typeface="Arial"/>
                <a:cs typeface="Arial"/>
              </a:rPr>
              <a:t>can </a:t>
            </a:r>
            <a:r>
              <a:rPr sz="2400" spc="-235" dirty="0">
                <a:solidFill>
                  <a:srgbClr val="006FC0"/>
                </a:solidFill>
                <a:latin typeface="Arial"/>
                <a:cs typeface="Arial"/>
              </a:rPr>
              <a:t>be </a:t>
            </a:r>
            <a:r>
              <a:rPr sz="2400" spc="-260" dirty="0">
                <a:solidFill>
                  <a:srgbClr val="006FC0"/>
                </a:solidFill>
                <a:latin typeface="Arial"/>
                <a:cs typeface="Arial"/>
              </a:rPr>
              <a:t>used </a:t>
            </a:r>
            <a:r>
              <a:rPr sz="2400" spc="-45" dirty="0">
                <a:solidFill>
                  <a:srgbClr val="006FC0"/>
                </a:solidFill>
                <a:latin typeface="Arial"/>
                <a:cs typeface="Arial"/>
              </a:rPr>
              <a:t>for </a:t>
            </a:r>
            <a:r>
              <a:rPr sz="2400" spc="-14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400" spc="-195" dirty="0">
                <a:solidFill>
                  <a:srgbClr val="006FC0"/>
                </a:solidFill>
                <a:latin typeface="Arial"/>
                <a:cs typeface="Arial"/>
              </a:rPr>
              <a:t>transmission </a:t>
            </a:r>
            <a:r>
              <a:rPr sz="2400" spc="-6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400" spc="-190" dirty="0">
                <a:solidFill>
                  <a:srgbClr val="006FC0"/>
                </a:solidFill>
                <a:latin typeface="Arial"/>
                <a:cs typeface="Arial"/>
              </a:rPr>
              <a:t>data </a:t>
            </a:r>
            <a:r>
              <a:rPr sz="2400" spc="-245" dirty="0">
                <a:solidFill>
                  <a:srgbClr val="006FC0"/>
                </a:solidFill>
                <a:latin typeface="Arial"/>
                <a:cs typeface="Arial"/>
              </a:rPr>
              <a:t>signals </a:t>
            </a:r>
            <a:r>
              <a:rPr sz="2400" spc="-80" dirty="0">
                <a:solidFill>
                  <a:srgbClr val="006FC0"/>
                </a:solidFill>
                <a:latin typeface="Arial"/>
                <a:cs typeface="Arial"/>
              </a:rPr>
              <a:t>from </a:t>
            </a:r>
            <a:r>
              <a:rPr sz="2400" spc="-14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400" spc="-140" dirty="0">
                <a:solidFill>
                  <a:srgbClr val="006FC0"/>
                </a:solidFill>
                <a:latin typeface="Arial"/>
                <a:cs typeface="Arial"/>
              </a:rPr>
              <a:t>computer  </a:t>
            </a:r>
            <a:r>
              <a:rPr sz="2400" spc="-240" dirty="0">
                <a:solidFill>
                  <a:srgbClr val="006FC0"/>
                </a:solidFill>
                <a:latin typeface="Arial"/>
                <a:cs typeface="Arial"/>
              </a:rPr>
              <a:t>system </a:t>
            </a:r>
            <a:r>
              <a:rPr sz="2400" spc="-6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400" spc="-340" dirty="0">
                <a:solidFill>
                  <a:srgbClr val="006FC0"/>
                </a:solidFill>
                <a:latin typeface="Arial"/>
                <a:cs typeface="Arial"/>
              </a:rPr>
              <a:t>a </a:t>
            </a:r>
            <a:r>
              <a:rPr sz="2400" spc="-150" dirty="0">
                <a:solidFill>
                  <a:srgbClr val="006FC0"/>
                </a:solidFill>
                <a:latin typeface="Arial"/>
                <a:cs typeface="Arial"/>
              </a:rPr>
              <a:t>satellite </a:t>
            </a:r>
            <a:r>
              <a:rPr sz="2400" spc="-70" dirty="0">
                <a:solidFill>
                  <a:srgbClr val="006FC0"/>
                </a:solidFill>
                <a:latin typeface="Arial"/>
                <a:cs typeface="Arial"/>
              </a:rPr>
              <a:t>or </a:t>
            </a:r>
            <a:r>
              <a:rPr sz="2400" spc="-195" dirty="0">
                <a:solidFill>
                  <a:srgbClr val="006FC0"/>
                </a:solidFill>
                <a:latin typeface="Arial"/>
                <a:cs typeface="Arial"/>
              </a:rPr>
              <a:t>spacecraft </a:t>
            </a:r>
            <a:r>
              <a:rPr sz="2400" spc="-45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400" spc="-14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400" spc="-155" dirty="0">
                <a:solidFill>
                  <a:srgbClr val="006FC0"/>
                </a:solidFill>
                <a:latin typeface="Arial"/>
                <a:cs typeface="Arial"/>
              </a:rPr>
              <a:t>ground </a:t>
            </a:r>
            <a:r>
              <a:rPr sz="2400" spc="-245" dirty="0">
                <a:solidFill>
                  <a:srgbClr val="006FC0"/>
                </a:solidFill>
                <a:latin typeface="Arial"/>
                <a:cs typeface="Arial"/>
              </a:rPr>
              <a:t>system </a:t>
            </a:r>
            <a:r>
              <a:rPr sz="2400" spc="-220" dirty="0">
                <a:solidFill>
                  <a:srgbClr val="006FC0"/>
                </a:solidFill>
                <a:latin typeface="Arial"/>
                <a:cs typeface="Arial"/>
              </a:rPr>
              <a:t>using </a:t>
            </a:r>
            <a:r>
              <a:rPr sz="2400" spc="-145" dirty="0">
                <a:solidFill>
                  <a:srgbClr val="006FC0"/>
                </a:solidFill>
                <a:latin typeface="Arial"/>
                <a:cs typeface="Arial"/>
              </a:rPr>
              <a:t>the  </a:t>
            </a:r>
            <a:r>
              <a:rPr sz="2400" spc="-390" dirty="0">
                <a:solidFill>
                  <a:srgbClr val="006FC0"/>
                </a:solidFill>
                <a:latin typeface="Arial"/>
                <a:cs typeface="Arial"/>
              </a:rPr>
              <a:t>GPS </a:t>
            </a:r>
            <a:r>
              <a:rPr sz="2400" spc="-160" dirty="0">
                <a:solidFill>
                  <a:srgbClr val="006FC0"/>
                </a:solidFill>
                <a:latin typeface="Arial"/>
                <a:cs typeface="Arial"/>
              </a:rPr>
              <a:t>(Global </a:t>
            </a:r>
            <a:r>
              <a:rPr sz="2400" spc="-170" dirty="0">
                <a:solidFill>
                  <a:srgbClr val="006FC0"/>
                </a:solidFill>
                <a:latin typeface="Arial"/>
                <a:cs typeface="Arial"/>
              </a:rPr>
              <a:t>Positioning </a:t>
            </a:r>
            <a:r>
              <a:rPr sz="2400" spc="-245" dirty="0">
                <a:solidFill>
                  <a:srgbClr val="006FC0"/>
                </a:solidFill>
                <a:latin typeface="Arial"/>
                <a:cs typeface="Arial"/>
              </a:rPr>
              <a:t>System)</a:t>
            </a:r>
            <a:r>
              <a:rPr sz="2400" spc="-28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400" spc="-175" dirty="0">
                <a:solidFill>
                  <a:srgbClr val="006FC0"/>
                </a:solidFill>
                <a:latin typeface="Arial"/>
                <a:cs typeface="Arial"/>
              </a:rPr>
              <a:t>satellites.</a:t>
            </a:r>
            <a:endParaRPr sz="2400">
              <a:latin typeface="Arial"/>
              <a:cs typeface="Arial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20" dirty="0"/>
              <a:t>MODULE-</a:t>
            </a:r>
            <a:r>
              <a:rPr spc="25" dirty="0"/>
              <a:t> </a:t>
            </a:r>
            <a:r>
              <a:rPr spc="100" dirty="0"/>
              <a:t>3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159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2939795" y="202679"/>
              <a:ext cx="3259835" cy="9342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214242" y="321386"/>
            <a:ext cx="271462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70" dirty="0"/>
              <a:t>MULTIPLEXERS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sp>
          <p:nvSpPr>
            <p:cNvPr id="8" name="object 8"/>
            <p:cNvSpPr/>
            <p:nvPr/>
          </p:nvSpPr>
          <p:spPr>
            <a:xfrm>
              <a:off x="8593835" y="6620255"/>
              <a:ext cx="550164" cy="23774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630411" y="6556243"/>
              <a:ext cx="513588" cy="3017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83540" y="1070177"/>
            <a:ext cx="8377555" cy="521398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8255" algn="ctr">
              <a:lnSpc>
                <a:spcPct val="100000"/>
              </a:lnSpc>
              <a:spcBef>
                <a:spcPts val="720"/>
              </a:spcBef>
            </a:pPr>
            <a:r>
              <a:rPr sz="2000" b="1" spc="-210" dirty="0">
                <a:solidFill>
                  <a:srgbClr val="C00000"/>
                </a:solidFill>
                <a:latin typeface="Arial"/>
                <a:cs typeface="Arial"/>
              </a:rPr>
              <a:t>MULTIPLEXERS</a:t>
            </a:r>
            <a:r>
              <a:rPr sz="2000" b="1" spc="-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260" dirty="0">
                <a:solidFill>
                  <a:srgbClr val="C00000"/>
                </a:solidFill>
                <a:latin typeface="Arial"/>
                <a:cs typeface="Arial"/>
              </a:rPr>
              <a:t>TREE</a:t>
            </a:r>
            <a:endParaRPr sz="2000">
              <a:latin typeface="Arial"/>
              <a:cs typeface="Arial"/>
            </a:endParaRPr>
          </a:p>
          <a:p>
            <a:pPr marL="476884" marR="8255" indent="-464820" algn="just">
              <a:lnSpc>
                <a:spcPct val="100000"/>
              </a:lnSpc>
              <a:spcBef>
                <a:spcPts val="865"/>
              </a:spcBef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35" dirty="0">
                <a:solidFill>
                  <a:srgbClr val="006FC0"/>
                </a:solidFill>
                <a:latin typeface="Arial"/>
                <a:cs typeface="Arial"/>
              </a:rPr>
              <a:t>It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800" spc="-245" dirty="0">
                <a:solidFill>
                  <a:srgbClr val="006FC0"/>
                </a:solidFill>
                <a:latin typeface="Arial"/>
                <a:cs typeface="Arial"/>
              </a:rPr>
              <a:t>possible </a:t>
            </a:r>
            <a:r>
              <a:rPr sz="2800" spc="-50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800" spc="-250" dirty="0">
                <a:latin typeface="Arial"/>
                <a:cs typeface="Arial"/>
              </a:rPr>
              <a:t>expand </a:t>
            </a:r>
            <a:r>
              <a:rPr sz="2800" spc="-170" dirty="0">
                <a:latin typeface="Arial"/>
                <a:cs typeface="Arial"/>
              </a:rPr>
              <a:t>the </a:t>
            </a:r>
            <a:r>
              <a:rPr sz="2800" spc="-265" dirty="0">
                <a:latin typeface="Arial"/>
                <a:cs typeface="Arial"/>
              </a:rPr>
              <a:t>range </a:t>
            </a:r>
            <a:r>
              <a:rPr sz="2800" spc="-75" dirty="0">
                <a:latin typeface="Arial"/>
                <a:cs typeface="Arial"/>
              </a:rPr>
              <a:t>of </a:t>
            </a:r>
            <a:r>
              <a:rPr sz="2800" spc="-105" dirty="0">
                <a:latin typeface="Arial"/>
                <a:cs typeface="Arial"/>
              </a:rPr>
              <a:t>input </a:t>
            </a:r>
            <a:r>
              <a:rPr sz="2800" spc="-55" dirty="0">
                <a:latin typeface="Arial"/>
                <a:cs typeface="Arial"/>
              </a:rPr>
              <a:t>for </a:t>
            </a:r>
            <a:r>
              <a:rPr sz="2800" spc="-135" dirty="0">
                <a:latin typeface="Arial"/>
                <a:cs typeface="Arial"/>
              </a:rPr>
              <a:t>multiplexer </a:t>
            </a:r>
            <a:r>
              <a:rPr sz="2800" spc="-13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204" dirty="0">
                <a:solidFill>
                  <a:srgbClr val="006FC0"/>
                </a:solidFill>
                <a:latin typeface="Arial"/>
                <a:cs typeface="Arial"/>
              </a:rPr>
              <a:t>beyond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220" dirty="0">
                <a:solidFill>
                  <a:srgbClr val="006FC0"/>
                </a:solidFill>
                <a:latin typeface="Arial"/>
                <a:cs typeface="Arial"/>
              </a:rPr>
              <a:t>available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range </a:t>
            </a:r>
            <a:r>
              <a:rPr sz="2800" spc="-110" dirty="0">
                <a:solidFill>
                  <a:srgbClr val="006FC0"/>
                </a:solidFill>
                <a:latin typeface="Arial"/>
                <a:cs typeface="Arial"/>
              </a:rPr>
              <a:t>in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integrated</a:t>
            </a:r>
            <a:r>
              <a:rPr sz="2800" spc="1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150" dirty="0">
                <a:solidFill>
                  <a:srgbClr val="006FC0"/>
                </a:solidFill>
                <a:latin typeface="Arial"/>
                <a:cs typeface="Arial"/>
              </a:rPr>
              <a:t>circuits.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E36C09"/>
              </a:buClr>
              <a:buFont typeface="Wingdings"/>
              <a:buChar char=""/>
            </a:pPr>
            <a:endParaRPr sz="2900">
              <a:latin typeface="Arial"/>
              <a:cs typeface="Arial"/>
            </a:endParaRPr>
          </a:p>
          <a:p>
            <a:pPr marL="476884" marR="5080" indent="-464820" algn="just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-220" dirty="0">
                <a:solidFill>
                  <a:srgbClr val="006FC0"/>
                </a:solidFill>
                <a:latin typeface="Arial"/>
                <a:cs typeface="Arial"/>
              </a:rPr>
              <a:t>This </a:t>
            </a:r>
            <a:r>
              <a:rPr sz="2800" spc="-285" dirty="0">
                <a:solidFill>
                  <a:srgbClr val="006FC0"/>
                </a:solidFill>
                <a:latin typeface="Arial"/>
                <a:cs typeface="Arial"/>
              </a:rPr>
              <a:t>can </a:t>
            </a:r>
            <a:r>
              <a:rPr sz="2800" spc="-280" dirty="0">
                <a:solidFill>
                  <a:srgbClr val="006FC0"/>
                </a:solidFill>
                <a:latin typeface="Arial"/>
                <a:cs typeface="Arial"/>
              </a:rPr>
              <a:t>be </a:t>
            </a:r>
            <a:r>
              <a:rPr sz="2800" spc="-225" dirty="0">
                <a:solidFill>
                  <a:srgbClr val="006FC0"/>
                </a:solidFill>
                <a:latin typeface="Arial"/>
                <a:cs typeface="Arial"/>
              </a:rPr>
              <a:t>accomplished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by </a:t>
            </a:r>
            <a:r>
              <a:rPr sz="2800" spc="-165" dirty="0">
                <a:latin typeface="Arial"/>
                <a:cs typeface="Arial"/>
              </a:rPr>
              <a:t>interconnecting</a:t>
            </a:r>
            <a:r>
              <a:rPr sz="2800" spc="445" dirty="0">
                <a:latin typeface="Arial"/>
                <a:cs typeface="Arial"/>
              </a:rPr>
              <a:t> </a:t>
            </a:r>
            <a:r>
              <a:rPr sz="2800" spc="-260" dirty="0">
                <a:latin typeface="Arial"/>
                <a:cs typeface="Arial"/>
              </a:rPr>
              <a:t>several  </a:t>
            </a:r>
            <a:r>
              <a:rPr sz="2800" spc="-165" dirty="0">
                <a:latin typeface="Arial"/>
                <a:cs typeface="Arial"/>
              </a:rPr>
              <a:t>multiplexers.</a:t>
            </a:r>
            <a:r>
              <a:rPr sz="2800" spc="445" dirty="0">
                <a:latin typeface="Arial"/>
                <a:cs typeface="Arial"/>
              </a:rPr>
              <a:t> </a:t>
            </a:r>
            <a:r>
              <a:rPr sz="2800" spc="-190" dirty="0">
                <a:solidFill>
                  <a:srgbClr val="006FC0"/>
                </a:solidFill>
                <a:latin typeface="Arial"/>
                <a:cs typeface="Arial"/>
              </a:rPr>
              <a:t>For  </a:t>
            </a:r>
            <a:r>
              <a:rPr sz="2800" spc="-245" dirty="0">
                <a:solidFill>
                  <a:srgbClr val="006FC0"/>
                </a:solidFill>
                <a:latin typeface="Arial"/>
                <a:cs typeface="Arial"/>
              </a:rPr>
              <a:t>example </a:t>
            </a:r>
            <a:r>
              <a:rPr sz="2800" spc="-120" dirty="0">
                <a:latin typeface="Arial"/>
                <a:cs typeface="Arial"/>
              </a:rPr>
              <a:t>two </a:t>
            </a:r>
            <a:r>
              <a:rPr sz="2800" spc="-265" dirty="0">
                <a:latin typeface="Arial"/>
                <a:cs typeface="Arial"/>
              </a:rPr>
              <a:t>8:1 </a:t>
            </a:r>
            <a:r>
              <a:rPr sz="2800" spc="-210" dirty="0">
                <a:solidFill>
                  <a:srgbClr val="006FC0"/>
                </a:solidFill>
                <a:latin typeface="Arial"/>
                <a:cs typeface="Arial"/>
              </a:rPr>
              <a:t>mux </a:t>
            </a:r>
            <a:r>
              <a:rPr sz="2800" spc="-285" dirty="0">
                <a:solidFill>
                  <a:srgbClr val="006FC0"/>
                </a:solidFill>
                <a:latin typeface="Arial"/>
                <a:cs typeface="Arial"/>
              </a:rPr>
              <a:t>can </a:t>
            </a:r>
            <a:r>
              <a:rPr sz="2800" spc="-280" dirty="0">
                <a:solidFill>
                  <a:srgbClr val="006FC0"/>
                </a:solidFill>
                <a:latin typeface="Arial"/>
                <a:cs typeface="Arial"/>
              </a:rPr>
              <a:t>be </a:t>
            </a:r>
            <a:r>
              <a:rPr sz="2800" spc="-310" dirty="0">
                <a:solidFill>
                  <a:srgbClr val="006FC0"/>
                </a:solidFill>
                <a:latin typeface="Arial"/>
                <a:cs typeface="Arial"/>
              </a:rPr>
              <a:t>used 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together </a:t>
            </a:r>
            <a:r>
              <a:rPr sz="2800" spc="-60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800" spc="-100" dirty="0">
                <a:solidFill>
                  <a:srgbClr val="006FC0"/>
                </a:solidFill>
                <a:latin typeface="Arial"/>
                <a:cs typeface="Arial"/>
              </a:rPr>
              <a:t>form </a:t>
            </a:r>
            <a:r>
              <a:rPr sz="2800" spc="-395" dirty="0">
                <a:solidFill>
                  <a:srgbClr val="006FC0"/>
                </a:solidFill>
                <a:latin typeface="Arial"/>
                <a:cs typeface="Arial"/>
              </a:rPr>
              <a:t>a</a:t>
            </a:r>
            <a:r>
              <a:rPr sz="2800" spc="-1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300" dirty="0">
                <a:latin typeface="Arial"/>
                <a:cs typeface="Arial"/>
              </a:rPr>
              <a:t>16:1 </a:t>
            </a:r>
            <a:r>
              <a:rPr sz="2800" spc="-210" dirty="0">
                <a:latin typeface="Arial"/>
                <a:cs typeface="Arial"/>
              </a:rPr>
              <a:t>mux 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spc="-120" dirty="0">
                <a:latin typeface="Arial"/>
                <a:cs typeface="Arial"/>
              </a:rPr>
              <a:t>two </a:t>
            </a:r>
            <a:r>
              <a:rPr sz="2800" spc="-300" dirty="0">
                <a:latin typeface="Arial"/>
                <a:cs typeface="Arial"/>
              </a:rPr>
              <a:t>16:1 </a:t>
            </a:r>
            <a:r>
              <a:rPr sz="2800" spc="-215" dirty="0">
                <a:latin typeface="Arial"/>
                <a:cs typeface="Arial"/>
              </a:rPr>
              <a:t>mux </a:t>
            </a:r>
            <a:r>
              <a:rPr sz="2800" spc="-285" dirty="0">
                <a:solidFill>
                  <a:srgbClr val="006FC0"/>
                </a:solidFill>
                <a:latin typeface="Arial"/>
                <a:cs typeface="Arial"/>
              </a:rPr>
              <a:t>can </a:t>
            </a:r>
            <a:r>
              <a:rPr sz="2800" spc="-275" dirty="0">
                <a:solidFill>
                  <a:srgbClr val="006FC0"/>
                </a:solidFill>
                <a:latin typeface="Arial"/>
                <a:cs typeface="Arial"/>
              </a:rPr>
              <a:t>be  </a:t>
            </a:r>
            <a:r>
              <a:rPr sz="2800" spc="-310" dirty="0">
                <a:solidFill>
                  <a:srgbClr val="006FC0"/>
                </a:solidFill>
                <a:latin typeface="Arial"/>
                <a:cs typeface="Arial"/>
              </a:rPr>
              <a:t>used </a:t>
            </a:r>
            <a:r>
              <a:rPr sz="2800" spc="-50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800" spc="-225" dirty="0">
                <a:solidFill>
                  <a:srgbClr val="006FC0"/>
                </a:solidFill>
                <a:latin typeface="Arial"/>
                <a:cs typeface="Arial"/>
              </a:rPr>
              <a:t>realize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300" dirty="0">
                <a:latin typeface="Arial"/>
                <a:cs typeface="Arial"/>
              </a:rPr>
              <a:t>32:1</a:t>
            </a:r>
            <a:r>
              <a:rPr sz="2800" spc="-295" dirty="0">
                <a:latin typeface="Arial"/>
                <a:cs typeface="Arial"/>
              </a:rPr>
              <a:t> </a:t>
            </a:r>
            <a:r>
              <a:rPr sz="2800" spc="-200" dirty="0">
                <a:latin typeface="Arial"/>
                <a:cs typeface="Arial"/>
              </a:rPr>
              <a:t>mux.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E36C09"/>
              </a:buClr>
              <a:buFont typeface="Wingdings"/>
              <a:buChar char=""/>
            </a:pPr>
            <a:endParaRPr sz="2900">
              <a:latin typeface="Arial"/>
              <a:cs typeface="Arial"/>
            </a:endParaRPr>
          </a:p>
          <a:p>
            <a:pPr marL="476884" marR="5080" indent="-464820" algn="just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-305" dirty="0">
                <a:solidFill>
                  <a:srgbClr val="006FC0"/>
                </a:solidFill>
                <a:latin typeface="Arial"/>
                <a:cs typeface="Arial"/>
              </a:rPr>
              <a:t>Even </a:t>
            </a:r>
            <a:r>
              <a:rPr sz="2800" spc="-300" dirty="0">
                <a:solidFill>
                  <a:srgbClr val="006FC0"/>
                </a:solidFill>
                <a:latin typeface="Arial"/>
                <a:cs typeface="Arial"/>
              </a:rPr>
              <a:t>we </a:t>
            </a:r>
            <a:r>
              <a:rPr sz="2800" spc="-285" dirty="0">
                <a:solidFill>
                  <a:srgbClr val="006FC0"/>
                </a:solidFill>
                <a:latin typeface="Arial"/>
                <a:cs typeface="Arial"/>
              </a:rPr>
              <a:t>can </a:t>
            </a:r>
            <a:r>
              <a:rPr sz="2800" spc="-220" dirty="0">
                <a:solidFill>
                  <a:srgbClr val="006FC0"/>
                </a:solidFill>
                <a:latin typeface="Arial"/>
                <a:cs typeface="Arial"/>
              </a:rPr>
              <a:t>realize </a:t>
            </a:r>
            <a:r>
              <a:rPr sz="2800" spc="-300" dirty="0">
                <a:solidFill>
                  <a:srgbClr val="006FC0"/>
                </a:solidFill>
                <a:latin typeface="Arial"/>
                <a:cs typeface="Arial"/>
              </a:rPr>
              <a:t>32:1 </a:t>
            </a:r>
            <a:r>
              <a:rPr sz="2800" spc="-210" dirty="0">
                <a:solidFill>
                  <a:srgbClr val="006FC0"/>
                </a:solidFill>
                <a:latin typeface="Arial"/>
                <a:cs typeface="Arial"/>
              </a:rPr>
              <a:t>mux </a:t>
            </a:r>
            <a:r>
              <a:rPr sz="2800" spc="-285" dirty="0">
                <a:solidFill>
                  <a:srgbClr val="006FC0"/>
                </a:solidFill>
                <a:latin typeface="Arial"/>
                <a:cs typeface="Arial"/>
              </a:rPr>
              <a:t>can </a:t>
            </a:r>
            <a:r>
              <a:rPr sz="2800" spc="-280" dirty="0">
                <a:solidFill>
                  <a:srgbClr val="006FC0"/>
                </a:solidFill>
                <a:latin typeface="Arial"/>
                <a:cs typeface="Arial"/>
              </a:rPr>
              <a:t>be </a:t>
            </a:r>
            <a:r>
              <a:rPr sz="2800" spc="-215" dirty="0">
                <a:solidFill>
                  <a:srgbClr val="006FC0"/>
                </a:solidFill>
                <a:latin typeface="Arial"/>
                <a:cs typeface="Arial"/>
              </a:rPr>
              <a:t>realized 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with </a:t>
            </a:r>
            <a:r>
              <a:rPr sz="2800" spc="-395" dirty="0">
                <a:solidFill>
                  <a:srgbClr val="006FC0"/>
                </a:solidFill>
                <a:latin typeface="Arial"/>
                <a:cs typeface="Arial"/>
              </a:rPr>
              <a:t>a  </a:t>
            </a:r>
            <a:r>
              <a:rPr sz="2800" spc="-215" dirty="0">
                <a:solidFill>
                  <a:srgbClr val="006FC0"/>
                </a:solidFill>
                <a:latin typeface="Arial"/>
                <a:cs typeface="Arial"/>
              </a:rPr>
              <a:t>smaller</a:t>
            </a:r>
            <a:r>
              <a:rPr sz="2800" spc="34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295" dirty="0">
                <a:solidFill>
                  <a:srgbClr val="006FC0"/>
                </a:solidFill>
                <a:latin typeface="Arial"/>
                <a:cs typeface="Arial"/>
              </a:rPr>
              <a:t>sized </a:t>
            </a:r>
            <a:r>
              <a:rPr sz="2800" spc="-210" dirty="0">
                <a:solidFill>
                  <a:srgbClr val="006FC0"/>
                </a:solidFill>
                <a:latin typeface="Arial"/>
                <a:cs typeface="Arial"/>
              </a:rPr>
              <a:t>mux </a:t>
            </a:r>
            <a:r>
              <a:rPr sz="2800" spc="-145" dirty="0">
                <a:solidFill>
                  <a:srgbClr val="006FC0"/>
                </a:solidFill>
                <a:latin typeface="Arial"/>
                <a:cs typeface="Arial"/>
              </a:rPr>
              <a:t>like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8:1 </a:t>
            </a:r>
            <a:r>
              <a:rPr sz="2800" spc="-80" dirty="0">
                <a:solidFill>
                  <a:srgbClr val="006FC0"/>
                </a:solidFill>
                <a:latin typeface="Arial"/>
                <a:cs typeface="Arial"/>
              </a:rPr>
              <a:t>or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4:1 </a:t>
            </a:r>
            <a:r>
              <a:rPr sz="2800" spc="-80" dirty="0">
                <a:solidFill>
                  <a:srgbClr val="006FC0"/>
                </a:solidFill>
                <a:latin typeface="Arial"/>
                <a:cs typeface="Arial"/>
              </a:rPr>
              <a:t>or </a:t>
            </a:r>
            <a:r>
              <a:rPr sz="2800" spc="-270" dirty="0">
                <a:solidFill>
                  <a:srgbClr val="006FC0"/>
                </a:solidFill>
                <a:latin typeface="Arial"/>
                <a:cs typeface="Arial"/>
              </a:rPr>
              <a:t>2:1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by </a:t>
            </a:r>
            <a:r>
              <a:rPr sz="2800" spc="-125" dirty="0">
                <a:solidFill>
                  <a:srgbClr val="006FC0"/>
                </a:solidFill>
                <a:latin typeface="Arial"/>
                <a:cs typeface="Arial"/>
              </a:rPr>
              <a:t>properly  </a:t>
            </a:r>
            <a:r>
              <a:rPr sz="2800" spc="-285" dirty="0">
                <a:solidFill>
                  <a:srgbClr val="006FC0"/>
                </a:solidFill>
                <a:latin typeface="Arial"/>
                <a:cs typeface="Arial"/>
              </a:rPr>
              <a:t>assigning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200" dirty="0">
                <a:solidFill>
                  <a:srgbClr val="006FC0"/>
                </a:solidFill>
                <a:latin typeface="Arial"/>
                <a:cs typeface="Arial"/>
              </a:rPr>
              <a:t>selection </a:t>
            </a:r>
            <a:r>
              <a:rPr sz="2800" spc="-225" dirty="0">
                <a:solidFill>
                  <a:srgbClr val="006FC0"/>
                </a:solidFill>
                <a:latin typeface="Arial"/>
                <a:cs typeface="Arial"/>
              </a:rPr>
              <a:t>lines </a:t>
            </a:r>
            <a:r>
              <a:rPr sz="2800" spc="-50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800" spc="-235" dirty="0">
                <a:solidFill>
                  <a:srgbClr val="006FC0"/>
                </a:solidFill>
                <a:latin typeface="Arial"/>
                <a:cs typeface="Arial"/>
              </a:rPr>
              <a:t>those </a:t>
            </a:r>
            <a:r>
              <a:rPr sz="2800" spc="-210" dirty="0">
                <a:solidFill>
                  <a:srgbClr val="006FC0"/>
                </a:solidFill>
                <a:latin typeface="Arial"/>
                <a:cs typeface="Arial"/>
              </a:rPr>
              <a:t>mux</a:t>
            </a:r>
            <a:r>
              <a:rPr sz="2800" spc="-47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150" dirty="0">
                <a:solidFill>
                  <a:srgbClr val="006FC0"/>
                </a:solidFill>
                <a:latin typeface="Arial"/>
                <a:cs typeface="Arial"/>
              </a:rPr>
              <a:t>circuits.</a:t>
            </a:r>
            <a:endParaRPr sz="2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8739" y="6635530"/>
            <a:ext cx="723900" cy="17462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1000" b="1" spc="45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1000" b="1" spc="50" dirty="0">
                <a:solidFill>
                  <a:srgbClr val="C00000"/>
                </a:solidFill>
                <a:latin typeface="Arial"/>
                <a:cs typeface="Arial"/>
              </a:rPr>
              <a:t>U</a:t>
            </a:r>
            <a:r>
              <a:rPr sz="1000" b="1" spc="-5" dirty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1000" b="1" spc="-60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1000" b="1" spc="-10" dirty="0">
                <a:solidFill>
                  <a:srgbClr val="C00000"/>
                </a:solidFill>
                <a:latin typeface="Arial"/>
                <a:cs typeface="Arial"/>
              </a:rPr>
              <a:t>-</a:t>
            </a:r>
            <a:r>
              <a:rPr sz="1000" b="1" spc="100" dirty="0">
                <a:solidFill>
                  <a:srgbClr val="C00000"/>
                </a:solidFill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160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2939795" y="202679"/>
              <a:ext cx="3259835" cy="9342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214242" y="321386"/>
            <a:ext cx="271462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70" dirty="0"/>
              <a:t>MULTIPLEXERS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3124200" y="1600200"/>
            <a:ext cx="6024880" cy="5257800"/>
            <a:chOff x="3124200" y="1600200"/>
            <a:chExt cx="6024880" cy="5257800"/>
          </a:xfrm>
        </p:grpSpPr>
        <p:sp>
          <p:nvSpPr>
            <p:cNvPr id="8" name="object 8"/>
            <p:cNvSpPr/>
            <p:nvPr/>
          </p:nvSpPr>
          <p:spPr>
            <a:xfrm>
              <a:off x="8593835" y="6620254"/>
              <a:ext cx="550164" cy="23774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630411" y="6556242"/>
              <a:ext cx="513588" cy="3017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124200" y="1600200"/>
              <a:ext cx="3124200" cy="430530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432175" y="1148841"/>
            <a:ext cx="22885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10" dirty="0">
                <a:solidFill>
                  <a:srgbClr val="C00000"/>
                </a:solidFill>
                <a:latin typeface="Arial"/>
                <a:cs typeface="Arial"/>
              </a:rPr>
              <a:t>MULTIPLEXERS</a:t>
            </a:r>
            <a:r>
              <a:rPr sz="2000" b="1" spc="-9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260" dirty="0">
                <a:solidFill>
                  <a:srgbClr val="C00000"/>
                </a:solidFill>
                <a:latin typeface="Arial"/>
                <a:cs typeface="Arial"/>
              </a:rPr>
              <a:t>TREE</a:t>
            </a:r>
            <a:endParaRPr sz="2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8739" y="6635530"/>
            <a:ext cx="723900" cy="17462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1000" b="1" spc="45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1000" b="1" spc="50" dirty="0">
                <a:solidFill>
                  <a:srgbClr val="C00000"/>
                </a:solidFill>
                <a:latin typeface="Arial"/>
                <a:cs typeface="Arial"/>
              </a:rPr>
              <a:t>U</a:t>
            </a:r>
            <a:r>
              <a:rPr sz="1000" b="1" spc="-5" dirty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1000" b="1" spc="-60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1000" b="1" spc="-10" dirty="0">
                <a:solidFill>
                  <a:srgbClr val="C00000"/>
                </a:solidFill>
                <a:latin typeface="Arial"/>
                <a:cs typeface="Arial"/>
              </a:rPr>
              <a:t>-</a:t>
            </a:r>
            <a:r>
              <a:rPr sz="1000" b="1" spc="100" dirty="0">
                <a:solidFill>
                  <a:srgbClr val="C00000"/>
                </a:solidFill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161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203575" y="6083300"/>
            <a:ext cx="30016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503680" algn="l"/>
              </a:tabLst>
            </a:pPr>
            <a:r>
              <a:rPr sz="2000" b="1" spc="-220" dirty="0">
                <a:latin typeface="Arial"/>
                <a:cs typeface="Arial"/>
              </a:rPr>
              <a:t>8:1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spc="-160" dirty="0">
                <a:latin typeface="Arial"/>
                <a:cs typeface="Arial"/>
              </a:rPr>
              <a:t>Mux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spc="-290" dirty="0">
                <a:latin typeface="Arial"/>
                <a:cs typeface="Arial"/>
              </a:rPr>
              <a:t>using	</a:t>
            </a:r>
            <a:r>
              <a:rPr sz="2000" b="1" spc="-220" dirty="0">
                <a:latin typeface="Arial"/>
                <a:cs typeface="Arial"/>
              </a:rPr>
              <a:t>4:1 </a:t>
            </a:r>
            <a:r>
              <a:rPr sz="2000" b="1" spc="-160" dirty="0">
                <a:latin typeface="Arial"/>
                <a:cs typeface="Arial"/>
              </a:rPr>
              <a:t>&amp; </a:t>
            </a:r>
            <a:r>
              <a:rPr sz="2000" b="1" spc="-220" dirty="0">
                <a:latin typeface="Arial"/>
                <a:cs typeface="Arial"/>
              </a:rPr>
              <a:t>2:1</a:t>
            </a:r>
            <a:r>
              <a:rPr sz="2000" b="1" spc="-145" dirty="0">
                <a:latin typeface="Arial"/>
                <a:cs typeface="Arial"/>
              </a:rPr>
              <a:t> </a:t>
            </a:r>
            <a:r>
              <a:rPr sz="2000" b="1" spc="-30" dirty="0">
                <a:latin typeface="Arial"/>
                <a:cs typeface="Arial"/>
              </a:rPr>
              <a:t>MUX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793241" y="982217"/>
              <a:ext cx="7589519" cy="762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6764"/>
              <a:ext cx="9143999" cy="668274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53439" y="320001"/>
              <a:ext cx="7434072" cy="57611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939795" y="202679"/>
              <a:ext cx="3259835" cy="93422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214242" y="321386"/>
            <a:ext cx="271462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70" dirty="0"/>
              <a:t>MULTIPLEXERS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sp>
          <p:nvSpPr>
            <p:cNvPr id="13" name="object 13"/>
            <p:cNvSpPr/>
            <p:nvPr/>
          </p:nvSpPr>
          <p:spPr>
            <a:xfrm>
              <a:off x="8593835" y="6620255"/>
              <a:ext cx="550164" cy="23774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630411" y="6556243"/>
              <a:ext cx="513588" cy="30175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83540" y="1148841"/>
            <a:ext cx="8378825" cy="49885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985" algn="ctr">
              <a:lnSpc>
                <a:spcPct val="100000"/>
              </a:lnSpc>
              <a:spcBef>
                <a:spcPts val="105"/>
              </a:spcBef>
            </a:pPr>
            <a:r>
              <a:rPr sz="2000" b="1" spc="-210" dirty="0">
                <a:solidFill>
                  <a:srgbClr val="C00000"/>
                </a:solidFill>
                <a:latin typeface="Arial"/>
                <a:cs typeface="Arial"/>
              </a:rPr>
              <a:t>MULTIPLEXERS</a:t>
            </a:r>
            <a:r>
              <a:rPr sz="2000" b="1" spc="-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260" dirty="0">
                <a:solidFill>
                  <a:srgbClr val="C00000"/>
                </a:solidFill>
                <a:latin typeface="Arial"/>
                <a:cs typeface="Arial"/>
              </a:rPr>
              <a:t>TREE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000">
              <a:latin typeface="Arial"/>
              <a:cs typeface="Arial"/>
            </a:endParaRPr>
          </a:p>
          <a:p>
            <a:pPr marL="476884" marR="5080" indent="-464820" algn="just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600" spc="-180" dirty="0">
                <a:solidFill>
                  <a:srgbClr val="006FC0"/>
                </a:solidFill>
                <a:latin typeface="Arial"/>
                <a:cs typeface="Arial"/>
              </a:rPr>
              <a:t>Here, </a:t>
            </a:r>
            <a:r>
              <a:rPr sz="2600" spc="-15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600" spc="-190" dirty="0">
                <a:solidFill>
                  <a:srgbClr val="006FC0"/>
                </a:solidFill>
                <a:latin typeface="Arial"/>
                <a:cs typeface="Arial"/>
              </a:rPr>
              <a:t>number </a:t>
            </a:r>
            <a:r>
              <a:rPr sz="2600" spc="-6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600" spc="-185" dirty="0">
                <a:solidFill>
                  <a:srgbClr val="006FC0"/>
                </a:solidFill>
                <a:latin typeface="Arial"/>
                <a:cs typeface="Arial"/>
              </a:rPr>
              <a:t>selection </a:t>
            </a:r>
            <a:r>
              <a:rPr sz="2600" spc="-204" dirty="0">
                <a:solidFill>
                  <a:srgbClr val="006FC0"/>
                </a:solidFill>
                <a:latin typeface="Arial"/>
                <a:cs typeface="Arial"/>
              </a:rPr>
              <a:t>lines </a:t>
            </a:r>
            <a:r>
              <a:rPr sz="2600" spc="-150" dirty="0">
                <a:solidFill>
                  <a:srgbClr val="006FC0"/>
                </a:solidFill>
                <a:latin typeface="Arial"/>
                <a:cs typeface="Arial"/>
              </a:rPr>
              <a:t>require </a:t>
            </a:r>
            <a:r>
              <a:rPr sz="2600" spc="-45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600" spc="-155" dirty="0">
                <a:solidFill>
                  <a:srgbClr val="006FC0"/>
                </a:solidFill>
                <a:latin typeface="Arial"/>
                <a:cs typeface="Arial"/>
              </a:rPr>
              <a:t>implement </a:t>
            </a:r>
            <a:r>
              <a:rPr sz="2600" spc="-250" dirty="0">
                <a:latin typeface="Arial"/>
                <a:cs typeface="Arial"/>
              </a:rPr>
              <a:t>8:1  </a:t>
            </a:r>
            <a:r>
              <a:rPr sz="2600" spc="-190" dirty="0">
                <a:latin typeface="Arial"/>
                <a:cs typeface="Arial"/>
              </a:rPr>
              <a:t>mux </a:t>
            </a:r>
            <a:r>
              <a:rPr sz="2600" spc="-250" dirty="0">
                <a:latin typeface="Arial"/>
                <a:cs typeface="Arial"/>
              </a:rPr>
              <a:t>is </a:t>
            </a:r>
            <a:r>
              <a:rPr sz="2600" spc="-370" dirty="0">
                <a:latin typeface="Arial"/>
                <a:cs typeface="Arial"/>
              </a:rPr>
              <a:t>3 </a:t>
            </a:r>
            <a:r>
              <a:rPr sz="2600" spc="-325" dirty="0">
                <a:latin typeface="Arial"/>
                <a:cs typeface="Arial"/>
              </a:rPr>
              <a:t>(S2,S1,S0). </a:t>
            </a:r>
            <a:r>
              <a:rPr sz="2600" spc="-215" dirty="0">
                <a:solidFill>
                  <a:srgbClr val="006FC0"/>
                </a:solidFill>
                <a:latin typeface="Arial"/>
                <a:cs typeface="Arial"/>
              </a:rPr>
              <a:t>The select </a:t>
            </a:r>
            <a:r>
              <a:rPr sz="2600" spc="-165" dirty="0">
                <a:solidFill>
                  <a:srgbClr val="006FC0"/>
                </a:solidFill>
                <a:latin typeface="Arial"/>
                <a:cs typeface="Arial"/>
              </a:rPr>
              <a:t>inputs </a:t>
            </a:r>
            <a:r>
              <a:rPr sz="2600" spc="-445" dirty="0">
                <a:latin typeface="Arial"/>
                <a:cs typeface="Arial"/>
              </a:rPr>
              <a:t>S1 </a:t>
            </a:r>
            <a:r>
              <a:rPr sz="2600" spc="-240" dirty="0">
                <a:latin typeface="Arial"/>
                <a:cs typeface="Arial"/>
              </a:rPr>
              <a:t>and </a:t>
            </a:r>
            <a:r>
              <a:rPr sz="2600" spc="-445" dirty="0">
                <a:latin typeface="Arial"/>
                <a:cs typeface="Arial"/>
              </a:rPr>
              <a:t>S0 </a:t>
            </a:r>
            <a:r>
              <a:rPr sz="2600" spc="-65" dirty="0">
                <a:latin typeface="Arial"/>
                <a:cs typeface="Arial"/>
              </a:rPr>
              <a:t>of </a:t>
            </a:r>
            <a:r>
              <a:rPr sz="2600" spc="-120" dirty="0">
                <a:latin typeface="Arial"/>
                <a:cs typeface="Arial"/>
              </a:rPr>
              <a:t>both  </a:t>
            </a:r>
            <a:r>
              <a:rPr sz="2600" spc="-155" dirty="0">
                <a:latin typeface="Arial"/>
                <a:cs typeface="Arial"/>
              </a:rPr>
              <a:t>multiplexers </a:t>
            </a:r>
            <a:r>
              <a:rPr sz="2600" spc="-140" dirty="0">
                <a:latin typeface="Arial"/>
                <a:cs typeface="Arial"/>
              </a:rPr>
              <a:t>provided </a:t>
            </a:r>
            <a:r>
              <a:rPr sz="2600" spc="-45" dirty="0">
                <a:latin typeface="Arial"/>
                <a:cs typeface="Arial"/>
              </a:rPr>
              <a:t>to </a:t>
            </a:r>
            <a:r>
              <a:rPr sz="2600" spc="-155" dirty="0">
                <a:latin typeface="Arial"/>
                <a:cs typeface="Arial"/>
              </a:rPr>
              <a:t>the </a:t>
            </a:r>
            <a:r>
              <a:rPr sz="2600" spc="-210" dirty="0">
                <a:latin typeface="Arial"/>
                <a:cs typeface="Arial"/>
              </a:rPr>
              <a:t>selections </a:t>
            </a:r>
            <a:r>
              <a:rPr sz="2600" spc="-204" dirty="0">
                <a:latin typeface="Arial"/>
                <a:cs typeface="Arial"/>
              </a:rPr>
              <a:t>lines </a:t>
            </a:r>
            <a:r>
              <a:rPr sz="2600" spc="-65" dirty="0">
                <a:latin typeface="Arial"/>
                <a:cs typeface="Arial"/>
              </a:rPr>
              <a:t>of </a:t>
            </a:r>
            <a:r>
              <a:rPr sz="2600" spc="-250" dirty="0">
                <a:latin typeface="Arial"/>
                <a:cs typeface="Arial"/>
              </a:rPr>
              <a:t>4:1 </a:t>
            </a:r>
            <a:r>
              <a:rPr sz="2600" spc="-195" dirty="0">
                <a:solidFill>
                  <a:srgbClr val="006FC0"/>
                </a:solidFill>
                <a:latin typeface="Arial"/>
                <a:cs typeface="Arial"/>
              </a:rPr>
              <a:t>mux </a:t>
            </a:r>
            <a:r>
              <a:rPr sz="2600" spc="-165" dirty="0">
                <a:solidFill>
                  <a:srgbClr val="006FC0"/>
                </a:solidFill>
                <a:latin typeface="Arial"/>
                <a:cs typeface="Arial"/>
              </a:rPr>
              <a:t>i.e </a:t>
            </a:r>
            <a:r>
              <a:rPr sz="2600" spc="-350" dirty="0">
                <a:solidFill>
                  <a:srgbClr val="006FC0"/>
                </a:solidFill>
                <a:latin typeface="Arial"/>
                <a:cs typeface="Arial"/>
              </a:rPr>
              <a:t>S1,  S0. </a:t>
            </a:r>
            <a:r>
              <a:rPr sz="2600" spc="-280" dirty="0">
                <a:solidFill>
                  <a:srgbClr val="006FC0"/>
                </a:solidFill>
                <a:latin typeface="Arial"/>
                <a:cs typeface="Arial"/>
              </a:rPr>
              <a:t>Whereas </a:t>
            </a:r>
            <a:r>
              <a:rPr sz="2600" spc="-15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600" spc="-445" dirty="0">
                <a:solidFill>
                  <a:srgbClr val="006FC0"/>
                </a:solidFill>
                <a:latin typeface="Arial"/>
                <a:cs typeface="Arial"/>
              </a:rPr>
              <a:t>S3 </a:t>
            </a:r>
            <a:r>
              <a:rPr sz="2600" spc="-185" dirty="0">
                <a:solidFill>
                  <a:srgbClr val="006FC0"/>
                </a:solidFill>
                <a:latin typeface="Arial"/>
                <a:cs typeface="Arial"/>
              </a:rPr>
              <a:t>selection </a:t>
            </a:r>
            <a:r>
              <a:rPr sz="2600" spc="-95" dirty="0">
                <a:solidFill>
                  <a:srgbClr val="006FC0"/>
                </a:solidFill>
                <a:latin typeface="Arial"/>
                <a:cs typeface="Arial"/>
              </a:rPr>
              <a:t>input </a:t>
            </a:r>
            <a:r>
              <a:rPr sz="2600" spc="-6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600" spc="-15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600" spc="-250" dirty="0">
                <a:solidFill>
                  <a:srgbClr val="006FC0"/>
                </a:solidFill>
                <a:latin typeface="Arial"/>
                <a:cs typeface="Arial"/>
              </a:rPr>
              <a:t>second </a:t>
            </a:r>
            <a:r>
              <a:rPr sz="2600" spc="-170" dirty="0">
                <a:solidFill>
                  <a:srgbClr val="006FC0"/>
                </a:solidFill>
                <a:latin typeface="Arial"/>
                <a:cs typeface="Arial"/>
              </a:rPr>
              <a:t>level </a:t>
            </a:r>
            <a:r>
              <a:rPr sz="2600" spc="-250" dirty="0">
                <a:latin typeface="Arial"/>
                <a:cs typeface="Arial"/>
              </a:rPr>
              <a:t>2:1  </a:t>
            </a:r>
            <a:r>
              <a:rPr sz="2600" spc="-120" dirty="0">
                <a:latin typeface="Arial"/>
                <a:cs typeface="Arial"/>
              </a:rPr>
              <a:t>multiplexer </a:t>
            </a:r>
            <a:r>
              <a:rPr sz="2600" spc="-250" dirty="0">
                <a:latin typeface="Arial"/>
                <a:cs typeface="Arial"/>
              </a:rPr>
              <a:t>is </a:t>
            </a:r>
            <a:r>
              <a:rPr sz="2600" spc="-190" dirty="0">
                <a:latin typeface="Arial"/>
                <a:cs typeface="Arial"/>
              </a:rPr>
              <a:t>connected </a:t>
            </a:r>
            <a:r>
              <a:rPr sz="2600" spc="-45" dirty="0">
                <a:latin typeface="Arial"/>
                <a:cs typeface="Arial"/>
              </a:rPr>
              <a:t>to </a:t>
            </a:r>
            <a:r>
              <a:rPr sz="2600" spc="-445" dirty="0">
                <a:latin typeface="Arial"/>
                <a:cs typeface="Arial"/>
              </a:rPr>
              <a:t>S3</a:t>
            </a:r>
            <a:r>
              <a:rPr sz="2600" spc="-170" dirty="0">
                <a:latin typeface="Arial"/>
                <a:cs typeface="Arial"/>
              </a:rPr>
              <a:t> </a:t>
            </a:r>
            <a:r>
              <a:rPr sz="2600" spc="-185" dirty="0">
                <a:solidFill>
                  <a:srgbClr val="006FC0"/>
                </a:solidFill>
                <a:latin typeface="Arial"/>
                <a:cs typeface="Arial"/>
              </a:rPr>
              <a:t>selection</a:t>
            </a:r>
            <a:r>
              <a:rPr sz="2600" spc="-7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600" spc="-140" dirty="0">
                <a:solidFill>
                  <a:srgbClr val="006FC0"/>
                </a:solidFill>
                <a:latin typeface="Arial"/>
                <a:cs typeface="Arial"/>
              </a:rPr>
              <a:t>line.</a:t>
            </a:r>
            <a:endParaRPr sz="2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E36C09"/>
              </a:buClr>
              <a:buFont typeface="Wingdings"/>
              <a:buChar char=""/>
            </a:pPr>
            <a:endParaRPr sz="2700">
              <a:latin typeface="Arial"/>
              <a:cs typeface="Arial"/>
            </a:endParaRPr>
          </a:p>
          <a:p>
            <a:pPr marL="476884" marR="5715" indent="-464820" algn="just">
              <a:lnSpc>
                <a:spcPct val="100000"/>
              </a:lnSpc>
              <a:spcBef>
                <a:spcPts val="5"/>
              </a:spcBef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600" spc="-335" dirty="0">
                <a:solidFill>
                  <a:srgbClr val="006FC0"/>
                </a:solidFill>
                <a:latin typeface="Arial"/>
                <a:cs typeface="Arial"/>
              </a:rPr>
              <a:t>So </a:t>
            </a:r>
            <a:r>
              <a:rPr sz="2600" spc="-45" dirty="0">
                <a:solidFill>
                  <a:srgbClr val="006FC0"/>
                </a:solidFill>
                <a:latin typeface="Arial"/>
                <a:cs typeface="Arial"/>
              </a:rPr>
              <a:t>for </a:t>
            </a:r>
            <a:r>
              <a:rPr sz="2600" spc="-445" dirty="0">
                <a:latin typeface="Arial"/>
                <a:cs typeface="Arial"/>
              </a:rPr>
              <a:t>S2 </a:t>
            </a:r>
            <a:r>
              <a:rPr sz="2600" spc="70" dirty="0">
                <a:latin typeface="Arial"/>
                <a:cs typeface="Arial"/>
              </a:rPr>
              <a:t>= </a:t>
            </a:r>
            <a:r>
              <a:rPr sz="2600" spc="-260" dirty="0">
                <a:latin typeface="Arial"/>
                <a:cs typeface="Arial"/>
              </a:rPr>
              <a:t>0, </a:t>
            </a:r>
            <a:r>
              <a:rPr sz="2600" spc="-155" dirty="0">
                <a:latin typeface="Arial"/>
                <a:cs typeface="Arial"/>
              </a:rPr>
              <a:t>the </a:t>
            </a:r>
            <a:r>
              <a:rPr sz="2600" spc="-165" dirty="0">
                <a:latin typeface="Arial"/>
                <a:cs typeface="Arial"/>
              </a:rPr>
              <a:t>upper </a:t>
            </a:r>
            <a:r>
              <a:rPr sz="2600" spc="-125" dirty="0">
                <a:latin typeface="Arial"/>
                <a:cs typeface="Arial"/>
              </a:rPr>
              <a:t>multiplexer </a:t>
            </a:r>
            <a:r>
              <a:rPr sz="2600" spc="-250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600" spc="-225" dirty="0">
                <a:solidFill>
                  <a:srgbClr val="006FC0"/>
                </a:solidFill>
                <a:latin typeface="Arial"/>
                <a:cs typeface="Arial"/>
              </a:rPr>
              <a:t>selected </a:t>
            </a:r>
            <a:r>
              <a:rPr sz="2600" spc="-229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600" spc="-100" dirty="0">
                <a:solidFill>
                  <a:srgbClr val="006FC0"/>
                </a:solidFill>
                <a:latin typeface="Arial"/>
                <a:cs typeface="Arial"/>
              </a:rPr>
              <a:t>input  </a:t>
            </a:r>
            <a:r>
              <a:rPr sz="2600" spc="-204" dirty="0">
                <a:solidFill>
                  <a:srgbClr val="006FC0"/>
                </a:solidFill>
                <a:latin typeface="Arial"/>
                <a:cs typeface="Arial"/>
              </a:rPr>
              <a:t>lines </a:t>
            </a:r>
            <a:r>
              <a:rPr sz="2600" spc="-254" dirty="0">
                <a:solidFill>
                  <a:srgbClr val="006FC0"/>
                </a:solidFill>
                <a:latin typeface="Arial"/>
                <a:cs typeface="Arial"/>
              </a:rPr>
              <a:t>d0 </a:t>
            </a:r>
            <a:r>
              <a:rPr sz="2600" spc="-50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600" spc="-254" dirty="0">
                <a:solidFill>
                  <a:srgbClr val="006FC0"/>
                </a:solidFill>
                <a:latin typeface="Arial"/>
                <a:cs typeface="Arial"/>
              </a:rPr>
              <a:t>d3 </a:t>
            </a:r>
            <a:r>
              <a:rPr sz="2600" spc="-229" dirty="0">
                <a:solidFill>
                  <a:srgbClr val="006FC0"/>
                </a:solidFill>
                <a:latin typeface="Arial"/>
                <a:cs typeface="Arial"/>
              </a:rPr>
              <a:t>are </a:t>
            </a:r>
            <a:r>
              <a:rPr sz="2600" spc="-220" dirty="0">
                <a:solidFill>
                  <a:srgbClr val="006FC0"/>
                </a:solidFill>
                <a:latin typeface="Arial"/>
                <a:cs typeface="Arial"/>
              </a:rPr>
              <a:t>selected </a:t>
            </a:r>
            <a:r>
              <a:rPr sz="2600" spc="-180" dirty="0">
                <a:solidFill>
                  <a:srgbClr val="006FC0"/>
                </a:solidFill>
                <a:latin typeface="Arial"/>
                <a:cs typeface="Arial"/>
              </a:rPr>
              <a:t>according </a:t>
            </a:r>
            <a:r>
              <a:rPr sz="2600" spc="-45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600" spc="-15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600" spc="-225" dirty="0">
                <a:solidFill>
                  <a:srgbClr val="006FC0"/>
                </a:solidFill>
                <a:latin typeface="Arial"/>
                <a:cs typeface="Arial"/>
              </a:rPr>
              <a:t>selected </a:t>
            </a:r>
            <a:r>
              <a:rPr sz="2600" spc="-160" dirty="0">
                <a:solidFill>
                  <a:srgbClr val="006FC0"/>
                </a:solidFill>
                <a:latin typeface="Arial"/>
                <a:cs typeface="Arial"/>
              </a:rPr>
              <a:t>inputs  </a:t>
            </a:r>
            <a:r>
              <a:rPr sz="2600" spc="-235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600" spc="-204" dirty="0">
                <a:solidFill>
                  <a:srgbClr val="006FC0"/>
                </a:solidFill>
                <a:latin typeface="Arial"/>
                <a:cs typeface="Arial"/>
              </a:rPr>
              <a:t>data </a:t>
            </a:r>
            <a:r>
              <a:rPr sz="2600" spc="-250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600" spc="-145" dirty="0">
                <a:solidFill>
                  <a:srgbClr val="006FC0"/>
                </a:solidFill>
                <a:latin typeface="Arial"/>
                <a:cs typeface="Arial"/>
              </a:rPr>
              <a:t>transmitted </a:t>
            </a:r>
            <a:r>
              <a:rPr sz="2600" spc="-50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600" spc="-280" dirty="0">
                <a:solidFill>
                  <a:srgbClr val="006FC0"/>
                </a:solidFill>
                <a:latin typeface="Arial"/>
                <a:cs typeface="Arial"/>
              </a:rPr>
              <a:t>an </a:t>
            </a:r>
            <a:r>
              <a:rPr sz="2600" spc="-95" dirty="0">
                <a:solidFill>
                  <a:srgbClr val="006FC0"/>
                </a:solidFill>
                <a:latin typeface="Arial"/>
                <a:cs typeface="Arial"/>
              </a:rPr>
              <a:t>output </a:t>
            </a:r>
            <a:r>
              <a:rPr sz="2600" spc="-145" dirty="0">
                <a:solidFill>
                  <a:srgbClr val="006FC0"/>
                </a:solidFill>
                <a:latin typeface="Arial"/>
                <a:cs typeface="Arial"/>
              </a:rPr>
              <a:t>through </a:t>
            </a:r>
            <a:r>
              <a:rPr sz="2600" spc="-15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600" spc="-195" dirty="0">
                <a:solidFill>
                  <a:srgbClr val="006FC0"/>
                </a:solidFill>
                <a:latin typeface="Arial"/>
                <a:cs typeface="Arial"/>
              </a:rPr>
              <a:t>OR </a:t>
            </a:r>
            <a:r>
              <a:rPr sz="2600" spc="-225" dirty="0">
                <a:solidFill>
                  <a:srgbClr val="006FC0"/>
                </a:solidFill>
                <a:latin typeface="Arial"/>
                <a:cs typeface="Arial"/>
              </a:rPr>
              <a:t>gate.  </a:t>
            </a:r>
            <a:r>
              <a:rPr sz="2600" spc="-240" dirty="0">
                <a:solidFill>
                  <a:srgbClr val="006FC0"/>
                </a:solidFill>
                <a:latin typeface="Arial"/>
                <a:cs typeface="Arial"/>
              </a:rPr>
              <a:t>When </a:t>
            </a:r>
            <a:r>
              <a:rPr sz="2600" spc="-445" dirty="0">
                <a:solidFill>
                  <a:srgbClr val="006FC0"/>
                </a:solidFill>
                <a:latin typeface="Arial"/>
                <a:cs typeface="Arial"/>
              </a:rPr>
              <a:t>S2 </a:t>
            </a:r>
            <a:r>
              <a:rPr sz="2600" spc="65" dirty="0">
                <a:solidFill>
                  <a:srgbClr val="006FC0"/>
                </a:solidFill>
                <a:latin typeface="Arial"/>
                <a:cs typeface="Arial"/>
              </a:rPr>
              <a:t>= </a:t>
            </a:r>
            <a:r>
              <a:rPr sz="2600" spc="-260" dirty="0">
                <a:solidFill>
                  <a:srgbClr val="006FC0"/>
                </a:solidFill>
                <a:latin typeface="Arial"/>
                <a:cs typeface="Arial"/>
              </a:rPr>
              <a:t>1, </a:t>
            </a:r>
            <a:r>
              <a:rPr sz="2600" spc="-15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600" spc="-145" dirty="0">
                <a:solidFill>
                  <a:srgbClr val="006FC0"/>
                </a:solidFill>
                <a:latin typeface="Arial"/>
                <a:cs typeface="Arial"/>
              </a:rPr>
              <a:t>lower </a:t>
            </a:r>
            <a:r>
              <a:rPr sz="2600" spc="-125" dirty="0">
                <a:solidFill>
                  <a:srgbClr val="006FC0"/>
                </a:solidFill>
                <a:latin typeface="Arial"/>
                <a:cs typeface="Arial"/>
              </a:rPr>
              <a:t>multiplexer </a:t>
            </a:r>
            <a:r>
              <a:rPr sz="2600" spc="-250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600" spc="-170" dirty="0">
                <a:solidFill>
                  <a:srgbClr val="006FC0"/>
                </a:solidFill>
                <a:latin typeface="Arial"/>
                <a:cs typeface="Arial"/>
              </a:rPr>
              <a:t>activated </a:t>
            </a:r>
            <a:r>
              <a:rPr sz="2600" spc="-235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600" spc="-95" dirty="0">
                <a:solidFill>
                  <a:srgbClr val="006FC0"/>
                </a:solidFill>
                <a:latin typeface="Arial"/>
                <a:cs typeface="Arial"/>
              </a:rPr>
              <a:t>input  </a:t>
            </a:r>
            <a:r>
              <a:rPr sz="2600" spc="-204" dirty="0">
                <a:solidFill>
                  <a:srgbClr val="006FC0"/>
                </a:solidFill>
                <a:latin typeface="Arial"/>
                <a:cs typeface="Arial"/>
              </a:rPr>
              <a:t>lines </a:t>
            </a:r>
            <a:r>
              <a:rPr sz="2600" spc="-254" dirty="0">
                <a:solidFill>
                  <a:srgbClr val="006FC0"/>
                </a:solidFill>
                <a:latin typeface="Arial"/>
                <a:cs typeface="Arial"/>
              </a:rPr>
              <a:t>d4 </a:t>
            </a:r>
            <a:r>
              <a:rPr sz="2600" spc="-45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600" spc="-254" dirty="0">
                <a:solidFill>
                  <a:srgbClr val="006FC0"/>
                </a:solidFill>
                <a:latin typeface="Arial"/>
                <a:cs typeface="Arial"/>
              </a:rPr>
              <a:t>d7 </a:t>
            </a:r>
            <a:r>
              <a:rPr sz="2600" spc="-229" dirty="0">
                <a:solidFill>
                  <a:srgbClr val="006FC0"/>
                </a:solidFill>
                <a:latin typeface="Arial"/>
                <a:cs typeface="Arial"/>
              </a:rPr>
              <a:t>are </a:t>
            </a:r>
            <a:r>
              <a:rPr sz="2600" spc="-220" dirty="0">
                <a:solidFill>
                  <a:srgbClr val="006FC0"/>
                </a:solidFill>
                <a:latin typeface="Arial"/>
                <a:cs typeface="Arial"/>
              </a:rPr>
              <a:t>selected </a:t>
            </a:r>
            <a:r>
              <a:rPr sz="2600" spc="-180" dirty="0">
                <a:solidFill>
                  <a:srgbClr val="006FC0"/>
                </a:solidFill>
                <a:latin typeface="Arial"/>
                <a:cs typeface="Arial"/>
              </a:rPr>
              <a:t>according </a:t>
            </a:r>
            <a:r>
              <a:rPr sz="2600" spc="-45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600" spc="-15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600" spc="-220" dirty="0">
                <a:solidFill>
                  <a:srgbClr val="006FC0"/>
                </a:solidFill>
                <a:latin typeface="Arial"/>
                <a:cs typeface="Arial"/>
              </a:rPr>
              <a:t>selected</a:t>
            </a:r>
            <a:r>
              <a:rPr sz="2600" spc="8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600" spc="-160" dirty="0">
                <a:solidFill>
                  <a:srgbClr val="006FC0"/>
                </a:solidFill>
                <a:latin typeface="Arial"/>
                <a:cs typeface="Arial"/>
              </a:rPr>
              <a:t>inputs.</a:t>
            </a:r>
            <a:endParaRPr sz="26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8739" y="6635530"/>
            <a:ext cx="723900" cy="17462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1000" b="1" spc="45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1000" b="1" spc="50" dirty="0">
                <a:solidFill>
                  <a:srgbClr val="C00000"/>
                </a:solidFill>
                <a:latin typeface="Arial"/>
                <a:cs typeface="Arial"/>
              </a:rPr>
              <a:t>U</a:t>
            </a:r>
            <a:r>
              <a:rPr sz="1000" b="1" spc="-5" dirty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1000" b="1" spc="-60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1000" b="1" spc="-10" dirty="0">
                <a:solidFill>
                  <a:srgbClr val="C00000"/>
                </a:solidFill>
                <a:latin typeface="Arial"/>
                <a:cs typeface="Arial"/>
              </a:rPr>
              <a:t>-</a:t>
            </a:r>
            <a:r>
              <a:rPr sz="1000" b="1" spc="100" dirty="0">
                <a:solidFill>
                  <a:srgbClr val="C00000"/>
                </a:solidFill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162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793241" y="982217"/>
              <a:ext cx="7589519" cy="762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6764"/>
              <a:ext cx="9143999" cy="668274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53439" y="320001"/>
              <a:ext cx="7434072" cy="57611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939795" y="202679"/>
              <a:ext cx="3259835" cy="93422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214242" y="321386"/>
            <a:ext cx="271462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70" dirty="0">
                <a:latin typeface="Trebuchet MS"/>
                <a:cs typeface="Trebuchet MS"/>
              </a:rPr>
              <a:t>MULTIPLEXERS</a:t>
            </a:r>
            <a:endParaRPr sz="320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362200" y="1679448"/>
            <a:ext cx="6786880" cy="5179060"/>
            <a:chOff x="2362200" y="1679448"/>
            <a:chExt cx="6786880" cy="5179060"/>
          </a:xfrm>
        </p:grpSpPr>
        <p:sp>
          <p:nvSpPr>
            <p:cNvPr id="13" name="object 13"/>
            <p:cNvSpPr/>
            <p:nvPr/>
          </p:nvSpPr>
          <p:spPr>
            <a:xfrm>
              <a:off x="8593835" y="6620254"/>
              <a:ext cx="550164" cy="23774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630411" y="6556243"/>
              <a:ext cx="513588" cy="30175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641079" y="6644639"/>
              <a:ext cx="502920" cy="18288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641079" y="6644639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362200" y="1679448"/>
              <a:ext cx="4486656" cy="4264152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432175" y="1148841"/>
            <a:ext cx="22885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10" dirty="0">
                <a:solidFill>
                  <a:srgbClr val="C00000"/>
                </a:solidFill>
                <a:latin typeface="Arial"/>
                <a:cs typeface="Arial"/>
              </a:rPr>
              <a:t>MULTIPLEXERS</a:t>
            </a:r>
            <a:r>
              <a:rPr sz="2000" b="1" spc="-9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260" dirty="0">
                <a:solidFill>
                  <a:srgbClr val="C00000"/>
                </a:solidFill>
                <a:latin typeface="Arial"/>
                <a:cs typeface="Arial"/>
              </a:rPr>
              <a:t>TREE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8739" y="6635530"/>
            <a:ext cx="723900" cy="17462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1000" b="1" spc="45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1000" b="1" spc="50" dirty="0">
                <a:solidFill>
                  <a:srgbClr val="C00000"/>
                </a:solidFill>
                <a:latin typeface="Arial"/>
                <a:cs typeface="Arial"/>
              </a:rPr>
              <a:t>U</a:t>
            </a:r>
            <a:r>
              <a:rPr sz="1000" b="1" spc="-5" dirty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1000" b="1" spc="-60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1000" b="1" spc="-10" dirty="0">
                <a:solidFill>
                  <a:srgbClr val="C00000"/>
                </a:solidFill>
                <a:latin typeface="Arial"/>
                <a:cs typeface="Arial"/>
              </a:rPr>
              <a:t>-</a:t>
            </a:r>
            <a:r>
              <a:rPr sz="1000" b="1" spc="100" dirty="0">
                <a:solidFill>
                  <a:srgbClr val="C00000"/>
                </a:solidFill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163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3203575" y="6083300"/>
            <a:ext cx="252476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609725" algn="l"/>
              </a:tabLst>
            </a:pPr>
            <a:r>
              <a:rPr sz="2000" b="1" spc="-235" dirty="0">
                <a:latin typeface="Arial"/>
                <a:cs typeface="Arial"/>
              </a:rPr>
              <a:t>16:1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spc="-160" dirty="0">
                <a:latin typeface="Arial"/>
                <a:cs typeface="Arial"/>
              </a:rPr>
              <a:t>Mux</a:t>
            </a:r>
            <a:r>
              <a:rPr sz="2000" b="1" spc="-55" dirty="0">
                <a:latin typeface="Arial"/>
                <a:cs typeface="Arial"/>
              </a:rPr>
              <a:t> </a:t>
            </a:r>
            <a:r>
              <a:rPr sz="2000" b="1" spc="-290" dirty="0">
                <a:latin typeface="Arial"/>
                <a:cs typeface="Arial"/>
              </a:rPr>
              <a:t>using	</a:t>
            </a:r>
            <a:r>
              <a:rPr sz="2000" b="1" spc="-225" dirty="0">
                <a:latin typeface="Arial"/>
                <a:cs typeface="Arial"/>
              </a:rPr>
              <a:t>4:1</a:t>
            </a:r>
            <a:r>
              <a:rPr sz="2000" b="1" spc="-120" dirty="0">
                <a:latin typeface="Arial"/>
                <a:cs typeface="Arial"/>
              </a:rPr>
              <a:t> </a:t>
            </a:r>
            <a:r>
              <a:rPr sz="2000" b="1" spc="-30" dirty="0">
                <a:latin typeface="Arial"/>
                <a:cs typeface="Arial"/>
              </a:rPr>
              <a:t>MUX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2939795" y="202679"/>
              <a:ext cx="3259835" cy="9342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214242" y="321386"/>
            <a:ext cx="271462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70" dirty="0"/>
              <a:t>MULTIPLEXERS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83540" y="1589989"/>
            <a:ext cx="14274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u="heavy" spc="-27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Examp</a:t>
            </a:r>
            <a:r>
              <a:rPr sz="2800" u="heavy" spc="-9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</a:t>
            </a:r>
            <a:r>
              <a:rPr sz="2800" u="heavy" spc="-254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e1: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5440" y="2024887"/>
            <a:ext cx="8385175" cy="4352925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50800" marR="2408555">
              <a:lnSpc>
                <a:spcPts val="3300"/>
              </a:lnSpc>
              <a:spcBef>
                <a:spcPts val="254"/>
              </a:spcBef>
            </a:pPr>
            <a:r>
              <a:rPr sz="2800" spc="-260" dirty="0">
                <a:latin typeface="Arial"/>
                <a:cs typeface="Arial"/>
              </a:rPr>
              <a:t>using </a:t>
            </a:r>
            <a:r>
              <a:rPr sz="2800" spc="-270" dirty="0">
                <a:latin typeface="Arial"/>
                <a:cs typeface="Arial"/>
              </a:rPr>
              <a:t>8:1 </a:t>
            </a:r>
            <a:r>
              <a:rPr sz="2800" spc="-200" dirty="0">
                <a:latin typeface="Arial"/>
                <a:cs typeface="Arial"/>
              </a:rPr>
              <a:t>mux, </a:t>
            </a:r>
            <a:r>
              <a:rPr sz="2800" spc="-409" dirty="0">
                <a:latin typeface="Arial"/>
                <a:cs typeface="Arial"/>
              </a:rPr>
              <a:t>F </a:t>
            </a:r>
            <a:r>
              <a:rPr sz="2800" spc="-90" dirty="0">
                <a:latin typeface="Arial"/>
                <a:cs typeface="Arial"/>
              </a:rPr>
              <a:t>(A, </a:t>
            </a:r>
            <a:r>
              <a:rPr sz="2800" spc="-295" dirty="0">
                <a:latin typeface="Arial"/>
                <a:cs typeface="Arial"/>
              </a:rPr>
              <a:t>B, </a:t>
            </a:r>
            <a:r>
              <a:rPr sz="2800" spc="-270" dirty="0">
                <a:latin typeface="Arial"/>
                <a:cs typeface="Arial"/>
              </a:rPr>
              <a:t>C) </a:t>
            </a:r>
            <a:r>
              <a:rPr sz="2800" spc="70" dirty="0">
                <a:latin typeface="Arial"/>
                <a:cs typeface="Arial"/>
              </a:rPr>
              <a:t>= </a:t>
            </a:r>
            <a:r>
              <a:rPr sz="2800" spc="-125" dirty="0">
                <a:latin typeface="Arial"/>
                <a:cs typeface="Arial"/>
              </a:rPr>
              <a:t>∑m </a:t>
            </a:r>
            <a:r>
              <a:rPr sz="2800" spc="-270" dirty="0">
                <a:latin typeface="Arial"/>
                <a:cs typeface="Arial"/>
              </a:rPr>
              <a:t>(1, </a:t>
            </a:r>
            <a:r>
              <a:rPr sz="2800" spc="-280" dirty="0">
                <a:latin typeface="Arial"/>
                <a:cs typeface="Arial"/>
              </a:rPr>
              <a:t>3, </a:t>
            </a:r>
            <a:r>
              <a:rPr sz="2800" spc="-285" dirty="0">
                <a:latin typeface="Arial"/>
                <a:cs typeface="Arial"/>
              </a:rPr>
              <a:t>5, </a:t>
            </a:r>
            <a:r>
              <a:rPr sz="2800" spc="-270" dirty="0">
                <a:latin typeface="Arial"/>
                <a:cs typeface="Arial"/>
              </a:rPr>
              <a:t>6).  </a:t>
            </a:r>
            <a:r>
              <a:rPr sz="2800" u="heavy" spc="-14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Solution:</a:t>
            </a:r>
            <a:endParaRPr sz="2800">
              <a:latin typeface="Arial"/>
              <a:cs typeface="Arial"/>
            </a:endParaRPr>
          </a:p>
          <a:p>
            <a:pPr marL="965200" marR="3972560">
              <a:lnSpc>
                <a:spcPts val="3360"/>
              </a:lnSpc>
              <a:spcBef>
                <a:spcPts val="10"/>
              </a:spcBef>
            </a:pPr>
            <a:r>
              <a:rPr sz="2800" spc="-200" dirty="0">
                <a:solidFill>
                  <a:srgbClr val="006FC0"/>
                </a:solidFill>
                <a:latin typeface="Arial"/>
                <a:cs typeface="Arial"/>
              </a:rPr>
              <a:t>Variables, </a:t>
            </a:r>
            <a:r>
              <a:rPr sz="2800" spc="-70" dirty="0">
                <a:solidFill>
                  <a:srgbClr val="006FC0"/>
                </a:solidFill>
                <a:latin typeface="Arial"/>
                <a:cs typeface="Arial"/>
              </a:rPr>
              <a:t>n= </a:t>
            </a:r>
            <a:r>
              <a:rPr sz="2800" spc="-400" dirty="0">
                <a:solidFill>
                  <a:srgbClr val="006FC0"/>
                </a:solidFill>
                <a:latin typeface="Arial"/>
                <a:cs typeface="Arial"/>
              </a:rPr>
              <a:t>3 </a:t>
            </a:r>
            <a:r>
              <a:rPr sz="2800" spc="-90" dirty="0">
                <a:solidFill>
                  <a:srgbClr val="006FC0"/>
                </a:solidFill>
                <a:latin typeface="Arial"/>
                <a:cs typeface="Arial"/>
              </a:rPr>
              <a:t>(A, </a:t>
            </a:r>
            <a:r>
              <a:rPr sz="2800" spc="-295" dirty="0">
                <a:solidFill>
                  <a:srgbClr val="006FC0"/>
                </a:solidFill>
                <a:latin typeface="Arial"/>
                <a:cs typeface="Arial"/>
              </a:rPr>
              <a:t>B,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C)  </a:t>
            </a:r>
            <a:r>
              <a:rPr sz="2800" spc="-240" dirty="0">
                <a:solidFill>
                  <a:srgbClr val="006FC0"/>
                </a:solidFill>
                <a:latin typeface="Arial"/>
                <a:cs typeface="Arial"/>
              </a:rPr>
              <a:t>Select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lines= </a:t>
            </a:r>
            <a:r>
              <a:rPr sz="2800" spc="-400" dirty="0">
                <a:solidFill>
                  <a:srgbClr val="006FC0"/>
                </a:solidFill>
                <a:latin typeface="Arial"/>
                <a:cs typeface="Arial"/>
              </a:rPr>
              <a:t>3 </a:t>
            </a:r>
            <a:r>
              <a:rPr sz="2800" spc="-345" dirty="0">
                <a:solidFill>
                  <a:srgbClr val="006FC0"/>
                </a:solidFill>
                <a:latin typeface="Arial"/>
                <a:cs typeface="Arial"/>
              </a:rPr>
              <a:t>(S2, </a:t>
            </a:r>
            <a:r>
              <a:rPr sz="2800" spc="-320" dirty="0">
                <a:solidFill>
                  <a:srgbClr val="006FC0"/>
                </a:solidFill>
                <a:latin typeface="Arial"/>
                <a:cs typeface="Arial"/>
              </a:rPr>
              <a:t>S</a:t>
            </a:r>
            <a:r>
              <a:rPr sz="2775" spc="-480" baseline="-21021" dirty="0">
                <a:solidFill>
                  <a:srgbClr val="006FC0"/>
                </a:solidFill>
                <a:latin typeface="Arial"/>
                <a:cs typeface="Arial"/>
              </a:rPr>
              <a:t>1</a:t>
            </a:r>
            <a:r>
              <a:rPr sz="2800" spc="-320" dirty="0">
                <a:solidFill>
                  <a:srgbClr val="006FC0"/>
                </a:solidFill>
                <a:latin typeface="Arial"/>
                <a:cs typeface="Arial"/>
              </a:rPr>
              <a:t>,</a:t>
            </a:r>
            <a:r>
              <a:rPr sz="2800" spc="-24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350" dirty="0">
                <a:solidFill>
                  <a:srgbClr val="006FC0"/>
                </a:solidFill>
                <a:latin typeface="Arial"/>
                <a:cs typeface="Arial"/>
              </a:rPr>
              <a:t>S</a:t>
            </a:r>
            <a:r>
              <a:rPr sz="2775" spc="-525" baseline="-21021" dirty="0">
                <a:solidFill>
                  <a:srgbClr val="006FC0"/>
                </a:solidFill>
                <a:latin typeface="Arial"/>
                <a:cs typeface="Arial"/>
              </a:rPr>
              <a:t>0</a:t>
            </a:r>
            <a:r>
              <a:rPr sz="2800" spc="-350" dirty="0">
                <a:solidFill>
                  <a:srgbClr val="006FC0"/>
                </a:solidFill>
                <a:latin typeface="Arial"/>
                <a:cs typeface="Arial"/>
              </a:rPr>
              <a:t>)</a:t>
            </a:r>
            <a:endParaRPr sz="2800">
              <a:latin typeface="Arial"/>
              <a:cs typeface="Arial"/>
            </a:endParaRPr>
          </a:p>
          <a:p>
            <a:pPr marL="965200">
              <a:lnSpc>
                <a:spcPts val="3250"/>
              </a:lnSpc>
            </a:pP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Input </a:t>
            </a:r>
            <a:r>
              <a:rPr sz="2800" spc="-225" dirty="0">
                <a:solidFill>
                  <a:srgbClr val="006FC0"/>
                </a:solidFill>
                <a:latin typeface="Arial"/>
                <a:cs typeface="Arial"/>
              </a:rPr>
              <a:t>lines </a:t>
            </a:r>
            <a:r>
              <a:rPr sz="2800" spc="70" dirty="0">
                <a:solidFill>
                  <a:srgbClr val="006FC0"/>
                </a:solidFill>
                <a:latin typeface="Arial"/>
                <a:cs typeface="Arial"/>
              </a:rPr>
              <a:t>= </a:t>
            </a:r>
            <a:r>
              <a:rPr sz="2800" spc="-320" dirty="0">
                <a:solidFill>
                  <a:srgbClr val="006FC0"/>
                </a:solidFill>
                <a:latin typeface="Arial"/>
                <a:cs typeface="Arial"/>
              </a:rPr>
              <a:t>2</a:t>
            </a:r>
            <a:r>
              <a:rPr sz="2775" spc="-480" baseline="25525" dirty="0">
                <a:solidFill>
                  <a:srgbClr val="006FC0"/>
                </a:solidFill>
                <a:latin typeface="Arial"/>
                <a:cs typeface="Arial"/>
              </a:rPr>
              <a:t>3 </a:t>
            </a:r>
            <a:r>
              <a:rPr sz="2800" spc="70" dirty="0">
                <a:solidFill>
                  <a:srgbClr val="006FC0"/>
                </a:solidFill>
                <a:latin typeface="Arial"/>
                <a:cs typeface="Arial"/>
              </a:rPr>
              <a:t>= </a:t>
            </a:r>
            <a:r>
              <a:rPr sz="2800" spc="-400" dirty="0">
                <a:solidFill>
                  <a:srgbClr val="006FC0"/>
                </a:solidFill>
                <a:latin typeface="Arial"/>
                <a:cs typeface="Arial"/>
              </a:rPr>
              <a:t>8 </a:t>
            </a: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(D</a:t>
            </a:r>
            <a:r>
              <a:rPr sz="2775" spc="-345" baseline="-21021" dirty="0">
                <a:solidFill>
                  <a:srgbClr val="006FC0"/>
                </a:solidFill>
                <a:latin typeface="Arial"/>
                <a:cs typeface="Arial"/>
              </a:rPr>
              <a:t>0</a:t>
            </a: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, </a:t>
            </a:r>
            <a:r>
              <a:rPr sz="2800" spc="-220" dirty="0">
                <a:solidFill>
                  <a:srgbClr val="006FC0"/>
                </a:solidFill>
                <a:latin typeface="Arial"/>
                <a:cs typeface="Arial"/>
              </a:rPr>
              <a:t>D</a:t>
            </a:r>
            <a:r>
              <a:rPr sz="2775" spc="-330" baseline="-21021" dirty="0">
                <a:solidFill>
                  <a:srgbClr val="006FC0"/>
                </a:solidFill>
                <a:latin typeface="Arial"/>
                <a:cs typeface="Arial"/>
              </a:rPr>
              <a:t>1</a:t>
            </a:r>
            <a:r>
              <a:rPr sz="2800" spc="-220" dirty="0">
                <a:solidFill>
                  <a:srgbClr val="006FC0"/>
                </a:solidFill>
                <a:latin typeface="Arial"/>
                <a:cs typeface="Arial"/>
              </a:rPr>
              <a:t>, D</a:t>
            </a:r>
            <a:r>
              <a:rPr sz="2775" spc="-330" baseline="-21021" dirty="0">
                <a:solidFill>
                  <a:srgbClr val="006FC0"/>
                </a:solidFill>
                <a:latin typeface="Arial"/>
                <a:cs typeface="Arial"/>
              </a:rPr>
              <a:t>2</a:t>
            </a:r>
            <a:r>
              <a:rPr sz="2800" spc="-220" dirty="0">
                <a:solidFill>
                  <a:srgbClr val="006FC0"/>
                </a:solidFill>
                <a:latin typeface="Arial"/>
                <a:cs typeface="Arial"/>
              </a:rPr>
              <a:t>, </a:t>
            </a:r>
            <a:r>
              <a:rPr sz="2800" spc="-204" dirty="0">
                <a:solidFill>
                  <a:srgbClr val="006FC0"/>
                </a:solidFill>
                <a:latin typeface="Arial"/>
                <a:cs typeface="Arial"/>
              </a:rPr>
              <a:t>D</a:t>
            </a:r>
            <a:r>
              <a:rPr sz="2775" spc="-307" baseline="-21021" dirty="0">
                <a:solidFill>
                  <a:srgbClr val="006FC0"/>
                </a:solidFill>
                <a:latin typeface="Arial"/>
                <a:cs typeface="Arial"/>
              </a:rPr>
              <a:t>3, </a:t>
            </a:r>
            <a:r>
              <a:rPr sz="2800" spc="-220" dirty="0">
                <a:solidFill>
                  <a:srgbClr val="006FC0"/>
                </a:solidFill>
                <a:latin typeface="Arial"/>
                <a:cs typeface="Arial"/>
              </a:rPr>
              <a:t>D</a:t>
            </a:r>
            <a:r>
              <a:rPr sz="2775" spc="-330" baseline="-21021" dirty="0">
                <a:solidFill>
                  <a:srgbClr val="006FC0"/>
                </a:solidFill>
                <a:latin typeface="Arial"/>
                <a:cs typeface="Arial"/>
              </a:rPr>
              <a:t>4</a:t>
            </a:r>
            <a:r>
              <a:rPr sz="2800" spc="-220" dirty="0">
                <a:solidFill>
                  <a:srgbClr val="006FC0"/>
                </a:solidFill>
                <a:latin typeface="Arial"/>
                <a:cs typeface="Arial"/>
              </a:rPr>
              <a:t>, D</a:t>
            </a:r>
            <a:r>
              <a:rPr sz="2775" spc="-330" baseline="-21021" dirty="0">
                <a:solidFill>
                  <a:srgbClr val="006FC0"/>
                </a:solidFill>
                <a:latin typeface="Arial"/>
                <a:cs typeface="Arial"/>
              </a:rPr>
              <a:t>5</a:t>
            </a:r>
            <a:r>
              <a:rPr sz="2800" spc="-220" dirty="0">
                <a:solidFill>
                  <a:srgbClr val="006FC0"/>
                </a:solidFill>
                <a:latin typeface="Arial"/>
                <a:cs typeface="Arial"/>
              </a:rPr>
              <a:t>, D</a:t>
            </a:r>
            <a:r>
              <a:rPr sz="2775" spc="-330" baseline="-21021" dirty="0">
                <a:solidFill>
                  <a:srgbClr val="006FC0"/>
                </a:solidFill>
                <a:latin typeface="Arial"/>
                <a:cs typeface="Arial"/>
              </a:rPr>
              <a:t>6</a:t>
            </a:r>
            <a:r>
              <a:rPr sz="2800" spc="-220" dirty="0">
                <a:solidFill>
                  <a:srgbClr val="006FC0"/>
                </a:solidFill>
                <a:latin typeface="Arial"/>
                <a:cs typeface="Arial"/>
              </a:rPr>
              <a:t>,</a:t>
            </a:r>
            <a:r>
              <a:rPr sz="2800" spc="-2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245" dirty="0">
                <a:solidFill>
                  <a:srgbClr val="006FC0"/>
                </a:solidFill>
                <a:latin typeface="Arial"/>
                <a:cs typeface="Arial"/>
              </a:rPr>
              <a:t>D</a:t>
            </a:r>
            <a:r>
              <a:rPr sz="2775" spc="-367" baseline="-21021" dirty="0">
                <a:solidFill>
                  <a:srgbClr val="006FC0"/>
                </a:solidFill>
                <a:latin typeface="Arial"/>
                <a:cs typeface="Arial"/>
              </a:rPr>
              <a:t>7</a:t>
            </a:r>
            <a:r>
              <a:rPr sz="2800" spc="-245" dirty="0">
                <a:solidFill>
                  <a:srgbClr val="006FC0"/>
                </a:solidFill>
                <a:latin typeface="Arial"/>
                <a:cs typeface="Arial"/>
              </a:rPr>
              <a:t>)</a:t>
            </a:r>
            <a:endParaRPr sz="2800">
              <a:latin typeface="Arial"/>
              <a:cs typeface="Arial"/>
            </a:endParaRPr>
          </a:p>
          <a:p>
            <a:pPr marL="515620" indent="-464820">
              <a:lnSpc>
                <a:spcPct val="100000"/>
              </a:lnSpc>
              <a:spcBef>
                <a:spcPts val="2935"/>
              </a:spcBef>
              <a:buFont typeface="Wingdings"/>
              <a:buChar char=""/>
              <a:tabLst>
                <a:tab pos="514984" algn="l"/>
                <a:tab pos="515620" algn="l"/>
              </a:tabLst>
            </a:pPr>
            <a:r>
              <a:rPr sz="2400" spc="-19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400" spc="-145" dirty="0">
                <a:solidFill>
                  <a:srgbClr val="006FC0"/>
                </a:solidFill>
                <a:latin typeface="Arial"/>
                <a:cs typeface="Arial"/>
              </a:rPr>
              <a:t>three </a:t>
            </a:r>
            <a:r>
              <a:rPr sz="2400" spc="-200" dirty="0">
                <a:solidFill>
                  <a:srgbClr val="006FC0"/>
                </a:solidFill>
                <a:latin typeface="Arial"/>
                <a:cs typeface="Arial"/>
              </a:rPr>
              <a:t>variables </a:t>
            </a:r>
            <a:r>
              <a:rPr sz="2400" spc="-10" dirty="0">
                <a:solidFill>
                  <a:srgbClr val="006FC0"/>
                </a:solidFill>
                <a:latin typeface="Arial"/>
                <a:cs typeface="Arial"/>
              </a:rPr>
              <a:t>A, </a:t>
            </a:r>
            <a:r>
              <a:rPr sz="2400" spc="-254" dirty="0">
                <a:solidFill>
                  <a:srgbClr val="006FC0"/>
                </a:solidFill>
                <a:latin typeface="Arial"/>
                <a:cs typeface="Arial"/>
              </a:rPr>
              <a:t>B, C </a:t>
            </a:r>
            <a:r>
              <a:rPr sz="2400" spc="-215" dirty="0">
                <a:solidFill>
                  <a:srgbClr val="006FC0"/>
                </a:solidFill>
                <a:latin typeface="Arial"/>
                <a:cs typeface="Arial"/>
              </a:rPr>
              <a:t>are </a:t>
            </a:r>
            <a:r>
              <a:rPr sz="2400" spc="-155" dirty="0">
                <a:solidFill>
                  <a:srgbClr val="006FC0"/>
                </a:solidFill>
                <a:latin typeface="Arial"/>
                <a:cs typeface="Arial"/>
              </a:rPr>
              <a:t>applied </a:t>
            </a:r>
            <a:r>
              <a:rPr sz="2400" spc="-45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400" spc="-14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400" spc="-170" dirty="0">
                <a:solidFill>
                  <a:srgbClr val="006FC0"/>
                </a:solidFill>
                <a:latin typeface="Arial"/>
                <a:cs typeface="Arial"/>
              </a:rPr>
              <a:t>selection</a:t>
            </a:r>
            <a:r>
              <a:rPr sz="2400" spc="-8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400" spc="-180" dirty="0">
                <a:solidFill>
                  <a:srgbClr val="006FC0"/>
                </a:solidFill>
                <a:latin typeface="Arial"/>
                <a:cs typeface="Arial"/>
              </a:rPr>
              <a:t>lines.</a:t>
            </a:r>
            <a:endParaRPr sz="2400">
              <a:latin typeface="Arial"/>
              <a:cs typeface="Arial"/>
            </a:endParaRPr>
          </a:p>
          <a:p>
            <a:pPr marL="515620" indent="-464820">
              <a:lnSpc>
                <a:spcPct val="100000"/>
              </a:lnSpc>
              <a:buFont typeface="Wingdings"/>
              <a:buChar char=""/>
              <a:tabLst>
                <a:tab pos="514984" algn="l"/>
                <a:tab pos="515620" algn="l"/>
                <a:tab pos="4173220" algn="l"/>
              </a:tabLst>
            </a:pPr>
            <a:r>
              <a:rPr sz="2400" spc="-195" dirty="0">
                <a:solidFill>
                  <a:srgbClr val="006FC0"/>
                </a:solidFill>
                <a:latin typeface="Arial"/>
                <a:cs typeface="Arial"/>
              </a:rPr>
              <a:t>The  </a:t>
            </a:r>
            <a:r>
              <a:rPr sz="2400" spc="-160" dirty="0">
                <a:solidFill>
                  <a:srgbClr val="006FC0"/>
                </a:solidFill>
                <a:latin typeface="Arial"/>
                <a:cs typeface="Arial"/>
              </a:rPr>
              <a:t>minterms </a:t>
            </a:r>
            <a:r>
              <a:rPr sz="2400" spc="-45" dirty="0">
                <a:solidFill>
                  <a:srgbClr val="006FC0"/>
                </a:solidFill>
                <a:latin typeface="Arial"/>
                <a:cs typeface="Arial"/>
              </a:rPr>
              <a:t>to</a:t>
            </a:r>
            <a:r>
              <a:rPr sz="2400" spc="-7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400" spc="-240" dirty="0">
                <a:solidFill>
                  <a:srgbClr val="006FC0"/>
                </a:solidFill>
                <a:latin typeface="Arial"/>
                <a:cs typeface="Arial"/>
              </a:rPr>
              <a:t>be</a:t>
            </a:r>
            <a:r>
              <a:rPr sz="240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400" spc="-145" dirty="0">
                <a:solidFill>
                  <a:srgbClr val="006FC0"/>
                </a:solidFill>
                <a:latin typeface="Arial"/>
                <a:cs typeface="Arial"/>
              </a:rPr>
              <a:t>included	</a:t>
            </a:r>
            <a:r>
              <a:rPr sz="2400" spc="-229" dirty="0">
                <a:solidFill>
                  <a:srgbClr val="006FC0"/>
                </a:solidFill>
                <a:latin typeface="Arial"/>
                <a:cs typeface="Arial"/>
              </a:rPr>
              <a:t>(1, </a:t>
            </a:r>
            <a:r>
              <a:rPr sz="2400" spc="-240" dirty="0">
                <a:solidFill>
                  <a:srgbClr val="006FC0"/>
                </a:solidFill>
                <a:latin typeface="Arial"/>
                <a:cs typeface="Arial"/>
              </a:rPr>
              <a:t>3, </a:t>
            </a:r>
            <a:r>
              <a:rPr sz="2400" spc="-340" dirty="0">
                <a:solidFill>
                  <a:srgbClr val="006FC0"/>
                </a:solidFill>
                <a:latin typeface="Arial"/>
                <a:cs typeface="Arial"/>
              </a:rPr>
              <a:t>5 </a:t>
            </a:r>
            <a:r>
              <a:rPr sz="2400" spc="-215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400" spc="-275" dirty="0">
                <a:solidFill>
                  <a:srgbClr val="006FC0"/>
                </a:solidFill>
                <a:latin typeface="Arial"/>
                <a:cs typeface="Arial"/>
              </a:rPr>
              <a:t>7) </a:t>
            </a:r>
            <a:r>
              <a:rPr sz="2400" spc="-210" dirty="0">
                <a:solidFill>
                  <a:srgbClr val="006FC0"/>
                </a:solidFill>
                <a:latin typeface="Arial"/>
                <a:cs typeface="Arial"/>
              </a:rPr>
              <a:t>are </a:t>
            </a:r>
            <a:r>
              <a:rPr sz="2400" spc="-240" dirty="0">
                <a:solidFill>
                  <a:srgbClr val="006FC0"/>
                </a:solidFill>
                <a:latin typeface="Arial"/>
                <a:cs typeface="Arial"/>
              </a:rPr>
              <a:t>chosen </a:t>
            </a:r>
            <a:r>
              <a:rPr sz="2400" spc="-150" dirty="0">
                <a:solidFill>
                  <a:srgbClr val="006FC0"/>
                </a:solidFill>
                <a:latin typeface="Arial"/>
                <a:cs typeface="Arial"/>
              </a:rPr>
              <a:t>by</a:t>
            </a:r>
            <a:r>
              <a:rPr sz="2400" spc="-28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400" spc="-200" dirty="0">
                <a:solidFill>
                  <a:srgbClr val="006FC0"/>
                </a:solidFill>
                <a:latin typeface="Arial"/>
                <a:cs typeface="Arial"/>
              </a:rPr>
              <a:t>making</a:t>
            </a:r>
            <a:endParaRPr sz="2400">
              <a:latin typeface="Arial"/>
              <a:cs typeface="Arial"/>
            </a:endParaRPr>
          </a:p>
          <a:p>
            <a:pPr marL="514984">
              <a:lnSpc>
                <a:spcPct val="100000"/>
              </a:lnSpc>
            </a:pPr>
            <a:r>
              <a:rPr sz="2400" spc="-90" dirty="0">
                <a:solidFill>
                  <a:srgbClr val="006FC0"/>
                </a:solidFill>
                <a:latin typeface="Arial"/>
                <a:cs typeface="Arial"/>
              </a:rPr>
              <a:t>their </a:t>
            </a:r>
            <a:r>
              <a:rPr sz="2400" spc="-165" dirty="0">
                <a:solidFill>
                  <a:srgbClr val="006FC0"/>
                </a:solidFill>
                <a:latin typeface="Arial"/>
                <a:cs typeface="Arial"/>
              </a:rPr>
              <a:t>corresponding </a:t>
            </a:r>
            <a:r>
              <a:rPr sz="2400" spc="-90" dirty="0">
                <a:solidFill>
                  <a:srgbClr val="006FC0"/>
                </a:solidFill>
                <a:latin typeface="Arial"/>
                <a:cs typeface="Arial"/>
              </a:rPr>
              <a:t>input </a:t>
            </a:r>
            <a:r>
              <a:rPr sz="2400" spc="-190" dirty="0">
                <a:solidFill>
                  <a:srgbClr val="006FC0"/>
                </a:solidFill>
                <a:latin typeface="Arial"/>
                <a:cs typeface="Arial"/>
              </a:rPr>
              <a:t>lines </a:t>
            </a:r>
            <a:r>
              <a:rPr sz="2400" spc="-200" dirty="0">
                <a:solidFill>
                  <a:srgbClr val="006FC0"/>
                </a:solidFill>
                <a:latin typeface="Arial"/>
                <a:cs typeface="Arial"/>
              </a:rPr>
              <a:t>equal </a:t>
            </a:r>
            <a:r>
              <a:rPr sz="2400" spc="-45" dirty="0">
                <a:solidFill>
                  <a:srgbClr val="006FC0"/>
                </a:solidFill>
                <a:latin typeface="Arial"/>
                <a:cs typeface="Arial"/>
              </a:rPr>
              <a:t>to</a:t>
            </a:r>
            <a:r>
              <a:rPr sz="2400" spc="-175" dirty="0">
                <a:solidFill>
                  <a:srgbClr val="006FC0"/>
                </a:solidFill>
                <a:latin typeface="Arial"/>
                <a:cs typeface="Arial"/>
              </a:rPr>
              <a:t> logic-1.</a:t>
            </a:r>
            <a:endParaRPr sz="2400">
              <a:latin typeface="Arial"/>
              <a:cs typeface="Arial"/>
            </a:endParaRPr>
          </a:p>
          <a:p>
            <a:pPr marL="514984" marR="46990" indent="-464820">
              <a:lnSpc>
                <a:spcPct val="100000"/>
              </a:lnSpc>
              <a:buFont typeface="Wingdings"/>
              <a:buChar char=""/>
              <a:tabLst>
                <a:tab pos="514984" algn="l"/>
                <a:tab pos="515620" algn="l"/>
              </a:tabLst>
            </a:pPr>
            <a:r>
              <a:rPr sz="2400" spc="-135" dirty="0">
                <a:solidFill>
                  <a:srgbClr val="006FC0"/>
                </a:solidFill>
                <a:latin typeface="Arial"/>
                <a:cs typeface="Arial"/>
              </a:rPr>
              <a:t>Minterms </a:t>
            </a:r>
            <a:r>
              <a:rPr sz="2400" spc="-240" dirty="0">
                <a:solidFill>
                  <a:srgbClr val="006FC0"/>
                </a:solidFill>
                <a:latin typeface="Arial"/>
                <a:cs typeface="Arial"/>
              </a:rPr>
              <a:t>0, 2, </a:t>
            </a:r>
            <a:r>
              <a:rPr sz="2400" spc="-340" dirty="0">
                <a:solidFill>
                  <a:srgbClr val="006FC0"/>
                </a:solidFill>
                <a:latin typeface="Arial"/>
                <a:cs typeface="Arial"/>
              </a:rPr>
              <a:t>4 </a:t>
            </a:r>
            <a:r>
              <a:rPr sz="2400" spc="-215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400" spc="-340" dirty="0">
                <a:solidFill>
                  <a:srgbClr val="006FC0"/>
                </a:solidFill>
                <a:latin typeface="Arial"/>
                <a:cs typeface="Arial"/>
              </a:rPr>
              <a:t>7 </a:t>
            </a:r>
            <a:r>
              <a:rPr sz="2400" spc="-210" dirty="0">
                <a:solidFill>
                  <a:srgbClr val="006FC0"/>
                </a:solidFill>
                <a:latin typeface="Arial"/>
                <a:cs typeface="Arial"/>
              </a:rPr>
              <a:t>are </a:t>
            </a:r>
            <a:r>
              <a:rPr sz="2400" spc="-90" dirty="0">
                <a:solidFill>
                  <a:srgbClr val="006FC0"/>
                </a:solidFill>
                <a:latin typeface="Arial"/>
                <a:cs typeface="Arial"/>
              </a:rPr>
              <a:t>not </a:t>
            </a:r>
            <a:r>
              <a:rPr sz="2400" spc="-145" dirty="0">
                <a:solidFill>
                  <a:srgbClr val="006FC0"/>
                </a:solidFill>
                <a:latin typeface="Arial"/>
                <a:cs typeface="Arial"/>
              </a:rPr>
              <a:t>included </a:t>
            </a:r>
            <a:r>
              <a:rPr sz="2400" spc="-150" dirty="0">
                <a:solidFill>
                  <a:srgbClr val="006FC0"/>
                </a:solidFill>
                <a:latin typeface="Arial"/>
                <a:cs typeface="Arial"/>
              </a:rPr>
              <a:t>by </a:t>
            </a:r>
            <a:r>
              <a:rPr sz="2400" spc="-200" dirty="0">
                <a:solidFill>
                  <a:srgbClr val="006FC0"/>
                </a:solidFill>
                <a:latin typeface="Arial"/>
                <a:cs typeface="Arial"/>
              </a:rPr>
              <a:t>making </a:t>
            </a:r>
            <a:r>
              <a:rPr sz="2400" spc="-85" dirty="0">
                <a:solidFill>
                  <a:srgbClr val="006FC0"/>
                </a:solidFill>
                <a:latin typeface="Arial"/>
                <a:cs typeface="Arial"/>
              </a:rPr>
              <a:t>their </a:t>
            </a:r>
            <a:r>
              <a:rPr sz="2400" spc="-90" dirty="0">
                <a:solidFill>
                  <a:srgbClr val="006FC0"/>
                </a:solidFill>
                <a:latin typeface="Arial"/>
                <a:cs typeface="Arial"/>
              </a:rPr>
              <a:t>input </a:t>
            </a:r>
            <a:r>
              <a:rPr sz="2400" spc="-190" dirty="0">
                <a:solidFill>
                  <a:srgbClr val="006FC0"/>
                </a:solidFill>
                <a:latin typeface="Arial"/>
                <a:cs typeface="Arial"/>
              </a:rPr>
              <a:t>lines  </a:t>
            </a:r>
            <a:r>
              <a:rPr sz="2400" spc="-200" dirty="0">
                <a:solidFill>
                  <a:srgbClr val="006FC0"/>
                </a:solidFill>
                <a:latin typeface="Arial"/>
                <a:cs typeface="Arial"/>
              </a:rPr>
              <a:t>equal </a:t>
            </a:r>
            <a:r>
              <a:rPr sz="2400" spc="-45" dirty="0">
                <a:solidFill>
                  <a:srgbClr val="006FC0"/>
                </a:solidFill>
                <a:latin typeface="Arial"/>
                <a:cs typeface="Arial"/>
              </a:rPr>
              <a:t>to</a:t>
            </a:r>
            <a:r>
              <a:rPr sz="2400" spc="-27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400" spc="-165" dirty="0">
                <a:solidFill>
                  <a:srgbClr val="006FC0"/>
                </a:solidFill>
                <a:latin typeface="Arial"/>
                <a:cs typeface="Arial"/>
              </a:rPr>
              <a:t>logic-0.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sp>
          <p:nvSpPr>
            <p:cNvPr id="10" name="object 10"/>
            <p:cNvSpPr/>
            <p:nvPr/>
          </p:nvSpPr>
          <p:spPr>
            <a:xfrm>
              <a:off x="8593835" y="6620255"/>
              <a:ext cx="550164" cy="23774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30411" y="6556243"/>
              <a:ext cx="513588" cy="3017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212594" y="1051637"/>
            <a:ext cx="5766435" cy="990600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870"/>
              </a:spcBef>
            </a:pPr>
            <a:r>
              <a:rPr sz="2000" b="1" spc="-195" dirty="0">
                <a:solidFill>
                  <a:srgbClr val="C00000"/>
                </a:solidFill>
                <a:latin typeface="Arial"/>
                <a:cs typeface="Arial"/>
              </a:rPr>
              <a:t>Implementation </a:t>
            </a:r>
            <a:r>
              <a:rPr sz="2000" b="1" spc="-155" dirty="0">
                <a:solidFill>
                  <a:srgbClr val="C00000"/>
                </a:solidFill>
                <a:latin typeface="Arial"/>
                <a:cs typeface="Arial"/>
              </a:rPr>
              <a:t>of </a:t>
            </a:r>
            <a:r>
              <a:rPr sz="2000" b="1" spc="-229" dirty="0">
                <a:solidFill>
                  <a:srgbClr val="C00000"/>
                </a:solidFill>
                <a:latin typeface="Arial"/>
                <a:cs typeface="Arial"/>
              </a:rPr>
              <a:t>boolean </a:t>
            </a:r>
            <a:r>
              <a:rPr sz="2000" b="1" spc="-195" dirty="0">
                <a:solidFill>
                  <a:srgbClr val="C00000"/>
                </a:solidFill>
                <a:latin typeface="Arial"/>
                <a:cs typeface="Arial"/>
              </a:rPr>
              <a:t>function </a:t>
            </a:r>
            <a:r>
              <a:rPr sz="2000" b="1" spc="-290" dirty="0">
                <a:solidFill>
                  <a:srgbClr val="C00000"/>
                </a:solidFill>
                <a:latin typeface="Arial"/>
                <a:cs typeface="Arial"/>
              </a:rPr>
              <a:t>using</a:t>
            </a:r>
            <a:r>
              <a:rPr sz="2000" b="1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30" dirty="0">
                <a:solidFill>
                  <a:srgbClr val="C00000"/>
                </a:solidFill>
                <a:latin typeface="Arial"/>
                <a:cs typeface="Arial"/>
              </a:rPr>
              <a:t>MUX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2800" spc="-170" dirty="0">
                <a:latin typeface="Arial"/>
                <a:cs typeface="Arial"/>
              </a:rPr>
              <a:t>Implement the </a:t>
            </a:r>
            <a:r>
              <a:rPr sz="2800" spc="-130" dirty="0">
                <a:latin typeface="Arial"/>
                <a:cs typeface="Arial"/>
              </a:rPr>
              <a:t>following </a:t>
            </a:r>
            <a:r>
              <a:rPr sz="2800" spc="-215" dirty="0">
                <a:latin typeface="Arial"/>
                <a:cs typeface="Arial"/>
              </a:rPr>
              <a:t>boolean</a:t>
            </a:r>
            <a:r>
              <a:rPr sz="2800" spc="-160" dirty="0">
                <a:latin typeface="Arial"/>
                <a:cs typeface="Arial"/>
              </a:rPr>
              <a:t> </a:t>
            </a:r>
            <a:r>
              <a:rPr sz="2800" spc="-120" dirty="0">
                <a:latin typeface="Arial"/>
                <a:cs typeface="Arial"/>
              </a:rPr>
              <a:t>function</a:t>
            </a:r>
            <a:endParaRPr sz="2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8739" y="6635530"/>
            <a:ext cx="723900" cy="17462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1000" b="1" spc="45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1000" b="1" spc="50" dirty="0">
                <a:solidFill>
                  <a:srgbClr val="C00000"/>
                </a:solidFill>
                <a:latin typeface="Arial"/>
                <a:cs typeface="Arial"/>
              </a:rPr>
              <a:t>U</a:t>
            </a:r>
            <a:r>
              <a:rPr sz="1000" b="1" spc="-5" dirty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1000" b="1" spc="-60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1000" b="1" spc="-10" dirty="0">
                <a:solidFill>
                  <a:srgbClr val="C00000"/>
                </a:solidFill>
                <a:latin typeface="Arial"/>
                <a:cs typeface="Arial"/>
              </a:rPr>
              <a:t>-</a:t>
            </a:r>
            <a:r>
              <a:rPr sz="1000" b="1" spc="100" dirty="0">
                <a:solidFill>
                  <a:srgbClr val="C00000"/>
                </a:solidFill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164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793241" y="982217"/>
              <a:ext cx="7589519" cy="762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6764"/>
              <a:ext cx="9143999" cy="668274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53439" y="320001"/>
              <a:ext cx="7434072" cy="57611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939795" y="202679"/>
              <a:ext cx="3259835" cy="93422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214242" y="321386"/>
            <a:ext cx="271462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70" dirty="0">
                <a:latin typeface="Trebuchet MS"/>
                <a:cs typeface="Trebuchet MS"/>
              </a:rPr>
              <a:t>MULTIPLEXERS</a:t>
            </a:r>
            <a:endParaRPr sz="320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119883" y="1524000"/>
            <a:ext cx="7029450" cy="5334000"/>
            <a:chOff x="2119883" y="1524000"/>
            <a:chExt cx="7029450" cy="5334000"/>
          </a:xfrm>
        </p:grpSpPr>
        <p:sp>
          <p:nvSpPr>
            <p:cNvPr id="13" name="object 13"/>
            <p:cNvSpPr/>
            <p:nvPr/>
          </p:nvSpPr>
          <p:spPr>
            <a:xfrm>
              <a:off x="8593836" y="6620254"/>
              <a:ext cx="550164" cy="23774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630412" y="6556242"/>
              <a:ext cx="513588" cy="30175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119883" y="1524000"/>
              <a:ext cx="4814316" cy="4777740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441194" y="1148841"/>
            <a:ext cx="47275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95" dirty="0">
                <a:solidFill>
                  <a:srgbClr val="C00000"/>
                </a:solidFill>
                <a:latin typeface="Arial"/>
                <a:cs typeface="Arial"/>
              </a:rPr>
              <a:t>Implementation </a:t>
            </a:r>
            <a:r>
              <a:rPr sz="2000" b="1" spc="-155" dirty="0">
                <a:solidFill>
                  <a:srgbClr val="C00000"/>
                </a:solidFill>
                <a:latin typeface="Arial"/>
                <a:cs typeface="Arial"/>
              </a:rPr>
              <a:t>of </a:t>
            </a:r>
            <a:r>
              <a:rPr sz="2000" b="1" spc="-229" dirty="0">
                <a:solidFill>
                  <a:srgbClr val="C00000"/>
                </a:solidFill>
                <a:latin typeface="Arial"/>
                <a:cs typeface="Arial"/>
              </a:rPr>
              <a:t>boolean </a:t>
            </a:r>
            <a:r>
              <a:rPr sz="2000" b="1" spc="-195" dirty="0">
                <a:solidFill>
                  <a:srgbClr val="C00000"/>
                </a:solidFill>
                <a:latin typeface="Arial"/>
                <a:cs typeface="Arial"/>
              </a:rPr>
              <a:t>function </a:t>
            </a:r>
            <a:r>
              <a:rPr sz="2000" b="1" spc="-290" dirty="0">
                <a:solidFill>
                  <a:srgbClr val="C00000"/>
                </a:solidFill>
                <a:latin typeface="Arial"/>
                <a:cs typeface="Arial"/>
              </a:rPr>
              <a:t>using</a:t>
            </a:r>
            <a:r>
              <a:rPr sz="2000" b="1" spc="-28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30" dirty="0">
                <a:solidFill>
                  <a:srgbClr val="C00000"/>
                </a:solidFill>
                <a:latin typeface="Arial"/>
                <a:cs typeface="Arial"/>
              </a:rPr>
              <a:t>MUX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8739" y="6635530"/>
            <a:ext cx="723900" cy="17462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1000" b="1" spc="45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1000" b="1" spc="50" dirty="0">
                <a:solidFill>
                  <a:srgbClr val="C00000"/>
                </a:solidFill>
                <a:latin typeface="Arial"/>
                <a:cs typeface="Arial"/>
              </a:rPr>
              <a:t>U</a:t>
            </a:r>
            <a:r>
              <a:rPr sz="1000" b="1" spc="-5" dirty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1000" b="1" spc="-60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1000" b="1" spc="-10" dirty="0">
                <a:solidFill>
                  <a:srgbClr val="C00000"/>
                </a:solidFill>
                <a:latin typeface="Arial"/>
                <a:cs typeface="Arial"/>
              </a:rPr>
              <a:t>-</a:t>
            </a:r>
            <a:r>
              <a:rPr sz="1000" b="1" spc="100" dirty="0">
                <a:solidFill>
                  <a:srgbClr val="C00000"/>
                </a:solidFill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165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793241" y="982217"/>
              <a:ext cx="7589519" cy="762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6764"/>
              <a:ext cx="9143999" cy="668274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53439" y="320001"/>
              <a:ext cx="7434072" cy="57611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939795" y="202679"/>
              <a:ext cx="3259835" cy="93422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214242" y="321386"/>
            <a:ext cx="271462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70" dirty="0"/>
              <a:t>MULTIPLEXERS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3540" y="1589989"/>
            <a:ext cx="14300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u="heavy" spc="-459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</a:t>
            </a:r>
            <a:r>
              <a:rPr sz="2800" b="1" u="heavy" spc="-34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x</a:t>
            </a:r>
            <a:r>
              <a:rPr sz="2800" b="1" u="heavy" spc="-39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</a:t>
            </a:r>
            <a:r>
              <a:rPr sz="2800" b="1" u="heavy" spc="-30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mple2:</a:t>
            </a:r>
            <a:endParaRPr sz="2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8140" y="2024887"/>
            <a:ext cx="8278495" cy="44100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ts val="3340"/>
              </a:lnSpc>
              <a:spcBef>
                <a:spcPts val="95"/>
              </a:spcBef>
            </a:pPr>
            <a:r>
              <a:rPr sz="2800" b="1" spc="-409" dirty="0">
                <a:latin typeface="Arial"/>
                <a:cs typeface="Arial"/>
              </a:rPr>
              <a:t>using </a:t>
            </a:r>
            <a:r>
              <a:rPr sz="2800" b="1" spc="-315" dirty="0">
                <a:latin typeface="Arial"/>
                <a:cs typeface="Arial"/>
              </a:rPr>
              <a:t>4:1 </a:t>
            </a:r>
            <a:r>
              <a:rPr sz="2800" b="1" spc="-254" dirty="0">
                <a:latin typeface="Arial"/>
                <a:cs typeface="Arial"/>
              </a:rPr>
              <a:t>multiplexer, </a:t>
            </a:r>
            <a:r>
              <a:rPr sz="2800" b="1" spc="-409" dirty="0">
                <a:latin typeface="Arial"/>
                <a:cs typeface="Arial"/>
              </a:rPr>
              <a:t>F </a:t>
            </a:r>
            <a:r>
              <a:rPr sz="2800" b="1" spc="-140" dirty="0">
                <a:latin typeface="Arial"/>
                <a:cs typeface="Arial"/>
              </a:rPr>
              <a:t>(A, </a:t>
            </a:r>
            <a:r>
              <a:rPr sz="2800" b="1" spc="-370" dirty="0">
                <a:latin typeface="Arial"/>
                <a:cs typeface="Arial"/>
              </a:rPr>
              <a:t>B, </a:t>
            </a:r>
            <a:r>
              <a:rPr sz="2800" b="1" spc="-270" dirty="0">
                <a:latin typeface="Arial"/>
                <a:cs typeface="Arial"/>
              </a:rPr>
              <a:t>C) </a:t>
            </a:r>
            <a:r>
              <a:rPr sz="2800" b="1" spc="70" dirty="0">
                <a:latin typeface="Arial"/>
                <a:cs typeface="Arial"/>
              </a:rPr>
              <a:t>= </a:t>
            </a:r>
            <a:r>
              <a:rPr sz="2800" b="1" spc="-204" dirty="0">
                <a:latin typeface="Arial"/>
                <a:cs typeface="Arial"/>
              </a:rPr>
              <a:t>∑m </a:t>
            </a:r>
            <a:r>
              <a:rPr sz="2800" b="1" spc="-265" dirty="0">
                <a:latin typeface="Arial"/>
                <a:cs typeface="Arial"/>
              </a:rPr>
              <a:t>(1, </a:t>
            </a:r>
            <a:r>
              <a:rPr sz="2800" b="1" spc="-275" dirty="0">
                <a:latin typeface="Arial"/>
                <a:cs typeface="Arial"/>
              </a:rPr>
              <a:t>3, 5,</a:t>
            </a:r>
            <a:r>
              <a:rPr sz="2800" b="1" spc="125" dirty="0">
                <a:latin typeface="Arial"/>
                <a:cs typeface="Arial"/>
              </a:rPr>
              <a:t> </a:t>
            </a:r>
            <a:r>
              <a:rPr sz="2800" b="1" spc="-260" dirty="0">
                <a:latin typeface="Arial"/>
                <a:cs typeface="Arial"/>
              </a:rPr>
              <a:t>6).</a:t>
            </a:r>
            <a:endParaRPr sz="2800">
              <a:latin typeface="Arial"/>
              <a:cs typeface="Arial"/>
            </a:endParaRPr>
          </a:p>
          <a:p>
            <a:pPr marL="38100">
              <a:lnSpc>
                <a:spcPts val="3100"/>
              </a:lnSpc>
            </a:pPr>
            <a:r>
              <a:rPr sz="2600" b="1" u="heavy" spc="-254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Solution:</a:t>
            </a:r>
            <a:endParaRPr sz="2600">
              <a:latin typeface="Arial"/>
              <a:cs typeface="Arial"/>
            </a:endParaRPr>
          </a:p>
          <a:p>
            <a:pPr marL="952500" marR="3804285">
              <a:lnSpc>
                <a:spcPct val="100000"/>
              </a:lnSpc>
            </a:pPr>
            <a:r>
              <a:rPr sz="2600" spc="-185" dirty="0">
                <a:solidFill>
                  <a:srgbClr val="006FC0"/>
                </a:solidFill>
                <a:latin typeface="Arial"/>
                <a:cs typeface="Arial"/>
              </a:rPr>
              <a:t>Variables, </a:t>
            </a:r>
            <a:r>
              <a:rPr sz="2600" spc="-65" dirty="0">
                <a:solidFill>
                  <a:srgbClr val="006FC0"/>
                </a:solidFill>
                <a:latin typeface="Arial"/>
                <a:cs typeface="Arial"/>
              </a:rPr>
              <a:t>n= </a:t>
            </a:r>
            <a:r>
              <a:rPr sz="2600" spc="-370" dirty="0">
                <a:solidFill>
                  <a:srgbClr val="006FC0"/>
                </a:solidFill>
                <a:latin typeface="Arial"/>
                <a:cs typeface="Arial"/>
              </a:rPr>
              <a:t>3 </a:t>
            </a:r>
            <a:r>
              <a:rPr sz="2600" spc="-85" dirty="0">
                <a:solidFill>
                  <a:srgbClr val="006FC0"/>
                </a:solidFill>
                <a:latin typeface="Arial"/>
                <a:cs typeface="Arial"/>
              </a:rPr>
              <a:t>(A, </a:t>
            </a:r>
            <a:r>
              <a:rPr sz="2600" spc="-270" dirty="0">
                <a:solidFill>
                  <a:srgbClr val="006FC0"/>
                </a:solidFill>
                <a:latin typeface="Arial"/>
                <a:cs typeface="Arial"/>
              </a:rPr>
              <a:t>B, </a:t>
            </a:r>
            <a:r>
              <a:rPr sz="2600" spc="-245" dirty="0">
                <a:solidFill>
                  <a:srgbClr val="006FC0"/>
                </a:solidFill>
                <a:latin typeface="Arial"/>
                <a:cs typeface="Arial"/>
              </a:rPr>
              <a:t>C)  </a:t>
            </a:r>
            <a:r>
              <a:rPr sz="2600" spc="-225" dirty="0">
                <a:solidFill>
                  <a:srgbClr val="006FC0"/>
                </a:solidFill>
                <a:latin typeface="Arial"/>
                <a:cs typeface="Arial"/>
              </a:rPr>
              <a:t>Select </a:t>
            </a:r>
            <a:r>
              <a:rPr sz="2600" spc="-160" dirty="0">
                <a:solidFill>
                  <a:srgbClr val="006FC0"/>
                </a:solidFill>
                <a:latin typeface="Arial"/>
                <a:cs typeface="Arial"/>
              </a:rPr>
              <a:t>lines= </a:t>
            </a:r>
            <a:r>
              <a:rPr sz="2600" spc="-240" dirty="0">
                <a:solidFill>
                  <a:srgbClr val="006FC0"/>
                </a:solidFill>
                <a:latin typeface="Arial"/>
                <a:cs typeface="Arial"/>
              </a:rPr>
              <a:t>n-1 </a:t>
            </a:r>
            <a:r>
              <a:rPr sz="2600" spc="70" dirty="0">
                <a:solidFill>
                  <a:srgbClr val="006FC0"/>
                </a:solidFill>
                <a:latin typeface="Arial"/>
                <a:cs typeface="Arial"/>
              </a:rPr>
              <a:t>= </a:t>
            </a:r>
            <a:r>
              <a:rPr sz="2600" spc="-365" dirty="0">
                <a:solidFill>
                  <a:srgbClr val="006FC0"/>
                </a:solidFill>
                <a:latin typeface="Arial"/>
                <a:cs typeface="Arial"/>
              </a:rPr>
              <a:t>2 </a:t>
            </a:r>
            <a:r>
              <a:rPr sz="2600" spc="-275" dirty="0">
                <a:solidFill>
                  <a:srgbClr val="006FC0"/>
                </a:solidFill>
                <a:latin typeface="Arial"/>
                <a:cs typeface="Arial"/>
              </a:rPr>
              <a:t>(</a:t>
            </a:r>
            <a:r>
              <a:rPr sz="2600" b="1" spc="-275" dirty="0">
                <a:solidFill>
                  <a:srgbClr val="006FC0"/>
                </a:solidFill>
                <a:latin typeface="Arial"/>
                <a:cs typeface="Arial"/>
              </a:rPr>
              <a:t>S</a:t>
            </a:r>
            <a:r>
              <a:rPr sz="2550" b="1" spc="-412" baseline="-21241" dirty="0">
                <a:solidFill>
                  <a:srgbClr val="006FC0"/>
                </a:solidFill>
                <a:latin typeface="Arial"/>
                <a:cs typeface="Arial"/>
              </a:rPr>
              <a:t>1</a:t>
            </a:r>
            <a:r>
              <a:rPr sz="2600" b="1" spc="-275" dirty="0">
                <a:solidFill>
                  <a:srgbClr val="006FC0"/>
                </a:solidFill>
                <a:latin typeface="Arial"/>
                <a:cs typeface="Arial"/>
              </a:rPr>
              <a:t>,</a:t>
            </a:r>
            <a:r>
              <a:rPr sz="2600" b="1" spc="-48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600" b="1" spc="-320" dirty="0">
                <a:solidFill>
                  <a:srgbClr val="006FC0"/>
                </a:solidFill>
                <a:latin typeface="Arial"/>
                <a:cs typeface="Arial"/>
              </a:rPr>
              <a:t>S</a:t>
            </a:r>
            <a:r>
              <a:rPr sz="2550" b="1" spc="-480" baseline="-21241" dirty="0">
                <a:solidFill>
                  <a:srgbClr val="006FC0"/>
                </a:solidFill>
                <a:latin typeface="Arial"/>
                <a:cs typeface="Arial"/>
              </a:rPr>
              <a:t>0</a:t>
            </a:r>
            <a:r>
              <a:rPr sz="2600" spc="-320" dirty="0">
                <a:solidFill>
                  <a:srgbClr val="006FC0"/>
                </a:solidFill>
                <a:latin typeface="Arial"/>
                <a:cs typeface="Arial"/>
              </a:rPr>
              <a:t>)</a:t>
            </a:r>
            <a:endParaRPr sz="2600">
              <a:latin typeface="Arial"/>
              <a:cs typeface="Arial"/>
            </a:endParaRPr>
          </a:p>
          <a:p>
            <a:pPr marL="952500" marR="2242185">
              <a:lnSpc>
                <a:spcPct val="100000"/>
              </a:lnSpc>
            </a:pPr>
            <a:r>
              <a:rPr sz="2600" spc="-200" dirty="0">
                <a:solidFill>
                  <a:srgbClr val="006FC0"/>
                </a:solidFill>
                <a:latin typeface="Arial"/>
                <a:cs typeface="Arial"/>
              </a:rPr>
              <a:t>2</a:t>
            </a:r>
            <a:r>
              <a:rPr sz="2550" spc="-300" baseline="26143" dirty="0">
                <a:solidFill>
                  <a:srgbClr val="006FC0"/>
                </a:solidFill>
                <a:latin typeface="Arial"/>
                <a:cs typeface="Arial"/>
              </a:rPr>
              <a:t>n-1 </a:t>
            </a:r>
            <a:r>
              <a:rPr sz="2600" spc="-45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600" spc="-50" dirty="0">
                <a:solidFill>
                  <a:srgbClr val="006FC0"/>
                </a:solidFill>
                <a:latin typeface="Arial"/>
                <a:cs typeface="Arial"/>
              </a:rPr>
              <a:t>MUX </a:t>
            </a:r>
            <a:r>
              <a:rPr sz="2600" spc="-155" dirty="0">
                <a:solidFill>
                  <a:srgbClr val="006FC0"/>
                </a:solidFill>
                <a:latin typeface="Arial"/>
                <a:cs typeface="Arial"/>
              </a:rPr>
              <a:t>i.e., </a:t>
            </a:r>
            <a:r>
              <a:rPr sz="2600" spc="-300" dirty="0">
                <a:solidFill>
                  <a:srgbClr val="006FC0"/>
                </a:solidFill>
                <a:latin typeface="Arial"/>
                <a:cs typeface="Arial"/>
              </a:rPr>
              <a:t>2</a:t>
            </a:r>
            <a:r>
              <a:rPr sz="2550" spc="-450" baseline="26143" dirty="0">
                <a:solidFill>
                  <a:srgbClr val="006FC0"/>
                </a:solidFill>
                <a:latin typeface="Arial"/>
                <a:cs typeface="Arial"/>
              </a:rPr>
              <a:t>2 </a:t>
            </a:r>
            <a:r>
              <a:rPr sz="2600" spc="-45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600" spc="-370" dirty="0">
                <a:solidFill>
                  <a:srgbClr val="006FC0"/>
                </a:solidFill>
                <a:latin typeface="Arial"/>
                <a:cs typeface="Arial"/>
              </a:rPr>
              <a:t>1 </a:t>
            </a:r>
            <a:r>
              <a:rPr sz="2600" spc="65" dirty="0">
                <a:solidFill>
                  <a:srgbClr val="006FC0"/>
                </a:solidFill>
                <a:latin typeface="Arial"/>
                <a:cs typeface="Arial"/>
              </a:rPr>
              <a:t>= </a:t>
            </a:r>
            <a:r>
              <a:rPr sz="2600" spc="-370" dirty="0">
                <a:solidFill>
                  <a:srgbClr val="006FC0"/>
                </a:solidFill>
                <a:latin typeface="Arial"/>
                <a:cs typeface="Arial"/>
              </a:rPr>
              <a:t>4 </a:t>
            </a:r>
            <a:r>
              <a:rPr sz="2600" spc="-45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600" spc="-370" dirty="0">
                <a:solidFill>
                  <a:srgbClr val="006FC0"/>
                </a:solidFill>
                <a:latin typeface="Arial"/>
                <a:cs typeface="Arial"/>
              </a:rPr>
              <a:t>1 </a:t>
            </a:r>
            <a:r>
              <a:rPr sz="2600" spc="-50" dirty="0">
                <a:solidFill>
                  <a:srgbClr val="006FC0"/>
                </a:solidFill>
                <a:latin typeface="Arial"/>
                <a:cs typeface="Arial"/>
              </a:rPr>
              <a:t>MUX  </a:t>
            </a:r>
            <a:r>
              <a:rPr sz="2600" spc="-95" dirty="0">
                <a:solidFill>
                  <a:srgbClr val="006FC0"/>
                </a:solidFill>
                <a:latin typeface="Arial"/>
                <a:cs typeface="Arial"/>
              </a:rPr>
              <a:t>Input </a:t>
            </a:r>
            <a:r>
              <a:rPr sz="2600" spc="-160" dirty="0">
                <a:solidFill>
                  <a:srgbClr val="006FC0"/>
                </a:solidFill>
                <a:latin typeface="Arial"/>
                <a:cs typeface="Arial"/>
              </a:rPr>
              <a:t>lines= </a:t>
            </a:r>
            <a:r>
              <a:rPr sz="2600" spc="-200" dirty="0">
                <a:solidFill>
                  <a:srgbClr val="006FC0"/>
                </a:solidFill>
                <a:latin typeface="Arial"/>
                <a:cs typeface="Arial"/>
              </a:rPr>
              <a:t>2</a:t>
            </a:r>
            <a:r>
              <a:rPr sz="2550" spc="-300" baseline="26143" dirty="0">
                <a:solidFill>
                  <a:srgbClr val="006FC0"/>
                </a:solidFill>
                <a:latin typeface="Arial"/>
                <a:cs typeface="Arial"/>
              </a:rPr>
              <a:t>n-1 </a:t>
            </a:r>
            <a:r>
              <a:rPr sz="2600" spc="65" dirty="0">
                <a:solidFill>
                  <a:srgbClr val="006FC0"/>
                </a:solidFill>
                <a:latin typeface="Arial"/>
                <a:cs typeface="Arial"/>
              </a:rPr>
              <a:t>= </a:t>
            </a:r>
            <a:r>
              <a:rPr sz="2600" spc="-295" dirty="0">
                <a:solidFill>
                  <a:srgbClr val="006FC0"/>
                </a:solidFill>
                <a:latin typeface="Arial"/>
                <a:cs typeface="Arial"/>
              </a:rPr>
              <a:t>2</a:t>
            </a:r>
            <a:r>
              <a:rPr sz="2550" spc="-442" baseline="26143" dirty="0">
                <a:solidFill>
                  <a:srgbClr val="006FC0"/>
                </a:solidFill>
                <a:latin typeface="Arial"/>
                <a:cs typeface="Arial"/>
              </a:rPr>
              <a:t>2 </a:t>
            </a:r>
            <a:r>
              <a:rPr sz="2600" spc="65" dirty="0">
                <a:solidFill>
                  <a:srgbClr val="006FC0"/>
                </a:solidFill>
                <a:latin typeface="Arial"/>
                <a:cs typeface="Arial"/>
              </a:rPr>
              <a:t>= </a:t>
            </a:r>
            <a:r>
              <a:rPr sz="2600" spc="-370" dirty="0">
                <a:solidFill>
                  <a:srgbClr val="006FC0"/>
                </a:solidFill>
                <a:latin typeface="Arial"/>
                <a:cs typeface="Arial"/>
              </a:rPr>
              <a:t>4 </a:t>
            </a:r>
            <a:r>
              <a:rPr sz="2600" spc="-204" dirty="0">
                <a:solidFill>
                  <a:srgbClr val="006FC0"/>
                </a:solidFill>
                <a:latin typeface="Arial"/>
                <a:cs typeface="Arial"/>
              </a:rPr>
              <a:t>(</a:t>
            </a:r>
            <a:r>
              <a:rPr sz="2600" b="1" spc="-204" dirty="0">
                <a:solidFill>
                  <a:srgbClr val="006FC0"/>
                </a:solidFill>
                <a:latin typeface="Arial"/>
                <a:cs typeface="Arial"/>
              </a:rPr>
              <a:t>D</a:t>
            </a:r>
            <a:r>
              <a:rPr sz="2550" b="1" spc="-307" baseline="-21241" dirty="0">
                <a:solidFill>
                  <a:srgbClr val="006FC0"/>
                </a:solidFill>
                <a:latin typeface="Arial"/>
                <a:cs typeface="Arial"/>
              </a:rPr>
              <a:t>0</a:t>
            </a:r>
            <a:r>
              <a:rPr sz="2600" b="1" spc="-204" dirty="0">
                <a:solidFill>
                  <a:srgbClr val="006FC0"/>
                </a:solidFill>
                <a:latin typeface="Arial"/>
                <a:cs typeface="Arial"/>
              </a:rPr>
              <a:t>, </a:t>
            </a:r>
            <a:r>
              <a:rPr sz="2600" b="1" spc="-195" dirty="0">
                <a:solidFill>
                  <a:srgbClr val="006FC0"/>
                </a:solidFill>
                <a:latin typeface="Arial"/>
                <a:cs typeface="Arial"/>
              </a:rPr>
              <a:t>D</a:t>
            </a:r>
            <a:r>
              <a:rPr sz="2550" b="1" spc="-292" baseline="-21241" dirty="0">
                <a:solidFill>
                  <a:srgbClr val="006FC0"/>
                </a:solidFill>
                <a:latin typeface="Arial"/>
                <a:cs typeface="Arial"/>
              </a:rPr>
              <a:t>1</a:t>
            </a:r>
            <a:r>
              <a:rPr sz="2600" b="1" spc="-195" dirty="0">
                <a:solidFill>
                  <a:srgbClr val="006FC0"/>
                </a:solidFill>
                <a:latin typeface="Arial"/>
                <a:cs typeface="Arial"/>
              </a:rPr>
              <a:t>, </a:t>
            </a:r>
            <a:r>
              <a:rPr sz="2600" b="1" spc="-200" dirty="0">
                <a:solidFill>
                  <a:srgbClr val="006FC0"/>
                </a:solidFill>
                <a:latin typeface="Arial"/>
                <a:cs typeface="Arial"/>
              </a:rPr>
              <a:t>D</a:t>
            </a:r>
            <a:r>
              <a:rPr sz="2550" b="1" spc="-300" baseline="-21241" dirty="0">
                <a:solidFill>
                  <a:srgbClr val="006FC0"/>
                </a:solidFill>
                <a:latin typeface="Arial"/>
                <a:cs typeface="Arial"/>
              </a:rPr>
              <a:t>2</a:t>
            </a:r>
            <a:r>
              <a:rPr sz="2600" b="1" spc="-200" dirty="0">
                <a:solidFill>
                  <a:srgbClr val="006FC0"/>
                </a:solidFill>
                <a:latin typeface="Arial"/>
                <a:cs typeface="Arial"/>
              </a:rPr>
              <a:t>,</a:t>
            </a:r>
            <a:r>
              <a:rPr sz="2600" b="1" spc="-220" dirty="0">
                <a:solidFill>
                  <a:srgbClr val="006FC0"/>
                </a:solidFill>
                <a:latin typeface="Arial"/>
                <a:cs typeface="Arial"/>
              </a:rPr>
              <a:t> D</a:t>
            </a:r>
            <a:r>
              <a:rPr sz="2550" b="1" spc="-330" baseline="-21241" dirty="0">
                <a:solidFill>
                  <a:srgbClr val="006FC0"/>
                </a:solidFill>
                <a:latin typeface="Arial"/>
                <a:cs typeface="Arial"/>
              </a:rPr>
              <a:t>3</a:t>
            </a:r>
            <a:r>
              <a:rPr sz="2600" spc="-220" dirty="0">
                <a:solidFill>
                  <a:srgbClr val="006FC0"/>
                </a:solidFill>
                <a:latin typeface="Arial"/>
                <a:cs typeface="Arial"/>
              </a:rPr>
              <a:t>)</a:t>
            </a:r>
            <a:endParaRPr sz="2600">
              <a:latin typeface="Arial"/>
              <a:cs typeface="Arial"/>
            </a:endParaRPr>
          </a:p>
          <a:p>
            <a:pPr marL="129539">
              <a:lnSpc>
                <a:spcPct val="100000"/>
              </a:lnSpc>
            </a:pPr>
            <a:r>
              <a:rPr sz="2600" b="1" u="heavy" spc="-24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Implementation</a:t>
            </a:r>
            <a:r>
              <a:rPr sz="2600" b="1" u="heavy" spc="-4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600" b="1" u="heavy" spc="-23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table:</a:t>
            </a:r>
            <a:endParaRPr sz="2600">
              <a:latin typeface="Arial"/>
              <a:cs typeface="Arial"/>
            </a:endParaRPr>
          </a:p>
          <a:p>
            <a:pPr marL="38100" marR="175895" indent="91440">
              <a:lnSpc>
                <a:spcPct val="100000"/>
              </a:lnSpc>
            </a:pPr>
            <a:r>
              <a:rPr sz="2600" spc="-60" dirty="0">
                <a:solidFill>
                  <a:srgbClr val="006FC0"/>
                </a:solidFill>
                <a:latin typeface="Arial"/>
                <a:cs typeface="Arial"/>
              </a:rPr>
              <a:t>Apply </a:t>
            </a:r>
            <a:r>
              <a:rPr sz="2600" spc="-220" dirty="0">
                <a:solidFill>
                  <a:srgbClr val="006FC0"/>
                </a:solidFill>
                <a:latin typeface="Arial"/>
                <a:cs typeface="Arial"/>
              </a:rPr>
              <a:t>variables </a:t>
            </a:r>
            <a:r>
              <a:rPr sz="2600" spc="-390" dirty="0">
                <a:solidFill>
                  <a:srgbClr val="006FC0"/>
                </a:solidFill>
                <a:latin typeface="Arial"/>
                <a:cs typeface="Arial"/>
              </a:rPr>
              <a:t>B </a:t>
            </a:r>
            <a:r>
              <a:rPr sz="2600" spc="-240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600" spc="-275" dirty="0">
                <a:solidFill>
                  <a:srgbClr val="006FC0"/>
                </a:solidFill>
                <a:latin typeface="Arial"/>
                <a:cs typeface="Arial"/>
              </a:rPr>
              <a:t>C </a:t>
            </a:r>
            <a:r>
              <a:rPr sz="2600" spc="-45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600" spc="-15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600" spc="-215" dirty="0">
                <a:solidFill>
                  <a:srgbClr val="006FC0"/>
                </a:solidFill>
                <a:latin typeface="Arial"/>
                <a:cs typeface="Arial"/>
              </a:rPr>
              <a:t>select </a:t>
            </a:r>
            <a:r>
              <a:rPr sz="2600" spc="-195" dirty="0">
                <a:solidFill>
                  <a:srgbClr val="006FC0"/>
                </a:solidFill>
                <a:latin typeface="Arial"/>
                <a:cs typeface="Arial"/>
              </a:rPr>
              <a:t>lines. </a:t>
            </a:r>
            <a:r>
              <a:rPr sz="2600" spc="-21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600" spc="-195" dirty="0">
                <a:solidFill>
                  <a:srgbClr val="006FC0"/>
                </a:solidFill>
                <a:latin typeface="Arial"/>
                <a:cs typeface="Arial"/>
              </a:rPr>
              <a:t>procedures </a:t>
            </a:r>
            <a:r>
              <a:rPr sz="2600" spc="-50" dirty="0">
                <a:solidFill>
                  <a:srgbClr val="006FC0"/>
                </a:solidFill>
                <a:latin typeface="Arial"/>
                <a:cs typeface="Arial"/>
              </a:rPr>
              <a:t>for  </a:t>
            </a:r>
            <a:r>
              <a:rPr sz="2600" spc="-160" dirty="0">
                <a:solidFill>
                  <a:srgbClr val="006FC0"/>
                </a:solidFill>
                <a:latin typeface="Arial"/>
                <a:cs typeface="Arial"/>
              </a:rPr>
              <a:t>implementing </a:t>
            </a:r>
            <a:r>
              <a:rPr sz="2600" spc="-15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600" spc="-114" dirty="0">
                <a:solidFill>
                  <a:srgbClr val="006FC0"/>
                </a:solidFill>
                <a:latin typeface="Arial"/>
                <a:cs typeface="Arial"/>
              </a:rPr>
              <a:t>function</a:t>
            </a:r>
            <a:r>
              <a:rPr sz="2600" spc="29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600" spc="-175" dirty="0">
                <a:solidFill>
                  <a:srgbClr val="006FC0"/>
                </a:solidFill>
                <a:latin typeface="Arial"/>
                <a:cs typeface="Arial"/>
              </a:rPr>
              <a:t>are:</a:t>
            </a:r>
            <a:endParaRPr sz="2600">
              <a:latin typeface="Arial"/>
              <a:cs typeface="Arial"/>
            </a:endParaRPr>
          </a:p>
          <a:p>
            <a:pPr marL="382270" indent="-344805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382905" algn="l"/>
              </a:tabLst>
            </a:pPr>
            <a:r>
              <a:rPr sz="2600" spc="-160" dirty="0">
                <a:solidFill>
                  <a:srgbClr val="006FC0"/>
                </a:solidFill>
                <a:latin typeface="Arial"/>
                <a:cs typeface="Arial"/>
              </a:rPr>
              <a:t>List </a:t>
            </a:r>
            <a:r>
              <a:rPr sz="2600" spc="-15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600" spc="-95" dirty="0">
                <a:solidFill>
                  <a:srgbClr val="006FC0"/>
                </a:solidFill>
                <a:latin typeface="Arial"/>
                <a:cs typeface="Arial"/>
              </a:rPr>
              <a:t>input </a:t>
            </a:r>
            <a:r>
              <a:rPr sz="2600" spc="-6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600" spc="-155" dirty="0">
                <a:solidFill>
                  <a:srgbClr val="006FC0"/>
                </a:solidFill>
                <a:latin typeface="Arial"/>
                <a:cs typeface="Arial"/>
              </a:rPr>
              <a:t>the</a:t>
            </a:r>
            <a:r>
              <a:rPr sz="2600" spc="-125" dirty="0">
                <a:solidFill>
                  <a:srgbClr val="006FC0"/>
                </a:solidFill>
                <a:latin typeface="Arial"/>
                <a:cs typeface="Arial"/>
              </a:rPr>
              <a:t> multiplexer</a:t>
            </a:r>
            <a:endParaRPr sz="2600">
              <a:latin typeface="Arial"/>
              <a:cs typeface="Arial"/>
            </a:endParaRPr>
          </a:p>
          <a:p>
            <a:pPr marL="382270" indent="-344805">
              <a:lnSpc>
                <a:spcPct val="100000"/>
              </a:lnSpc>
              <a:buFont typeface="Wingdings"/>
              <a:buChar char=""/>
              <a:tabLst>
                <a:tab pos="382905" algn="l"/>
              </a:tabLst>
            </a:pPr>
            <a:r>
              <a:rPr sz="2600" spc="-160" dirty="0">
                <a:solidFill>
                  <a:srgbClr val="006FC0"/>
                </a:solidFill>
                <a:latin typeface="Arial"/>
                <a:cs typeface="Arial"/>
              </a:rPr>
              <a:t>List </a:t>
            </a:r>
            <a:r>
              <a:rPr sz="2600" spc="-170" dirty="0">
                <a:solidFill>
                  <a:srgbClr val="006FC0"/>
                </a:solidFill>
                <a:latin typeface="Arial"/>
                <a:cs typeface="Arial"/>
              </a:rPr>
              <a:t>under them </a:t>
            </a:r>
            <a:r>
              <a:rPr sz="2600" spc="-130" dirty="0">
                <a:solidFill>
                  <a:srgbClr val="006FC0"/>
                </a:solidFill>
                <a:latin typeface="Arial"/>
                <a:cs typeface="Arial"/>
              </a:rPr>
              <a:t>all </a:t>
            </a:r>
            <a:r>
              <a:rPr sz="2600" spc="-15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600" spc="-170" dirty="0">
                <a:solidFill>
                  <a:srgbClr val="006FC0"/>
                </a:solidFill>
                <a:latin typeface="Arial"/>
                <a:cs typeface="Arial"/>
              </a:rPr>
              <a:t>minterms </a:t>
            </a:r>
            <a:r>
              <a:rPr sz="2600" spc="-105" dirty="0">
                <a:solidFill>
                  <a:srgbClr val="006FC0"/>
                </a:solidFill>
                <a:latin typeface="Arial"/>
                <a:cs typeface="Arial"/>
              </a:rPr>
              <a:t>in </a:t>
            </a:r>
            <a:r>
              <a:rPr sz="2600" spc="-110" dirty="0">
                <a:solidFill>
                  <a:srgbClr val="006FC0"/>
                </a:solidFill>
                <a:latin typeface="Arial"/>
                <a:cs typeface="Arial"/>
              </a:rPr>
              <a:t>two </a:t>
            </a:r>
            <a:r>
              <a:rPr sz="2600" spc="-215" dirty="0">
                <a:solidFill>
                  <a:srgbClr val="006FC0"/>
                </a:solidFill>
                <a:latin typeface="Arial"/>
                <a:cs typeface="Arial"/>
              </a:rPr>
              <a:t>rows </a:t>
            </a:r>
            <a:r>
              <a:rPr sz="2600" spc="-420" dirty="0">
                <a:solidFill>
                  <a:srgbClr val="006FC0"/>
                </a:solidFill>
                <a:latin typeface="Arial"/>
                <a:cs typeface="Arial"/>
              </a:rPr>
              <a:t>as</a:t>
            </a:r>
            <a:r>
              <a:rPr sz="2600" spc="-12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600" spc="-245" dirty="0">
                <a:solidFill>
                  <a:srgbClr val="006FC0"/>
                </a:solidFill>
                <a:latin typeface="Arial"/>
                <a:cs typeface="Arial"/>
              </a:rPr>
              <a:t>shown</a:t>
            </a:r>
            <a:r>
              <a:rPr sz="2600" spc="14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600" spc="-180" dirty="0">
                <a:solidFill>
                  <a:srgbClr val="006FC0"/>
                </a:solidFill>
                <a:latin typeface="Arial"/>
                <a:cs typeface="Arial"/>
              </a:rPr>
              <a:t>below.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sp>
          <p:nvSpPr>
            <p:cNvPr id="15" name="object 15"/>
            <p:cNvSpPr/>
            <p:nvPr/>
          </p:nvSpPr>
          <p:spPr>
            <a:xfrm>
              <a:off x="8593835" y="6620255"/>
              <a:ext cx="550164" cy="23774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630411" y="6556243"/>
              <a:ext cx="513588" cy="30175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212594" y="1051637"/>
            <a:ext cx="5771515" cy="990600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870"/>
              </a:spcBef>
            </a:pPr>
            <a:r>
              <a:rPr sz="2000" b="1" spc="-195" dirty="0">
                <a:solidFill>
                  <a:srgbClr val="C00000"/>
                </a:solidFill>
                <a:latin typeface="Arial"/>
                <a:cs typeface="Arial"/>
              </a:rPr>
              <a:t>Implementation </a:t>
            </a:r>
            <a:r>
              <a:rPr sz="2000" b="1" spc="-155" dirty="0">
                <a:solidFill>
                  <a:srgbClr val="C00000"/>
                </a:solidFill>
                <a:latin typeface="Arial"/>
                <a:cs typeface="Arial"/>
              </a:rPr>
              <a:t>of </a:t>
            </a:r>
            <a:r>
              <a:rPr sz="2000" b="1" spc="-229" dirty="0">
                <a:solidFill>
                  <a:srgbClr val="C00000"/>
                </a:solidFill>
                <a:latin typeface="Arial"/>
                <a:cs typeface="Arial"/>
              </a:rPr>
              <a:t>boolean </a:t>
            </a:r>
            <a:r>
              <a:rPr sz="2000" b="1" spc="-195" dirty="0">
                <a:solidFill>
                  <a:srgbClr val="C00000"/>
                </a:solidFill>
                <a:latin typeface="Arial"/>
                <a:cs typeface="Arial"/>
              </a:rPr>
              <a:t>function </a:t>
            </a:r>
            <a:r>
              <a:rPr sz="2000" b="1" spc="-290" dirty="0">
                <a:solidFill>
                  <a:srgbClr val="C00000"/>
                </a:solidFill>
                <a:latin typeface="Arial"/>
                <a:cs typeface="Arial"/>
              </a:rPr>
              <a:t>using</a:t>
            </a:r>
            <a:r>
              <a:rPr sz="2000" b="1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30" dirty="0">
                <a:solidFill>
                  <a:srgbClr val="C00000"/>
                </a:solidFill>
                <a:latin typeface="Arial"/>
                <a:cs typeface="Arial"/>
              </a:rPr>
              <a:t>MUX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2800" b="1" spc="-265" dirty="0">
                <a:latin typeface="Arial"/>
                <a:cs typeface="Arial"/>
              </a:rPr>
              <a:t>Implement </a:t>
            </a:r>
            <a:r>
              <a:rPr sz="2800" b="1" spc="-260" dirty="0">
                <a:latin typeface="Arial"/>
                <a:cs typeface="Arial"/>
              </a:rPr>
              <a:t>the </a:t>
            </a:r>
            <a:r>
              <a:rPr sz="2800" b="1" spc="-280" dirty="0">
                <a:latin typeface="Arial"/>
                <a:cs typeface="Arial"/>
              </a:rPr>
              <a:t>following </a:t>
            </a:r>
            <a:r>
              <a:rPr sz="2800" b="1" spc="-320" dirty="0">
                <a:latin typeface="Arial"/>
                <a:cs typeface="Arial"/>
              </a:rPr>
              <a:t>boolean</a:t>
            </a:r>
            <a:r>
              <a:rPr sz="2800" b="1" spc="65" dirty="0">
                <a:latin typeface="Arial"/>
                <a:cs typeface="Arial"/>
              </a:rPr>
              <a:t> </a:t>
            </a:r>
            <a:r>
              <a:rPr sz="2800" b="1" spc="-270" dirty="0">
                <a:latin typeface="Arial"/>
                <a:cs typeface="Arial"/>
              </a:rPr>
              <a:t>function</a:t>
            </a:r>
            <a:endParaRPr sz="28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8739" y="6635530"/>
            <a:ext cx="723900" cy="17462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1000" b="1" spc="45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1000" b="1" spc="50" dirty="0">
                <a:solidFill>
                  <a:srgbClr val="C00000"/>
                </a:solidFill>
                <a:latin typeface="Arial"/>
                <a:cs typeface="Arial"/>
              </a:rPr>
              <a:t>U</a:t>
            </a:r>
            <a:r>
              <a:rPr sz="1000" b="1" spc="-5" dirty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1000" b="1" spc="-60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1000" b="1" spc="-10" dirty="0">
                <a:solidFill>
                  <a:srgbClr val="C00000"/>
                </a:solidFill>
                <a:latin typeface="Arial"/>
                <a:cs typeface="Arial"/>
              </a:rPr>
              <a:t>-</a:t>
            </a:r>
            <a:r>
              <a:rPr sz="1000" b="1" spc="100" dirty="0">
                <a:solidFill>
                  <a:srgbClr val="C00000"/>
                </a:solidFill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166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2939795" y="202679"/>
              <a:ext cx="3259835" cy="9342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214242" y="321386"/>
            <a:ext cx="271462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70" dirty="0"/>
              <a:t>MULTIPLEXERS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sp>
          <p:nvSpPr>
            <p:cNvPr id="8" name="object 8"/>
            <p:cNvSpPr/>
            <p:nvPr/>
          </p:nvSpPr>
          <p:spPr>
            <a:xfrm>
              <a:off x="8593835" y="6620255"/>
              <a:ext cx="550164" cy="23774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630411" y="6556243"/>
              <a:ext cx="513588" cy="3017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83540" y="1129664"/>
            <a:ext cx="8378825" cy="5405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3550" algn="ctr">
              <a:lnSpc>
                <a:spcPct val="100000"/>
              </a:lnSpc>
              <a:spcBef>
                <a:spcPts val="105"/>
              </a:spcBef>
            </a:pPr>
            <a:r>
              <a:rPr sz="2000" b="1" spc="-195" dirty="0">
                <a:solidFill>
                  <a:srgbClr val="C00000"/>
                </a:solidFill>
                <a:latin typeface="Arial"/>
                <a:cs typeface="Arial"/>
              </a:rPr>
              <a:t>Implementation </a:t>
            </a:r>
            <a:r>
              <a:rPr sz="2000" b="1" spc="-155" dirty="0">
                <a:solidFill>
                  <a:srgbClr val="C00000"/>
                </a:solidFill>
                <a:latin typeface="Arial"/>
                <a:cs typeface="Arial"/>
              </a:rPr>
              <a:t>of </a:t>
            </a:r>
            <a:r>
              <a:rPr sz="2000" b="1" spc="-229" dirty="0">
                <a:solidFill>
                  <a:srgbClr val="C00000"/>
                </a:solidFill>
                <a:latin typeface="Arial"/>
                <a:cs typeface="Arial"/>
              </a:rPr>
              <a:t>boolean </a:t>
            </a:r>
            <a:r>
              <a:rPr sz="2000" b="1" spc="-195" dirty="0">
                <a:solidFill>
                  <a:srgbClr val="C00000"/>
                </a:solidFill>
                <a:latin typeface="Arial"/>
                <a:cs typeface="Arial"/>
              </a:rPr>
              <a:t>function </a:t>
            </a:r>
            <a:r>
              <a:rPr sz="2000" b="1" spc="-290" dirty="0">
                <a:solidFill>
                  <a:srgbClr val="C00000"/>
                </a:solidFill>
                <a:latin typeface="Arial"/>
                <a:cs typeface="Arial"/>
              </a:rPr>
              <a:t>using</a:t>
            </a:r>
            <a:r>
              <a:rPr sz="2000" b="1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30" dirty="0">
                <a:solidFill>
                  <a:srgbClr val="C00000"/>
                </a:solidFill>
                <a:latin typeface="Arial"/>
                <a:cs typeface="Arial"/>
              </a:rPr>
              <a:t>MUX</a:t>
            </a:r>
            <a:endParaRPr sz="2000">
              <a:latin typeface="Arial"/>
              <a:cs typeface="Arial"/>
            </a:endParaRPr>
          </a:p>
          <a:p>
            <a:pPr marL="12700" marR="5080" algn="just">
              <a:lnSpc>
                <a:spcPct val="100000"/>
              </a:lnSpc>
              <a:spcBef>
                <a:spcPts val="55"/>
              </a:spcBef>
            </a:pP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95" dirty="0">
                <a:solidFill>
                  <a:srgbClr val="006FC0"/>
                </a:solidFill>
                <a:latin typeface="Arial"/>
                <a:cs typeface="Arial"/>
              </a:rPr>
              <a:t>first </a:t>
            </a:r>
            <a:r>
              <a:rPr sz="2800" spc="-155" dirty="0">
                <a:solidFill>
                  <a:srgbClr val="006FC0"/>
                </a:solidFill>
                <a:latin typeface="Arial"/>
                <a:cs typeface="Arial"/>
              </a:rPr>
              <a:t>half 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90" dirty="0">
                <a:solidFill>
                  <a:srgbClr val="006FC0"/>
                </a:solidFill>
                <a:latin typeface="Arial"/>
                <a:cs typeface="Arial"/>
              </a:rPr>
              <a:t>minterms </a:t>
            </a:r>
            <a:r>
              <a:rPr sz="2800" spc="-270" dirty="0">
                <a:solidFill>
                  <a:srgbClr val="006FC0"/>
                </a:solidFill>
                <a:latin typeface="Arial"/>
                <a:cs typeface="Arial"/>
              </a:rPr>
              <a:t>is associated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with </a:t>
            </a:r>
            <a:r>
              <a:rPr sz="2800" spc="150" dirty="0">
                <a:solidFill>
                  <a:srgbClr val="006FC0"/>
                </a:solidFill>
                <a:latin typeface="Arial"/>
                <a:cs typeface="Arial"/>
              </a:rPr>
              <a:t>A’ 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the  </a:t>
            </a:r>
            <a:r>
              <a:rPr sz="2800" spc="-270" dirty="0">
                <a:solidFill>
                  <a:srgbClr val="006FC0"/>
                </a:solidFill>
                <a:latin typeface="Arial"/>
                <a:cs typeface="Arial"/>
              </a:rPr>
              <a:t>second </a:t>
            </a:r>
            <a:r>
              <a:rPr sz="2800" spc="-155" dirty="0">
                <a:solidFill>
                  <a:srgbClr val="006FC0"/>
                </a:solidFill>
                <a:latin typeface="Arial"/>
                <a:cs typeface="Arial"/>
              </a:rPr>
              <a:t>half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with </a:t>
            </a:r>
            <a:r>
              <a:rPr sz="2800" spc="-15" dirty="0">
                <a:solidFill>
                  <a:srgbClr val="006FC0"/>
                </a:solidFill>
                <a:latin typeface="Arial"/>
                <a:cs typeface="Arial"/>
              </a:rPr>
              <a:t>A. </a:t>
            </a: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225" dirty="0">
                <a:solidFill>
                  <a:srgbClr val="006FC0"/>
                </a:solidFill>
                <a:latin typeface="Arial"/>
                <a:cs typeface="Arial"/>
              </a:rPr>
              <a:t>given </a:t>
            </a:r>
            <a:r>
              <a:rPr sz="2800" spc="-125" dirty="0">
                <a:solidFill>
                  <a:srgbClr val="006FC0"/>
                </a:solidFill>
                <a:latin typeface="Arial"/>
                <a:cs typeface="Arial"/>
              </a:rPr>
              <a:t>function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800" spc="-185" dirty="0">
                <a:solidFill>
                  <a:srgbClr val="006FC0"/>
                </a:solidFill>
                <a:latin typeface="Arial"/>
                <a:cs typeface="Arial"/>
              </a:rPr>
              <a:t>implemented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by 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encircling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90" dirty="0">
                <a:solidFill>
                  <a:srgbClr val="006FC0"/>
                </a:solidFill>
                <a:latin typeface="Arial"/>
                <a:cs typeface="Arial"/>
              </a:rPr>
              <a:t>minterms</a:t>
            </a:r>
            <a:r>
              <a:rPr sz="2800" spc="39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25" dirty="0">
                <a:solidFill>
                  <a:srgbClr val="006FC0"/>
                </a:solidFill>
                <a:latin typeface="Arial"/>
                <a:cs typeface="Arial"/>
              </a:rPr>
              <a:t>function 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spc="-180" dirty="0">
                <a:solidFill>
                  <a:srgbClr val="006FC0"/>
                </a:solidFill>
                <a:latin typeface="Arial"/>
                <a:cs typeface="Arial"/>
              </a:rPr>
              <a:t>applying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 </a:t>
            </a:r>
            <a:r>
              <a:rPr sz="2800" spc="-135" dirty="0">
                <a:solidFill>
                  <a:srgbClr val="006FC0"/>
                </a:solidFill>
                <a:latin typeface="Arial"/>
                <a:cs typeface="Arial"/>
              </a:rPr>
              <a:t>following </a:t>
            </a:r>
            <a:r>
              <a:rPr sz="2800" spc="-220" dirty="0">
                <a:solidFill>
                  <a:srgbClr val="006FC0"/>
                </a:solidFill>
                <a:latin typeface="Arial"/>
                <a:cs typeface="Arial"/>
              </a:rPr>
              <a:t>rules </a:t>
            </a:r>
            <a:r>
              <a:rPr sz="2800" spc="-60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800" spc="-100" dirty="0">
                <a:solidFill>
                  <a:srgbClr val="006FC0"/>
                </a:solidFill>
                <a:latin typeface="Arial"/>
                <a:cs typeface="Arial"/>
              </a:rPr>
              <a:t>find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285" dirty="0">
                <a:solidFill>
                  <a:srgbClr val="006FC0"/>
                </a:solidFill>
                <a:latin typeface="Arial"/>
                <a:cs typeface="Arial"/>
              </a:rPr>
              <a:t>values </a:t>
            </a:r>
            <a:r>
              <a:rPr sz="2800" spc="-55" dirty="0">
                <a:solidFill>
                  <a:srgbClr val="006FC0"/>
                </a:solidFill>
                <a:latin typeface="Arial"/>
                <a:cs typeface="Arial"/>
              </a:rPr>
              <a:t>for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the inputs 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 </a:t>
            </a:r>
            <a:r>
              <a:rPr sz="2800" spc="-135" dirty="0">
                <a:solidFill>
                  <a:srgbClr val="006FC0"/>
                </a:solidFill>
                <a:latin typeface="Arial"/>
                <a:cs typeface="Arial"/>
              </a:rPr>
              <a:t>multiplexer.</a:t>
            </a:r>
            <a:endParaRPr sz="2800">
              <a:latin typeface="Arial"/>
              <a:cs typeface="Arial"/>
            </a:endParaRPr>
          </a:p>
          <a:p>
            <a:pPr marL="527685" marR="128905" indent="-515620">
              <a:lnSpc>
                <a:spcPct val="100000"/>
              </a:lnSpc>
              <a:spcBef>
                <a:spcPts val="60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400" spc="10" dirty="0">
                <a:latin typeface="Arial"/>
                <a:cs typeface="Arial"/>
              </a:rPr>
              <a:t>If </a:t>
            </a:r>
            <a:r>
              <a:rPr sz="2400" spc="-110" dirty="0">
                <a:latin typeface="Arial"/>
                <a:cs typeface="Arial"/>
              </a:rPr>
              <a:t>both </a:t>
            </a:r>
            <a:r>
              <a:rPr sz="2400" spc="-145" dirty="0">
                <a:latin typeface="Arial"/>
                <a:cs typeface="Arial"/>
              </a:rPr>
              <a:t>the </a:t>
            </a:r>
            <a:r>
              <a:rPr sz="2400" spc="-160" dirty="0">
                <a:latin typeface="Arial"/>
                <a:cs typeface="Arial"/>
              </a:rPr>
              <a:t>minterms </a:t>
            </a:r>
            <a:r>
              <a:rPr sz="2400" spc="-95" dirty="0">
                <a:latin typeface="Arial"/>
                <a:cs typeface="Arial"/>
              </a:rPr>
              <a:t>in </a:t>
            </a:r>
            <a:r>
              <a:rPr sz="2400" spc="-140" dirty="0">
                <a:latin typeface="Arial"/>
                <a:cs typeface="Arial"/>
              </a:rPr>
              <a:t>the </a:t>
            </a:r>
            <a:r>
              <a:rPr sz="2400" spc="-150" dirty="0">
                <a:latin typeface="Arial"/>
                <a:cs typeface="Arial"/>
              </a:rPr>
              <a:t>column </a:t>
            </a:r>
            <a:r>
              <a:rPr sz="2400" spc="-210" dirty="0">
                <a:latin typeface="Arial"/>
                <a:cs typeface="Arial"/>
              </a:rPr>
              <a:t>are </a:t>
            </a:r>
            <a:r>
              <a:rPr sz="2400" spc="-90" dirty="0">
                <a:latin typeface="Arial"/>
                <a:cs typeface="Arial"/>
              </a:rPr>
              <a:t>not </a:t>
            </a:r>
            <a:r>
              <a:rPr sz="2400" spc="-125" dirty="0">
                <a:latin typeface="Arial"/>
                <a:cs typeface="Arial"/>
              </a:rPr>
              <a:t>circled, </a:t>
            </a:r>
            <a:r>
              <a:rPr sz="2400" spc="-150" dirty="0">
                <a:latin typeface="Arial"/>
                <a:cs typeface="Arial"/>
              </a:rPr>
              <a:t>apply </a:t>
            </a:r>
            <a:r>
              <a:rPr sz="2400" spc="-340" dirty="0">
                <a:latin typeface="Arial"/>
                <a:cs typeface="Arial"/>
              </a:rPr>
              <a:t>0 </a:t>
            </a:r>
            <a:r>
              <a:rPr sz="2400" spc="-45" dirty="0">
                <a:latin typeface="Arial"/>
                <a:cs typeface="Arial"/>
              </a:rPr>
              <a:t>to </a:t>
            </a:r>
            <a:r>
              <a:rPr sz="2400" spc="-140" dirty="0">
                <a:latin typeface="Arial"/>
                <a:cs typeface="Arial"/>
              </a:rPr>
              <a:t>the  </a:t>
            </a:r>
            <a:r>
              <a:rPr sz="2400" spc="-165" dirty="0">
                <a:latin typeface="Arial"/>
                <a:cs typeface="Arial"/>
              </a:rPr>
              <a:t>corresponding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100" dirty="0">
                <a:latin typeface="Arial"/>
                <a:cs typeface="Arial"/>
              </a:rPr>
              <a:t>input.</a:t>
            </a:r>
            <a:endParaRPr sz="2400">
              <a:latin typeface="Arial"/>
              <a:cs typeface="Arial"/>
            </a:endParaRPr>
          </a:p>
          <a:p>
            <a:pPr marL="527685" marR="604520" indent="-515620">
              <a:lnSpc>
                <a:spcPct val="100000"/>
              </a:lnSpc>
              <a:buAutoNum type="arabicPeriod"/>
              <a:tabLst>
                <a:tab pos="527685" algn="l"/>
                <a:tab pos="528320" algn="l"/>
              </a:tabLst>
            </a:pPr>
            <a:r>
              <a:rPr sz="2400" spc="10" dirty="0">
                <a:latin typeface="Arial"/>
                <a:cs typeface="Arial"/>
              </a:rPr>
              <a:t>If </a:t>
            </a:r>
            <a:r>
              <a:rPr sz="2400" spc="-110" dirty="0">
                <a:latin typeface="Arial"/>
                <a:cs typeface="Arial"/>
              </a:rPr>
              <a:t>both </a:t>
            </a:r>
            <a:r>
              <a:rPr sz="2400" spc="-145" dirty="0">
                <a:latin typeface="Arial"/>
                <a:cs typeface="Arial"/>
              </a:rPr>
              <a:t>the </a:t>
            </a:r>
            <a:r>
              <a:rPr sz="2400" spc="-160" dirty="0">
                <a:latin typeface="Arial"/>
                <a:cs typeface="Arial"/>
              </a:rPr>
              <a:t>minterms </a:t>
            </a:r>
            <a:r>
              <a:rPr sz="2400" spc="-95" dirty="0">
                <a:latin typeface="Arial"/>
                <a:cs typeface="Arial"/>
              </a:rPr>
              <a:t>in </a:t>
            </a:r>
            <a:r>
              <a:rPr sz="2400" spc="-140" dirty="0">
                <a:latin typeface="Arial"/>
                <a:cs typeface="Arial"/>
              </a:rPr>
              <a:t>the </a:t>
            </a:r>
            <a:r>
              <a:rPr sz="2400" spc="-150" dirty="0">
                <a:latin typeface="Arial"/>
                <a:cs typeface="Arial"/>
              </a:rPr>
              <a:t>column </a:t>
            </a:r>
            <a:r>
              <a:rPr sz="2400" spc="-210" dirty="0">
                <a:latin typeface="Arial"/>
                <a:cs typeface="Arial"/>
              </a:rPr>
              <a:t>are </a:t>
            </a:r>
            <a:r>
              <a:rPr sz="2400" spc="-125" dirty="0">
                <a:latin typeface="Arial"/>
                <a:cs typeface="Arial"/>
              </a:rPr>
              <a:t>circled, </a:t>
            </a:r>
            <a:r>
              <a:rPr sz="2400" spc="-150" dirty="0">
                <a:latin typeface="Arial"/>
                <a:cs typeface="Arial"/>
              </a:rPr>
              <a:t>apply </a:t>
            </a:r>
            <a:r>
              <a:rPr sz="2400" spc="-340" dirty="0">
                <a:latin typeface="Arial"/>
                <a:cs typeface="Arial"/>
              </a:rPr>
              <a:t>1 </a:t>
            </a:r>
            <a:r>
              <a:rPr sz="2400" spc="-45" dirty="0">
                <a:latin typeface="Arial"/>
                <a:cs typeface="Arial"/>
              </a:rPr>
              <a:t>to </a:t>
            </a:r>
            <a:r>
              <a:rPr sz="2400" spc="-140" dirty="0">
                <a:latin typeface="Arial"/>
                <a:cs typeface="Arial"/>
              </a:rPr>
              <a:t>the  </a:t>
            </a:r>
            <a:r>
              <a:rPr sz="2400" spc="-165" dirty="0">
                <a:latin typeface="Arial"/>
                <a:cs typeface="Arial"/>
              </a:rPr>
              <a:t>corresponding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100" dirty="0">
                <a:latin typeface="Arial"/>
                <a:cs typeface="Arial"/>
              </a:rPr>
              <a:t>input.</a:t>
            </a:r>
            <a:endParaRPr sz="2400">
              <a:latin typeface="Arial"/>
              <a:cs typeface="Arial"/>
            </a:endParaRPr>
          </a:p>
          <a:p>
            <a:pPr marL="527685" indent="-515620">
              <a:lnSpc>
                <a:spcPct val="100000"/>
              </a:lnSpc>
              <a:buAutoNum type="arabicPeriod"/>
              <a:tabLst>
                <a:tab pos="527685" algn="l"/>
                <a:tab pos="528320" algn="l"/>
              </a:tabLst>
            </a:pPr>
            <a:r>
              <a:rPr sz="2400" spc="10" dirty="0">
                <a:latin typeface="Arial"/>
                <a:cs typeface="Arial"/>
              </a:rPr>
              <a:t>If </a:t>
            </a:r>
            <a:r>
              <a:rPr sz="2400" spc="-140" dirty="0">
                <a:latin typeface="Arial"/>
                <a:cs typeface="Arial"/>
              </a:rPr>
              <a:t>the </a:t>
            </a:r>
            <a:r>
              <a:rPr sz="2400" spc="-90" dirty="0">
                <a:latin typeface="Arial"/>
                <a:cs typeface="Arial"/>
              </a:rPr>
              <a:t>bottom </a:t>
            </a:r>
            <a:r>
              <a:rPr sz="2400" spc="-120" dirty="0">
                <a:latin typeface="Arial"/>
                <a:cs typeface="Arial"/>
              </a:rPr>
              <a:t>minterm </a:t>
            </a:r>
            <a:r>
              <a:rPr sz="2400" spc="-229" dirty="0">
                <a:latin typeface="Arial"/>
                <a:cs typeface="Arial"/>
              </a:rPr>
              <a:t>is </a:t>
            </a:r>
            <a:r>
              <a:rPr sz="2400" spc="-125" dirty="0">
                <a:latin typeface="Arial"/>
                <a:cs typeface="Arial"/>
              </a:rPr>
              <a:t>circled </a:t>
            </a:r>
            <a:r>
              <a:rPr sz="2400" spc="-215" dirty="0">
                <a:latin typeface="Arial"/>
                <a:cs typeface="Arial"/>
              </a:rPr>
              <a:t>and </a:t>
            </a:r>
            <a:r>
              <a:rPr sz="2400" spc="-140" dirty="0">
                <a:latin typeface="Arial"/>
                <a:cs typeface="Arial"/>
              </a:rPr>
              <a:t>the </a:t>
            </a:r>
            <a:r>
              <a:rPr sz="2400" spc="-75" dirty="0">
                <a:latin typeface="Arial"/>
                <a:cs typeface="Arial"/>
              </a:rPr>
              <a:t>top </a:t>
            </a:r>
            <a:r>
              <a:rPr sz="2400" spc="-229" dirty="0">
                <a:latin typeface="Arial"/>
                <a:cs typeface="Arial"/>
              </a:rPr>
              <a:t>is </a:t>
            </a:r>
            <a:r>
              <a:rPr sz="2400" spc="-85" dirty="0">
                <a:latin typeface="Arial"/>
                <a:cs typeface="Arial"/>
              </a:rPr>
              <a:t>not </a:t>
            </a:r>
            <a:r>
              <a:rPr sz="2400" spc="-125" dirty="0">
                <a:latin typeface="Arial"/>
                <a:cs typeface="Arial"/>
              </a:rPr>
              <a:t>circled,</a:t>
            </a:r>
            <a:r>
              <a:rPr sz="2400" spc="160" dirty="0">
                <a:latin typeface="Arial"/>
                <a:cs typeface="Arial"/>
              </a:rPr>
              <a:t> </a:t>
            </a:r>
            <a:r>
              <a:rPr sz="2400" spc="-150" dirty="0">
                <a:latin typeface="Arial"/>
                <a:cs typeface="Arial"/>
              </a:rPr>
              <a:t>apply</a:t>
            </a:r>
            <a:endParaRPr sz="2400">
              <a:latin typeface="Arial"/>
              <a:cs typeface="Arial"/>
            </a:endParaRPr>
          </a:p>
          <a:p>
            <a:pPr marL="527685">
              <a:lnSpc>
                <a:spcPct val="100000"/>
              </a:lnSpc>
            </a:pPr>
            <a:r>
              <a:rPr sz="2400" spc="114" dirty="0">
                <a:latin typeface="Arial"/>
                <a:cs typeface="Arial"/>
              </a:rPr>
              <a:t>A </a:t>
            </a:r>
            <a:r>
              <a:rPr sz="2400" spc="-40" dirty="0">
                <a:latin typeface="Arial"/>
                <a:cs typeface="Arial"/>
              </a:rPr>
              <a:t>to </a:t>
            </a:r>
            <a:r>
              <a:rPr sz="2400" spc="-140" dirty="0">
                <a:latin typeface="Arial"/>
                <a:cs typeface="Arial"/>
              </a:rPr>
              <a:t>the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100" dirty="0">
                <a:latin typeface="Arial"/>
                <a:cs typeface="Arial"/>
              </a:rPr>
              <a:t>input.</a:t>
            </a:r>
            <a:endParaRPr sz="2400">
              <a:latin typeface="Arial"/>
              <a:cs typeface="Arial"/>
            </a:endParaRPr>
          </a:p>
          <a:p>
            <a:pPr marL="527685" indent="-515620">
              <a:lnSpc>
                <a:spcPct val="100000"/>
              </a:lnSpc>
              <a:buAutoNum type="arabicPeriod" startAt="4"/>
              <a:tabLst>
                <a:tab pos="527685" algn="l"/>
                <a:tab pos="528320" algn="l"/>
              </a:tabLst>
            </a:pPr>
            <a:r>
              <a:rPr sz="2400" spc="10" dirty="0">
                <a:latin typeface="Arial"/>
                <a:cs typeface="Arial"/>
              </a:rPr>
              <a:t>If </a:t>
            </a:r>
            <a:r>
              <a:rPr sz="2400" spc="-140" dirty="0">
                <a:latin typeface="Arial"/>
                <a:cs typeface="Arial"/>
              </a:rPr>
              <a:t>the </a:t>
            </a:r>
            <a:r>
              <a:rPr sz="2400" spc="-75" dirty="0">
                <a:latin typeface="Arial"/>
                <a:cs typeface="Arial"/>
              </a:rPr>
              <a:t>top </a:t>
            </a:r>
            <a:r>
              <a:rPr sz="2400" spc="-120" dirty="0">
                <a:latin typeface="Arial"/>
                <a:cs typeface="Arial"/>
              </a:rPr>
              <a:t>minterm </a:t>
            </a:r>
            <a:r>
              <a:rPr sz="2400" spc="-229" dirty="0">
                <a:latin typeface="Arial"/>
                <a:cs typeface="Arial"/>
              </a:rPr>
              <a:t>is </a:t>
            </a:r>
            <a:r>
              <a:rPr sz="2400" spc="-125" dirty="0">
                <a:latin typeface="Arial"/>
                <a:cs typeface="Arial"/>
              </a:rPr>
              <a:t>circled </a:t>
            </a:r>
            <a:r>
              <a:rPr sz="2400" spc="-215" dirty="0">
                <a:latin typeface="Arial"/>
                <a:cs typeface="Arial"/>
              </a:rPr>
              <a:t>and </a:t>
            </a:r>
            <a:r>
              <a:rPr sz="2400" spc="-140" dirty="0">
                <a:latin typeface="Arial"/>
                <a:cs typeface="Arial"/>
              </a:rPr>
              <a:t>the </a:t>
            </a:r>
            <a:r>
              <a:rPr sz="2400" spc="-90" dirty="0">
                <a:latin typeface="Arial"/>
                <a:cs typeface="Arial"/>
              </a:rPr>
              <a:t>bottom </a:t>
            </a:r>
            <a:r>
              <a:rPr sz="2400" spc="-229" dirty="0">
                <a:latin typeface="Arial"/>
                <a:cs typeface="Arial"/>
              </a:rPr>
              <a:t>is </a:t>
            </a:r>
            <a:r>
              <a:rPr sz="2400" spc="-85" dirty="0">
                <a:latin typeface="Arial"/>
                <a:cs typeface="Arial"/>
              </a:rPr>
              <a:t>not </a:t>
            </a:r>
            <a:r>
              <a:rPr sz="2400" spc="-125" dirty="0">
                <a:latin typeface="Arial"/>
                <a:cs typeface="Arial"/>
              </a:rPr>
              <a:t>circled,</a:t>
            </a:r>
            <a:r>
              <a:rPr sz="2400" spc="150" dirty="0">
                <a:latin typeface="Arial"/>
                <a:cs typeface="Arial"/>
              </a:rPr>
              <a:t> </a:t>
            </a:r>
            <a:r>
              <a:rPr sz="2400" spc="-150" dirty="0">
                <a:latin typeface="Arial"/>
                <a:cs typeface="Arial"/>
              </a:rPr>
              <a:t>apply</a:t>
            </a:r>
            <a:endParaRPr sz="2400">
              <a:latin typeface="Arial"/>
              <a:cs typeface="Arial"/>
            </a:endParaRPr>
          </a:p>
          <a:p>
            <a:pPr marL="527685">
              <a:lnSpc>
                <a:spcPct val="100000"/>
              </a:lnSpc>
            </a:pPr>
            <a:r>
              <a:rPr sz="2400" spc="130" dirty="0">
                <a:latin typeface="Arial"/>
                <a:cs typeface="Arial"/>
              </a:rPr>
              <a:t>A’ </a:t>
            </a:r>
            <a:r>
              <a:rPr sz="2400" spc="-45" dirty="0">
                <a:latin typeface="Arial"/>
                <a:cs typeface="Arial"/>
              </a:rPr>
              <a:t>to </a:t>
            </a:r>
            <a:r>
              <a:rPr sz="2400" spc="-140" dirty="0">
                <a:latin typeface="Arial"/>
                <a:cs typeface="Arial"/>
              </a:rPr>
              <a:t>the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100" dirty="0">
                <a:latin typeface="Arial"/>
                <a:cs typeface="Arial"/>
              </a:rPr>
              <a:t>input.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8739" y="6635530"/>
            <a:ext cx="723900" cy="17462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1000" b="1" spc="45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1000" b="1" spc="50" dirty="0">
                <a:solidFill>
                  <a:srgbClr val="C00000"/>
                </a:solidFill>
                <a:latin typeface="Arial"/>
                <a:cs typeface="Arial"/>
              </a:rPr>
              <a:t>U</a:t>
            </a:r>
            <a:r>
              <a:rPr sz="1000" b="1" spc="-5" dirty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1000" b="1" spc="-60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1000" b="1" spc="-10" dirty="0">
                <a:solidFill>
                  <a:srgbClr val="C00000"/>
                </a:solidFill>
                <a:latin typeface="Arial"/>
                <a:cs typeface="Arial"/>
              </a:rPr>
              <a:t>-</a:t>
            </a:r>
            <a:r>
              <a:rPr sz="1000" b="1" spc="100" dirty="0">
                <a:solidFill>
                  <a:srgbClr val="C00000"/>
                </a:solidFill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167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2939795" y="202679"/>
              <a:ext cx="3259835" cy="9342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214242" y="321386"/>
            <a:ext cx="271462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70" dirty="0"/>
              <a:t>MULTIPLEXERS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457200" y="1752600"/>
            <a:ext cx="8691880" cy="5105400"/>
            <a:chOff x="457200" y="1752600"/>
            <a:chExt cx="8691880" cy="5105400"/>
          </a:xfrm>
        </p:grpSpPr>
        <p:sp>
          <p:nvSpPr>
            <p:cNvPr id="8" name="object 8"/>
            <p:cNvSpPr/>
            <p:nvPr/>
          </p:nvSpPr>
          <p:spPr>
            <a:xfrm>
              <a:off x="8593835" y="6620254"/>
              <a:ext cx="550164" cy="23774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630411" y="6556242"/>
              <a:ext cx="513588" cy="3017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641080" y="6644640"/>
              <a:ext cx="502920" cy="1828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7200" y="2438400"/>
              <a:ext cx="4233672" cy="299313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257800" y="1752600"/>
              <a:ext cx="3505200" cy="1828800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441194" y="1148841"/>
            <a:ext cx="47275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95" dirty="0">
                <a:solidFill>
                  <a:srgbClr val="C00000"/>
                </a:solidFill>
                <a:latin typeface="Arial"/>
                <a:cs typeface="Arial"/>
              </a:rPr>
              <a:t>Implementation </a:t>
            </a:r>
            <a:r>
              <a:rPr sz="2000" b="1" spc="-155" dirty="0">
                <a:solidFill>
                  <a:srgbClr val="C00000"/>
                </a:solidFill>
                <a:latin typeface="Arial"/>
                <a:cs typeface="Arial"/>
              </a:rPr>
              <a:t>of </a:t>
            </a:r>
            <a:r>
              <a:rPr sz="2000" b="1" spc="-229" dirty="0">
                <a:solidFill>
                  <a:srgbClr val="C00000"/>
                </a:solidFill>
                <a:latin typeface="Arial"/>
                <a:cs typeface="Arial"/>
              </a:rPr>
              <a:t>boolean </a:t>
            </a:r>
            <a:r>
              <a:rPr sz="2000" b="1" spc="-195" dirty="0">
                <a:solidFill>
                  <a:srgbClr val="C00000"/>
                </a:solidFill>
                <a:latin typeface="Arial"/>
                <a:cs typeface="Arial"/>
              </a:rPr>
              <a:t>function </a:t>
            </a:r>
            <a:r>
              <a:rPr sz="2000" b="1" spc="-290" dirty="0">
                <a:solidFill>
                  <a:srgbClr val="C00000"/>
                </a:solidFill>
                <a:latin typeface="Arial"/>
                <a:cs typeface="Arial"/>
              </a:rPr>
              <a:t>using</a:t>
            </a:r>
            <a:r>
              <a:rPr sz="2000" b="1" spc="-28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30" dirty="0">
                <a:solidFill>
                  <a:srgbClr val="C00000"/>
                </a:solidFill>
                <a:latin typeface="Arial"/>
                <a:cs typeface="Arial"/>
              </a:rPr>
              <a:t>MUX</a:t>
            </a:r>
            <a:endParaRPr sz="2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76957" y="5493207"/>
            <a:ext cx="11188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55" dirty="0">
                <a:latin typeface="Arial"/>
                <a:cs typeface="Arial"/>
              </a:rPr>
              <a:t>Truth</a:t>
            </a:r>
            <a:r>
              <a:rPr sz="2000" b="1" spc="-110" dirty="0">
                <a:latin typeface="Arial"/>
                <a:cs typeface="Arial"/>
              </a:rPr>
              <a:t> </a:t>
            </a:r>
            <a:r>
              <a:rPr sz="2000" b="1" spc="-190" dirty="0">
                <a:latin typeface="Arial"/>
                <a:cs typeface="Arial"/>
              </a:rPr>
              <a:t>table</a:t>
            </a:r>
            <a:endParaRPr sz="2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870828" y="3587877"/>
            <a:ext cx="21088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95" dirty="0">
                <a:latin typeface="Arial"/>
                <a:cs typeface="Arial"/>
              </a:rPr>
              <a:t>Implementation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spc="-190" dirty="0">
                <a:latin typeface="Arial"/>
                <a:cs typeface="Arial"/>
              </a:rPr>
              <a:t>table</a:t>
            </a:r>
            <a:endParaRPr sz="2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251828" y="6179007"/>
            <a:ext cx="20650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60" dirty="0">
                <a:latin typeface="Arial"/>
                <a:cs typeface="Arial"/>
              </a:rPr>
              <a:t>Mux</a:t>
            </a:r>
            <a:r>
              <a:rPr sz="2000" b="1" spc="-130" dirty="0">
                <a:latin typeface="Arial"/>
                <a:cs typeface="Arial"/>
              </a:rPr>
              <a:t> </a:t>
            </a:r>
            <a:r>
              <a:rPr sz="2000" b="1" spc="-200" dirty="0">
                <a:latin typeface="Arial"/>
                <a:cs typeface="Arial"/>
              </a:rPr>
              <a:t>implementation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943600" y="4038600"/>
            <a:ext cx="2467355" cy="214274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8739" y="6635530"/>
            <a:ext cx="723900" cy="17462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1000" b="1" spc="45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1000" b="1" spc="50" dirty="0">
                <a:solidFill>
                  <a:srgbClr val="C00000"/>
                </a:solidFill>
                <a:latin typeface="Arial"/>
                <a:cs typeface="Arial"/>
              </a:rPr>
              <a:t>U</a:t>
            </a:r>
            <a:r>
              <a:rPr sz="1000" b="1" spc="-5" dirty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1000" b="1" spc="-60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1000" b="1" spc="-10" dirty="0">
                <a:solidFill>
                  <a:srgbClr val="C00000"/>
                </a:solidFill>
                <a:latin typeface="Arial"/>
                <a:cs typeface="Arial"/>
              </a:rPr>
              <a:t>-</a:t>
            </a:r>
            <a:r>
              <a:rPr sz="1000" b="1" spc="100" dirty="0">
                <a:solidFill>
                  <a:srgbClr val="C00000"/>
                </a:solidFill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168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2939795" y="202679"/>
              <a:ext cx="3259835" cy="9342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214242" y="321386"/>
            <a:ext cx="271462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70" dirty="0">
                <a:latin typeface="Trebuchet MS"/>
                <a:cs typeface="Trebuchet MS"/>
              </a:rPr>
              <a:t>MULTIPLEXERS</a:t>
            </a:r>
            <a:endParaRPr sz="320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57200" y="1600200"/>
            <a:ext cx="8691880" cy="5257800"/>
            <a:chOff x="457200" y="1600200"/>
            <a:chExt cx="8691880" cy="5257800"/>
          </a:xfrm>
        </p:grpSpPr>
        <p:sp>
          <p:nvSpPr>
            <p:cNvPr id="8" name="object 8"/>
            <p:cNvSpPr/>
            <p:nvPr/>
          </p:nvSpPr>
          <p:spPr>
            <a:xfrm>
              <a:off x="8593835" y="6620254"/>
              <a:ext cx="550164" cy="23774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630411" y="6556242"/>
              <a:ext cx="513588" cy="3017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641080" y="6644640"/>
              <a:ext cx="502920" cy="1828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7200" y="1600200"/>
              <a:ext cx="8161020" cy="251460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905000" y="4267200"/>
              <a:ext cx="5012436" cy="1824227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429000" y="6096000"/>
              <a:ext cx="2439924" cy="338328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441194" y="1148841"/>
            <a:ext cx="47275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95" dirty="0">
                <a:solidFill>
                  <a:srgbClr val="C00000"/>
                </a:solidFill>
                <a:latin typeface="Arial"/>
                <a:cs typeface="Arial"/>
              </a:rPr>
              <a:t>Implementation </a:t>
            </a:r>
            <a:r>
              <a:rPr sz="2000" b="1" spc="-155" dirty="0">
                <a:solidFill>
                  <a:srgbClr val="C00000"/>
                </a:solidFill>
                <a:latin typeface="Arial"/>
                <a:cs typeface="Arial"/>
              </a:rPr>
              <a:t>of </a:t>
            </a:r>
            <a:r>
              <a:rPr sz="2000" b="1" spc="-229" dirty="0">
                <a:solidFill>
                  <a:srgbClr val="C00000"/>
                </a:solidFill>
                <a:latin typeface="Arial"/>
                <a:cs typeface="Arial"/>
              </a:rPr>
              <a:t>boolean </a:t>
            </a:r>
            <a:r>
              <a:rPr sz="2000" b="1" spc="-195" dirty="0">
                <a:solidFill>
                  <a:srgbClr val="C00000"/>
                </a:solidFill>
                <a:latin typeface="Arial"/>
                <a:cs typeface="Arial"/>
              </a:rPr>
              <a:t>function </a:t>
            </a:r>
            <a:r>
              <a:rPr sz="2000" b="1" spc="-290" dirty="0">
                <a:solidFill>
                  <a:srgbClr val="C00000"/>
                </a:solidFill>
                <a:latin typeface="Arial"/>
                <a:cs typeface="Arial"/>
              </a:rPr>
              <a:t>using</a:t>
            </a:r>
            <a:r>
              <a:rPr sz="2000" b="1" spc="-28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30" dirty="0">
                <a:solidFill>
                  <a:srgbClr val="C00000"/>
                </a:solidFill>
                <a:latin typeface="Arial"/>
                <a:cs typeface="Arial"/>
              </a:rPr>
              <a:t>MUX</a:t>
            </a:r>
            <a:endParaRPr sz="2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8739" y="6635530"/>
            <a:ext cx="723900" cy="17462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1000" b="1" spc="45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1000" b="1" spc="50" dirty="0">
                <a:solidFill>
                  <a:srgbClr val="C00000"/>
                </a:solidFill>
                <a:latin typeface="Arial"/>
                <a:cs typeface="Arial"/>
              </a:rPr>
              <a:t>U</a:t>
            </a:r>
            <a:r>
              <a:rPr sz="1000" b="1" spc="-5" dirty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1000" b="1" spc="-60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1000" b="1" spc="-10" dirty="0">
                <a:solidFill>
                  <a:srgbClr val="C00000"/>
                </a:solidFill>
                <a:latin typeface="Arial"/>
                <a:cs typeface="Arial"/>
              </a:rPr>
              <a:t>-</a:t>
            </a:r>
            <a:r>
              <a:rPr sz="1000" b="1" spc="100" dirty="0">
                <a:solidFill>
                  <a:srgbClr val="C00000"/>
                </a:solidFill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169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793241" y="982217"/>
              <a:ext cx="7589519" cy="762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6764"/>
              <a:ext cx="9143999" cy="668274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53439" y="320001"/>
              <a:ext cx="7434072" cy="57611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939795" y="202679"/>
              <a:ext cx="3259835" cy="93422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214242" y="321386"/>
            <a:ext cx="271462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70" dirty="0">
                <a:latin typeface="Trebuchet MS"/>
                <a:cs typeface="Trebuchet MS"/>
              </a:rPr>
              <a:t>MULTIPLEXERS</a:t>
            </a:r>
            <a:endParaRPr sz="320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819400" y="1676400"/>
            <a:ext cx="6329680" cy="5181600"/>
            <a:chOff x="2819400" y="1676400"/>
            <a:chExt cx="6329680" cy="5181600"/>
          </a:xfrm>
        </p:grpSpPr>
        <p:sp>
          <p:nvSpPr>
            <p:cNvPr id="13" name="object 13"/>
            <p:cNvSpPr/>
            <p:nvPr/>
          </p:nvSpPr>
          <p:spPr>
            <a:xfrm>
              <a:off x="8593835" y="6620254"/>
              <a:ext cx="550164" cy="23774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630411" y="6556243"/>
              <a:ext cx="513588" cy="30175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641079" y="6644639"/>
              <a:ext cx="502920" cy="18288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641079" y="6644639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819400" y="1676400"/>
              <a:ext cx="3505200" cy="4271771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124200" y="6096000"/>
              <a:ext cx="3009900" cy="306323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441194" y="1148841"/>
            <a:ext cx="47275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95" dirty="0">
                <a:solidFill>
                  <a:srgbClr val="C00000"/>
                </a:solidFill>
                <a:latin typeface="Arial"/>
                <a:cs typeface="Arial"/>
              </a:rPr>
              <a:t>Implementation </a:t>
            </a:r>
            <a:r>
              <a:rPr sz="2000" b="1" spc="-155" dirty="0">
                <a:solidFill>
                  <a:srgbClr val="C00000"/>
                </a:solidFill>
                <a:latin typeface="Arial"/>
                <a:cs typeface="Arial"/>
              </a:rPr>
              <a:t>of </a:t>
            </a:r>
            <a:r>
              <a:rPr sz="2000" b="1" spc="-229" dirty="0">
                <a:solidFill>
                  <a:srgbClr val="C00000"/>
                </a:solidFill>
                <a:latin typeface="Arial"/>
                <a:cs typeface="Arial"/>
              </a:rPr>
              <a:t>boolean </a:t>
            </a:r>
            <a:r>
              <a:rPr sz="2000" b="1" spc="-195" dirty="0">
                <a:solidFill>
                  <a:srgbClr val="C00000"/>
                </a:solidFill>
                <a:latin typeface="Arial"/>
                <a:cs typeface="Arial"/>
              </a:rPr>
              <a:t>function </a:t>
            </a:r>
            <a:r>
              <a:rPr sz="2000" b="1" spc="-290" dirty="0">
                <a:solidFill>
                  <a:srgbClr val="C00000"/>
                </a:solidFill>
                <a:latin typeface="Arial"/>
                <a:cs typeface="Arial"/>
              </a:rPr>
              <a:t>using</a:t>
            </a:r>
            <a:r>
              <a:rPr sz="2000" b="1" spc="-28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30" dirty="0">
                <a:solidFill>
                  <a:srgbClr val="C00000"/>
                </a:solidFill>
                <a:latin typeface="Arial"/>
                <a:cs typeface="Arial"/>
              </a:rPr>
              <a:t>MUX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8739" y="6635530"/>
            <a:ext cx="723900" cy="17462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1000" b="1" spc="45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1000" b="1" spc="50" dirty="0">
                <a:solidFill>
                  <a:srgbClr val="C00000"/>
                </a:solidFill>
                <a:latin typeface="Arial"/>
                <a:cs typeface="Arial"/>
              </a:rPr>
              <a:t>U</a:t>
            </a:r>
            <a:r>
              <a:rPr sz="1000" b="1" spc="-5" dirty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1000" b="1" spc="-60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1000" b="1" spc="-10" dirty="0">
                <a:solidFill>
                  <a:srgbClr val="C00000"/>
                </a:solidFill>
                <a:latin typeface="Arial"/>
                <a:cs typeface="Arial"/>
              </a:rPr>
              <a:t>-</a:t>
            </a:r>
            <a:r>
              <a:rPr sz="1000" b="1" spc="100" dirty="0">
                <a:solidFill>
                  <a:srgbClr val="C00000"/>
                </a:solidFill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170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9080" cy="6841490"/>
            <a:chOff x="0" y="16764"/>
            <a:chExt cx="9149080" cy="6841490"/>
          </a:xfrm>
        </p:grpSpPr>
        <p:sp>
          <p:nvSpPr>
            <p:cNvPr id="3" name="object 3"/>
            <p:cNvSpPr/>
            <p:nvPr/>
          </p:nvSpPr>
          <p:spPr>
            <a:xfrm>
              <a:off x="1493519" y="1455419"/>
              <a:ext cx="6983730" cy="409270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593835" y="6620254"/>
              <a:ext cx="550164" cy="23774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630411" y="6556243"/>
              <a:ext cx="513588" cy="30175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641080" y="6644640"/>
              <a:ext cx="502920" cy="18288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8739" y="6635530"/>
            <a:ext cx="723900" cy="17462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1000" b="1" spc="45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1000" b="1" spc="50" dirty="0">
                <a:solidFill>
                  <a:srgbClr val="C00000"/>
                </a:solidFill>
                <a:latin typeface="Arial"/>
                <a:cs typeface="Arial"/>
              </a:rPr>
              <a:t>U</a:t>
            </a:r>
            <a:r>
              <a:rPr sz="1000" b="1" spc="-5" dirty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1000" b="1" spc="-60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1000" b="1" spc="-10" dirty="0">
                <a:solidFill>
                  <a:srgbClr val="C00000"/>
                </a:solidFill>
                <a:latin typeface="Arial"/>
                <a:cs typeface="Arial"/>
              </a:rPr>
              <a:t>-</a:t>
            </a:r>
            <a:r>
              <a:rPr sz="1000" b="1" spc="100" dirty="0">
                <a:solidFill>
                  <a:srgbClr val="C00000"/>
                </a:solidFill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171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2697479" y="202679"/>
              <a:ext cx="3742944" cy="9342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971926" y="321386"/>
            <a:ext cx="319976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5" dirty="0"/>
              <a:t>DEMULTIPLEXERS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58140" y="1214373"/>
            <a:ext cx="8439785" cy="30130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2284" marR="40005" indent="-464820" algn="just">
              <a:lnSpc>
                <a:spcPct val="100000"/>
              </a:lnSpc>
              <a:spcBef>
                <a:spcPts val="95"/>
              </a:spcBef>
              <a:buClr>
                <a:srgbClr val="E36C09"/>
              </a:buClr>
              <a:buFont typeface="Wingdings"/>
              <a:buChar char=""/>
              <a:tabLst>
                <a:tab pos="502920" algn="l"/>
              </a:tabLst>
            </a:pPr>
            <a:r>
              <a:rPr sz="2800" spc="-160" dirty="0">
                <a:solidFill>
                  <a:srgbClr val="006FC0"/>
                </a:solidFill>
                <a:latin typeface="Arial"/>
                <a:cs typeface="Arial"/>
              </a:rPr>
              <a:t>Demultiplexer </a:t>
            </a:r>
            <a:r>
              <a:rPr sz="2800" spc="-340" dirty="0">
                <a:solidFill>
                  <a:srgbClr val="006FC0"/>
                </a:solidFill>
                <a:latin typeface="Arial"/>
                <a:cs typeface="Arial"/>
              </a:rPr>
              <a:t>means </a:t>
            </a:r>
            <a:r>
              <a:rPr sz="2800" spc="-240" dirty="0">
                <a:solidFill>
                  <a:srgbClr val="006FC0"/>
                </a:solidFill>
                <a:latin typeface="Arial"/>
                <a:cs typeface="Arial"/>
              </a:rPr>
              <a:t>one</a:t>
            </a:r>
            <a:r>
              <a:rPr sz="2800" spc="29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80" dirty="0">
                <a:solidFill>
                  <a:srgbClr val="006FC0"/>
                </a:solidFill>
                <a:latin typeface="Arial"/>
                <a:cs typeface="Arial"/>
              </a:rPr>
              <a:t>into </a:t>
            </a: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many.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Demultiplexing </a:t>
            </a:r>
            <a:r>
              <a:rPr sz="2800" spc="-260" dirty="0">
                <a:solidFill>
                  <a:srgbClr val="006FC0"/>
                </a:solidFill>
                <a:latin typeface="Arial"/>
                <a:cs typeface="Arial"/>
              </a:rPr>
              <a:t>is 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280" dirty="0">
                <a:solidFill>
                  <a:srgbClr val="006FC0"/>
                </a:solidFill>
                <a:latin typeface="Arial"/>
                <a:cs typeface="Arial"/>
              </a:rPr>
              <a:t>process 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185" dirty="0">
                <a:solidFill>
                  <a:srgbClr val="006FC0"/>
                </a:solidFill>
                <a:latin typeface="Arial"/>
                <a:cs typeface="Arial"/>
              </a:rPr>
              <a:t>taking </a:t>
            </a:r>
            <a:r>
              <a:rPr sz="2800" spc="-125" dirty="0">
                <a:solidFill>
                  <a:srgbClr val="006FC0"/>
                </a:solidFill>
                <a:latin typeface="Arial"/>
                <a:cs typeface="Arial"/>
              </a:rPr>
              <a:t>information </a:t>
            </a:r>
            <a:r>
              <a:rPr sz="2800" spc="-100" dirty="0">
                <a:solidFill>
                  <a:srgbClr val="006FC0"/>
                </a:solidFill>
                <a:latin typeface="Arial"/>
                <a:cs typeface="Arial"/>
              </a:rPr>
              <a:t>from </a:t>
            </a:r>
            <a:r>
              <a:rPr sz="2800" spc="-240" dirty="0">
                <a:solidFill>
                  <a:srgbClr val="006FC0"/>
                </a:solidFill>
                <a:latin typeface="Arial"/>
                <a:cs typeface="Arial"/>
              </a:rPr>
              <a:t>one</a:t>
            </a:r>
            <a:r>
              <a:rPr sz="2800" spc="29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input </a:t>
            </a:r>
            <a:r>
              <a:rPr sz="2800" spc="-260" dirty="0">
                <a:solidFill>
                  <a:srgbClr val="006FC0"/>
                </a:solidFill>
                <a:latin typeface="Arial"/>
                <a:cs typeface="Arial"/>
              </a:rPr>
              <a:t>and  </a:t>
            </a:r>
            <a:r>
              <a:rPr sz="2800" spc="-145" dirty="0">
                <a:solidFill>
                  <a:srgbClr val="006FC0"/>
                </a:solidFill>
                <a:latin typeface="Arial"/>
                <a:cs typeface="Arial"/>
              </a:rPr>
              <a:t>transmitting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375" dirty="0">
                <a:solidFill>
                  <a:srgbClr val="006FC0"/>
                </a:solidFill>
                <a:latin typeface="Arial"/>
                <a:cs typeface="Arial"/>
              </a:rPr>
              <a:t>same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over </a:t>
            </a:r>
            <a:r>
              <a:rPr sz="2800" spc="-235" dirty="0">
                <a:solidFill>
                  <a:srgbClr val="006FC0"/>
                </a:solidFill>
                <a:latin typeface="Arial"/>
                <a:cs typeface="Arial"/>
              </a:rPr>
              <a:t>one 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260" dirty="0">
                <a:solidFill>
                  <a:srgbClr val="006FC0"/>
                </a:solidFill>
                <a:latin typeface="Arial"/>
                <a:cs typeface="Arial"/>
              </a:rPr>
              <a:t>several</a:t>
            </a:r>
            <a:r>
              <a:rPr sz="2800" spc="15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160" dirty="0">
                <a:solidFill>
                  <a:srgbClr val="006FC0"/>
                </a:solidFill>
                <a:latin typeface="Arial"/>
                <a:cs typeface="Arial"/>
              </a:rPr>
              <a:t>outputs.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E36C09"/>
              </a:buClr>
              <a:buFont typeface="Wingdings"/>
              <a:buChar char=""/>
            </a:pPr>
            <a:endParaRPr sz="2900">
              <a:latin typeface="Arial"/>
              <a:cs typeface="Arial"/>
            </a:endParaRPr>
          </a:p>
          <a:p>
            <a:pPr marL="502284" marR="43180" indent="-464820" algn="just">
              <a:lnSpc>
                <a:spcPct val="100000"/>
              </a:lnSpc>
              <a:spcBef>
                <a:spcPts val="5"/>
              </a:spcBef>
              <a:buClr>
                <a:srgbClr val="E36C09"/>
              </a:buClr>
              <a:buFont typeface="Wingdings"/>
              <a:buChar char=""/>
              <a:tabLst>
                <a:tab pos="502920" algn="l"/>
              </a:tabLst>
            </a:pPr>
            <a:r>
              <a:rPr sz="2800" spc="135" dirty="0">
                <a:solidFill>
                  <a:srgbClr val="006FC0"/>
                </a:solidFill>
                <a:latin typeface="Arial"/>
                <a:cs typeface="Arial"/>
              </a:rPr>
              <a:t>A </a:t>
            </a:r>
            <a:r>
              <a:rPr sz="2800" spc="-155" dirty="0">
                <a:solidFill>
                  <a:srgbClr val="006FC0"/>
                </a:solidFill>
                <a:latin typeface="Arial"/>
                <a:cs typeface="Arial"/>
              </a:rPr>
              <a:t>demultiplexer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800" spc="-395" dirty="0">
                <a:solidFill>
                  <a:srgbClr val="006FC0"/>
                </a:solidFill>
                <a:latin typeface="Arial"/>
                <a:cs typeface="Arial"/>
              </a:rPr>
              <a:t>a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combinational </a:t>
            </a:r>
            <a:r>
              <a:rPr sz="2800" spc="-160" dirty="0">
                <a:solidFill>
                  <a:srgbClr val="006FC0"/>
                </a:solidFill>
                <a:latin typeface="Arial"/>
                <a:cs typeface="Arial"/>
              </a:rPr>
              <a:t>logic </a:t>
            </a:r>
            <a:r>
              <a:rPr sz="2800" spc="-95" dirty="0">
                <a:solidFill>
                  <a:srgbClr val="006FC0"/>
                </a:solidFill>
                <a:latin typeface="Arial"/>
                <a:cs typeface="Arial"/>
              </a:rPr>
              <a:t>circuit </a:t>
            </a:r>
            <a:r>
              <a:rPr sz="2800" spc="-130" dirty="0">
                <a:solidFill>
                  <a:srgbClr val="006FC0"/>
                </a:solidFill>
                <a:latin typeface="Arial"/>
                <a:cs typeface="Arial"/>
              </a:rPr>
              <a:t>that  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receives </a:t>
            </a:r>
            <a:r>
              <a:rPr sz="2800" spc="-120" dirty="0">
                <a:solidFill>
                  <a:srgbClr val="006FC0"/>
                </a:solidFill>
                <a:latin typeface="Arial"/>
                <a:cs typeface="Arial"/>
              </a:rPr>
              <a:t>information </a:t>
            </a:r>
            <a:r>
              <a:rPr sz="2800" spc="-185" dirty="0">
                <a:solidFill>
                  <a:srgbClr val="006FC0"/>
                </a:solidFill>
                <a:latin typeface="Arial"/>
                <a:cs typeface="Arial"/>
              </a:rPr>
              <a:t>on </a:t>
            </a:r>
            <a:r>
              <a:rPr sz="2800" spc="-395" dirty="0">
                <a:solidFill>
                  <a:srgbClr val="006FC0"/>
                </a:solidFill>
                <a:latin typeface="Arial"/>
                <a:cs typeface="Arial"/>
              </a:rPr>
              <a:t>a  </a:t>
            </a:r>
            <a:r>
              <a:rPr sz="2800" spc="-245" dirty="0">
                <a:solidFill>
                  <a:srgbClr val="006FC0"/>
                </a:solidFill>
                <a:latin typeface="Arial"/>
                <a:cs typeface="Arial"/>
              </a:rPr>
              <a:t>single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input </a:t>
            </a:r>
            <a:r>
              <a:rPr sz="2800" spc="-260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spc="-200" dirty="0">
                <a:solidFill>
                  <a:srgbClr val="006FC0"/>
                </a:solidFill>
                <a:latin typeface="Arial"/>
                <a:cs typeface="Arial"/>
              </a:rPr>
              <a:t>transmits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 </a:t>
            </a:r>
            <a:r>
              <a:rPr sz="2800" spc="-375" dirty="0">
                <a:solidFill>
                  <a:srgbClr val="006FC0"/>
                </a:solidFill>
                <a:latin typeface="Arial"/>
                <a:cs typeface="Arial"/>
              </a:rPr>
              <a:t>same </a:t>
            </a:r>
            <a:r>
              <a:rPr sz="2800" spc="-120" dirty="0">
                <a:solidFill>
                  <a:srgbClr val="006FC0"/>
                </a:solidFill>
                <a:latin typeface="Arial"/>
                <a:cs typeface="Arial"/>
              </a:rPr>
              <a:t>information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over </a:t>
            </a:r>
            <a:r>
              <a:rPr sz="2800" spc="-235" dirty="0">
                <a:solidFill>
                  <a:srgbClr val="006FC0"/>
                </a:solidFill>
                <a:latin typeface="Arial"/>
                <a:cs typeface="Arial"/>
              </a:rPr>
              <a:t>one 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260" dirty="0">
                <a:solidFill>
                  <a:srgbClr val="006FC0"/>
                </a:solidFill>
                <a:latin typeface="Arial"/>
                <a:cs typeface="Arial"/>
              </a:rPr>
              <a:t>several 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(2</a:t>
            </a:r>
            <a:r>
              <a:rPr sz="2775" spc="-382" baseline="25525" dirty="0">
                <a:solidFill>
                  <a:srgbClr val="006FC0"/>
                </a:solidFill>
                <a:latin typeface="Arial"/>
                <a:cs typeface="Arial"/>
              </a:rPr>
              <a:t>n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)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output</a:t>
            </a:r>
            <a:r>
              <a:rPr sz="2800" spc="-2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210" dirty="0">
                <a:solidFill>
                  <a:srgbClr val="006FC0"/>
                </a:solidFill>
                <a:latin typeface="Arial"/>
                <a:cs typeface="Arial"/>
              </a:rPr>
              <a:t>lines.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064764" y="4267200"/>
            <a:ext cx="6084570" cy="2590800"/>
            <a:chOff x="3064764" y="4267200"/>
            <a:chExt cx="6084570" cy="2590800"/>
          </a:xfrm>
        </p:grpSpPr>
        <p:sp>
          <p:nvSpPr>
            <p:cNvPr id="9" name="object 9"/>
            <p:cNvSpPr/>
            <p:nvPr/>
          </p:nvSpPr>
          <p:spPr>
            <a:xfrm>
              <a:off x="8593835" y="6620254"/>
              <a:ext cx="550164" cy="23774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630411" y="6556242"/>
              <a:ext cx="513588" cy="3017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41079" y="6644639"/>
              <a:ext cx="502920" cy="1828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641079" y="6644639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064764" y="4267200"/>
              <a:ext cx="3183636" cy="229971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8739" y="6635530"/>
            <a:ext cx="723900" cy="17462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1000" b="1" spc="45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1000" b="1" spc="50" dirty="0">
                <a:solidFill>
                  <a:srgbClr val="C00000"/>
                </a:solidFill>
                <a:latin typeface="Arial"/>
                <a:cs typeface="Arial"/>
              </a:rPr>
              <a:t>U</a:t>
            </a:r>
            <a:r>
              <a:rPr sz="1000" b="1" spc="-5" dirty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1000" b="1" spc="-60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1000" b="1" spc="-10" dirty="0">
                <a:solidFill>
                  <a:srgbClr val="C00000"/>
                </a:solidFill>
                <a:latin typeface="Arial"/>
                <a:cs typeface="Arial"/>
              </a:rPr>
              <a:t>-</a:t>
            </a:r>
            <a:r>
              <a:rPr sz="1000" b="1" spc="100" dirty="0">
                <a:solidFill>
                  <a:srgbClr val="C00000"/>
                </a:solidFill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172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2697479" y="202679"/>
              <a:ext cx="3742944" cy="9342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971926" y="321386"/>
            <a:ext cx="319976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5" dirty="0"/>
              <a:t>DEMULTIPLEXERS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32740" y="1614042"/>
            <a:ext cx="8481060" cy="42964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27685" marR="55880" indent="-464820" algn="just">
              <a:lnSpc>
                <a:spcPct val="100000"/>
              </a:lnSpc>
              <a:spcBef>
                <a:spcPts val="95"/>
              </a:spcBef>
              <a:buClr>
                <a:srgbClr val="E36C09"/>
              </a:buClr>
              <a:buFont typeface="Wingdings"/>
              <a:buChar char=""/>
              <a:tabLst>
                <a:tab pos="528320" algn="l"/>
              </a:tabLst>
            </a:pP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block  </a:t>
            </a:r>
            <a:r>
              <a:rPr sz="2800" spc="-220" dirty="0">
                <a:solidFill>
                  <a:srgbClr val="006FC0"/>
                </a:solidFill>
                <a:latin typeface="Arial"/>
                <a:cs typeface="Arial"/>
              </a:rPr>
              <a:t>diagram 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395" dirty="0">
                <a:solidFill>
                  <a:srgbClr val="006FC0"/>
                </a:solidFill>
                <a:latin typeface="Arial"/>
                <a:cs typeface="Arial"/>
              </a:rPr>
              <a:t>a </a:t>
            </a:r>
            <a:r>
              <a:rPr sz="2800" spc="-155" dirty="0">
                <a:solidFill>
                  <a:srgbClr val="006FC0"/>
                </a:solidFill>
                <a:latin typeface="Arial"/>
                <a:cs typeface="Arial"/>
              </a:rPr>
              <a:t>demultiplexer </a:t>
            </a:r>
            <a:r>
              <a:rPr sz="2800" spc="-375" dirty="0">
                <a:solidFill>
                  <a:srgbClr val="006FC0"/>
                </a:solidFill>
                <a:latin typeface="Arial"/>
                <a:cs typeface="Arial"/>
              </a:rPr>
              <a:t>has </a:t>
            </a:r>
            <a:r>
              <a:rPr sz="2800" spc="-240" dirty="0">
                <a:solidFill>
                  <a:srgbClr val="006FC0"/>
                </a:solidFill>
                <a:latin typeface="Arial"/>
                <a:cs typeface="Arial"/>
              </a:rPr>
              <a:t>one</a:t>
            </a:r>
            <a:r>
              <a:rPr sz="2800" spc="29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input  </a:t>
            </a:r>
            <a:r>
              <a:rPr sz="2800" spc="-235" dirty="0">
                <a:solidFill>
                  <a:srgbClr val="006FC0"/>
                </a:solidFill>
                <a:latin typeface="Arial"/>
                <a:cs typeface="Arial"/>
              </a:rPr>
              <a:t>signal, </a:t>
            </a:r>
            <a:r>
              <a:rPr sz="2800" spc="40" dirty="0">
                <a:solidFill>
                  <a:srgbClr val="006FC0"/>
                </a:solidFill>
                <a:latin typeface="Arial"/>
                <a:cs typeface="Arial"/>
              </a:rPr>
              <a:t>‘n’ </a:t>
            </a:r>
            <a:r>
              <a:rPr sz="2800" spc="-235" dirty="0">
                <a:solidFill>
                  <a:srgbClr val="006FC0"/>
                </a:solidFill>
                <a:latin typeface="Arial"/>
                <a:cs typeface="Arial"/>
              </a:rPr>
              <a:t>select </a:t>
            </a:r>
            <a:r>
              <a:rPr sz="2800" spc="-285" dirty="0">
                <a:solidFill>
                  <a:srgbClr val="006FC0"/>
                </a:solidFill>
                <a:latin typeface="Arial"/>
                <a:cs typeface="Arial"/>
              </a:rPr>
              <a:t>signals 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2</a:t>
            </a:r>
            <a:r>
              <a:rPr sz="2775" spc="-397" baseline="25525" dirty="0">
                <a:solidFill>
                  <a:srgbClr val="006FC0"/>
                </a:solidFill>
                <a:latin typeface="Arial"/>
                <a:cs typeface="Arial"/>
              </a:rPr>
              <a:t>n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output</a:t>
            </a:r>
            <a:r>
              <a:rPr sz="2800" spc="42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270" dirty="0">
                <a:solidFill>
                  <a:srgbClr val="006FC0"/>
                </a:solidFill>
                <a:latin typeface="Arial"/>
                <a:cs typeface="Arial"/>
              </a:rPr>
              <a:t>signals.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E36C09"/>
              </a:buClr>
              <a:buFont typeface="Wingdings"/>
              <a:buChar char=""/>
            </a:pPr>
            <a:endParaRPr sz="2900">
              <a:latin typeface="Arial"/>
              <a:cs typeface="Arial"/>
            </a:endParaRPr>
          </a:p>
          <a:p>
            <a:pPr marL="527685" marR="59055" indent="-464820" algn="just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528320" algn="l"/>
              </a:tabLst>
            </a:pP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235" dirty="0">
                <a:solidFill>
                  <a:srgbClr val="006FC0"/>
                </a:solidFill>
                <a:latin typeface="Arial"/>
                <a:cs typeface="Arial"/>
              </a:rPr>
              <a:t>select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inputs </a:t>
            </a:r>
            <a:r>
              <a:rPr sz="2800" spc="-180" dirty="0">
                <a:solidFill>
                  <a:srgbClr val="006FC0"/>
                </a:solidFill>
                <a:latin typeface="Arial"/>
                <a:cs typeface="Arial"/>
              </a:rPr>
              <a:t>determine </a:t>
            </a:r>
            <a:r>
              <a:rPr sz="2800" spc="-55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800" spc="-190" dirty="0">
                <a:solidFill>
                  <a:srgbClr val="006FC0"/>
                </a:solidFill>
                <a:latin typeface="Arial"/>
                <a:cs typeface="Arial"/>
              </a:rPr>
              <a:t>which </a:t>
            </a:r>
            <a:r>
              <a:rPr sz="2800" spc="-100" dirty="0">
                <a:solidFill>
                  <a:srgbClr val="006FC0"/>
                </a:solidFill>
                <a:latin typeface="Arial"/>
                <a:cs typeface="Arial"/>
              </a:rPr>
              <a:t>output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data 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input 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will </a:t>
            </a:r>
            <a:r>
              <a:rPr sz="2800" spc="-280" dirty="0">
                <a:solidFill>
                  <a:srgbClr val="006FC0"/>
                </a:solidFill>
                <a:latin typeface="Arial"/>
                <a:cs typeface="Arial"/>
              </a:rPr>
              <a:t>be</a:t>
            </a:r>
            <a:r>
              <a:rPr sz="2800" spc="13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200" dirty="0">
                <a:solidFill>
                  <a:srgbClr val="006FC0"/>
                </a:solidFill>
                <a:latin typeface="Arial"/>
                <a:cs typeface="Arial"/>
              </a:rPr>
              <a:t>connected.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E36C09"/>
              </a:buClr>
              <a:buFont typeface="Wingdings"/>
              <a:buChar char=""/>
            </a:pPr>
            <a:endParaRPr sz="3000">
              <a:latin typeface="Arial"/>
              <a:cs typeface="Arial"/>
            </a:endParaRPr>
          </a:p>
          <a:p>
            <a:pPr marL="527685" marR="57150" indent="-464820" algn="just">
              <a:lnSpc>
                <a:spcPct val="96900"/>
              </a:lnSpc>
              <a:buClr>
                <a:srgbClr val="E36C09"/>
              </a:buClr>
              <a:buFont typeface="Wingdings"/>
              <a:buChar char=""/>
              <a:tabLst>
                <a:tab pos="528320" algn="l"/>
              </a:tabLst>
            </a:pPr>
            <a:r>
              <a:rPr sz="2800" spc="-190" dirty="0">
                <a:solidFill>
                  <a:srgbClr val="006FC0"/>
                </a:solidFill>
                <a:latin typeface="Arial"/>
                <a:cs typeface="Arial"/>
              </a:rPr>
              <a:t>As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215" dirty="0">
                <a:solidFill>
                  <a:srgbClr val="006FC0"/>
                </a:solidFill>
                <a:latin typeface="Arial"/>
                <a:cs typeface="Arial"/>
              </a:rPr>
              <a:t>serial </a:t>
            </a:r>
            <a:r>
              <a:rPr sz="2800" spc="-220" dirty="0">
                <a:solidFill>
                  <a:srgbClr val="006FC0"/>
                </a:solidFill>
                <a:latin typeface="Arial"/>
                <a:cs typeface="Arial"/>
              </a:rPr>
              <a:t>data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800" spc="-270" dirty="0">
                <a:solidFill>
                  <a:srgbClr val="006FC0"/>
                </a:solidFill>
                <a:latin typeface="Arial"/>
                <a:cs typeface="Arial"/>
              </a:rPr>
              <a:t>changed </a:t>
            </a:r>
            <a:r>
              <a:rPr sz="2800" spc="-55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parallel </a:t>
            </a:r>
            <a:r>
              <a:rPr sz="2800" spc="-210" dirty="0">
                <a:solidFill>
                  <a:srgbClr val="006FC0"/>
                </a:solidFill>
                <a:latin typeface="Arial"/>
                <a:cs typeface="Arial"/>
              </a:rPr>
              <a:t>data,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i.e.,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input </a:t>
            </a:r>
            <a:r>
              <a:rPr sz="2800" spc="-315" dirty="0">
                <a:solidFill>
                  <a:srgbClr val="006FC0"/>
                </a:solidFill>
                <a:latin typeface="Arial"/>
                <a:cs typeface="Arial"/>
              </a:rPr>
              <a:t>caused </a:t>
            </a:r>
            <a:r>
              <a:rPr sz="2800" spc="-60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800" spc="-245" dirty="0">
                <a:solidFill>
                  <a:srgbClr val="006FC0"/>
                </a:solidFill>
                <a:latin typeface="Arial"/>
                <a:cs typeface="Arial"/>
              </a:rPr>
              <a:t>appear </a:t>
            </a:r>
            <a:r>
              <a:rPr sz="2800" spc="-190" dirty="0">
                <a:solidFill>
                  <a:srgbClr val="006FC0"/>
                </a:solidFill>
                <a:latin typeface="Arial"/>
                <a:cs typeface="Arial"/>
              </a:rPr>
              <a:t>on </a:t>
            </a:r>
            <a:r>
              <a:rPr sz="2800" spc="-235" dirty="0">
                <a:solidFill>
                  <a:srgbClr val="006FC0"/>
                </a:solidFill>
                <a:latin typeface="Arial"/>
                <a:cs typeface="Arial"/>
              </a:rPr>
              <a:t>one </a:t>
            </a:r>
            <a:r>
              <a:rPr sz="2800" spc="-80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210" dirty="0">
                <a:solidFill>
                  <a:srgbClr val="006FC0"/>
                </a:solidFill>
                <a:latin typeface="Arial"/>
                <a:cs typeface="Arial"/>
              </a:rPr>
              <a:t>n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output </a:t>
            </a:r>
            <a:r>
              <a:rPr sz="2800" spc="-215" dirty="0">
                <a:solidFill>
                  <a:srgbClr val="006FC0"/>
                </a:solidFill>
                <a:latin typeface="Arial"/>
                <a:cs typeface="Arial"/>
              </a:rPr>
              <a:t>lines,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the  </a:t>
            </a:r>
            <a:r>
              <a:rPr sz="2800" spc="-155" dirty="0">
                <a:solidFill>
                  <a:srgbClr val="006FC0"/>
                </a:solidFill>
                <a:latin typeface="Arial"/>
                <a:cs typeface="Arial"/>
              </a:rPr>
              <a:t>demultiplexer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800" spc="-275" dirty="0">
                <a:solidFill>
                  <a:srgbClr val="006FC0"/>
                </a:solidFill>
                <a:latin typeface="Arial"/>
                <a:cs typeface="Arial"/>
              </a:rPr>
              <a:t>also </a:t>
            </a:r>
            <a:r>
              <a:rPr sz="2800" spc="-195" dirty="0">
                <a:solidFill>
                  <a:srgbClr val="006FC0"/>
                </a:solidFill>
                <a:latin typeface="Arial"/>
                <a:cs typeface="Arial"/>
              </a:rPr>
              <a:t>called </a:t>
            </a:r>
            <a:r>
              <a:rPr sz="2800" spc="-395" dirty="0">
                <a:solidFill>
                  <a:srgbClr val="006FC0"/>
                </a:solidFill>
                <a:latin typeface="Arial"/>
                <a:cs typeface="Arial"/>
              </a:rPr>
              <a:t>a </a:t>
            </a:r>
            <a:r>
              <a:rPr sz="2800" spc="-220" dirty="0">
                <a:solidFill>
                  <a:srgbClr val="006FC0"/>
                </a:solidFill>
                <a:latin typeface="Arial"/>
                <a:cs typeface="Arial"/>
              </a:rPr>
              <a:t>“</a:t>
            </a:r>
            <a:r>
              <a:rPr sz="2950" b="1" i="1" spc="-220" dirty="0">
                <a:solidFill>
                  <a:srgbClr val="006FC0"/>
                </a:solidFill>
                <a:latin typeface="Arial"/>
                <a:cs typeface="Arial"/>
              </a:rPr>
              <a:t>data </a:t>
            </a:r>
            <a:r>
              <a:rPr sz="2950" b="1" i="1" spc="-270" dirty="0">
                <a:solidFill>
                  <a:srgbClr val="006FC0"/>
                </a:solidFill>
                <a:latin typeface="Arial"/>
                <a:cs typeface="Arial"/>
              </a:rPr>
              <a:t>distributer</a:t>
            </a:r>
            <a:r>
              <a:rPr sz="2800" spc="-270" dirty="0">
                <a:solidFill>
                  <a:srgbClr val="006FC0"/>
                </a:solidFill>
                <a:latin typeface="Arial"/>
                <a:cs typeface="Arial"/>
              </a:rPr>
              <a:t>” </a:t>
            </a:r>
            <a:r>
              <a:rPr sz="2800" spc="-80" dirty="0">
                <a:solidFill>
                  <a:srgbClr val="006FC0"/>
                </a:solidFill>
                <a:latin typeface="Arial"/>
                <a:cs typeface="Arial"/>
              </a:rPr>
              <a:t>or </a:t>
            </a:r>
            <a:r>
              <a:rPr sz="2800" spc="-395" dirty="0">
                <a:solidFill>
                  <a:srgbClr val="006FC0"/>
                </a:solidFill>
                <a:latin typeface="Arial"/>
                <a:cs typeface="Arial"/>
              </a:rPr>
              <a:t>a  </a:t>
            </a:r>
            <a:r>
              <a:rPr sz="2800" spc="-290" dirty="0">
                <a:solidFill>
                  <a:srgbClr val="006FC0"/>
                </a:solidFill>
                <a:latin typeface="Arial"/>
                <a:cs typeface="Arial"/>
              </a:rPr>
              <a:t>“</a:t>
            </a:r>
            <a:r>
              <a:rPr sz="2950" b="1" i="1" spc="-290" dirty="0">
                <a:solidFill>
                  <a:srgbClr val="006FC0"/>
                </a:solidFill>
                <a:latin typeface="Arial"/>
                <a:cs typeface="Arial"/>
              </a:rPr>
              <a:t>serial-to-parallel</a:t>
            </a:r>
            <a:r>
              <a:rPr sz="2950" b="1" i="1" spc="-6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950" b="1" i="1" spc="-270" dirty="0">
                <a:solidFill>
                  <a:srgbClr val="006FC0"/>
                </a:solidFill>
                <a:latin typeface="Arial"/>
                <a:cs typeface="Arial"/>
              </a:rPr>
              <a:t>converter</a:t>
            </a:r>
            <a:r>
              <a:rPr sz="2800" spc="-270" dirty="0">
                <a:solidFill>
                  <a:srgbClr val="006FC0"/>
                </a:solidFill>
                <a:latin typeface="Arial"/>
                <a:cs typeface="Arial"/>
              </a:rPr>
              <a:t>”.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sp>
          <p:nvSpPr>
            <p:cNvPr id="9" name="object 9"/>
            <p:cNvSpPr/>
            <p:nvPr/>
          </p:nvSpPr>
          <p:spPr>
            <a:xfrm>
              <a:off x="8593835" y="6620255"/>
              <a:ext cx="550164" cy="23774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630411" y="6556243"/>
              <a:ext cx="513588" cy="3017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8739" y="6635530"/>
            <a:ext cx="723900" cy="17462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1000" b="1" spc="45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1000" b="1" spc="50" dirty="0">
                <a:solidFill>
                  <a:srgbClr val="C00000"/>
                </a:solidFill>
                <a:latin typeface="Arial"/>
                <a:cs typeface="Arial"/>
              </a:rPr>
              <a:t>U</a:t>
            </a:r>
            <a:r>
              <a:rPr sz="1000" b="1" spc="-5" dirty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1000" b="1" spc="-60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1000" b="1" spc="-10" dirty="0">
                <a:solidFill>
                  <a:srgbClr val="C00000"/>
                </a:solidFill>
                <a:latin typeface="Arial"/>
                <a:cs typeface="Arial"/>
              </a:rPr>
              <a:t>-</a:t>
            </a:r>
            <a:r>
              <a:rPr sz="1000" b="1" spc="100" dirty="0">
                <a:solidFill>
                  <a:srgbClr val="C00000"/>
                </a:solidFill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173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2697479" y="202679"/>
              <a:ext cx="3742944" cy="9342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971926" y="321386"/>
            <a:ext cx="319976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5" dirty="0"/>
              <a:t>DEMULTIPLEXERS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416421" y="1366773"/>
            <a:ext cx="23685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1062990" algn="l"/>
                <a:tab pos="1760855" algn="l"/>
              </a:tabLst>
            </a:pPr>
            <a:r>
              <a:rPr sz="2800" spc="-120" dirty="0">
                <a:solidFill>
                  <a:srgbClr val="006FC0"/>
                </a:solidFill>
                <a:latin typeface="Arial"/>
                <a:cs typeface="Arial"/>
              </a:rPr>
              <a:t>input,	</a:t>
            </a:r>
            <a:r>
              <a:rPr sz="2800" b="1" spc="-190" dirty="0">
                <a:solidFill>
                  <a:srgbClr val="006FC0"/>
                </a:solidFill>
                <a:latin typeface="Arial"/>
                <a:cs typeface="Arial"/>
              </a:rPr>
              <a:t>D</a:t>
            </a:r>
            <a:r>
              <a:rPr sz="2775" b="1" spc="-284" baseline="-21021" dirty="0">
                <a:solidFill>
                  <a:srgbClr val="006FC0"/>
                </a:solidFill>
                <a:latin typeface="Arial"/>
                <a:cs typeface="Arial"/>
              </a:rPr>
              <a:t>in</a:t>
            </a:r>
            <a:r>
              <a:rPr sz="2800" spc="-190" dirty="0">
                <a:solidFill>
                  <a:srgbClr val="006FC0"/>
                </a:solidFill>
                <a:latin typeface="Arial"/>
                <a:cs typeface="Arial"/>
              </a:rPr>
              <a:t>,	</a:t>
            </a:r>
            <a:r>
              <a:rPr sz="2800" spc="-90" dirty="0">
                <a:solidFill>
                  <a:srgbClr val="006FC0"/>
                </a:solidFill>
                <a:latin typeface="Arial"/>
                <a:cs typeface="Arial"/>
              </a:rPr>
              <a:t>four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5440" y="1793189"/>
            <a:ext cx="8455025" cy="21596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14984">
              <a:lnSpc>
                <a:spcPct val="100000"/>
              </a:lnSpc>
              <a:spcBef>
                <a:spcPts val="95"/>
              </a:spcBef>
            </a:pPr>
            <a:r>
              <a:rPr sz="2800" spc="-160" dirty="0">
                <a:solidFill>
                  <a:srgbClr val="006FC0"/>
                </a:solidFill>
                <a:latin typeface="Arial"/>
                <a:cs typeface="Arial"/>
              </a:rPr>
              <a:t>outputs </a:t>
            </a:r>
            <a:r>
              <a:rPr sz="2800" spc="-240" dirty="0">
                <a:solidFill>
                  <a:srgbClr val="006FC0"/>
                </a:solidFill>
                <a:latin typeface="Arial"/>
                <a:cs typeface="Arial"/>
              </a:rPr>
              <a:t>(</a:t>
            </a:r>
            <a:r>
              <a:rPr sz="2800" b="1" spc="-240" dirty="0">
                <a:solidFill>
                  <a:srgbClr val="006FC0"/>
                </a:solidFill>
                <a:latin typeface="Arial"/>
                <a:cs typeface="Arial"/>
              </a:rPr>
              <a:t>Y</a:t>
            </a:r>
            <a:r>
              <a:rPr sz="2775" b="1" spc="-359" baseline="-21021" dirty="0">
                <a:solidFill>
                  <a:srgbClr val="006FC0"/>
                </a:solidFill>
                <a:latin typeface="Arial"/>
                <a:cs typeface="Arial"/>
              </a:rPr>
              <a:t>0 </a:t>
            </a:r>
            <a:r>
              <a:rPr sz="2800" b="1" spc="-200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800" b="1" spc="-235" dirty="0">
                <a:solidFill>
                  <a:srgbClr val="006FC0"/>
                </a:solidFill>
                <a:latin typeface="Arial"/>
                <a:cs typeface="Arial"/>
              </a:rPr>
              <a:t>Y</a:t>
            </a:r>
            <a:r>
              <a:rPr sz="2775" b="1" spc="-352" baseline="-21021" dirty="0">
                <a:solidFill>
                  <a:srgbClr val="006FC0"/>
                </a:solidFill>
                <a:latin typeface="Arial"/>
                <a:cs typeface="Arial"/>
              </a:rPr>
              <a:t>3</a:t>
            </a:r>
            <a:r>
              <a:rPr sz="2800" spc="-235" dirty="0">
                <a:solidFill>
                  <a:srgbClr val="006FC0"/>
                </a:solidFill>
                <a:latin typeface="Arial"/>
                <a:cs typeface="Arial"/>
              </a:rPr>
              <a:t>) 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spc="-120" dirty="0">
                <a:solidFill>
                  <a:srgbClr val="006FC0"/>
                </a:solidFill>
                <a:latin typeface="Arial"/>
                <a:cs typeface="Arial"/>
              </a:rPr>
              <a:t>two </a:t>
            </a:r>
            <a:r>
              <a:rPr sz="2800" spc="-235" dirty="0">
                <a:solidFill>
                  <a:srgbClr val="006FC0"/>
                </a:solidFill>
                <a:latin typeface="Arial"/>
                <a:cs typeface="Arial"/>
              </a:rPr>
              <a:t>select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inputs </a:t>
            </a:r>
            <a:r>
              <a:rPr sz="2800" spc="-350" dirty="0">
                <a:solidFill>
                  <a:srgbClr val="006FC0"/>
                </a:solidFill>
                <a:latin typeface="Arial"/>
                <a:cs typeface="Arial"/>
              </a:rPr>
              <a:t>(</a:t>
            </a:r>
            <a:r>
              <a:rPr sz="2800" b="1" spc="-350" dirty="0">
                <a:solidFill>
                  <a:srgbClr val="006FC0"/>
                </a:solidFill>
                <a:latin typeface="Arial"/>
                <a:cs typeface="Arial"/>
              </a:rPr>
              <a:t>S</a:t>
            </a:r>
            <a:r>
              <a:rPr sz="2775" b="1" spc="-525" baseline="-21021" dirty="0">
                <a:solidFill>
                  <a:srgbClr val="006FC0"/>
                </a:solidFill>
                <a:latin typeface="Arial"/>
                <a:cs typeface="Arial"/>
              </a:rPr>
              <a:t>1 </a:t>
            </a:r>
            <a:r>
              <a:rPr sz="2800" b="1" spc="-350" dirty="0">
                <a:solidFill>
                  <a:srgbClr val="006FC0"/>
                </a:solidFill>
                <a:latin typeface="Arial"/>
                <a:cs typeface="Arial"/>
              </a:rPr>
              <a:t>and</a:t>
            </a:r>
            <a:r>
              <a:rPr sz="2800" b="1" spc="-47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b="1" spc="-300" dirty="0">
                <a:solidFill>
                  <a:srgbClr val="006FC0"/>
                </a:solidFill>
                <a:latin typeface="Arial"/>
                <a:cs typeface="Arial"/>
              </a:rPr>
              <a:t>S</a:t>
            </a:r>
            <a:r>
              <a:rPr sz="2775" b="1" spc="-450" baseline="-21021" dirty="0">
                <a:solidFill>
                  <a:srgbClr val="006FC0"/>
                </a:solidFill>
                <a:latin typeface="Arial"/>
                <a:cs typeface="Arial"/>
              </a:rPr>
              <a:t>0</a:t>
            </a:r>
            <a:r>
              <a:rPr sz="2800" spc="-300" dirty="0">
                <a:solidFill>
                  <a:srgbClr val="006FC0"/>
                </a:solidFill>
                <a:latin typeface="Arial"/>
                <a:cs typeface="Arial"/>
              </a:rPr>
              <a:t>).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900">
              <a:latin typeface="Arial"/>
              <a:cs typeface="Arial"/>
            </a:endParaRPr>
          </a:p>
          <a:p>
            <a:pPr marL="514984" marR="43180" indent="-464820" algn="just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515620" algn="l"/>
              </a:tabLst>
            </a:pP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input </a:t>
            </a:r>
            <a:r>
              <a:rPr sz="2800" spc="-200" dirty="0">
                <a:solidFill>
                  <a:srgbClr val="006FC0"/>
                </a:solidFill>
                <a:latin typeface="Arial"/>
                <a:cs typeface="Arial"/>
              </a:rPr>
              <a:t>variable </a:t>
            </a:r>
            <a:r>
              <a:rPr sz="2800" spc="-130" dirty="0">
                <a:solidFill>
                  <a:srgbClr val="006FC0"/>
                </a:solidFill>
                <a:latin typeface="Arial"/>
                <a:cs typeface="Arial"/>
              </a:rPr>
              <a:t>D</a:t>
            </a:r>
            <a:r>
              <a:rPr sz="2775" spc="-195" baseline="-21021" dirty="0">
                <a:solidFill>
                  <a:srgbClr val="006FC0"/>
                </a:solidFill>
                <a:latin typeface="Arial"/>
                <a:cs typeface="Arial"/>
              </a:rPr>
              <a:t>in </a:t>
            </a:r>
            <a:r>
              <a:rPr sz="2800" spc="-375" dirty="0">
                <a:solidFill>
                  <a:srgbClr val="006FC0"/>
                </a:solidFill>
                <a:latin typeface="Arial"/>
                <a:cs typeface="Arial"/>
              </a:rPr>
              <a:t>has </a:t>
            </a:r>
            <a:r>
              <a:rPr sz="2800" spc="-395" dirty="0">
                <a:solidFill>
                  <a:srgbClr val="006FC0"/>
                </a:solidFill>
                <a:latin typeface="Arial"/>
                <a:cs typeface="Arial"/>
              </a:rPr>
              <a:t>a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path </a:t>
            </a:r>
            <a:r>
              <a:rPr sz="2800" spc="-50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800" spc="-145" dirty="0">
                <a:solidFill>
                  <a:srgbClr val="006FC0"/>
                </a:solidFill>
                <a:latin typeface="Arial"/>
                <a:cs typeface="Arial"/>
              </a:rPr>
              <a:t>all </a:t>
            </a:r>
            <a:r>
              <a:rPr sz="2800" spc="-95" dirty="0">
                <a:solidFill>
                  <a:srgbClr val="006FC0"/>
                </a:solidFill>
                <a:latin typeface="Arial"/>
                <a:cs typeface="Arial"/>
              </a:rPr>
              <a:t>four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outputs, </a:t>
            </a:r>
            <a:r>
              <a:rPr sz="2800" spc="-120" dirty="0">
                <a:solidFill>
                  <a:srgbClr val="006FC0"/>
                </a:solidFill>
                <a:latin typeface="Arial"/>
                <a:cs typeface="Arial"/>
              </a:rPr>
              <a:t>but 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the</a:t>
            </a:r>
            <a:r>
              <a:rPr sz="2800" spc="44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input </a:t>
            </a:r>
            <a:r>
              <a:rPr sz="2800" spc="-125" dirty="0">
                <a:solidFill>
                  <a:srgbClr val="006FC0"/>
                </a:solidFill>
                <a:latin typeface="Arial"/>
                <a:cs typeface="Arial"/>
              </a:rPr>
              <a:t>information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800" spc="-160" dirty="0">
                <a:solidFill>
                  <a:srgbClr val="006FC0"/>
                </a:solidFill>
                <a:latin typeface="Arial"/>
                <a:cs typeface="Arial"/>
              </a:rPr>
              <a:t>directed </a:t>
            </a:r>
            <a:r>
              <a:rPr sz="2800" spc="-50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800" spc="-130" dirty="0">
                <a:solidFill>
                  <a:srgbClr val="006FC0"/>
                </a:solidFill>
                <a:latin typeface="Arial"/>
                <a:cs typeface="Arial"/>
              </a:rPr>
              <a:t>only </a:t>
            </a:r>
            <a:r>
              <a:rPr sz="2800" spc="-235" dirty="0">
                <a:solidFill>
                  <a:srgbClr val="006FC0"/>
                </a:solidFill>
                <a:latin typeface="Arial"/>
                <a:cs typeface="Arial"/>
              </a:rPr>
              <a:t>one 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output</a:t>
            </a:r>
            <a:r>
              <a:rPr sz="2800" spc="-3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210" dirty="0">
                <a:solidFill>
                  <a:srgbClr val="006FC0"/>
                </a:solidFill>
                <a:latin typeface="Arial"/>
                <a:cs typeface="Arial"/>
              </a:rPr>
              <a:t>lines.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971800" y="3733800"/>
            <a:ext cx="6177280" cy="3124200"/>
            <a:chOff x="2971800" y="3733800"/>
            <a:chExt cx="6177280" cy="3124200"/>
          </a:xfrm>
        </p:grpSpPr>
        <p:sp>
          <p:nvSpPr>
            <p:cNvPr id="10" name="object 10"/>
            <p:cNvSpPr/>
            <p:nvPr/>
          </p:nvSpPr>
          <p:spPr>
            <a:xfrm>
              <a:off x="8593835" y="6620254"/>
              <a:ext cx="550164" cy="23774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30411" y="6556242"/>
              <a:ext cx="513588" cy="3017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641079" y="6644639"/>
              <a:ext cx="502920" cy="1828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641079" y="6644639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971800" y="3733800"/>
              <a:ext cx="2955036" cy="259689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83540" y="1072641"/>
            <a:ext cx="5864860" cy="7461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06825">
              <a:lnSpc>
                <a:spcPts val="2355"/>
              </a:lnSpc>
              <a:spcBef>
                <a:spcPts val="105"/>
              </a:spcBef>
            </a:pPr>
            <a:r>
              <a:rPr sz="2000" b="1" spc="-225" dirty="0">
                <a:solidFill>
                  <a:srgbClr val="C00000"/>
                </a:solidFill>
                <a:latin typeface="Arial"/>
                <a:cs typeface="Arial"/>
              </a:rPr>
              <a:t>1:4</a:t>
            </a:r>
            <a:r>
              <a:rPr sz="2000" b="1" spc="-5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120" dirty="0">
                <a:solidFill>
                  <a:srgbClr val="C00000"/>
                </a:solidFill>
                <a:latin typeface="Arial"/>
                <a:cs typeface="Arial"/>
              </a:rPr>
              <a:t>DEMUX</a:t>
            </a:r>
            <a:endParaRPr sz="2000">
              <a:latin typeface="Arial"/>
              <a:cs typeface="Arial"/>
            </a:endParaRPr>
          </a:p>
          <a:p>
            <a:pPr marL="477520" indent="-464820">
              <a:lnSpc>
                <a:spcPts val="3315"/>
              </a:lnSpc>
              <a:buClr>
                <a:srgbClr val="E36C09"/>
              </a:buClr>
              <a:buFont typeface="Wingdings"/>
              <a:buChar char=""/>
              <a:tabLst>
                <a:tab pos="476884" algn="l"/>
                <a:tab pos="477520" algn="l"/>
                <a:tab pos="962025" algn="l"/>
                <a:tab pos="1967864" algn="l"/>
                <a:tab pos="4066540" algn="l"/>
                <a:tab pos="4728210" algn="l"/>
                <a:tab pos="5104765" algn="l"/>
              </a:tabLst>
            </a:pPr>
            <a:r>
              <a:rPr sz="2800" spc="135" dirty="0">
                <a:solidFill>
                  <a:srgbClr val="006FC0"/>
                </a:solidFill>
                <a:latin typeface="Arial"/>
                <a:cs typeface="Arial"/>
              </a:rPr>
              <a:t>A	</a:t>
            </a:r>
            <a:r>
              <a:rPr sz="2800" spc="-400" dirty="0">
                <a:solidFill>
                  <a:srgbClr val="006FC0"/>
                </a:solidFill>
                <a:latin typeface="Arial"/>
                <a:cs typeface="Arial"/>
              </a:rPr>
              <a:t>1</a:t>
            </a:r>
            <a:r>
              <a:rPr sz="2800" spc="-155" dirty="0">
                <a:solidFill>
                  <a:srgbClr val="006FC0"/>
                </a:solidFill>
                <a:latin typeface="Arial"/>
                <a:cs typeface="Arial"/>
              </a:rPr>
              <a:t>-</a:t>
            </a:r>
            <a:r>
              <a:rPr sz="2800" spc="-35" dirty="0">
                <a:solidFill>
                  <a:srgbClr val="006FC0"/>
                </a:solidFill>
                <a:latin typeface="Arial"/>
                <a:cs typeface="Arial"/>
              </a:rPr>
              <a:t>t</a:t>
            </a:r>
            <a:r>
              <a:rPr sz="2800" spc="-60" dirty="0">
                <a:solidFill>
                  <a:srgbClr val="006FC0"/>
                </a:solidFill>
                <a:latin typeface="Arial"/>
                <a:cs typeface="Arial"/>
              </a:rPr>
              <a:t>o</a:t>
            </a:r>
            <a:r>
              <a:rPr sz="2800" spc="-155" dirty="0">
                <a:solidFill>
                  <a:srgbClr val="006FC0"/>
                </a:solidFill>
                <a:latin typeface="Arial"/>
                <a:cs typeface="Arial"/>
              </a:rPr>
              <a:t>-</a:t>
            </a:r>
            <a:r>
              <a:rPr sz="2800" spc="-400" dirty="0">
                <a:solidFill>
                  <a:srgbClr val="006FC0"/>
                </a:solidFill>
                <a:latin typeface="Arial"/>
                <a:cs typeface="Arial"/>
              </a:rPr>
              <a:t>4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215" dirty="0">
                <a:solidFill>
                  <a:srgbClr val="006FC0"/>
                </a:solidFill>
                <a:latin typeface="Arial"/>
                <a:cs typeface="Arial"/>
              </a:rPr>
              <a:t>de</a:t>
            </a:r>
            <a:r>
              <a:rPr sz="2800" spc="-315" dirty="0">
                <a:solidFill>
                  <a:srgbClr val="006FC0"/>
                </a:solidFill>
                <a:latin typeface="Arial"/>
                <a:cs typeface="Arial"/>
              </a:rPr>
              <a:t>m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u</a:t>
            </a:r>
            <a:r>
              <a:rPr sz="2800" spc="-60" dirty="0">
                <a:solidFill>
                  <a:srgbClr val="006FC0"/>
                </a:solidFill>
                <a:latin typeface="Arial"/>
                <a:cs typeface="Arial"/>
              </a:rPr>
              <a:t>l</a:t>
            </a:r>
            <a:r>
              <a:rPr sz="2800" spc="-35" dirty="0">
                <a:solidFill>
                  <a:srgbClr val="006FC0"/>
                </a:solidFill>
                <a:latin typeface="Arial"/>
                <a:cs typeface="Arial"/>
              </a:rPr>
              <a:t>ti</a:t>
            </a:r>
            <a:r>
              <a:rPr sz="2800" spc="-55" dirty="0">
                <a:solidFill>
                  <a:srgbClr val="006FC0"/>
                </a:solidFill>
                <a:latin typeface="Arial"/>
                <a:cs typeface="Arial"/>
              </a:rPr>
              <a:t>p</a:t>
            </a:r>
            <a:r>
              <a:rPr sz="2800" spc="-180" dirty="0">
                <a:solidFill>
                  <a:srgbClr val="006FC0"/>
                </a:solidFill>
                <a:latin typeface="Arial"/>
                <a:cs typeface="Arial"/>
              </a:rPr>
              <a:t>lexer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390" dirty="0">
                <a:solidFill>
                  <a:srgbClr val="006FC0"/>
                </a:solidFill>
                <a:latin typeface="Arial"/>
                <a:cs typeface="Arial"/>
              </a:rPr>
              <a:t>ha</a:t>
            </a:r>
            <a:r>
              <a:rPr sz="2800" spc="-345" dirty="0">
                <a:solidFill>
                  <a:srgbClr val="006FC0"/>
                </a:solidFill>
                <a:latin typeface="Arial"/>
                <a:cs typeface="Arial"/>
              </a:rPr>
              <a:t>s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395" dirty="0">
                <a:solidFill>
                  <a:srgbClr val="006FC0"/>
                </a:solidFill>
                <a:latin typeface="Arial"/>
                <a:cs typeface="Arial"/>
              </a:rPr>
              <a:t>a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800" spc="-210" dirty="0">
                <a:solidFill>
                  <a:srgbClr val="006FC0"/>
                </a:solidFill>
                <a:latin typeface="Arial"/>
                <a:cs typeface="Arial"/>
              </a:rPr>
              <a:t>si</a:t>
            </a:r>
            <a:r>
              <a:rPr sz="2800" spc="-315" dirty="0">
                <a:solidFill>
                  <a:srgbClr val="006FC0"/>
                </a:solidFill>
                <a:latin typeface="Arial"/>
                <a:cs typeface="Arial"/>
              </a:rPr>
              <a:t>n</a:t>
            </a:r>
            <a:r>
              <a:rPr sz="2800" spc="-245" dirty="0">
                <a:solidFill>
                  <a:srgbClr val="006FC0"/>
                </a:solidFill>
                <a:latin typeface="Arial"/>
                <a:cs typeface="Arial"/>
              </a:rPr>
              <a:t>gle</a:t>
            </a:r>
            <a:endParaRPr sz="2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8739" y="6635530"/>
            <a:ext cx="723900" cy="17462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1000" b="1" spc="45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1000" b="1" spc="50" dirty="0">
                <a:solidFill>
                  <a:srgbClr val="C00000"/>
                </a:solidFill>
                <a:latin typeface="Arial"/>
                <a:cs typeface="Arial"/>
              </a:rPr>
              <a:t>U</a:t>
            </a:r>
            <a:r>
              <a:rPr sz="1000" b="1" spc="-5" dirty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1000" b="1" spc="-60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1000" b="1" spc="-10" dirty="0">
                <a:solidFill>
                  <a:srgbClr val="C00000"/>
                </a:solidFill>
                <a:latin typeface="Arial"/>
                <a:cs typeface="Arial"/>
              </a:rPr>
              <a:t>-</a:t>
            </a:r>
            <a:r>
              <a:rPr sz="1000" b="1" spc="100" dirty="0">
                <a:solidFill>
                  <a:srgbClr val="C00000"/>
                </a:solidFill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174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793241" y="982217"/>
              <a:ext cx="7589519" cy="762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6764"/>
              <a:ext cx="9143999" cy="668274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53439" y="320001"/>
              <a:ext cx="7434072" cy="57611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697479" y="202679"/>
              <a:ext cx="3742944" cy="93422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971926" y="321386"/>
            <a:ext cx="319976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5" dirty="0"/>
              <a:t>DEMULTIPLEXERS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sp>
          <p:nvSpPr>
            <p:cNvPr id="13" name="object 13"/>
            <p:cNvSpPr/>
            <p:nvPr/>
          </p:nvSpPr>
          <p:spPr>
            <a:xfrm>
              <a:off x="8593835" y="6620255"/>
              <a:ext cx="550164" cy="23774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630411" y="6556243"/>
              <a:ext cx="513588" cy="30175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177665" y="1072641"/>
            <a:ext cx="121666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25" dirty="0">
                <a:solidFill>
                  <a:srgbClr val="C00000"/>
                </a:solidFill>
                <a:latin typeface="Arial"/>
                <a:cs typeface="Arial"/>
              </a:rPr>
              <a:t>1:4</a:t>
            </a:r>
            <a:r>
              <a:rPr sz="2000" b="1" spc="-114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120" dirty="0">
                <a:solidFill>
                  <a:srgbClr val="C00000"/>
                </a:solidFill>
                <a:latin typeface="Arial"/>
                <a:cs typeface="Arial"/>
              </a:rPr>
              <a:t>DEMUX</a:t>
            </a:r>
            <a:endParaRPr sz="20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605914" y="2257044"/>
            <a:ext cx="5937504" cy="85496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605914" y="3966971"/>
            <a:ext cx="5937504" cy="85496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1599564" y="1822450"/>
          <a:ext cx="5956935" cy="3860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40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0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15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15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15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15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515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2760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19"/>
                        </a:spcBef>
                      </a:pPr>
                      <a:r>
                        <a:rPr sz="2700" b="1" spc="-7" baseline="13888" dirty="0">
                          <a:latin typeface="Palladio Uralic"/>
                          <a:cs typeface="Palladio Uralic"/>
                        </a:rPr>
                        <a:t>D</a:t>
                      </a:r>
                      <a:r>
                        <a:rPr sz="1200" b="1" spc="-5" dirty="0">
                          <a:latin typeface="Palladio Uralic"/>
                          <a:cs typeface="Palladio Uralic"/>
                        </a:rPr>
                        <a:t>in</a:t>
                      </a:r>
                      <a:endParaRPr sz="1200">
                        <a:latin typeface="Palladio Uralic"/>
                        <a:cs typeface="Palladio Uralic"/>
                      </a:endParaRPr>
                    </a:p>
                  </a:txBody>
                  <a:tcPr marL="0" marR="0" marT="12953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800" b="1" spc="-5" dirty="0">
                          <a:latin typeface="Palladio Uralic"/>
                          <a:cs typeface="Palladio Uralic"/>
                        </a:rPr>
                        <a:t>S</a:t>
                      </a:r>
                      <a:r>
                        <a:rPr sz="1800" b="1" spc="-7" baseline="-20833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 baseline="-20833">
                        <a:latin typeface="Palladio Uralic"/>
                        <a:cs typeface="Palladio Uralic"/>
                      </a:endParaRPr>
                    </a:p>
                  </a:txBody>
                  <a:tcPr marL="0" marR="0" marT="730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800" b="1" spc="-5" dirty="0">
                          <a:latin typeface="Palladio Uralic"/>
                          <a:cs typeface="Palladio Uralic"/>
                        </a:rPr>
                        <a:t>S</a:t>
                      </a:r>
                      <a:r>
                        <a:rPr sz="1800" b="1" spc="-7" baseline="-20833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 baseline="-20833">
                        <a:latin typeface="Palladio Uralic"/>
                        <a:cs typeface="Palladio Uralic"/>
                      </a:endParaRPr>
                    </a:p>
                  </a:txBody>
                  <a:tcPr marL="0" marR="0" marT="730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800" b="1" dirty="0">
                          <a:latin typeface="Palladio Uralic"/>
                          <a:cs typeface="Palladio Uralic"/>
                        </a:rPr>
                        <a:t>Y</a:t>
                      </a:r>
                      <a:r>
                        <a:rPr sz="1800" b="1" baseline="-20833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 baseline="-20833">
                        <a:latin typeface="Palladio Uralic"/>
                        <a:cs typeface="Palladio Uralic"/>
                      </a:endParaRPr>
                    </a:p>
                  </a:txBody>
                  <a:tcPr marL="0" marR="0" marT="730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800" b="1" spc="-5" dirty="0">
                          <a:latin typeface="Palladio Uralic"/>
                          <a:cs typeface="Palladio Uralic"/>
                        </a:rPr>
                        <a:t>Y</a:t>
                      </a:r>
                      <a:r>
                        <a:rPr sz="1800" b="1" spc="-7" baseline="-20833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 baseline="-20833">
                        <a:latin typeface="Palladio Uralic"/>
                        <a:cs typeface="Palladio Uralic"/>
                      </a:endParaRPr>
                    </a:p>
                  </a:txBody>
                  <a:tcPr marL="0" marR="0" marT="730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800" b="1" spc="-5" dirty="0">
                          <a:latin typeface="Palladio Uralic"/>
                          <a:cs typeface="Palladio Uralic"/>
                        </a:rPr>
                        <a:t>Y</a:t>
                      </a:r>
                      <a:r>
                        <a:rPr sz="1800" b="1" spc="-7" baseline="-20833" dirty="0">
                          <a:latin typeface="Palladio Uralic"/>
                          <a:cs typeface="Palladio Uralic"/>
                        </a:rPr>
                        <a:t>2</a:t>
                      </a:r>
                      <a:endParaRPr sz="1800" baseline="-20833">
                        <a:latin typeface="Palladio Uralic"/>
                        <a:cs typeface="Palladio Uralic"/>
                      </a:endParaRPr>
                    </a:p>
                  </a:txBody>
                  <a:tcPr marL="0" marR="0" marT="730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800" b="1" spc="-5" dirty="0">
                          <a:latin typeface="Palladio Uralic"/>
                          <a:cs typeface="Palladio Uralic"/>
                        </a:rPr>
                        <a:t>Y</a:t>
                      </a:r>
                      <a:r>
                        <a:rPr sz="1800" b="1" spc="-7" baseline="-20833" dirty="0">
                          <a:latin typeface="Palladio Uralic"/>
                          <a:cs typeface="Palladio Uralic"/>
                        </a:rPr>
                        <a:t>3</a:t>
                      </a:r>
                      <a:endParaRPr sz="1800" baseline="-20833">
                        <a:latin typeface="Palladio Uralic"/>
                        <a:cs typeface="Palladio Uralic"/>
                      </a:endParaRPr>
                    </a:p>
                  </a:txBody>
                  <a:tcPr marL="0" marR="0" marT="730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48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23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23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23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23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23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23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23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760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23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23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23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23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23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23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23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760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23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23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23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23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23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23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23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748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23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23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23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23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23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23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23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760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30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30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30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30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30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30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30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760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30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30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30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30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30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30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30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748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30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30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30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30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30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30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30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760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30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30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30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30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30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30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730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2" name="object 22"/>
          <p:cNvSpPr txBox="1"/>
          <p:nvPr/>
        </p:nvSpPr>
        <p:spPr>
          <a:xfrm>
            <a:off x="78739" y="6635530"/>
            <a:ext cx="723900" cy="17462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1000" b="1" spc="45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1000" b="1" spc="50" dirty="0">
                <a:solidFill>
                  <a:srgbClr val="C00000"/>
                </a:solidFill>
                <a:latin typeface="Arial"/>
                <a:cs typeface="Arial"/>
              </a:rPr>
              <a:t>U</a:t>
            </a:r>
            <a:r>
              <a:rPr sz="1000" b="1" spc="-5" dirty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1000" b="1" spc="-60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1000" b="1" spc="-10" dirty="0">
                <a:solidFill>
                  <a:srgbClr val="C00000"/>
                </a:solidFill>
                <a:latin typeface="Arial"/>
                <a:cs typeface="Arial"/>
              </a:rPr>
              <a:t>-</a:t>
            </a:r>
            <a:r>
              <a:rPr sz="1000" b="1" spc="100" dirty="0">
                <a:solidFill>
                  <a:srgbClr val="C00000"/>
                </a:solidFill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175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2821051" y="6044590"/>
            <a:ext cx="37026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Palladio Uralic"/>
                <a:cs typeface="Palladio Uralic"/>
              </a:rPr>
              <a:t>Truth table of 1-to-4 line</a:t>
            </a:r>
            <a:r>
              <a:rPr sz="1600" b="1" spc="65" dirty="0">
                <a:latin typeface="Palladio Uralic"/>
                <a:cs typeface="Palladio Uralic"/>
              </a:rPr>
              <a:t> </a:t>
            </a:r>
            <a:r>
              <a:rPr sz="1600" b="1" spc="-5" dirty="0">
                <a:latin typeface="Palladio Uralic"/>
                <a:cs typeface="Palladio Uralic"/>
              </a:rPr>
              <a:t>Demultiplexer</a:t>
            </a:r>
            <a:endParaRPr sz="1600">
              <a:latin typeface="Palladio Uralic"/>
              <a:cs typeface="Palladio Uralic"/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2697479" y="202679"/>
              <a:ext cx="3742944" cy="9342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971926" y="321386"/>
            <a:ext cx="319976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5" dirty="0"/>
              <a:t>DEMULTIPLEXERS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sp>
          <p:nvSpPr>
            <p:cNvPr id="8" name="object 8"/>
            <p:cNvSpPr/>
            <p:nvPr/>
          </p:nvSpPr>
          <p:spPr>
            <a:xfrm>
              <a:off x="8593835" y="6620255"/>
              <a:ext cx="550164" cy="23774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630411" y="6556243"/>
              <a:ext cx="513588" cy="3017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32740" y="949830"/>
            <a:ext cx="8502015" cy="5262880"/>
          </a:xfrm>
          <a:prstGeom prst="rect">
            <a:avLst/>
          </a:prstGeom>
        </p:spPr>
        <p:txBody>
          <a:bodyPr vert="horz" wrap="square" lIns="0" tIns="135890" rIns="0" bIns="0" rtlCol="0">
            <a:spAutoFit/>
          </a:bodyPr>
          <a:lstStyle/>
          <a:p>
            <a:pPr marL="403860" algn="ctr">
              <a:lnSpc>
                <a:spcPct val="100000"/>
              </a:lnSpc>
              <a:spcBef>
                <a:spcPts val="1070"/>
              </a:spcBef>
            </a:pPr>
            <a:r>
              <a:rPr sz="2000" b="1" spc="-225" dirty="0">
                <a:solidFill>
                  <a:srgbClr val="C00000"/>
                </a:solidFill>
                <a:latin typeface="Arial"/>
                <a:cs typeface="Arial"/>
              </a:rPr>
              <a:t>1:4</a:t>
            </a:r>
            <a:r>
              <a:rPr sz="2000" b="1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120" dirty="0">
                <a:solidFill>
                  <a:srgbClr val="C00000"/>
                </a:solidFill>
                <a:latin typeface="Arial"/>
                <a:cs typeface="Arial"/>
              </a:rPr>
              <a:t>DEMUX</a:t>
            </a:r>
            <a:endParaRPr sz="2000">
              <a:latin typeface="Arial"/>
              <a:cs typeface="Arial"/>
            </a:endParaRPr>
          </a:p>
          <a:p>
            <a:pPr marL="527685" marR="77470" indent="-464820" algn="just">
              <a:lnSpc>
                <a:spcPct val="100000"/>
              </a:lnSpc>
              <a:spcBef>
                <a:spcPts val="1345"/>
              </a:spcBef>
              <a:buClr>
                <a:srgbClr val="E36C09"/>
              </a:buClr>
              <a:buFont typeface="Wingdings"/>
              <a:buChar char=""/>
              <a:tabLst>
                <a:tab pos="528320" algn="l"/>
              </a:tabLst>
            </a:pPr>
            <a:r>
              <a:rPr sz="2800" spc="-200" dirty="0">
                <a:solidFill>
                  <a:srgbClr val="006FC0"/>
                </a:solidFill>
                <a:latin typeface="Arial"/>
                <a:cs typeface="Arial"/>
              </a:rPr>
              <a:t>From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65" dirty="0">
                <a:solidFill>
                  <a:srgbClr val="006FC0"/>
                </a:solidFill>
                <a:latin typeface="Arial"/>
                <a:cs typeface="Arial"/>
              </a:rPr>
              <a:t>truth </a:t>
            </a:r>
            <a:r>
              <a:rPr sz="2800" spc="-180" dirty="0">
                <a:solidFill>
                  <a:srgbClr val="006FC0"/>
                </a:solidFill>
                <a:latin typeface="Arial"/>
                <a:cs typeface="Arial"/>
              </a:rPr>
              <a:t>table, </a:t>
            </a:r>
            <a:r>
              <a:rPr sz="2800" spc="25" dirty="0">
                <a:solidFill>
                  <a:srgbClr val="006FC0"/>
                </a:solidFill>
                <a:latin typeface="Arial"/>
                <a:cs typeface="Arial"/>
              </a:rPr>
              <a:t>it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800" spc="-200" dirty="0">
                <a:solidFill>
                  <a:srgbClr val="006FC0"/>
                </a:solidFill>
                <a:latin typeface="Arial"/>
                <a:cs typeface="Arial"/>
              </a:rPr>
              <a:t>clear </a:t>
            </a:r>
            <a:r>
              <a:rPr sz="2800" spc="-125" dirty="0">
                <a:solidFill>
                  <a:srgbClr val="006FC0"/>
                </a:solidFill>
                <a:latin typeface="Arial"/>
                <a:cs typeface="Arial"/>
              </a:rPr>
              <a:t>that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225" dirty="0">
                <a:solidFill>
                  <a:srgbClr val="006FC0"/>
                </a:solidFill>
                <a:latin typeface="Arial"/>
                <a:cs typeface="Arial"/>
              </a:rPr>
              <a:t>data </a:t>
            </a:r>
            <a:r>
              <a:rPr sz="2800" spc="-114" dirty="0">
                <a:solidFill>
                  <a:srgbClr val="006FC0"/>
                </a:solidFill>
                <a:latin typeface="Arial"/>
                <a:cs typeface="Arial"/>
              </a:rPr>
              <a:t>input, </a:t>
            </a:r>
            <a:r>
              <a:rPr sz="2800" spc="-135" dirty="0">
                <a:solidFill>
                  <a:srgbClr val="006FC0"/>
                </a:solidFill>
                <a:latin typeface="Arial"/>
                <a:cs typeface="Arial"/>
              </a:rPr>
              <a:t>D</a:t>
            </a:r>
            <a:r>
              <a:rPr sz="2775" spc="-202" baseline="-21021" dirty="0">
                <a:solidFill>
                  <a:srgbClr val="006FC0"/>
                </a:solidFill>
                <a:latin typeface="Arial"/>
                <a:cs typeface="Arial"/>
              </a:rPr>
              <a:t>in </a:t>
            </a:r>
            <a:r>
              <a:rPr sz="2800" spc="-260" dirty="0">
                <a:solidFill>
                  <a:srgbClr val="006FC0"/>
                </a:solidFill>
                <a:latin typeface="Arial"/>
                <a:cs typeface="Arial"/>
              </a:rPr>
              <a:t>is  </a:t>
            </a:r>
            <a:r>
              <a:rPr sz="2800" spc="-204" dirty="0">
                <a:solidFill>
                  <a:srgbClr val="006FC0"/>
                </a:solidFill>
                <a:latin typeface="Arial"/>
                <a:cs typeface="Arial"/>
              </a:rPr>
              <a:t>connected </a:t>
            </a:r>
            <a:r>
              <a:rPr sz="2800" spc="-50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output </a:t>
            </a:r>
            <a:r>
              <a:rPr sz="2800" spc="-220" dirty="0">
                <a:solidFill>
                  <a:srgbClr val="006FC0"/>
                </a:solidFill>
                <a:latin typeface="Arial"/>
                <a:cs typeface="Arial"/>
              </a:rPr>
              <a:t>Y</a:t>
            </a:r>
            <a:r>
              <a:rPr sz="2775" spc="-330" baseline="-21021" dirty="0">
                <a:solidFill>
                  <a:srgbClr val="006FC0"/>
                </a:solidFill>
                <a:latin typeface="Arial"/>
                <a:cs typeface="Arial"/>
              </a:rPr>
              <a:t>0</a:t>
            </a:r>
            <a:r>
              <a:rPr sz="2800" spc="-220" dirty="0">
                <a:solidFill>
                  <a:srgbClr val="006FC0"/>
                </a:solidFill>
                <a:latin typeface="Arial"/>
                <a:cs typeface="Arial"/>
              </a:rPr>
              <a:t>, 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when 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S</a:t>
            </a:r>
            <a:r>
              <a:rPr sz="2775" spc="-375" baseline="-21021" dirty="0">
                <a:solidFill>
                  <a:srgbClr val="006FC0"/>
                </a:solidFill>
                <a:latin typeface="Arial"/>
                <a:cs typeface="Arial"/>
              </a:rPr>
              <a:t>1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= </a:t>
            </a:r>
            <a:r>
              <a:rPr sz="2800" spc="-400" dirty="0">
                <a:solidFill>
                  <a:srgbClr val="006FC0"/>
                </a:solidFill>
                <a:latin typeface="Arial"/>
                <a:cs typeface="Arial"/>
              </a:rPr>
              <a:t>0 </a:t>
            </a:r>
            <a:r>
              <a:rPr sz="2800" spc="-260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spc="-290" dirty="0">
                <a:solidFill>
                  <a:srgbClr val="006FC0"/>
                </a:solidFill>
                <a:latin typeface="Arial"/>
                <a:cs typeface="Arial"/>
              </a:rPr>
              <a:t>S</a:t>
            </a:r>
            <a:r>
              <a:rPr sz="2775" spc="-434" baseline="-21021" dirty="0">
                <a:solidFill>
                  <a:srgbClr val="006FC0"/>
                </a:solidFill>
                <a:latin typeface="Arial"/>
                <a:cs typeface="Arial"/>
              </a:rPr>
              <a:t>0</a:t>
            </a:r>
            <a:r>
              <a:rPr sz="2800" spc="-290" dirty="0">
                <a:solidFill>
                  <a:srgbClr val="006FC0"/>
                </a:solidFill>
                <a:latin typeface="Arial"/>
                <a:cs typeface="Arial"/>
              </a:rPr>
              <a:t>=0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and 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225" dirty="0">
                <a:solidFill>
                  <a:srgbClr val="006FC0"/>
                </a:solidFill>
                <a:latin typeface="Arial"/>
                <a:cs typeface="Arial"/>
              </a:rPr>
              <a:t>data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input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800" spc="-210" dirty="0">
                <a:solidFill>
                  <a:srgbClr val="006FC0"/>
                </a:solidFill>
                <a:latin typeface="Arial"/>
                <a:cs typeface="Arial"/>
              </a:rPr>
              <a:t>connected </a:t>
            </a:r>
            <a:r>
              <a:rPr sz="2800" spc="-55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output </a:t>
            </a:r>
            <a:r>
              <a:rPr sz="2800" spc="-245" dirty="0">
                <a:solidFill>
                  <a:srgbClr val="006FC0"/>
                </a:solidFill>
                <a:latin typeface="Arial"/>
                <a:cs typeface="Arial"/>
              </a:rPr>
              <a:t>Y</a:t>
            </a:r>
            <a:r>
              <a:rPr sz="2775" spc="-367" baseline="-21021" dirty="0">
                <a:solidFill>
                  <a:srgbClr val="006FC0"/>
                </a:solidFill>
                <a:latin typeface="Arial"/>
                <a:cs typeface="Arial"/>
              </a:rPr>
              <a:t>1 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when </a:t>
            </a:r>
            <a:r>
              <a:rPr sz="2800" spc="-290" dirty="0">
                <a:solidFill>
                  <a:srgbClr val="006FC0"/>
                </a:solidFill>
                <a:latin typeface="Arial"/>
                <a:cs typeface="Arial"/>
              </a:rPr>
              <a:t>S</a:t>
            </a:r>
            <a:r>
              <a:rPr sz="2775" spc="-434" baseline="-21021" dirty="0">
                <a:solidFill>
                  <a:srgbClr val="006FC0"/>
                </a:solidFill>
                <a:latin typeface="Arial"/>
                <a:cs typeface="Arial"/>
              </a:rPr>
              <a:t>1</a:t>
            </a:r>
            <a:r>
              <a:rPr sz="2800" spc="-290" dirty="0">
                <a:solidFill>
                  <a:srgbClr val="006FC0"/>
                </a:solidFill>
                <a:latin typeface="Arial"/>
                <a:cs typeface="Arial"/>
              </a:rPr>
              <a:t>=0 </a:t>
            </a:r>
            <a:r>
              <a:rPr sz="2800" spc="-260" dirty="0">
                <a:solidFill>
                  <a:srgbClr val="006FC0"/>
                </a:solidFill>
                <a:latin typeface="Arial"/>
                <a:cs typeface="Arial"/>
              </a:rPr>
              <a:t>and 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S</a:t>
            </a:r>
            <a:r>
              <a:rPr sz="2775" spc="-397" baseline="-21021" dirty="0">
                <a:solidFill>
                  <a:srgbClr val="006FC0"/>
                </a:solidFill>
                <a:latin typeface="Arial"/>
                <a:cs typeface="Arial"/>
              </a:rPr>
              <a:t>0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=1.</a:t>
            </a:r>
            <a:endParaRPr sz="2800">
              <a:latin typeface="Arial"/>
              <a:cs typeface="Arial"/>
            </a:endParaRPr>
          </a:p>
          <a:p>
            <a:pPr marL="527685" marR="79375" indent="-464820" algn="just">
              <a:lnSpc>
                <a:spcPct val="100000"/>
              </a:lnSpc>
              <a:spcBef>
                <a:spcPts val="1445"/>
              </a:spcBef>
              <a:buClr>
                <a:srgbClr val="E36C09"/>
              </a:buClr>
              <a:buFont typeface="Wingdings"/>
              <a:buChar char=""/>
              <a:tabLst>
                <a:tab pos="528320" algn="l"/>
              </a:tabLst>
            </a:pPr>
            <a:r>
              <a:rPr sz="2800" spc="-155" dirty="0">
                <a:solidFill>
                  <a:srgbClr val="006FC0"/>
                </a:solidFill>
                <a:latin typeface="Arial"/>
                <a:cs typeface="Arial"/>
              </a:rPr>
              <a:t>Similarly,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225" dirty="0">
                <a:solidFill>
                  <a:srgbClr val="006FC0"/>
                </a:solidFill>
                <a:latin typeface="Arial"/>
                <a:cs typeface="Arial"/>
              </a:rPr>
              <a:t>data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input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800" spc="-210" dirty="0">
                <a:solidFill>
                  <a:srgbClr val="006FC0"/>
                </a:solidFill>
                <a:latin typeface="Arial"/>
                <a:cs typeface="Arial"/>
              </a:rPr>
              <a:t>connected </a:t>
            </a:r>
            <a:r>
              <a:rPr sz="2800" spc="-60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output </a:t>
            </a:r>
            <a:r>
              <a:rPr sz="2800" spc="-245" dirty="0">
                <a:solidFill>
                  <a:srgbClr val="006FC0"/>
                </a:solidFill>
                <a:latin typeface="Arial"/>
                <a:cs typeface="Arial"/>
              </a:rPr>
              <a:t>Y</a:t>
            </a:r>
            <a:r>
              <a:rPr sz="2775" spc="-367" baseline="-21021" dirty="0">
                <a:solidFill>
                  <a:srgbClr val="006FC0"/>
                </a:solidFill>
                <a:latin typeface="Arial"/>
                <a:cs typeface="Arial"/>
              </a:rPr>
              <a:t>2</a:t>
            </a:r>
            <a:r>
              <a:rPr sz="2775" spc="30" baseline="-21021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260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spc="-245" dirty="0">
                <a:solidFill>
                  <a:srgbClr val="006FC0"/>
                </a:solidFill>
                <a:latin typeface="Arial"/>
                <a:cs typeface="Arial"/>
              </a:rPr>
              <a:t>Y</a:t>
            </a:r>
            <a:r>
              <a:rPr sz="2775" spc="-367" baseline="-21021" dirty="0">
                <a:solidFill>
                  <a:srgbClr val="006FC0"/>
                </a:solidFill>
                <a:latin typeface="Arial"/>
                <a:cs typeface="Arial"/>
              </a:rPr>
              <a:t>3  </a:t>
            </a:r>
            <a:r>
              <a:rPr sz="1850" spc="-24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when </a:t>
            </a:r>
            <a:r>
              <a:rPr sz="2800" spc="-290" dirty="0">
                <a:solidFill>
                  <a:srgbClr val="006FC0"/>
                </a:solidFill>
                <a:latin typeface="Arial"/>
                <a:cs typeface="Arial"/>
              </a:rPr>
              <a:t>S</a:t>
            </a:r>
            <a:r>
              <a:rPr sz="2775" spc="-434" baseline="-21021" dirty="0">
                <a:solidFill>
                  <a:srgbClr val="006FC0"/>
                </a:solidFill>
                <a:latin typeface="Arial"/>
                <a:cs typeface="Arial"/>
              </a:rPr>
              <a:t>1</a:t>
            </a:r>
            <a:r>
              <a:rPr sz="2800" spc="-290" dirty="0">
                <a:solidFill>
                  <a:srgbClr val="006FC0"/>
                </a:solidFill>
                <a:latin typeface="Arial"/>
                <a:cs typeface="Arial"/>
              </a:rPr>
              <a:t>=1 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spc="-290" dirty="0">
                <a:solidFill>
                  <a:srgbClr val="006FC0"/>
                </a:solidFill>
                <a:latin typeface="Arial"/>
                <a:cs typeface="Arial"/>
              </a:rPr>
              <a:t>S</a:t>
            </a:r>
            <a:r>
              <a:rPr sz="2775" spc="-434" baseline="-21021" dirty="0">
                <a:solidFill>
                  <a:srgbClr val="006FC0"/>
                </a:solidFill>
                <a:latin typeface="Arial"/>
                <a:cs typeface="Arial"/>
              </a:rPr>
              <a:t>0</a:t>
            </a:r>
            <a:r>
              <a:rPr sz="2800" spc="-290" dirty="0">
                <a:solidFill>
                  <a:srgbClr val="006FC0"/>
                </a:solidFill>
                <a:latin typeface="Arial"/>
                <a:cs typeface="Arial"/>
              </a:rPr>
              <a:t>=0 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and when </a:t>
            </a:r>
            <a:r>
              <a:rPr sz="2800" spc="-290" dirty="0">
                <a:solidFill>
                  <a:srgbClr val="006FC0"/>
                </a:solidFill>
                <a:latin typeface="Arial"/>
                <a:cs typeface="Arial"/>
              </a:rPr>
              <a:t>S</a:t>
            </a:r>
            <a:r>
              <a:rPr sz="2775" spc="-434" baseline="-21021" dirty="0">
                <a:solidFill>
                  <a:srgbClr val="006FC0"/>
                </a:solidFill>
                <a:latin typeface="Arial"/>
                <a:cs typeface="Arial"/>
              </a:rPr>
              <a:t>1</a:t>
            </a:r>
            <a:r>
              <a:rPr sz="2800" spc="-290" dirty="0">
                <a:solidFill>
                  <a:srgbClr val="006FC0"/>
                </a:solidFill>
                <a:latin typeface="Arial"/>
                <a:cs typeface="Arial"/>
              </a:rPr>
              <a:t>=1 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S</a:t>
            </a:r>
            <a:r>
              <a:rPr sz="2775" spc="-397" baseline="-21021" dirty="0">
                <a:solidFill>
                  <a:srgbClr val="006FC0"/>
                </a:solidFill>
                <a:latin typeface="Arial"/>
                <a:cs typeface="Arial"/>
              </a:rPr>
              <a:t>0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=1,  </a:t>
            </a:r>
            <a:r>
              <a:rPr sz="2800" spc="-190" dirty="0">
                <a:solidFill>
                  <a:srgbClr val="006FC0"/>
                </a:solidFill>
                <a:latin typeface="Arial"/>
                <a:cs typeface="Arial"/>
              </a:rPr>
              <a:t>respectively.</a:t>
            </a:r>
            <a:endParaRPr sz="2800">
              <a:latin typeface="Arial"/>
              <a:cs typeface="Arial"/>
            </a:endParaRPr>
          </a:p>
          <a:p>
            <a:pPr marL="527685" marR="79375" indent="-464820" algn="just">
              <a:lnSpc>
                <a:spcPct val="100000"/>
              </a:lnSpc>
              <a:spcBef>
                <a:spcPts val="1440"/>
              </a:spcBef>
              <a:buClr>
                <a:srgbClr val="E36C09"/>
              </a:buClr>
              <a:buFont typeface="Wingdings"/>
              <a:buChar char=""/>
              <a:tabLst>
                <a:tab pos="528320" algn="l"/>
              </a:tabLst>
            </a:pPr>
            <a:r>
              <a:rPr sz="2800" spc="-145" dirty="0">
                <a:solidFill>
                  <a:srgbClr val="006FC0"/>
                </a:solidFill>
                <a:latin typeface="Arial"/>
                <a:cs typeface="Arial"/>
              </a:rPr>
              <a:t>Also, </a:t>
            </a:r>
            <a:r>
              <a:rPr sz="2800" spc="-100" dirty="0">
                <a:solidFill>
                  <a:srgbClr val="006FC0"/>
                </a:solidFill>
                <a:latin typeface="Arial"/>
                <a:cs typeface="Arial"/>
              </a:rPr>
              <a:t>from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60" dirty="0">
                <a:solidFill>
                  <a:srgbClr val="006FC0"/>
                </a:solidFill>
                <a:latin typeface="Arial"/>
                <a:cs typeface="Arial"/>
              </a:rPr>
              <a:t>truth </a:t>
            </a:r>
            <a:r>
              <a:rPr sz="2800" spc="-180" dirty="0">
                <a:solidFill>
                  <a:srgbClr val="006FC0"/>
                </a:solidFill>
                <a:latin typeface="Arial"/>
                <a:cs typeface="Arial"/>
              </a:rPr>
              <a:t>table,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expression </a:t>
            </a:r>
            <a:r>
              <a:rPr sz="2800" spc="-55" dirty="0">
                <a:solidFill>
                  <a:srgbClr val="006FC0"/>
                </a:solidFill>
                <a:latin typeface="Arial"/>
                <a:cs typeface="Arial"/>
              </a:rPr>
              <a:t>for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outputs </a:t>
            </a:r>
            <a:r>
              <a:rPr sz="2800" spc="-285" dirty="0">
                <a:solidFill>
                  <a:srgbClr val="006FC0"/>
                </a:solidFill>
                <a:latin typeface="Arial"/>
                <a:cs typeface="Arial"/>
              </a:rPr>
              <a:t>can  </a:t>
            </a:r>
            <a:r>
              <a:rPr sz="2800" spc="-275" dirty="0">
                <a:solidFill>
                  <a:srgbClr val="006FC0"/>
                </a:solidFill>
                <a:latin typeface="Arial"/>
                <a:cs typeface="Arial"/>
              </a:rPr>
              <a:t>be </a:t>
            </a:r>
            <a:r>
              <a:rPr sz="2800" spc="-100" dirty="0">
                <a:solidFill>
                  <a:srgbClr val="006FC0"/>
                </a:solidFill>
                <a:latin typeface="Arial"/>
                <a:cs typeface="Arial"/>
              </a:rPr>
              <a:t>written </a:t>
            </a:r>
            <a:r>
              <a:rPr sz="2800" spc="-455" dirty="0">
                <a:solidFill>
                  <a:srgbClr val="006FC0"/>
                </a:solidFill>
                <a:latin typeface="Arial"/>
                <a:cs typeface="Arial"/>
              </a:rPr>
              <a:t>as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160" dirty="0">
                <a:solidFill>
                  <a:srgbClr val="006FC0"/>
                </a:solidFill>
                <a:latin typeface="Arial"/>
                <a:cs typeface="Arial"/>
              </a:rPr>
              <a:t>follows,</a:t>
            </a:r>
            <a:endParaRPr sz="2800">
              <a:latin typeface="Arial"/>
              <a:cs typeface="Arial"/>
            </a:endParaRPr>
          </a:p>
          <a:p>
            <a:pPr marL="419100" algn="ctr">
              <a:lnSpc>
                <a:spcPct val="100000"/>
              </a:lnSpc>
              <a:spcBef>
                <a:spcPts val="40"/>
              </a:spcBef>
              <a:tabLst>
                <a:tab pos="2698115" algn="l"/>
                <a:tab pos="4688840" algn="l"/>
                <a:tab pos="6734175" algn="l"/>
              </a:tabLst>
            </a:pPr>
            <a:r>
              <a:rPr sz="2800" b="1" dirty="0">
                <a:latin typeface="Carlito"/>
                <a:cs typeface="Carlito"/>
              </a:rPr>
              <a:t>Y</a:t>
            </a:r>
            <a:r>
              <a:rPr sz="2775" b="1" baseline="-21021" dirty="0">
                <a:latin typeface="Carlito"/>
                <a:cs typeface="Carlito"/>
              </a:rPr>
              <a:t>0</a:t>
            </a:r>
            <a:r>
              <a:rPr sz="2800" b="1" dirty="0">
                <a:latin typeface="Carlito"/>
                <a:cs typeface="Carlito"/>
              </a:rPr>
              <a:t>=</a:t>
            </a:r>
            <a:r>
              <a:rPr sz="2800" b="1" spc="20" dirty="0">
                <a:latin typeface="Carlito"/>
                <a:cs typeface="Carlito"/>
              </a:rPr>
              <a:t> </a:t>
            </a:r>
            <a:r>
              <a:rPr sz="2800" b="1" spc="-5" dirty="0">
                <a:latin typeface="Carlito"/>
                <a:cs typeface="Carlito"/>
              </a:rPr>
              <a:t>S</a:t>
            </a:r>
            <a:r>
              <a:rPr sz="2775" b="1" spc="-7" baseline="-21021" dirty="0">
                <a:latin typeface="Carlito"/>
                <a:cs typeface="Carlito"/>
              </a:rPr>
              <a:t>1</a:t>
            </a:r>
            <a:r>
              <a:rPr sz="2800" b="1" spc="-5" dirty="0">
                <a:latin typeface="Carlito"/>
                <a:cs typeface="Carlito"/>
              </a:rPr>
              <a:t>’S</a:t>
            </a:r>
            <a:r>
              <a:rPr sz="2775" b="1" spc="-7" baseline="-21021" dirty="0">
                <a:latin typeface="Carlito"/>
                <a:cs typeface="Carlito"/>
              </a:rPr>
              <a:t>0</a:t>
            </a:r>
            <a:r>
              <a:rPr sz="2800" b="1" spc="-5" dirty="0">
                <a:latin typeface="Carlito"/>
                <a:cs typeface="Carlito"/>
              </a:rPr>
              <a:t>’D</a:t>
            </a:r>
            <a:r>
              <a:rPr sz="2775" b="1" spc="-7" baseline="-21021" dirty="0">
                <a:latin typeface="Carlito"/>
                <a:cs typeface="Carlito"/>
              </a:rPr>
              <a:t>in	</a:t>
            </a:r>
            <a:r>
              <a:rPr sz="2800" b="1" spc="-5" dirty="0">
                <a:latin typeface="Carlito"/>
                <a:cs typeface="Carlito"/>
              </a:rPr>
              <a:t>Y</a:t>
            </a:r>
            <a:r>
              <a:rPr sz="2775" b="1" spc="-7" baseline="-21021" dirty="0">
                <a:latin typeface="Carlito"/>
                <a:cs typeface="Carlito"/>
              </a:rPr>
              <a:t>1</a:t>
            </a:r>
            <a:r>
              <a:rPr sz="2800" b="1" spc="-5" dirty="0">
                <a:latin typeface="Carlito"/>
                <a:cs typeface="Carlito"/>
              </a:rPr>
              <a:t>=</a:t>
            </a:r>
            <a:r>
              <a:rPr sz="2800" b="1" spc="10" dirty="0">
                <a:latin typeface="Carlito"/>
                <a:cs typeface="Carlito"/>
              </a:rPr>
              <a:t> </a:t>
            </a:r>
            <a:r>
              <a:rPr sz="2800" b="1" dirty="0">
                <a:latin typeface="Carlito"/>
                <a:cs typeface="Carlito"/>
              </a:rPr>
              <a:t>S</a:t>
            </a:r>
            <a:r>
              <a:rPr sz="2775" b="1" baseline="-21021" dirty="0">
                <a:latin typeface="Carlito"/>
                <a:cs typeface="Carlito"/>
              </a:rPr>
              <a:t>1</a:t>
            </a:r>
            <a:r>
              <a:rPr sz="2800" b="1" dirty="0">
                <a:latin typeface="Carlito"/>
                <a:cs typeface="Carlito"/>
              </a:rPr>
              <a:t>’S</a:t>
            </a:r>
            <a:r>
              <a:rPr sz="2775" b="1" baseline="-21021" dirty="0">
                <a:latin typeface="Carlito"/>
                <a:cs typeface="Carlito"/>
              </a:rPr>
              <a:t>0</a:t>
            </a:r>
            <a:r>
              <a:rPr sz="2800" b="1" dirty="0">
                <a:latin typeface="Carlito"/>
                <a:cs typeface="Carlito"/>
              </a:rPr>
              <a:t>D</a:t>
            </a:r>
            <a:r>
              <a:rPr sz="2775" b="1" baseline="-21021" dirty="0">
                <a:latin typeface="Carlito"/>
                <a:cs typeface="Carlito"/>
              </a:rPr>
              <a:t>in	</a:t>
            </a:r>
            <a:r>
              <a:rPr sz="2800" b="1" spc="-5" dirty="0">
                <a:latin typeface="Carlito"/>
                <a:cs typeface="Carlito"/>
              </a:rPr>
              <a:t>Y</a:t>
            </a:r>
            <a:r>
              <a:rPr sz="2775" b="1" spc="-7" baseline="-21021" dirty="0">
                <a:latin typeface="Carlito"/>
                <a:cs typeface="Carlito"/>
              </a:rPr>
              <a:t>2</a:t>
            </a:r>
            <a:r>
              <a:rPr sz="2800" b="1" spc="-5" dirty="0">
                <a:latin typeface="Carlito"/>
                <a:cs typeface="Carlito"/>
              </a:rPr>
              <a:t>=</a:t>
            </a:r>
            <a:r>
              <a:rPr sz="2800" b="1" spc="15" dirty="0">
                <a:latin typeface="Carlito"/>
                <a:cs typeface="Carlito"/>
              </a:rPr>
              <a:t> </a:t>
            </a:r>
            <a:r>
              <a:rPr sz="2800" b="1" dirty="0">
                <a:latin typeface="Carlito"/>
                <a:cs typeface="Carlito"/>
              </a:rPr>
              <a:t>S</a:t>
            </a:r>
            <a:r>
              <a:rPr sz="2775" b="1" baseline="-21021" dirty="0">
                <a:latin typeface="Carlito"/>
                <a:cs typeface="Carlito"/>
              </a:rPr>
              <a:t>1</a:t>
            </a:r>
            <a:r>
              <a:rPr sz="2800" b="1" dirty="0">
                <a:latin typeface="Carlito"/>
                <a:cs typeface="Carlito"/>
              </a:rPr>
              <a:t>S</a:t>
            </a:r>
            <a:r>
              <a:rPr sz="2775" b="1" baseline="-21021" dirty="0">
                <a:latin typeface="Carlito"/>
                <a:cs typeface="Carlito"/>
              </a:rPr>
              <a:t>0</a:t>
            </a:r>
            <a:r>
              <a:rPr sz="2800" b="1" dirty="0">
                <a:latin typeface="Carlito"/>
                <a:cs typeface="Carlito"/>
              </a:rPr>
              <a:t>’D</a:t>
            </a:r>
            <a:r>
              <a:rPr sz="2775" b="1" baseline="-21021" dirty="0">
                <a:latin typeface="Carlito"/>
                <a:cs typeface="Carlito"/>
              </a:rPr>
              <a:t>in	</a:t>
            </a:r>
            <a:r>
              <a:rPr sz="2800" b="1" spc="-5" dirty="0">
                <a:latin typeface="Carlito"/>
                <a:cs typeface="Carlito"/>
              </a:rPr>
              <a:t>Y</a:t>
            </a:r>
            <a:r>
              <a:rPr sz="2775" b="1" spc="-7" baseline="-21021" dirty="0">
                <a:latin typeface="Carlito"/>
                <a:cs typeface="Carlito"/>
              </a:rPr>
              <a:t>3</a:t>
            </a:r>
            <a:r>
              <a:rPr sz="2800" b="1" spc="-5" dirty="0">
                <a:latin typeface="Carlito"/>
                <a:cs typeface="Carlito"/>
              </a:rPr>
              <a:t>=</a:t>
            </a:r>
            <a:r>
              <a:rPr sz="2800" b="1" spc="-25" dirty="0">
                <a:latin typeface="Carlito"/>
                <a:cs typeface="Carlito"/>
              </a:rPr>
              <a:t> </a:t>
            </a:r>
            <a:r>
              <a:rPr sz="2800" b="1" dirty="0">
                <a:latin typeface="Carlito"/>
                <a:cs typeface="Carlito"/>
              </a:rPr>
              <a:t>S</a:t>
            </a:r>
            <a:r>
              <a:rPr sz="2775" b="1" baseline="-21021" dirty="0">
                <a:latin typeface="Carlito"/>
                <a:cs typeface="Carlito"/>
              </a:rPr>
              <a:t>1</a:t>
            </a:r>
            <a:r>
              <a:rPr sz="2800" b="1" dirty="0">
                <a:latin typeface="Carlito"/>
                <a:cs typeface="Carlito"/>
              </a:rPr>
              <a:t>S</a:t>
            </a:r>
            <a:r>
              <a:rPr sz="2775" b="1" baseline="-21021" dirty="0">
                <a:latin typeface="Carlito"/>
                <a:cs typeface="Carlito"/>
              </a:rPr>
              <a:t>0</a:t>
            </a:r>
            <a:r>
              <a:rPr sz="2800" b="1" dirty="0">
                <a:latin typeface="Carlito"/>
                <a:cs typeface="Carlito"/>
              </a:rPr>
              <a:t>D</a:t>
            </a:r>
            <a:r>
              <a:rPr sz="2775" b="1" baseline="-21021" dirty="0">
                <a:latin typeface="Carlito"/>
                <a:cs typeface="Carlito"/>
              </a:rPr>
              <a:t>in</a:t>
            </a:r>
            <a:endParaRPr sz="2775" baseline="-21021">
              <a:latin typeface="Carlito"/>
              <a:cs typeface="Carlit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8739" y="6635530"/>
            <a:ext cx="723900" cy="17462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1000" b="1" spc="45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1000" b="1" spc="50" dirty="0">
                <a:solidFill>
                  <a:srgbClr val="C00000"/>
                </a:solidFill>
                <a:latin typeface="Arial"/>
                <a:cs typeface="Arial"/>
              </a:rPr>
              <a:t>U</a:t>
            </a:r>
            <a:r>
              <a:rPr sz="1000" b="1" spc="-5" dirty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1000" b="1" spc="-60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1000" b="1" spc="-10" dirty="0">
                <a:solidFill>
                  <a:srgbClr val="C00000"/>
                </a:solidFill>
                <a:latin typeface="Arial"/>
                <a:cs typeface="Arial"/>
              </a:rPr>
              <a:t>-</a:t>
            </a:r>
            <a:r>
              <a:rPr sz="1000" b="1" spc="100" dirty="0">
                <a:solidFill>
                  <a:srgbClr val="C00000"/>
                </a:solidFill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176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2697479" y="202679"/>
              <a:ext cx="3742944" cy="9342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971926" y="321386"/>
            <a:ext cx="319976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5" dirty="0"/>
              <a:t>DEMULTIPLEXERS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2286000" y="1600200"/>
            <a:ext cx="6863080" cy="5257800"/>
            <a:chOff x="2286000" y="1600200"/>
            <a:chExt cx="6863080" cy="5257800"/>
          </a:xfrm>
        </p:grpSpPr>
        <p:sp>
          <p:nvSpPr>
            <p:cNvPr id="8" name="object 8"/>
            <p:cNvSpPr/>
            <p:nvPr/>
          </p:nvSpPr>
          <p:spPr>
            <a:xfrm>
              <a:off x="8593835" y="6620254"/>
              <a:ext cx="550164" cy="23774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630411" y="6556242"/>
              <a:ext cx="513588" cy="3017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286000" y="1600200"/>
              <a:ext cx="4587240" cy="413613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177665" y="1072641"/>
            <a:ext cx="121666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25" dirty="0">
                <a:solidFill>
                  <a:srgbClr val="C00000"/>
                </a:solidFill>
                <a:latin typeface="Arial"/>
                <a:cs typeface="Arial"/>
              </a:rPr>
              <a:t>1:4</a:t>
            </a:r>
            <a:r>
              <a:rPr sz="2000" b="1" spc="-114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120" dirty="0">
                <a:solidFill>
                  <a:srgbClr val="C00000"/>
                </a:solidFill>
                <a:latin typeface="Arial"/>
                <a:cs typeface="Arial"/>
              </a:rPr>
              <a:t>DEMUX</a:t>
            </a:r>
            <a:endParaRPr sz="2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8739" y="6635530"/>
            <a:ext cx="723900" cy="17462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1000" b="1" spc="45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1000" b="1" spc="50" dirty="0">
                <a:solidFill>
                  <a:srgbClr val="C00000"/>
                </a:solidFill>
                <a:latin typeface="Arial"/>
                <a:cs typeface="Arial"/>
              </a:rPr>
              <a:t>U</a:t>
            </a:r>
            <a:r>
              <a:rPr sz="1000" b="1" spc="-5" dirty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1000" b="1" spc="-60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1000" b="1" spc="-10" dirty="0">
                <a:solidFill>
                  <a:srgbClr val="C00000"/>
                </a:solidFill>
                <a:latin typeface="Arial"/>
                <a:cs typeface="Arial"/>
              </a:rPr>
              <a:t>-</a:t>
            </a:r>
            <a:r>
              <a:rPr sz="1000" b="1" spc="100" dirty="0">
                <a:solidFill>
                  <a:srgbClr val="C00000"/>
                </a:solidFill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177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123058" y="5994908"/>
            <a:ext cx="491617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Palladio Uralic"/>
                <a:cs typeface="Palladio Uralic"/>
              </a:rPr>
              <a:t>Logic diagram of 1-to-4 line</a:t>
            </a:r>
            <a:r>
              <a:rPr sz="2000" b="1" spc="-165" dirty="0">
                <a:latin typeface="Palladio Uralic"/>
                <a:cs typeface="Palladio Uralic"/>
              </a:rPr>
              <a:t> </a:t>
            </a:r>
            <a:r>
              <a:rPr sz="2000" b="1" dirty="0">
                <a:latin typeface="Palladio Uralic"/>
                <a:cs typeface="Palladio Uralic"/>
              </a:rPr>
              <a:t>demultiplexer</a:t>
            </a:r>
            <a:endParaRPr sz="2000">
              <a:latin typeface="Palladio Uralic"/>
              <a:cs typeface="Palladio Uralic"/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2697479" y="202679"/>
              <a:ext cx="3742944" cy="9342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971926" y="321386"/>
            <a:ext cx="319976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5" dirty="0"/>
              <a:t>DEMULTIPLEXERS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sp>
          <p:nvSpPr>
            <p:cNvPr id="8" name="object 8"/>
            <p:cNvSpPr/>
            <p:nvPr/>
          </p:nvSpPr>
          <p:spPr>
            <a:xfrm>
              <a:off x="8593835" y="6620255"/>
              <a:ext cx="550164" cy="23774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630411" y="6556243"/>
              <a:ext cx="513588" cy="3017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20040" y="949830"/>
            <a:ext cx="8503920" cy="4892675"/>
          </a:xfrm>
          <a:prstGeom prst="rect">
            <a:avLst/>
          </a:prstGeom>
        </p:spPr>
        <p:txBody>
          <a:bodyPr vert="horz" wrap="square" lIns="0" tIns="135890" rIns="0" bIns="0" rtlCol="0">
            <a:spAutoFit/>
          </a:bodyPr>
          <a:lstStyle/>
          <a:p>
            <a:pPr marL="427355" algn="ctr">
              <a:lnSpc>
                <a:spcPct val="100000"/>
              </a:lnSpc>
              <a:spcBef>
                <a:spcPts val="1070"/>
              </a:spcBef>
            </a:pPr>
            <a:r>
              <a:rPr sz="2000" b="1" spc="-225" dirty="0">
                <a:solidFill>
                  <a:srgbClr val="C00000"/>
                </a:solidFill>
                <a:latin typeface="Arial"/>
                <a:cs typeface="Arial"/>
              </a:rPr>
              <a:t>1:4</a:t>
            </a:r>
            <a:r>
              <a:rPr sz="2000" b="1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120" dirty="0">
                <a:solidFill>
                  <a:srgbClr val="C00000"/>
                </a:solidFill>
                <a:latin typeface="Arial"/>
                <a:cs typeface="Arial"/>
              </a:rPr>
              <a:t>DEMUX</a:t>
            </a:r>
            <a:endParaRPr sz="2000">
              <a:latin typeface="Arial"/>
              <a:cs typeface="Arial"/>
            </a:endParaRPr>
          </a:p>
          <a:p>
            <a:pPr marL="540385" marR="66040" indent="-464820" algn="just">
              <a:lnSpc>
                <a:spcPct val="100000"/>
              </a:lnSpc>
              <a:spcBef>
                <a:spcPts val="1345"/>
              </a:spcBef>
              <a:buClr>
                <a:srgbClr val="E36C09"/>
              </a:buClr>
              <a:buFont typeface="Wingdings"/>
              <a:buChar char=""/>
              <a:tabLst>
                <a:tab pos="541020" algn="l"/>
              </a:tabLst>
            </a:pPr>
            <a:r>
              <a:rPr sz="2800" spc="-135" dirty="0">
                <a:solidFill>
                  <a:srgbClr val="006FC0"/>
                </a:solidFill>
                <a:latin typeface="Arial"/>
                <a:cs typeface="Arial"/>
              </a:rPr>
              <a:t>Now,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using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above expressions, </a:t>
            </a:r>
            <a:r>
              <a:rPr sz="2800" spc="-395" dirty="0">
                <a:solidFill>
                  <a:srgbClr val="006FC0"/>
                </a:solidFill>
                <a:latin typeface="Arial"/>
                <a:cs typeface="Arial"/>
              </a:rPr>
              <a:t>a</a:t>
            </a:r>
            <a:r>
              <a:rPr sz="2800" spc="-1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204" dirty="0">
                <a:solidFill>
                  <a:srgbClr val="006FC0"/>
                </a:solidFill>
                <a:latin typeface="Arial"/>
                <a:cs typeface="Arial"/>
              </a:rPr>
              <a:t>1-to-4 </a:t>
            </a:r>
            <a:r>
              <a:rPr sz="2800" spc="-145" dirty="0">
                <a:solidFill>
                  <a:srgbClr val="006FC0"/>
                </a:solidFill>
                <a:latin typeface="Arial"/>
                <a:cs typeface="Arial"/>
              </a:rPr>
              <a:t>line  </a:t>
            </a:r>
            <a:r>
              <a:rPr sz="2800" spc="-155" dirty="0">
                <a:solidFill>
                  <a:srgbClr val="006FC0"/>
                </a:solidFill>
                <a:latin typeface="Arial"/>
                <a:cs typeface="Arial"/>
              </a:rPr>
              <a:t>demultiplexer </a:t>
            </a:r>
            <a:r>
              <a:rPr sz="2800" spc="-280" dirty="0">
                <a:solidFill>
                  <a:srgbClr val="006FC0"/>
                </a:solidFill>
                <a:latin typeface="Arial"/>
                <a:cs typeface="Arial"/>
              </a:rPr>
              <a:t>can </a:t>
            </a:r>
            <a:r>
              <a:rPr sz="2800" spc="-285" dirty="0">
                <a:solidFill>
                  <a:srgbClr val="006FC0"/>
                </a:solidFill>
                <a:latin typeface="Arial"/>
                <a:cs typeface="Arial"/>
              </a:rPr>
              <a:t>be </a:t>
            </a:r>
            <a:r>
              <a:rPr sz="2800" spc="-185" dirty="0">
                <a:solidFill>
                  <a:srgbClr val="006FC0"/>
                </a:solidFill>
                <a:latin typeface="Arial"/>
                <a:cs typeface="Arial"/>
              </a:rPr>
              <a:t>implemented </a:t>
            </a:r>
            <a:r>
              <a:rPr sz="2800" spc="-260" dirty="0">
                <a:solidFill>
                  <a:srgbClr val="006FC0"/>
                </a:solidFill>
                <a:latin typeface="Arial"/>
                <a:cs typeface="Arial"/>
              </a:rPr>
              <a:t>using </a:t>
            </a:r>
            <a:r>
              <a:rPr sz="2800" spc="-90" dirty="0">
                <a:solidFill>
                  <a:srgbClr val="006FC0"/>
                </a:solidFill>
                <a:latin typeface="Arial"/>
                <a:cs typeface="Arial"/>
              </a:rPr>
              <a:t>four </a:t>
            </a:r>
            <a:r>
              <a:rPr sz="2800" spc="-155" dirty="0">
                <a:solidFill>
                  <a:srgbClr val="006FC0"/>
                </a:solidFill>
                <a:latin typeface="Arial"/>
                <a:cs typeface="Arial"/>
              </a:rPr>
              <a:t>3-input  </a:t>
            </a:r>
            <a:r>
              <a:rPr sz="2800" spc="-30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spc="-315" dirty="0">
                <a:solidFill>
                  <a:srgbClr val="006FC0"/>
                </a:solidFill>
                <a:latin typeface="Arial"/>
                <a:cs typeface="Arial"/>
              </a:rPr>
              <a:t>gates 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spc="-120" dirty="0">
                <a:solidFill>
                  <a:srgbClr val="006FC0"/>
                </a:solidFill>
                <a:latin typeface="Arial"/>
                <a:cs typeface="Arial"/>
              </a:rPr>
              <a:t>two </a:t>
            </a:r>
            <a:r>
              <a:rPr sz="2800" spc="-30" dirty="0">
                <a:solidFill>
                  <a:srgbClr val="006FC0"/>
                </a:solidFill>
                <a:latin typeface="Arial"/>
                <a:cs typeface="Arial"/>
              </a:rPr>
              <a:t>NOT</a:t>
            </a:r>
            <a:r>
              <a:rPr sz="2800" spc="-28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290" dirty="0">
                <a:solidFill>
                  <a:srgbClr val="006FC0"/>
                </a:solidFill>
                <a:latin typeface="Arial"/>
                <a:cs typeface="Arial"/>
              </a:rPr>
              <a:t>gates.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E36C09"/>
              </a:buClr>
              <a:buFont typeface="Wingdings"/>
              <a:buChar char=""/>
            </a:pPr>
            <a:endParaRPr sz="2900">
              <a:latin typeface="Arial"/>
              <a:cs typeface="Arial"/>
            </a:endParaRPr>
          </a:p>
          <a:p>
            <a:pPr marL="540385" marR="71120" indent="-464820" algn="just">
              <a:lnSpc>
                <a:spcPct val="100000"/>
              </a:lnSpc>
              <a:spcBef>
                <a:spcPts val="5"/>
              </a:spcBef>
              <a:buClr>
                <a:srgbClr val="E36C09"/>
              </a:buClr>
              <a:buFont typeface="Wingdings"/>
              <a:buChar char=""/>
              <a:tabLst>
                <a:tab pos="541020" algn="l"/>
              </a:tabLst>
            </a:pPr>
            <a:r>
              <a:rPr sz="2800" spc="-195" dirty="0">
                <a:solidFill>
                  <a:srgbClr val="006FC0"/>
                </a:solidFill>
                <a:latin typeface="Arial"/>
                <a:cs typeface="Arial"/>
              </a:rPr>
              <a:t>Here,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input </a:t>
            </a:r>
            <a:r>
              <a:rPr sz="2800" spc="-225" dirty="0">
                <a:solidFill>
                  <a:srgbClr val="006FC0"/>
                </a:solidFill>
                <a:latin typeface="Arial"/>
                <a:cs typeface="Arial"/>
              </a:rPr>
              <a:t>data </a:t>
            </a:r>
            <a:r>
              <a:rPr sz="2800" spc="-150" dirty="0">
                <a:solidFill>
                  <a:srgbClr val="006FC0"/>
                </a:solidFill>
                <a:latin typeface="Arial"/>
                <a:cs typeface="Arial"/>
              </a:rPr>
              <a:t>line </a:t>
            </a:r>
            <a:r>
              <a:rPr sz="2800" spc="-140" dirty="0">
                <a:solidFill>
                  <a:srgbClr val="006FC0"/>
                </a:solidFill>
                <a:latin typeface="Arial"/>
                <a:cs typeface="Arial"/>
              </a:rPr>
              <a:t>D</a:t>
            </a:r>
            <a:r>
              <a:rPr sz="2775" spc="-209" baseline="-21021" dirty="0">
                <a:solidFill>
                  <a:srgbClr val="006FC0"/>
                </a:solidFill>
                <a:latin typeface="Arial"/>
                <a:cs typeface="Arial"/>
              </a:rPr>
              <a:t>in</a:t>
            </a:r>
            <a:r>
              <a:rPr sz="2800" spc="-140" dirty="0">
                <a:solidFill>
                  <a:srgbClr val="006FC0"/>
                </a:solidFill>
                <a:latin typeface="Arial"/>
                <a:cs typeface="Arial"/>
              </a:rPr>
              <a:t>,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800" spc="-210" dirty="0">
                <a:solidFill>
                  <a:srgbClr val="006FC0"/>
                </a:solidFill>
                <a:latin typeface="Arial"/>
                <a:cs typeface="Arial"/>
              </a:rPr>
              <a:t>connected </a:t>
            </a:r>
            <a:r>
              <a:rPr sz="2800" spc="-60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800" spc="-145" dirty="0">
                <a:solidFill>
                  <a:srgbClr val="006FC0"/>
                </a:solidFill>
                <a:latin typeface="Arial"/>
                <a:cs typeface="Arial"/>
              </a:rPr>
              <a:t>all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40" dirty="0">
                <a:solidFill>
                  <a:srgbClr val="006FC0"/>
                </a:solidFill>
                <a:latin typeface="Arial"/>
                <a:cs typeface="Arial"/>
              </a:rPr>
              <a:t>AND  </a:t>
            </a:r>
            <a:r>
              <a:rPr sz="2800" spc="-290" dirty="0">
                <a:solidFill>
                  <a:srgbClr val="006FC0"/>
                </a:solidFill>
                <a:latin typeface="Arial"/>
                <a:cs typeface="Arial"/>
              </a:rPr>
              <a:t>gates.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E36C09"/>
              </a:buClr>
              <a:buFont typeface="Wingdings"/>
              <a:buChar char=""/>
            </a:pPr>
            <a:endParaRPr sz="2900">
              <a:latin typeface="Arial"/>
              <a:cs typeface="Arial"/>
            </a:endParaRPr>
          </a:p>
          <a:p>
            <a:pPr marL="540385" marR="68580" indent="-464820" algn="just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541020" algn="l"/>
              </a:tabLst>
            </a:pP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20" dirty="0">
                <a:solidFill>
                  <a:srgbClr val="006FC0"/>
                </a:solidFill>
                <a:latin typeface="Arial"/>
                <a:cs typeface="Arial"/>
              </a:rPr>
              <a:t>two </a:t>
            </a:r>
            <a:r>
              <a:rPr sz="2800" spc="-235" dirty="0">
                <a:solidFill>
                  <a:srgbClr val="006FC0"/>
                </a:solidFill>
                <a:latin typeface="Arial"/>
                <a:cs typeface="Arial"/>
              </a:rPr>
              <a:t>select </a:t>
            </a:r>
            <a:r>
              <a:rPr sz="2800" spc="-220" dirty="0">
                <a:solidFill>
                  <a:srgbClr val="006FC0"/>
                </a:solidFill>
                <a:latin typeface="Arial"/>
                <a:cs typeface="Arial"/>
              </a:rPr>
              <a:t>lines </a:t>
            </a:r>
            <a:r>
              <a:rPr sz="2800" spc="-330" dirty="0">
                <a:solidFill>
                  <a:srgbClr val="006FC0"/>
                </a:solidFill>
                <a:latin typeface="Arial"/>
                <a:cs typeface="Arial"/>
              </a:rPr>
              <a:t>S</a:t>
            </a:r>
            <a:r>
              <a:rPr sz="2775" spc="-494" baseline="-21021" dirty="0">
                <a:solidFill>
                  <a:srgbClr val="006FC0"/>
                </a:solidFill>
                <a:latin typeface="Arial"/>
                <a:cs typeface="Arial"/>
              </a:rPr>
              <a:t>1</a:t>
            </a:r>
            <a:r>
              <a:rPr sz="2800" spc="-330" dirty="0">
                <a:solidFill>
                  <a:srgbClr val="006FC0"/>
                </a:solidFill>
                <a:latin typeface="Arial"/>
                <a:cs typeface="Arial"/>
              </a:rPr>
              <a:t>, </a:t>
            </a:r>
            <a:r>
              <a:rPr sz="2800" spc="-409" dirty="0">
                <a:solidFill>
                  <a:srgbClr val="006FC0"/>
                </a:solidFill>
                <a:latin typeface="Arial"/>
                <a:cs typeface="Arial"/>
              </a:rPr>
              <a:t>S</a:t>
            </a:r>
            <a:r>
              <a:rPr sz="2775" spc="-615" baseline="-21021" dirty="0">
                <a:solidFill>
                  <a:srgbClr val="006FC0"/>
                </a:solidFill>
                <a:latin typeface="Arial"/>
                <a:cs typeface="Arial"/>
              </a:rPr>
              <a:t>0 </a:t>
            </a:r>
            <a:r>
              <a:rPr sz="2800" spc="-260" dirty="0">
                <a:solidFill>
                  <a:srgbClr val="006FC0"/>
                </a:solidFill>
                <a:latin typeface="Arial"/>
                <a:cs typeface="Arial"/>
              </a:rPr>
              <a:t>enable </a:t>
            </a:r>
            <a:r>
              <a:rPr sz="2800" spc="-135" dirty="0">
                <a:solidFill>
                  <a:srgbClr val="006FC0"/>
                </a:solidFill>
                <a:latin typeface="Arial"/>
                <a:cs typeface="Arial"/>
              </a:rPr>
              <a:t>only </a:t>
            </a:r>
            <a:r>
              <a:rPr sz="2800" spc="-235" dirty="0">
                <a:solidFill>
                  <a:srgbClr val="006FC0"/>
                </a:solidFill>
                <a:latin typeface="Arial"/>
                <a:cs typeface="Arial"/>
              </a:rPr>
              <a:t>one </a:t>
            </a:r>
            <a:r>
              <a:rPr sz="2800" spc="-260" dirty="0">
                <a:solidFill>
                  <a:srgbClr val="006FC0"/>
                </a:solidFill>
                <a:latin typeface="Arial"/>
                <a:cs typeface="Arial"/>
              </a:rPr>
              <a:t>gate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at </a:t>
            </a:r>
            <a:r>
              <a:rPr sz="2800" spc="-395" dirty="0">
                <a:solidFill>
                  <a:srgbClr val="006FC0"/>
                </a:solidFill>
                <a:latin typeface="Arial"/>
                <a:cs typeface="Arial"/>
              </a:rPr>
              <a:t>a </a:t>
            </a:r>
            <a:r>
              <a:rPr sz="2800" spc="-140" dirty="0">
                <a:solidFill>
                  <a:srgbClr val="006FC0"/>
                </a:solidFill>
                <a:latin typeface="Arial"/>
                <a:cs typeface="Arial"/>
              </a:rPr>
              <a:t>time  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225" dirty="0">
                <a:solidFill>
                  <a:srgbClr val="006FC0"/>
                </a:solidFill>
                <a:latin typeface="Arial"/>
                <a:cs typeface="Arial"/>
              </a:rPr>
              <a:t>data </a:t>
            </a:r>
            <a:r>
              <a:rPr sz="2800" spc="-125" dirty="0">
                <a:solidFill>
                  <a:srgbClr val="006FC0"/>
                </a:solidFill>
                <a:latin typeface="Arial"/>
                <a:cs typeface="Arial"/>
              </a:rPr>
              <a:t>that </a:t>
            </a:r>
            <a:r>
              <a:rPr sz="2800" spc="-285" dirty="0">
                <a:solidFill>
                  <a:srgbClr val="006FC0"/>
                </a:solidFill>
                <a:latin typeface="Arial"/>
                <a:cs typeface="Arial"/>
              </a:rPr>
              <a:t>appears </a:t>
            </a:r>
            <a:r>
              <a:rPr sz="2800" spc="-185" dirty="0">
                <a:solidFill>
                  <a:srgbClr val="006FC0"/>
                </a:solidFill>
                <a:latin typeface="Arial"/>
                <a:cs typeface="Arial"/>
              </a:rPr>
              <a:t>on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10" dirty="0">
                <a:solidFill>
                  <a:srgbClr val="006FC0"/>
                </a:solidFill>
                <a:latin typeface="Arial"/>
                <a:cs typeface="Arial"/>
              </a:rPr>
              <a:t>input </a:t>
            </a:r>
            <a:r>
              <a:rPr sz="2800" spc="-145" dirty="0">
                <a:solidFill>
                  <a:srgbClr val="006FC0"/>
                </a:solidFill>
                <a:latin typeface="Arial"/>
                <a:cs typeface="Arial"/>
              </a:rPr>
              <a:t>line </a:t>
            </a:r>
            <a:r>
              <a:rPr sz="2800" spc="-409" dirty="0">
                <a:solidFill>
                  <a:srgbClr val="006FC0"/>
                </a:solidFill>
                <a:latin typeface="Arial"/>
                <a:cs typeface="Arial"/>
              </a:rPr>
              <a:t>passes  </a:t>
            </a:r>
            <a:r>
              <a:rPr sz="2800" spc="-155" dirty="0">
                <a:solidFill>
                  <a:srgbClr val="006FC0"/>
                </a:solidFill>
                <a:latin typeface="Arial"/>
                <a:cs typeface="Arial"/>
              </a:rPr>
              <a:t>through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240" dirty="0">
                <a:solidFill>
                  <a:srgbClr val="006FC0"/>
                </a:solidFill>
                <a:latin typeface="Arial"/>
                <a:cs typeface="Arial"/>
              </a:rPr>
              <a:t>selected </a:t>
            </a:r>
            <a:r>
              <a:rPr sz="2800" spc="-260" dirty="0">
                <a:solidFill>
                  <a:srgbClr val="006FC0"/>
                </a:solidFill>
                <a:latin typeface="Arial"/>
                <a:cs typeface="Arial"/>
              </a:rPr>
              <a:t>gate </a:t>
            </a:r>
            <a:r>
              <a:rPr sz="2800" spc="-55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270" dirty="0">
                <a:solidFill>
                  <a:srgbClr val="006FC0"/>
                </a:solidFill>
                <a:latin typeface="Arial"/>
                <a:cs typeface="Arial"/>
              </a:rPr>
              <a:t>associated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output</a:t>
            </a:r>
            <a:r>
              <a:rPr sz="2800" spc="-30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150" dirty="0">
                <a:solidFill>
                  <a:srgbClr val="006FC0"/>
                </a:solidFill>
                <a:latin typeface="Arial"/>
                <a:cs typeface="Arial"/>
              </a:rPr>
              <a:t>line.</a:t>
            </a:r>
            <a:endParaRPr sz="2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8739" y="6635530"/>
            <a:ext cx="723900" cy="17462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1000" b="1" spc="45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1000" b="1" spc="50" dirty="0">
                <a:solidFill>
                  <a:srgbClr val="C00000"/>
                </a:solidFill>
                <a:latin typeface="Arial"/>
                <a:cs typeface="Arial"/>
              </a:rPr>
              <a:t>U</a:t>
            </a:r>
            <a:r>
              <a:rPr sz="1000" b="1" spc="-5" dirty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1000" b="1" spc="-60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1000" b="1" spc="-10" dirty="0">
                <a:solidFill>
                  <a:srgbClr val="C00000"/>
                </a:solidFill>
                <a:latin typeface="Arial"/>
                <a:cs typeface="Arial"/>
              </a:rPr>
              <a:t>-</a:t>
            </a:r>
            <a:r>
              <a:rPr sz="1000" b="1" spc="100" dirty="0">
                <a:solidFill>
                  <a:srgbClr val="C00000"/>
                </a:solidFill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178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2697479" y="202679"/>
              <a:ext cx="3742944" cy="9342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971926" y="321386"/>
            <a:ext cx="319976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5" dirty="0"/>
              <a:t>DEMULTIPLEXERS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sp>
          <p:nvSpPr>
            <p:cNvPr id="8" name="object 8"/>
            <p:cNvSpPr/>
            <p:nvPr/>
          </p:nvSpPr>
          <p:spPr>
            <a:xfrm>
              <a:off x="8593835" y="6620255"/>
              <a:ext cx="550164" cy="23774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630411" y="6556243"/>
              <a:ext cx="513588" cy="3017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58140" y="1072641"/>
            <a:ext cx="8428990" cy="20262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26084" algn="ctr">
              <a:lnSpc>
                <a:spcPts val="2355"/>
              </a:lnSpc>
              <a:spcBef>
                <a:spcPts val="105"/>
              </a:spcBef>
            </a:pPr>
            <a:r>
              <a:rPr sz="2000" b="1" spc="-225" dirty="0">
                <a:solidFill>
                  <a:srgbClr val="C00000"/>
                </a:solidFill>
                <a:latin typeface="Arial"/>
                <a:cs typeface="Arial"/>
              </a:rPr>
              <a:t>1:8</a:t>
            </a:r>
            <a:r>
              <a:rPr sz="2000" b="1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120" dirty="0">
                <a:solidFill>
                  <a:srgbClr val="C00000"/>
                </a:solidFill>
                <a:latin typeface="Arial"/>
                <a:cs typeface="Arial"/>
              </a:rPr>
              <a:t>DEMUX</a:t>
            </a:r>
            <a:endParaRPr sz="2000">
              <a:latin typeface="Arial"/>
              <a:cs typeface="Arial"/>
            </a:endParaRPr>
          </a:p>
          <a:p>
            <a:pPr marL="502284" marR="30480" indent="-464820">
              <a:lnSpc>
                <a:spcPts val="3360"/>
              </a:lnSpc>
              <a:spcBef>
                <a:spcPts val="65"/>
              </a:spcBef>
              <a:buClr>
                <a:srgbClr val="E36C09"/>
              </a:buClr>
              <a:buFont typeface="Wingdings"/>
              <a:buChar char=""/>
              <a:tabLst>
                <a:tab pos="502284" algn="l"/>
                <a:tab pos="502920" algn="l"/>
              </a:tabLst>
            </a:pPr>
            <a:r>
              <a:rPr sz="2800" spc="135" dirty="0">
                <a:solidFill>
                  <a:srgbClr val="006FC0"/>
                </a:solidFill>
                <a:latin typeface="Arial"/>
                <a:cs typeface="Arial"/>
              </a:rPr>
              <a:t>A </a:t>
            </a:r>
            <a:r>
              <a:rPr sz="2800" spc="-200" dirty="0">
                <a:solidFill>
                  <a:srgbClr val="006FC0"/>
                </a:solidFill>
                <a:latin typeface="Arial"/>
                <a:cs typeface="Arial"/>
              </a:rPr>
              <a:t>1-to-8 </a:t>
            </a:r>
            <a:r>
              <a:rPr sz="2800" spc="-150" dirty="0">
                <a:solidFill>
                  <a:srgbClr val="006FC0"/>
                </a:solidFill>
                <a:latin typeface="Arial"/>
                <a:cs typeface="Arial"/>
              </a:rPr>
              <a:t>line </a:t>
            </a:r>
            <a:r>
              <a:rPr sz="2800" spc="-155" dirty="0">
                <a:solidFill>
                  <a:srgbClr val="006FC0"/>
                </a:solidFill>
                <a:latin typeface="Arial"/>
                <a:cs typeface="Arial"/>
              </a:rPr>
              <a:t>demultiplexer </a:t>
            </a:r>
            <a:r>
              <a:rPr sz="2800" spc="-375" dirty="0">
                <a:solidFill>
                  <a:srgbClr val="006FC0"/>
                </a:solidFill>
                <a:latin typeface="Arial"/>
                <a:cs typeface="Arial"/>
              </a:rPr>
              <a:t>has </a:t>
            </a:r>
            <a:r>
              <a:rPr sz="2800" spc="-395" dirty="0">
                <a:solidFill>
                  <a:srgbClr val="006FC0"/>
                </a:solidFill>
                <a:latin typeface="Arial"/>
                <a:cs typeface="Arial"/>
              </a:rPr>
              <a:t>a</a:t>
            </a:r>
            <a:r>
              <a:rPr sz="2800" spc="-1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245" dirty="0">
                <a:solidFill>
                  <a:srgbClr val="006FC0"/>
                </a:solidFill>
                <a:latin typeface="Arial"/>
                <a:cs typeface="Arial"/>
              </a:rPr>
              <a:t>single </a:t>
            </a:r>
            <a:r>
              <a:rPr sz="2800" spc="-114" dirty="0">
                <a:solidFill>
                  <a:srgbClr val="006FC0"/>
                </a:solidFill>
                <a:latin typeface="Arial"/>
                <a:cs typeface="Arial"/>
              </a:rPr>
              <a:t>input, </a:t>
            </a:r>
            <a:r>
              <a:rPr sz="2800" b="1" spc="-190" dirty="0">
                <a:solidFill>
                  <a:srgbClr val="006FC0"/>
                </a:solidFill>
                <a:latin typeface="Arial"/>
                <a:cs typeface="Arial"/>
              </a:rPr>
              <a:t>D</a:t>
            </a:r>
            <a:r>
              <a:rPr sz="2775" b="1" spc="-284" baseline="-21021" dirty="0">
                <a:solidFill>
                  <a:srgbClr val="006FC0"/>
                </a:solidFill>
                <a:latin typeface="Arial"/>
                <a:cs typeface="Arial"/>
              </a:rPr>
              <a:t>in</a:t>
            </a:r>
            <a:r>
              <a:rPr sz="2800" spc="-190" dirty="0">
                <a:solidFill>
                  <a:srgbClr val="006FC0"/>
                </a:solidFill>
                <a:latin typeface="Arial"/>
                <a:cs typeface="Arial"/>
              </a:rPr>
              <a:t>, </a:t>
            </a:r>
            <a:r>
              <a:rPr sz="2800" spc="-180" dirty="0">
                <a:solidFill>
                  <a:srgbClr val="006FC0"/>
                </a:solidFill>
                <a:latin typeface="Arial"/>
                <a:cs typeface="Arial"/>
              </a:rPr>
              <a:t>eight 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outputs </a:t>
            </a:r>
            <a:r>
              <a:rPr sz="2800" spc="-245" dirty="0">
                <a:solidFill>
                  <a:srgbClr val="006FC0"/>
                </a:solidFill>
                <a:latin typeface="Arial"/>
                <a:cs typeface="Arial"/>
              </a:rPr>
              <a:t>(</a:t>
            </a:r>
            <a:r>
              <a:rPr sz="2800" b="1" spc="-245" dirty="0">
                <a:solidFill>
                  <a:srgbClr val="006FC0"/>
                </a:solidFill>
                <a:latin typeface="Arial"/>
                <a:cs typeface="Arial"/>
              </a:rPr>
              <a:t>Y</a:t>
            </a:r>
            <a:r>
              <a:rPr sz="2775" b="1" spc="-367" baseline="-21021" dirty="0">
                <a:solidFill>
                  <a:srgbClr val="006FC0"/>
                </a:solidFill>
                <a:latin typeface="Arial"/>
                <a:cs typeface="Arial"/>
              </a:rPr>
              <a:t>0 </a:t>
            </a:r>
            <a:r>
              <a:rPr sz="2800" b="1" spc="-204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800" b="1" spc="-245" dirty="0">
                <a:solidFill>
                  <a:srgbClr val="006FC0"/>
                </a:solidFill>
                <a:latin typeface="Arial"/>
                <a:cs typeface="Arial"/>
              </a:rPr>
              <a:t>Y</a:t>
            </a:r>
            <a:r>
              <a:rPr sz="2775" b="1" spc="-367" baseline="-21021" dirty="0">
                <a:solidFill>
                  <a:srgbClr val="006FC0"/>
                </a:solidFill>
                <a:latin typeface="Arial"/>
                <a:cs typeface="Arial"/>
              </a:rPr>
              <a:t>7</a:t>
            </a:r>
            <a:r>
              <a:rPr sz="2800" spc="-245" dirty="0">
                <a:solidFill>
                  <a:srgbClr val="006FC0"/>
                </a:solidFill>
                <a:latin typeface="Arial"/>
                <a:cs typeface="Arial"/>
              </a:rPr>
              <a:t>) </a:t>
            </a:r>
            <a:r>
              <a:rPr sz="2800" spc="-254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three </a:t>
            </a:r>
            <a:r>
              <a:rPr sz="2800" spc="-245" dirty="0">
                <a:solidFill>
                  <a:srgbClr val="006FC0"/>
                </a:solidFill>
                <a:latin typeface="Arial"/>
                <a:cs typeface="Arial"/>
              </a:rPr>
              <a:t>select </a:t>
            </a:r>
            <a:r>
              <a:rPr sz="2800" spc="-180" dirty="0">
                <a:solidFill>
                  <a:srgbClr val="006FC0"/>
                </a:solidFill>
                <a:latin typeface="Arial"/>
                <a:cs typeface="Arial"/>
              </a:rPr>
              <a:t>inputs </a:t>
            </a:r>
            <a:r>
              <a:rPr sz="2800" spc="-295" dirty="0">
                <a:solidFill>
                  <a:srgbClr val="006FC0"/>
                </a:solidFill>
                <a:latin typeface="Arial"/>
                <a:cs typeface="Arial"/>
              </a:rPr>
              <a:t>(</a:t>
            </a:r>
            <a:r>
              <a:rPr sz="2800" b="1" spc="-295" dirty="0">
                <a:solidFill>
                  <a:srgbClr val="006FC0"/>
                </a:solidFill>
                <a:latin typeface="Arial"/>
                <a:cs typeface="Arial"/>
              </a:rPr>
              <a:t>S</a:t>
            </a:r>
            <a:r>
              <a:rPr sz="2775" b="1" spc="-442" baseline="-21021" dirty="0">
                <a:solidFill>
                  <a:srgbClr val="006FC0"/>
                </a:solidFill>
                <a:latin typeface="Arial"/>
                <a:cs typeface="Arial"/>
              </a:rPr>
              <a:t>2, </a:t>
            </a:r>
            <a:r>
              <a:rPr sz="2800" b="1" spc="-409" dirty="0">
                <a:solidFill>
                  <a:srgbClr val="006FC0"/>
                </a:solidFill>
                <a:latin typeface="Arial"/>
                <a:cs typeface="Arial"/>
              </a:rPr>
              <a:t>S</a:t>
            </a:r>
            <a:r>
              <a:rPr sz="2775" b="1" spc="-615" baseline="-21021" dirty="0">
                <a:solidFill>
                  <a:srgbClr val="006FC0"/>
                </a:solidFill>
                <a:latin typeface="Arial"/>
                <a:cs typeface="Arial"/>
              </a:rPr>
              <a:t>1 </a:t>
            </a:r>
            <a:r>
              <a:rPr sz="2800" b="1" spc="-365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b="1" spc="-310" dirty="0">
                <a:solidFill>
                  <a:srgbClr val="006FC0"/>
                </a:solidFill>
                <a:latin typeface="Arial"/>
                <a:cs typeface="Arial"/>
              </a:rPr>
              <a:t>S</a:t>
            </a:r>
            <a:r>
              <a:rPr sz="2775" b="1" spc="-465" baseline="-21021" dirty="0">
                <a:solidFill>
                  <a:srgbClr val="006FC0"/>
                </a:solidFill>
                <a:latin typeface="Arial"/>
                <a:cs typeface="Arial"/>
              </a:rPr>
              <a:t>0</a:t>
            </a:r>
            <a:r>
              <a:rPr sz="2800" spc="-310" dirty="0">
                <a:solidFill>
                  <a:srgbClr val="006FC0"/>
                </a:solidFill>
                <a:latin typeface="Arial"/>
                <a:cs typeface="Arial"/>
              </a:rPr>
              <a:t>).</a:t>
            </a:r>
            <a:r>
              <a:rPr sz="2800" spc="-46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20" dirty="0">
                <a:solidFill>
                  <a:srgbClr val="006FC0"/>
                </a:solidFill>
                <a:latin typeface="Arial"/>
                <a:cs typeface="Arial"/>
              </a:rPr>
              <a:t>It</a:t>
            </a:r>
            <a:endParaRPr sz="2800">
              <a:latin typeface="Arial"/>
              <a:cs typeface="Arial"/>
            </a:endParaRPr>
          </a:p>
          <a:p>
            <a:pPr marL="502284" marR="31115">
              <a:lnSpc>
                <a:spcPts val="3360"/>
              </a:lnSpc>
            </a:pP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distributes </a:t>
            </a:r>
            <a:r>
              <a:rPr sz="2800" spc="-235" dirty="0">
                <a:solidFill>
                  <a:srgbClr val="006FC0"/>
                </a:solidFill>
                <a:latin typeface="Arial"/>
                <a:cs typeface="Arial"/>
              </a:rPr>
              <a:t>one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input </a:t>
            </a:r>
            <a:r>
              <a:rPr sz="2800" spc="-145" dirty="0">
                <a:solidFill>
                  <a:srgbClr val="006FC0"/>
                </a:solidFill>
                <a:latin typeface="Arial"/>
                <a:cs typeface="Arial"/>
              </a:rPr>
              <a:t>line </a:t>
            </a:r>
            <a:r>
              <a:rPr sz="2800" spc="-50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eight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output </a:t>
            </a:r>
            <a:r>
              <a:rPr sz="2800" spc="-220" dirty="0">
                <a:solidFill>
                  <a:srgbClr val="006FC0"/>
                </a:solidFill>
                <a:latin typeface="Arial"/>
                <a:cs typeface="Arial"/>
              </a:rPr>
              <a:t>lines </a:t>
            </a:r>
            <a:r>
              <a:rPr sz="2800" spc="-330" dirty="0">
                <a:solidFill>
                  <a:srgbClr val="006FC0"/>
                </a:solidFill>
                <a:latin typeface="Arial"/>
                <a:cs typeface="Arial"/>
              </a:rPr>
              <a:t>based </a:t>
            </a:r>
            <a:r>
              <a:rPr sz="2800" spc="-180" dirty="0">
                <a:solidFill>
                  <a:srgbClr val="006FC0"/>
                </a:solidFill>
                <a:latin typeface="Arial"/>
                <a:cs typeface="Arial"/>
              </a:rPr>
              <a:t>on 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235" dirty="0">
                <a:solidFill>
                  <a:srgbClr val="006FC0"/>
                </a:solidFill>
                <a:latin typeface="Arial"/>
                <a:cs typeface="Arial"/>
              </a:rPr>
              <a:t>select</a:t>
            </a:r>
            <a:r>
              <a:rPr sz="2800" spc="14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inputs.</a:t>
            </a:r>
            <a:endParaRPr sz="28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447800" y="3246120"/>
            <a:ext cx="6629400" cy="29717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1441450" y="3239770"/>
          <a:ext cx="6648450" cy="29965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2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19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297560">
                <a:tc>
                  <a:txBody>
                    <a:bodyPr/>
                    <a:lstStyle/>
                    <a:p>
                      <a:pPr marL="635" algn="ctr">
                        <a:lnSpc>
                          <a:spcPts val="1735"/>
                        </a:lnSpc>
                        <a:spcBef>
                          <a:spcPts val="509"/>
                        </a:spcBef>
                      </a:pPr>
                      <a:r>
                        <a:rPr sz="2700" b="1" spc="-7" baseline="13888" dirty="0">
                          <a:latin typeface="Palladio Uralic"/>
                          <a:cs typeface="Palladio Uralic"/>
                        </a:rPr>
                        <a:t>D</a:t>
                      </a:r>
                      <a:r>
                        <a:rPr sz="1200" b="1" spc="-5" dirty="0">
                          <a:latin typeface="Palladio Uralic"/>
                          <a:cs typeface="Palladio Uralic"/>
                        </a:rPr>
                        <a:t>in</a:t>
                      </a:r>
                      <a:endParaRPr sz="1200">
                        <a:latin typeface="Palladio Uralic"/>
                        <a:cs typeface="Palladio Uralic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b="1" spc="-5" dirty="0">
                          <a:latin typeface="Palladio Uralic"/>
                          <a:cs typeface="Palladio Uralic"/>
                        </a:rPr>
                        <a:t>S</a:t>
                      </a:r>
                      <a:r>
                        <a:rPr sz="1800" b="1" spc="-7" baseline="-20833" dirty="0">
                          <a:latin typeface="Palladio Uralic"/>
                          <a:cs typeface="Palladio Uralic"/>
                        </a:rPr>
                        <a:t>2</a:t>
                      </a:r>
                      <a:endParaRPr sz="1800" baseline="-20833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b="1" spc="-5" dirty="0">
                          <a:latin typeface="Palladio Uralic"/>
                          <a:cs typeface="Palladio Uralic"/>
                        </a:rPr>
                        <a:t>S</a:t>
                      </a:r>
                      <a:r>
                        <a:rPr sz="1800" b="1" spc="-7" baseline="-20833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 baseline="-20833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b="1" spc="-5" dirty="0">
                          <a:latin typeface="Palladio Uralic"/>
                          <a:cs typeface="Palladio Uralic"/>
                        </a:rPr>
                        <a:t>S</a:t>
                      </a:r>
                      <a:r>
                        <a:rPr sz="1800" b="1" spc="-7" baseline="-20833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 baseline="-20833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b="1" spc="-5" dirty="0">
                          <a:latin typeface="Palladio Uralic"/>
                          <a:cs typeface="Palladio Uralic"/>
                        </a:rPr>
                        <a:t>Y</a:t>
                      </a:r>
                      <a:r>
                        <a:rPr sz="1800" b="1" spc="-7" baseline="-20833" dirty="0">
                          <a:latin typeface="Palladio Uralic"/>
                          <a:cs typeface="Palladio Uralic"/>
                        </a:rPr>
                        <a:t>7</a:t>
                      </a:r>
                      <a:endParaRPr sz="1800" baseline="-20833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b="1" spc="-5" dirty="0">
                          <a:latin typeface="Palladio Uralic"/>
                          <a:cs typeface="Palladio Uralic"/>
                        </a:rPr>
                        <a:t>Y</a:t>
                      </a:r>
                      <a:r>
                        <a:rPr sz="1800" b="1" spc="-7" baseline="-20833" dirty="0">
                          <a:latin typeface="Palladio Uralic"/>
                          <a:cs typeface="Palladio Uralic"/>
                        </a:rPr>
                        <a:t>6</a:t>
                      </a:r>
                      <a:endParaRPr sz="1800" baseline="-20833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b="1" spc="-5" dirty="0">
                          <a:latin typeface="Palladio Uralic"/>
                          <a:cs typeface="Palladio Uralic"/>
                        </a:rPr>
                        <a:t>Y</a:t>
                      </a:r>
                      <a:r>
                        <a:rPr sz="1800" b="1" spc="-7" baseline="-20833" dirty="0">
                          <a:latin typeface="Palladio Uralic"/>
                          <a:cs typeface="Palladio Uralic"/>
                        </a:rPr>
                        <a:t>5</a:t>
                      </a:r>
                      <a:endParaRPr sz="1800" baseline="-20833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b="1" spc="-5" dirty="0">
                          <a:latin typeface="Palladio Uralic"/>
                          <a:cs typeface="Palladio Uralic"/>
                        </a:rPr>
                        <a:t>Y</a:t>
                      </a:r>
                      <a:r>
                        <a:rPr sz="1800" b="1" spc="-7" baseline="-20833" dirty="0">
                          <a:latin typeface="Palladio Uralic"/>
                          <a:cs typeface="Palladio Uralic"/>
                        </a:rPr>
                        <a:t>4</a:t>
                      </a:r>
                      <a:endParaRPr sz="1800" baseline="-20833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b="1" spc="-5" dirty="0">
                          <a:latin typeface="Palladio Uralic"/>
                          <a:cs typeface="Palladio Uralic"/>
                        </a:rPr>
                        <a:t>Y</a:t>
                      </a:r>
                      <a:r>
                        <a:rPr sz="1800" b="1" spc="-7" baseline="-20833" dirty="0">
                          <a:latin typeface="Palladio Uralic"/>
                          <a:cs typeface="Palladio Uralic"/>
                        </a:rPr>
                        <a:t>3</a:t>
                      </a:r>
                      <a:endParaRPr sz="1800" baseline="-20833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b="1" spc="-5" dirty="0">
                          <a:latin typeface="Palladio Uralic"/>
                          <a:cs typeface="Palladio Uralic"/>
                        </a:rPr>
                        <a:t>Y</a:t>
                      </a:r>
                      <a:r>
                        <a:rPr sz="1800" b="1" spc="-7" baseline="-20833" dirty="0">
                          <a:latin typeface="Palladio Uralic"/>
                          <a:cs typeface="Palladio Uralic"/>
                        </a:rPr>
                        <a:t>2</a:t>
                      </a:r>
                      <a:endParaRPr sz="1800" baseline="-20833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b="1" spc="-5" dirty="0">
                          <a:latin typeface="Palladio Uralic"/>
                          <a:cs typeface="Palladio Uralic"/>
                        </a:rPr>
                        <a:t>Y</a:t>
                      </a:r>
                      <a:r>
                        <a:rPr sz="1800" b="1" spc="-7" baseline="-20833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 baseline="-20833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b="1" spc="-5" dirty="0">
                          <a:latin typeface="Palladio Uralic"/>
                          <a:cs typeface="Palladio Uralic"/>
                        </a:rPr>
                        <a:t>Y</a:t>
                      </a:r>
                      <a:r>
                        <a:rPr sz="1800" b="1" spc="-7" baseline="-20833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 baseline="-20833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x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x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x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78739" y="6635530"/>
            <a:ext cx="723900" cy="17462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1000" b="1" spc="45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1000" b="1" spc="50" dirty="0">
                <a:solidFill>
                  <a:srgbClr val="C00000"/>
                </a:solidFill>
                <a:latin typeface="Arial"/>
                <a:cs typeface="Arial"/>
              </a:rPr>
              <a:t>U</a:t>
            </a:r>
            <a:r>
              <a:rPr sz="1000" b="1" spc="-5" dirty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1000" b="1" spc="-60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1000" b="1" spc="-10" dirty="0">
                <a:solidFill>
                  <a:srgbClr val="C00000"/>
                </a:solidFill>
                <a:latin typeface="Arial"/>
                <a:cs typeface="Arial"/>
              </a:rPr>
              <a:t>-</a:t>
            </a:r>
            <a:r>
              <a:rPr sz="1000" b="1" spc="100" dirty="0">
                <a:solidFill>
                  <a:srgbClr val="C00000"/>
                </a:solidFill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179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793241" y="982217"/>
              <a:ext cx="7589519" cy="762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6764"/>
              <a:ext cx="9143999" cy="668274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53439" y="320001"/>
              <a:ext cx="7434072" cy="57611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697479" y="202679"/>
              <a:ext cx="3742944" cy="93422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971926" y="321386"/>
            <a:ext cx="319976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5" dirty="0"/>
              <a:t>DEMULTIPLEXERS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187194" y="4490720"/>
            <a:ext cx="2188210" cy="172148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 marR="30480" algn="just">
              <a:lnSpc>
                <a:spcPct val="99200"/>
              </a:lnSpc>
              <a:spcBef>
                <a:spcPts val="120"/>
              </a:spcBef>
            </a:pPr>
            <a:r>
              <a:rPr sz="2800" b="1" spc="-5" dirty="0">
                <a:latin typeface="Carlito"/>
                <a:cs typeface="Carlito"/>
              </a:rPr>
              <a:t>Y</a:t>
            </a:r>
            <a:r>
              <a:rPr sz="2775" b="1" spc="-7" baseline="-21021" dirty="0">
                <a:latin typeface="Carlito"/>
                <a:cs typeface="Carlito"/>
              </a:rPr>
              <a:t>0</a:t>
            </a:r>
            <a:r>
              <a:rPr sz="2800" b="1" spc="-5" dirty="0">
                <a:latin typeface="Carlito"/>
                <a:cs typeface="Carlito"/>
              </a:rPr>
              <a:t>= S</a:t>
            </a:r>
            <a:r>
              <a:rPr sz="2775" b="1" spc="-7" baseline="-21021" dirty="0">
                <a:latin typeface="Carlito"/>
                <a:cs typeface="Carlito"/>
              </a:rPr>
              <a:t>2</a:t>
            </a:r>
            <a:r>
              <a:rPr sz="2800" b="1" spc="-5" dirty="0">
                <a:latin typeface="Carlito"/>
                <a:cs typeface="Carlito"/>
              </a:rPr>
              <a:t>’S</a:t>
            </a:r>
            <a:r>
              <a:rPr sz="2775" b="1" spc="-7" baseline="-21021" dirty="0">
                <a:latin typeface="Carlito"/>
                <a:cs typeface="Carlito"/>
              </a:rPr>
              <a:t>1</a:t>
            </a:r>
            <a:r>
              <a:rPr sz="2800" b="1" spc="-5" dirty="0">
                <a:latin typeface="Carlito"/>
                <a:cs typeface="Carlito"/>
              </a:rPr>
              <a:t>’S</a:t>
            </a:r>
            <a:r>
              <a:rPr sz="2775" b="1" spc="-7" baseline="-21021" dirty="0">
                <a:latin typeface="Carlito"/>
                <a:cs typeface="Carlito"/>
              </a:rPr>
              <a:t>0</a:t>
            </a:r>
            <a:r>
              <a:rPr sz="2800" b="1" spc="-5" dirty="0">
                <a:latin typeface="Carlito"/>
                <a:cs typeface="Carlito"/>
              </a:rPr>
              <a:t>’D</a:t>
            </a:r>
            <a:r>
              <a:rPr sz="2775" b="1" spc="-7" baseline="-21021" dirty="0">
                <a:latin typeface="Carlito"/>
                <a:cs typeface="Carlito"/>
              </a:rPr>
              <a:t>in  </a:t>
            </a:r>
            <a:r>
              <a:rPr sz="2800" b="1" spc="-5" dirty="0">
                <a:latin typeface="Carlito"/>
                <a:cs typeface="Carlito"/>
              </a:rPr>
              <a:t>Y</a:t>
            </a:r>
            <a:r>
              <a:rPr sz="2775" b="1" spc="-7" baseline="-21021" dirty="0">
                <a:latin typeface="Carlito"/>
                <a:cs typeface="Carlito"/>
              </a:rPr>
              <a:t>1</a:t>
            </a:r>
            <a:r>
              <a:rPr sz="2800" b="1" spc="-5" dirty="0">
                <a:latin typeface="Carlito"/>
                <a:cs typeface="Carlito"/>
              </a:rPr>
              <a:t>= </a:t>
            </a:r>
            <a:r>
              <a:rPr sz="2800" b="1" dirty="0">
                <a:latin typeface="Carlito"/>
                <a:cs typeface="Carlito"/>
              </a:rPr>
              <a:t>S</a:t>
            </a:r>
            <a:r>
              <a:rPr sz="2775" b="1" baseline="-21021" dirty="0">
                <a:latin typeface="Carlito"/>
                <a:cs typeface="Carlito"/>
              </a:rPr>
              <a:t>2</a:t>
            </a:r>
            <a:r>
              <a:rPr sz="2800" b="1" dirty="0">
                <a:latin typeface="Carlito"/>
                <a:cs typeface="Carlito"/>
              </a:rPr>
              <a:t>’S</a:t>
            </a:r>
            <a:r>
              <a:rPr sz="2775" b="1" baseline="-21021" dirty="0">
                <a:latin typeface="Carlito"/>
                <a:cs typeface="Carlito"/>
              </a:rPr>
              <a:t>1</a:t>
            </a:r>
            <a:r>
              <a:rPr sz="2800" b="1" dirty="0">
                <a:latin typeface="Carlito"/>
                <a:cs typeface="Carlito"/>
              </a:rPr>
              <a:t>’S</a:t>
            </a:r>
            <a:r>
              <a:rPr sz="2775" b="1" baseline="-21021" dirty="0">
                <a:latin typeface="Carlito"/>
                <a:cs typeface="Carlito"/>
              </a:rPr>
              <a:t>0</a:t>
            </a:r>
            <a:r>
              <a:rPr sz="2800" b="1" dirty="0">
                <a:latin typeface="Carlito"/>
                <a:cs typeface="Carlito"/>
              </a:rPr>
              <a:t>D</a:t>
            </a:r>
            <a:r>
              <a:rPr sz="2775" b="1" baseline="-21021" dirty="0">
                <a:latin typeface="Carlito"/>
                <a:cs typeface="Carlito"/>
              </a:rPr>
              <a:t>in  </a:t>
            </a:r>
            <a:r>
              <a:rPr sz="2800" b="1" dirty="0">
                <a:latin typeface="Carlito"/>
                <a:cs typeface="Carlito"/>
              </a:rPr>
              <a:t>Y</a:t>
            </a:r>
            <a:r>
              <a:rPr sz="2775" b="1" baseline="-21021" dirty="0">
                <a:latin typeface="Carlito"/>
                <a:cs typeface="Carlito"/>
              </a:rPr>
              <a:t>2</a:t>
            </a:r>
            <a:r>
              <a:rPr sz="2800" b="1" dirty="0">
                <a:latin typeface="Carlito"/>
                <a:cs typeface="Carlito"/>
              </a:rPr>
              <a:t>= S</a:t>
            </a:r>
            <a:r>
              <a:rPr sz="2775" b="1" baseline="-21021" dirty="0">
                <a:latin typeface="Carlito"/>
                <a:cs typeface="Carlito"/>
              </a:rPr>
              <a:t>2</a:t>
            </a:r>
            <a:r>
              <a:rPr sz="2800" b="1" dirty="0">
                <a:latin typeface="Carlito"/>
                <a:cs typeface="Carlito"/>
              </a:rPr>
              <a:t>’S</a:t>
            </a:r>
            <a:r>
              <a:rPr sz="2775" b="1" baseline="-21021" dirty="0">
                <a:latin typeface="Carlito"/>
                <a:cs typeface="Carlito"/>
              </a:rPr>
              <a:t>1</a:t>
            </a:r>
            <a:r>
              <a:rPr sz="2800" b="1" dirty="0">
                <a:latin typeface="Carlito"/>
                <a:cs typeface="Carlito"/>
              </a:rPr>
              <a:t>S</a:t>
            </a:r>
            <a:r>
              <a:rPr sz="2775" b="1" baseline="-21021" dirty="0">
                <a:latin typeface="Carlito"/>
                <a:cs typeface="Carlito"/>
              </a:rPr>
              <a:t>0</a:t>
            </a:r>
            <a:r>
              <a:rPr sz="2800" b="1" dirty="0">
                <a:latin typeface="Carlito"/>
                <a:cs typeface="Carlito"/>
              </a:rPr>
              <a:t>’D</a:t>
            </a:r>
            <a:r>
              <a:rPr sz="2775" b="1" baseline="-21021" dirty="0">
                <a:latin typeface="Carlito"/>
                <a:cs typeface="Carlito"/>
              </a:rPr>
              <a:t>in  </a:t>
            </a:r>
            <a:r>
              <a:rPr sz="2800" b="1" spc="-5" dirty="0">
                <a:latin typeface="Carlito"/>
                <a:cs typeface="Carlito"/>
              </a:rPr>
              <a:t>Y</a:t>
            </a:r>
            <a:r>
              <a:rPr sz="2775" b="1" spc="-7" baseline="-21021" dirty="0">
                <a:latin typeface="Carlito"/>
                <a:cs typeface="Carlito"/>
              </a:rPr>
              <a:t>3</a:t>
            </a:r>
            <a:r>
              <a:rPr sz="2800" b="1" spc="-5" dirty="0">
                <a:latin typeface="Carlito"/>
                <a:cs typeface="Carlito"/>
              </a:rPr>
              <a:t>=</a:t>
            </a:r>
            <a:r>
              <a:rPr sz="2800" b="1" spc="-15" dirty="0">
                <a:latin typeface="Carlito"/>
                <a:cs typeface="Carlito"/>
              </a:rPr>
              <a:t> </a:t>
            </a:r>
            <a:r>
              <a:rPr sz="2800" b="1" dirty="0">
                <a:latin typeface="Carlito"/>
                <a:cs typeface="Carlito"/>
              </a:rPr>
              <a:t>S</a:t>
            </a:r>
            <a:r>
              <a:rPr sz="2775" b="1" baseline="-21021" dirty="0">
                <a:latin typeface="Carlito"/>
                <a:cs typeface="Carlito"/>
              </a:rPr>
              <a:t>2</a:t>
            </a:r>
            <a:r>
              <a:rPr sz="2800" b="1" dirty="0">
                <a:latin typeface="Carlito"/>
                <a:cs typeface="Carlito"/>
              </a:rPr>
              <a:t>’S</a:t>
            </a:r>
            <a:r>
              <a:rPr sz="2775" b="1" baseline="-21021" dirty="0">
                <a:latin typeface="Carlito"/>
                <a:cs typeface="Carlito"/>
              </a:rPr>
              <a:t>1</a:t>
            </a:r>
            <a:r>
              <a:rPr sz="2800" b="1" dirty="0">
                <a:latin typeface="Carlito"/>
                <a:cs typeface="Carlito"/>
              </a:rPr>
              <a:t>S</a:t>
            </a:r>
            <a:r>
              <a:rPr sz="2775" b="1" baseline="-21021" dirty="0">
                <a:latin typeface="Carlito"/>
                <a:cs typeface="Carlito"/>
              </a:rPr>
              <a:t>0</a:t>
            </a:r>
            <a:r>
              <a:rPr sz="2800" b="1" dirty="0">
                <a:latin typeface="Carlito"/>
                <a:cs typeface="Carlito"/>
              </a:rPr>
              <a:t>D</a:t>
            </a:r>
            <a:r>
              <a:rPr sz="2775" b="1" baseline="-21021" dirty="0">
                <a:latin typeface="Carlito"/>
                <a:cs typeface="Carlito"/>
              </a:rPr>
              <a:t>in</a:t>
            </a:r>
            <a:endParaRPr sz="2775" baseline="-21021">
              <a:latin typeface="Carlito"/>
              <a:cs typeface="Carlit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930775" y="4490720"/>
            <a:ext cx="2177415" cy="172148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 marR="30480" algn="just">
              <a:lnSpc>
                <a:spcPct val="99200"/>
              </a:lnSpc>
              <a:spcBef>
                <a:spcPts val="120"/>
              </a:spcBef>
            </a:pPr>
            <a:r>
              <a:rPr sz="2800" b="1" dirty="0">
                <a:latin typeface="Carlito"/>
                <a:cs typeface="Carlito"/>
              </a:rPr>
              <a:t>Y</a:t>
            </a:r>
            <a:r>
              <a:rPr sz="2775" b="1" baseline="-21021" dirty="0">
                <a:latin typeface="Carlito"/>
                <a:cs typeface="Carlito"/>
              </a:rPr>
              <a:t>4</a:t>
            </a:r>
            <a:r>
              <a:rPr sz="2800" b="1" dirty="0">
                <a:latin typeface="Carlito"/>
                <a:cs typeface="Carlito"/>
              </a:rPr>
              <a:t>= S</a:t>
            </a:r>
            <a:r>
              <a:rPr sz="2775" b="1" baseline="-21021" dirty="0">
                <a:latin typeface="Carlito"/>
                <a:cs typeface="Carlito"/>
              </a:rPr>
              <a:t>2 </a:t>
            </a:r>
            <a:r>
              <a:rPr sz="2800" b="1" spc="-5" dirty="0">
                <a:latin typeface="Carlito"/>
                <a:cs typeface="Carlito"/>
              </a:rPr>
              <a:t>S</a:t>
            </a:r>
            <a:r>
              <a:rPr sz="2775" b="1" spc="-7" baseline="-21021" dirty="0">
                <a:latin typeface="Carlito"/>
                <a:cs typeface="Carlito"/>
              </a:rPr>
              <a:t>1</a:t>
            </a:r>
            <a:r>
              <a:rPr sz="2800" b="1" spc="-5" dirty="0">
                <a:latin typeface="Carlito"/>
                <a:cs typeface="Carlito"/>
              </a:rPr>
              <a:t>’S</a:t>
            </a:r>
            <a:r>
              <a:rPr sz="2775" b="1" spc="-7" baseline="-21021" dirty="0">
                <a:latin typeface="Carlito"/>
                <a:cs typeface="Carlito"/>
              </a:rPr>
              <a:t>0</a:t>
            </a:r>
            <a:r>
              <a:rPr sz="2800" b="1" spc="-5" dirty="0">
                <a:latin typeface="Carlito"/>
                <a:cs typeface="Carlito"/>
              </a:rPr>
              <a:t>’D</a:t>
            </a:r>
            <a:r>
              <a:rPr sz="2775" b="1" spc="-7" baseline="-21021" dirty="0">
                <a:latin typeface="Carlito"/>
                <a:cs typeface="Carlito"/>
              </a:rPr>
              <a:t>in  </a:t>
            </a:r>
            <a:r>
              <a:rPr sz="2800" b="1" dirty="0">
                <a:latin typeface="Carlito"/>
                <a:cs typeface="Carlito"/>
              </a:rPr>
              <a:t>Y</a:t>
            </a:r>
            <a:r>
              <a:rPr sz="2775" b="1" baseline="-21021" dirty="0">
                <a:latin typeface="Carlito"/>
                <a:cs typeface="Carlito"/>
              </a:rPr>
              <a:t>5</a:t>
            </a:r>
            <a:r>
              <a:rPr sz="2800" b="1" dirty="0">
                <a:latin typeface="Carlito"/>
                <a:cs typeface="Carlito"/>
              </a:rPr>
              <a:t>= S</a:t>
            </a:r>
            <a:r>
              <a:rPr sz="2775" b="1" baseline="-21021" dirty="0">
                <a:latin typeface="Carlito"/>
                <a:cs typeface="Carlito"/>
              </a:rPr>
              <a:t>2 </a:t>
            </a:r>
            <a:r>
              <a:rPr sz="2800" b="1" spc="-5" dirty="0">
                <a:latin typeface="Carlito"/>
                <a:cs typeface="Carlito"/>
              </a:rPr>
              <a:t>S</a:t>
            </a:r>
            <a:r>
              <a:rPr sz="2775" b="1" spc="-7" baseline="-21021" dirty="0">
                <a:latin typeface="Carlito"/>
                <a:cs typeface="Carlito"/>
              </a:rPr>
              <a:t>1</a:t>
            </a:r>
            <a:r>
              <a:rPr sz="2800" b="1" spc="-5" dirty="0">
                <a:latin typeface="Carlito"/>
                <a:cs typeface="Carlito"/>
              </a:rPr>
              <a:t>’S</a:t>
            </a:r>
            <a:r>
              <a:rPr sz="2775" b="1" spc="-7" baseline="-21021" dirty="0">
                <a:latin typeface="Carlito"/>
                <a:cs typeface="Carlito"/>
              </a:rPr>
              <a:t>0</a:t>
            </a:r>
            <a:r>
              <a:rPr sz="2800" b="1" spc="-5" dirty="0">
                <a:latin typeface="Carlito"/>
                <a:cs typeface="Carlito"/>
              </a:rPr>
              <a:t>D</a:t>
            </a:r>
            <a:r>
              <a:rPr sz="2775" b="1" spc="-7" baseline="-21021" dirty="0">
                <a:latin typeface="Carlito"/>
                <a:cs typeface="Carlito"/>
              </a:rPr>
              <a:t>in  </a:t>
            </a:r>
            <a:r>
              <a:rPr sz="2800" b="1" dirty="0">
                <a:latin typeface="Carlito"/>
                <a:cs typeface="Carlito"/>
              </a:rPr>
              <a:t>Y</a:t>
            </a:r>
            <a:r>
              <a:rPr sz="2775" b="1" baseline="-21021" dirty="0">
                <a:latin typeface="Carlito"/>
                <a:cs typeface="Carlito"/>
              </a:rPr>
              <a:t>6</a:t>
            </a:r>
            <a:r>
              <a:rPr sz="2800" b="1" dirty="0">
                <a:latin typeface="Carlito"/>
                <a:cs typeface="Carlito"/>
              </a:rPr>
              <a:t>= </a:t>
            </a:r>
            <a:r>
              <a:rPr sz="2800" b="1" spc="5" dirty="0">
                <a:latin typeface="Carlito"/>
                <a:cs typeface="Carlito"/>
              </a:rPr>
              <a:t>S</a:t>
            </a:r>
            <a:r>
              <a:rPr sz="2775" b="1" spc="7" baseline="-21021" dirty="0">
                <a:latin typeface="Carlito"/>
                <a:cs typeface="Carlito"/>
              </a:rPr>
              <a:t>2 </a:t>
            </a:r>
            <a:r>
              <a:rPr sz="2800" b="1" dirty="0">
                <a:latin typeface="Carlito"/>
                <a:cs typeface="Carlito"/>
              </a:rPr>
              <a:t>S</a:t>
            </a:r>
            <a:r>
              <a:rPr sz="2775" b="1" baseline="-21021" dirty="0">
                <a:latin typeface="Carlito"/>
                <a:cs typeface="Carlito"/>
              </a:rPr>
              <a:t>1</a:t>
            </a:r>
            <a:r>
              <a:rPr sz="2800" b="1" dirty="0">
                <a:latin typeface="Carlito"/>
                <a:cs typeface="Carlito"/>
              </a:rPr>
              <a:t>S</a:t>
            </a:r>
            <a:r>
              <a:rPr sz="2775" b="1" baseline="-21021" dirty="0">
                <a:latin typeface="Carlito"/>
                <a:cs typeface="Carlito"/>
              </a:rPr>
              <a:t>0</a:t>
            </a:r>
            <a:r>
              <a:rPr sz="2800" b="1" dirty="0">
                <a:latin typeface="Carlito"/>
                <a:cs typeface="Carlito"/>
              </a:rPr>
              <a:t>’D</a:t>
            </a:r>
            <a:r>
              <a:rPr sz="2775" b="1" baseline="-21021" dirty="0">
                <a:latin typeface="Carlito"/>
                <a:cs typeface="Carlito"/>
              </a:rPr>
              <a:t>in  </a:t>
            </a:r>
            <a:r>
              <a:rPr sz="2800" b="1" dirty="0">
                <a:latin typeface="Carlito"/>
                <a:cs typeface="Carlito"/>
              </a:rPr>
              <a:t>Y</a:t>
            </a:r>
            <a:r>
              <a:rPr sz="2775" b="1" baseline="-21021" dirty="0">
                <a:latin typeface="Carlito"/>
                <a:cs typeface="Carlito"/>
              </a:rPr>
              <a:t>7</a:t>
            </a:r>
            <a:r>
              <a:rPr sz="2800" b="1" dirty="0">
                <a:latin typeface="Carlito"/>
                <a:cs typeface="Carlito"/>
              </a:rPr>
              <a:t>=</a:t>
            </a:r>
            <a:r>
              <a:rPr sz="2800" b="1" spc="-15" dirty="0">
                <a:latin typeface="Carlito"/>
                <a:cs typeface="Carlito"/>
              </a:rPr>
              <a:t> </a:t>
            </a:r>
            <a:r>
              <a:rPr sz="2800" b="1" dirty="0">
                <a:latin typeface="Carlito"/>
                <a:cs typeface="Carlito"/>
              </a:rPr>
              <a:t>S</a:t>
            </a:r>
            <a:r>
              <a:rPr sz="2775" b="1" baseline="-21021" dirty="0">
                <a:latin typeface="Carlito"/>
                <a:cs typeface="Carlito"/>
              </a:rPr>
              <a:t>2</a:t>
            </a:r>
            <a:r>
              <a:rPr sz="2800" b="1" dirty="0">
                <a:latin typeface="Carlito"/>
                <a:cs typeface="Carlito"/>
              </a:rPr>
              <a:t>S</a:t>
            </a:r>
            <a:r>
              <a:rPr sz="2775" b="1" baseline="-21021" dirty="0">
                <a:latin typeface="Carlito"/>
                <a:cs typeface="Carlito"/>
              </a:rPr>
              <a:t>1</a:t>
            </a:r>
            <a:r>
              <a:rPr sz="2800" b="1" dirty="0">
                <a:latin typeface="Carlito"/>
                <a:cs typeface="Carlito"/>
              </a:rPr>
              <a:t>S</a:t>
            </a:r>
            <a:r>
              <a:rPr sz="2775" b="1" baseline="-21021" dirty="0">
                <a:latin typeface="Carlito"/>
                <a:cs typeface="Carlito"/>
              </a:rPr>
              <a:t>0</a:t>
            </a:r>
            <a:r>
              <a:rPr sz="2800" b="1" dirty="0">
                <a:latin typeface="Carlito"/>
                <a:cs typeface="Carlito"/>
              </a:rPr>
              <a:t>D</a:t>
            </a:r>
            <a:r>
              <a:rPr sz="2775" b="1" baseline="-21021" dirty="0">
                <a:latin typeface="Carlito"/>
                <a:cs typeface="Carlito"/>
              </a:rPr>
              <a:t>in</a:t>
            </a:r>
            <a:endParaRPr sz="2775" baseline="-21021">
              <a:latin typeface="Carlito"/>
              <a:cs typeface="Carlito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sp>
          <p:nvSpPr>
            <p:cNvPr id="15" name="object 15"/>
            <p:cNvSpPr/>
            <p:nvPr/>
          </p:nvSpPr>
          <p:spPr>
            <a:xfrm>
              <a:off x="8593835" y="6620255"/>
              <a:ext cx="550164" cy="23774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630411" y="6556243"/>
              <a:ext cx="513588" cy="30175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83540" y="993977"/>
            <a:ext cx="8378825" cy="307975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426084" algn="ctr">
              <a:lnSpc>
                <a:spcPct val="100000"/>
              </a:lnSpc>
              <a:spcBef>
                <a:spcPts val="720"/>
              </a:spcBef>
            </a:pPr>
            <a:r>
              <a:rPr sz="2000" b="1" spc="-225" dirty="0">
                <a:solidFill>
                  <a:srgbClr val="C00000"/>
                </a:solidFill>
                <a:latin typeface="Arial"/>
                <a:cs typeface="Arial"/>
              </a:rPr>
              <a:t>1:8</a:t>
            </a:r>
            <a:r>
              <a:rPr sz="2000" b="1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120" dirty="0">
                <a:solidFill>
                  <a:srgbClr val="C00000"/>
                </a:solidFill>
                <a:latin typeface="Arial"/>
                <a:cs typeface="Arial"/>
              </a:rPr>
              <a:t>DEMUX</a:t>
            </a:r>
            <a:endParaRPr sz="2000">
              <a:latin typeface="Arial"/>
              <a:cs typeface="Arial"/>
            </a:endParaRPr>
          </a:p>
          <a:p>
            <a:pPr marL="476884" marR="5080" indent="-464820" algn="just">
              <a:lnSpc>
                <a:spcPct val="100000"/>
              </a:lnSpc>
              <a:spcBef>
                <a:spcPts val="865"/>
              </a:spcBef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-200" dirty="0">
                <a:solidFill>
                  <a:srgbClr val="006FC0"/>
                </a:solidFill>
                <a:latin typeface="Arial"/>
                <a:cs typeface="Arial"/>
              </a:rPr>
              <a:t>From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above </a:t>
            </a:r>
            <a:r>
              <a:rPr sz="2800" spc="-65" dirty="0">
                <a:solidFill>
                  <a:srgbClr val="006FC0"/>
                </a:solidFill>
                <a:latin typeface="Arial"/>
                <a:cs typeface="Arial"/>
              </a:rPr>
              <a:t>truth </a:t>
            </a:r>
            <a:r>
              <a:rPr sz="2800" spc="-180" dirty="0">
                <a:solidFill>
                  <a:srgbClr val="006FC0"/>
                </a:solidFill>
                <a:latin typeface="Arial"/>
                <a:cs typeface="Arial"/>
              </a:rPr>
              <a:t>table, </a:t>
            </a:r>
            <a:r>
              <a:rPr sz="2800" spc="25" dirty="0">
                <a:solidFill>
                  <a:srgbClr val="006FC0"/>
                </a:solidFill>
                <a:latin typeface="Arial"/>
                <a:cs typeface="Arial"/>
              </a:rPr>
              <a:t>it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800" spc="-200" dirty="0">
                <a:solidFill>
                  <a:srgbClr val="006FC0"/>
                </a:solidFill>
                <a:latin typeface="Arial"/>
                <a:cs typeface="Arial"/>
              </a:rPr>
              <a:t>clear </a:t>
            </a:r>
            <a:r>
              <a:rPr sz="2800" spc="-125" dirty="0">
                <a:solidFill>
                  <a:srgbClr val="006FC0"/>
                </a:solidFill>
                <a:latin typeface="Arial"/>
                <a:cs typeface="Arial"/>
              </a:rPr>
              <a:t>that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225" dirty="0">
                <a:solidFill>
                  <a:srgbClr val="006FC0"/>
                </a:solidFill>
                <a:latin typeface="Arial"/>
                <a:cs typeface="Arial"/>
              </a:rPr>
              <a:t>data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input 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800" spc="-204" dirty="0">
                <a:solidFill>
                  <a:srgbClr val="006FC0"/>
                </a:solidFill>
                <a:latin typeface="Arial"/>
                <a:cs typeface="Arial"/>
              </a:rPr>
              <a:t>connected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with </a:t>
            </a:r>
            <a:r>
              <a:rPr sz="2800" spc="-240" dirty="0">
                <a:solidFill>
                  <a:srgbClr val="006FC0"/>
                </a:solidFill>
                <a:latin typeface="Arial"/>
                <a:cs typeface="Arial"/>
              </a:rPr>
              <a:t>one 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eight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outputs </a:t>
            </a:r>
            <a:r>
              <a:rPr sz="2800" spc="-330" dirty="0">
                <a:solidFill>
                  <a:srgbClr val="006FC0"/>
                </a:solidFill>
                <a:latin typeface="Arial"/>
                <a:cs typeface="Arial"/>
              </a:rPr>
              <a:t>based </a:t>
            </a:r>
            <a:r>
              <a:rPr sz="2800" spc="-180" dirty="0">
                <a:solidFill>
                  <a:srgbClr val="006FC0"/>
                </a:solidFill>
                <a:latin typeface="Arial"/>
                <a:cs typeface="Arial"/>
              </a:rPr>
              <a:t>on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the  </a:t>
            </a:r>
            <a:r>
              <a:rPr sz="2800" spc="-235" dirty="0">
                <a:solidFill>
                  <a:srgbClr val="006FC0"/>
                </a:solidFill>
                <a:latin typeface="Arial"/>
                <a:cs typeface="Arial"/>
              </a:rPr>
              <a:t>select</a:t>
            </a:r>
            <a:r>
              <a:rPr sz="2800" spc="-2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inputs.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E36C09"/>
              </a:buClr>
              <a:buFont typeface="Wingdings"/>
              <a:buChar char=""/>
            </a:pPr>
            <a:endParaRPr sz="2900">
              <a:latin typeface="Arial"/>
              <a:cs typeface="Arial"/>
            </a:endParaRPr>
          </a:p>
          <a:p>
            <a:pPr marL="476884" marR="5080" indent="-464820" algn="just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-130" dirty="0">
                <a:solidFill>
                  <a:srgbClr val="006FC0"/>
                </a:solidFill>
                <a:latin typeface="Arial"/>
                <a:cs typeface="Arial"/>
              </a:rPr>
              <a:t>Now </a:t>
            </a:r>
            <a:r>
              <a:rPr sz="2800" spc="-100" dirty="0">
                <a:solidFill>
                  <a:srgbClr val="006FC0"/>
                </a:solidFill>
                <a:latin typeface="Arial"/>
                <a:cs typeface="Arial"/>
              </a:rPr>
              <a:t>from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this </a:t>
            </a:r>
            <a:r>
              <a:rPr sz="2800" spc="-65" dirty="0">
                <a:solidFill>
                  <a:srgbClr val="006FC0"/>
                </a:solidFill>
                <a:latin typeface="Arial"/>
                <a:cs typeface="Arial"/>
              </a:rPr>
              <a:t>truth </a:t>
            </a:r>
            <a:r>
              <a:rPr sz="2800" spc="-185" dirty="0">
                <a:solidFill>
                  <a:srgbClr val="006FC0"/>
                </a:solidFill>
                <a:latin typeface="Arial"/>
                <a:cs typeface="Arial"/>
              </a:rPr>
              <a:t>table,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expression </a:t>
            </a:r>
            <a:r>
              <a:rPr sz="2800" spc="-55" dirty="0">
                <a:solidFill>
                  <a:srgbClr val="006FC0"/>
                </a:solidFill>
                <a:latin typeface="Arial"/>
                <a:cs typeface="Arial"/>
              </a:rPr>
              <a:t>for </a:t>
            </a:r>
            <a:r>
              <a:rPr sz="2800" spc="-180" dirty="0">
                <a:solidFill>
                  <a:srgbClr val="006FC0"/>
                </a:solidFill>
                <a:latin typeface="Arial"/>
                <a:cs typeface="Arial"/>
              </a:rPr>
              <a:t>eight  </a:t>
            </a:r>
            <a:r>
              <a:rPr sz="2800" spc="-160" dirty="0">
                <a:solidFill>
                  <a:srgbClr val="006FC0"/>
                </a:solidFill>
                <a:latin typeface="Arial"/>
                <a:cs typeface="Arial"/>
              </a:rPr>
              <a:t>outputs </a:t>
            </a:r>
            <a:r>
              <a:rPr sz="2800" spc="-285" dirty="0">
                <a:solidFill>
                  <a:srgbClr val="006FC0"/>
                </a:solidFill>
                <a:latin typeface="Arial"/>
                <a:cs typeface="Arial"/>
              </a:rPr>
              <a:t>can </a:t>
            </a:r>
            <a:r>
              <a:rPr sz="2800" spc="-275" dirty="0">
                <a:solidFill>
                  <a:srgbClr val="006FC0"/>
                </a:solidFill>
                <a:latin typeface="Arial"/>
                <a:cs typeface="Arial"/>
              </a:rPr>
              <a:t>be </a:t>
            </a:r>
            <a:r>
              <a:rPr sz="2800" spc="-100" dirty="0">
                <a:solidFill>
                  <a:srgbClr val="006FC0"/>
                </a:solidFill>
                <a:latin typeface="Arial"/>
                <a:cs typeface="Arial"/>
              </a:rPr>
              <a:t>written </a:t>
            </a:r>
            <a:r>
              <a:rPr sz="2800" spc="-455" dirty="0">
                <a:solidFill>
                  <a:srgbClr val="006FC0"/>
                </a:solidFill>
                <a:latin typeface="Arial"/>
                <a:cs typeface="Arial"/>
              </a:rPr>
              <a:t>as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140" dirty="0">
                <a:solidFill>
                  <a:srgbClr val="006FC0"/>
                </a:solidFill>
                <a:latin typeface="Arial"/>
                <a:cs typeface="Arial"/>
              </a:rPr>
              <a:t>follows:</a:t>
            </a:r>
            <a:endParaRPr sz="28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8739" y="6635530"/>
            <a:ext cx="723900" cy="17462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1000" b="1" spc="45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1000" b="1" spc="50" dirty="0">
                <a:solidFill>
                  <a:srgbClr val="C00000"/>
                </a:solidFill>
                <a:latin typeface="Arial"/>
                <a:cs typeface="Arial"/>
              </a:rPr>
              <a:t>U</a:t>
            </a:r>
            <a:r>
              <a:rPr sz="1000" b="1" spc="-5" dirty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1000" b="1" spc="-60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1000" b="1" spc="-10" dirty="0">
                <a:solidFill>
                  <a:srgbClr val="C00000"/>
                </a:solidFill>
                <a:latin typeface="Arial"/>
                <a:cs typeface="Arial"/>
              </a:rPr>
              <a:t>-</a:t>
            </a:r>
            <a:r>
              <a:rPr sz="1000" b="1" spc="100" dirty="0">
                <a:solidFill>
                  <a:srgbClr val="C00000"/>
                </a:solidFill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180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2697479" y="202679"/>
              <a:ext cx="3742944" cy="9342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971926" y="321386"/>
            <a:ext cx="319976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5" dirty="0"/>
              <a:t>DEMULTIPLEXERS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sp>
          <p:nvSpPr>
            <p:cNvPr id="8" name="object 8"/>
            <p:cNvSpPr/>
            <p:nvPr/>
          </p:nvSpPr>
          <p:spPr>
            <a:xfrm>
              <a:off x="8593835" y="6620255"/>
              <a:ext cx="550164" cy="23774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630411" y="6556243"/>
              <a:ext cx="513588" cy="3017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07340" y="993977"/>
            <a:ext cx="8515350" cy="521398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441325" algn="ctr">
              <a:lnSpc>
                <a:spcPct val="100000"/>
              </a:lnSpc>
              <a:spcBef>
                <a:spcPts val="720"/>
              </a:spcBef>
            </a:pPr>
            <a:r>
              <a:rPr sz="2000" b="1" spc="-225" dirty="0">
                <a:solidFill>
                  <a:srgbClr val="C00000"/>
                </a:solidFill>
                <a:latin typeface="Arial"/>
                <a:cs typeface="Arial"/>
              </a:rPr>
              <a:t>1:8</a:t>
            </a:r>
            <a:r>
              <a:rPr sz="2000" b="1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120" dirty="0">
                <a:solidFill>
                  <a:srgbClr val="C00000"/>
                </a:solidFill>
                <a:latin typeface="Arial"/>
                <a:cs typeface="Arial"/>
              </a:rPr>
              <a:t>DEMUX</a:t>
            </a:r>
            <a:endParaRPr sz="2000">
              <a:latin typeface="Arial"/>
              <a:cs typeface="Arial"/>
            </a:endParaRPr>
          </a:p>
          <a:p>
            <a:pPr marL="553085" marR="68580" indent="-464820" algn="just">
              <a:lnSpc>
                <a:spcPct val="100000"/>
              </a:lnSpc>
              <a:spcBef>
                <a:spcPts val="865"/>
              </a:spcBef>
              <a:buClr>
                <a:srgbClr val="E36C09"/>
              </a:buClr>
              <a:buFont typeface="Wingdings"/>
              <a:buChar char=""/>
              <a:tabLst>
                <a:tab pos="553720" algn="l"/>
              </a:tabLst>
            </a:pPr>
            <a:r>
              <a:rPr sz="2800" spc="-130" dirty="0">
                <a:solidFill>
                  <a:srgbClr val="006FC0"/>
                </a:solidFill>
                <a:latin typeface="Arial"/>
                <a:cs typeface="Arial"/>
              </a:rPr>
              <a:t>Now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using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260" dirty="0">
                <a:solidFill>
                  <a:srgbClr val="006FC0"/>
                </a:solidFill>
                <a:latin typeface="Arial"/>
                <a:cs typeface="Arial"/>
              </a:rPr>
              <a:t>above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expressions,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160" dirty="0">
                <a:solidFill>
                  <a:srgbClr val="006FC0"/>
                </a:solidFill>
                <a:latin typeface="Arial"/>
                <a:cs typeface="Arial"/>
              </a:rPr>
              <a:t>logic </a:t>
            </a:r>
            <a:r>
              <a:rPr sz="2800" spc="-220" dirty="0">
                <a:solidFill>
                  <a:srgbClr val="006FC0"/>
                </a:solidFill>
                <a:latin typeface="Arial"/>
                <a:cs typeface="Arial"/>
              </a:rPr>
              <a:t>diagram </a:t>
            </a:r>
            <a:r>
              <a:rPr sz="2800" spc="-80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395" dirty="0">
                <a:solidFill>
                  <a:srgbClr val="006FC0"/>
                </a:solidFill>
                <a:latin typeface="Arial"/>
                <a:cs typeface="Arial"/>
              </a:rPr>
              <a:t>a  </a:t>
            </a:r>
            <a:r>
              <a:rPr sz="2800" spc="-200" dirty="0">
                <a:solidFill>
                  <a:srgbClr val="006FC0"/>
                </a:solidFill>
                <a:latin typeface="Arial"/>
                <a:cs typeface="Arial"/>
              </a:rPr>
              <a:t>1-to-8 </a:t>
            </a:r>
            <a:r>
              <a:rPr sz="2800" spc="-155" dirty="0">
                <a:solidFill>
                  <a:srgbClr val="006FC0"/>
                </a:solidFill>
                <a:latin typeface="Arial"/>
                <a:cs typeface="Arial"/>
              </a:rPr>
              <a:t>demultiplexer </a:t>
            </a:r>
            <a:r>
              <a:rPr sz="2800" spc="-285" dirty="0">
                <a:solidFill>
                  <a:srgbClr val="006FC0"/>
                </a:solidFill>
                <a:latin typeface="Arial"/>
                <a:cs typeface="Arial"/>
              </a:rPr>
              <a:t>can </a:t>
            </a:r>
            <a:r>
              <a:rPr sz="2800" spc="-280" dirty="0">
                <a:solidFill>
                  <a:srgbClr val="006FC0"/>
                </a:solidFill>
                <a:latin typeface="Arial"/>
                <a:cs typeface="Arial"/>
              </a:rPr>
              <a:t>be </a:t>
            </a:r>
            <a:r>
              <a:rPr sz="2800" spc="-204" dirty="0">
                <a:solidFill>
                  <a:srgbClr val="006FC0"/>
                </a:solidFill>
                <a:latin typeface="Arial"/>
                <a:cs typeface="Arial"/>
              </a:rPr>
              <a:t>drawn </a:t>
            </a:r>
            <a:r>
              <a:rPr sz="2800" spc="-459" dirty="0">
                <a:solidFill>
                  <a:srgbClr val="006FC0"/>
                </a:solidFill>
                <a:latin typeface="Arial"/>
                <a:cs typeface="Arial"/>
              </a:rPr>
              <a:t>as</a:t>
            </a: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shown.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E36C09"/>
              </a:buClr>
              <a:buFont typeface="Wingdings"/>
              <a:buChar char=""/>
            </a:pPr>
            <a:endParaRPr sz="2900">
              <a:latin typeface="Arial"/>
              <a:cs typeface="Arial"/>
            </a:endParaRPr>
          </a:p>
          <a:p>
            <a:pPr marL="553085" marR="67945" indent="-464820" algn="just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652780" algn="l"/>
              </a:tabLst>
            </a:pPr>
            <a:r>
              <a:rPr dirty="0"/>
              <a:t>	</a:t>
            </a:r>
            <a:r>
              <a:rPr sz="2800" spc="-195" dirty="0">
                <a:solidFill>
                  <a:srgbClr val="006FC0"/>
                </a:solidFill>
                <a:latin typeface="Arial"/>
                <a:cs typeface="Arial"/>
              </a:rPr>
              <a:t>Here,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245" dirty="0">
                <a:solidFill>
                  <a:srgbClr val="006FC0"/>
                </a:solidFill>
                <a:latin typeface="Arial"/>
                <a:cs typeface="Arial"/>
              </a:rPr>
              <a:t>single </a:t>
            </a:r>
            <a:r>
              <a:rPr sz="2800" spc="-229" dirty="0">
                <a:solidFill>
                  <a:srgbClr val="006FC0"/>
                </a:solidFill>
                <a:latin typeface="Arial"/>
                <a:cs typeface="Arial"/>
              </a:rPr>
              <a:t>data </a:t>
            </a:r>
            <a:r>
              <a:rPr sz="2800" spc="-150" dirty="0">
                <a:solidFill>
                  <a:srgbClr val="006FC0"/>
                </a:solidFill>
                <a:latin typeface="Arial"/>
                <a:cs typeface="Arial"/>
              </a:rPr>
              <a:t>line, </a:t>
            </a:r>
            <a:r>
              <a:rPr sz="2800" spc="-130" dirty="0">
                <a:solidFill>
                  <a:srgbClr val="006FC0"/>
                </a:solidFill>
                <a:latin typeface="Arial"/>
                <a:cs typeface="Arial"/>
              </a:rPr>
              <a:t>D</a:t>
            </a:r>
            <a:r>
              <a:rPr sz="2775" spc="-195" baseline="-21021" dirty="0">
                <a:solidFill>
                  <a:srgbClr val="006FC0"/>
                </a:solidFill>
                <a:latin typeface="Arial"/>
                <a:cs typeface="Arial"/>
              </a:rPr>
              <a:t>in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2800" spc="-210" dirty="0">
                <a:solidFill>
                  <a:srgbClr val="006FC0"/>
                </a:solidFill>
                <a:latin typeface="Arial"/>
                <a:cs typeface="Arial"/>
              </a:rPr>
              <a:t>connected </a:t>
            </a:r>
            <a:r>
              <a:rPr sz="2800" spc="-50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2800" spc="-145" dirty="0">
                <a:solidFill>
                  <a:srgbClr val="006FC0"/>
                </a:solidFill>
                <a:latin typeface="Arial"/>
                <a:cs typeface="Arial"/>
              </a:rPr>
              <a:t>all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eight </a:t>
            </a:r>
            <a:r>
              <a:rPr sz="2800" spc="-30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spc="-290" dirty="0">
                <a:solidFill>
                  <a:srgbClr val="006FC0"/>
                </a:solidFill>
                <a:latin typeface="Arial"/>
                <a:cs typeface="Arial"/>
              </a:rPr>
              <a:t>gates, </a:t>
            </a:r>
            <a:r>
              <a:rPr sz="2800" spc="-120" dirty="0">
                <a:solidFill>
                  <a:srgbClr val="006FC0"/>
                </a:solidFill>
                <a:latin typeface="Arial"/>
                <a:cs typeface="Arial"/>
              </a:rPr>
              <a:t>but </a:t>
            </a:r>
            <a:r>
              <a:rPr sz="2800" spc="-130" dirty="0">
                <a:solidFill>
                  <a:srgbClr val="006FC0"/>
                </a:solidFill>
                <a:latin typeface="Arial"/>
                <a:cs typeface="Arial"/>
              </a:rPr>
              <a:t>only </a:t>
            </a:r>
            <a:r>
              <a:rPr sz="2800" spc="-235" dirty="0">
                <a:solidFill>
                  <a:srgbClr val="006FC0"/>
                </a:solidFill>
                <a:latin typeface="Arial"/>
                <a:cs typeface="Arial"/>
              </a:rPr>
              <a:t>one 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the eight </a:t>
            </a:r>
            <a:r>
              <a:rPr sz="2800" spc="-30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spc="-315" dirty="0">
                <a:solidFill>
                  <a:srgbClr val="006FC0"/>
                </a:solidFill>
                <a:latin typeface="Arial"/>
                <a:cs typeface="Arial"/>
              </a:rPr>
              <a:t>gates  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will </a:t>
            </a:r>
            <a:r>
              <a:rPr sz="2800" spc="-275" dirty="0">
                <a:solidFill>
                  <a:srgbClr val="006FC0"/>
                </a:solidFill>
                <a:latin typeface="Arial"/>
                <a:cs typeface="Arial"/>
              </a:rPr>
              <a:t>be </a:t>
            </a:r>
            <a:r>
              <a:rPr sz="2800" spc="-245" dirty="0">
                <a:solidFill>
                  <a:srgbClr val="006FC0"/>
                </a:solidFill>
                <a:latin typeface="Arial"/>
                <a:cs typeface="Arial"/>
              </a:rPr>
              <a:t>enabled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by the </a:t>
            </a:r>
            <a:r>
              <a:rPr sz="2800" spc="-235" dirty="0">
                <a:solidFill>
                  <a:srgbClr val="006FC0"/>
                </a:solidFill>
                <a:latin typeface="Arial"/>
                <a:cs typeface="Arial"/>
              </a:rPr>
              <a:t>select </a:t>
            </a:r>
            <a:r>
              <a:rPr sz="2800" spc="-100" dirty="0">
                <a:solidFill>
                  <a:srgbClr val="006FC0"/>
                </a:solidFill>
                <a:latin typeface="Arial"/>
                <a:cs typeface="Arial"/>
              </a:rPr>
              <a:t>input</a:t>
            </a:r>
            <a:r>
              <a:rPr sz="2800" spc="-47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210" dirty="0">
                <a:solidFill>
                  <a:srgbClr val="006FC0"/>
                </a:solidFill>
                <a:latin typeface="Arial"/>
                <a:cs typeface="Arial"/>
              </a:rPr>
              <a:t>lines.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E36C09"/>
              </a:buClr>
              <a:buFont typeface="Wingdings"/>
              <a:buChar char=""/>
            </a:pPr>
            <a:endParaRPr sz="2900">
              <a:latin typeface="Arial"/>
              <a:cs typeface="Arial"/>
            </a:endParaRPr>
          </a:p>
          <a:p>
            <a:pPr marL="553085" marR="66040" indent="-464820" algn="just">
              <a:lnSpc>
                <a:spcPct val="100000"/>
              </a:lnSpc>
              <a:buClr>
                <a:srgbClr val="E36C09"/>
              </a:buClr>
              <a:buFont typeface="Wingdings"/>
              <a:buChar char=""/>
              <a:tabLst>
                <a:tab pos="553720" algn="l"/>
              </a:tabLst>
            </a:pPr>
            <a:r>
              <a:rPr sz="2800" spc="-185" dirty="0">
                <a:solidFill>
                  <a:srgbClr val="006FC0"/>
                </a:solidFill>
                <a:latin typeface="Arial"/>
                <a:cs typeface="Arial"/>
              </a:rPr>
              <a:t>For </a:t>
            </a:r>
            <a:r>
              <a:rPr sz="2800" spc="-235" dirty="0">
                <a:solidFill>
                  <a:srgbClr val="006FC0"/>
                </a:solidFill>
                <a:latin typeface="Arial"/>
                <a:cs typeface="Arial"/>
              </a:rPr>
              <a:t>example, </a:t>
            </a:r>
            <a:r>
              <a:rPr sz="2800" dirty="0">
                <a:solidFill>
                  <a:srgbClr val="006FC0"/>
                </a:solidFill>
                <a:latin typeface="Arial"/>
                <a:cs typeface="Arial"/>
              </a:rPr>
              <a:t>if </a:t>
            </a:r>
            <a:r>
              <a:rPr sz="2800" spc="-345" dirty="0">
                <a:solidFill>
                  <a:srgbClr val="006FC0"/>
                </a:solidFill>
                <a:latin typeface="Arial"/>
                <a:cs typeface="Arial"/>
              </a:rPr>
              <a:t>S</a:t>
            </a:r>
            <a:r>
              <a:rPr sz="2775" spc="-517" baseline="-21021" dirty="0">
                <a:solidFill>
                  <a:srgbClr val="006FC0"/>
                </a:solidFill>
                <a:latin typeface="Arial"/>
                <a:cs typeface="Arial"/>
              </a:rPr>
              <a:t>2</a:t>
            </a:r>
            <a:r>
              <a:rPr sz="2800" spc="-345" dirty="0">
                <a:solidFill>
                  <a:srgbClr val="006FC0"/>
                </a:solidFill>
                <a:latin typeface="Arial"/>
                <a:cs typeface="Arial"/>
              </a:rPr>
              <a:t>S</a:t>
            </a:r>
            <a:r>
              <a:rPr sz="2775" spc="-517" baseline="-21021" dirty="0">
                <a:solidFill>
                  <a:srgbClr val="006FC0"/>
                </a:solidFill>
                <a:latin typeface="Arial"/>
                <a:cs typeface="Arial"/>
              </a:rPr>
              <a:t>1</a:t>
            </a:r>
            <a:r>
              <a:rPr sz="2800" spc="-345" dirty="0">
                <a:solidFill>
                  <a:srgbClr val="006FC0"/>
                </a:solidFill>
                <a:latin typeface="Arial"/>
                <a:cs typeface="Arial"/>
              </a:rPr>
              <a:t>S</a:t>
            </a:r>
            <a:r>
              <a:rPr sz="2775" spc="-517" baseline="-21021" dirty="0">
                <a:solidFill>
                  <a:srgbClr val="006FC0"/>
                </a:solidFill>
                <a:latin typeface="Arial"/>
                <a:cs typeface="Arial"/>
              </a:rPr>
              <a:t>0</a:t>
            </a:r>
            <a:r>
              <a:rPr sz="2800" spc="-345" dirty="0">
                <a:solidFill>
                  <a:srgbClr val="006FC0"/>
                </a:solidFill>
                <a:latin typeface="Arial"/>
                <a:cs typeface="Arial"/>
              </a:rPr>
              <a:t>= </a:t>
            </a:r>
            <a:r>
              <a:rPr sz="2800" spc="-340" dirty="0">
                <a:solidFill>
                  <a:srgbClr val="006FC0"/>
                </a:solidFill>
                <a:latin typeface="Arial"/>
                <a:cs typeface="Arial"/>
              </a:rPr>
              <a:t>000, </a:t>
            </a:r>
            <a:r>
              <a:rPr sz="2800" spc="-180" dirty="0">
                <a:solidFill>
                  <a:srgbClr val="006FC0"/>
                </a:solidFill>
                <a:latin typeface="Arial"/>
                <a:cs typeface="Arial"/>
              </a:rPr>
              <a:t>then </a:t>
            </a:r>
            <a:r>
              <a:rPr sz="2800" spc="-135" dirty="0">
                <a:solidFill>
                  <a:srgbClr val="006FC0"/>
                </a:solidFill>
                <a:latin typeface="Arial"/>
                <a:cs typeface="Arial"/>
              </a:rPr>
              <a:t>only </a:t>
            </a:r>
            <a:r>
              <a:rPr sz="2800" spc="-30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spc="-265" dirty="0">
                <a:solidFill>
                  <a:srgbClr val="006FC0"/>
                </a:solidFill>
                <a:latin typeface="Arial"/>
                <a:cs typeface="Arial"/>
              </a:rPr>
              <a:t>gate-0 </a:t>
            </a:r>
            <a:r>
              <a:rPr sz="2800" spc="-70" dirty="0">
                <a:solidFill>
                  <a:srgbClr val="006FC0"/>
                </a:solidFill>
                <a:latin typeface="Arial"/>
                <a:cs typeface="Arial"/>
              </a:rPr>
              <a:t>will  </a:t>
            </a:r>
            <a:r>
              <a:rPr sz="2800" spc="-275" dirty="0">
                <a:solidFill>
                  <a:srgbClr val="006FC0"/>
                </a:solidFill>
                <a:latin typeface="Arial"/>
                <a:cs typeface="Arial"/>
              </a:rPr>
              <a:t>be </a:t>
            </a:r>
            <a:r>
              <a:rPr sz="2800" spc="-245" dirty="0">
                <a:solidFill>
                  <a:srgbClr val="006FC0"/>
                </a:solidFill>
                <a:latin typeface="Arial"/>
                <a:cs typeface="Arial"/>
              </a:rPr>
              <a:t>enabled </a:t>
            </a:r>
            <a:r>
              <a:rPr sz="2800" spc="-260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thereby the </a:t>
            </a:r>
            <a:r>
              <a:rPr sz="2800" spc="-225" dirty="0">
                <a:solidFill>
                  <a:srgbClr val="006FC0"/>
                </a:solidFill>
                <a:latin typeface="Arial"/>
                <a:cs typeface="Arial"/>
              </a:rPr>
              <a:t>data </a:t>
            </a:r>
            <a:r>
              <a:rPr sz="2800" spc="-114" dirty="0">
                <a:solidFill>
                  <a:srgbClr val="006FC0"/>
                </a:solidFill>
                <a:latin typeface="Arial"/>
                <a:cs typeface="Arial"/>
              </a:rPr>
              <a:t>input, </a:t>
            </a:r>
            <a:r>
              <a:rPr sz="2800" spc="-130" dirty="0">
                <a:solidFill>
                  <a:srgbClr val="006FC0"/>
                </a:solidFill>
                <a:latin typeface="Arial"/>
                <a:cs typeface="Arial"/>
              </a:rPr>
              <a:t>D</a:t>
            </a:r>
            <a:r>
              <a:rPr sz="2775" spc="-195" baseline="-21021" dirty="0">
                <a:solidFill>
                  <a:srgbClr val="006FC0"/>
                </a:solidFill>
                <a:latin typeface="Arial"/>
                <a:cs typeface="Arial"/>
              </a:rPr>
              <a:t>in 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will </a:t>
            </a:r>
            <a:r>
              <a:rPr sz="2800" spc="-250" dirty="0">
                <a:solidFill>
                  <a:srgbClr val="006FC0"/>
                </a:solidFill>
                <a:latin typeface="Arial"/>
                <a:cs typeface="Arial"/>
              </a:rPr>
              <a:t>appear </a:t>
            </a:r>
            <a:r>
              <a:rPr sz="2800" spc="-175" dirty="0">
                <a:solidFill>
                  <a:srgbClr val="006FC0"/>
                </a:solidFill>
                <a:latin typeface="Arial"/>
                <a:cs typeface="Arial"/>
              </a:rPr>
              <a:t>at  </a:t>
            </a:r>
            <a:r>
              <a:rPr sz="2800" spc="-220" dirty="0">
                <a:solidFill>
                  <a:srgbClr val="006FC0"/>
                </a:solidFill>
                <a:latin typeface="Arial"/>
                <a:cs typeface="Arial"/>
              </a:rPr>
              <a:t>Y</a:t>
            </a:r>
            <a:r>
              <a:rPr sz="2775" spc="-330" baseline="-21021" dirty="0">
                <a:solidFill>
                  <a:srgbClr val="006FC0"/>
                </a:solidFill>
                <a:latin typeface="Arial"/>
                <a:cs typeface="Arial"/>
              </a:rPr>
              <a:t>0</a:t>
            </a:r>
            <a:r>
              <a:rPr sz="2800" spc="-220" dirty="0">
                <a:solidFill>
                  <a:srgbClr val="006FC0"/>
                </a:solidFill>
                <a:latin typeface="Arial"/>
                <a:cs typeface="Arial"/>
              </a:rPr>
              <a:t>. </a:t>
            </a:r>
            <a:r>
              <a:rPr sz="2800" spc="-155" dirty="0">
                <a:solidFill>
                  <a:srgbClr val="006FC0"/>
                </a:solidFill>
                <a:latin typeface="Arial"/>
                <a:cs typeface="Arial"/>
              </a:rPr>
              <a:t>Similarly, </a:t>
            </a:r>
            <a:r>
              <a:rPr sz="2800" spc="-165" dirty="0">
                <a:solidFill>
                  <a:srgbClr val="006FC0"/>
                </a:solidFill>
                <a:latin typeface="Arial"/>
                <a:cs typeface="Arial"/>
              </a:rPr>
              <a:t>the</a:t>
            </a:r>
            <a:r>
              <a:rPr sz="2800" spc="44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114" dirty="0">
                <a:solidFill>
                  <a:srgbClr val="006FC0"/>
                </a:solidFill>
                <a:latin typeface="Arial"/>
                <a:cs typeface="Arial"/>
              </a:rPr>
              <a:t>different </a:t>
            </a:r>
            <a:r>
              <a:rPr sz="2800" spc="-195" dirty="0">
                <a:solidFill>
                  <a:srgbClr val="006FC0"/>
                </a:solidFill>
                <a:latin typeface="Arial"/>
                <a:cs typeface="Arial"/>
              </a:rPr>
              <a:t>combinations 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of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2800" spc="-240" dirty="0">
                <a:solidFill>
                  <a:srgbClr val="006FC0"/>
                </a:solidFill>
                <a:latin typeface="Arial"/>
                <a:cs typeface="Arial"/>
              </a:rPr>
              <a:t>select 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inputs, the </a:t>
            </a:r>
            <a:r>
              <a:rPr sz="2800" spc="-105" dirty="0">
                <a:solidFill>
                  <a:srgbClr val="006FC0"/>
                </a:solidFill>
                <a:latin typeface="Arial"/>
                <a:cs typeface="Arial"/>
              </a:rPr>
              <a:t>input </a:t>
            </a:r>
            <a:r>
              <a:rPr sz="2800" spc="-130" dirty="0">
                <a:solidFill>
                  <a:srgbClr val="006FC0"/>
                </a:solidFill>
                <a:latin typeface="Arial"/>
                <a:cs typeface="Arial"/>
              </a:rPr>
              <a:t>D</a:t>
            </a:r>
            <a:r>
              <a:rPr sz="2775" spc="-195" baseline="-21021" dirty="0">
                <a:solidFill>
                  <a:srgbClr val="006FC0"/>
                </a:solidFill>
                <a:latin typeface="Arial"/>
                <a:cs typeface="Arial"/>
              </a:rPr>
              <a:t>in </a:t>
            </a:r>
            <a:r>
              <a:rPr sz="2800" spc="-75" dirty="0">
                <a:solidFill>
                  <a:srgbClr val="006FC0"/>
                </a:solidFill>
                <a:latin typeface="Arial"/>
                <a:cs typeface="Arial"/>
              </a:rPr>
              <a:t>will </a:t>
            </a:r>
            <a:r>
              <a:rPr sz="2800" spc="-245" dirty="0">
                <a:solidFill>
                  <a:srgbClr val="006FC0"/>
                </a:solidFill>
                <a:latin typeface="Arial"/>
                <a:cs typeface="Arial"/>
              </a:rPr>
              <a:t>appear </a:t>
            </a:r>
            <a:r>
              <a:rPr sz="2800" spc="-170" dirty="0">
                <a:solidFill>
                  <a:srgbClr val="006FC0"/>
                </a:solidFill>
                <a:latin typeface="Arial"/>
                <a:cs typeface="Arial"/>
              </a:rPr>
              <a:t>at the </a:t>
            </a:r>
            <a:r>
              <a:rPr sz="2800" spc="-215" dirty="0">
                <a:solidFill>
                  <a:srgbClr val="006FC0"/>
                </a:solidFill>
                <a:latin typeface="Arial"/>
                <a:cs typeface="Arial"/>
              </a:rPr>
              <a:t>respective</a:t>
            </a:r>
            <a:r>
              <a:rPr sz="2800" spc="-4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110" dirty="0">
                <a:solidFill>
                  <a:srgbClr val="006FC0"/>
                </a:solidFill>
                <a:latin typeface="Arial"/>
                <a:cs typeface="Arial"/>
              </a:rPr>
              <a:t>output.</a:t>
            </a:r>
            <a:endParaRPr sz="2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8739" y="6635530"/>
            <a:ext cx="723900" cy="17462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1000" b="1" spc="45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1000" b="1" spc="50" dirty="0">
                <a:solidFill>
                  <a:srgbClr val="C00000"/>
                </a:solidFill>
                <a:latin typeface="Arial"/>
                <a:cs typeface="Arial"/>
              </a:rPr>
              <a:t>U</a:t>
            </a:r>
            <a:r>
              <a:rPr sz="1000" b="1" spc="-5" dirty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1000" b="1" spc="-60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1000" b="1" spc="-10" dirty="0">
                <a:solidFill>
                  <a:srgbClr val="C00000"/>
                </a:solidFill>
                <a:latin typeface="Arial"/>
                <a:cs typeface="Arial"/>
              </a:rPr>
              <a:t>-</a:t>
            </a:r>
            <a:r>
              <a:rPr sz="1000" b="1" spc="100" dirty="0">
                <a:solidFill>
                  <a:srgbClr val="C00000"/>
                </a:solidFill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181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2697479" y="202679"/>
              <a:ext cx="3742944" cy="9342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971926" y="321386"/>
            <a:ext cx="319976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65" dirty="0">
                <a:latin typeface="Trebuchet MS"/>
                <a:cs typeface="Trebuchet MS"/>
              </a:rPr>
              <a:t>DEMULTIPLEXERS</a:t>
            </a:r>
            <a:endParaRPr sz="320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819400" y="1600200"/>
            <a:ext cx="6329680" cy="5257800"/>
            <a:chOff x="2819400" y="1600200"/>
            <a:chExt cx="6329680" cy="5257800"/>
          </a:xfrm>
        </p:grpSpPr>
        <p:sp>
          <p:nvSpPr>
            <p:cNvPr id="8" name="object 8"/>
            <p:cNvSpPr/>
            <p:nvPr/>
          </p:nvSpPr>
          <p:spPr>
            <a:xfrm>
              <a:off x="8593835" y="6620254"/>
              <a:ext cx="550164" cy="23774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630411" y="6556242"/>
              <a:ext cx="513588" cy="3017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819400" y="1600200"/>
              <a:ext cx="3810000" cy="4712208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177665" y="1072641"/>
            <a:ext cx="121666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25" dirty="0">
                <a:solidFill>
                  <a:srgbClr val="C00000"/>
                </a:solidFill>
                <a:latin typeface="Arial"/>
                <a:cs typeface="Arial"/>
              </a:rPr>
              <a:t>1:8</a:t>
            </a:r>
            <a:r>
              <a:rPr sz="2000" b="1" spc="-114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120" dirty="0">
                <a:solidFill>
                  <a:srgbClr val="C00000"/>
                </a:solidFill>
                <a:latin typeface="Arial"/>
                <a:cs typeface="Arial"/>
              </a:rPr>
              <a:t>DEMUX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8739" y="6635530"/>
            <a:ext cx="723900" cy="17462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1000" b="1" spc="45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1000" b="1" spc="50" dirty="0">
                <a:solidFill>
                  <a:srgbClr val="C00000"/>
                </a:solidFill>
                <a:latin typeface="Arial"/>
                <a:cs typeface="Arial"/>
              </a:rPr>
              <a:t>U</a:t>
            </a:r>
            <a:r>
              <a:rPr sz="1000" b="1" spc="-5" dirty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1000" b="1" spc="-60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1000" b="1" spc="-10" dirty="0">
                <a:solidFill>
                  <a:srgbClr val="C00000"/>
                </a:solidFill>
                <a:latin typeface="Arial"/>
                <a:cs typeface="Arial"/>
              </a:rPr>
              <a:t>-</a:t>
            </a:r>
            <a:r>
              <a:rPr sz="1000" b="1" spc="100" dirty="0">
                <a:solidFill>
                  <a:srgbClr val="C00000"/>
                </a:solidFill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182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793241" y="982217"/>
              <a:ext cx="7589519" cy="762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6764"/>
              <a:ext cx="9143999" cy="668274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53439" y="320001"/>
              <a:ext cx="7434072" cy="57611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697479" y="202679"/>
              <a:ext cx="3742944" cy="93422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971926" y="321386"/>
            <a:ext cx="319976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5" dirty="0"/>
              <a:t>DEMULTIPLEXERS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sp>
          <p:nvSpPr>
            <p:cNvPr id="13" name="object 13"/>
            <p:cNvSpPr/>
            <p:nvPr/>
          </p:nvSpPr>
          <p:spPr>
            <a:xfrm>
              <a:off x="8593835" y="6620255"/>
              <a:ext cx="550164" cy="23774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630411" y="6556243"/>
              <a:ext cx="513588" cy="30175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83540" y="983054"/>
            <a:ext cx="8375650" cy="1398270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298450" algn="ctr">
              <a:lnSpc>
                <a:spcPct val="100000"/>
              </a:lnSpc>
              <a:spcBef>
                <a:spcPts val="810"/>
              </a:spcBef>
            </a:pPr>
            <a:r>
              <a:rPr sz="2000" b="1" spc="-215" dirty="0">
                <a:solidFill>
                  <a:srgbClr val="C00000"/>
                </a:solidFill>
                <a:latin typeface="Arial"/>
                <a:cs typeface="Arial"/>
              </a:rPr>
              <a:t>DEMULTIPLEXERS</a:t>
            </a:r>
            <a:r>
              <a:rPr sz="2000" b="1" spc="-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260" dirty="0">
                <a:solidFill>
                  <a:srgbClr val="C00000"/>
                </a:solidFill>
                <a:latin typeface="Arial"/>
                <a:cs typeface="Arial"/>
              </a:rPr>
              <a:t>TREE</a:t>
            </a:r>
            <a:endParaRPr sz="2000">
              <a:latin typeface="Arial"/>
              <a:cs typeface="Arial"/>
            </a:endParaRPr>
          </a:p>
          <a:p>
            <a:pPr marL="476884" marR="5080" indent="-464820">
              <a:lnSpc>
                <a:spcPct val="100000"/>
              </a:lnSpc>
              <a:spcBef>
                <a:spcPts val="980"/>
              </a:spcBef>
              <a:buClr>
                <a:srgbClr val="E36C09"/>
              </a:buClr>
              <a:buFont typeface="Wingdings"/>
              <a:buChar char=""/>
              <a:tabLst>
                <a:tab pos="476884" algn="l"/>
                <a:tab pos="477520" algn="l"/>
                <a:tab pos="1981835" algn="l"/>
                <a:tab pos="3124835" algn="l"/>
                <a:tab pos="3737610" algn="l"/>
                <a:tab pos="5952490" algn="l"/>
                <a:tab pos="6885305" algn="l"/>
                <a:tab pos="7498080" algn="l"/>
                <a:tab pos="7903209" algn="l"/>
              </a:tabLst>
            </a:pPr>
            <a:r>
              <a:rPr sz="2800" b="1" spc="-5" dirty="0">
                <a:latin typeface="Carlito"/>
                <a:cs typeface="Carlito"/>
              </a:rPr>
              <a:t>E</a:t>
            </a:r>
            <a:r>
              <a:rPr sz="2800" b="1" spc="-45" dirty="0">
                <a:latin typeface="Carlito"/>
                <a:cs typeface="Carlito"/>
              </a:rPr>
              <a:t>x</a:t>
            </a:r>
            <a:r>
              <a:rPr sz="2800" b="1" spc="-5" dirty="0">
                <a:latin typeface="Carlito"/>
                <a:cs typeface="Carlito"/>
              </a:rPr>
              <a:t>a</a:t>
            </a:r>
            <a:r>
              <a:rPr sz="2800" b="1" dirty="0">
                <a:latin typeface="Carlito"/>
                <a:cs typeface="Carlito"/>
              </a:rPr>
              <a:t>m</a:t>
            </a:r>
            <a:r>
              <a:rPr sz="2800" b="1" spc="-5" dirty="0">
                <a:latin typeface="Carlito"/>
                <a:cs typeface="Carlito"/>
              </a:rPr>
              <a:t>pl</a:t>
            </a:r>
            <a:r>
              <a:rPr sz="2800" b="1" spc="-15" dirty="0">
                <a:latin typeface="Carlito"/>
                <a:cs typeface="Carlito"/>
              </a:rPr>
              <a:t>e</a:t>
            </a:r>
            <a:r>
              <a:rPr sz="2800" b="1" spc="-5" dirty="0">
                <a:latin typeface="Carlito"/>
                <a:cs typeface="Carlito"/>
              </a:rPr>
              <a:t>:</a:t>
            </a:r>
            <a:r>
              <a:rPr sz="2800" b="1" dirty="0">
                <a:latin typeface="Carlito"/>
                <a:cs typeface="Carlito"/>
              </a:rPr>
              <a:t>	</a:t>
            </a:r>
            <a:r>
              <a:rPr sz="2800" b="1" spc="-10" dirty="0">
                <a:latin typeface="Carlito"/>
                <a:cs typeface="Carlito"/>
              </a:rPr>
              <a:t>Desi</a:t>
            </a:r>
            <a:r>
              <a:rPr sz="2800" b="1" spc="-15" dirty="0">
                <a:latin typeface="Carlito"/>
                <a:cs typeface="Carlito"/>
              </a:rPr>
              <a:t>g</a:t>
            </a:r>
            <a:r>
              <a:rPr sz="2800" b="1" spc="-5" dirty="0">
                <a:latin typeface="Carlito"/>
                <a:cs typeface="Carlito"/>
              </a:rPr>
              <a:t>n</a:t>
            </a:r>
            <a:r>
              <a:rPr sz="2800" b="1" dirty="0">
                <a:latin typeface="Carlito"/>
                <a:cs typeface="Carlito"/>
              </a:rPr>
              <a:t>	</a:t>
            </a:r>
            <a:r>
              <a:rPr sz="2800" b="1" spc="5" dirty="0">
                <a:latin typeface="Carlito"/>
                <a:cs typeface="Carlito"/>
              </a:rPr>
              <a:t>1</a:t>
            </a:r>
            <a:r>
              <a:rPr sz="2800" b="1" dirty="0">
                <a:latin typeface="Carlito"/>
                <a:cs typeface="Carlito"/>
              </a:rPr>
              <a:t>:</a:t>
            </a:r>
            <a:r>
              <a:rPr sz="2800" b="1" spc="-5" dirty="0">
                <a:latin typeface="Carlito"/>
                <a:cs typeface="Carlito"/>
              </a:rPr>
              <a:t>8</a:t>
            </a:r>
            <a:r>
              <a:rPr sz="2800" b="1" dirty="0">
                <a:latin typeface="Carlito"/>
                <a:cs typeface="Carlito"/>
              </a:rPr>
              <a:t>	d</a:t>
            </a:r>
            <a:r>
              <a:rPr sz="2800" b="1" spc="-10" dirty="0">
                <a:latin typeface="Carlito"/>
                <a:cs typeface="Carlito"/>
              </a:rPr>
              <a:t>emult</a:t>
            </a:r>
            <a:r>
              <a:rPr sz="2800" b="1" spc="-5" dirty="0">
                <a:latin typeface="Carlito"/>
                <a:cs typeface="Carlito"/>
              </a:rPr>
              <a:t>ipl</a:t>
            </a:r>
            <a:r>
              <a:rPr sz="2800" b="1" spc="-50" dirty="0">
                <a:latin typeface="Carlito"/>
                <a:cs typeface="Carlito"/>
              </a:rPr>
              <a:t>e</a:t>
            </a:r>
            <a:r>
              <a:rPr sz="2800" b="1" spc="-65" dirty="0">
                <a:latin typeface="Carlito"/>
                <a:cs typeface="Carlito"/>
              </a:rPr>
              <a:t>x</a:t>
            </a:r>
            <a:r>
              <a:rPr sz="2800" b="1" spc="-10" dirty="0">
                <a:latin typeface="Carlito"/>
                <a:cs typeface="Carlito"/>
              </a:rPr>
              <a:t>e</a:t>
            </a:r>
            <a:r>
              <a:rPr sz="2800" b="1" spc="-5" dirty="0">
                <a:latin typeface="Carlito"/>
                <a:cs typeface="Carlito"/>
              </a:rPr>
              <a:t>r</a:t>
            </a:r>
            <a:r>
              <a:rPr sz="2800" b="1" dirty="0">
                <a:latin typeface="Carlito"/>
                <a:cs typeface="Carlito"/>
              </a:rPr>
              <a:t>	</a:t>
            </a:r>
            <a:r>
              <a:rPr sz="2800" b="1" spc="-5" dirty="0">
                <a:latin typeface="Carlito"/>
                <a:cs typeface="Carlito"/>
              </a:rPr>
              <a:t>using</a:t>
            </a:r>
            <a:r>
              <a:rPr sz="2800" b="1" dirty="0">
                <a:latin typeface="Carlito"/>
                <a:cs typeface="Carlito"/>
              </a:rPr>
              <a:t>	</a:t>
            </a:r>
            <a:r>
              <a:rPr sz="2800" b="1" spc="-10" dirty="0">
                <a:latin typeface="Carlito"/>
                <a:cs typeface="Carlito"/>
              </a:rPr>
              <a:t>1</a:t>
            </a:r>
            <a:r>
              <a:rPr sz="2800" b="1" dirty="0">
                <a:latin typeface="Carlito"/>
                <a:cs typeface="Carlito"/>
              </a:rPr>
              <a:t>:</a:t>
            </a:r>
            <a:r>
              <a:rPr sz="2800" b="1" spc="-5" dirty="0">
                <a:latin typeface="Carlito"/>
                <a:cs typeface="Carlito"/>
              </a:rPr>
              <a:t>4</a:t>
            </a:r>
            <a:r>
              <a:rPr sz="2800" b="1" dirty="0">
                <a:latin typeface="Carlito"/>
                <a:cs typeface="Carlito"/>
              </a:rPr>
              <a:t>	</a:t>
            </a:r>
            <a:r>
              <a:rPr sz="2800" b="1" spc="-5" dirty="0">
                <a:latin typeface="Carlito"/>
                <a:cs typeface="Carlito"/>
              </a:rPr>
              <a:t>&amp;</a:t>
            </a:r>
            <a:r>
              <a:rPr sz="2800" b="1" dirty="0">
                <a:latin typeface="Carlito"/>
                <a:cs typeface="Carlito"/>
              </a:rPr>
              <a:t>	</a:t>
            </a:r>
            <a:r>
              <a:rPr sz="2800" b="1" spc="-10" dirty="0">
                <a:latin typeface="Carlito"/>
                <a:cs typeface="Carlito"/>
              </a:rPr>
              <a:t>1</a:t>
            </a:r>
            <a:r>
              <a:rPr sz="2800" b="1" dirty="0">
                <a:latin typeface="Carlito"/>
                <a:cs typeface="Carlito"/>
              </a:rPr>
              <a:t>:</a:t>
            </a:r>
            <a:r>
              <a:rPr sz="2800" b="1" spc="-5" dirty="0">
                <a:latin typeface="Carlito"/>
                <a:cs typeface="Carlito"/>
              </a:rPr>
              <a:t>2  DEMUX.</a:t>
            </a:r>
            <a:endParaRPr sz="2800">
              <a:latin typeface="Carlito"/>
              <a:cs typeface="Carlito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657855" y="2057400"/>
            <a:ext cx="5266944" cy="442874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8739" y="6635530"/>
            <a:ext cx="723900" cy="17462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1000" b="1" spc="45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1000" b="1" spc="50" dirty="0">
                <a:solidFill>
                  <a:srgbClr val="C00000"/>
                </a:solidFill>
                <a:latin typeface="Arial"/>
                <a:cs typeface="Arial"/>
              </a:rPr>
              <a:t>U</a:t>
            </a:r>
            <a:r>
              <a:rPr sz="1000" b="1" spc="-5" dirty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1000" b="1" spc="-60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1000" b="1" spc="-10" dirty="0">
                <a:solidFill>
                  <a:srgbClr val="C00000"/>
                </a:solidFill>
                <a:latin typeface="Arial"/>
                <a:cs typeface="Arial"/>
              </a:rPr>
              <a:t>-</a:t>
            </a:r>
            <a:r>
              <a:rPr sz="1000" b="1" spc="100" dirty="0">
                <a:solidFill>
                  <a:srgbClr val="C00000"/>
                </a:solidFill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183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2697479" y="202679"/>
              <a:ext cx="3742944" cy="9342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971926" y="321386"/>
            <a:ext cx="319976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5" dirty="0"/>
              <a:t>DEMULTIPLEXERS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sp>
          <p:nvSpPr>
            <p:cNvPr id="8" name="object 8"/>
            <p:cNvSpPr/>
            <p:nvPr/>
          </p:nvSpPr>
          <p:spPr>
            <a:xfrm>
              <a:off x="8593835" y="6620255"/>
              <a:ext cx="550164" cy="23774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630411" y="6556243"/>
              <a:ext cx="513588" cy="3017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83540" y="1113869"/>
            <a:ext cx="8107680" cy="126746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927100">
              <a:lnSpc>
                <a:spcPct val="100000"/>
              </a:lnSpc>
              <a:spcBef>
                <a:spcPts val="380"/>
              </a:spcBef>
            </a:pPr>
            <a:r>
              <a:rPr sz="2000" b="1" spc="-105" dirty="0">
                <a:solidFill>
                  <a:srgbClr val="C00000"/>
                </a:solidFill>
                <a:latin typeface="Arial"/>
                <a:cs typeface="Arial"/>
              </a:rPr>
              <a:t>IMPLEMENTATION </a:t>
            </a:r>
            <a:r>
              <a:rPr sz="2000" b="1" spc="-135" dirty="0">
                <a:solidFill>
                  <a:srgbClr val="C00000"/>
                </a:solidFill>
                <a:latin typeface="Arial"/>
                <a:cs typeface="Arial"/>
              </a:rPr>
              <a:t>OF BOOLEAN </a:t>
            </a:r>
            <a:r>
              <a:rPr sz="2000" b="1" spc="-220" dirty="0">
                <a:solidFill>
                  <a:srgbClr val="C00000"/>
                </a:solidFill>
                <a:latin typeface="Arial"/>
                <a:cs typeface="Arial"/>
              </a:rPr>
              <a:t>EXPRESSION </a:t>
            </a:r>
            <a:r>
              <a:rPr sz="2000" b="1" spc="-105" dirty="0">
                <a:solidFill>
                  <a:srgbClr val="C00000"/>
                </a:solidFill>
                <a:latin typeface="Arial"/>
                <a:cs typeface="Arial"/>
              </a:rPr>
              <a:t>USING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120" dirty="0">
                <a:solidFill>
                  <a:srgbClr val="C00000"/>
                </a:solidFill>
                <a:latin typeface="Arial"/>
                <a:cs typeface="Arial"/>
              </a:rPr>
              <a:t>DEMUX</a:t>
            </a:r>
            <a:endParaRPr sz="20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380"/>
              </a:spcBef>
              <a:tabLst>
                <a:tab pos="1841500" algn="l"/>
                <a:tab pos="2755900" algn="l"/>
              </a:tabLst>
            </a:pPr>
            <a:r>
              <a:rPr sz="2800" b="1" u="heavy" spc="-10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Example1:</a:t>
            </a:r>
            <a:r>
              <a:rPr sz="2800" b="1" spc="-10" dirty="0">
                <a:latin typeface="Carlito"/>
                <a:cs typeface="Carlito"/>
              </a:rPr>
              <a:t>	</a:t>
            </a:r>
            <a:r>
              <a:rPr sz="2800" b="1" spc="-5" dirty="0">
                <a:latin typeface="Carlito"/>
                <a:cs typeface="Carlito"/>
              </a:rPr>
              <a:t>Implement the </a:t>
            </a:r>
            <a:r>
              <a:rPr sz="2800" b="1" spc="-10" dirty="0">
                <a:latin typeface="Carlito"/>
                <a:cs typeface="Carlito"/>
              </a:rPr>
              <a:t>following </a:t>
            </a:r>
            <a:r>
              <a:rPr sz="2800" b="1" spc="-5" dirty="0">
                <a:latin typeface="Carlito"/>
                <a:cs typeface="Carlito"/>
              </a:rPr>
              <a:t>boolean function  using</a:t>
            </a:r>
            <a:r>
              <a:rPr sz="2800" b="1" spc="5" dirty="0">
                <a:latin typeface="Carlito"/>
                <a:cs typeface="Carlito"/>
              </a:rPr>
              <a:t> </a:t>
            </a:r>
            <a:r>
              <a:rPr sz="2800" b="1" spc="-5" dirty="0">
                <a:latin typeface="Carlito"/>
                <a:cs typeface="Carlito"/>
              </a:rPr>
              <a:t>1:8</a:t>
            </a:r>
            <a:r>
              <a:rPr sz="2800" b="1" spc="30" dirty="0">
                <a:latin typeface="Carlito"/>
                <a:cs typeface="Carlito"/>
              </a:rPr>
              <a:t> </a:t>
            </a:r>
            <a:r>
              <a:rPr sz="2800" b="1" spc="-5" dirty="0">
                <a:latin typeface="Carlito"/>
                <a:cs typeface="Carlito"/>
              </a:rPr>
              <a:t>Demux.	F </a:t>
            </a:r>
            <a:r>
              <a:rPr sz="2800" b="1" spc="10" dirty="0">
                <a:latin typeface="Carlito"/>
                <a:cs typeface="Carlito"/>
              </a:rPr>
              <a:t>(A, </a:t>
            </a:r>
            <a:r>
              <a:rPr sz="2800" b="1" spc="-20" dirty="0">
                <a:latin typeface="Carlito"/>
                <a:cs typeface="Carlito"/>
              </a:rPr>
              <a:t>B, </a:t>
            </a:r>
            <a:r>
              <a:rPr sz="2800" b="1" spc="-5" dirty="0">
                <a:latin typeface="Carlito"/>
                <a:cs typeface="Carlito"/>
              </a:rPr>
              <a:t>C) = </a:t>
            </a:r>
            <a:r>
              <a:rPr sz="2800" b="1" spc="-10" dirty="0">
                <a:latin typeface="Carlito"/>
                <a:cs typeface="Carlito"/>
              </a:rPr>
              <a:t>∑m </a:t>
            </a:r>
            <a:r>
              <a:rPr sz="2800" b="1" spc="-5" dirty="0">
                <a:latin typeface="Carlito"/>
                <a:cs typeface="Carlito"/>
              </a:rPr>
              <a:t>(1, 3, 5,</a:t>
            </a:r>
            <a:r>
              <a:rPr sz="2800" b="1" spc="110" dirty="0">
                <a:latin typeface="Carlito"/>
                <a:cs typeface="Carlito"/>
              </a:rPr>
              <a:t> </a:t>
            </a:r>
            <a:r>
              <a:rPr sz="2800" b="1" spc="-5" dirty="0">
                <a:latin typeface="Carlito"/>
                <a:cs typeface="Carlito"/>
              </a:rPr>
              <a:t>6).</a:t>
            </a:r>
            <a:endParaRPr sz="2800">
              <a:latin typeface="Carlito"/>
              <a:cs typeface="Carlito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715895" y="2819400"/>
            <a:ext cx="4142231" cy="64465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2709545" y="2813050"/>
          <a:ext cx="4161154" cy="34232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25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2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42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42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8323"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600" b="1" spc="-10" dirty="0">
                          <a:latin typeface="Palladio Uralic"/>
                          <a:cs typeface="Palladio Uralic"/>
                        </a:rPr>
                        <a:t>Inputs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600" b="1" spc="-10" dirty="0">
                          <a:latin typeface="Palladio Uralic"/>
                          <a:cs typeface="Palladio Uralic"/>
                        </a:rPr>
                        <a:t>Outputs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82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600" b="1" dirty="0">
                          <a:latin typeface="Palladio Uralic"/>
                          <a:cs typeface="Palladio Uralic"/>
                        </a:rPr>
                        <a:t>A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482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228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600" b="1" dirty="0">
                          <a:latin typeface="Palladio Uralic"/>
                          <a:cs typeface="Palladio Uralic"/>
                        </a:rPr>
                        <a:t>B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482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847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600" b="1" dirty="0">
                          <a:latin typeface="Palladio Uralic"/>
                          <a:cs typeface="Palladio Uralic"/>
                        </a:rPr>
                        <a:t>C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482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600" b="1" dirty="0">
                          <a:latin typeface="Palladio Uralic"/>
                          <a:cs typeface="Palladio Uralic"/>
                        </a:rPr>
                        <a:t>Y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482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69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7942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133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58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7942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133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582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7942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482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133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482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569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7942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482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133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482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58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7942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482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133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482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569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7942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482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133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482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583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7942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482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133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482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578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7942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482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133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482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6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6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78739" y="6635530"/>
            <a:ext cx="723900" cy="17462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1000" b="1" spc="45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1000" b="1" spc="50" dirty="0">
                <a:solidFill>
                  <a:srgbClr val="C00000"/>
                </a:solidFill>
                <a:latin typeface="Arial"/>
                <a:cs typeface="Arial"/>
              </a:rPr>
              <a:t>U</a:t>
            </a:r>
            <a:r>
              <a:rPr sz="1000" b="1" spc="-5" dirty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1000" b="1" spc="-60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1000" b="1" spc="-10" dirty="0">
                <a:solidFill>
                  <a:srgbClr val="C00000"/>
                </a:solidFill>
                <a:latin typeface="Arial"/>
                <a:cs typeface="Arial"/>
              </a:rPr>
              <a:t>-</a:t>
            </a:r>
            <a:r>
              <a:rPr sz="1000" b="1" spc="100" dirty="0">
                <a:solidFill>
                  <a:srgbClr val="C00000"/>
                </a:solidFill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184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793241" y="982217"/>
              <a:ext cx="7589519" cy="762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6764"/>
              <a:ext cx="9143999" cy="668274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53439" y="320001"/>
              <a:ext cx="7434072" cy="57611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697479" y="202679"/>
              <a:ext cx="3742944" cy="93422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971926" y="321386"/>
            <a:ext cx="319976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65" dirty="0">
                <a:latin typeface="Trebuchet MS"/>
                <a:cs typeface="Trebuchet MS"/>
              </a:rPr>
              <a:t>DEMULTIPLEXERS</a:t>
            </a:r>
            <a:endParaRPr sz="320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752600" y="1981200"/>
            <a:ext cx="7396480" cy="4876800"/>
            <a:chOff x="1752600" y="1981200"/>
            <a:chExt cx="7396480" cy="4876800"/>
          </a:xfrm>
        </p:grpSpPr>
        <p:sp>
          <p:nvSpPr>
            <p:cNvPr id="13" name="object 13"/>
            <p:cNvSpPr/>
            <p:nvPr/>
          </p:nvSpPr>
          <p:spPr>
            <a:xfrm>
              <a:off x="8593835" y="6620254"/>
              <a:ext cx="550164" cy="23774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630411" y="6556243"/>
              <a:ext cx="513588" cy="30175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641080" y="6644639"/>
              <a:ext cx="502920" cy="18288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641080" y="6644639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752600" y="1981200"/>
              <a:ext cx="6102096" cy="3898391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298194" y="1148841"/>
            <a:ext cx="6884034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5" dirty="0">
                <a:solidFill>
                  <a:srgbClr val="C00000"/>
                </a:solidFill>
                <a:latin typeface="Arial"/>
                <a:cs typeface="Arial"/>
              </a:rPr>
              <a:t>IMPLEMENTATION </a:t>
            </a:r>
            <a:r>
              <a:rPr sz="2000" b="1" spc="-135" dirty="0">
                <a:solidFill>
                  <a:srgbClr val="C00000"/>
                </a:solidFill>
                <a:latin typeface="Arial"/>
                <a:cs typeface="Arial"/>
              </a:rPr>
              <a:t>OF BOOLEAN </a:t>
            </a:r>
            <a:r>
              <a:rPr sz="2000" b="1" spc="-220" dirty="0">
                <a:solidFill>
                  <a:srgbClr val="C00000"/>
                </a:solidFill>
                <a:latin typeface="Arial"/>
                <a:cs typeface="Arial"/>
              </a:rPr>
              <a:t>EXPRESSION </a:t>
            </a:r>
            <a:r>
              <a:rPr sz="2000" b="1" spc="-105" dirty="0">
                <a:solidFill>
                  <a:srgbClr val="C00000"/>
                </a:solidFill>
                <a:latin typeface="Arial"/>
                <a:cs typeface="Arial"/>
              </a:rPr>
              <a:t>USING</a:t>
            </a:r>
            <a:r>
              <a:rPr sz="2000" b="1" spc="-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120" dirty="0">
                <a:solidFill>
                  <a:srgbClr val="C00000"/>
                </a:solidFill>
                <a:latin typeface="Arial"/>
                <a:cs typeface="Arial"/>
              </a:rPr>
              <a:t>DEMUX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8739" y="6635530"/>
            <a:ext cx="723900" cy="17462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1000" b="1" spc="45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1000" b="1" spc="50" dirty="0">
                <a:solidFill>
                  <a:srgbClr val="C00000"/>
                </a:solidFill>
                <a:latin typeface="Arial"/>
                <a:cs typeface="Arial"/>
              </a:rPr>
              <a:t>U</a:t>
            </a:r>
            <a:r>
              <a:rPr sz="1000" b="1" spc="-5" dirty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1000" b="1" spc="-60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1000" b="1" spc="-10" dirty="0">
                <a:solidFill>
                  <a:srgbClr val="C00000"/>
                </a:solidFill>
                <a:latin typeface="Arial"/>
                <a:cs typeface="Arial"/>
              </a:rPr>
              <a:t>-</a:t>
            </a:r>
            <a:r>
              <a:rPr sz="1000" b="1" spc="100" dirty="0">
                <a:solidFill>
                  <a:srgbClr val="C00000"/>
                </a:solidFill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185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793241" y="982217"/>
              <a:ext cx="7589519" cy="762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6764"/>
              <a:ext cx="9143999" cy="668274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53439" y="320001"/>
              <a:ext cx="7434072" cy="57611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697479" y="202679"/>
              <a:ext cx="3742944" cy="93422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971926" y="321386"/>
            <a:ext cx="319976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5" dirty="0"/>
              <a:t>DEMULTIPLEXERS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sp>
          <p:nvSpPr>
            <p:cNvPr id="13" name="object 13"/>
            <p:cNvSpPr/>
            <p:nvPr/>
          </p:nvSpPr>
          <p:spPr>
            <a:xfrm>
              <a:off x="8593835" y="6620255"/>
              <a:ext cx="550164" cy="23774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630411" y="6556243"/>
              <a:ext cx="513588" cy="30175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641079" y="6644640"/>
              <a:ext cx="502920" cy="18288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83540" y="1113869"/>
            <a:ext cx="7798434" cy="84074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927100">
              <a:lnSpc>
                <a:spcPct val="100000"/>
              </a:lnSpc>
              <a:spcBef>
                <a:spcPts val="380"/>
              </a:spcBef>
            </a:pPr>
            <a:r>
              <a:rPr sz="2000" b="1" spc="-105" dirty="0">
                <a:solidFill>
                  <a:srgbClr val="C00000"/>
                </a:solidFill>
                <a:latin typeface="Arial"/>
                <a:cs typeface="Arial"/>
              </a:rPr>
              <a:t>IMPLEMENTATION </a:t>
            </a:r>
            <a:r>
              <a:rPr sz="2000" b="1" spc="-135" dirty="0">
                <a:solidFill>
                  <a:srgbClr val="C00000"/>
                </a:solidFill>
                <a:latin typeface="Arial"/>
                <a:cs typeface="Arial"/>
              </a:rPr>
              <a:t>OF BOOLEAN </a:t>
            </a:r>
            <a:r>
              <a:rPr sz="2000" b="1" spc="-220" dirty="0">
                <a:solidFill>
                  <a:srgbClr val="C00000"/>
                </a:solidFill>
                <a:latin typeface="Arial"/>
                <a:cs typeface="Arial"/>
              </a:rPr>
              <a:t>EXPRESSION </a:t>
            </a:r>
            <a:r>
              <a:rPr sz="2000" b="1" spc="-105" dirty="0">
                <a:solidFill>
                  <a:srgbClr val="C00000"/>
                </a:solidFill>
                <a:latin typeface="Arial"/>
                <a:cs typeface="Arial"/>
              </a:rPr>
              <a:t>USING</a:t>
            </a:r>
            <a:r>
              <a:rPr sz="2000" b="1" spc="-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120" dirty="0">
                <a:solidFill>
                  <a:srgbClr val="C00000"/>
                </a:solidFill>
                <a:latin typeface="Arial"/>
                <a:cs typeface="Arial"/>
              </a:rPr>
              <a:t>DEMUX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  <a:tabLst>
                <a:tab pos="1841500" algn="l"/>
              </a:tabLst>
            </a:pPr>
            <a:r>
              <a:rPr sz="2800" b="1" u="heavy" spc="-10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Example2:</a:t>
            </a:r>
            <a:r>
              <a:rPr sz="2800" b="1" spc="-10" dirty="0">
                <a:latin typeface="Carlito"/>
                <a:cs typeface="Carlito"/>
              </a:rPr>
              <a:t>	</a:t>
            </a:r>
            <a:r>
              <a:rPr sz="2800" b="1" spc="-5" dirty="0">
                <a:latin typeface="Carlito"/>
                <a:cs typeface="Carlito"/>
              </a:rPr>
              <a:t>Implement </a:t>
            </a:r>
            <a:r>
              <a:rPr sz="2800" b="1" spc="-10" dirty="0">
                <a:latin typeface="Carlito"/>
                <a:cs typeface="Carlito"/>
              </a:rPr>
              <a:t>full </a:t>
            </a:r>
            <a:r>
              <a:rPr sz="2800" b="1" spc="-15" dirty="0">
                <a:latin typeface="Carlito"/>
                <a:cs typeface="Carlito"/>
              </a:rPr>
              <a:t>subtractor </a:t>
            </a:r>
            <a:r>
              <a:rPr sz="2800" b="1" spc="-5" dirty="0">
                <a:latin typeface="Carlito"/>
                <a:cs typeface="Carlito"/>
              </a:rPr>
              <a:t>using</a:t>
            </a:r>
            <a:r>
              <a:rPr sz="2800" b="1" spc="60" dirty="0">
                <a:latin typeface="Carlito"/>
                <a:cs typeface="Carlito"/>
              </a:rPr>
              <a:t> </a:t>
            </a:r>
            <a:r>
              <a:rPr sz="2800" b="1" spc="-5" dirty="0">
                <a:latin typeface="Carlito"/>
                <a:cs typeface="Carlito"/>
              </a:rPr>
              <a:t>demux</a:t>
            </a:r>
            <a:endParaRPr sz="2800">
              <a:latin typeface="Carlito"/>
              <a:cs typeface="Carlito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371600" y="2514600"/>
            <a:ext cx="6361176" cy="68122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1365250" y="2508250"/>
          <a:ext cx="6381115" cy="34150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84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47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6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00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51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0233"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b="1" spc="-5" dirty="0">
                          <a:latin typeface="Palladio Uralic"/>
                          <a:cs typeface="Palladio Uralic"/>
                        </a:rPr>
                        <a:t>Inputs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b="1" dirty="0">
                          <a:latin typeface="Palladio Uralic"/>
                          <a:cs typeface="Palladio Uralic"/>
                        </a:rPr>
                        <a:t>Outputs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23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dirty="0">
                          <a:latin typeface="Palladio Uralic"/>
                          <a:cs typeface="Palladio Uralic"/>
                        </a:rPr>
                        <a:t>A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dirty="0">
                          <a:latin typeface="Palladio Uralic"/>
                          <a:cs typeface="Palladio Uralic"/>
                        </a:rPr>
                        <a:t>B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5"/>
                        </a:lnSpc>
                        <a:spcBef>
                          <a:spcPts val="675"/>
                        </a:spcBef>
                      </a:pPr>
                      <a:r>
                        <a:rPr sz="2700" b="1" spc="-15" baseline="13888" dirty="0">
                          <a:latin typeface="Palladio Uralic"/>
                          <a:cs typeface="Palladio Uralic"/>
                        </a:rPr>
                        <a:t>B</a:t>
                      </a:r>
                      <a:r>
                        <a:rPr sz="1200" b="1" spc="-10" dirty="0">
                          <a:latin typeface="Palladio Uralic"/>
                          <a:cs typeface="Palladio Uralic"/>
                        </a:rPr>
                        <a:t>in</a:t>
                      </a:r>
                      <a:endParaRPr sz="1200">
                        <a:latin typeface="Palladio Uralic"/>
                        <a:cs typeface="Palladio Uralic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spc="-5" dirty="0">
                          <a:latin typeface="Palladio Uralic"/>
                          <a:cs typeface="Palladio Uralic"/>
                        </a:rPr>
                        <a:t>Difference(D)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spc="-5" dirty="0">
                          <a:latin typeface="Palladio Uralic"/>
                          <a:cs typeface="Palladio Uralic"/>
                        </a:rPr>
                        <a:t>Borrow(B</a:t>
                      </a:r>
                      <a:r>
                        <a:rPr sz="1800" b="1" spc="-7" baseline="-20833" dirty="0">
                          <a:latin typeface="Palladio Uralic"/>
                          <a:cs typeface="Palladio Uralic"/>
                        </a:rPr>
                        <a:t>out</a:t>
                      </a:r>
                      <a:r>
                        <a:rPr sz="1800" b="1" spc="-5" dirty="0">
                          <a:latin typeface="Palladio Uralic"/>
                          <a:cs typeface="Palladio Uralic"/>
                        </a:rPr>
                        <a:t>)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23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23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23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023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023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023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023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0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023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Palladio Uralic"/>
                          <a:cs typeface="Palladio Uralic"/>
                        </a:rPr>
                        <a:t>1</a:t>
                      </a:r>
                      <a:endParaRPr sz="1800">
                        <a:latin typeface="Palladio Uralic"/>
                        <a:cs typeface="Palladio Uralic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0" name="object 20"/>
          <p:cNvSpPr txBox="1"/>
          <p:nvPr/>
        </p:nvSpPr>
        <p:spPr>
          <a:xfrm>
            <a:off x="78739" y="6635530"/>
            <a:ext cx="723900" cy="17462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1000" b="1" spc="45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1000" b="1" spc="50" dirty="0">
                <a:solidFill>
                  <a:srgbClr val="C00000"/>
                </a:solidFill>
                <a:latin typeface="Arial"/>
                <a:cs typeface="Arial"/>
              </a:rPr>
              <a:t>U</a:t>
            </a:r>
            <a:r>
              <a:rPr sz="1000" b="1" spc="-5" dirty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1000" b="1" spc="-60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1000" b="1" spc="-10" dirty="0">
                <a:solidFill>
                  <a:srgbClr val="C00000"/>
                </a:solidFill>
                <a:latin typeface="Arial"/>
                <a:cs typeface="Arial"/>
              </a:rPr>
              <a:t>-</a:t>
            </a:r>
            <a:r>
              <a:rPr sz="1000" b="1" spc="100" dirty="0">
                <a:solidFill>
                  <a:srgbClr val="C00000"/>
                </a:solidFill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186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sp>
          <p:nvSpPr>
            <p:cNvPr id="3" name="object 3"/>
            <p:cNvSpPr/>
            <p:nvPr/>
          </p:nvSpPr>
          <p:spPr>
            <a:xfrm>
              <a:off x="2697479" y="202679"/>
              <a:ext cx="3742944" cy="9342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5161" y="361950"/>
              <a:ext cx="7315200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971926" y="321386"/>
            <a:ext cx="319976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5" dirty="0"/>
              <a:t>DEMULTIPLEXERS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1143000" y="1752600"/>
            <a:ext cx="8006080" cy="5105400"/>
            <a:chOff x="1143000" y="1752600"/>
            <a:chExt cx="8006080" cy="5105400"/>
          </a:xfrm>
        </p:grpSpPr>
        <p:sp>
          <p:nvSpPr>
            <p:cNvPr id="8" name="object 8"/>
            <p:cNvSpPr/>
            <p:nvPr/>
          </p:nvSpPr>
          <p:spPr>
            <a:xfrm>
              <a:off x="8593835" y="6620254"/>
              <a:ext cx="550164" cy="23774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630411" y="6556242"/>
              <a:ext cx="513588" cy="3017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641080" y="6644640"/>
              <a:ext cx="502920" cy="1828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143000" y="1752600"/>
              <a:ext cx="6874764" cy="370179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298194" y="1148841"/>
            <a:ext cx="6884034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5" dirty="0">
                <a:solidFill>
                  <a:srgbClr val="C00000"/>
                </a:solidFill>
                <a:latin typeface="Arial"/>
                <a:cs typeface="Arial"/>
              </a:rPr>
              <a:t>IMPLEMENTATION </a:t>
            </a:r>
            <a:r>
              <a:rPr sz="2000" b="1" spc="-135" dirty="0">
                <a:solidFill>
                  <a:srgbClr val="C00000"/>
                </a:solidFill>
                <a:latin typeface="Arial"/>
                <a:cs typeface="Arial"/>
              </a:rPr>
              <a:t>OF BOOLEAN </a:t>
            </a:r>
            <a:r>
              <a:rPr sz="2000" b="1" spc="-220" dirty="0">
                <a:solidFill>
                  <a:srgbClr val="C00000"/>
                </a:solidFill>
                <a:latin typeface="Arial"/>
                <a:cs typeface="Arial"/>
              </a:rPr>
              <a:t>EXPRESSION </a:t>
            </a:r>
            <a:r>
              <a:rPr sz="2000" b="1" spc="-105" dirty="0">
                <a:solidFill>
                  <a:srgbClr val="C00000"/>
                </a:solidFill>
                <a:latin typeface="Arial"/>
                <a:cs typeface="Arial"/>
              </a:rPr>
              <a:t>USING</a:t>
            </a:r>
            <a:r>
              <a:rPr sz="2000" b="1" spc="-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120" dirty="0">
                <a:solidFill>
                  <a:srgbClr val="C00000"/>
                </a:solidFill>
                <a:latin typeface="Arial"/>
                <a:cs typeface="Arial"/>
              </a:rPr>
              <a:t>DEMUX</a:t>
            </a:r>
            <a:endParaRPr sz="2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8739" y="6635530"/>
            <a:ext cx="723900" cy="17462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1000" b="1" spc="45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1000" b="1" spc="55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1000" b="1" spc="50" dirty="0">
                <a:solidFill>
                  <a:srgbClr val="C00000"/>
                </a:solidFill>
                <a:latin typeface="Arial"/>
                <a:cs typeface="Arial"/>
              </a:rPr>
              <a:t>U</a:t>
            </a:r>
            <a:r>
              <a:rPr sz="1000" b="1" spc="-5" dirty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1000" b="1" spc="-60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1000" b="1" spc="-10" dirty="0">
                <a:solidFill>
                  <a:srgbClr val="C00000"/>
                </a:solidFill>
                <a:latin typeface="Arial"/>
                <a:cs typeface="Arial"/>
              </a:rPr>
              <a:t>-</a:t>
            </a:r>
            <a:r>
              <a:rPr sz="1000" b="1" spc="100" dirty="0">
                <a:solidFill>
                  <a:srgbClr val="C00000"/>
                </a:solidFill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" dirty="0"/>
              <a:t>BECE102L </a:t>
            </a:r>
            <a:r>
              <a:rPr spc="-60" dirty="0"/>
              <a:t>– </a:t>
            </a:r>
            <a:r>
              <a:rPr spc="55" dirty="0"/>
              <a:t>DIGITAL </a:t>
            </a:r>
            <a:r>
              <a:rPr spc="-10" dirty="0"/>
              <a:t>SYSTEM</a:t>
            </a:r>
            <a:r>
              <a:rPr spc="95" dirty="0"/>
              <a:t> </a:t>
            </a:r>
            <a:r>
              <a:rPr spc="5" dirty="0"/>
              <a:t>DESIGN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r>
              <a:rPr dirty="0"/>
              <a:t>187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822194" y="5812028"/>
            <a:ext cx="371665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" dirty="0">
                <a:latin typeface="Palladio Uralic"/>
                <a:cs typeface="Palladio Uralic"/>
              </a:rPr>
              <a:t>Full </a:t>
            </a:r>
            <a:r>
              <a:rPr sz="2000" b="1" dirty="0">
                <a:latin typeface="Palladio Uralic"/>
                <a:cs typeface="Palladio Uralic"/>
              </a:rPr>
              <a:t>Subtractor using 1:8</a:t>
            </a:r>
            <a:r>
              <a:rPr sz="2000" b="1" spc="-105" dirty="0">
                <a:latin typeface="Palladio Uralic"/>
                <a:cs typeface="Palladio Uralic"/>
              </a:rPr>
              <a:t> </a:t>
            </a:r>
            <a:r>
              <a:rPr sz="2000" b="1" dirty="0">
                <a:latin typeface="Palladio Uralic"/>
                <a:cs typeface="Palladio Uralic"/>
              </a:rPr>
              <a:t>demux</a:t>
            </a:r>
            <a:endParaRPr sz="2000">
              <a:latin typeface="Palladio Uralic"/>
              <a:cs typeface="Palladio Uralic"/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" cy="0"/>
          </a:xfrm>
          <a:custGeom>
            <a:avLst/>
            <a:gdLst/>
            <a:ahLst/>
            <a:cxnLst/>
            <a:rect l="l" t="t" r="r" b="b"/>
            <a:pathLst>
              <a:path w="914400">
                <a:moveTo>
                  <a:pt x="0" y="0"/>
                </a:moveTo>
                <a:lnTo>
                  <a:pt x="914400" y="0"/>
                </a:lnTo>
              </a:path>
            </a:pathLst>
          </a:custGeom>
          <a:ln w="3175">
            <a:solidFill>
              <a:srgbClr val="FA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513289" y="2601423"/>
            <a:ext cx="5013268" cy="305198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09600" y="762000"/>
            <a:ext cx="7848600" cy="2758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5266943"/>
            <a:ext cx="2057399" cy="159105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10412</Words>
  <Application>Microsoft Office PowerPoint</Application>
  <PresentationFormat>On-screen Show (4:3)</PresentationFormat>
  <Paragraphs>2115</Paragraphs>
  <Slides>164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164</vt:i4>
      </vt:variant>
    </vt:vector>
  </HeadingPairs>
  <TitlesOfParts>
    <vt:vector size="174" baseType="lpstr">
      <vt:lpstr>Arial</vt:lpstr>
      <vt:lpstr>Bookman Uralic</vt:lpstr>
      <vt:lpstr>Calibri</vt:lpstr>
      <vt:lpstr>Carlito</vt:lpstr>
      <vt:lpstr>Palladio Uralic</vt:lpstr>
      <vt:lpstr>Symbol</vt:lpstr>
      <vt:lpstr>Times New Roman</vt:lpstr>
      <vt:lpstr>Trebuchet MS</vt:lpstr>
      <vt:lpstr>Wingdings</vt:lpstr>
      <vt:lpstr>Office Theme</vt:lpstr>
      <vt:lpstr>PowerPoint Presentation</vt:lpstr>
      <vt:lpstr>MODULE-3</vt:lpstr>
      <vt:lpstr>PowerPoint Presentation</vt:lpstr>
      <vt:lpstr>PowerPoint Presentation</vt:lpstr>
      <vt:lpstr>INTRODUCTION TO COMBINATIONAL LOGIC</vt:lpstr>
      <vt:lpstr>INTRODUCTION TO COMBINATIONAL LOGIC</vt:lpstr>
      <vt:lpstr>PowerPoint Presentation</vt:lpstr>
      <vt:lpstr>PowerPoint Presentation</vt:lpstr>
      <vt:lpstr>DESIGN PROCEDURE</vt:lpstr>
      <vt:lpstr>DESIGN PROCEDURE</vt:lpstr>
      <vt:lpstr>DESIGN PROCEDURE</vt:lpstr>
      <vt:lpstr>DESIGN PROCEDURE</vt:lpstr>
      <vt:lpstr>DESIGN PROCEDURE</vt:lpstr>
      <vt:lpstr>PowerPoint Presentation</vt:lpstr>
      <vt:lpstr>BINARY ADDER</vt:lpstr>
      <vt:lpstr>BINARY ADDER</vt:lpstr>
      <vt:lpstr>BINARY ADDER</vt:lpstr>
      <vt:lpstr>BINARY ADDER</vt:lpstr>
      <vt:lpstr>BINARY ADDER</vt:lpstr>
      <vt:lpstr>BINARY ADDER</vt:lpstr>
      <vt:lpstr>BINARY ADDER</vt:lpstr>
      <vt:lpstr>BINARY ADDER</vt:lpstr>
      <vt:lpstr>BINARY ADDER</vt:lpstr>
      <vt:lpstr>BINARY ADDER</vt:lpstr>
      <vt:lpstr>PowerPoint Presentation</vt:lpstr>
      <vt:lpstr>BINARY SUBTRACTOR</vt:lpstr>
      <vt:lpstr>BINARY SUBTRACTOR</vt:lpstr>
      <vt:lpstr>BINARY SUBTRACTOR</vt:lpstr>
      <vt:lpstr>BINARY SUBTRACTOR</vt:lpstr>
      <vt:lpstr>BINARY SUBTRACTOR</vt:lpstr>
      <vt:lpstr>BINARY SUBTRACTOR</vt:lpstr>
      <vt:lpstr>BINARY SUBTRACTOR</vt:lpstr>
      <vt:lpstr>BINARY SUBTRACTOR</vt:lpstr>
      <vt:lpstr>BINARY SUBTRACTOR</vt:lpstr>
      <vt:lpstr>BINARY SUBTRACTOR</vt:lpstr>
      <vt:lpstr>BINARY SUBTRACTOR</vt:lpstr>
      <vt:lpstr>BINARY SUBTRACTOR</vt:lpstr>
      <vt:lpstr>BINARY SUBTRACTOR</vt:lpstr>
      <vt:lpstr>BINARY ADDER &amp; SUBTRACTOR</vt:lpstr>
      <vt:lpstr>BINARY ADDER &amp; SUBTRACTOR</vt:lpstr>
      <vt:lpstr>PowerPoint Presentation</vt:lpstr>
      <vt:lpstr>PARALLEL ADDER</vt:lpstr>
      <vt:lpstr>PARALLEL ADDER</vt:lpstr>
      <vt:lpstr>PARALLEL ADDER</vt:lpstr>
      <vt:lpstr>PARALLEL ADDER</vt:lpstr>
      <vt:lpstr>PARALLEL ADDER</vt:lpstr>
      <vt:lpstr>PARALLEL ADDER</vt:lpstr>
      <vt:lpstr>PARALLEL ADDER</vt:lpstr>
      <vt:lpstr>PowerPoint Presentation</vt:lpstr>
      <vt:lpstr>DECODERS</vt:lpstr>
      <vt:lpstr>DECODERS</vt:lpstr>
      <vt:lpstr>DECODERS</vt:lpstr>
      <vt:lpstr>DECODERS</vt:lpstr>
      <vt:lpstr>PowerPoint Presentation</vt:lpstr>
      <vt:lpstr>DECODERS</vt:lpstr>
      <vt:lpstr>DECODERS</vt:lpstr>
      <vt:lpstr>PowerPoint Presentation</vt:lpstr>
      <vt:lpstr>DECODERS</vt:lpstr>
      <vt:lpstr>DECODERS</vt:lpstr>
      <vt:lpstr>PowerPoint Presentation</vt:lpstr>
      <vt:lpstr>DECODERS</vt:lpstr>
      <vt:lpstr>PowerPoint Presentation</vt:lpstr>
      <vt:lpstr>DECODERS</vt:lpstr>
      <vt:lpstr>PowerPoint Presentation</vt:lpstr>
      <vt:lpstr>ENCODERS</vt:lpstr>
      <vt:lpstr>ENCODERS</vt:lpstr>
      <vt:lpstr>ENCODERS</vt:lpstr>
      <vt:lpstr>ENCODERS</vt:lpstr>
      <vt:lpstr>ENCODERS</vt:lpstr>
      <vt:lpstr>ENCODERS</vt:lpstr>
      <vt:lpstr>ENCODERS</vt:lpstr>
      <vt:lpstr>ENCODERS</vt:lpstr>
      <vt:lpstr>ENCODERS</vt:lpstr>
      <vt:lpstr>ENCODERS</vt:lpstr>
      <vt:lpstr>ENCODERS</vt:lpstr>
      <vt:lpstr>ENCODERS</vt:lpstr>
      <vt:lpstr>ENCODERS</vt:lpstr>
      <vt:lpstr>ENCODERS</vt:lpstr>
      <vt:lpstr>ENCODERS</vt:lpstr>
      <vt:lpstr>ENCODERS</vt:lpstr>
      <vt:lpstr>ENCODERS</vt:lpstr>
      <vt:lpstr>ENCODERS</vt:lpstr>
      <vt:lpstr>PowerPoint Presentation</vt:lpstr>
      <vt:lpstr>BINARY MULTIPLIER</vt:lpstr>
      <vt:lpstr>BINARY MULTIPLIER</vt:lpstr>
      <vt:lpstr>BINARY MULTIPLIER</vt:lpstr>
      <vt:lpstr>PowerPoint Presentation</vt:lpstr>
      <vt:lpstr>BINARY MULTIPLIER</vt:lpstr>
      <vt:lpstr>BINARY MULTIPLIER</vt:lpstr>
      <vt:lpstr>BINARY MULTIPLIER</vt:lpstr>
      <vt:lpstr>PowerPoint Presentation</vt:lpstr>
      <vt:lpstr>BINARY MULTIPLIER</vt:lpstr>
      <vt:lpstr>BINARY MULTIPLIER</vt:lpstr>
      <vt:lpstr>PowerPoint Presentation</vt:lpstr>
      <vt:lpstr>PowerPoint Presentation</vt:lpstr>
      <vt:lpstr>MAGNITUDE COMPARATOR</vt:lpstr>
      <vt:lpstr>MAGNITUDE COMPARATOR</vt:lpstr>
      <vt:lpstr>MAGNITUDE COMPARATOR</vt:lpstr>
      <vt:lpstr>PowerPoint Presentation</vt:lpstr>
      <vt:lpstr>MAGNITUDE COMPARATOR</vt:lpstr>
      <vt:lpstr>MAGNITUDE COMPARATOR</vt:lpstr>
      <vt:lpstr>MAGNITUDE COMPARATOR</vt:lpstr>
      <vt:lpstr>MAGNITUDE COMPARATOR</vt:lpstr>
      <vt:lpstr>MAGNITUDE COMPARATOR</vt:lpstr>
      <vt:lpstr>PowerPoint Presentation</vt:lpstr>
      <vt:lpstr>MAGNITUDE COMPARATOR</vt:lpstr>
      <vt:lpstr>MAGNITUDE COMPARATOR</vt:lpstr>
      <vt:lpstr>MAGNITUDE COMPARATOR</vt:lpstr>
      <vt:lpstr>MAGNITUDE COMPARATOR</vt:lpstr>
      <vt:lpstr>MAGNITUDE COMPARATOR</vt:lpstr>
      <vt:lpstr>PowerPoint Presentation</vt:lpstr>
      <vt:lpstr>PARITY GENERATOR</vt:lpstr>
      <vt:lpstr>PowerPoint Presentation</vt:lpstr>
      <vt:lpstr>PARITY GENERATOR</vt:lpstr>
      <vt:lpstr>PARITY GENERATOR</vt:lpstr>
      <vt:lpstr>PARITY GENERATOR</vt:lpstr>
      <vt:lpstr>PARITY GENERATOR</vt:lpstr>
      <vt:lpstr>PARITY GENERATOR</vt:lpstr>
      <vt:lpstr>PARITY CHECKER</vt:lpstr>
      <vt:lpstr>PARITY CHECKER</vt:lpstr>
      <vt:lpstr>PARITY CHECKER</vt:lpstr>
      <vt:lpstr>PARITY CHECKER</vt:lpstr>
      <vt:lpstr>PARITY CHECKER</vt:lpstr>
      <vt:lpstr>PowerPoint Presentation</vt:lpstr>
      <vt:lpstr>MULTIPLEXERS</vt:lpstr>
      <vt:lpstr>MULTIPLEXERS</vt:lpstr>
      <vt:lpstr>MULTIPLEXERS</vt:lpstr>
      <vt:lpstr>PowerPoint Presentation</vt:lpstr>
      <vt:lpstr>MULTIPLEXERS</vt:lpstr>
      <vt:lpstr>MULTIPLEXERS</vt:lpstr>
      <vt:lpstr>MULTIPLEXERS</vt:lpstr>
      <vt:lpstr>PowerPoint Presentation</vt:lpstr>
      <vt:lpstr>MULTIPLEXERS</vt:lpstr>
      <vt:lpstr>PowerPoint Presentation</vt:lpstr>
      <vt:lpstr>MULTIPLEXERS</vt:lpstr>
      <vt:lpstr>MULTIPLEXERS</vt:lpstr>
      <vt:lpstr>MULTIPLEXERS</vt:lpstr>
      <vt:lpstr>MULTIPLEXERS</vt:lpstr>
      <vt:lpstr>PowerPoint Presentation</vt:lpstr>
      <vt:lpstr>MULTIPLEXERS</vt:lpstr>
      <vt:lpstr>PowerPoint Presentation</vt:lpstr>
      <vt:lpstr>MULTIPLEXERS</vt:lpstr>
      <vt:lpstr>MULTIPLEXERS</vt:lpstr>
      <vt:lpstr>MULTIPLEXERS</vt:lpstr>
      <vt:lpstr>PowerPoint Presentation</vt:lpstr>
      <vt:lpstr>PowerPoint Presentation</vt:lpstr>
      <vt:lpstr>PowerPoint Presentation</vt:lpstr>
      <vt:lpstr>DEMULTIPLEXERS</vt:lpstr>
      <vt:lpstr>DEMULTIPLEXERS</vt:lpstr>
      <vt:lpstr>DEMULTIPLEXERS</vt:lpstr>
      <vt:lpstr>DEMULTIPLEXERS</vt:lpstr>
      <vt:lpstr>DEMULTIPLEXERS</vt:lpstr>
      <vt:lpstr>DEMULTIPLEXERS</vt:lpstr>
      <vt:lpstr>DEMULTIPLEXERS</vt:lpstr>
      <vt:lpstr>DEMULTIPLEXERS</vt:lpstr>
      <vt:lpstr>DEMULTIPLEXERS</vt:lpstr>
      <vt:lpstr>DEMULTIPLEXERS</vt:lpstr>
      <vt:lpstr>PowerPoint Presentation</vt:lpstr>
      <vt:lpstr>DEMULTIPLEXERS</vt:lpstr>
      <vt:lpstr>DEMULTIPLEXERS</vt:lpstr>
      <vt:lpstr>PowerPoint Presentation</vt:lpstr>
      <vt:lpstr>DEMULTIPLEXERS</vt:lpstr>
      <vt:lpstr>DEMULTIPLEXERS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PRAKASH</dc:creator>
  <cp:lastModifiedBy>Vidya Vinodh</cp:lastModifiedBy>
  <cp:revision>1</cp:revision>
  <dcterms:created xsi:type="dcterms:W3CDTF">2023-03-17T11:04:04Z</dcterms:created>
  <dcterms:modified xsi:type="dcterms:W3CDTF">2024-07-27T11:11:16Z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2022-09-05T00:00:00Z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2023-03-17T00:00:00Z</vt:filetime>
  </property>
</Properties>
</file>