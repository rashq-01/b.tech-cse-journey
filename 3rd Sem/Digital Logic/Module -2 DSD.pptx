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03" autoAdjust="0"/>
    <p:restoredTop sz="94660"/>
  </p:normalViewPr>
  <p:slideViewPr>
    <p:cSldViewPr>
      <p:cViewPr varScale="1">
        <p:scale>
          <a:sx n="51" d="100"/>
          <a:sy n="51" d="100"/>
        </p:scale>
        <p:origin x="1627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slide" Target="slides/slide13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3303" y="289382"/>
            <a:ext cx="2517393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‹#›</a:t>
            </a:fld>
            <a:endParaRPr spc="-19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0000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‹#›</a:t>
            </a:fld>
            <a:endParaRPr spc="-19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41" y="982217"/>
            <a:ext cx="7589519" cy="76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93241" y="982217"/>
            <a:ext cx="7589520" cy="76200"/>
          </a:xfrm>
          <a:custGeom>
            <a:avLst/>
            <a:gdLst/>
            <a:ahLst/>
            <a:cxnLst/>
            <a:rect l="l" t="t" r="r" b="b"/>
            <a:pathLst>
              <a:path w="7589520" h="76200">
                <a:moveTo>
                  <a:pt x="0" y="38100"/>
                </a:moveTo>
                <a:lnTo>
                  <a:pt x="43341" y="32313"/>
                </a:lnTo>
                <a:lnTo>
                  <a:pt x="87526" y="29914"/>
                </a:lnTo>
                <a:lnTo>
                  <a:pt x="146355" y="27571"/>
                </a:lnTo>
                <a:lnTo>
                  <a:pt x="193462" y="26042"/>
                </a:lnTo>
                <a:lnTo>
                  <a:pt x="246707" y="24541"/>
                </a:lnTo>
                <a:lnTo>
                  <a:pt x="305942" y="23070"/>
                </a:lnTo>
                <a:lnTo>
                  <a:pt x="371019" y="21631"/>
                </a:lnTo>
                <a:lnTo>
                  <a:pt x="441788" y="20224"/>
                </a:lnTo>
                <a:lnTo>
                  <a:pt x="518103" y="18852"/>
                </a:lnTo>
                <a:lnTo>
                  <a:pt x="558294" y="18179"/>
                </a:lnTo>
                <a:lnTo>
                  <a:pt x="599815" y="17515"/>
                </a:lnTo>
                <a:lnTo>
                  <a:pt x="642648" y="16861"/>
                </a:lnTo>
                <a:lnTo>
                  <a:pt x="686776" y="16216"/>
                </a:lnTo>
                <a:lnTo>
                  <a:pt x="732178" y="15581"/>
                </a:lnTo>
                <a:lnTo>
                  <a:pt x="778837" y="14956"/>
                </a:lnTo>
                <a:lnTo>
                  <a:pt x="826734" y="14340"/>
                </a:lnTo>
                <a:lnTo>
                  <a:pt x="875851" y="13735"/>
                </a:lnTo>
                <a:lnTo>
                  <a:pt x="926168" y="13140"/>
                </a:lnTo>
                <a:lnTo>
                  <a:pt x="977669" y="12556"/>
                </a:lnTo>
                <a:lnTo>
                  <a:pt x="1030333" y="11983"/>
                </a:lnTo>
                <a:lnTo>
                  <a:pt x="1084143" y="11421"/>
                </a:lnTo>
                <a:lnTo>
                  <a:pt x="1139080" y="10870"/>
                </a:lnTo>
                <a:lnTo>
                  <a:pt x="1195125" y="10330"/>
                </a:lnTo>
                <a:lnTo>
                  <a:pt x="1252261" y="9801"/>
                </a:lnTo>
                <a:lnTo>
                  <a:pt x="1310467" y="9285"/>
                </a:lnTo>
                <a:lnTo>
                  <a:pt x="1369727" y="8780"/>
                </a:lnTo>
                <a:lnTo>
                  <a:pt x="1430021" y="8287"/>
                </a:lnTo>
                <a:lnTo>
                  <a:pt x="1491331" y="7807"/>
                </a:lnTo>
                <a:lnTo>
                  <a:pt x="1553638" y="7339"/>
                </a:lnTo>
                <a:lnTo>
                  <a:pt x="1616924" y="6884"/>
                </a:lnTo>
                <a:lnTo>
                  <a:pt x="1681171" y="6441"/>
                </a:lnTo>
                <a:lnTo>
                  <a:pt x="1746359" y="6012"/>
                </a:lnTo>
                <a:lnTo>
                  <a:pt x="1812470" y="5595"/>
                </a:lnTo>
                <a:lnTo>
                  <a:pt x="1879487" y="5192"/>
                </a:lnTo>
                <a:lnTo>
                  <a:pt x="1947389" y="4803"/>
                </a:lnTo>
                <a:lnTo>
                  <a:pt x="2016159" y="4427"/>
                </a:lnTo>
                <a:lnTo>
                  <a:pt x="2085778" y="4065"/>
                </a:lnTo>
                <a:lnTo>
                  <a:pt x="2156228" y="3718"/>
                </a:lnTo>
                <a:lnTo>
                  <a:pt x="2227491" y="3384"/>
                </a:lnTo>
                <a:lnTo>
                  <a:pt x="2299546" y="3065"/>
                </a:lnTo>
                <a:lnTo>
                  <a:pt x="2372377" y="2761"/>
                </a:lnTo>
                <a:lnTo>
                  <a:pt x="2445964" y="2472"/>
                </a:lnTo>
                <a:lnTo>
                  <a:pt x="2520290" y="2197"/>
                </a:lnTo>
                <a:lnTo>
                  <a:pt x="2595335" y="1938"/>
                </a:lnTo>
                <a:lnTo>
                  <a:pt x="2671081" y="1694"/>
                </a:lnTo>
                <a:lnTo>
                  <a:pt x="2747509" y="1466"/>
                </a:lnTo>
                <a:lnTo>
                  <a:pt x="2824602" y="1253"/>
                </a:lnTo>
                <a:lnTo>
                  <a:pt x="2902340" y="1057"/>
                </a:lnTo>
                <a:lnTo>
                  <a:pt x="2980705" y="876"/>
                </a:lnTo>
                <a:lnTo>
                  <a:pt x="3059678" y="712"/>
                </a:lnTo>
                <a:lnTo>
                  <a:pt x="3139241" y="565"/>
                </a:lnTo>
                <a:lnTo>
                  <a:pt x="3219376" y="434"/>
                </a:lnTo>
                <a:lnTo>
                  <a:pt x="3300063" y="320"/>
                </a:lnTo>
                <a:lnTo>
                  <a:pt x="3381285" y="223"/>
                </a:lnTo>
                <a:lnTo>
                  <a:pt x="3463022" y="143"/>
                </a:lnTo>
                <a:lnTo>
                  <a:pt x="3545257" y="80"/>
                </a:lnTo>
                <a:lnTo>
                  <a:pt x="3627970" y="36"/>
                </a:lnTo>
                <a:lnTo>
                  <a:pt x="3711144" y="9"/>
                </a:lnTo>
                <a:lnTo>
                  <a:pt x="3794760" y="0"/>
                </a:lnTo>
                <a:lnTo>
                  <a:pt x="3878375" y="9"/>
                </a:lnTo>
                <a:lnTo>
                  <a:pt x="3961549" y="36"/>
                </a:lnTo>
                <a:lnTo>
                  <a:pt x="4044262" y="80"/>
                </a:lnTo>
                <a:lnTo>
                  <a:pt x="4126497" y="143"/>
                </a:lnTo>
                <a:lnTo>
                  <a:pt x="4208234" y="223"/>
                </a:lnTo>
                <a:lnTo>
                  <a:pt x="4289456" y="320"/>
                </a:lnTo>
                <a:lnTo>
                  <a:pt x="4370143" y="434"/>
                </a:lnTo>
                <a:lnTo>
                  <a:pt x="4450278" y="565"/>
                </a:lnTo>
                <a:lnTo>
                  <a:pt x="4529841" y="712"/>
                </a:lnTo>
                <a:lnTo>
                  <a:pt x="4608814" y="876"/>
                </a:lnTo>
                <a:lnTo>
                  <a:pt x="4687179" y="1057"/>
                </a:lnTo>
                <a:lnTo>
                  <a:pt x="4764917" y="1253"/>
                </a:lnTo>
                <a:lnTo>
                  <a:pt x="4842010" y="1466"/>
                </a:lnTo>
                <a:lnTo>
                  <a:pt x="4918438" y="1694"/>
                </a:lnTo>
                <a:lnTo>
                  <a:pt x="4994184" y="1938"/>
                </a:lnTo>
                <a:lnTo>
                  <a:pt x="5069229" y="2197"/>
                </a:lnTo>
                <a:lnTo>
                  <a:pt x="5143555" y="2472"/>
                </a:lnTo>
                <a:lnTo>
                  <a:pt x="5217142" y="2761"/>
                </a:lnTo>
                <a:lnTo>
                  <a:pt x="5289973" y="3065"/>
                </a:lnTo>
                <a:lnTo>
                  <a:pt x="5362028" y="3384"/>
                </a:lnTo>
                <a:lnTo>
                  <a:pt x="5433291" y="3718"/>
                </a:lnTo>
                <a:lnTo>
                  <a:pt x="5503741" y="4065"/>
                </a:lnTo>
                <a:lnTo>
                  <a:pt x="5573360" y="4427"/>
                </a:lnTo>
                <a:lnTo>
                  <a:pt x="5642130" y="4803"/>
                </a:lnTo>
                <a:lnTo>
                  <a:pt x="5710032" y="5192"/>
                </a:lnTo>
                <a:lnTo>
                  <a:pt x="5777049" y="5595"/>
                </a:lnTo>
                <a:lnTo>
                  <a:pt x="5843160" y="6012"/>
                </a:lnTo>
                <a:lnTo>
                  <a:pt x="5908348" y="6441"/>
                </a:lnTo>
                <a:lnTo>
                  <a:pt x="5972595" y="6884"/>
                </a:lnTo>
                <a:lnTo>
                  <a:pt x="6035881" y="7339"/>
                </a:lnTo>
                <a:lnTo>
                  <a:pt x="6098188" y="7807"/>
                </a:lnTo>
                <a:lnTo>
                  <a:pt x="6159498" y="8287"/>
                </a:lnTo>
                <a:lnTo>
                  <a:pt x="6219792" y="8780"/>
                </a:lnTo>
                <a:lnTo>
                  <a:pt x="6279052" y="9285"/>
                </a:lnTo>
                <a:lnTo>
                  <a:pt x="6337258" y="9801"/>
                </a:lnTo>
                <a:lnTo>
                  <a:pt x="6394394" y="10330"/>
                </a:lnTo>
                <a:lnTo>
                  <a:pt x="6450439" y="10870"/>
                </a:lnTo>
                <a:lnTo>
                  <a:pt x="6505376" y="11421"/>
                </a:lnTo>
                <a:lnTo>
                  <a:pt x="6559186" y="11983"/>
                </a:lnTo>
                <a:lnTo>
                  <a:pt x="6611850" y="12556"/>
                </a:lnTo>
                <a:lnTo>
                  <a:pt x="6663351" y="13140"/>
                </a:lnTo>
                <a:lnTo>
                  <a:pt x="6713668" y="13735"/>
                </a:lnTo>
                <a:lnTo>
                  <a:pt x="6762785" y="14340"/>
                </a:lnTo>
                <a:lnTo>
                  <a:pt x="6810682" y="14956"/>
                </a:lnTo>
                <a:lnTo>
                  <a:pt x="6857341" y="15581"/>
                </a:lnTo>
                <a:lnTo>
                  <a:pt x="6902743" y="16216"/>
                </a:lnTo>
                <a:lnTo>
                  <a:pt x="6946871" y="16861"/>
                </a:lnTo>
                <a:lnTo>
                  <a:pt x="6989704" y="17515"/>
                </a:lnTo>
                <a:lnTo>
                  <a:pt x="7031225" y="18179"/>
                </a:lnTo>
                <a:lnTo>
                  <a:pt x="7071416" y="18852"/>
                </a:lnTo>
                <a:lnTo>
                  <a:pt x="7110257" y="19534"/>
                </a:lnTo>
                <a:lnTo>
                  <a:pt x="7183818" y="20923"/>
                </a:lnTo>
                <a:lnTo>
                  <a:pt x="7251760" y="22347"/>
                </a:lnTo>
                <a:lnTo>
                  <a:pt x="7313934" y="23802"/>
                </a:lnTo>
                <a:lnTo>
                  <a:pt x="7370192" y="25288"/>
                </a:lnTo>
                <a:lnTo>
                  <a:pt x="7420387" y="26803"/>
                </a:lnTo>
                <a:lnTo>
                  <a:pt x="7464370" y="28345"/>
                </a:lnTo>
                <a:lnTo>
                  <a:pt x="7518373" y="30708"/>
                </a:lnTo>
                <a:lnTo>
                  <a:pt x="7557565" y="33124"/>
                </a:lnTo>
                <a:lnTo>
                  <a:pt x="7589519" y="38100"/>
                </a:lnTo>
                <a:lnTo>
                  <a:pt x="7588616" y="38941"/>
                </a:lnTo>
                <a:lnTo>
                  <a:pt x="7546178" y="43886"/>
                </a:lnTo>
                <a:lnTo>
                  <a:pt x="7501993" y="46285"/>
                </a:lnTo>
                <a:lnTo>
                  <a:pt x="7443164" y="48628"/>
                </a:lnTo>
                <a:lnTo>
                  <a:pt x="7396057" y="50157"/>
                </a:lnTo>
                <a:lnTo>
                  <a:pt x="7342812" y="51658"/>
                </a:lnTo>
                <a:lnTo>
                  <a:pt x="7283577" y="53129"/>
                </a:lnTo>
                <a:lnTo>
                  <a:pt x="7218500" y="54568"/>
                </a:lnTo>
                <a:lnTo>
                  <a:pt x="7147731" y="55975"/>
                </a:lnTo>
                <a:lnTo>
                  <a:pt x="7071416" y="57347"/>
                </a:lnTo>
                <a:lnTo>
                  <a:pt x="7031225" y="58020"/>
                </a:lnTo>
                <a:lnTo>
                  <a:pt x="6989704" y="58684"/>
                </a:lnTo>
                <a:lnTo>
                  <a:pt x="6946871" y="59338"/>
                </a:lnTo>
                <a:lnTo>
                  <a:pt x="6902743" y="59983"/>
                </a:lnTo>
                <a:lnTo>
                  <a:pt x="6857341" y="60618"/>
                </a:lnTo>
                <a:lnTo>
                  <a:pt x="6810682" y="61243"/>
                </a:lnTo>
                <a:lnTo>
                  <a:pt x="6762785" y="61859"/>
                </a:lnTo>
                <a:lnTo>
                  <a:pt x="6713668" y="62464"/>
                </a:lnTo>
                <a:lnTo>
                  <a:pt x="6663351" y="63059"/>
                </a:lnTo>
                <a:lnTo>
                  <a:pt x="6611850" y="63643"/>
                </a:lnTo>
                <a:lnTo>
                  <a:pt x="6559186" y="64216"/>
                </a:lnTo>
                <a:lnTo>
                  <a:pt x="6505376" y="64778"/>
                </a:lnTo>
                <a:lnTo>
                  <a:pt x="6450439" y="65329"/>
                </a:lnTo>
                <a:lnTo>
                  <a:pt x="6394394" y="65869"/>
                </a:lnTo>
                <a:lnTo>
                  <a:pt x="6337258" y="66398"/>
                </a:lnTo>
                <a:lnTo>
                  <a:pt x="6279052" y="66914"/>
                </a:lnTo>
                <a:lnTo>
                  <a:pt x="6219792" y="67419"/>
                </a:lnTo>
                <a:lnTo>
                  <a:pt x="6159498" y="67912"/>
                </a:lnTo>
                <a:lnTo>
                  <a:pt x="6098188" y="68392"/>
                </a:lnTo>
                <a:lnTo>
                  <a:pt x="6035881" y="68860"/>
                </a:lnTo>
                <a:lnTo>
                  <a:pt x="5972595" y="69315"/>
                </a:lnTo>
                <a:lnTo>
                  <a:pt x="5908348" y="69758"/>
                </a:lnTo>
                <a:lnTo>
                  <a:pt x="5843160" y="70187"/>
                </a:lnTo>
                <a:lnTo>
                  <a:pt x="5777049" y="70604"/>
                </a:lnTo>
                <a:lnTo>
                  <a:pt x="5710032" y="71007"/>
                </a:lnTo>
                <a:lnTo>
                  <a:pt x="5642130" y="71396"/>
                </a:lnTo>
                <a:lnTo>
                  <a:pt x="5573360" y="71772"/>
                </a:lnTo>
                <a:lnTo>
                  <a:pt x="5503741" y="72134"/>
                </a:lnTo>
                <a:lnTo>
                  <a:pt x="5433291" y="72481"/>
                </a:lnTo>
                <a:lnTo>
                  <a:pt x="5362028" y="72815"/>
                </a:lnTo>
                <a:lnTo>
                  <a:pt x="5289973" y="73134"/>
                </a:lnTo>
                <a:lnTo>
                  <a:pt x="5217142" y="73438"/>
                </a:lnTo>
                <a:lnTo>
                  <a:pt x="5143555" y="73727"/>
                </a:lnTo>
                <a:lnTo>
                  <a:pt x="5069229" y="74002"/>
                </a:lnTo>
                <a:lnTo>
                  <a:pt x="4994184" y="74261"/>
                </a:lnTo>
                <a:lnTo>
                  <a:pt x="4918438" y="74505"/>
                </a:lnTo>
                <a:lnTo>
                  <a:pt x="4842010" y="74733"/>
                </a:lnTo>
                <a:lnTo>
                  <a:pt x="4764917" y="74946"/>
                </a:lnTo>
                <a:lnTo>
                  <a:pt x="4687179" y="75142"/>
                </a:lnTo>
                <a:lnTo>
                  <a:pt x="4608814" y="75323"/>
                </a:lnTo>
                <a:lnTo>
                  <a:pt x="4529841" y="75487"/>
                </a:lnTo>
                <a:lnTo>
                  <a:pt x="4450278" y="75634"/>
                </a:lnTo>
                <a:lnTo>
                  <a:pt x="4370143" y="75765"/>
                </a:lnTo>
                <a:lnTo>
                  <a:pt x="4289456" y="75879"/>
                </a:lnTo>
                <a:lnTo>
                  <a:pt x="4208234" y="75976"/>
                </a:lnTo>
                <a:lnTo>
                  <a:pt x="4126497" y="76056"/>
                </a:lnTo>
                <a:lnTo>
                  <a:pt x="4044262" y="76119"/>
                </a:lnTo>
                <a:lnTo>
                  <a:pt x="3961549" y="76163"/>
                </a:lnTo>
                <a:lnTo>
                  <a:pt x="3878375" y="76190"/>
                </a:lnTo>
                <a:lnTo>
                  <a:pt x="3794760" y="76200"/>
                </a:lnTo>
                <a:lnTo>
                  <a:pt x="3711144" y="76190"/>
                </a:lnTo>
                <a:lnTo>
                  <a:pt x="3627970" y="76163"/>
                </a:lnTo>
                <a:lnTo>
                  <a:pt x="3545257" y="76119"/>
                </a:lnTo>
                <a:lnTo>
                  <a:pt x="3463022" y="76056"/>
                </a:lnTo>
                <a:lnTo>
                  <a:pt x="3381285" y="75976"/>
                </a:lnTo>
                <a:lnTo>
                  <a:pt x="3300063" y="75879"/>
                </a:lnTo>
                <a:lnTo>
                  <a:pt x="3219376" y="75765"/>
                </a:lnTo>
                <a:lnTo>
                  <a:pt x="3139241" y="75634"/>
                </a:lnTo>
                <a:lnTo>
                  <a:pt x="3059678" y="75487"/>
                </a:lnTo>
                <a:lnTo>
                  <a:pt x="2980705" y="75323"/>
                </a:lnTo>
                <a:lnTo>
                  <a:pt x="2902340" y="75142"/>
                </a:lnTo>
                <a:lnTo>
                  <a:pt x="2824602" y="74946"/>
                </a:lnTo>
                <a:lnTo>
                  <a:pt x="2747509" y="74733"/>
                </a:lnTo>
                <a:lnTo>
                  <a:pt x="2671081" y="74505"/>
                </a:lnTo>
                <a:lnTo>
                  <a:pt x="2595335" y="74261"/>
                </a:lnTo>
                <a:lnTo>
                  <a:pt x="2520290" y="74002"/>
                </a:lnTo>
                <a:lnTo>
                  <a:pt x="2445964" y="73727"/>
                </a:lnTo>
                <a:lnTo>
                  <a:pt x="2372377" y="73438"/>
                </a:lnTo>
                <a:lnTo>
                  <a:pt x="2299546" y="73134"/>
                </a:lnTo>
                <a:lnTo>
                  <a:pt x="2227491" y="72815"/>
                </a:lnTo>
                <a:lnTo>
                  <a:pt x="2156228" y="72481"/>
                </a:lnTo>
                <a:lnTo>
                  <a:pt x="2085778" y="72134"/>
                </a:lnTo>
                <a:lnTo>
                  <a:pt x="2016159" y="71772"/>
                </a:lnTo>
                <a:lnTo>
                  <a:pt x="1947389" y="71396"/>
                </a:lnTo>
                <a:lnTo>
                  <a:pt x="1879487" y="71007"/>
                </a:lnTo>
                <a:lnTo>
                  <a:pt x="1812470" y="70604"/>
                </a:lnTo>
                <a:lnTo>
                  <a:pt x="1746359" y="70187"/>
                </a:lnTo>
                <a:lnTo>
                  <a:pt x="1681171" y="69758"/>
                </a:lnTo>
                <a:lnTo>
                  <a:pt x="1616924" y="69315"/>
                </a:lnTo>
                <a:lnTo>
                  <a:pt x="1553638" y="68860"/>
                </a:lnTo>
                <a:lnTo>
                  <a:pt x="1491331" y="68392"/>
                </a:lnTo>
                <a:lnTo>
                  <a:pt x="1430021" y="67912"/>
                </a:lnTo>
                <a:lnTo>
                  <a:pt x="1369727" y="67419"/>
                </a:lnTo>
                <a:lnTo>
                  <a:pt x="1310467" y="66914"/>
                </a:lnTo>
                <a:lnTo>
                  <a:pt x="1252261" y="66398"/>
                </a:lnTo>
                <a:lnTo>
                  <a:pt x="1195125" y="65869"/>
                </a:lnTo>
                <a:lnTo>
                  <a:pt x="1139080" y="65329"/>
                </a:lnTo>
                <a:lnTo>
                  <a:pt x="1084143" y="64778"/>
                </a:lnTo>
                <a:lnTo>
                  <a:pt x="1030333" y="64216"/>
                </a:lnTo>
                <a:lnTo>
                  <a:pt x="977669" y="63643"/>
                </a:lnTo>
                <a:lnTo>
                  <a:pt x="926168" y="63059"/>
                </a:lnTo>
                <a:lnTo>
                  <a:pt x="875851" y="62464"/>
                </a:lnTo>
                <a:lnTo>
                  <a:pt x="826734" y="61859"/>
                </a:lnTo>
                <a:lnTo>
                  <a:pt x="778837" y="61243"/>
                </a:lnTo>
                <a:lnTo>
                  <a:pt x="732178" y="60618"/>
                </a:lnTo>
                <a:lnTo>
                  <a:pt x="686776" y="59983"/>
                </a:lnTo>
                <a:lnTo>
                  <a:pt x="642648" y="59338"/>
                </a:lnTo>
                <a:lnTo>
                  <a:pt x="599815" y="58684"/>
                </a:lnTo>
                <a:lnTo>
                  <a:pt x="558294" y="58020"/>
                </a:lnTo>
                <a:lnTo>
                  <a:pt x="518103" y="57347"/>
                </a:lnTo>
                <a:lnTo>
                  <a:pt x="479262" y="56665"/>
                </a:lnTo>
                <a:lnTo>
                  <a:pt x="405701" y="55276"/>
                </a:lnTo>
                <a:lnTo>
                  <a:pt x="337759" y="53852"/>
                </a:lnTo>
                <a:lnTo>
                  <a:pt x="275585" y="52397"/>
                </a:lnTo>
                <a:lnTo>
                  <a:pt x="219327" y="50911"/>
                </a:lnTo>
                <a:lnTo>
                  <a:pt x="169132" y="49396"/>
                </a:lnTo>
                <a:lnTo>
                  <a:pt x="125149" y="47854"/>
                </a:lnTo>
                <a:lnTo>
                  <a:pt x="71146" y="45491"/>
                </a:lnTo>
                <a:lnTo>
                  <a:pt x="31954" y="43075"/>
                </a:lnTo>
                <a:lnTo>
                  <a:pt x="0" y="3810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6764"/>
            <a:ext cx="9143999" cy="66827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3537" y="131826"/>
            <a:ext cx="8924925" cy="6457315"/>
          </a:xfrm>
          <a:custGeom>
            <a:avLst/>
            <a:gdLst/>
            <a:ahLst/>
            <a:cxnLst/>
            <a:rect l="l" t="t" r="r" b="b"/>
            <a:pathLst>
              <a:path w="8924925" h="6457315">
                <a:moveTo>
                  <a:pt x="1076210" y="0"/>
                </a:moveTo>
                <a:lnTo>
                  <a:pt x="7848345" y="0"/>
                </a:lnTo>
                <a:lnTo>
                  <a:pt x="7896283" y="1048"/>
                </a:lnTo>
                <a:lnTo>
                  <a:pt x="7943684" y="4165"/>
                </a:lnTo>
                <a:lnTo>
                  <a:pt x="7990503" y="9306"/>
                </a:lnTo>
                <a:lnTo>
                  <a:pt x="8036699" y="16427"/>
                </a:lnTo>
                <a:lnTo>
                  <a:pt x="8082226" y="25485"/>
                </a:lnTo>
                <a:lnTo>
                  <a:pt x="8127042" y="36437"/>
                </a:lnTo>
                <a:lnTo>
                  <a:pt x="8171102" y="49237"/>
                </a:lnTo>
                <a:lnTo>
                  <a:pt x="8214362" y="63843"/>
                </a:lnTo>
                <a:lnTo>
                  <a:pt x="8256780" y="80211"/>
                </a:lnTo>
                <a:lnTo>
                  <a:pt x="8298310" y="98297"/>
                </a:lnTo>
                <a:lnTo>
                  <a:pt x="8338910" y="118058"/>
                </a:lnTo>
                <a:lnTo>
                  <a:pt x="8378535" y="139449"/>
                </a:lnTo>
                <a:lnTo>
                  <a:pt x="8417143" y="162426"/>
                </a:lnTo>
                <a:lnTo>
                  <a:pt x="8454688" y="186947"/>
                </a:lnTo>
                <a:lnTo>
                  <a:pt x="8491128" y="212967"/>
                </a:lnTo>
                <a:lnTo>
                  <a:pt x="8526419" y="240443"/>
                </a:lnTo>
                <a:lnTo>
                  <a:pt x="8560516" y="269331"/>
                </a:lnTo>
                <a:lnTo>
                  <a:pt x="8593377" y="299586"/>
                </a:lnTo>
                <a:lnTo>
                  <a:pt x="8624957" y="331166"/>
                </a:lnTo>
                <a:lnTo>
                  <a:pt x="8655212" y="364027"/>
                </a:lnTo>
                <a:lnTo>
                  <a:pt x="8684100" y="398124"/>
                </a:lnTo>
                <a:lnTo>
                  <a:pt x="8711576" y="433415"/>
                </a:lnTo>
                <a:lnTo>
                  <a:pt x="8737596" y="469855"/>
                </a:lnTo>
                <a:lnTo>
                  <a:pt x="8762117" y="507400"/>
                </a:lnTo>
                <a:lnTo>
                  <a:pt x="8785094" y="546008"/>
                </a:lnTo>
                <a:lnTo>
                  <a:pt x="8806485" y="585633"/>
                </a:lnTo>
                <a:lnTo>
                  <a:pt x="8826246" y="626233"/>
                </a:lnTo>
                <a:lnTo>
                  <a:pt x="8844332" y="667763"/>
                </a:lnTo>
                <a:lnTo>
                  <a:pt x="8860700" y="710181"/>
                </a:lnTo>
                <a:lnTo>
                  <a:pt x="8875306" y="753441"/>
                </a:lnTo>
                <a:lnTo>
                  <a:pt x="8888106" y="797501"/>
                </a:lnTo>
                <a:lnTo>
                  <a:pt x="8899058" y="842317"/>
                </a:lnTo>
                <a:lnTo>
                  <a:pt x="8908116" y="887844"/>
                </a:lnTo>
                <a:lnTo>
                  <a:pt x="8915237" y="934040"/>
                </a:lnTo>
                <a:lnTo>
                  <a:pt x="8920378" y="980859"/>
                </a:lnTo>
                <a:lnTo>
                  <a:pt x="8923495" y="1028260"/>
                </a:lnTo>
                <a:lnTo>
                  <a:pt x="8924543" y="1076198"/>
                </a:lnTo>
                <a:lnTo>
                  <a:pt x="8924543" y="6457188"/>
                </a:lnTo>
                <a:lnTo>
                  <a:pt x="0" y="6457188"/>
                </a:lnTo>
                <a:lnTo>
                  <a:pt x="0" y="1076198"/>
                </a:lnTo>
                <a:lnTo>
                  <a:pt x="1048" y="1028260"/>
                </a:lnTo>
                <a:lnTo>
                  <a:pt x="4165" y="980859"/>
                </a:lnTo>
                <a:lnTo>
                  <a:pt x="9306" y="934040"/>
                </a:lnTo>
                <a:lnTo>
                  <a:pt x="16427" y="887844"/>
                </a:lnTo>
                <a:lnTo>
                  <a:pt x="25485" y="842317"/>
                </a:lnTo>
                <a:lnTo>
                  <a:pt x="36437" y="797501"/>
                </a:lnTo>
                <a:lnTo>
                  <a:pt x="49237" y="753441"/>
                </a:lnTo>
                <a:lnTo>
                  <a:pt x="63844" y="710181"/>
                </a:lnTo>
                <a:lnTo>
                  <a:pt x="80212" y="667763"/>
                </a:lnTo>
                <a:lnTo>
                  <a:pt x="98298" y="626233"/>
                </a:lnTo>
                <a:lnTo>
                  <a:pt x="118058" y="585633"/>
                </a:lnTo>
                <a:lnTo>
                  <a:pt x="139449" y="546008"/>
                </a:lnTo>
                <a:lnTo>
                  <a:pt x="162427" y="507400"/>
                </a:lnTo>
                <a:lnTo>
                  <a:pt x="186948" y="469855"/>
                </a:lnTo>
                <a:lnTo>
                  <a:pt x="212968" y="433415"/>
                </a:lnTo>
                <a:lnTo>
                  <a:pt x="240444" y="398124"/>
                </a:lnTo>
                <a:lnTo>
                  <a:pt x="269332" y="364027"/>
                </a:lnTo>
                <a:lnTo>
                  <a:pt x="299588" y="331166"/>
                </a:lnTo>
                <a:lnTo>
                  <a:pt x="331168" y="299586"/>
                </a:lnTo>
                <a:lnTo>
                  <a:pt x="364029" y="269331"/>
                </a:lnTo>
                <a:lnTo>
                  <a:pt x="398127" y="240443"/>
                </a:lnTo>
                <a:lnTo>
                  <a:pt x="433418" y="212967"/>
                </a:lnTo>
                <a:lnTo>
                  <a:pt x="469858" y="186947"/>
                </a:lnTo>
                <a:lnTo>
                  <a:pt x="507404" y="162426"/>
                </a:lnTo>
                <a:lnTo>
                  <a:pt x="546012" y="139449"/>
                </a:lnTo>
                <a:lnTo>
                  <a:pt x="585637" y="118058"/>
                </a:lnTo>
                <a:lnTo>
                  <a:pt x="626238" y="98297"/>
                </a:lnTo>
                <a:lnTo>
                  <a:pt x="667769" y="80211"/>
                </a:lnTo>
                <a:lnTo>
                  <a:pt x="710187" y="63843"/>
                </a:lnTo>
                <a:lnTo>
                  <a:pt x="753448" y="49237"/>
                </a:lnTo>
                <a:lnTo>
                  <a:pt x="797509" y="36437"/>
                </a:lnTo>
                <a:lnTo>
                  <a:pt x="842325" y="25485"/>
                </a:lnTo>
                <a:lnTo>
                  <a:pt x="887853" y="16427"/>
                </a:lnTo>
                <a:lnTo>
                  <a:pt x="934049" y="9306"/>
                </a:lnTo>
                <a:lnTo>
                  <a:pt x="980870" y="4165"/>
                </a:lnTo>
                <a:lnTo>
                  <a:pt x="1028272" y="1048"/>
                </a:lnTo>
                <a:lnTo>
                  <a:pt x="107621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439" y="320001"/>
            <a:ext cx="7434072" cy="5761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1140" y="1845005"/>
            <a:ext cx="3518535" cy="3557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‹#›</a:t>
            </a:fld>
            <a:endParaRPr spc="-19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241" y="982217"/>
            <a:ext cx="7589519" cy="76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93241" y="982217"/>
            <a:ext cx="7589520" cy="76200"/>
          </a:xfrm>
          <a:custGeom>
            <a:avLst/>
            <a:gdLst/>
            <a:ahLst/>
            <a:cxnLst/>
            <a:rect l="l" t="t" r="r" b="b"/>
            <a:pathLst>
              <a:path w="7589520" h="76200">
                <a:moveTo>
                  <a:pt x="0" y="38100"/>
                </a:moveTo>
                <a:lnTo>
                  <a:pt x="43341" y="32313"/>
                </a:lnTo>
                <a:lnTo>
                  <a:pt x="87526" y="29914"/>
                </a:lnTo>
                <a:lnTo>
                  <a:pt x="146355" y="27571"/>
                </a:lnTo>
                <a:lnTo>
                  <a:pt x="193462" y="26042"/>
                </a:lnTo>
                <a:lnTo>
                  <a:pt x="246707" y="24541"/>
                </a:lnTo>
                <a:lnTo>
                  <a:pt x="305942" y="23070"/>
                </a:lnTo>
                <a:lnTo>
                  <a:pt x="371019" y="21631"/>
                </a:lnTo>
                <a:lnTo>
                  <a:pt x="441788" y="20224"/>
                </a:lnTo>
                <a:lnTo>
                  <a:pt x="518103" y="18852"/>
                </a:lnTo>
                <a:lnTo>
                  <a:pt x="558294" y="18179"/>
                </a:lnTo>
                <a:lnTo>
                  <a:pt x="599815" y="17515"/>
                </a:lnTo>
                <a:lnTo>
                  <a:pt x="642648" y="16861"/>
                </a:lnTo>
                <a:lnTo>
                  <a:pt x="686776" y="16216"/>
                </a:lnTo>
                <a:lnTo>
                  <a:pt x="732178" y="15581"/>
                </a:lnTo>
                <a:lnTo>
                  <a:pt x="778837" y="14956"/>
                </a:lnTo>
                <a:lnTo>
                  <a:pt x="826734" y="14340"/>
                </a:lnTo>
                <a:lnTo>
                  <a:pt x="875851" y="13735"/>
                </a:lnTo>
                <a:lnTo>
                  <a:pt x="926168" y="13140"/>
                </a:lnTo>
                <a:lnTo>
                  <a:pt x="977669" y="12556"/>
                </a:lnTo>
                <a:lnTo>
                  <a:pt x="1030333" y="11983"/>
                </a:lnTo>
                <a:lnTo>
                  <a:pt x="1084143" y="11421"/>
                </a:lnTo>
                <a:lnTo>
                  <a:pt x="1139080" y="10870"/>
                </a:lnTo>
                <a:lnTo>
                  <a:pt x="1195125" y="10330"/>
                </a:lnTo>
                <a:lnTo>
                  <a:pt x="1252261" y="9801"/>
                </a:lnTo>
                <a:lnTo>
                  <a:pt x="1310467" y="9285"/>
                </a:lnTo>
                <a:lnTo>
                  <a:pt x="1369727" y="8780"/>
                </a:lnTo>
                <a:lnTo>
                  <a:pt x="1430021" y="8287"/>
                </a:lnTo>
                <a:lnTo>
                  <a:pt x="1491331" y="7807"/>
                </a:lnTo>
                <a:lnTo>
                  <a:pt x="1553638" y="7339"/>
                </a:lnTo>
                <a:lnTo>
                  <a:pt x="1616924" y="6884"/>
                </a:lnTo>
                <a:lnTo>
                  <a:pt x="1681171" y="6441"/>
                </a:lnTo>
                <a:lnTo>
                  <a:pt x="1746359" y="6012"/>
                </a:lnTo>
                <a:lnTo>
                  <a:pt x="1812470" y="5595"/>
                </a:lnTo>
                <a:lnTo>
                  <a:pt x="1879487" y="5192"/>
                </a:lnTo>
                <a:lnTo>
                  <a:pt x="1947389" y="4803"/>
                </a:lnTo>
                <a:lnTo>
                  <a:pt x="2016159" y="4427"/>
                </a:lnTo>
                <a:lnTo>
                  <a:pt x="2085778" y="4065"/>
                </a:lnTo>
                <a:lnTo>
                  <a:pt x="2156228" y="3718"/>
                </a:lnTo>
                <a:lnTo>
                  <a:pt x="2227491" y="3384"/>
                </a:lnTo>
                <a:lnTo>
                  <a:pt x="2299546" y="3065"/>
                </a:lnTo>
                <a:lnTo>
                  <a:pt x="2372377" y="2761"/>
                </a:lnTo>
                <a:lnTo>
                  <a:pt x="2445964" y="2472"/>
                </a:lnTo>
                <a:lnTo>
                  <a:pt x="2520290" y="2197"/>
                </a:lnTo>
                <a:lnTo>
                  <a:pt x="2595335" y="1938"/>
                </a:lnTo>
                <a:lnTo>
                  <a:pt x="2671081" y="1694"/>
                </a:lnTo>
                <a:lnTo>
                  <a:pt x="2747509" y="1466"/>
                </a:lnTo>
                <a:lnTo>
                  <a:pt x="2824602" y="1253"/>
                </a:lnTo>
                <a:lnTo>
                  <a:pt x="2902340" y="1057"/>
                </a:lnTo>
                <a:lnTo>
                  <a:pt x="2980705" y="876"/>
                </a:lnTo>
                <a:lnTo>
                  <a:pt x="3059678" y="712"/>
                </a:lnTo>
                <a:lnTo>
                  <a:pt x="3139241" y="565"/>
                </a:lnTo>
                <a:lnTo>
                  <a:pt x="3219376" y="434"/>
                </a:lnTo>
                <a:lnTo>
                  <a:pt x="3300063" y="320"/>
                </a:lnTo>
                <a:lnTo>
                  <a:pt x="3381285" y="223"/>
                </a:lnTo>
                <a:lnTo>
                  <a:pt x="3463022" y="143"/>
                </a:lnTo>
                <a:lnTo>
                  <a:pt x="3545257" y="80"/>
                </a:lnTo>
                <a:lnTo>
                  <a:pt x="3627970" y="36"/>
                </a:lnTo>
                <a:lnTo>
                  <a:pt x="3711144" y="9"/>
                </a:lnTo>
                <a:lnTo>
                  <a:pt x="3794760" y="0"/>
                </a:lnTo>
                <a:lnTo>
                  <a:pt x="3878375" y="9"/>
                </a:lnTo>
                <a:lnTo>
                  <a:pt x="3961549" y="36"/>
                </a:lnTo>
                <a:lnTo>
                  <a:pt x="4044262" y="80"/>
                </a:lnTo>
                <a:lnTo>
                  <a:pt x="4126497" y="143"/>
                </a:lnTo>
                <a:lnTo>
                  <a:pt x="4208234" y="223"/>
                </a:lnTo>
                <a:lnTo>
                  <a:pt x="4289456" y="320"/>
                </a:lnTo>
                <a:lnTo>
                  <a:pt x="4370143" y="434"/>
                </a:lnTo>
                <a:lnTo>
                  <a:pt x="4450278" y="565"/>
                </a:lnTo>
                <a:lnTo>
                  <a:pt x="4529841" y="712"/>
                </a:lnTo>
                <a:lnTo>
                  <a:pt x="4608814" y="876"/>
                </a:lnTo>
                <a:lnTo>
                  <a:pt x="4687179" y="1057"/>
                </a:lnTo>
                <a:lnTo>
                  <a:pt x="4764917" y="1253"/>
                </a:lnTo>
                <a:lnTo>
                  <a:pt x="4842010" y="1466"/>
                </a:lnTo>
                <a:lnTo>
                  <a:pt x="4918438" y="1694"/>
                </a:lnTo>
                <a:lnTo>
                  <a:pt x="4994184" y="1938"/>
                </a:lnTo>
                <a:lnTo>
                  <a:pt x="5069229" y="2197"/>
                </a:lnTo>
                <a:lnTo>
                  <a:pt x="5143555" y="2472"/>
                </a:lnTo>
                <a:lnTo>
                  <a:pt x="5217142" y="2761"/>
                </a:lnTo>
                <a:lnTo>
                  <a:pt x="5289973" y="3065"/>
                </a:lnTo>
                <a:lnTo>
                  <a:pt x="5362028" y="3384"/>
                </a:lnTo>
                <a:lnTo>
                  <a:pt x="5433291" y="3718"/>
                </a:lnTo>
                <a:lnTo>
                  <a:pt x="5503741" y="4065"/>
                </a:lnTo>
                <a:lnTo>
                  <a:pt x="5573360" y="4427"/>
                </a:lnTo>
                <a:lnTo>
                  <a:pt x="5642130" y="4803"/>
                </a:lnTo>
                <a:lnTo>
                  <a:pt x="5710032" y="5192"/>
                </a:lnTo>
                <a:lnTo>
                  <a:pt x="5777049" y="5595"/>
                </a:lnTo>
                <a:lnTo>
                  <a:pt x="5843160" y="6012"/>
                </a:lnTo>
                <a:lnTo>
                  <a:pt x="5908348" y="6441"/>
                </a:lnTo>
                <a:lnTo>
                  <a:pt x="5972595" y="6884"/>
                </a:lnTo>
                <a:lnTo>
                  <a:pt x="6035881" y="7339"/>
                </a:lnTo>
                <a:lnTo>
                  <a:pt x="6098188" y="7807"/>
                </a:lnTo>
                <a:lnTo>
                  <a:pt x="6159498" y="8287"/>
                </a:lnTo>
                <a:lnTo>
                  <a:pt x="6219792" y="8780"/>
                </a:lnTo>
                <a:lnTo>
                  <a:pt x="6279052" y="9285"/>
                </a:lnTo>
                <a:lnTo>
                  <a:pt x="6337258" y="9801"/>
                </a:lnTo>
                <a:lnTo>
                  <a:pt x="6394394" y="10330"/>
                </a:lnTo>
                <a:lnTo>
                  <a:pt x="6450439" y="10870"/>
                </a:lnTo>
                <a:lnTo>
                  <a:pt x="6505376" y="11421"/>
                </a:lnTo>
                <a:lnTo>
                  <a:pt x="6559186" y="11983"/>
                </a:lnTo>
                <a:lnTo>
                  <a:pt x="6611850" y="12556"/>
                </a:lnTo>
                <a:lnTo>
                  <a:pt x="6663351" y="13140"/>
                </a:lnTo>
                <a:lnTo>
                  <a:pt x="6713668" y="13735"/>
                </a:lnTo>
                <a:lnTo>
                  <a:pt x="6762785" y="14340"/>
                </a:lnTo>
                <a:lnTo>
                  <a:pt x="6810682" y="14956"/>
                </a:lnTo>
                <a:lnTo>
                  <a:pt x="6857341" y="15581"/>
                </a:lnTo>
                <a:lnTo>
                  <a:pt x="6902743" y="16216"/>
                </a:lnTo>
                <a:lnTo>
                  <a:pt x="6946871" y="16861"/>
                </a:lnTo>
                <a:lnTo>
                  <a:pt x="6989704" y="17515"/>
                </a:lnTo>
                <a:lnTo>
                  <a:pt x="7031225" y="18179"/>
                </a:lnTo>
                <a:lnTo>
                  <a:pt x="7071416" y="18852"/>
                </a:lnTo>
                <a:lnTo>
                  <a:pt x="7110257" y="19534"/>
                </a:lnTo>
                <a:lnTo>
                  <a:pt x="7183818" y="20923"/>
                </a:lnTo>
                <a:lnTo>
                  <a:pt x="7251760" y="22347"/>
                </a:lnTo>
                <a:lnTo>
                  <a:pt x="7313934" y="23802"/>
                </a:lnTo>
                <a:lnTo>
                  <a:pt x="7370192" y="25288"/>
                </a:lnTo>
                <a:lnTo>
                  <a:pt x="7420387" y="26803"/>
                </a:lnTo>
                <a:lnTo>
                  <a:pt x="7464370" y="28345"/>
                </a:lnTo>
                <a:lnTo>
                  <a:pt x="7518373" y="30708"/>
                </a:lnTo>
                <a:lnTo>
                  <a:pt x="7557565" y="33124"/>
                </a:lnTo>
                <a:lnTo>
                  <a:pt x="7589519" y="38100"/>
                </a:lnTo>
                <a:lnTo>
                  <a:pt x="7588616" y="38941"/>
                </a:lnTo>
                <a:lnTo>
                  <a:pt x="7546178" y="43886"/>
                </a:lnTo>
                <a:lnTo>
                  <a:pt x="7501993" y="46285"/>
                </a:lnTo>
                <a:lnTo>
                  <a:pt x="7443164" y="48628"/>
                </a:lnTo>
                <a:lnTo>
                  <a:pt x="7396057" y="50157"/>
                </a:lnTo>
                <a:lnTo>
                  <a:pt x="7342812" y="51658"/>
                </a:lnTo>
                <a:lnTo>
                  <a:pt x="7283577" y="53129"/>
                </a:lnTo>
                <a:lnTo>
                  <a:pt x="7218500" y="54568"/>
                </a:lnTo>
                <a:lnTo>
                  <a:pt x="7147731" y="55975"/>
                </a:lnTo>
                <a:lnTo>
                  <a:pt x="7071416" y="57347"/>
                </a:lnTo>
                <a:lnTo>
                  <a:pt x="7031225" y="58020"/>
                </a:lnTo>
                <a:lnTo>
                  <a:pt x="6989704" y="58684"/>
                </a:lnTo>
                <a:lnTo>
                  <a:pt x="6946871" y="59338"/>
                </a:lnTo>
                <a:lnTo>
                  <a:pt x="6902743" y="59983"/>
                </a:lnTo>
                <a:lnTo>
                  <a:pt x="6857341" y="60618"/>
                </a:lnTo>
                <a:lnTo>
                  <a:pt x="6810682" y="61243"/>
                </a:lnTo>
                <a:lnTo>
                  <a:pt x="6762785" y="61859"/>
                </a:lnTo>
                <a:lnTo>
                  <a:pt x="6713668" y="62464"/>
                </a:lnTo>
                <a:lnTo>
                  <a:pt x="6663351" y="63059"/>
                </a:lnTo>
                <a:lnTo>
                  <a:pt x="6611850" y="63643"/>
                </a:lnTo>
                <a:lnTo>
                  <a:pt x="6559186" y="64216"/>
                </a:lnTo>
                <a:lnTo>
                  <a:pt x="6505376" y="64778"/>
                </a:lnTo>
                <a:lnTo>
                  <a:pt x="6450439" y="65329"/>
                </a:lnTo>
                <a:lnTo>
                  <a:pt x="6394394" y="65869"/>
                </a:lnTo>
                <a:lnTo>
                  <a:pt x="6337258" y="66398"/>
                </a:lnTo>
                <a:lnTo>
                  <a:pt x="6279052" y="66914"/>
                </a:lnTo>
                <a:lnTo>
                  <a:pt x="6219792" y="67419"/>
                </a:lnTo>
                <a:lnTo>
                  <a:pt x="6159498" y="67912"/>
                </a:lnTo>
                <a:lnTo>
                  <a:pt x="6098188" y="68392"/>
                </a:lnTo>
                <a:lnTo>
                  <a:pt x="6035881" y="68860"/>
                </a:lnTo>
                <a:lnTo>
                  <a:pt x="5972595" y="69315"/>
                </a:lnTo>
                <a:lnTo>
                  <a:pt x="5908348" y="69758"/>
                </a:lnTo>
                <a:lnTo>
                  <a:pt x="5843160" y="70187"/>
                </a:lnTo>
                <a:lnTo>
                  <a:pt x="5777049" y="70604"/>
                </a:lnTo>
                <a:lnTo>
                  <a:pt x="5710032" y="71007"/>
                </a:lnTo>
                <a:lnTo>
                  <a:pt x="5642130" y="71396"/>
                </a:lnTo>
                <a:lnTo>
                  <a:pt x="5573360" y="71772"/>
                </a:lnTo>
                <a:lnTo>
                  <a:pt x="5503741" y="72134"/>
                </a:lnTo>
                <a:lnTo>
                  <a:pt x="5433291" y="72481"/>
                </a:lnTo>
                <a:lnTo>
                  <a:pt x="5362028" y="72815"/>
                </a:lnTo>
                <a:lnTo>
                  <a:pt x="5289973" y="73134"/>
                </a:lnTo>
                <a:lnTo>
                  <a:pt x="5217142" y="73438"/>
                </a:lnTo>
                <a:lnTo>
                  <a:pt x="5143555" y="73727"/>
                </a:lnTo>
                <a:lnTo>
                  <a:pt x="5069229" y="74002"/>
                </a:lnTo>
                <a:lnTo>
                  <a:pt x="4994184" y="74261"/>
                </a:lnTo>
                <a:lnTo>
                  <a:pt x="4918438" y="74505"/>
                </a:lnTo>
                <a:lnTo>
                  <a:pt x="4842010" y="74733"/>
                </a:lnTo>
                <a:lnTo>
                  <a:pt x="4764917" y="74946"/>
                </a:lnTo>
                <a:lnTo>
                  <a:pt x="4687179" y="75142"/>
                </a:lnTo>
                <a:lnTo>
                  <a:pt x="4608814" y="75323"/>
                </a:lnTo>
                <a:lnTo>
                  <a:pt x="4529841" y="75487"/>
                </a:lnTo>
                <a:lnTo>
                  <a:pt x="4450278" y="75634"/>
                </a:lnTo>
                <a:lnTo>
                  <a:pt x="4370143" y="75765"/>
                </a:lnTo>
                <a:lnTo>
                  <a:pt x="4289456" y="75879"/>
                </a:lnTo>
                <a:lnTo>
                  <a:pt x="4208234" y="75976"/>
                </a:lnTo>
                <a:lnTo>
                  <a:pt x="4126497" y="76056"/>
                </a:lnTo>
                <a:lnTo>
                  <a:pt x="4044262" y="76119"/>
                </a:lnTo>
                <a:lnTo>
                  <a:pt x="3961549" y="76163"/>
                </a:lnTo>
                <a:lnTo>
                  <a:pt x="3878375" y="76190"/>
                </a:lnTo>
                <a:lnTo>
                  <a:pt x="3794760" y="76200"/>
                </a:lnTo>
                <a:lnTo>
                  <a:pt x="3711144" y="76190"/>
                </a:lnTo>
                <a:lnTo>
                  <a:pt x="3627970" y="76163"/>
                </a:lnTo>
                <a:lnTo>
                  <a:pt x="3545257" y="76119"/>
                </a:lnTo>
                <a:lnTo>
                  <a:pt x="3463022" y="76056"/>
                </a:lnTo>
                <a:lnTo>
                  <a:pt x="3381285" y="75976"/>
                </a:lnTo>
                <a:lnTo>
                  <a:pt x="3300063" y="75879"/>
                </a:lnTo>
                <a:lnTo>
                  <a:pt x="3219376" y="75765"/>
                </a:lnTo>
                <a:lnTo>
                  <a:pt x="3139241" y="75634"/>
                </a:lnTo>
                <a:lnTo>
                  <a:pt x="3059678" y="75487"/>
                </a:lnTo>
                <a:lnTo>
                  <a:pt x="2980705" y="75323"/>
                </a:lnTo>
                <a:lnTo>
                  <a:pt x="2902340" y="75142"/>
                </a:lnTo>
                <a:lnTo>
                  <a:pt x="2824602" y="74946"/>
                </a:lnTo>
                <a:lnTo>
                  <a:pt x="2747509" y="74733"/>
                </a:lnTo>
                <a:lnTo>
                  <a:pt x="2671081" y="74505"/>
                </a:lnTo>
                <a:lnTo>
                  <a:pt x="2595335" y="74261"/>
                </a:lnTo>
                <a:lnTo>
                  <a:pt x="2520290" y="74002"/>
                </a:lnTo>
                <a:lnTo>
                  <a:pt x="2445964" y="73727"/>
                </a:lnTo>
                <a:lnTo>
                  <a:pt x="2372377" y="73438"/>
                </a:lnTo>
                <a:lnTo>
                  <a:pt x="2299546" y="73134"/>
                </a:lnTo>
                <a:lnTo>
                  <a:pt x="2227491" y="72815"/>
                </a:lnTo>
                <a:lnTo>
                  <a:pt x="2156228" y="72481"/>
                </a:lnTo>
                <a:lnTo>
                  <a:pt x="2085778" y="72134"/>
                </a:lnTo>
                <a:lnTo>
                  <a:pt x="2016159" y="71772"/>
                </a:lnTo>
                <a:lnTo>
                  <a:pt x="1947389" y="71396"/>
                </a:lnTo>
                <a:lnTo>
                  <a:pt x="1879487" y="71007"/>
                </a:lnTo>
                <a:lnTo>
                  <a:pt x="1812470" y="70604"/>
                </a:lnTo>
                <a:lnTo>
                  <a:pt x="1746359" y="70187"/>
                </a:lnTo>
                <a:lnTo>
                  <a:pt x="1681171" y="69758"/>
                </a:lnTo>
                <a:lnTo>
                  <a:pt x="1616924" y="69315"/>
                </a:lnTo>
                <a:lnTo>
                  <a:pt x="1553638" y="68860"/>
                </a:lnTo>
                <a:lnTo>
                  <a:pt x="1491331" y="68392"/>
                </a:lnTo>
                <a:lnTo>
                  <a:pt x="1430021" y="67912"/>
                </a:lnTo>
                <a:lnTo>
                  <a:pt x="1369727" y="67419"/>
                </a:lnTo>
                <a:lnTo>
                  <a:pt x="1310467" y="66914"/>
                </a:lnTo>
                <a:lnTo>
                  <a:pt x="1252261" y="66398"/>
                </a:lnTo>
                <a:lnTo>
                  <a:pt x="1195125" y="65869"/>
                </a:lnTo>
                <a:lnTo>
                  <a:pt x="1139080" y="65329"/>
                </a:lnTo>
                <a:lnTo>
                  <a:pt x="1084143" y="64778"/>
                </a:lnTo>
                <a:lnTo>
                  <a:pt x="1030333" y="64216"/>
                </a:lnTo>
                <a:lnTo>
                  <a:pt x="977669" y="63643"/>
                </a:lnTo>
                <a:lnTo>
                  <a:pt x="926168" y="63059"/>
                </a:lnTo>
                <a:lnTo>
                  <a:pt x="875851" y="62464"/>
                </a:lnTo>
                <a:lnTo>
                  <a:pt x="826734" y="61859"/>
                </a:lnTo>
                <a:lnTo>
                  <a:pt x="778837" y="61243"/>
                </a:lnTo>
                <a:lnTo>
                  <a:pt x="732178" y="60618"/>
                </a:lnTo>
                <a:lnTo>
                  <a:pt x="686776" y="59983"/>
                </a:lnTo>
                <a:lnTo>
                  <a:pt x="642648" y="59338"/>
                </a:lnTo>
                <a:lnTo>
                  <a:pt x="599815" y="58684"/>
                </a:lnTo>
                <a:lnTo>
                  <a:pt x="558294" y="58020"/>
                </a:lnTo>
                <a:lnTo>
                  <a:pt x="518103" y="57347"/>
                </a:lnTo>
                <a:lnTo>
                  <a:pt x="479262" y="56665"/>
                </a:lnTo>
                <a:lnTo>
                  <a:pt x="405701" y="55276"/>
                </a:lnTo>
                <a:lnTo>
                  <a:pt x="337759" y="53852"/>
                </a:lnTo>
                <a:lnTo>
                  <a:pt x="275585" y="52397"/>
                </a:lnTo>
                <a:lnTo>
                  <a:pt x="219327" y="50911"/>
                </a:lnTo>
                <a:lnTo>
                  <a:pt x="169132" y="49396"/>
                </a:lnTo>
                <a:lnTo>
                  <a:pt x="125149" y="47854"/>
                </a:lnTo>
                <a:lnTo>
                  <a:pt x="71146" y="45491"/>
                </a:lnTo>
                <a:lnTo>
                  <a:pt x="31954" y="43075"/>
                </a:lnTo>
                <a:lnTo>
                  <a:pt x="0" y="3810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6764"/>
            <a:ext cx="9143999" cy="66827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3537" y="131826"/>
            <a:ext cx="8924925" cy="6457315"/>
          </a:xfrm>
          <a:custGeom>
            <a:avLst/>
            <a:gdLst/>
            <a:ahLst/>
            <a:cxnLst/>
            <a:rect l="l" t="t" r="r" b="b"/>
            <a:pathLst>
              <a:path w="8924925" h="6457315">
                <a:moveTo>
                  <a:pt x="1076210" y="0"/>
                </a:moveTo>
                <a:lnTo>
                  <a:pt x="7848345" y="0"/>
                </a:lnTo>
                <a:lnTo>
                  <a:pt x="7896283" y="1048"/>
                </a:lnTo>
                <a:lnTo>
                  <a:pt x="7943684" y="4165"/>
                </a:lnTo>
                <a:lnTo>
                  <a:pt x="7990503" y="9306"/>
                </a:lnTo>
                <a:lnTo>
                  <a:pt x="8036699" y="16427"/>
                </a:lnTo>
                <a:lnTo>
                  <a:pt x="8082226" y="25485"/>
                </a:lnTo>
                <a:lnTo>
                  <a:pt x="8127042" y="36437"/>
                </a:lnTo>
                <a:lnTo>
                  <a:pt x="8171102" y="49237"/>
                </a:lnTo>
                <a:lnTo>
                  <a:pt x="8214362" y="63843"/>
                </a:lnTo>
                <a:lnTo>
                  <a:pt x="8256780" y="80211"/>
                </a:lnTo>
                <a:lnTo>
                  <a:pt x="8298310" y="98297"/>
                </a:lnTo>
                <a:lnTo>
                  <a:pt x="8338910" y="118058"/>
                </a:lnTo>
                <a:lnTo>
                  <a:pt x="8378535" y="139449"/>
                </a:lnTo>
                <a:lnTo>
                  <a:pt x="8417143" y="162426"/>
                </a:lnTo>
                <a:lnTo>
                  <a:pt x="8454688" y="186947"/>
                </a:lnTo>
                <a:lnTo>
                  <a:pt x="8491128" y="212967"/>
                </a:lnTo>
                <a:lnTo>
                  <a:pt x="8526419" y="240443"/>
                </a:lnTo>
                <a:lnTo>
                  <a:pt x="8560516" y="269331"/>
                </a:lnTo>
                <a:lnTo>
                  <a:pt x="8593377" y="299586"/>
                </a:lnTo>
                <a:lnTo>
                  <a:pt x="8624957" y="331166"/>
                </a:lnTo>
                <a:lnTo>
                  <a:pt x="8655212" y="364027"/>
                </a:lnTo>
                <a:lnTo>
                  <a:pt x="8684100" y="398124"/>
                </a:lnTo>
                <a:lnTo>
                  <a:pt x="8711576" y="433415"/>
                </a:lnTo>
                <a:lnTo>
                  <a:pt x="8737596" y="469855"/>
                </a:lnTo>
                <a:lnTo>
                  <a:pt x="8762117" y="507400"/>
                </a:lnTo>
                <a:lnTo>
                  <a:pt x="8785094" y="546008"/>
                </a:lnTo>
                <a:lnTo>
                  <a:pt x="8806485" y="585633"/>
                </a:lnTo>
                <a:lnTo>
                  <a:pt x="8826246" y="626233"/>
                </a:lnTo>
                <a:lnTo>
                  <a:pt x="8844332" y="667763"/>
                </a:lnTo>
                <a:lnTo>
                  <a:pt x="8860700" y="710181"/>
                </a:lnTo>
                <a:lnTo>
                  <a:pt x="8875306" y="753441"/>
                </a:lnTo>
                <a:lnTo>
                  <a:pt x="8888106" y="797501"/>
                </a:lnTo>
                <a:lnTo>
                  <a:pt x="8899058" y="842317"/>
                </a:lnTo>
                <a:lnTo>
                  <a:pt x="8908116" y="887844"/>
                </a:lnTo>
                <a:lnTo>
                  <a:pt x="8915237" y="934040"/>
                </a:lnTo>
                <a:lnTo>
                  <a:pt x="8920378" y="980859"/>
                </a:lnTo>
                <a:lnTo>
                  <a:pt x="8923495" y="1028260"/>
                </a:lnTo>
                <a:lnTo>
                  <a:pt x="8924543" y="1076198"/>
                </a:lnTo>
                <a:lnTo>
                  <a:pt x="8924543" y="6457188"/>
                </a:lnTo>
                <a:lnTo>
                  <a:pt x="0" y="6457188"/>
                </a:lnTo>
                <a:lnTo>
                  <a:pt x="0" y="1076198"/>
                </a:lnTo>
                <a:lnTo>
                  <a:pt x="1048" y="1028260"/>
                </a:lnTo>
                <a:lnTo>
                  <a:pt x="4165" y="980859"/>
                </a:lnTo>
                <a:lnTo>
                  <a:pt x="9306" y="934040"/>
                </a:lnTo>
                <a:lnTo>
                  <a:pt x="16427" y="887844"/>
                </a:lnTo>
                <a:lnTo>
                  <a:pt x="25485" y="842317"/>
                </a:lnTo>
                <a:lnTo>
                  <a:pt x="36437" y="797501"/>
                </a:lnTo>
                <a:lnTo>
                  <a:pt x="49237" y="753441"/>
                </a:lnTo>
                <a:lnTo>
                  <a:pt x="63844" y="710181"/>
                </a:lnTo>
                <a:lnTo>
                  <a:pt x="80212" y="667763"/>
                </a:lnTo>
                <a:lnTo>
                  <a:pt x="98298" y="626233"/>
                </a:lnTo>
                <a:lnTo>
                  <a:pt x="118058" y="585633"/>
                </a:lnTo>
                <a:lnTo>
                  <a:pt x="139449" y="546008"/>
                </a:lnTo>
                <a:lnTo>
                  <a:pt x="162427" y="507400"/>
                </a:lnTo>
                <a:lnTo>
                  <a:pt x="186948" y="469855"/>
                </a:lnTo>
                <a:lnTo>
                  <a:pt x="212968" y="433415"/>
                </a:lnTo>
                <a:lnTo>
                  <a:pt x="240444" y="398124"/>
                </a:lnTo>
                <a:lnTo>
                  <a:pt x="269332" y="364027"/>
                </a:lnTo>
                <a:lnTo>
                  <a:pt x="299588" y="331166"/>
                </a:lnTo>
                <a:lnTo>
                  <a:pt x="331168" y="299586"/>
                </a:lnTo>
                <a:lnTo>
                  <a:pt x="364029" y="269331"/>
                </a:lnTo>
                <a:lnTo>
                  <a:pt x="398127" y="240443"/>
                </a:lnTo>
                <a:lnTo>
                  <a:pt x="433418" y="212967"/>
                </a:lnTo>
                <a:lnTo>
                  <a:pt x="469858" y="186947"/>
                </a:lnTo>
                <a:lnTo>
                  <a:pt x="507404" y="162426"/>
                </a:lnTo>
                <a:lnTo>
                  <a:pt x="546012" y="139449"/>
                </a:lnTo>
                <a:lnTo>
                  <a:pt x="585637" y="118058"/>
                </a:lnTo>
                <a:lnTo>
                  <a:pt x="626238" y="98297"/>
                </a:lnTo>
                <a:lnTo>
                  <a:pt x="667769" y="80211"/>
                </a:lnTo>
                <a:lnTo>
                  <a:pt x="710187" y="63843"/>
                </a:lnTo>
                <a:lnTo>
                  <a:pt x="753448" y="49237"/>
                </a:lnTo>
                <a:lnTo>
                  <a:pt x="797509" y="36437"/>
                </a:lnTo>
                <a:lnTo>
                  <a:pt x="842325" y="25485"/>
                </a:lnTo>
                <a:lnTo>
                  <a:pt x="887853" y="16427"/>
                </a:lnTo>
                <a:lnTo>
                  <a:pt x="934049" y="9306"/>
                </a:lnTo>
                <a:lnTo>
                  <a:pt x="980870" y="4165"/>
                </a:lnTo>
                <a:lnTo>
                  <a:pt x="1028272" y="1048"/>
                </a:lnTo>
                <a:lnTo>
                  <a:pt x="107621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439" y="320001"/>
            <a:ext cx="7434072" cy="5761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‹#›</a:t>
            </a:fld>
            <a:endParaRPr spc="-19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1741" y="1430274"/>
            <a:ext cx="8686800" cy="4057015"/>
          </a:xfrm>
          <a:custGeom>
            <a:avLst/>
            <a:gdLst/>
            <a:ahLst/>
            <a:cxnLst/>
            <a:rect l="l" t="t" r="r" b="b"/>
            <a:pathLst>
              <a:path w="8686800" h="4057015">
                <a:moveTo>
                  <a:pt x="8686800" y="0"/>
                </a:moveTo>
                <a:lnTo>
                  <a:pt x="0" y="0"/>
                </a:lnTo>
                <a:lnTo>
                  <a:pt x="0" y="4056888"/>
                </a:lnTo>
                <a:lnTo>
                  <a:pt x="8686800" y="4056888"/>
                </a:lnTo>
                <a:lnTo>
                  <a:pt x="8686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1741" y="1430274"/>
            <a:ext cx="8686800" cy="4057015"/>
          </a:xfrm>
          <a:custGeom>
            <a:avLst/>
            <a:gdLst/>
            <a:ahLst/>
            <a:cxnLst/>
            <a:rect l="l" t="t" r="r" b="b"/>
            <a:pathLst>
              <a:path w="8686800" h="4057015">
                <a:moveTo>
                  <a:pt x="0" y="4056888"/>
                </a:moveTo>
                <a:lnTo>
                  <a:pt x="8686800" y="4056888"/>
                </a:lnTo>
                <a:lnTo>
                  <a:pt x="8686800" y="0"/>
                </a:lnTo>
                <a:lnTo>
                  <a:pt x="0" y="0"/>
                </a:lnTo>
                <a:lnTo>
                  <a:pt x="0" y="4056888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764"/>
            <a:ext cx="9143999" cy="668274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13537" y="131826"/>
            <a:ext cx="8924925" cy="6457315"/>
          </a:xfrm>
          <a:custGeom>
            <a:avLst/>
            <a:gdLst/>
            <a:ahLst/>
            <a:cxnLst/>
            <a:rect l="l" t="t" r="r" b="b"/>
            <a:pathLst>
              <a:path w="8924925" h="6457315">
                <a:moveTo>
                  <a:pt x="1076210" y="0"/>
                </a:moveTo>
                <a:lnTo>
                  <a:pt x="7848345" y="0"/>
                </a:lnTo>
                <a:lnTo>
                  <a:pt x="7896283" y="1048"/>
                </a:lnTo>
                <a:lnTo>
                  <a:pt x="7943684" y="4165"/>
                </a:lnTo>
                <a:lnTo>
                  <a:pt x="7990503" y="9306"/>
                </a:lnTo>
                <a:lnTo>
                  <a:pt x="8036699" y="16427"/>
                </a:lnTo>
                <a:lnTo>
                  <a:pt x="8082226" y="25485"/>
                </a:lnTo>
                <a:lnTo>
                  <a:pt x="8127042" y="36437"/>
                </a:lnTo>
                <a:lnTo>
                  <a:pt x="8171102" y="49237"/>
                </a:lnTo>
                <a:lnTo>
                  <a:pt x="8214362" y="63843"/>
                </a:lnTo>
                <a:lnTo>
                  <a:pt x="8256780" y="80211"/>
                </a:lnTo>
                <a:lnTo>
                  <a:pt x="8298310" y="98297"/>
                </a:lnTo>
                <a:lnTo>
                  <a:pt x="8338910" y="118058"/>
                </a:lnTo>
                <a:lnTo>
                  <a:pt x="8378535" y="139449"/>
                </a:lnTo>
                <a:lnTo>
                  <a:pt x="8417143" y="162426"/>
                </a:lnTo>
                <a:lnTo>
                  <a:pt x="8454688" y="186947"/>
                </a:lnTo>
                <a:lnTo>
                  <a:pt x="8491128" y="212967"/>
                </a:lnTo>
                <a:lnTo>
                  <a:pt x="8526419" y="240443"/>
                </a:lnTo>
                <a:lnTo>
                  <a:pt x="8560516" y="269331"/>
                </a:lnTo>
                <a:lnTo>
                  <a:pt x="8593377" y="299586"/>
                </a:lnTo>
                <a:lnTo>
                  <a:pt x="8624957" y="331166"/>
                </a:lnTo>
                <a:lnTo>
                  <a:pt x="8655212" y="364027"/>
                </a:lnTo>
                <a:lnTo>
                  <a:pt x="8684100" y="398124"/>
                </a:lnTo>
                <a:lnTo>
                  <a:pt x="8711576" y="433415"/>
                </a:lnTo>
                <a:lnTo>
                  <a:pt x="8737596" y="469855"/>
                </a:lnTo>
                <a:lnTo>
                  <a:pt x="8762117" y="507400"/>
                </a:lnTo>
                <a:lnTo>
                  <a:pt x="8785094" y="546008"/>
                </a:lnTo>
                <a:lnTo>
                  <a:pt x="8806485" y="585633"/>
                </a:lnTo>
                <a:lnTo>
                  <a:pt x="8826246" y="626233"/>
                </a:lnTo>
                <a:lnTo>
                  <a:pt x="8844332" y="667763"/>
                </a:lnTo>
                <a:lnTo>
                  <a:pt x="8860700" y="710181"/>
                </a:lnTo>
                <a:lnTo>
                  <a:pt x="8875306" y="753441"/>
                </a:lnTo>
                <a:lnTo>
                  <a:pt x="8888106" y="797501"/>
                </a:lnTo>
                <a:lnTo>
                  <a:pt x="8899058" y="842317"/>
                </a:lnTo>
                <a:lnTo>
                  <a:pt x="8908116" y="887844"/>
                </a:lnTo>
                <a:lnTo>
                  <a:pt x="8915237" y="934040"/>
                </a:lnTo>
                <a:lnTo>
                  <a:pt x="8920378" y="980859"/>
                </a:lnTo>
                <a:lnTo>
                  <a:pt x="8923495" y="1028260"/>
                </a:lnTo>
                <a:lnTo>
                  <a:pt x="8924543" y="1076198"/>
                </a:lnTo>
                <a:lnTo>
                  <a:pt x="8924543" y="6457188"/>
                </a:lnTo>
                <a:lnTo>
                  <a:pt x="0" y="6457188"/>
                </a:lnTo>
                <a:lnTo>
                  <a:pt x="0" y="1076198"/>
                </a:lnTo>
                <a:lnTo>
                  <a:pt x="1048" y="1028260"/>
                </a:lnTo>
                <a:lnTo>
                  <a:pt x="4165" y="980859"/>
                </a:lnTo>
                <a:lnTo>
                  <a:pt x="9306" y="934040"/>
                </a:lnTo>
                <a:lnTo>
                  <a:pt x="16427" y="887844"/>
                </a:lnTo>
                <a:lnTo>
                  <a:pt x="25485" y="842317"/>
                </a:lnTo>
                <a:lnTo>
                  <a:pt x="36437" y="797501"/>
                </a:lnTo>
                <a:lnTo>
                  <a:pt x="49237" y="753441"/>
                </a:lnTo>
                <a:lnTo>
                  <a:pt x="63844" y="710181"/>
                </a:lnTo>
                <a:lnTo>
                  <a:pt x="80212" y="667763"/>
                </a:lnTo>
                <a:lnTo>
                  <a:pt x="98298" y="626233"/>
                </a:lnTo>
                <a:lnTo>
                  <a:pt x="118058" y="585633"/>
                </a:lnTo>
                <a:lnTo>
                  <a:pt x="139449" y="546008"/>
                </a:lnTo>
                <a:lnTo>
                  <a:pt x="162427" y="507400"/>
                </a:lnTo>
                <a:lnTo>
                  <a:pt x="186948" y="469855"/>
                </a:lnTo>
                <a:lnTo>
                  <a:pt x="212968" y="433415"/>
                </a:lnTo>
                <a:lnTo>
                  <a:pt x="240444" y="398124"/>
                </a:lnTo>
                <a:lnTo>
                  <a:pt x="269332" y="364027"/>
                </a:lnTo>
                <a:lnTo>
                  <a:pt x="299588" y="331166"/>
                </a:lnTo>
                <a:lnTo>
                  <a:pt x="331168" y="299586"/>
                </a:lnTo>
                <a:lnTo>
                  <a:pt x="364029" y="269331"/>
                </a:lnTo>
                <a:lnTo>
                  <a:pt x="398127" y="240443"/>
                </a:lnTo>
                <a:lnTo>
                  <a:pt x="433418" y="212967"/>
                </a:lnTo>
                <a:lnTo>
                  <a:pt x="469858" y="186947"/>
                </a:lnTo>
                <a:lnTo>
                  <a:pt x="507404" y="162426"/>
                </a:lnTo>
                <a:lnTo>
                  <a:pt x="546012" y="139449"/>
                </a:lnTo>
                <a:lnTo>
                  <a:pt x="585637" y="118058"/>
                </a:lnTo>
                <a:lnTo>
                  <a:pt x="626238" y="98297"/>
                </a:lnTo>
                <a:lnTo>
                  <a:pt x="667769" y="80211"/>
                </a:lnTo>
                <a:lnTo>
                  <a:pt x="710187" y="63843"/>
                </a:lnTo>
                <a:lnTo>
                  <a:pt x="753448" y="49237"/>
                </a:lnTo>
                <a:lnTo>
                  <a:pt x="797509" y="36437"/>
                </a:lnTo>
                <a:lnTo>
                  <a:pt x="842325" y="25485"/>
                </a:lnTo>
                <a:lnTo>
                  <a:pt x="887853" y="16427"/>
                </a:lnTo>
                <a:lnTo>
                  <a:pt x="934049" y="9306"/>
                </a:lnTo>
                <a:lnTo>
                  <a:pt x="980870" y="4165"/>
                </a:lnTo>
                <a:lnTo>
                  <a:pt x="1028272" y="1048"/>
                </a:lnTo>
                <a:lnTo>
                  <a:pt x="107621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‹#›</a:t>
            </a:fld>
            <a:endParaRPr spc="-19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5052" y="289382"/>
            <a:ext cx="2453894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740" y="1111830"/>
            <a:ext cx="5771515" cy="230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35530"/>
            <a:ext cx="72390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396234" y="6648941"/>
            <a:ext cx="2504440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01354" y="6643232"/>
            <a:ext cx="228600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‹#›</a:t>
            </a:fld>
            <a:endParaRPr spc="-19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6.pn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40.png"/><Relationship Id="rId10" Type="http://schemas.openxmlformats.org/officeDocument/2006/relationships/image" Target="../media/image42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2.png"/><Relationship Id="rId21" Type="http://schemas.openxmlformats.org/officeDocument/2006/relationships/image" Target="../media/image57.png"/><Relationship Id="rId7" Type="http://schemas.openxmlformats.org/officeDocument/2006/relationships/image" Target="../media/image15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43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0" Type="http://schemas.openxmlformats.org/officeDocument/2006/relationships/image" Target="../media/image6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6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68.png"/><Relationship Id="rId10" Type="http://schemas.openxmlformats.org/officeDocument/2006/relationships/image" Target="../media/image7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1.png"/><Relationship Id="rId10" Type="http://schemas.openxmlformats.org/officeDocument/2006/relationships/image" Target="../media/image7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10" Type="http://schemas.openxmlformats.org/officeDocument/2006/relationships/image" Target="../media/image8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10" Type="http://schemas.openxmlformats.org/officeDocument/2006/relationships/image" Target="../media/image8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7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0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00.png"/><Relationship Id="rId5" Type="http://schemas.openxmlformats.org/officeDocument/2006/relationships/image" Target="../media/image97.png"/><Relationship Id="rId10" Type="http://schemas.openxmlformats.org/officeDocument/2006/relationships/image" Target="../media/image9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image" Target="../media/image39.png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04.png"/><Relationship Id="rId5" Type="http://schemas.openxmlformats.org/officeDocument/2006/relationships/image" Target="../media/image97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" Type="http://schemas.openxmlformats.org/officeDocument/2006/relationships/image" Target="../media/image2.png"/><Relationship Id="rId21" Type="http://schemas.openxmlformats.org/officeDocument/2006/relationships/image" Target="../media/image126.png"/><Relationship Id="rId7" Type="http://schemas.openxmlformats.org/officeDocument/2006/relationships/image" Target="../media/image15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image" Target="../media/image113.png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5" Type="http://schemas.openxmlformats.org/officeDocument/2006/relationships/image" Target="../media/image97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33.png"/><Relationship Id="rId5" Type="http://schemas.openxmlformats.org/officeDocument/2006/relationships/image" Target="../media/image97.png"/><Relationship Id="rId10" Type="http://schemas.openxmlformats.org/officeDocument/2006/relationships/image" Target="../media/image13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37.png"/><Relationship Id="rId5" Type="http://schemas.openxmlformats.org/officeDocument/2006/relationships/image" Target="../media/image97.png"/><Relationship Id="rId10" Type="http://schemas.openxmlformats.org/officeDocument/2006/relationships/image" Target="../media/image13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4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41.png"/><Relationship Id="rId5" Type="http://schemas.openxmlformats.org/officeDocument/2006/relationships/image" Target="../media/image97.png"/><Relationship Id="rId10" Type="http://schemas.openxmlformats.org/officeDocument/2006/relationships/image" Target="../media/image14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4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48.png"/><Relationship Id="rId5" Type="http://schemas.openxmlformats.org/officeDocument/2006/relationships/image" Target="../media/image97.png"/><Relationship Id="rId10" Type="http://schemas.openxmlformats.org/officeDocument/2006/relationships/image" Target="../media/image14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5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10" Type="http://schemas.openxmlformats.org/officeDocument/2006/relationships/image" Target="../media/image158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63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62.png"/><Relationship Id="rId5" Type="http://schemas.openxmlformats.org/officeDocument/2006/relationships/image" Target="../media/image153.png"/><Relationship Id="rId10" Type="http://schemas.openxmlformats.org/officeDocument/2006/relationships/image" Target="../media/image16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10" Type="http://schemas.openxmlformats.org/officeDocument/2006/relationships/image" Target="../media/image170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53.png"/><Relationship Id="rId10" Type="http://schemas.openxmlformats.org/officeDocument/2006/relationships/image" Target="../media/image17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3" Type="http://schemas.openxmlformats.org/officeDocument/2006/relationships/image" Target="../media/image2.png"/><Relationship Id="rId21" Type="http://schemas.openxmlformats.org/officeDocument/2006/relationships/image" Target="../media/image187.png"/><Relationship Id="rId7" Type="http://schemas.openxmlformats.org/officeDocument/2006/relationships/image" Target="../media/image15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" Type="http://schemas.openxmlformats.org/officeDocument/2006/relationships/image" Target="../media/image4.png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77.png"/><Relationship Id="rId5" Type="http://schemas.openxmlformats.org/officeDocument/2006/relationships/image" Target="../media/image174.png"/><Relationship Id="rId15" Type="http://schemas.openxmlformats.org/officeDocument/2006/relationships/image" Target="../media/image181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1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8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9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94.png"/><Relationship Id="rId5" Type="http://schemas.openxmlformats.org/officeDocument/2006/relationships/image" Target="../media/image190.png"/><Relationship Id="rId10" Type="http://schemas.openxmlformats.org/officeDocument/2006/relationships/image" Target="../media/image19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19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198.png"/><Relationship Id="rId5" Type="http://schemas.openxmlformats.org/officeDocument/2006/relationships/image" Target="../media/image190.png"/><Relationship Id="rId10" Type="http://schemas.openxmlformats.org/officeDocument/2006/relationships/image" Target="../media/image19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0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04.png"/><Relationship Id="rId5" Type="http://schemas.openxmlformats.org/officeDocument/2006/relationships/image" Target="../media/image190.png"/><Relationship Id="rId10" Type="http://schemas.openxmlformats.org/officeDocument/2006/relationships/image" Target="../media/image20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07.png"/><Relationship Id="rId5" Type="http://schemas.openxmlformats.org/officeDocument/2006/relationships/image" Target="../media/image190.png"/><Relationship Id="rId10" Type="http://schemas.openxmlformats.org/officeDocument/2006/relationships/image" Target="../media/image20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1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10.png"/><Relationship Id="rId5" Type="http://schemas.openxmlformats.org/officeDocument/2006/relationships/image" Target="../media/image190.png"/><Relationship Id="rId10" Type="http://schemas.openxmlformats.org/officeDocument/2006/relationships/image" Target="../media/image20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1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8.png"/><Relationship Id="rId18" Type="http://schemas.openxmlformats.org/officeDocument/2006/relationships/image" Target="../media/image223.png"/><Relationship Id="rId3" Type="http://schemas.openxmlformats.org/officeDocument/2006/relationships/image" Target="../media/image2.png"/><Relationship Id="rId21" Type="http://schemas.openxmlformats.org/officeDocument/2006/relationships/image" Target="../media/image226.png"/><Relationship Id="rId7" Type="http://schemas.openxmlformats.org/officeDocument/2006/relationships/image" Target="../media/image15.png"/><Relationship Id="rId12" Type="http://schemas.openxmlformats.org/officeDocument/2006/relationships/image" Target="../media/image217.png"/><Relationship Id="rId17" Type="http://schemas.openxmlformats.org/officeDocument/2006/relationships/image" Target="../media/image222.png"/><Relationship Id="rId25" Type="http://schemas.openxmlformats.org/officeDocument/2006/relationships/image" Target="../media/image230.png"/><Relationship Id="rId2" Type="http://schemas.openxmlformats.org/officeDocument/2006/relationships/image" Target="../media/image39.png"/><Relationship Id="rId16" Type="http://schemas.openxmlformats.org/officeDocument/2006/relationships/image" Target="../media/image221.png"/><Relationship Id="rId20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16.png"/><Relationship Id="rId24" Type="http://schemas.openxmlformats.org/officeDocument/2006/relationships/image" Target="../media/image229.png"/><Relationship Id="rId5" Type="http://schemas.openxmlformats.org/officeDocument/2006/relationships/image" Target="../media/image190.png"/><Relationship Id="rId15" Type="http://schemas.openxmlformats.org/officeDocument/2006/relationships/image" Target="../media/image220.png"/><Relationship Id="rId23" Type="http://schemas.openxmlformats.org/officeDocument/2006/relationships/image" Target="../media/image228.png"/><Relationship Id="rId10" Type="http://schemas.openxmlformats.org/officeDocument/2006/relationships/image" Target="../media/image215.png"/><Relationship Id="rId19" Type="http://schemas.openxmlformats.org/officeDocument/2006/relationships/image" Target="../media/image22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19.png"/><Relationship Id="rId22" Type="http://schemas.openxmlformats.org/officeDocument/2006/relationships/image" Target="../media/image22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21.png"/><Relationship Id="rId18" Type="http://schemas.openxmlformats.org/officeDocument/2006/relationships/image" Target="../media/image229.png"/><Relationship Id="rId3" Type="http://schemas.openxmlformats.org/officeDocument/2006/relationships/image" Target="../media/image2.png"/><Relationship Id="rId21" Type="http://schemas.openxmlformats.org/officeDocument/2006/relationships/image" Target="../media/image225.png"/><Relationship Id="rId7" Type="http://schemas.openxmlformats.org/officeDocument/2006/relationships/image" Target="../media/image15.png"/><Relationship Id="rId12" Type="http://schemas.openxmlformats.org/officeDocument/2006/relationships/image" Target="../media/image220.png"/><Relationship Id="rId17" Type="http://schemas.openxmlformats.org/officeDocument/2006/relationships/image" Target="../media/image228.png"/><Relationship Id="rId2" Type="http://schemas.openxmlformats.org/officeDocument/2006/relationships/image" Target="../media/image31.png"/><Relationship Id="rId16" Type="http://schemas.openxmlformats.org/officeDocument/2006/relationships/image" Target="../media/image224.png"/><Relationship Id="rId20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19.png"/><Relationship Id="rId5" Type="http://schemas.openxmlformats.org/officeDocument/2006/relationships/image" Target="../media/image190.png"/><Relationship Id="rId15" Type="http://schemas.openxmlformats.org/officeDocument/2006/relationships/image" Target="../media/image223.png"/><Relationship Id="rId10" Type="http://schemas.openxmlformats.org/officeDocument/2006/relationships/image" Target="../media/image218.png"/><Relationship Id="rId19" Type="http://schemas.openxmlformats.org/officeDocument/2006/relationships/image" Target="../media/image23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22.png"/><Relationship Id="rId22" Type="http://schemas.openxmlformats.org/officeDocument/2006/relationships/image" Target="../media/image22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34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35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37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39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41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43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45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47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4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5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5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5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10" Type="http://schemas.openxmlformats.org/officeDocument/2006/relationships/image" Target="../media/image25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51.png"/><Relationship Id="rId5" Type="http://schemas.openxmlformats.org/officeDocument/2006/relationships/image" Target="../media/image190.png"/><Relationship Id="rId10" Type="http://schemas.openxmlformats.org/officeDocument/2006/relationships/image" Target="../media/image25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9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261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26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70.png"/><Relationship Id="rId18" Type="http://schemas.openxmlformats.org/officeDocument/2006/relationships/image" Target="../media/image275.png"/><Relationship Id="rId26" Type="http://schemas.openxmlformats.org/officeDocument/2006/relationships/image" Target="../media/image283.png"/><Relationship Id="rId39" Type="http://schemas.openxmlformats.org/officeDocument/2006/relationships/image" Target="../media/image296.png"/><Relationship Id="rId3" Type="http://schemas.openxmlformats.org/officeDocument/2006/relationships/image" Target="../media/image2.png"/><Relationship Id="rId21" Type="http://schemas.openxmlformats.org/officeDocument/2006/relationships/image" Target="../media/image278.png"/><Relationship Id="rId34" Type="http://schemas.openxmlformats.org/officeDocument/2006/relationships/image" Target="../media/image291.png"/><Relationship Id="rId42" Type="http://schemas.openxmlformats.org/officeDocument/2006/relationships/image" Target="../media/image299.png"/><Relationship Id="rId7" Type="http://schemas.openxmlformats.org/officeDocument/2006/relationships/image" Target="../media/image15.png"/><Relationship Id="rId12" Type="http://schemas.openxmlformats.org/officeDocument/2006/relationships/image" Target="../media/image269.png"/><Relationship Id="rId17" Type="http://schemas.openxmlformats.org/officeDocument/2006/relationships/image" Target="../media/image274.png"/><Relationship Id="rId25" Type="http://schemas.openxmlformats.org/officeDocument/2006/relationships/image" Target="../media/image282.png"/><Relationship Id="rId33" Type="http://schemas.openxmlformats.org/officeDocument/2006/relationships/image" Target="../media/image290.png"/><Relationship Id="rId38" Type="http://schemas.openxmlformats.org/officeDocument/2006/relationships/image" Target="../media/image295.png"/><Relationship Id="rId2" Type="http://schemas.openxmlformats.org/officeDocument/2006/relationships/image" Target="../media/image1.png"/><Relationship Id="rId16" Type="http://schemas.openxmlformats.org/officeDocument/2006/relationships/image" Target="../media/image273.png"/><Relationship Id="rId20" Type="http://schemas.openxmlformats.org/officeDocument/2006/relationships/image" Target="../media/image277.png"/><Relationship Id="rId29" Type="http://schemas.openxmlformats.org/officeDocument/2006/relationships/image" Target="../media/image286.png"/><Relationship Id="rId41" Type="http://schemas.openxmlformats.org/officeDocument/2006/relationships/image" Target="../media/image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68.png"/><Relationship Id="rId24" Type="http://schemas.openxmlformats.org/officeDocument/2006/relationships/image" Target="../media/image281.png"/><Relationship Id="rId32" Type="http://schemas.openxmlformats.org/officeDocument/2006/relationships/image" Target="../media/image289.png"/><Relationship Id="rId37" Type="http://schemas.openxmlformats.org/officeDocument/2006/relationships/image" Target="../media/image294.png"/><Relationship Id="rId40" Type="http://schemas.openxmlformats.org/officeDocument/2006/relationships/image" Target="../media/image297.png"/><Relationship Id="rId5" Type="http://schemas.openxmlformats.org/officeDocument/2006/relationships/image" Target="../media/image262.png"/><Relationship Id="rId15" Type="http://schemas.openxmlformats.org/officeDocument/2006/relationships/image" Target="../media/image272.png"/><Relationship Id="rId23" Type="http://schemas.openxmlformats.org/officeDocument/2006/relationships/image" Target="../media/image280.png"/><Relationship Id="rId28" Type="http://schemas.openxmlformats.org/officeDocument/2006/relationships/image" Target="../media/image285.png"/><Relationship Id="rId36" Type="http://schemas.openxmlformats.org/officeDocument/2006/relationships/image" Target="../media/image293.png"/><Relationship Id="rId10" Type="http://schemas.openxmlformats.org/officeDocument/2006/relationships/image" Target="../media/image267.png"/><Relationship Id="rId19" Type="http://schemas.openxmlformats.org/officeDocument/2006/relationships/image" Target="../media/image276.png"/><Relationship Id="rId31" Type="http://schemas.openxmlformats.org/officeDocument/2006/relationships/image" Target="../media/image28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71.png"/><Relationship Id="rId22" Type="http://schemas.openxmlformats.org/officeDocument/2006/relationships/image" Target="../media/image279.png"/><Relationship Id="rId27" Type="http://schemas.openxmlformats.org/officeDocument/2006/relationships/image" Target="../media/image284.png"/><Relationship Id="rId30" Type="http://schemas.openxmlformats.org/officeDocument/2006/relationships/image" Target="../media/image287.png"/><Relationship Id="rId35" Type="http://schemas.openxmlformats.org/officeDocument/2006/relationships/image" Target="../media/image292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0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03.png"/><Relationship Id="rId2" Type="http://schemas.openxmlformats.org/officeDocument/2006/relationships/image" Target="../media/image1.png"/><Relationship Id="rId16" Type="http://schemas.openxmlformats.org/officeDocument/2006/relationships/image" Target="../media/image3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02.png"/><Relationship Id="rId5" Type="http://schemas.openxmlformats.org/officeDocument/2006/relationships/image" Target="../media/image262.png"/><Relationship Id="rId15" Type="http://schemas.openxmlformats.org/officeDocument/2006/relationships/image" Target="../media/image306.png"/><Relationship Id="rId10" Type="http://schemas.openxmlformats.org/officeDocument/2006/relationships/image" Target="../media/image30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05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13" Type="http://schemas.openxmlformats.org/officeDocument/2006/relationships/image" Target="../media/image31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12.png"/><Relationship Id="rId2" Type="http://schemas.openxmlformats.org/officeDocument/2006/relationships/image" Target="../media/image31.png"/><Relationship Id="rId16" Type="http://schemas.openxmlformats.org/officeDocument/2006/relationships/image" Target="../media/image3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11.png"/><Relationship Id="rId5" Type="http://schemas.openxmlformats.org/officeDocument/2006/relationships/image" Target="../media/image262.png"/><Relationship Id="rId15" Type="http://schemas.openxmlformats.org/officeDocument/2006/relationships/image" Target="../media/image315.png"/><Relationship Id="rId10" Type="http://schemas.openxmlformats.org/officeDocument/2006/relationships/image" Target="../media/image310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14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2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19.png"/><Relationship Id="rId5" Type="http://schemas.openxmlformats.org/officeDocument/2006/relationships/image" Target="../media/image262.png"/><Relationship Id="rId10" Type="http://schemas.openxmlformats.org/officeDocument/2006/relationships/image" Target="../media/image31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13" Type="http://schemas.openxmlformats.org/officeDocument/2006/relationships/image" Target="../media/image32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2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23.png"/><Relationship Id="rId5" Type="http://schemas.openxmlformats.org/officeDocument/2006/relationships/image" Target="../media/image262.png"/><Relationship Id="rId15" Type="http://schemas.openxmlformats.org/officeDocument/2006/relationships/image" Target="../media/image327.png"/><Relationship Id="rId10" Type="http://schemas.openxmlformats.org/officeDocument/2006/relationships/image" Target="../media/image32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2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2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0.png"/><Relationship Id="rId5" Type="http://schemas.openxmlformats.org/officeDocument/2006/relationships/image" Target="../media/image262.png"/><Relationship Id="rId15" Type="http://schemas.openxmlformats.org/officeDocument/2006/relationships/image" Target="../media/image327.png"/><Relationship Id="rId10" Type="http://schemas.openxmlformats.org/officeDocument/2006/relationships/image" Target="../media/image32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3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13" Type="http://schemas.openxmlformats.org/officeDocument/2006/relationships/image" Target="../media/image33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36.png"/><Relationship Id="rId5" Type="http://schemas.openxmlformats.org/officeDocument/2006/relationships/image" Target="../media/image262.png"/><Relationship Id="rId15" Type="http://schemas.openxmlformats.org/officeDocument/2006/relationships/image" Target="../media/image340.png"/><Relationship Id="rId10" Type="http://schemas.openxmlformats.org/officeDocument/2006/relationships/image" Target="../media/image335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39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4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43.png"/><Relationship Id="rId5" Type="http://schemas.openxmlformats.org/officeDocument/2006/relationships/image" Target="../media/image262.png"/><Relationship Id="rId10" Type="http://schemas.openxmlformats.org/officeDocument/2006/relationships/image" Target="../media/image34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13" Type="http://schemas.openxmlformats.org/officeDocument/2006/relationships/image" Target="../media/image35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49.png"/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48.png"/><Relationship Id="rId5" Type="http://schemas.openxmlformats.org/officeDocument/2006/relationships/image" Target="../media/image262.png"/><Relationship Id="rId15" Type="http://schemas.openxmlformats.org/officeDocument/2006/relationships/image" Target="../media/image352.png"/><Relationship Id="rId10" Type="http://schemas.openxmlformats.org/officeDocument/2006/relationships/image" Target="../media/image34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51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13" Type="http://schemas.openxmlformats.org/officeDocument/2006/relationships/image" Target="../media/image35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57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56.png"/><Relationship Id="rId5" Type="http://schemas.openxmlformats.org/officeDocument/2006/relationships/image" Target="../media/image262.png"/><Relationship Id="rId15" Type="http://schemas.openxmlformats.org/officeDocument/2006/relationships/image" Target="../media/image360.png"/><Relationship Id="rId10" Type="http://schemas.openxmlformats.org/officeDocument/2006/relationships/image" Target="../media/image355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59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png"/><Relationship Id="rId13" Type="http://schemas.openxmlformats.org/officeDocument/2006/relationships/image" Target="../media/image36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6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65.png"/><Relationship Id="rId5" Type="http://schemas.openxmlformats.org/officeDocument/2006/relationships/image" Target="../media/image262.png"/><Relationship Id="rId15" Type="http://schemas.openxmlformats.org/officeDocument/2006/relationships/image" Target="../media/image369.png"/><Relationship Id="rId10" Type="http://schemas.openxmlformats.org/officeDocument/2006/relationships/image" Target="../media/image36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68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37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7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72.png"/><Relationship Id="rId5" Type="http://schemas.openxmlformats.org/officeDocument/2006/relationships/image" Target="../media/image262.png"/><Relationship Id="rId15" Type="http://schemas.openxmlformats.org/officeDocument/2006/relationships/image" Target="../media/image376.png"/><Relationship Id="rId10" Type="http://schemas.openxmlformats.org/officeDocument/2006/relationships/image" Target="../media/image37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75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png"/><Relationship Id="rId13" Type="http://schemas.openxmlformats.org/officeDocument/2006/relationships/image" Target="../media/image38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80.png"/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79.png"/><Relationship Id="rId5" Type="http://schemas.openxmlformats.org/officeDocument/2006/relationships/image" Target="../media/image262.png"/><Relationship Id="rId15" Type="http://schemas.openxmlformats.org/officeDocument/2006/relationships/image" Target="../media/image383.png"/><Relationship Id="rId10" Type="http://schemas.openxmlformats.org/officeDocument/2006/relationships/image" Target="../media/image37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38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86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88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90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92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95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97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2.png"/><Relationship Id="rId10" Type="http://schemas.openxmlformats.org/officeDocument/2006/relationships/image" Target="../media/image399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401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40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05.png"/><Relationship Id="rId5" Type="http://schemas.openxmlformats.org/officeDocument/2006/relationships/image" Target="../media/image402.png"/><Relationship Id="rId10" Type="http://schemas.openxmlformats.org/officeDocument/2006/relationships/image" Target="../media/image40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png"/><Relationship Id="rId13" Type="http://schemas.openxmlformats.org/officeDocument/2006/relationships/image" Target="../media/image41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4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09.png"/><Relationship Id="rId5" Type="http://schemas.openxmlformats.org/officeDocument/2006/relationships/image" Target="../media/image402.png"/><Relationship Id="rId15" Type="http://schemas.openxmlformats.org/officeDocument/2006/relationships/image" Target="../media/image413.png"/><Relationship Id="rId10" Type="http://schemas.openxmlformats.org/officeDocument/2006/relationships/image" Target="../media/image40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412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png"/><Relationship Id="rId13" Type="http://schemas.openxmlformats.org/officeDocument/2006/relationships/image" Target="../media/image4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418.png"/><Relationship Id="rId17" Type="http://schemas.openxmlformats.org/officeDocument/2006/relationships/image" Target="../media/image423.png"/><Relationship Id="rId2" Type="http://schemas.openxmlformats.org/officeDocument/2006/relationships/image" Target="../media/image414.png"/><Relationship Id="rId16" Type="http://schemas.openxmlformats.org/officeDocument/2006/relationships/image" Target="../media/image4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17.png"/><Relationship Id="rId5" Type="http://schemas.openxmlformats.org/officeDocument/2006/relationships/image" Target="../media/image402.png"/><Relationship Id="rId15" Type="http://schemas.openxmlformats.org/officeDocument/2006/relationships/image" Target="../media/image421.png"/><Relationship Id="rId10" Type="http://schemas.openxmlformats.org/officeDocument/2006/relationships/image" Target="../media/image41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420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02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425.png"/><Relationship Id="rId4" Type="http://schemas.openxmlformats.org/officeDocument/2006/relationships/image" Target="../media/image15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29.png"/><Relationship Id="rId5" Type="http://schemas.openxmlformats.org/officeDocument/2006/relationships/image" Target="../media/image402.png"/><Relationship Id="rId10" Type="http://schemas.openxmlformats.org/officeDocument/2006/relationships/image" Target="../media/image42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02.png"/><Relationship Id="rId10" Type="http://schemas.openxmlformats.org/officeDocument/2006/relationships/image" Target="../media/image431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02.png"/><Relationship Id="rId10" Type="http://schemas.openxmlformats.org/officeDocument/2006/relationships/image" Target="../media/image43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02.png"/><Relationship Id="rId10" Type="http://schemas.openxmlformats.org/officeDocument/2006/relationships/image" Target="../media/image436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438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3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3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4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44.png"/><Relationship Id="rId5" Type="http://schemas.openxmlformats.org/officeDocument/2006/relationships/image" Target="../media/image439.png"/><Relationship Id="rId10" Type="http://schemas.openxmlformats.org/officeDocument/2006/relationships/image" Target="../media/image443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49.png"/><Relationship Id="rId5" Type="http://schemas.openxmlformats.org/officeDocument/2006/relationships/image" Target="../media/image439.png"/><Relationship Id="rId10" Type="http://schemas.openxmlformats.org/officeDocument/2006/relationships/image" Target="../media/image448.jp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51.jpg"/><Relationship Id="rId2" Type="http://schemas.openxmlformats.org/officeDocument/2006/relationships/image" Target="../media/image4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450.png"/><Relationship Id="rId4" Type="http://schemas.openxmlformats.org/officeDocument/2006/relationships/image" Target="../media/image15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5.png"/><Relationship Id="rId3" Type="http://schemas.openxmlformats.org/officeDocument/2006/relationships/image" Target="../media/image24.png"/><Relationship Id="rId7" Type="http://schemas.openxmlformats.org/officeDocument/2006/relationships/image" Target="../media/image454.png"/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453.png"/><Relationship Id="rId10" Type="http://schemas.openxmlformats.org/officeDocument/2006/relationships/image" Target="../media/image457.png"/><Relationship Id="rId4" Type="http://schemas.openxmlformats.org/officeDocument/2006/relationships/image" Target="../media/image15.png"/><Relationship Id="rId9" Type="http://schemas.openxmlformats.org/officeDocument/2006/relationships/image" Target="../media/image456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3" Type="http://schemas.openxmlformats.org/officeDocument/2006/relationships/image" Target="../media/image24.png"/><Relationship Id="rId7" Type="http://schemas.openxmlformats.org/officeDocument/2006/relationships/image" Target="../media/image460.png"/><Relationship Id="rId2" Type="http://schemas.openxmlformats.org/officeDocument/2006/relationships/image" Target="../media/image4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459.png"/><Relationship Id="rId4" Type="http://schemas.openxmlformats.org/officeDocument/2006/relationships/image" Target="../media/image15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64.png"/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463.png"/><Relationship Id="rId4" Type="http://schemas.openxmlformats.org/officeDocument/2006/relationships/image" Target="../media/image15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462.png"/><Relationship Id="rId10" Type="http://schemas.openxmlformats.org/officeDocument/2006/relationships/image" Target="../media/image466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467.png"/><Relationship Id="rId10" Type="http://schemas.openxmlformats.org/officeDocument/2006/relationships/image" Target="../media/image469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11" Type="http://schemas.openxmlformats.org/officeDocument/2006/relationships/image" Target="../media/image472.png"/><Relationship Id="rId5" Type="http://schemas.openxmlformats.org/officeDocument/2006/relationships/image" Target="../media/image467.png"/><Relationship Id="rId10" Type="http://schemas.openxmlformats.org/officeDocument/2006/relationships/image" Target="../media/image47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470.png"/><Relationship Id="rId4" Type="http://schemas.openxmlformats.org/officeDocument/2006/relationships/image" Target="../media/image15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7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7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7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7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474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91" y="2186884"/>
            <a:ext cx="7569087" cy="303212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5051" y="111250"/>
            <a:ext cx="9070975" cy="6632575"/>
            <a:chOff x="35051" y="111250"/>
            <a:chExt cx="9070975" cy="66325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218" y="597661"/>
              <a:ext cx="8178800" cy="787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838212"/>
              <a:ext cx="2219706" cy="3238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940" y="975360"/>
              <a:ext cx="242316" cy="53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7080" y="768108"/>
              <a:ext cx="5182616" cy="3929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1" y="111250"/>
              <a:ext cx="9070848" cy="66324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3162" y="229362"/>
              <a:ext cx="8839200" cy="6400800"/>
            </a:xfrm>
            <a:custGeom>
              <a:avLst/>
              <a:gdLst/>
              <a:ahLst/>
              <a:cxnLst/>
              <a:rect l="l" t="t" r="r" b="b"/>
              <a:pathLst>
                <a:path w="8839200" h="6400800">
                  <a:moveTo>
                    <a:pt x="0" y="1066800"/>
                  </a:moveTo>
                  <a:lnTo>
                    <a:pt x="1097" y="1017969"/>
                  </a:lnTo>
                  <a:lnTo>
                    <a:pt x="4359" y="969703"/>
                  </a:lnTo>
                  <a:lnTo>
                    <a:pt x="9738" y="922046"/>
                  </a:lnTo>
                  <a:lnTo>
                    <a:pt x="17187" y="875047"/>
                  </a:lnTo>
                  <a:lnTo>
                    <a:pt x="26660" y="828753"/>
                  </a:lnTo>
                  <a:lnTo>
                    <a:pt x="38108" y="783210"/>
                  </a:lnTo>
                  <a:lnTo>
                    <a:pt x="51484" y="738466"/>
                  </a:lnTo>
                  <a:lnTo>
                    <a:pt x="66743" y="694568"/>
                  </a:lnTo>
                  <a:lnTo>
                    <a:pt x="83836" y="651563"/>
                  </a:lnTo>
                  <a:lnTo>
                    <a:pt x="102717" y="609498"/>
                  </a:lnTo>
                  <a:lnTo>
                    <a:pt x="123338" y="568420"/>
                  </a:lnTo>
                  <a:lnTo>
                    <a:pt x="145653" y="528376"/>
                  </a:lnTo>
                  <a:lnTo>
                    <a:pt x="169613" y="489413"/>
                  </a:lnTo>
                  <a:lnTo>
                    <a:pt x="195174" y="451579"/>
                  </a:lnTo>
                  <a:lnTo>
                    <a:pt x="222286" y="414920"/>
                  </a:lnTo>
                  <a:lnTo>
                    <a:pt x="250904" y="379484"/>
                  </a:lnTo>
                  <a:lnTo>
                    <a:pt x="280979" y="345317"/>
                  </a:lnTo>
                  <a:lnTo>
                    <a:pt x="312466" y="312467"/>
                  </a:lnTo>
                  <a:lnTo>
                    <a:pt x="345316" y="280981"/>
                  </a:lnTo>
                  <a:lnTo>
                    <a:pt x="379483" y="250906"/>
                  </a:lnTo>
                  <a:lnTo>
                    <a:pt x="414920" y="222288"/>
                  </a:lnTo>
                  <a:lnTo>
                    <a:pt x="451579" y="195176"/>
                  </a:lnTo>
                  <a:lnTo>
                    <a:pt x="489414" y="169615"/>
                  </a:lnTo>
                  <a:lnTo>
                    <a:pt x="528378" y="145654"/>
                  </a:lnTo>
                  <a:lnTo>
                    <a:pt x="568423" y="123340"/>
                  </a:lnTo>
                  <a:lnTo>
                    <a:pt x="609502" y="102718"/>
                  </a:lnTo>
                  <a:lnTo>
                    <a:pt x="651568" y="83837"/>
                  </a:lnTo>
                  <a:lnTo>
                    <a:pt x="694575" y="66744"/>
                  </a:lnTo>
                  <a:lnTo>
                    <a:pt x="738475" y="51485"/>
                  </a:lnTo>
                  <a:lnTo>
                    <a:pt x="783221" y="38108"/>
                  </a:lnTo>
                  <a:lnTo>
                    <a:pt x="828765" y="26660"/>
                  </a:lnTo>
                  <a:lnTo>
                    <a:pt x="875062" y="17188"/>
                  </a:lnTo>
                  <a:lnTo>
                    <a:pt x="922063" y="9739"/>
                  </a:lnTo>
                  <a:lnTo>
                    <a:pt x="969722" y="4359"/>
                  </a:lnTo>
                  <a:lnTo>
                    <a:pt x="1017992" y="1097"/>
                  </a:lnTo>
                  <a:lnTo>
                    <a:pt x="1066825" y="0"/>
                  </a:lnTo>
                  <a:lnTo>
                    <a:pt x="7772400" y="0"/>
                  </a:lnTo>
                  <a:lnTo>
                    <a:pt x="7821230" y="1097"/>
                  </a:lnTo>
                  <a:lnTo>
                    <a:pt x="7869496" y="4359"/>
                  </a:lnTo>
                  <a:lnTo>
                    <a:pt x="7917153" y="9739"/>
                  </a:lnTo>
                  <a:lnTo>
                    <a:pt x="7964152" y="17188"/>
                  </a:lnTo>
                  <a:lnTo>
                    <a:pt x="8010446" y="26660"/>
                  </a:lnTo>
                  <a:lnTo>
                    <a:pt x="8055989" y="38108"/>
                  </a:lnTo>
                  <a:lnTo>
                    <a:pt x="8100733" y="51485"/>
                  </a:lnTo>
                  <a:lnTo>
                    <a:pt x="8144631" y="66744"/>
                  </a:lnTo>
                  <a:lnTo>
                    <a:pt x="8187636" y="83837"/>
                  </a:lnTo>
                  <a:lnTo>
                    <a:pt x="8229701" y="102718"/>
                  </a:lnTo>
                  <a:lnTo>
                    <a:pt x="8270779" y="123340"/>
                  </a:lnTo>
                  <a:lnTo>
                    <a:pt x="8310823" y="145654"/>
                  </a:lnTo>
                  <a:lnTo>
                    <a:pt x="8349786" y="169615"/>
                  </a:lnTo>
                  <a:lnTo>
                    <a:pt x="8387620" y="195176"/>
                  </a:lnTo>
                  <a:lnTo>
                    <a:pt x="8424279" y="222288"/>
                  </a:lnTo>
                  <a:lnTo>
                    <a:pt x="8459715" y="250906"/>
                  </a:lnTo>
                  <a:lnTo>
                    <a:pt x="8493882" y="280981"/>
                  </a:lnTo>
                  <a:lnTo>
                    <a:pt x="8526732" y="312467"/>
                  </a:lnTo>
                  <a:lnTo>
                    <a:pt x="8558218" y="345317"/>
                  </a:lnTo>
                  <a:lnTo>
                    <a:pt x="8588293" y="379484"/>
                  </a:lnTo>
                  <a:lnTo>
                    <a:pt x="8616911" y="414920"/>
                  </a:lnTo>
                  <a:lnTo>
                    <a:pt x="8644023" y="451579"/>
                  </a:lnTo>
                  <a:lnTo>
                    <a:pt x="8669584" y="489413"/>
                  </a:lnTo>
                  <a:lnTo>
                    <a:pt x="8693545" y="528376"/>
                  </a:lnTo>
                  <a:lnTo>
                    <a:pt x="8715859" y="568420"/>
                  </a:lnTo>
                  <a:lnTo>
                    <a:pt x="8736481" y="609498"/>
                  </a:lnTo>
                  <a:lnTo>
                    <a:pt x="8755362" y="651563"/>
                  </a:lnTo>
                  <a:lnTo>
                    <a:pt x="8772455" y="694568"/>
                  </a:lnTo>
                  <a:lnTo>
                    <a:pt x="8787714" y="738466"/>
                  </a:lnTo>
                  <a:lnTo>
                    <a:pt x="8801091" y="783210"/>
                  </a:lnTo>
                  <a:lnTo>
                    <a:pt x="8812539" y="828753"/>
                  </a:lnTo>
                  <a:lnTo>
                    <a:pt x="8822011" y="875047"/>
                  </a:lnTo>
                  <a:lnTo>
                    <a:pt x="8829460" y="922046"/>
                  </a:lnTo>
                  <a:lnTo>
                    <a:pt x="8834840" y="969703"/>
                  </a:lnTo>
                  <a:lnTo>
                    <a:pt x="8838102" y="1017969"/>
                  </a:lnTo>
                  <a:lnTo>
                    <a:pt x="8839200" y="1066800"/>
                  </a:lnTo>
                  <a:lnTo>
                    <a:pt x="8839200" y="5334000"/>
                  </a:lnTo>
                  <a:lnTo>
                    <a:pt x="8838102" y="5382831"/>
                  </a:lnTo>
                  <a:lnTo>
                    <a:pt x="8834840" y="5431098"/>
                  </a:lnTo>
                  <a:lnTo>
                    <a:pt x="8829460" y="5478755"/>
                  </a:lnTo>
                  <a:lnTo>
                    <a:pt x="8822011" y="5525755"/>
                  </a:lnTo>
                  <a:lnTo>
                    <a:pt x="8812539" y="5572050"/>
                  </a:lnTo>
                  <a:lnTo>
                    <a:pt x="8801091" y="5617593"/>
                  </a:lnTo>
                  <a:lnTo>
                    <a:pt x="8787714" y="5662337"/>
                  </a:lnTo>
                  <a:lnTo>
                    <a:pt x="8772455" y="5706236"/>
                  </a:lnTo>
                  <a:lnTo>
                    <a:pt x="8755362" y="5749241"/>
                  </a:lnTo>
                  <a:lnTo>
                    <a:pt x="8736481" y="5791307"/>
                  </a:lnTo>
                  <a:lnTo>
                    <a:pt x="8715859" y="5832385"/>
                  </a:lnTo>
                  <a:lnTo>
                    <a:pt x="8693545" y="5872429"/>
                  </a:lnTo>
                  <a:lnTo>
                    <a:pt x="8669584" y="5911391"/>
                  </a:lnTo>
                  <a:lnTo>
                    <a:pt x="8644023" y="5949226"/>
                  </a:lnTo>
                  <a:lnTo>
                    <a:pt x="8616911" y="5985884"/>
                  </a:lnTo>
                  <a:lnTo>
                    <a:pt x="8588293" y="6021320"/>
                  </a:lnTo>
                  <a:lnTo>
                    <a:pt x="8558218" y="6055487"/>
                  </a:lnTo>
                  <a:lnTo>
                    <a:pt x="8526732" y="6088337"/>
                  </a:lnTo>
                  <a:lnTo>
                    <a:pt x="8493882" y="6119823"/>
                  </a:lnTo>
                  <a:lnTo>
                    <a:pt x="8459715" y="6149898"/>
                  </a:lnTo>
                  <a:lnTo>
                    <a:pt x="8424279" y="6178515"/>
                  </a:lnTo>
                  <a:lnTo>
                    <a:pt x="8387620" y="6205627"/>
                  </a:lnTo>
                  <a:lnTo>
                    <a:pt x="8349786" y="6231187"/>
                  </a:lnTo>
                  <a:lnTo>
                    <a:pt x="8310823" y="6255147"/>
                  </a:lnTo>
                  <a:lnTo>
                    <a:pt x="8270779" y="6277462"/>
                  </a:lnTo>
                  <a:lnTo>
                    <a:pt x="8229701" y="6298083"/>
                  </a:lnTo>
                  <a:lnTo>
                    <a:pt x="8187636" y="6316963"/>
                  </a:lnTo>
                  <a:lnTo>
                    <a:pt x="8144631" y="6334056"/>
                  </a:lnTo>
                  <a:lnTo>
                    <a:pt x="8100733" y="6349315"/>
                  </a:lnTo>
                  <a:lnTo>
                    <a:pt x="8055989" y="6362692"/>
                  </a:lnTo>
                  <a:lnTo>
                    <a:pt x="8010446" y="6374139"/>
                  </a:lnTo>
                  <a:lnTo>
                    <a:pt x="7964152" y="6383612"/>
                  </a:lnTo>
                  <a:lnTo>
                    <a:pt x="7917153" y="6391061"/>
                  </a:lnTo>
                  <a:lnTo>
                    <a:pt x="7869496" y="6396440"/>
                  </a:lnTo>
                  <a:lnTo>
                    <a:pt x="7821230" y="6399702"/>
                  </a:lnTo>
                  <a:lnTo>
                    <a:pt x="7772400" y="6400800"/>
                  </a:lnTo>
                  <a:lnTo>
                    <a:pt x="1066825" y="6400800"/>
                  </a:lnTo>
                  <a:lnTo>
                    <a:pt x="1017992" y="6399702"/>
                  </a:lnTo>
                  <a:lnTo>
                    <a:pt x="969722" y="6396440"/>
                  </a:lnTo>
                  <a:lnTo>
                    <a:pt x="922063" y="6391061"/>
                  </a:lnTo>
                  <a:lnTo>
                    <a:pt x="875062" y="6383612"/>
                  </a:lnTo>
                  <a:lnTo>
                    <a:pt x="828765" y="6374139"/>
                  </a:lnTo>
                  <a:lnTo>
                    <a:pt x="783221" y="6362692"/>
                  </a:lnTo>
                  <a:lnTo>
                    <a:pt x="738475" y="6349315"/>
                  </a:lnTo>
                  <a:lnTo>
                    <a:pt x="694575" y="6334056"/>
                  </a:lnTo>
                  <a:lnTo>
                    <a:pt x="651568" y="6316963"/>
                  </a:lnTo>
                  <a:lnTo>
                    <a:pt x="609502" y="6298083"/>
                  </a:lnTo>
                  <a:lnTo>
                    <a:pt x="568423" y="6277462"/>
                  </a:lnTo>
                  <a:lnTo>
                    <a:pt x="528378" y="6255147"/>
                  </a:lnTo>
                  <a:lnTo>
                    <a:pt x="489414" y="6231187"/>
                  </a:lnTo>
                  <a:lnTo>
                    <a:pt x="451579" y="6205627"/>
                  </a:lnTo>
                  <a:lnTo>
                    <a:pt x="414920" y="6178515"/>
                  </a:lnTo>
                  <a:lnTo>
                    <a:pt x="379483" y="6149898"/>
                  </a:lnTo>
                  <a:lnTo>
                    <a:pt x="345316" y="6119823"/>
                  </a:lnTo>
                  <a:lnTo>
                    <a:pt x="312466" y="6088337"/>
                  </a:lnTo>
                  <a:lnTo>
                    <a:pt x="280979" y="6055487"/>
                  </a:lnTo>
                  <a:lnTo>
                    <a:pt x="250904" y="6021320"/>
                  </a:lnTo>
                  <a:lnTo>
                    <a:pt x="222286" y="5985884"/>
                  </a:lnTo>
                  <a:lnTo>
                    <a:pt x="195174" y="5949226"/>
                  </a:lnTo>
                  <a:lnTo>
                    <a:pt x="169613" y="5911391"/>
                  </a:lnTo>
                  <a:lnTo>
                    <a:pt x="145653" y="5872429"/>
                  </a:lnTo>
                  <a:lnTo>
                    <a:pt x="123338" y="5832385"/>
                  </a:lnTo>
                  <a:lnTo>
                    <a:pt x="102717" y="5791307"/>
                  </a:lnTo>
                  <a:lnTo>
                    <a:pt x="83836" y="5749241"/>
                  </a:lnTo>
                  <a:lnTo>
                    <a:pt x="66743" y="5706236"/>
                  </a:lnTo>
                  <a:lnTo>
                    <a:pt x="51484" y="5662337"/>
                  </a:lnTo>
                  <a:lnTo>
                    <a:pt x="38108" y="5617593"/>
                  </a:lnTo>
                  <a:lnTo>
                    <a:pt x="26660" y="5572050"/>
                  </a:lnTo>
                  <a:lnTo>
                    <a:pt x="17187" y="5525755"/>
                  </a:lnTo>
                  <a:lnTo>
                    <a:pt x="9738" y="5478755"/>
                  </a:lnTo>
                  <a:lnTo>
                    <a:pt x="4359" y="5431098"/>
                  </a:lnTo>
                  <a:lnTo>
                    <a:pt x="1097" y="5382831"/>
                  </a:lnTo>
                  <a:lnTo>
                    <a:pt x="0" y="5334000"/>
                  </a:lnTo>
                  <a:lnTo>
                    <a:pt x="0" y="10668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9436" y="905636"/>
            <a:ext cx="7700009" cy="95250"/>
            <a:chOff x="829436" y="905636"/>
            <a:chExt cx="7700009" cy="95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961" y="915170"/>
              <a:ext cx="7680959" cy="761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8961" y="915161"/>
              <a:ext cx="7680959" cy="76200"/>
            </a:xfrm>
            <a:custGeom>
              <a:avLst/>
              <a:gdLst/>
              <a:ahLst/>
              <a:cxnLst/>
              <a:rect l="l" t="t" r="r" b="b"/>
              <a:pathLst>
                <a:path w="7680959" h="76200">
                  <a:moveTo>
                    <a:pt x="0" y="38100"/>
                  </a:moveTo>
                  <a:lnTo>
                    <a:pt x="42730" y="32388"/>
                  </a:lnTo>
                  <a:lnTo>
                    <a:pt x="86304" y="30018"/>
                  </a:lnTo>
                  <a:lnTo>
                    <a:pt x="144332" y="27703"/>
                  </a:lnTo>
                  <a:lnTo>
                    <a:pt x="190807" y="26191"/>
                  </a:lnTo>
                  <a:lnTo>
                    <a:pt x="243346" y="24707"/>
                  </a:lnTo>
                  <a:lnTo>
                    <a:pt x="301805" y="23252"/>
                  </a:lnTo>
                  <a:lnTo>
                    <a:pt x="366039" y="21828"/>
                  </a:lnTo>
                  <a:lnTo>
                    <a:pt x="435905" y="20435"/>
                  </a:lnTo>
                  <a:lnTo>
                    <a:pt x="511258" y="19075"/>
                  </a:lnTo>
                  <a:lnTo>
                    <a:pt x="550947" y="18408"/>
                  </a:lnTo>
                  <a:lnTo>
                    <a:pt x="591954" y="17750"/>
                  </a:lnTo>
                  <a:lnTo>
                    <a:pt x="634261" y="17101"/>
                  </a:lnTo>
                  <a:lnTo>
                    <a:pt x="677850" y="16461"/>
                  </a:lnTo>
                  <a:lnTo>
                    <a:pt x="722702" y="15830"/>
                  </a:lnTo>
                  <a:lnTo>
                    <a:pt x="768800" y="15209"/>
                  </a:lnTo>
                  <a:lnTo>
                    <a:pt x="816126" y="14598"/>
                  </a:lnTo>
                  <a:lnTo>
                    <a:pt x="864661" y="13997"/>
                  </a:lnTo>
                  <a:lnTo>
                    <a:pt x="914389" y="13405"/>
                  </a:lnTo>
                  <a:lnTo>
                    <a:pt x="965290" y="12824"/>
                  </a:lnTo>
                  <a:lnTo>
                    <a:pt x="1017346" y="12253"/>
                  </a:lnTo>
                  <a:lnTo>
                    <a:pt x="1070540" y="11693"/>
                  </a:lnTo>
                  <a:lnTo>
                    <a:pt x="1124854" y="11144"/>
                  </a:lnTo>
                  <a:lnTo>
                    <a:pt x="1180270" y="10605"/>
                  </a:lnTo>
                  <a:lnTo>
                    <a:pt x="1236769" y="10078"/>
                  </a:lnTo>
                  <a:lnTo>
                    <a:pt x="1294334" y="9562"/>
                  </a:lnTo>
                  <a:lnTo>
                    <a:pt x="1352946" y="9058"/>
                  </a:lnTo>
                  <a:lnTo>
                    <a:pt x="1412588" y="8565"/>
                  </a:lnTo>
                  <a:lnTo>
                    <a:pt x="1473242" y="8084"/>
                  </a:lnTo>
                  <a:lnTo>
                    <a:pt x="1534889" y="7615"/>
                  </a:lnTo>
                  <a:lnTo>
                    <a:pt x="1597512" y="7158"/>
                  </a:lnTo>
                  <a:lnTo>
                    <a:pt x="1661092" y="6713"/>
                  </a:lnTo>
                  <a:lnTo>
                    <a:pt x="1725612" y="6281"/>
                  </a:lnTo>
                  <a:lnTo>
                    <a:pt x="1791053" y="5862"/>
                  </a:lnTo>
                  <a:lnTo>
                    <a:pt x="1857398" y="5456"/>
                  </a:lnTo>
                  <a:lnTo>
                    <a:pt x="1924628" y="5063"/>
                  </a:lnTo>
                  <a:lnTo>
                    <a:pt x="1992726" y="4683"/>
                  </a:lnTo>
                  <a:lnTo>
                    <a:pt x="2061673" y="4316"/>
                  </a:lnTo>
                  <a:lnTo>
                    <a:pt x="2131452" y="3963"/>
                  </a:lnTo>
                  <a:lnTo>
                    <a:pt x="2202044" y="3624"/>
                  </a:lnTo>
                  <a:lnTo>
                    <a:pt x="2273431" y="3299"/>
                  </a:lnTo>
                  <a:lnTo>
                    <a:pt x="2345596" y="2988"/>
                  </a:lnTo>
                  <a:lnTo>
                    <a:pt x="2418521" y="2691"/>
                  </a:lnTo>
                  <a:lnTo>
                    <a:pt x="2492186" y="2409"/>
                  </a:lnTo>
                  <a:lnTo>
                    <a:pt x="2566575" y="2141"/>
                  </a:lnTo>
                  <a:lnTo>
                    <a:pt x="2641670" y="1889"/>
                  </a:lnTo>
                  <a:lnTo>
                    <a:pt x="2717451" y="1651"/>
                  </a:lnTo>
                  <a:lnTo>
                    <a:pt x="2793902" y="1428"/>
                  </a:lnTo>
                  <a:lnTo>
                    <a:pt x="2871005" y="1221"/>
                  </a:lnTo>
                  <a:lnTo>
                    <a:pt x="2948741" y="1030"/>
                  </a:lnTo>
                  <a:lnTo>
                    <a:pt x="3027092" y="854"/>
                  </a:lnTo>
                  <a:lnTo>
                    <a:pt x="3106040" y="694"/>
                  </a:lnTo>
                  <a:lnTo>
                    <a:pt x="3185567" y="550"/>
                  </a:lnTo>
                  <a:lnTo>
                    <a:pt x="3265656" y="422"/>
                  </a:lnTo>
                  <a:lnTo>
                    <a:pt x="3346288" y="311"/>
                  </a:lnTo>
                  <a:lnTo>
                    <a:pt x="3427445" y="217"/>
                  </a:lnTo>
                  <a:lnTo>
                    <a:pt x="3509110" y="139"/>
                  </a:lnTo>
                  <a:lnTo>
                    <a:pt x="3591263" y="78"/>
                  </a:lnTo>
                  <a:lnTo>
                    <a:pt x="3673888" y="35"/>
                  </a:lnTo>
                  <a:lnTo>
                    <a:pt x="3756966" y="8"/>
                  </a:lnTo>
                  <a:lnTo>
                    <a:pt x="3840479" y="0"/>
                  </a:lnTo>
                  <a:lnTo>
                    <a:pt x="3923993" y="8"/>
                  </a:lnTo>
                  <a:lnTo>
                    <a:pt x="4007071" y="35"/>
                  </a:lnTo>
                  <a:lnTo>
                    <a:pt x="4089696" y="78"/>
                  </a:lnTo>
                  <a:lnTo>
                    <a:pt x="4171849" y="139"/>
                  </a:lnTo>
                  <a:lnTo>
                    <a:pt x="4253514" y="217"/>
                  </a:lnTo>
                  <a:lnTo>
                    <a:pt x="4334671" y="311"/>
                  </a:lnTo>
                  <a:lnTo>
                    <a:pt x="4415303" y="422"/>
                  </a:lnTo>
                  <a:lnTo>
                    <a:pt x="4495392" y="550"/>
                  </a:lnTo>
                  <a:lnTo>
                    <a:pt x="4574919" y="694"/>
                  </a:lnTo>
                  <a:lnTo>
                    <a:pt x="4653867" y="854"/>
                  </a:lnTo>
                  <a:lnTo>
                    <a:pt x="4732218" y="1030"/>
                  </a:lnTo>
                  <a:lnTo>
                    <a:pt x="4809954" y="1221"/>
                  </a:lnTo>
                  <a:lnTo>
                    <a:pt x="4887057" y="1428"/>
                  </a:lnTo>
                  <a:lnTo>
                    <a:pt x="4963508" y="1651"/>
                  </a:lnTo>
                  <a:lnTo>
                    <a:pt x="5039289" y="1889"/>
                  </a:lnTo>
                  <a:lnTo>
                    <a:pt x="5114384" y="2141"/>
                  </a:lnTo>
                  <a:lnTo>
                    <a:pt x="5188773" y="2409"/>
                  </a:lnTo>
                  <a:lnTo>
                    <a:pt x="5262438" y="2691"/>
                  </a:lnTo>
                  <a:lnTo>
                    <a:pt x="5335363" y="2988"/>
                  </a:lnTo>
                  <a:lnTo>
                    <a:pt x="5407528" y="3299"/>
                  </a:lnTo>
                  <a:lnTo>
                    <a:pt x="5478915" y="3624"/>
                  </a:lnTo>
                  <a:lnTo>
                    <a:pt x="5549507" y="3963"/>
                  </a:lnTo>
                  <a:lnTo>
                    <a:pt x="5619286" y="4316"/>
                  </a:lnTo>
                  <a:lnTo>
                    <a:pt x="5688233" y="4683"/>
                  </a:lnTo>
                  <a:lnTo>
                    <a:pt x="5756331" y="5063"/>
                  </a:lnTo>
                  <a:lnTo>
                    <a:pt x="5823561" y="5456"/>
                  </a:lnTo>
                  <a:lnTo>
                    <a:pt x="5889906" y="5862"/>
                  </a:lnTo>
                  <a:lnTo>
                    <a:pt x="5955347" y="6281"/>
                  </a:lnTo>
                  <a:lnTo>
                    <a:pt x="6019867" y="6713"/>
                  </a:lnTo>
                  <a:lnTo>
                    <a:pt x="6083447" y="7158"/>
                  </a:lnTo>
                  <a:lnTo>
                    <a:pt x="6146070" y="7615"/>
                  </a:lnTo>
                  <a:lnTo>
                    <a:pt x="6207717" y="8084"/>
                  </a:lnTo>
                  <a:lnTo>
                    <a:pt x="6268371" y="8565"/>
                  </a:lnTo>
                  <a:lnTo>
                    <a:pt x="6328013" y="9058"/>
                  </a:lnTo>
                  <a:lnTo>
                    <a:pt x="6386625" y="9562"/>
                  </a:lnTo>
                  <a:lnTo>
                    <a:pt x="6444190" y="10078"/>
                  </a:lnTo>
                  <a:lnTo>
                    <a:pt x="6500689" y="10605"/>
                  </a:lnTo>
                  <a:lnTo>
                    <a:pt x="6556105" y="11144"/>
                  </a:lnTo>
                  <a:lnTo>
                    <a:pt x="6610419" y="11693"/>
                  </a:lnTo>
                  <a:lnTo>
                    <a:pt x="6663613" y="12253"/>
                  </a:lnTo>
                  <a:lnTo>
                    <a:pt x="6715669" y="12824"/>
                  </a:lnTo>
                  <a:lnTo>
                    <a:pt x="6766570" y="13405"/>
                  </a:lnTo>
                  <a:lnTo>
                    <a:pt x="6816298" y="13997"/>
                  </a:lnTo>
                  <a:lnTo>
                    <a:pt x="6864833" y="14598"/>
                  </a:lnTo>
                  <a:lnTo>
                    <a:pt x="6912159" y="15209"/>
                  </a:lnTo>
                  <a:lnTo>
                    <a:pt x="6958257" y="15830"/>
                  </a:lnTo>
                  <a:lnTo>
                    <a:pt x="7003109" y="16461"/>
                  </a:lnTo>
                  <a:lnTo>
                    <a:pt x="7046698" y="17101"/>
                  </a:lnTo>
                  <a:lnTo>
                    <a:pt x="7089005" y="17750"/>
                  </a:lnTo>
                  <a:lnTo>
                    <a:pt x="7130012" y="18408"/>
                  </a:lnTo>
                  <a:lnTo>
                    <a:pt x="7169701" y="19075"/>
                  </a:lnTo>
                  <a:lnTo>
                    <a:pt x="7208054" y="19751"/>
                  </a:lnTo>
                  <a:lnTo>
                    <a:pt x="7280682" y="21127"/>
                  </a:lnTo>
                  <a:lnTo>
                    <a:pt x="7347750" y="22536"/>
                  </a:lnTo>
                  <a:lnTo>
                    <a:pt x="7409114" y="23976"/>
                  </a:lnTo>
                  <a:lnTo>
                    <a:pt x="7464631" y="25446"/>
                  </a:lnTo>
                  <a:lnTo>
                    <a:pt x="7514156" y="26944"/>
                  </a:lnTo>
                  <a:lnTo>
                    <a:pt x="7557545" y="28468"/>
                  </a:lnTo>
                  <a:lnTo>
                    <a:pt x="7610810" y="30802"/>
                  </a:lnTo>
                  <a:lnTo>
                    <a:pt x="7649458" y="33189"/>
                  </a:lnTo>
                  <a:lnTo>
                    <a:pt x="7680959" y="38100"/>
                  </a:lnTo>
                  <a:lnTo>
                    <a:pt x="7680069" y="38930"/>
                  </a:lnTo>
                  <a:lnTo>
                    <a:pt x="7638229" y="43811"/>
                  </a:lnTo>
                  <a:lnTo>
                    <a:pt x="7594655" y="46181"/>
                  </a:lnTo>
                  <a:lnTo>
                    <a:pt x="7536627" y="48496"/>
                  </a:lnTo>
                  <a:lnTo>
                    <a:pt x="7490152" y="50008"/>
                  </a:lnTo>
                  <a:lnTo>
                    <a:pt x="7437613" y="51492"/>
                  </a:lnTo>
                  <a:lnTo>
                    <a:pt x="7379154" y="52947"/>
                  </a:lnTo>
                  <a:lnTo>
                    <a:pt x="7314920" y="54371"/>
                  </a:lnTo>
                  <a:lnTo>
                    <a:pt x="7245054" y="55764"/>
                  </a:lnTo>
                  <a:lnTo>
                    <a:pt x="7169701" y="57124"/>
                  </a:lnTo>
                  <a:lnTo>
                    <a:pt x="7130012" y="57791"/>
                  </a:lnTo>
                  <a:lnTo>
                    <a:pt x="7089005" y="58449"/>
                  </a:lnTo>
                  <a:lnTo>
                    <a:pt x="7046698" y="59098"/>
                  </a:lnTo>
                  <a:lnTo>
                    <a:pt x="7003109" y="59738"/>
                  </a:lnTo>
                  <a:lnTo>
                    <a:pt x="6958257" y="60369"/>
                  </a:lnTo>
                  <a:lnTo>
                    <a:pt x="6912159" y="60990"/>
                  </a:lnTo>
                  <a:lnTo>
                    <a:pt x="6864833" y="61601"/>
                  </a:lnTo>
                  <a:lnTo>
                    <a:pt x="6816298" y="62202"/>
                  </a:lnTo>
                  <a:lnTo>
                    <a:pt x="6766570" y="62794"/>
                  </a:lnTo>
                  <a:lnTo>
                    <a:pt x="6715669" y="63375"/>
                  </a:lnTo>
                  <a:lnTo>
                    <a:pt x="6663613" y="63946"/>
                  </a:lnTo>
                  <a:lnTo>
                    <a:pt x="6610419" y="64506"/>
                  </a:lnTo>
                  <a:lnTo>
                    <a:pt x="6556105" y="65055"/>
                  </a:lnTo>
                  <a:lnTo>
                    <a:pt x="6500689" y="65594"/>
                  </a:lnTo>
                  <a:lnTo>
                    <a:pt x="6444190" y="66121"/>
                  </a:lnTo>
                  <a:lnTo>
                    <a:pt x="6386625" y="66637"/>
                  </a:lnTo>
                  <a:lnTo>
                    <a:pt x="6328013" y="67141"/>
                  </a:lnTo>
                  <a:lnTo>
                    <a:pt x="6268371" y="67634"/>
                  </a:lnTo>
                  <a:lnTo>
                    <a:pt x="6207717" y="68115"/>
                  </a:lnTo>
                  <a:lnTo>
                    <a:pt x="6146070" y="68584"/>
                  </a:lnTo>
                  <a:lnTo>
                    <a:pt x="6083447" y="69041"/>
                  </a:lnTo>
                  <a:lnTo>
                    <a:pt x="6019867" y="69486"/>
                  </a:lnTo>
                  <a:lnTo>
                    <a:pt x="5955347" y="69918"/>
                  </a:lnTo>
                  <a:lnTo>
                    <a:pt x="5889906" y="70337"/>
                  </a:lnTo>
                  <a:lnTo>
                    <a:pt x="5823561" y="70743"/>
                  </a:lnTo>
                  <a:lnTo>
                    <a:pt x="5756331" y="71136"/>
                  </a:lnTo>
                  <a:lnTo>
                    <a:pt x="5688233" y="71516"/>
                  </a:lnTo>
                  <a:lnTo>
                    <a:pt x="5619286" y="71883"/>
                  </a:lnTo>
                  <a:lnTo>
                    <a:pt x="5549507" y="72236"/>
                  </a:lnTo>
                  <a:lnTo>
                    <a:pt x="5478915" y="72575"/>
                  </a:lnTo>
                  <a:lnTo>
                    <a:pt x="5407528" y="72900"/>
                  </a:lnTo>
                  <a:lnTo>
                    <a:pt x="5335363" y="73211"/>
                  </a:lnTo>
                  <a:lnTo>
                    <a:pt x="5262438" y="73508"/>
                  </a:lnTo>
                  <a:lnTo>
                    <a:pt x="5188773" y="73790"/>
                  </a:lnTo>
                  <a:lnTo>
                    <a:pt x="5114384" y="74058"/>
                  </a:lnTo>
                  <a:lnTo>
                    <a:pt x="5039289" y="74310"/>
                  </a:lnTo>
                  <a:lnTo>
                    <a:pt x="4963508" y="74548"/>
                  </a:lnTo>
                  <a:lnTo>
                    <a:pt x="4887057" y="74771"/>
                  </a:lnTo>
                  <a:lnTo>
                    <a:pt x="4809954" y="74978"/>
                  </a:lnTo>
                  <a:lnTo>
                    <a:pt x="4732218" y="75169"/>
                  </a:lnTo>
                  <a:lnTo>
                    <a:pt x="4653867" y="75345"/>
                  </a:lnTo>
                  <a:lnTo>
                    <a:pt x="4574919" y="75505"/>
                  </a:lnTo>
                  <a:lnTo>
                    <a:pt x="4495392" y="75649"/>
                  </a:lnTo>
                  <a:lnTo>
                    <a:pt x="4415303" y="75777"/>
                  </a:lnTo>
                  <a:lnTo>
                    <a:pt x="4334671" y="75888"/>
                  </a:lnTo>
                  <a:lnTo>
                    <a:pt x="4253514" y="75982"/>
                  </a:lnTo>
                  <a:lnTo>
                    <a:pt x="4171849" y="76060"/>
                  </a:lnTo>
                  <a:lnTo>
                    <a:pt x="4089696" y="76121"/>
                  </a:lnTo>
                  <a:lnTo>
                    <a:pt x="4007071" y="76164"/>
                  </a:lnTo>
                  <a:lnTo>
                    <a:pt x="3923993" y="76191"/>
                  </a:lnTo>
                  <a:lnTo>
                    <a:pt x="3840479" y="76200"/>
                  </a:lnTo>
                  <a:lnTo>
                    <a:pt x="3756966" y="76191"/>
                  </a:lnTo>
                  <a:lnTo>
                    <a:pt x="3673888" y="76164"/>
                  </a:lnTo>
                  <a:lnTo>
                    <a:pt x="3591263" y="76121"/>
                  </a:lnTo>
                  <a:lnTo>
                    <a:pt x="3509110" y="76060"/>
                  </a:lnTo>
                  <a:lnTo>
                    <a:pt x="3427445" y="75982"/>
                  </a:lnTo>
                  <a:lnTo>
                    <a:pt x="3346288" y="75888"/>
                  </a:lnTo>
                  <a:lnTo>
                    <a:pt x="3265656" y="75777"/>
                  </a:lnTo>
                  <a:lnTo>
                    <a:pt x="3185567" y="75649"/>
                  </a:lnTo>
                  <a:lnTo>
                    <a:pt x="3106040" y="75505"/>
                  </a:lnTo>
                  <a:lnTo>
                    <a:pt x="3027092" y="75345"/>
                  </a:lnTo>
                  <a:lnTo>
                    <a:pt x="2948741" y="75169"/>
                  </a:lnTo>
                  <a:lnTo>
                    <a:pt x="2871005" y="74978"/>
                  </a:lnTo>
                  <a:lnTo>
                    <a:pt x="2793902" y="74771"/>
                  </a:lnTo>
                  <a:lnTo>
                    <a:pt x="2717451" y="74548"/>
                  </a:lnTo>
                  <a:lnTo>
                    <a:pt x="2641670" y="74310"/>
                  </a:lnTo>
                  <a:lnTo>
                    <a:pt x="2566575" y="74058"/>
                  </a:lnTo>
                  <a:lnTo>
                    <a:pt x="2492186" y="73790"/>
                  </a:lnTo>
                  <a:lnTo>
                    <a:pt x="2418521" y="73508"/>
                  </a:lnTo>
                  <a:lnTo>
                    <a:pt x="2345596" y="73211"/>
                  </a:lnTo>
                  <a:lnTo>
                    <a:pt x="2273431" y="72900"/>
                  </a:lnTo>
                  <a:lnTo>
                    <a:pt x="2202044" y="72575"/>
                  </a:lnTo>
                  <a:lnTo>
                    <a:pt x="2131452" y="72236"/>
                  </a:lnTo>
                  <a:lnTo>
                    <a:pt x="2061673" y="71883"/>
                  </a:lnTo>
                  <a:lnTo>
                    <a:pt x="1992726" y="71516"/>
                  </a:lnTo>
                  <a:lnTo>
                    <a:pt x="1924628" y="71136"/>
                  </a:lnTo>
                  <a:lnTo>
                    <a:pt x="1857398" y="70743"/>
                  </a:lnTo>
                  <a:lnTo>
                    <a:pt x="1791053" y="70337"/>
                  </a:lnTo>
                  <a:lnTo>
                    <a:pt x="1725612" y="69918"/>
                  </a:lnTo>
                  <a:lnTo>
                    <a:pt x="1661092" y="69486"/>
                  </a:lnTo>
                  <a:lnTo>
                    <a:pt x="1597512" y="69041"/>
                  </a:lnTo>
                  <a:lnTo>
                    <a:pt x="1534889" y="68584"/>
                  </a:lnTo>
                  <a:lnTo>
                    <a:pt x="1473242" y="68115"/>
                  </a:lnTo>
                  <a:lnTo>
                    <a:pt x="1412588" y="67634"/>
                  </a:lnTo>
                  <a:lnTo>
                    <a:pt x="1352946" y="67141"/>
                  </a:lnTo>
                  <a:lnTo>
                    <a:pt x="1294334" y="66637"/>
                  </a:lnTo>
                  <a:lnTo>
                    <a:pt x="1236769" y="66121"/>
                  </a:lnTo>
                  <a:lnTo>
                    <a:pt x="1180270" y="65594"/>
                  </a:lnTo>
                  <a:lnTo>
                    <a:pt x="1124854" y="65055"/>
                  </a:lnTo>
                  <a:lnTo>
                    <a:pt x="1070540" y="64506"/>
                  </a:lnTo>
                  <a:lnTo>
                    <a:pt x="1017346" y="63946"/>
                  </a:lnTo>
                  <a:lnTo>
                    <a:pt x="965290" y="63375"/>
                  </a:lnTo>
                  <a:lnTo>
                    <a:pt x="914389" y="62794"/>
                  </a:lnTo>
                  <a:lnTo>
                    <a:pt x="864661" y="62202"/>
                  </a:lnTo>
                  <a:lnTo>
                    <a:pt x="816126" y="61601"/>
                  </a:lnTo>
                  <a:lnTo>
                    <a:pt x="768800" y="60990"/>
                  </a:lnTo>
                  <a:lnTo>
                    <a:pt x="722702" y="60369"/>
                  </a:lnTo>
                  <a:lnTo>
                    <a:pt x="677850" y="59738"/>
                  </a:lnTo>
                  <a:lnTo>
                    <a:pt x="634261" y="59098"/>
                  </a:lnTo>
                  <a:lnTo>
                    <a:pt x="591954" y="58449"/>
                  </a:lnTo>
                  <a:lnTo>
                    <a:pt x="550947" y="57791"/>
                  </a:lnTo>
                  <a:lnTo>
                    <a:pt x="511258" y="57124"/>
                  </a:lnTo>
                  <a:lnTo>
                    <a:pt x="472905" y="56448"/>
                  </a:lnTo>
                  <a:lnTo>
                    <a:pt x="400277" y="55072"/>
                  </a:lnTo>
                  <a:lnTo>
                    <a:pt x="333209" y="53663"/>
                  </a:lnTo>
                  <a:lnTo>
                    <a:pt x="271845" y="52223"/>
                  </a:lnTo>
                  <a:lnTo>
                    <a:pt x="216328" y="50753"/>
                  </a:lnTo>
                  <a:lnTo>
                    <a:pt x="166803" y="49255"/>
                  </a:lnTo>
                  <a:lnTo>
                    <a:pt x="123414" y="47731"/>
                  </a:lnTo>
                  <a:lnTo>
                    <a:pt x="70149" y="45397"/>
                  </a:lnTo>
                  <a:lnTo>
                    <a:pt x="31501" y="4301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81094" y="99072"/>
            <a:ext cx="7082155" cy="1041400"/>
            <a:chOff x="1181094" y="99072"/>
            <a:chExt cx="7082155" cy="10414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094" y="286511"/>
              <a:ext cx="7082039" cy="52885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1943" y="99072"/>
              <a:ext cx="2718816" cy="10408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199" y="304799"/>
              <a:ext cx="7010400" cy="4572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19199" y="304799"/>
              <a:ext cx="7010400" cy="457200"/>
            </a:xfrm>
            <a:custGeom>
              <a:avLst/>
              <a:gdLst/>
              <a:ahLst/>
              <a:cxnLst/>
              <a:rect l="l" t="t" r="r" b="b"/>
              <a:pathLst>
                <a:path w="70104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6934200" y="0"/>
                  </a:lnTo>
                  <a:lnTo>
                    <a:pt x="6963840" y="5994"/>
                  </a:lnTo>
                  <a:lnTo>
                    <a:pt x="6988063" y="22336"/>
                  </a:lnTo>
                  <a:lnTo>
                    <a:pt x="7004405" y="46559"/>
                  </a:lnTo>
                  <a:lnTo>
                    <a:pt x="7010400" y="76200"/>
                  </a:lnTo>
                  <a:lnTo>
                    <a:pt x="7010400" y="381000"/>
                  </a:lnTo>
                  <a:lnTo>
                    <a:pt x="7004405" y="410640"/>
                  </a:lnTo>
                  <a:lnTo>
                    <a:pt x="6988063" y="434863"/>
                  </a:lnTo>
                  <a:lnTo>
                    <a:pt x="6963840" y="451205"/>
                  </a:lnTo>
                  <a:lnTo>
                    <a:pt x="69342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66871" y="232359"/>
            <a:ext cx="2113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MODULE-2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440" y="1685543"/>
              <a:ext cx="3313176" cy="42260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519" y="3325380"/>
              <a:ext cx="2795016" cy="10119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683" y="1716024"/>
              <a:ext cx="3223260" cy="412699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9683" y="1716024"/>
              <a:ext cx="3223260" cy="4127500"/>
            </a:xfrm>
            <a:custGeom>
              <a:avLst/>
              <a:gdLst/>
              <a:ahLst/>
              <a:cxnLst/>
              <a:rect l="l" t="t" r="r" b="b"/>
              <a:pathLst>
                <a:path w="3223260" h="4127500">
                  <a:moveTo>
                    <a:pt x="3223260" y="0"/>
                  </a:moveTo>
                  <a:lnTo>
                    <a:pt x="3223260" y="2515362"/>
                  </a:lnTo>
                  <a:lnTo>
                    <a:pt x="1611630" y="4126991"/>
                  </a:lnTo>
                  <a:lnTo>
                    <a:pt x="0" y="2515362"/>
                  </a:lnTo>
                  <a:lnTo>
                    <a:pt x="0" y="0"/>
                  </a:lnTo>
                  <a:lnTo>
                    <a:pt x="1611630" y="1611629"/>
                  </a:lnTo>
                  <a:lnTo>
                    <a:pt x="3223260" y="0"/>
                  </a:lnTo>
                  <a:close/>
                </a:path>
              </a:pathLst>
            </a:custGeom>
            <a:ln w="9525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36142" y="3325825"/>
            <a:ext cx="2388235" cy="7696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5080" indent="93980">
              <a:lnSpc>
                <a:spcPct val="74300"/>
              </a:lnSpc>
              <a:spcBef>
                <a:spcPts val="960"/>
              </a:spcBef>
            </a:pPr>
            <a:r>
              <a:rPr sz="2800" b="1" spc="9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800" b="1" spc="-459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800" b="1" spc="-4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800" b="1" spc="-2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sz="2800" b="1" spc="-23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800" b="1" spc="-229" dirty="0">
                <a:solidFill>
                  <a:srgbClr val="FFFFFF"/>
                </a:solidFill>
                <a:latin typeface="Arial"/>
                <a:cs typeface="Arial"/>
              </a:rPr>
              <a:t>L  </a:t>
            </a:r>
            <a:r>
              <a:rPr sz="2800" b="1" spc="-29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800" b="1" spc="2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800" b="1" spc="-24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800" b="1" spc="-229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2800" b="1" spc="-35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800" b="1" spc="-47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38041" y="1723898"/>
            <a:ext cx="5094605" cy="3787140"/>
            <a:chOff x="3638041" y="1723898"/>
            <a:chExt cx="5094605" cy="3787140"/>
          </a:xfrm>
        </p:grpSpPr>
        <p:sp>
          <p:nvSpPr>
            <p:cNvPr id="24" name="object 24"/>
            <p:cNvSpPr/>
            <p:nvPr/>
          </p:nvSpPr>
          <p:spPr>
            <a:xfrm>
              <a:off x="3650741" y="1736598"/>
              <a:ext cx="5069205" cy="3761740"/>
            </a:xfrm>
            <a:custGeom>
              <a:avLst/>
              <a:gdLst/>
              <a:ahLst/>
              <a:cxnLst/>
              <a:rect l="l" t="t" r="r" b="b"/>
              <a:pathLst>
                <a:path w="5069205" h="3761740">
                  <a:moveTo>
                    <a:pt x="4441952" y="0"/>
                  </a:moveTo>
                  <a:lnTo>
                    <a:pt x="0" y="0"/>
                  </a:lnTo>
                  <a:lnTo>
                    <a:pt x="0" y="3761231"/>
                  </a:lnTo>
                  <a:lnTo>
                    <a:pt x="4441952" y="3761231"/>
                  </a:lnTo>
                  <a:lnTo>
                    <a:pt x="4490940" y="3759345"/>
                  </a:lnTo>
                  <a:lnTo>
                    <a:pt x="4538897" y="3753780"/>
                  </a:lnTo>
                  <a:lnTo>
                    <a:pt x="4585684" y="3744675"/>
                  </a:lnTo>
                  <a:lnTo>
                    <a:pt x="4631162" y="3732169"/>
                  </a:lnTo>
                  <a:lnTo>
                    <a:pt x="4675190" y="3716402"/>
                  </a:lnTo>
                  <a:lnTo>
                    <a:pt x="4717630" y="3697514"/>
                  </a:lnTo>
                  <a:lnTo>
                    <a:pt x="4758341" y="3675643"/>
                  </a:lnTo>
                  <a:lnTo>
                    <a:pt x="4797186" y="3650929"/>
                  </a:lnTo>
                  <a:lnTo>
                    <a:pt x="4834024" y="3623512"/>
                  </a:lnTo>
                  <a:lnTo>
                    <a:pt x="4868716" y="3593530"/>
                  </a:lnTo>
                  <a:lnTo>
                    <a:pt x="4901122" y="3561124"/>
                  </a:lnTo>
                  <a:lnTo>
                    <a:pt x="4931104" y="3526432"/>
                  </a:lnTo>
                  <a:lnTo>
                    <a:pt x="4958521" y="3489594"/>
                  </a:lnTo>
                  <a:lnTo>
                    <a:pt x="4983235" y="3450749"/>
                  </a:lnTo>
                  <a:lnTo>
                    <a:pt x="5005106" y="3410038"/>
                  </a:lnTo>
                  <a:lnTo>
                    <a:pt x="5023994" y="3367598"/>
                  </a:lnTo>
                  <a:lnTo>
                    <a:pt x="5039761" y="3323570"/>
                  </a:lnTo>
                  <a:lnTo>
                    <a:pt x="5052267" y="3278092"/>
                  </a:lnTo>
                  <a:lnTo>
                    <a:pt x="5061372" y="3231305"/>
                  </a:lnTo>
                  <a:lnTo>
                    <a:pt x="5066937" y="3183348"/>
                  </a:lnTo>
                  <a:lnTo>
                    <a:pt x="5068824" y="3134360"/>
                  </a:lnTo>
                  <a:lnTo>
                    <a:pt x="5068824" y="626872"/>
                  </a:lnTo>
                  <a:lnTo>
                    <a:pt x="5066937" y="577883"/>
                  </a:lnTo>
                  <a:lnTo>
                    <a:pt x="5061372" y="529926"/>
                  </a:lnTo>
                  <a:lnTo>
                    <a:pt x="5052267" y="483139"/>
                  </a:lnTo>
                  <a:lnTo>
                    <a:pt x="5039761" y="437661"/>
                  </a:lnTo>
                  <a:lnTo>
                    <a:pt x="5023994" y="393633"/>
                  </a:lnTo>
                  <a:lnTo>
                    <a:pt x="5005106" y="351193"/>
                  </a:lnTo>
                  <a:lnTo>
                    <a:pt x="4983235" y="310482"/>
                  </a:lnTo>
                  <a:lnTo>
                    <a:pt x="4958521" y="271637"/>
                  </a:lnTo>
                  <a:lnTo>
                    <a:pt x="4931104" y="234799"/>
                  </a:lnTo>
                  <a:lnTo>
                    <a:pt x="4901122" y="200107"/>
                  </a:lnTo>
                  <a:lnTo>
                    <a:pt x="4868716" y="167701"/>
                  </a:lnTo>
                  <a:lnTo>
                    <a:pt x="4834024" y="137719"/>
                  </a:lnTo>
                  <a:lnTo>
                    <a:pt x="4797186" y="110302"/>
                  </a:lnTo>
                  <a:lnTo>
                    <a:pt x="4758341" y="85588"/>
                  </a:lnTo>
                  <a:lnTo>
                    <a:pt x="4717630" y="63717"/>
                  </a:lnTo>
                  <a:lnTo>
                    <a:pt x="4675190" y="44829"/>
                  </a:lnTo>
                  <a:lnTo>
                    <a:pt x="4631162" y="29062"/>
                  </a:lnTo>
                  <a:lnTo>
                    <a:pt x="4585684" y="16556"/>
                  </a:lnTo>
                  <a:lnTo>
                    <a:pt x="4538897" y="7451"/>
                  </a:lnTo>
                  <a:lnTo>
                    <a:pt x="4490940" y="1886"/>
                  </a:lnTo>
                  <a:lnTo>
                    <a:pt x="444195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0741" y="1736598"/>
              <a:ext cx="5069205" cy="3761740"/>
            </a:xfrm>
            <a:custGeom>
              <a:avLst/>
              <a:gdLst/>
              <a:ahLst/>
              <a:cxnLst/>
              <a:rect l="l" t="t" r="r" b="b"/>
              <a:pathLst>
                <a:path w="5069205" h="3761740">
                  <a:moveTo>
                    <a:pt x="5068824" y="626872"/>
                  </a:moveTo>
                  <a:lnTo>
                    <a:pt x="5068824" y="3134360"/>
                  </a:lnTo>
                  <a:lnTo>
                    <a:pt x="5066937" y="3183348"/>
                  </a:lnTo>
                  <a:lnTo>
                    <a:pt x="5061372" y="3231305"/>
                  </a:lnTo>
                  <a:lnTo>
                    <a:pt x="5052267" y="3278092"/>
                  </a:lnTo>
                  <a:lnTo>
                    <a:pt x="5039761" y="3323570"/>
                  </a:lnTo>
                  <a:lnTo>
                    <a:pt x="5023994" y="3367598"/>
                  </a:lnTo>
                  <a:lnTo>
                    <a:pt x="5005106" y="3410038"/>
                  </a:lnTo>
                  <a:lnTo>
                    <a:pt x="4983235" y="3450749"/>
                  </a:lnTo>
                  <a:lnTo>
                    <a:pt x="4958521" y="3489594"/>
                  </a:lnTo>
                  <a:lnTo>
                    <a:pt x="4931104" y="3526432"/>
                  </a:lnTo>
                  <a:lnTo>
                    <a:pt x="4901122" y="3561124"/>
                  </a:lnTo>
                  <a:lnTo>
                    <a:pt x="4868716" y="3593530"/>
                  </a:lnTo>
                  <a:lnTo>
                    <a:pt x="4834024" y="3623512"/>
                  </a:lnTo>
                  <a:lnTo>
                    <a:pt x="4797186" y="3650929"/>
                  </a:lnTo>
                  <a:lnTo>
                    <a:pt x="4758341" y="3675643"/>
                  </a:lnTo>
                  <a:lnTo>
                    <a:pt x="4717630" y="3697514"/>
                  </a:lnTo>
                  <a:lnTo>
                    <a:pt x="4675190" y="3716402"/>
                  </a:lnTo>
                  <a:lnTo>
                    <a:pt x="4631162" y="3732169"/>
                  </a:lnTo>
                  <a:lnTo>
                    <a:pt x="4585684" y="3744675"/>
                  </a:lnTo>
                  <a:lnTo>
                    <a:pt x="4538897" y="3753780"/>
                  </a:lnTo>
                  <a:lnTo>
                    <a:pt x="4490940" y="3759345"/>
                  </a:lnTo>
                  <a:lnTo>
                    <a:pt x="4441952" y="3761231"/>
                  </a:lnTo>
                  <a:lnTo>
                    <a:pt x="0" y="3761231"/>
                  </a:lnTo>
                  <a:lnTo>
                    <a:pt x="0" y="0"/>
                  </a:lnTo>
                  <a:lnTo>
                    <a:pt x="4441952" y="0"/>
                  </a:lnTo>
                  <a:lnTo>
                    <a:pt x="4490940" y="1886"/>
                  </a:lnTo>
                  <a:lnTo>
                    <a:pt x="4538897" y="7451"/>
                  </a:lnTo>
                  <a:lnTo>
                    <a:pt x="4585684" y="16556"/>
                  </a:lnTo>
                  <a:lnTo>
                    <a:pt x="4631162" y="29062"/>
                  </a:lnTo>
                  <a:lnTo>
                    <a:pt x="4675190" y="44829"/>
                  </a:lnTo>
                  <a:lnTo>
                    <a:pt x="4717630" y="63717"/>
                  </a:lnTo>
                  <a:lnTo>
                    <a:pt x="4758341" y="85588"/>
                  </a:lnTo>
                  <a:lnTo>
                    <a:pt x="4797186" y="110302"/>
                  </a:lnTo>
                  <a:lnTo>
                    <a:pt x="4834024" y="137719"/>
                  </a:lnTo>
                  <a:lnTo>
                    <a:pt x="4868716" y="167701"/>
                  </a:lnTo>
                  <a:lnTo>
                    <a:pt x="4901122" y="200107"/>
                  </a:lnTo>
                  <a:lnTo>
                    <a:pt x="4931104" y="234799"/>
                  </a:lnTo>
                  <a:lnTo>
                    <a:pt x="4958521" y="271637"/>
                  </a:lnTo>
                  <a:lnTo>
                    <a:pt x="4983235" y="310482"/>
                  </a:lnTo>
                  <a:lnTo>
                    <a:pt x="5005106" y="351193"/>
                  </a:lnTo>
                  <a:lnTo>
                    <a:pt x="5023994" y="393633"/>
                  </a:lnTo>
                  <a:lnTo>
                    <a:pt x="5039761" y="437661"/>
                  </a:lnTo>
                  <a:lnTo>
                    <a:pt x="5052267" y="483139"/>
                  </a:lnTo>
                  <a:lnTo>
                    <a:pt x="5061372" y="529926"/>
                  </a:lnTo>
                  <a:lnTo>
                    <a:pt x="5066937" y="577883"/>
                  </a:lnTo>
                  <a:lnTo>
                    <a:pt x="5068824" y="626872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794886" y="1998445"/>
            <a:ext cx="3611879" cy="31508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50"/>
              </a:spcBef>
              <a:buChar char="•"/>
              <a:tabLst>
                <a:tab pos="241300" algn="l"/>
              </a:tabLst>
            </a:pPr>
            <a:r>
              <a:rPr sz="2200" spc="-10" dirty="0">
                <a:latin typeface="Segoe UI Semibold"/>
                <a:cs typeface="Segoe UI Semibold"/>
              </a:rPr>
              <a:t>Ports</a:t>
            </a:r>
            <a:r>
              <a:rPr sz="2200" spc="-25" dirty="0">
                <a:latin typeface="Segoe UI Semibold"/>
                <a:cs typeface="Segoe UI Semibold"/>
              </a:rPr>
              <a:t> </a:t>
            </a:r>
            <a:r>
              <a:rPr sz="2200" spc="-5" dirty="0">
                <a:latin typeface="Segoe UI Semibold"/>
                <a:cs typeface="Segoe UI Semibold"/>
              </a:rPr>
              <a:t>and</a:t>
            </a:r>
            <a:r>
              <a:rPr sz="2200" spc="-2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Modules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45"/>
              </a:spcBef>
              <a:buChar char="•"/>
              <a:tabLst>
                <a:tab pos="241300" algn="l"/>
              </a:tabLst>
            </a:pPr>
            <a:r>
              <a:rPr sz="2200" spc="-5" dirty="0">
                <a:latin typeface="Segoe UI Semibold"/>
                <a:cs typeface="Segoe UI Semibold"/>
              </a:rPr>
              <a:t>Lexical</a:t>
            </a:r>
            <a:r>
              <a:rPr sz="2200" spc="-2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Conventions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241300" algn="l"/>
              </a:tabLst>
            </a:pPr>
            <a:r>
              <a:rPr sz="2200" spc="-10" dirty="0">
                <a:latin typeface="Segoe UI Semibold"/>
                <a:cs typeface="Segoe UI Semibold"/>
              </a:rPr>
              <a:t>Data</a:t>
            </a:r>
            <a:r>
              <a:rPr sz="2200" spc="-25" dirty="0">
                <a:latin typeface="Segoe UI Semibold"/>
                <a:cs typeface="Segoe UI Semibold"/>
              </a:rPr>
              <a:t> </a:t>
            </a:r>
            <a:r>
              <a:rPr sz="2200" spc="-30" dirty="0">
                <a:latin typeface="Segoe UI Semibold"/>
                <a:cs typeface="Segoe UI Semibold"/>
              </a:rPr>
              <a:t>Types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241300" algn="l"/>
              </a:tabLst>
            </a:pPr>
            <a:r>
              <a:rPr sz="2200" spc="-10" dirty="0">
                <a:latin typeface="Segoe UI Semibold"/>
                <a:cs typeface="Segoe UI Semibold"/>
              </a:rPr>
              <a:t>Operators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241300" algn="l"/>
              </a:tabLst>
            </a:pPr>
            <a:r>
              <a:rPr sz="2200" spc="-5" dirty="0">
                <a:latin typeface="Segoe UI Semibold"/>
                <a:cs typeface="Segoe UI Semibold"/>
              </a:rPr>
              <a:t>Gate</a:t>
            </a:r>
            <a:r>
              <a:rPr sz="2200" spc="-25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Level</a:t>
            </a:r>
            <a:r>
              <a:rPr sz="2200" spc="-2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Modeling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241300" algn="l"/>
              </a:tabLst>
            </a:pPr>
            <a:r>
              <a:rPr sz="2200" spc="-10" dirty="0">
                <a:latin typeface="Segoe UI Semibold"/>
                <a:cs typeface="Segoe UI Semibold"/>
              </a:rPr>
              <a:t>Data</a:t>
            </a:r>
            <a:r>
              <a:rPr sz="2200" spc="-5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Flow</a:t>
            </a:r>
            <a:r>
              <a:rPr sz="2200" spc="-2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Modeling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241300" algn="l"/>
                <a:tab pos="2381885" algn="l"/>
              </a:tabLst>
            </a:pPr>
            <a:r>
              <a:rPr sz="2200" spc="-5" dirty="0">
                <a:latin typeface="Segoe UI Semibold"/>
                <a:cs typeface="Segoe UI Semibold"/>
              </a:rPr>
              <a:t>Behavioral</a:t>
            </a:r>
            <a:r>
              <a:rPr sz="2200" spc="10" dirty="0">
                <a:latin typeface="Segoe UI Semibold"/>
                <a:cs typeface="Segoe UI Semibold"/>
              </a:rPr>
              <a:t> </a:t>
            </a:r>
            <a:r>
              <a:rPr sz="2200" spc="-10" dirty="0">
                <a:latin typeface="Segoe UI Semibold"/>
                <a:cs typeface="Segoe UI Semibold"/>
              </a:rPr>
              <a:t>level	Modeling</a:t>
            </a:r>
            <a:endParaRPr sz="2200">
              <a:latin typeface="Segoe UI Semibold"/>
              <a:cs typeface="Segoe UI Semibold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241300" algn="l"/>
              </a:tabLst>
            </a:pPr>
            <a:r>
              <a:rPr sz="2200" spc="-60" dirty="0">
                <a:latin typeface="Segoe UI Semibold"/>
                <a:cs typeface="Segoe UI Semibold"/>
              </a:rPr>
              <a:t>Test</a:t>
            </a:r>
            <a:r>
              <a:rPr sz="2200" spc="-40" dirty="0">
                <a:latin typeface="Segoe UI Semibold"/>
                <a:cs typeface="Segoe UI Semibold"/>
              </a:rPr>
              <a:t> </a:t>
            </a:r>
            <a:r>
              <a:rPr sz="2200" spc="-5" dirty="0">
                <a:latin typeface="Segoe UI Semibold"/>
                <a:cs typeface="Segoe UI Semibold"/>
              </a:rPr>
              <a:t>Bench</a:t>
            </a:r>
            <a:endParaRPr sz="2200">
              <a:latin typeface="Segoe UI Semibold"/>
              <a:cs typeface="Segoe UI Semibold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839834" y="6643232"/>
            <a:ext cx="1504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9834" y="6643232"/>
            <a:ext cx="1504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2620" y="155460"/>
              <a:ext cx="544677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17166" y="289382"/>
            <a:ext cx="4706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I</a:t>
            </a:r>
            <a:r>
              <a:rPr spc="-240" dirty="0"/>
              <a:t>N</a:t>
            </a:r>
            <a:r>
              <a:rPr spc="-140" dirty="0"/>
              <a:t>TROD</a:t>
            </a:r>
            <a:r>
              <a:rPr spc="-130" dirty="0"/>
              <a:t>U</a:t>
            </a:r>
            <a:r>
              <a:rPr spc="-145" dirty="0"/>
              <a:t>CTIO</a:t>
            </a:r>
            <a:r>
              <a:rPr spc="-165" dirty="0"/>
              <a:t>N</a:t>
            </a:r>
            <a:r>
              <a:rPr spc="-60" dirty="0"/>
              <a:t> </a:t>
            </a:r>
            <a:r>
              <a:rPr spc="-254" dirty="0"/>
              <a:t>T</a:t>
            </a:r>
            <a:r>
              <a:rPr spc="-285" dirty="0"/>
              <a:t>O</a:t>
            </a:r>
            <a:r>
              <a:rPr spc="-15" dirty="0"/>
              <a:t> </a:t>
            </a:r>
            <a:r>
              <a:rPr spc="-80" dirty="0"/>
              <a:t>H</a:t>
            </a:r>
            <a:r>
              <a:rPr spc="55" dirty="0"/>
              <a:t>D</a:t>
            </a:r>
            <a:r>
              <a:rPr spc="-160" dirty="0"/>
              <a:t>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38173"/>
            <a:ext cx="8378190" cy="5329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sequential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8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latin typeface="Microsoft Sans Serif"/>
                <a:cs typeface="Microsoft Sans Serif"/>
              </a:rPr>
              <a:t>traditional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95" dirty="0">
                <a:latin typeface="Microsoft Sans Serif"/>
                <a:cs typeface="Microsoft Sans Serif"/>
              </a:rPr>
              <a:t>programming </a:t>
            </a:r>
            <a:r>
              <a:rPr sz="2800" spc="-190" dirty="0">
                <a:latin typeface="Microsoft Sans Serif"/>
                <a:cs typeface="Microsoft Sans Serif"/>
              </a:rPr>
              <a:t> </a:t>
            </a:r>
            <a:r>
              <a:rPr sz="2800" spc="-310" dirty="0">
                <a:latin typeface="Microsoft Sans Serif"/>
                <a:cs typeface="Microsoft Sans Serif"/>
              </a:rPr>
              <a:t>languages</a:t>
            </a:r>
            <a:r>
              <a:rPr sz="2800" spc="-305" dirty="0">
                <a:latin typeface="Microsoft Sans Serif"/>
                <a:cs typeface="Microsoft Sans Serif"/>
              </a:rPr>
              <a:t> </a:t>
            </a:r>
            <a:r>
              <a:rPr sz="2800" spc="-190" dirty="0">
                <a:latin typeface="Microsoft Sans Serif"/>
                <a:cs typeface="Microsoft Sans Serif"/>
              </a:rPr>
              <a:t>(i.e. </a:t>
            </a:r>
            <a:r>
              <a:rPr sz="2800" spc="75" dirty="0">
                <a:latin typeface="Microsoft Sans Serif"/>
                <a:cs typeface="Microsoft Sans Serif"/>
              </a:rPr>
              <a:t>“C”) </a:t>
            </a:r>
            <a:r>
              <a:rPr sz="2800" spc="-195" dirty="0">
                <a:latin typeface="Microsoft Sans Serif"/>
                <a:cs typeface="Microsoft Sans Serif"/>
              </a:rPr>
              <a:t>cannot </a:t>
            </a:r>
            <a:r>
              <a:rPr sz="2800" spc="-185" dirty="0">
                <a:latin typeface="Microsoft Sans Serif"/>
                <a:cs typeface="Microsoft Sans Serif"/>
              </a:rPr>
              <a:t>capture </a:t>
            </a:r>
            <a:r>
              <a:rPr sz="2800" spc="-170" dirty="0">
                <a:latin typeface="Microsoft Sans Serif"/>
                <a:cs typeface="Microsoft Sans Serif"/>
              </a:rPr>
              <a:t>the </a:t>
            </a:r>
            <a:r>
              <a:rPr sz="2800" spc="-210" dirty="0">
                <a:latin typeface="Microsoft Sans Serif"/>
                <a:cs typeface="Microsoft Sans Serif"/>
              </a:rPr>
              <a:t>characteristics</a:t>
            </a:r>
            <a:r>
              <a:rPr sz="2800" spc="-204" dirty="0">
                <a:latin typeface="Microsoft Sans Serif"/>
                <a:cs typeface="Microsoft Sans Serif"/>
              </a:rPr>
              <a:t> </a:t>
            </a:r>
            <a:r>
              <a:rPr sz="2800" spc="-75" dirty="0">
                <a:latin typeface="Microsoft Sans Serif"/>
                <a:cs typeface="Microsoft Sans Serif"/>
              </a:rPr>
              <a:t>of 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digital </a:t>
            </a:r>
            <a:r>
              <a:rPr sz="2800" spc="-215" dirty="0">
                <a:latin typeface="Microsoft Sans Serif"/>
                <a:cs typeface="Microsoft Sans Serif"/>
              </a:rPr>
              <a:t>hardware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,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there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need 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special 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languages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(i.e.,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HDLs)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designed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hardware.</a:t>
            </a:r>
            <a:endParaRPr sz="2800">
              <a:latin typeface="Microsoft Sans Serif"/>
              <a:cs typeface="Microsoft Sans Serif"/>
            </a:endParaRPr>
          </a:p>
          <a:p>
            <a:pPr marL="476884" marR="6985" indent="-464820" algn="just">
              <a:lnSpc>
                <a:spcPct val="100000"/>
              </a:lnSpc>
              <a:spcBef>
                <a:spcPts val="240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fundamental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characteristics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system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are 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defined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concepts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4" dirty="0">
                <a:latin typeface="Microsoft Sans Serif"/>
                <a:cs typeface="Microsoft Sans Serif"/>
              </a:rPr>
              <a:t>entity,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45" dirty="0">
                <a:latin typeface="Microsoft Sans Serif"/>
                <a:cs typeface="Microsoft Sans Serif"/>
              </a:rPr>
              <a:t>connectivity, </a:t>
            </a:r>
            <a:r>
              <a:rPr sz="2800" spc="-140" dirty="0">
                <a:latin typeface="Microsoft Sans Serif"/>
                <a:cs typeface="Microsoft Sans Serif"/>
              </a:rPr>
              <a:t> </a:t>
            </a:r>
            <a:r>
              <a:rPr sz="2800" spc="-190" dirty="0">
                <a:latin typeface="Microsoft Sans Serif"/>
                <a:cs typeface="Microsoft Sans Serif"/>
              </a:rPr>
              <a:t>c</a:t>
            </a:r>
            <a:r>
              <a:rPr sz="2800" spc="-204" dirty="0">
                <a:latin typeface="Microsoft Sans Serif"/>
                <a:cs typeface="Microsoft Sans Serif"/>
              </a:rPr>
              <a:t>o</a:t>
            </a:r>
            <a:r>
              <a:rPr sz="2800" spc="-240" dirty="0">
                <a:latin typeface="Microsoft Sans Serif"/>
                <a:cs typeface="Microsoft Sans Serif"/>
              </a:rPr>
              <a:t>n</a:t>
            </a:r>
            <a:r>
              <a:rPr sz="2800" spc="-210" dirty="0">
                <a:latin typeface="Microsoft Sans Serif"/>
                <a:cs typeface="Microsoft Sans Serif"/>
              </a:rPr>
              <a:t>c</a:t>
            </a:r>
            <a:r>
              <a:rPr sz="2800" spc="-135" dirty="0">
                <a:latin typeface="Microsoft Sans Serif"/>
                <a:cs typeface="Microsoft Sans Serif"/>
              </a:rPr>
              <a:t>u</a:t>
            </a:r>
            <a:r>
              <a:rPr sz="2800" spc="-70" dirty="0">
                <a:latin typeface="Microsoft Sans Serif"/>
                <a:cs typeface="Microsoft Sans Serif"/>
              </a:rPr>
              <a:t>r</a:t>
            </a:r>
            <a:r>
              <a:rPr sz="2800" spc="-135" dirty="0">
                <a:latin typeface="Microsoft Sans Serif"/>
                <a:cs typeface="Microsoft Sans Serif"/>
              </a:rPr>
              <a:t>r</a:t>
            </a:r>
            <a:r>
              <a:rPr sz="2800" spc="-215" dirty="0">
                <a:latin typeface="Microsoft Sans Serif"/>
                <a:cs typeface="Microsoft Sans Serif"/>
              </a:rPr>
              <a:t>e</a:t>
            </a:r>
            <a:r>
              <a:rPr sz="2800" spc="-240" dirty="0">
                <a:latin typeface="Microsoft Sans Serif"/>
                <a:cs typeface="Microsoft Sans Serif"/>
              </a:rPr>
              <a:t>n</a:t>
            </a:r>
            <a:r>
              <a:rPr sz="2800" spc="-210" dirty="0">
                <a:latin typeface="Microsoft Sans Serif"/>
                <a:cs typeface="Microsoft Sans Serif"/>
              </a:rPr>
              <a:t>c</a:t>
            </a:r>
            <a:r>
              <a:rPr sz="2800" spc="-145" dirty="0">
                <a:latin typeface="Microsoft Sans Serif"/>
                <a:cs typeface="Microsoft Sans Serif"/>
              </a:rPr>
              <a:t>y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and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ti</a:t>
            </a:r>
            <a:r>
              <a:rPr sz="2800" spc="-130" dirty="0">
                <a:latin typeface="Microsoft Sans Serif"/>
                <a:cs typeface="Microsoft Sans Serif"/>
              </a:rPr>
              <a:t>m</a:t>
            </a:r>
            <a:r>
              <a:rPr sz="2800" spc="-70" dirty="0">
                <a:latin typeface="Microsoft Sans Serif"/>
                <a:cs typeface="Microsoft Sans Serif"/>
              </a:rPr>
              <a:t>i</a:t>
            </a:r>
            <a:r>
              <a:rPr sz="2800" spc="-165" dirty="0">
                <a:latin typeface="Microsoft Sans Serif"/>
                <a:cs typeface="Microsoft Sans Serif"/>
              </a:rPr>
              <a:t>n</a:t>
            </a:r>
            <a:r>
              <a:rPr sz="2800" spc="-345" dirty="0">
                <a:latin typeface="Microsoft Sans Serif"/>
                <a:cs typeface="Microsoft Sans Serif"/>
              </a:rPr>
              <a:t>g</a:t>
            </a:r>
            <a:r>
              <a:rPr sz="2800" spc="-16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477520" indent="-464820">
              <a:lnSpc>
                <a:spcPct val="100000"/>
              </a:lnSpc>
              <a:spcBef>
                <a:spcPts val="2400"/>
              </a:spcBef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210" dirty="0">
                <a:latin typeface="Microsoft Sans Serif"/>
                <a:cs typeface="Microsoft Sans Serif"/>
              </a:rPr>
              <a:t>HD</a:t>
            </a:r>
            <a:r>
              <a:rPr sz="2800" spc="-160" dirty="0">
                <a:latin typeface="Microsoft Sans Serif"/>
                <a:cs typeface="Microsoft Sans Serif"/>
              </a:rPr>
              <a:t>L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3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lang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age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0" dirty="0">
                <a:latin typeface="Microsoft Sans Serif"/>
                <a:cs typeface="Microsoft Sans Serif"/>
              </a:rPr>
              <a:t>t</a:t>
            </a:r>
            <a:r>
              <a:rPr sz="2800" spc="-65" dirty="0">
                <a:latin typeface="Microsoft Sans Serif"/>
                <a:cs typeface="Microsoft Sans Serif"/>
              </a:rPr>
              <a:t>o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235" dirty="0">
                <a:latin typeface="Microsoft Sans Serif"/>
                <a:cs typeface="Microsoft Sans Serif"/>
              </a:rPr>
              <a:t>descr</a:t>
            </a:r>
            <a:r>
              <a:rPr sz="2800" spc="-105" dirty="0">
                <a:latin typeface="Microsoft Sans Serif"/>
                <a:cs typeface="Microsoft Sans Serif"/>
              </a:rPr>
              <a:t>i</a:t>
            </a:r>
            <a:r>
              <a:rPr sz="2800" spc="-280" dirty="0">
                <a:latin typeface="Microsoft Sans Serif"/>
                <a:cs typeface="Microsoft Sans Serif"/>
              </a:rPr>
              <a:t>b</a:t>
            </a:r>
            <a:r>
              <a:rPr sz="2800" spc="-275" dirty="0">
                <a:latin typeface="Microsoft Sans Serif"/>
                <a:cs typeface="Microsoft Sans Serif"/>
              </a:rPr>
              <a:t>e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d</a:t>
            </a:r>
            <a:r>
              <a:rPr sz="2800" spc="-55" dirty="0">
                <a:latin typeface="Microsoft Sans Serif"/>
                <a:cs typeface="Microsoft Sans Serif"/>
              </a:rPr>
              <a:t>i</a:t>
            </a:r>
            <a:r>
              <a:rPr sz="2800" spc="-170" dirty="0">
                <a:latin typeface="Microsoft Sans Serif"/>
                <a:cs typeface="Microsoft Sans Serif"/>
              </a:rPr>
              <a:t>gita</a:t>
            </a:r>
            <a:r>
              <a:rPr sz="2800" spc="-95" dirty="0">
                <a:latin typeface="Microsoft Sans Serif"/>
                <a:cs typeface="Microsoft Sans Serif"/>
              </a:rPr>
              <a:t>l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285" dirty="0">
                <a:latin typeface="Microsoft Sans Serif"/>
                <a:cs typeface="Microsoft Sans Serif"/>
              </a:rPr>
              <a:t>system</a:t>
            </a:r>
            <a:r>
              <a:rPr sz="2800" spc="-16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7620" indent="-464820" algn="just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goal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8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HDL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800" spc="3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 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0" dirty="0">
                <a:latin typeface="Microsoft Sans Serif"/>
                <a:cs typeface="Microsoft Sans Serif"/>
              </a:rPr>
              <a:t>sy</a:t>
            </a:r>
            <a:r>
              <a:rPr sz="2800" spc="-385" dirty="0">
                <a:latin typeface="Microsoft Sans Serif"/>
                <a:cs typeface="Microsoft Sans Serif"/>
              </a:rPr>
              <a:t>s</a:t>
            </a:r>
            <a:r>
              <a:rPr sz="2800" spc="-140" dirty="0">
                <a:latin typeface="Microsoft Sans Serif"/>
                <a:cs typeface="Microsoft Sans Serif"/>
              </a:rPr>
              <a:t>te</a:t>
            </a:r>
            <a:r>
              <a:rPr sz="2800" spc="-250" dirty="0">
                <a:latin typeface="Microsoft Sans Serif"/>
                <a:cs typeface="Microsoft Sans Serif"/>
              </a:rPr>
              <a:t>m</a:t>
            </a:r>
            <a:r>
              <a:rPr sz="2800" spc="-515" dirty="0">
                <a:latin typeface="Microsoft Sans Serif"/>
                <a:cs typeface="Microsoft Sans Serif"/>
              </a:rPr>
              <a:t>s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105" dirty="0">
                <a:latin typeface="Microsoft Sans Serif"/>
                <a:cs typeface="Microsoft Sans Serif"/>
              </a:rPr>
              <a:t>fait</a:t>
            </a:r>
            <a:r>
              <a:rPr sz="2800" spc="-160" dirty="0">
                <a:latin typeface="Microsoft Sans Serif"/>
                <a:cs typeface="Microsoft Sans Serif"/>
              </a:rPr>
              <a:t>h</a:t>
            </a:r>
            <a:r>
              <a:rPr sz="2800" spc="-95" dirty="0">
                <a:latin typeface="Microsoft Sans Serif"/>
                <a:cs typeface="Microsoft Sans Serif"/>
              </a:rPr>
              <a:t>fu</a:t>
            </a:r>
            <a:r>
              <a:rPr sz="2800" spc="-45" dirty="0">
                <a:latin typeface="Microsoft Sans Serif"/>
                <a:cs typeface="Microsoft Sans Serif"/>
              </a:rPr>
              <a:t>l</a:t>
            </a:r>
            <a:r>
              <a:rPr sz="2800" spc="-90" dirty="0">
                <a:latin typeface="Microsoft Sans Serif"/>
                <a:cs typeface="Microsoft Sans Serif"/>
              </a:rPr>
              <a:t>ly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and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210" dirty="0">
                <a:latin typeface="Microsoft Sans Serif"/>
                <a:cs typeface="Microsoft Sans Serif"/>
              </a:rPr>
              <a:t>accurate</a:t>
            </a:r>
            <a:r>
              <a:rPr sz="2800" spc="-95" dirty="0">
                <a:latin typeface="Microsoft Sans Serif"/>
                <a:cs typeface="Microsoft Sans Serif"/>
              </a:rPr>
              <a:t>l</a:t>
            </a:r>
            <a:r>
              <a:rPr sz="2800" spc="-150" dirty="0">
                <a:latin typeface="Microsoft Sans Serif"/>
                <a:cs typeface="Microsoft Sans Serif"/>
              </a:rPr>
              <a:t>y</a:t>
            </a:r>
            <a:r>
              <a:rPr sz="2800" spc="-16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9834" y="6643232"/>
            <a:ext cx="1504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2620" y="155460"/>
              <a:ext cx="544677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17166" y="289382"/>
            <a:ext cx="4706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I</a:t>
            </a:r>
            <a:r>
              <a:rPr spc="-240" dirty="0"/>
              <a:t>N</a:t>
            </a:r>
            <a:r>
              <a:rPr spc="-140" dirty="0"/>
              <a:t>TROD</a:t>
            </a:r>
            <a:r>
              <a:rPr spc="-130" dirty="0"/>
              <a:t>U</a:t>
            </a:r>
            <a:r>
              <a:rPr spc="-145" dirty="0"/>
              <a:t>CTIO</a:t>
            </a:r>
            <a:r>
              <a:rPr spc="-165" dirty="0"/>
              <a:t>N</a:t>
            </a:r>
            <a:r>
              <a:rPr spc="-60" dirty="0"/>
              <a:t> </a:t>
            </a:r>
            <a:r>
              <a:rPr spc="-254" dirty="0"/>
              <a:t>T</a:t>
            </a:r>
            <a:r>
              <a:rPr spc="-285" dirty="0"/>
              <a:t>O</a:t>
            </a:r>
            <a:r>
              <a:rPr spc="-15" dirty="0"/>
              <a:t> </a:t>
            </a:r>
            <a:r>
              <a:rPr spc="-80" dirty="0"/>
              <a:t>H</a:t>
            </a:r>
            <a:r>
              <a:rPr spc="55" dirty="0"/>
              <a:t>D</a:t>
            </a:r>
            <a:r>
              <a:rPr spc="-160" dirty="0"/>
              <a:t>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02577" y="1138173"/>
            <a:ext cx="1858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3300" algn="l"/>
                <a:tab pos="1696720" algn="l"/>
              </a:tabLst>
            </a:pP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ch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1138173"/>
            <a:ext cx="63131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  <a:tab pos="963294" algn="l"/>
                <a:tab pos="2458720" algn="l"/>
                <a:tab pos="4191635" algn="l"/>
                <a:tab pos="5600065" algn="l"/>
              </a:tabLst>
            </a:pPr>
            <a:r>
              <a:rPr sz="2800" spc="135" dirty="0">
                <a:solidFill>
                  <a:srgbClr val="006FC0"/>
                </a:solidFill>
                <a:latin typeface="Microsoft Sans Serif"/>
                <a:cs typeface="Microsoft Sans Serif"/>
              </a:rPr>
              <a:t>A	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ha</a:t>
            </a: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cript</a:t>
            </a:r>
            <a:r>
              <a:rPr sz="2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anguag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oks  </a:t>
            </a:r>
            <a:r>
              <a:rPr sz="2800" spc="-100" dirty="0">
                <a:latin typeface="Microsoft Sans Serif"/>
                <a:cs typeface="Microsoft Sans Serif"/>
              </a:rPr>
              <a:t>p</a:t>
            </a:r>
            <a:r>
              <a:rPr sz="2800" spc="-50" dirty="0">
                <a:latin typeface="Microsoft Sans Serif"/>
                <a:cs typeface="Microsoft Sans Serif"/>
              </a:rPr>
              <a:t>r</a:t>
            </a:r>
            <a:r>
              <a:rPr sz="2800" spc="-254" dirty="0">
                <a:latin typeface="Microsoft Sans Serif"/>
                <a:cs typeface="Microsoft Sans Serif"/>
              </a:rPr>
              <a:t>o</a:t>
            </a:r>
            <a:r>
              <a:rPr sz="2800" spc="-250" dirty="0">
                <a:latin typeface="Microsoft Sans Serif"/>
                <a:cs typeface="Microsoft Sans Serif"/>
              </a:rPr>
              <a:t>g</a:t>
            </a:r>
            <a:r>
              <a:rPr sz="2800" spc="-170" dirty="0">
                <a:latin typeface="Microsoft Sans Serif"/>
                <a:cs typeface="Microsoft Sans Serif"/>
              </a:rPr>
              <a:t>ra</a:t>
            </a:r>
            <a:r>
              <a:rPr sz="2800" spc="-305" dirty="0">
                <a:latin typeface="Microsoft Sans Serif"/>
                <a:cs typeface="Microsoft Sans Serif"/>
              </a:rPr>
              <a:t>m</a:t>
            </a:r>
            <a:r>
              <a:rPr sz="2800" spc="-210" dirty="0">
                <a:latin typeface="Microsoft Sans Serif"/>
                <a:cs typeface="Microsoft Sans Serif"/>
              </a:rPr>
              <a:t>m</a:t>
            </a:r>
            <a:r>
              <a:rPr sz="2800" spc="-55" dirty="0">
                <a:latin typeface="Microsoft Sans Serif"/>
                <a:cs typeface="Microsoft Sans Serif"/>
              </a:rPr>
              <a:t>i</a:t>
            </a:r>
            <a:r>
              <a:rPr sz="2800" spc="-280" dirty="0">
                <a:latin typeface="Microsoft Sans Serif"/>
                <a:cs typeface="Microsoft Sans Serif"/>
              </a:rPr>
              <a:t>n</a:t>
            </a:r>
            <a:r>
              <a:rPr sz="2800" spc="-275" dirty="0">
                <a:latin typeface="Microsoft Sans Serif"/>
                <a:cs typeface="Microsoft Sans Serif"/>
              </a:rPr>
              <a:t>g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229" dirty="0">
                <a:latin typeface="Microsoft Sans Serif"/>
                <a:cs typeface="Microsoft Sans Serif"/>
              </a:rPr>
              <a:t>lang</a:t>
            </a:r>
            <a:r>
              <a:rPr sz="2800" spc="-265" dirty="0">
                <a:latin typeface="Microsoft Sans Serif"/>
                <a:cs typeface="Microsoft Sans Serif"/>
              </a:rPr>
              <a:t>u</a:t>
            </a:r>
            <a:r>
              <a:rPr sz="2800" spc="-365" dirty="0">
                <a:latin typeface="Microsoft Sans Serif"/>
                <a:cs typeface="Microsoft Sans Serif"/>
              </a:rPr>
              <a:t>age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90" dirty="0">
                <a:latin typeface="Microsoft Sans Serif"/>
                <a:cs typeface="Microsoft Sans Serif"/>
              </a:rPr>
              <a:t>such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484" dirty="0">
                <a:latin typeface="Microsoft Sans Serif"/>
                <a:cs typeface="Microsoft Sans Serif"/>
              </a:rPr>
              <a:t>a</a:t>
            </a:r>
            <a:r>
              <a:rPr sz="2800" spc="-430" dirty="0">
                <a:latin typeface="Microsoft Sans Serif"/>
                <a:cs typeface="Microsoft Sans Serif"/>
              </a:rPr>
              <a:t>s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300" dirty="0">
                <a:latin typeface="Microsoft Sans Serif"/>
                <a:cs typeface="Microsoft Sans Serif"/>
              </a:rPr>
              <a:t>C</a:t>
            </a:r>
            <a:r>
              <a:rPr sz="2800" spc="-16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40" y="2418714"/>
            <a:ext cx="8378190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Different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HDLs</a:t>
            </a:r>
            <a:r>
              <a:rPr sz="2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available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different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purpose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such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59" dirty="0">
                <a:solidFill>
                  <a:srgbClr val="006FC0"/>
                </a:solidFill>
                <a:latin typeface="Microsoft Sans Serif"/>
                <a:cs typeface="Microsoft Sans Serif"/>
              </a:rPr>
              <a:t>as </a:t>
            </a:r>
            <a:r>
              <a:rPr sz="2800" spc="-4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latin typeface="Microsoft Sans Serif"/>
                <a:cs typeface="Microsoft Sans Serif"/>
              </a:rPr>
              <a:t>Analog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285" dirty="0">
                <a:latin typeface="Microsoft Sans Serif"/>
                <a:cs typeface="Microsoft Sans Serif"/>
              </a:rPr>
              <a:t>system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270" dirty="0">
                <a:latin typeface="Microsoft Sans Serif"/>
                <a:cs typeface="Microsoft Sans Serif"/>
              </a:rPr>
              <a:t>design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160" dirty="0">
                <a:latin typeface="Microsoft Sans Serif"/>
                <a:cs typeface="Microsoft Sans Serif"/>
              </a:rPr>
              <a:t>,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140" dirty="0">
                <a:latin typeface="Microsoft Sans Serif"/>
                <a:cs typeface="Microsoft Sans Serif"/>
              </a:rPr>
              <a:t>digital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285" dirty="0">
                <a:latin typeface="Microsoft Sans Serif"/>
                <a:cs typeface="Microsoft Sans Serif"/>
              </a:rPr>
              <a:t>system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design,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425" dirty="0">
                <a:latin typeface="Microsoft Sans Serif"/>
                <a:cs typeface="Microsoft Sans Serif"/>
              </a:rPr>
              <a:t>PCB</a:t>
            </a:r>
            <a:r>
              <a:rPr sz="2800" spc="-270" dirty="0">
                <a:latin typeface="Microsoft Sans Serif"/>
                <a:cs typeface="Microsoft Sans Serif"/>
              </a:rPr>
              <a:t> </a:t>
            </a:r>
            <a:r>
              <a:rPr sz="2800" spc="-250" dirty="0">
                <a:latin typeface="Microsoft Sans Serif"/>
                <a:cs typeface="Microsoft Sans Serif"/>
              </a:rPr>
              <a:t>design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8890" indent="-464820" algn="just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29" dirty="0">
                <a:latin typeface="Microsoft Sans Serif"/>
                <a:cs typeface="Microsoft Sans Serif"/>
              </a:rPr>
              <a:t>The</a:t>
            </a:r>
            <a:r>
              <a:rPr sz="2800" spc="-225" dirty="0">
                <a:latin typeface="Microsoft Sans Serif"/>
                <a:cs typeface="Microsoft Sans Serif"/>
              </a:rPr>
              <a:t> </a:t>
            </a:r>
            <a:r>
              <a:rPr sz="2800" spc="-120" dirty="0">
                <a:latin typeface="Microsoft Sans Serif"/>
                <a:cs typeface="Microsoft Sans Serif"/>
              </a:rPr>
              <a:t>two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220" dirty="0">
                <a:latin typeface="Microsoft Sans Serif"/>
                <a:cs typeface="Microsoft Sans Serif"/>
              </a:rPr>
              <a:t>main</a:t>
            </a:r>
            <a:r>
              <a:rPr sz="2800" spc="-215" dirty="0">
                <a:latin typeface="Microsoft Sans Serif"/>
                <a:cs typeface="Microsoft Sans Serif"/>
              </a:rPr>
              <a:t> </a:t>
            </a:r>
            <a:r>
              <a:rPr sz="2800" spc="-275" dirty="0">
                <a:latin typeface="Microsoft Sans Serif"/>
                <a:cs typeface="Microsoft Sans Serif"/>
              </a:rPr>
              <a:t>HDLs</a:t>
            </a:r>
            <a:r>
              <a:rPr sz="2800" spc="-270" dirty="0">
                <a:latin typeface="Microsoft Sans Serif"/>
                <a:cs typeface="Microsoft Sans Serif"/>
              </a:rPr>
              <a:t> </a:t>
            </a:r>
            <a:r>
              <a:rPr sz="2800" spc="-250" dirty="0">
                <a:latin typeface="Microsoft Sans Serif"/>
                <a:cs typeface="Microsoft Sans Serif"/>
              </a:rPr>
              <a:t>are</a:t>
            </a:r>
            <a:r>
              <a:rPr sz="2800" spc="-245" dirty="0">
                <a:latin typeface="Microsoft Sans Serif"/>
                <a:cs typeface="Microsoft Sans Serif"/>
              </a:rPr>
              <a:t> </a:t>
            </a:r>
            <a:r>
              <a:rPr sz="2800" spc="-120" dirty="0">
                <a:latin typeface="Microsoft Sans Serif"/>
                <a:cs typeface="Microsoft Sans Serif"/>
              </a:rPr>
              <a:t>Verilog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and</a:t>
            </a:r>
            <a:r>
              <a:rPr sz="2800" spc="-250" dirty="0">
                <a:latin typeface="Microsoft Sans Serif"/>
                <a:cs typeface="Microsoft Sans Serif"/>
              </a:rPr>
              <a:t> </a:t>
            </a:r>
            <a:r>
              <a:rPr sz="2800" spc="-130" dirty="0">
                <a:latin typeface="Microsoft Sans Serif"/>
                <a:cs typeface="Microsoft Sans Serif"/>
              </a:rPr>
              <a:t>VHDL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 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system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ig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6350" indent="-464820" algn="just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There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other,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limited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capability,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languages</a:t>
            </a:r>
            <a:r>
              <a:rPr sz="2800" spc="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such</a:t>
            </a:r>
            <a:r>
              <a:rPr sz="2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59" dirty="0">
                <a:solidFill>
                  <a:srgbClr val="006FC0"/>
                </a:solidFill>
                <a:latin typeface="Microsoft Sans Serif"/>
                <a:cs typeface="Microsoft Sans Serif"/>
              </a:rPr>
              <a:t>as </a:t>
            </a:r>
            <a:r>
              <a:rPr sz="2800" spc="-4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latin typeface="Microsoft Sans Serif"/>
                <a:cs typeface="Microsoft Sans Serif"/>
              </a:rPr>
              <a:t>ABEL, </a:t>
            </a:r>
            <a:r>
              <a:rPr sz="2800" spc="-250" dirty="0">
                <a:latin typeface="Microsoft Sans Serif"/>
                <a:cs typeface="Microsoft Sans Serif"/>
              </a:rPr>
              <a:t>CUPL,</a:t>
            </a:r>
            <a:r>
              <a:rPr sz="2800" spc="-245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and</a:t>
            </a:r>
            <a:r>
              <a:rPr sz="2800" spc="-250" dirty="0">
                <a:latin typeface="Microsoft Sans Serif"/>
                <a:cs typeface="Microsoft Sans Serif"/>
              </a:rPr>
              <a:t> </a:t>
            </a:r>
            <a:r>
              <a:rPr sz="2800" spc="-180" dirty="0">
                <a:latin typeface="Microsoft Sans Serif"/>
                <a:cs typeface="Microsoft Sans Serif"/>
              </a:rPr>
              <a:t>PALASM 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800" spc="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tailored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specifically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90" dirty="0">
                <a:latin typeface="Microsoft Sans Serif"/>
                <a:cs typeface="Microsoft Sans Serif"/>
              </a:rPr>
              <a:t>PALs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and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385" dirty="0">
                <a:latin typeface="Microsoft Sans Serif"/>
                <a:cs typeface="Microsoft Sans Serif"/>
              </a:rPr>
              <a:t>CP</a:t>
            </a:r>
            <a:r>
              <a:rPr sz="2800" spc="-300" dirty="0">
                <a:latin typeface="Microsoft Sans Serif"/>
                <a:cs typeface="Microsoft Sans Serif"/>
              </a:rPr>
              <a:t>L</a:t>
            </a:r>
            <a:r>
              <a:rPr sz="2800" spc="-459" dirty="0">
                <a:latin typeface="Microsoft Sans Serif"/>
                <a:cs typeface="Microsoft Sans Serif"/>
              </a:rPr>
              <a:t>D</a:t>
            </a:r>
            <a:r>
              <a:rPr sz="2800" spc="-305" dirty="0">
                <a:latin typeface="Microsoft Sans Serif"/>
                <a:cs typeface="Microsoft Sans Serif"/>
              </a:rPr>
              <a:t>s</a:t>
            </a:r>
            <a:r>
              <a:rPr sz="2800" spc="-16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39834" y="6643232"/>
            <a:ext cx="1504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5360" y="155460"/>
              <a:ext cx="7321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79905" y="289382"/>
            <a:ext cx="6577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I</a:t>
            </a:r>
            <a:r>
              <a:rPr spc="-240" dirty="0"/>
              <a:t>N</a:t>
            </a:r>
            <a:r>
              <a:rPr spc="-140" dirty="0"/>
              <a:t>TROD</a:t>
            </a:r>
            <a:r>
              <a:rPr spc="-130" dirty="0"/>
              <a:t>U</a:t>
            </a:r>
            <a:r>
              <a:rPr spc="-145" dirty="0"/>
              <a:t>CTIO</a:t>
            </a:r>
            <a:r>
              <a:rPr spc="-165" dirty="0"/>
              <a:t>N</a:t>
            </a:r>
            <a:r>
              <a:rPr spc="-60" dirty="0"/>
              <a:t> </a:t>
            </a:r>
            <a:r>
              <a:rPr spc="-254" dirty="0"/>
              <a:t>T</a:t>
            </a:r>
            <a:r>
              <a:rPr spc="-285" dirty="0"/>
              <a:t>O</a:t>
            </a:r>
            <a:r>
              <a:rPr spc="-15" dirty="0"/>
              <a:t> </a:t>
            </a:r>
            <a:r>
              <a:rPr spc="-245" dirty="0"/>
              <a:t>V</a:t>
            </a:r>
            <a:r>
              <a:rPr spc="-210" dirty="0"/>
              <a:t>E</a:t>
            </a:r>
            <a:r>
              <a:rPr spc="85" dirty="0"/>
              <a:t>R</a:t>
            </a:r>
            <a:r>
              <a:rPr spc="-100" dirty="0"/>
              <a:t>ILOG</a:t>
            </a:r>
            <a:r>
              <a:rPr spc="-40" dirty="0"/>
              <a:t> </a:t>
            </a:r>
            <a:r>
              <a:rPr spc="-80" dirty="0"/>
              <a:t>H</a:t>
            </a:r>
            <a:r>
              <a:rPr spc="55" dirty="0"/>
              <a:t>D</a:t>
            </a:r>
            <a:r>
              <a:rPr spc="-160" dirty="0"/>
              <a:t>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38173"/>
            <a:ext cx="837755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88900" indent="-464820" algn="just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75" dirty="0">
                <a:solidFill>
                  <a:srgbClr val="C00000"/>
                </a:solidFill>
                <a:latin typeface="Microsoft Sans Serif"/>
                <a:cs typeface="Microsoft Sans Serif"/>
              </a:rPr>
              <a:t>VERILOG </a:t>
            </a:r>
            <a:r>
              <a:rPr sz="2800" spc="-195" dirty="0">
                <a:solidFill>
                  <a:srgbClr val="C00000"/>
                </a:solidFill>
                <a:latin typeface="Microsoft Sans Serif"/>
                <a:cs typeface="Microsoft Sans Serif"/>
              </a:rPr>
              <a:t>HDL </a:t>
            </a:r>
            <a:r>
              <a:rPr sz="2800" spc="760" dirty="0">
                <a:solidFill>
                  <a:srgbClr val="006FC0"/>
                </a:solidFill>
                <a:latin typeface="Microsoft Sans Serif"/>
                <a:cs typeface="Microsoft Sans Serif"/>
              </a:rPr>
              <a:t>– </a:t>
            </a:r>
            <a:r>
              <a:rPr sz="2800" spc="-185" dirty="0">
                <a:solidFill>
                  <a:srgbClr val="C00000"/>
                </a:solidFill>
                <a:latin typeface="Microsoft Sans Serif"/>
                <a:cs typeface="Microsoft Sans Serif"/>
              </a:rPr>
              <a:t>VERI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fiable </a:t>
            </a:r>
            <a:r>
              <a:rPr sz="2800" spc="-135" dirty="0">
                <a:solidFill>
                  <a:srgbClr val="C00000"/>
                </a:solidFill>
                <a:latin typeface="Microsoft Sans Serif"/>
                <a:cs typeface="Microsoft Sans Serif"/>
              </a:rPr>
              <a:t>LOG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ic </a:t>
            </a:r>
            <a:r>
              <a:rPr sz="2800" spc="-145" dirty="0">
                <a:solidFill>
                  <a:srgbClr val="C00000"/>
                </a:solidFill>
                <a:latin typeface="Microsoft Sans Serif"/>
                <a:cs typeface="Microsoft Sans Serif"/>
              </a:rPr>
              <a:t>HDL: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Programming </a:t>
            </a:r>
            <a:r>
              <a:rPr sz="2800" spc="-7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language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circuits</a:t>
            </a:r>
            <a:r>
              <a:rPr sz="2800" spc="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systems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5715" indent="-464820" algn="just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It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most</a:t>
            </a:r>
            <a:r>
              <a:rPr sz="2800" spc="3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commonly</a:t>
            </a:r>
            <a:r>
              <a:rPr sz="28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800" spc="1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in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4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800" spc="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verification 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590" dirty="0">
                <a:solidFill>
                  <a:srgbClr val="006FC0"/>
                </a:solidFill>
                <a:latin typeface="Microsoft Sans Serif"/>
                <a:cs typeface="Microsoft Sans Serif"/>
              </a:rPr>
              <a:t>  </a:t>
            </a:r>
            <a:r>
              <a:rPr sz="2800" spc="5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</a:t>
            </a:r>
            <a:r>
              <a:rPr sz="2800" spc="45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16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circuits</a:t>
            </a:r>
            <a:r>
              <a:rPr sz="2800" spc="440" dirty="0">
                <a:solidFill>
                  <a:srgbClr val="006FC0"/>
                </a:solidFill>
                <a:latin typeface="Microsoft Sans Serif"/>
                <a:cs typeface="Microsoft Sans Serif"/>
              </a:rPr>
              <a:t>  </a:t>
            </a:r>
            <a:r>
              <a:rPr sz="2800" spc="4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800" spc="595" dirty="0">
                <a:solidFill>
                  <a:srgbClr val="006FC0"/>
                </a:solidFill>
                <a:latin typeface="Microsoft Sans Serif"/>
                <a:cs typeface="Microsoft Sans Serif"/>
              </a:rPr>
              <a:t>  </a:t>
            </a:r>
            <a:r>
              <a:rPr sz="2800" spc="6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595" dirty="0">
                <a:solidFill>
                  <a:srgbClr val="006FC0"/>
                </a:solidFill>
                <a:latin typeface="Microsoft Sans Serif"/>
                <a:cs typeface="Microsoft Sans Serif"/>
              </a:rPr>
              <a:t>  </a:t>
            </a:r>
            <a:r>
              <a:rPr sz="2800" spc="6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latin typeface="Microsoft Sans Serif"/>
                <a:cs typeface="Microsoft Sans Serif"/>
              </a:rPr>
              <a:t>register-transfer </a:t>
            </a:r>
            <a:r>
              <a:rPr sz="2800" spc="-180" dirty="0">
                <a:latin typeface="Microsoft Sans Serif"/>
                <a:cs typeface="Microsoft Sans Serif"/>
              </a:rPr>
              <a:t> </a:t>
            </a:r>
            <a:r>
              <a:rPr sz="2800" spc="-190" dirty="0">
                <a:latin typeface="Microsoft Sans Serif"/>
                <a:cs typeface="Microsoft Sans Serif"/>
              </a:rPr>
              <a:t>level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75" dirty="0">
                <a:latin typeface="Microsoft Sans Serif"/>
                <a:cs typeface="Microsoft Sans Serif"/>
              </a:rPr>
              <a:t>of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185" dirty="0">
                <a:latin typeface="Microsoft Sans Serif"/>
                <a:cs typeface="Microsoft Sans Serif"/>
              </a:rPr>
              <a:t>abstraction.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5080" indent="-464820" algn="just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It </a:t>
            </a:r>
            <a:r>
              <a:rPr sz="2800" spc="8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6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also</a:t>
            </a:r>
            <a:r>
              <a:rPr sz="2800" spc="6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800" spc="5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5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5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4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verification</a:t>
            </a:r>
            <a:r>
              <a:rPr sz="2800" spc="4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4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5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5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latin typeface="Microsoft Sans Serif"/>
                <a:cs typeface="Microsoft Sans Serif"/>
              </a:rPr>
              <a:t>analog </a:t>
            </a:r>
            <a:r>
              <a:rPr sz="2800" spc="-254" dirty="0">
                <a:latin typeface="Microsoft Sans Serif"/>
                <a:cs typeface="Microsoft Sans Serif"/>
              </a:rPr>
              <a:t> </a:t>
            </a:r>
            <a:r>
              <a:rPr sz="2800" spc="-95" dirty="0">
                <a:latin typeface="Microsoft Sans Serif"/>
                <a:cs typeface="Microsoft Sans Serif"/>
              </a:rPr>
              <a:t>ci</a:t>
            </a:r>
            <a:r>
              <a:rPr sz="2800" spc="-70" dirty="0">
                <a:latin typeface="Microsoft Sans Serif"/>
                <a:cs typeface="Microsoft Sans Serif"/>
              </a:rPr>
              <a:t>r</a:t>
            </a:r>
            <a:r>
              <a:rPr sz="2800" spc="-210" dirty="0">
                <a:latin typeface="Microsoft Sans Serif"/>
                <a:cs typeface="Microsoft Sans Serif"/>
              </a:rPr>
              <a:t>c</a:t>
            </a:r>
            <a:r>
              <a:rPr sz="2800" spc="-229" dirty="0">
                <a:latin typeface="Microsoft Sans Serif"/>
                <a:cs typeface="Microsoft Sans Serif"/>
              </a:rPr>
              <a:t>u</a:t>
            </a:r>
            <a:r>
              <a:rPr sz="2800" spc="10" dirty="0">
                <a:latin typeface="Microsoft Sans Serif"/>
                <a:cs typeface="Microsoft Sans Serif"/>
              </a:rPr>
              <a:t>i</a:t>
            </a:r>
            <a:r>
              <a:rPr sz="2800" spc="20" dirty="0">
                <a:latin typeface="Microsoft Sans Serif"/>
                <a:cs typeface="Microsoft Sans Serif"/>
              </a:rPr>
              <a:t>t</a:t>
            </a:r>
            <a:r>
              <a:rPr sz="2800" spc="-515" dirty="0">
                <a:latin typeface="Microsoft Sans Serif"/>
                <a:cs typeface="Microsoft Sans Serif"/>
              </a:rPr>
              <a:t>s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latin typeface="Microsoft Sans Serif"/>
                <a:cs typeface="Microsoft Sans Serif"/>
              </a:rPr>
              <a:t>and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160" dirty="0">
                <a:latin typeface="Microsoft Sans Serif"/>
                <a:cs typeface="Microsoft Sans Serif"/>
              </a:rPr>
              <a:t>mi</a:t>
            </a:r>
            <a:r>
              <a:rPr sz="2800" spc="-145" dirty="0">
                <a:latin typeface="Microsoft Sans Serif"/>
                <a:cs typeface="Microsoft Sans Serif"/>
              </a:rPr>
              <a:t>x</a:t>
            </a:r>
            <a:r>
              <a:rPr sz="2800" spc="-260" dirty="0">
                <a:latin typeface="Microsoft Sans Serif"/>
                <a:cs typeface="Microsoft Sans Serif"/>
              </a:rPr>
              <a:t>e</a:t>
            </a:r>
            <a:r>
              <a:rPr sz="2800" spc="-245" dirty="0">
                <a:latin typeface="Microsoft Sans Serif"/>
                <a:cs typeface="Microsoft Sans Serif"/>
              </a:rPr>
              <a:t>d</a:t>
            </a:r>
            <a:r>
              <a:rPr sz="2800" spc="-155" dirty="0">
                <a:latin typeface="Microsoft Sans Serif"/>
                <a:cs typeface="Microsoft Sans Serif"/>
              </a:rPr>
              <a:t>-</a:t>
            </a:r>
            <a:r>
              <a:rPr sz="2800" spc="-260" dirty="0">
                <a:latin typeface="Microsoft Sans Serif"/>
                <a:cs typeface="Microsoft Sans Serif"/>
              </a:rPr>
              <a:t>sig</a:t>
            </a:r>
            <a:r>
              <a:rPr sz="2800" spc="-325" dirty="0">
                <a:latin typeface="Microsoft Sans Serif"/>
                <a:cs typeface="Microsoft Sans Serif"/>
              </a:rPr>
              <a:t>n</a:t>
            </a:r>
            <a:r>
              <a:rPr sz="2800" spc="-215" dirty="0">
                <a:latin typeface="Microsoft Sans Serif"/>
                <a:cs typeface="Microsoft Sans Serif"/>
              </a:rPr>
              <a:t>al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circ</a:t>
            </a:r>
            <a:r>
              <a:rPr sz="2800" spc="-185" dirty="0">
                <a:latin typeface="Microsoft Sans Serif"/>
                <a:cs typeface="Microsoft Sans Serif"/>
              </a:rPr>
              <a:t>u</a:t>
            </a:r>
            <a:r>
              <a:rPr sz="2800" spc="-125" dirty="0">
                <a:latin typeface="Microsoft Sans Serif"/>
                <a:cs typeface="Microsoft Sans Serif"/>
              </a:rPr>
              <a:t>it</a:t>
            </a:r>
            <a:r>
              <a:rPr sz="2800" spc="-240" dirty="0">
                <a:latin typeface="Microsoft Sans Serif"/>
                <a:cs typeface="Microsoft Sans Serif"/>
              </a:rPr>
              <a:t>s</a:t>
            </a:r>
            <a:r>
              <a:rPr sz="2800" spc="-160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62865" indent="-464820" algn="just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tw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sed</a:t>
            </a:r>
            <a:r>
              <a:rPr sz="2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rs  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(a</a:t>
            </a:r>
            <a:r>
              <a:rPr sz="28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VH</a:t>
            </a:r>
            <a:r>
              <a:rPr sz="2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L)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65234" y="6643232"/>
            <a:ext cx="99695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3939" y="155460"/>
              <a:ext cx="7184135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48486" y="289382"/>
            <a:ext cx="6443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INTRODUCTIONTO</a:t>
            </a:r>
            <a:r>
              <a:rPr spc="-70" dirty="0"/>
              <a:t> </a:t>
            </a:r>
            <a:r>
              <a:rPr spc="-110" dirty="0"/>
              <a:t>VERILOG</a:t>
            </a:r>
            <a:r>
              <a:rPr spc="-30" dirty="0"/>
              <a:t> </a:t>
            </a:r>
            <a:r>
              <a:rPr spc="-65" dirty="0"/>
              <a:t>HDL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38173"/>
            <a:ext cx="8314055" cy="511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7520" indent="-46482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85" dirty="0">
                <a:latin typeface="Microsoft Sans Serif"/>
                <a:cs typeface="Microsoft Sans Serif"/>
              </a:rPr>
              <a:t>Similar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to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275" dirty="0">
                <a:latin typeface="Microsoft Sans Serif"/>
                <a:cs typeface="Microsoft Sans Serif"/>
              </a:rPr>
              <a:t>C/Pascal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programming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language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154940" indent="-46482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7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7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Modeling</a:t>
            </a:r>
            <a:r>
              <a:rPr sz="27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ranges</a:t>
            </a:r>
            <a:r>
              <a:rPr sz="27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from</a:t>
            </a:r>
            <a:r>
              <a:rPr sz="27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215" dirty="0">
                <a:latin typeface="Microsoft Sans Serif"/>
                <a:cs typeface="Microsoft Sans Serif"/>
              </a:rPr>
              <a:t>Gate</a:t>
            </a:r>
            <a:r>
              <a:rPr sz="2700" spc="20" dirty="0">
                <a:latin typeface="Microsoft Sans Serif"/>
                <a:cs typeface="Microsoft Sans Serif"/>
              </a:rPr>
              <a:t> </a:t>
            </a:r>
            <a:r>
              <a:rPr sz="2700" spc="-50" dirty="0">
                <a:latin typeface="Microsoft Sans Serif"/>
                <a:cs typeface="Microsoft Sans Serif"/>
              </a:rPr>
              <a:t>to</a:t>
            </a:r>
            <a:r>
              <a:rPr sz="2700" spc="35" dirty="0">
                <a:latin typeface="Microsoft Sans Serif"/>
                <a:cs typeface="Microsoft Sans Serif"/>
              </a:rPr>
              <a:t> </a:t>
            </a:r>
            <a:r>
              <a:rPr sz="2700" spc="-270" dirty="0">
                <a:latin typeface="Microsoft Sans Serif"/>
                <a:cs typeface="Microsoft Sans Serif"/>
              </a:rPr>
              <a:t>Processor</a:t>
            </a:r>
            <a:r>
              <a:rPr sz="2700" spc="30" dirty="0">
                <a:latin typeface="Microsoft Sans Serif"/>
                <a:cs typeface="Microsoft Sans Serif"/>
              </a:rPr>
              <a:t> </a:t>
            </a:r>
            <a:r>
              <a:rPr sz="2700" spc="-185" dirty="0">
                <a:latin typeface="Microsoft Sans Serif"/>
                <a:cs typeface="Microsoft Sans Serif"/>
              </a:rPr>
              <a:t>level</a:t>
            </a:r>
            <a:r>
              <a:rPr sz="2700" spc="70" dirty="0">
                <a:latin typeface="Microsoft Sans Serif"/>
                <a:cs typeface="Microsoft Sans Serif"/>
              </a:rPr>
              <a:t> </a:t>
            </a:r>
            <a:r>
              <a:rPr sz="27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and </a:t>
            </a:r>
            <a:r>
              <a:rPr sz="2700" spc="-7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7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provides</a:t>
            </a:r>
            <a:r>
              <a:rPr sz="27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flexibility</a:t>
            </a:r>
            <a:r>
              <a:rPr sz="27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7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creating</a:t>
            </a:r>
            <a:r>
              <a:rPr sz="27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7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defined</a:t>
            </a:r>
            <a:r>
              <a:rPr sz="27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primitives</a:t>
            </a:r>
            <a:endParaRPr sz="2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5080" indent="-46482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25" dirty="0">
                <a:latin typeface="Microsoft Sans Serif"/>
                <a:cs typeface="Microsoft Sans Serif"/>
              </a:rPr>
              <a:t>In-build </a:t>
            </a:r>
            <a:r>
              <a:rPr sz="2800" spc="-110" dirty="0">
                <a:latin typeface="Microsoft Sans Serif"/>
                <a:cs typeface="Microsoft Sans Serif"/>
              </a:rPr>
              <a:t>primitive </a:t>
            </a:r>
            <a:r>
              <a:rPr sz="2800" spc="-160" dirty="0">
                <a:latin typeface="Microsoft Sans Serif"/>
                <a:cs typeface="Microsoft Sans Serif"/>
              </a:rPr>
              <a:t>logic </a:t>
            </a:r>
            <a:r>
              <a:rPr sz="2800" spc="-315" dirty="0">
                <a:latin typeface="Microsoft Sans Serif"/>
                <a:cs typeface="Microsoft Sans Serif"/>
              </a:rPr>
              <a:t>gates</a:t>
            </a:r>
            <a:r>
              <a:rPr sz="2800" spc="-310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(AND,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OR,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NAND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etc)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 </a:t>
            </a:r>
            <a:r>
              <a:rPr sz="2800" spc="-7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44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lev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im</a:t>
            </a:r>
            <a:r>
              <a:rPr sz="2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tiv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gates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(nmo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cmos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etc)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476884" marR="252729" indent="-46482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-120" dirty="0">
                <a:latin typeface="Microsoft Sans Serif"/>
                <a:cs typeface="Microsoft Sans Serif"/>
              </a:rPr>
              <a:t>Verilog </a:t>
            </a:r>
            <a:r>
              <a:rPr sz="2800" spc="-220" dirty="0">
                <a:latin typeface="Microsoft Sans Serif"/>
                <a:cs typeface="Microsoft Sans Serif"/>
              </a:rPr>
              <a:t>versions:</a:t>
            </a:r>
            <a:r>
              <a:rPr sz="2800" spc="-215" dirty="0"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Verilog-95,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2001,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2005,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System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 </a:t>
            </a:r>
            <a:r>
              <a:rPr sz="2800" spc="-7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05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800" spc="-40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9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05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8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800" spc="-405" dirty="0">
                <a:solidFill>
                  <a:srgbClr val="006FC0"/>
                </a:solidFill>
                <a:latin typeface="Microsoft Sans Serif"/>
                <a:cs typeface="Microsoft Sans Serif"/>
              </a:rPr>
              <a:t>12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"/>
            </a:pPr>
            <a:endParaRPr sz="2950">
              <a:latin typeface="Microsoft Sans Serif"/>
              <a:cs typeface="Microsoft Sans Serif"/>
            </a:endParaRPr>
          </a:p>
          <a:p>
            <a:pPr marL="525780" indent="-513715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525780" algn="l"/>
                <a:tab pos="526415" algn="l"/>
              </a:tabLst>
            </a:pP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0" dirty="0">
                <a:latin typeface="Microsoft Sans Serif"/>
                <a:cs typeface="Microsoft Sans Serif"/>
              </a:rPr>
              <a:t>case-sensitive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file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extension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latin typeface="Microsoft Sans Serif"/>
                <a:cs typeface="Microsoft Sans Serif"/>
              </a:rPr>
              <a:t>.v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7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3939" y="155460"/>
              <a:ext cx="7184135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48486" y="289382"/>
            <a:ext cx="6443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INTRODUCTIONTO</a:t>
            </a:r>
            <a:r>
              <a:rPr spc="-70" dirty="0"/>
              <a:t> </a:t>
            </a:r>
            <a:r>
              <a:rPr spc="-110" dirty="0"/>
              <a:t>VERILOG</a:t>
            </a:r>
            <a:r>
              <a:rPr spc="-30" dirty="0"/>
              <a:t> </a:t>
            </a:r>
            <a:r>
              <a:rPr spc="-65" dirty="0"/>
              <a:t>HDL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01442" y="1138173"/>
            <a:ext cx="3298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0" dirty="0">
                <a:latin typeface="Microsoft Sans Serif"/>
                <a:cs typeface="Microsoft Sans Serif"/>
              </a:rPr>
              <a:t>Verilog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190" dirty="0">
                <a:latin typeface="Microsoft Sans Serif"/>
                <a:cs typeface="Microsoft Sans Serif"/>
              </a:rPr>
              <a:t>HDL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10" dirty="0">
                <a:latin typeface="Microsoft Sans Serif"/>
                <a:cs typeface="Microsoft Sans Serif"/>
              </a:rPr>
              <a:t>Simulators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8</a:t>
            </a:fld>
            <a:endParaRPr spc="-195" dirty="0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3444" y="1809953"/>
            <a:ext cx="2397760" cy="4080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96428"/>
              <a:buFont typeface="Wingdings"/>
              <a:buChar char=""/>
              <a:tabLst>
                <a:tab pos="330200" algn="l"/>
              </a:tabLst>
            </a:pP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Commercial: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845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Xilinx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ISE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845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Active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HDL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845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sim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845">
              <a:lnSpc>
                <a:spcPct val="100000"/>
              </a:lnSpc>
              <a:spcBef>
                <a:spcPts val="2350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Quartus-II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845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MP</a:t>
            </a:r>
            <a:r>
              <a:rPr sz="2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Sim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84575" y="1831289"/>
            <a:ext cx="2655570" cy="3354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96428"/>
              <a:buFont typeface="Wingdings"/>
              <a:buChar char=""/>
              <a:tabLst>
                <a:tab pos="330200" algn="l"/>
              </a:tabLst>
            </a:pP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Open</a:t>
            </a:r>
            <a:r>
              <a:rPr sz="2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sources: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210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Verilator,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210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Icaru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ver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210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GP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cver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210">
              <a:lnSpc>
                <a:spcPct val="100000"/>
              </a:lnSpc>
              <a:spcBef>
                <a:spcPts val="2350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VeriWell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8028" y="1907489"/>
            <a:ext cx="2508250" cy="2543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96428"/>
              <a:buFont typeface="Wingdings"/>
              <a:buChar char=""/>
              <a:tabLst>
                <a:tab pos="330200" algn="l"/>
              </a:tabLst>
            </a:pP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Online:</a:t>
            </a:r>
            <a:endParaRPr sz="2800">
              <a:latin typeface="Microsoft Sans Serif"/>
              <a:cs typeface="Microsoft Sans Serif"/>
            </a:endParaRPr>
          </a:p>
          <a:p>
            <a:pPr marL="752475" lvl="1" indent="-283210">
              <a:lnSpc>
                <a:spcPct val="100000"/>
              </a:lnSpc>
              <a:spcBef>
                <a:spcPts val="235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m,</a:t>
            </a:r>
            <a:endParaRPr sz="2800">
              <a:latin typeface="Microsoft Sans Serif"/>
              <a:cs typeface="Microsoft Sans Serif"/>
            </a:endParaRPr>
          </a:p>
          <a:p>
            <a:pPr marL="698500" marR="85090" lvl="1" indent="-228600">
              <a:lnSpc>
                <a:spcPct val="150100"/>
              </a:lnSpc>
              <a:spcBef>
                <a:spcPts val="670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753110" algn="l"/>
              </a:tabLst>
            </a:pPr>
            <a:r>
              <a:rPr sz="28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AP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ayg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 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und.com,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85229" y="4724476"/>
            <a:ext cx="2006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Ta</a:t>
            </a: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ang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EDA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9360" y="155460"/>
              <a:ext cx="414070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04286" y="289382"/>
            <a:ext cx="35337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VERILOG</a:t>
            </a:r>
            <a:r>
              <a:rPr spc="-65" dirty="0"/>
              <a:t> </a:t>
            </a:r>
            <a:r>
              <a:rPr spc="-80" dirty="0"/>
              <a:t>vs</a:t>
            </a:r>
            <a:r>
              <a:rPr spc="-40" dirty="0"/>
              <a:t> </a:t>
            </a:r>
            <a:r>
              <a:rPr spc="-130" dirty="0"/>
              <a:t>VHDL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6423" y="6556243"/>
              <a:ext cx="370331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9</a:t>
            </a:fld>
            <a:endParaRPr spc="-195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760253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0639" y="155460"/>
              <a:ext cx="651662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15186" y="289382"/>
            <a:ext cx="5908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S</a:t>
            </a:r>
            <a:r>
              <a:rPr spc="-175" dirty="0"/>
              <a:t>TR</a:t>
            </a:r>
            <a:r>
              <a:rPr spc="-170" dirty="0"/>
              <a:t>U</a:t>
            </a:r>
            <a:r>
              <a:rPr spc="-150" dirty="0"/>
              <a:t>CTUR</a:t>
            </a:r>
            <a:r>
              <a:rPr spc="-130" dirty="0"/>
              <a:t>E</a:t>
            </a:r>
            <a:r>
              <a:rPr spc="-45" dirty="0"/>
              <a:t> </a:t>
            </a:r>
            <a:r>
              <a:rPr spc="-185" dirty="0"/>
              <a:t>O</a:t>
            </a:r>
            <a:r>
              <a:rPr spc="-305" dirty="0"/>
              <a:t>F</a:t>
            </a:r>
            <a:r>
              <a:rPr spc="-30" dirty="0"/>
              <a:t> </a:t>
            </a:r>
            <a:r>
              <a:rPr spc="-245" dirty="0"/>
              <a:t>V</a:t>
            </a:r>
            <a:r>
              <a:rPr spc="-210" dirty="0"/>
              <a:t>E</a:t>
            </a:r>
            <a:r>
              <a:rPr spc="85" dirty="0"/>
              <a:t>R</a:t>
            </a:r>
            <a:r>
              <a:rPr spc="-100" dirty="0"/>
              <a:t>ILOG</a:t>
            </a:r>
            <a:r>
              <a:rPr spc="-25" dirty="0"/>
              <a:t> </a:t>
            </a:r>
            <a:r>
              <a:rPr spc="-80" dirty="0"/>
              <a:t>H</a:t>
            </a:r>
            <a:r>
              <a:rPr spc="55" dirty="0"/>
              <a:t>D</a:t>
            </a:r>
            <a:r>
              <a:rPr spc="-160" dirty="0"/>
              <a:t>L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81000" y="1600200"/>
            <a:ext cx="8768080" cy="5257800"/>
            <a:chOff x="381000" y="1600200"/>
            <a:chExt cx="8768080" cy="5257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1600200"/>
              <a:ext cx="8426196" cy="434340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10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4544" y="155460"/>
              <a:ext cx="65288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09089" y="289382"/>
            <a:ext cx="5922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A</a:t>
            </a:r>
            <a:r>
              <a:rPr spc="-5" dirty="0"/>
              <a:t> </a:t>
            </a:r>
            <a:r>
              <a:rPr spc="160" dirty="0"/>
              <a:t>S</a:t>
            </a:r>
            <a:r>
              <a:rPr spc="100" dirty="0"/>
              <a:t>I</a:t>
            </a:r>
            <a:r>
              <a:rPr spc="-65" dirty="0"/>
              <a:t>MP</a:t>
            </a:r>
            <a:r>
              <a:rPr spc="-45" dirty="0"/>
              <a:t>L</a:t>
            </a:r>
            <a:r>
              <a:rPr spc="-130" dirty="0"/>
              <a:t>E</a:t>
            </a:r>
            <a:r>
              <a:rPr spc="-35" dirty="0"/>
              <a:t> </a:t>
            </a:r>
            <a:r>
              <a:rPr spc="-245" dirty="0"/>
              <a:t>V</a:t>
            </a:r>
            <a:r>
              <a:rPr spc="-210" dirty="0"/>
              <a:t>E</a:t>
            </a:r>
            <a:r>
              <a:rPr spc="85" dirty="0"/>
              <a:t>R</a:t>
            </a:r>
            <a:r>
              <a:rPr spc="-100" dirty="0"/>
              <a:t>ILOG</a:t>
            </a:r>
            <a:r>
              <a:rPr spc="-35" dirty="0"/>
              <a:t> </a:t>
            </a:r>
            <a:r>
              <a:rPr spc="50" dirty="0"/>
              <a:t>P</a:t>
            </a:r>
            <a:r>
              <a:rPr spc="75" dirty="0"/>
              <a:t>R</a:t>
            </a:r>
            <a:r>
              <a:rPr spc="-155" dirty="0"/>
              <a:t>OGR</a:t>
            </a:r>
            <a:r>
              <a:rPr spc="-140" dirty="0"/>
              <a:t>A</a:t>
            </a:r>
            <a:r>
              <a:rPr spc="-40" dirty="0"/>
              <a:t>M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236208" y="3744442"/>
            <a:ext cx="2912745" cy="3114040"/>
            <a:chOff x="6236208" y="3744442"/>
            <a:chExt cx="2912745" cy="311404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4680" y="3787140"/>
              <a:ext cx="804697" cy="11094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26402" y="3826002"/>
              <a:ext cx="685800" cy="990600"/>
            </a:xfrm>
            <a:custGeom>
              <a:avLst/>
              <a:gdLst/>
              <a:ahLst/>
              <a:cxnLst/>
              <a:rect l="l" t="t" r="r" b="b"/>
              <a:pathLst>
                <a:path w="685800" h="990600">
                  <a:moveTo>
                    <a:pt x="342773" y="0"/>
                  </a:moveTo>
                  <a:lnTo>
                    <a:pt x="415617" y="14419"/>
                  </a:lnTo>
                  <a:lnTo>
                    <a:pt x="451122" y="31634"/>
                  </a:lnTo>
                  <a:lnTo>
                    <a:pt x="485514" y="54800"/>
                  </a:lnTo>
                  <a:lnTo>
                    <a:pt x="518416" y="83377"/>
                  </a:lnTo>
                  <a:lnTo>
                    <a:pt x="549452" y="116825"/>
                  </a:lnTo>
                  <a:lnTo>
                    <a:pt x="578246" y="154606"/>
                  </a:lnTo>
                  <a:lnTo>
                    <a:pt x="604422" y="196179"/>
                  </a:lnTo>
                  <a:lnTo>
                    <a:pt x="627603" y="241005"/>
                  </a:lnTo>
                  <a:lnTo>
                    <a:pt x="647413" y="288545"/>
                  </a:lnTo>
                  <a:lnTo>
                    <a:pt x="663476" y="338258"/>
                  </a:lnTo>
                  <a:lnTo>
                    <a:pt x="675415" y="389606"/>
                  </a:lnTo>
                  <a:lnTo>
                    <a:pt x="682855" y="442048"/>
                  </a:lnTo>
                  <a:lnTo>
                    <a:pt x="685419" y="495046"/>
                  </a:lnTo>
                  <a:lnTo>
                    <a:pt x="682855" y="547949"/>
                  </a:lnTo>
                  <a:lnTo>
                    <a:pt x="675415" y="600325"/>
                  </a:lnTo>
                  <a:lnTo>
                    <a:pt x="663476" y="651631"/>
                  </a:lnTo>
                  <a:lnTo>
                    <a:pt x="647413" y="701324"/>
                  </a:lnTo>
                  <a:lnTo>
                    <a:pt x="627603" y="748861"/>
                  </a:lnTo>
                  <a:lnTo>
                    <a:pt x="604422" y="793698"/>
                  </a:lnTo>
                  <a:lnTo>
                    <a:pt x="578246" y="835294"/>
                  </a:lnTo>
                  <a:lnTo>
                    <a:pt x="549452" y="873106"/>
                  </a:lnTo>
                  <a:lnTo>
                    <a:pt x="518416" y="906589"/>
                  </a:lnTo>
                  <a:lnTo>
                    <a:pt x="485514" y="935202"/>
                  </a:lnTo>
                  <a:lnTo>
                    <a:pt x="451122" y="958402"/>
                  </a:lnTo>
                  <a:lnTo>
                    <a:pt x="415617" y="975645"/>
                  </a:lnTo>
                  <a:lnTo>
                    <a:pt x="342773" y="990092"/>
                  </a:lnTo>
                  <a:lnTo>
                    <a:pt x="0" y="990092"/>
                  </a:lnTo>
                  <a:lnTo>
                    <a:pt x="0" y="0"/>
                  </a:lnTo>
                  <a:lnTo>
                    <a:pt x="342773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1968" y="4008137"/>
              <a:ext cx="481571" cy="1205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45402" y="4046982"/>
              <a:ext cx="381000" cy="1905"/>
            </a:xfrm>
            <a:custGeom>
              <a:avLst/>
              <a:gdLst/>
              <a:ahLst/>
              <a:cxnLst/>
              <a:rect l="l" t="t" r="r" b="b"/>
              <a:pathLst>
                <a:path w="381000" h="1904">
                  <a:moveTo>
                    <a:pt x="0" y="0"/>
                  </a:moveTo>
                  <a:lnTo>
                    <a:pt x="381000" y="1524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1968" y="4448573"/>
              <a:ext cx="481571" cy="1205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645402" y="4487418"/>
              <a:ext cx="381000" cy="1905"/>
            </a:xfrm>
            <a:custGeom>
              <a:avLst/>
              <a:gdLst/>
              <a:ahLst/>
              <a:cxnLst/>
              <a:rect l="l" t="t" r="r" b="b"/>
              <a:pathLst>
                <a:path w="381000" h="1904">
                  <a:moveTo>
                    <a:pt x="0" y="0"/>
                  </a:moveTo>
                  <a:lnTo>
                    <a:pt x="381000" y="152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8768" y="4227521"/>
              <a:ext cx="481571" cy="1219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12202" y="4266438"/>
              <a:ext cx="381000" cy="3175"/>
            </a:xfrm>
            <a:custGeom>
              <a:avLst/>
              <a:gdLst/>
              <a:ahLst/>
              <a:cxnLst/>
              <a:rect l="l" t="t" r="r" b="b"/>
              <a:pathLst>
                <a:path w="381000" h="3175">
                  <a:moveTo>
                    <a:pt x="0" y="0"/>
                  </a:moveTo>
                  <a:lnTo>
                    <a:pt x="381000" y="304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92596" y="3785616"/>
              <a:ext cx="379475" cy="47091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36208" y="3744442"/>
              <a:ext cx="492226" cy="61419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39840" y="3811270"/>
              <a:ext cx="289560" cy="37973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39825" y="1442973"/>
            <a:ext cx="146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279400" algn="l"/>
              </a:tabLst>
            </a:pPr>
            <a:r>
              <a:rPr sz="1800" spc="-60" dirty="0">
                <a:latin typeface="Microsoft Sans Serif"/>
                <a:cs typeface="Microsoft Sans Serif"/>
              </a:rPr>
              <a:t>Ver</a:t>
            </a:r>
            <a:r>
              <a:rPr sz="1800" spc="-20" dirty="0">
                <a:latin typeface="Microsoft Sans Serif"/>
                <a:cs typeface="Microsoft Sans Serif"/>
              </a:rPr>
              <a:t>i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165" dirty="0">
                <a:latin typeface="Microsoft Sans Serif"/>
                <a:cs typeface="Microsoft Sans Serif"/>
              </a:rPr>
              <a:t>og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90" dirty="0">
                <a:latin typeface="Microsoft Sans Serif"/>
                <a:cs typeface="Microsoft Sans Serif"/>
              </a:rPr>
              <a:t>C</a:t>
            </a:r>
            <a:r>
              <a:rPr sz="1800" spc="-145" dirty="0">
                <a:latin typeface="Microsoft Sans Serif"/>
                <a:cs typeface="Microsoft Sans Serif"/>
              </a:rPr>
              <a:t>ode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84340" y="3043554"/>
            <a:ext cx="884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279400" algn="l"/>
              </a:tabLst>
            </a:pPr>
            <a:r>
              <a:rPr sz="1800" spc="-190" dirty="0">
                <a:latin typeface="Microsoft Sans Serif"/>
                <a:cs typeface="Microsoft Sans Serif"/>
              </a:rPr>
              <a:t>C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65" dirty="0">
                <a:latin typeface="Microsoft Sans Serif"/>
                <a:cs typeface="Microsoft Sans Serif"/>
              </a:rPr>
              <a:t>r</a:t>
            </a:r>
            <a:r>
              <a:rPr sz="1800" spc="-100" dirty="0">
                <a:latin typeface="Microsoft Sans Serif"/>
                <a:cs typeface="Microsoft Sans Serif"/>
              </a:rPr>
              <a:t>c</a:t>
            </a:r>
            <a:r>
              <a:rPr sz="1800" spc="-135" dirty="0">
                <a:latin typeface="Microsoft Sans Serif"/>
                <a:cs typeface="Microsoft Sans Serif"/>
              </a:rPr>
              <a:t>u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2225" y="2446147"/>
            <a:ext cx="20281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simple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am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2225" y="3029838"/>
            <a:ext cx="21405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mo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ul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d2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,c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2225" y="3639692"/>
            <a:ext cx="10236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a,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b;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92225" y="4249292"/>
            <a:ext cx="922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tp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c;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2225" y="4858588"/>
            <a:ext cx="165671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b;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2225" y="5468823"/>
            <a:ext cx="11201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endmodule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39840" y="3810000"/>
            <a:ext cx="289560" cy="381000"/>
          </a:xfrm>
          <a:prstGeom prst="rect">
            <a:avLst/>
          </a:prstGeom>
          <a:ln w="10159">
            <a:solidFill>
              <a:srgbClr val="7C5F9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"/>
              </a:spcBef>
            </a:pPr>
            <a:r>
              <a:rPr sz="2000" spc="-28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20967" y="4277842"/>
            <a:ext cx="509270" cy="614680"/>
            <a:chOff x="6220967" y="4277842"/>
            <a:chExt cx="509270" cy="614680"/>
          </a:xfrm>
        </p:grpSpPr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78879" y="4319016"/>
              <a:ext cx="394754" cy="4709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20967" y="4277842"/>
              <a:ext cx="509003" cy="61419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26123" y="4344670"/>
              <a:ext cx="304800" cy="37973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326123" y="4343400"/>
            <a:ext cx="304800" cy="381000"/>
          </a:xfrm>
          <a:prstGeom prst="rect">
            <a:avLst/>
          </a:prstGeom>
          <a:ln w="10159">
            <a:solidFill>
              <a:srgbClr val="7C5F9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"/>
              </a:spcBef>
            </a:pPr>
            <a:r>
              <a:rPr sz="20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88807" y="3973042"/>
            <a:ext cx="492759" cy="614680"/>
            <a:chOff x="7988807" y="3973042"/>
            <a:chExt cx="492759" cy="614680"/>
          </a:xfrm>
        </p:grpSpPr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45195" y="4014216"/>
              <a:ext cx="379475" cy="47091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988807" y="3973042"/>
              <a:ext cx="492226" cy="61419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92439" y="4038600"/>
              <a:ext cx="289559" cy="3810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092439" y="4038600"/>
              <a:ext cx="289560" cy="381000"/>
            </a:xfrm>
            <a:custGeom>
              <a:avLst/>
              <a:gdLst/>
              <a:ahLst/>
              <a:cxnLst/>
              <a:rect l="l" t="t" r="r" b="b"/>
              <a:pathLst>
                <a:path w="289559" h="381000">
                  <a:moveTo>
                    <a:pt x="0" y="1524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524" y="0"/>
                  </a:lnTo>
                  <a:lnTo>
                    <a:pt x="288035" y="0"/>
                  </a:lnTo>
                  <a:lnTo>
                    <a:pt x="288925" y="0"/>
                  </a:lnTo>
                  <a:lnTo>
                    <a:pt x="289559" y="635"/>
                  </a:lnTo>
                  <a:lnTo>
                    <a:pt x="289559" y="1524"/>
                  </a:lnTo>
                  <a:lnTo>
                    <a:pt x="289559" y="379475"/>
                  </a:lnTo>
                  <a:lnTo>
                    <a:pt x="289559" y="380364"/>
                  </a:lnTo>
                  <a:lnTo>
                    <a:pt x="288925" y="381000"/>
                  </a:lnTo>
                  <a:lnTo>
                    <a:pt x="288035" y="381000"/>
                  </a:lnTo>
                  <a:lnTo>
                    <a:pt x="1524" y="381000"/>
                  </a:lnTo>
                  <a:lnTo>
                    <a:pt x="634" y="381000"/>
                  </a:lnTo>
                  <a:lnTo>
                    <a:pt x="0" y="380364"/>
                  </a:lnTo>
                  <a:lnTo>
                    <a:pt x="0" y="379475"/>
                  </a:lnTo>
                  <a:lnTo>
                    <a:pt x="0" y="1524"/>
                  </a:lnTo>
                  <a:close/>
                </a:path>
              </a:pathLst>
            </a:custGeom>
            <a:ln w="9525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092440" y="4038600"/>
            <a:ext cx="289560" cy="381000"/>
          </a:xfrm>
          <a:prstGeom prst="rect">
            <a:avLst/>
          </a:prstGeom>
          <a:ln w="10159">
            <a:solidFill>
              <a:srgbClr val="7C5F9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"/>
              </a:spcBef>
            </a:pPr>
            <a:r>
              <a:rPr sz="2000" spc="-17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576720" y="2676036"/>
            <a:ext cx="238125" cy="3101340"/>
            <a:chOff x="3576720" y="2676036"/>
            <a:chExt cx="238125" cy="3101340"/>
          </a:xfrm>
        </p:grpSpPr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76720" y="2676036"/>
              <a:ext cx="237579" cy="851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76720" y="3209436"/>
              <a:ext cx="237579" cy="851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76720" y="4091832"/>
              <a:ext cx="237579" cy="8517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76720" y="5082432"/>
              <a:ext cx="237579" cy="8517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576720" y="5692032"/>
              <a:ext cx="237579" cy="85204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3964685" y="2529331"/>
            <a:ext cx="1091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45" dirty="0">
                <a:solidFill>
                  <a:srgbClr val="C00000"/>
                </a:solidFill>
                <a:latin typeface="Microsoft Sans Serif"/>
                <a:cs typeface="Microsoft Sans Serif"/>
              </a:rPr>
              <a:t>c</a:t>
            </a:r>
            <a:r>
              <a:rPr sz="1600" spc="-95" dirty="0">
                <a:solidFill>
                  <a:srgbClr val="C00000"/>
                </a:solidFill>
                <a:latin typeface="Microsoft Sans Serif"/>
                <a:cs typeface="Microsoft Sans Serif"/>
              </a:rPr>
              <a:t>o</a:t>
            </a:r>
            <a:r>
              <a:rPr sz="1600" spc="-140" dirty="0">
                <a:solidFill>
                  <a:srgbClr val="C00000"/>
                </a:solidFill>
                <a:latin typeface="Microsoft Sans Serif"/>
                <a:cs typeface="Microsoft Sans Serif"/>
              </a:rPr>
              <a:t>mm</a:t>
            </a:r>
            <a:r>
              <a:rPr sz="1600" spc="-200" dirty="0">
                <a:solidFill>
                  <a:srgbClr val="C00000"/>
                </a:solidFill>
                <a:latin typeface="Microsoft Sans Serif"/>
                <a:cs typeface="Microsoft Sans Serif"/>
              </a:rPr>
              <a:t>e</a:t>
            </a:r>
            <a:r>
              <a:rPr sz="1600" spc="-65" dirty="0">
                <a:solidFill>
                  <a:srgbClr val="C00000"/>
                </a:solidFill>
                <a:latin typeface="Microsoft Sans Serif"/>
                <a:cs typeface="Microsoft Sans Serif"/>
              </a:rPr>
              <a:t>n</a:t>
            </a:r>
            <a:r>
              <a:rPr sz="1600" spc="-30" dirty="0">
                <a:solidFill>
                  <a:srgbClr val="C00000"/>
                </a:solidFill>
                <a:latin typeface="Microsoft Sans Serif"/>
                <a:cs typeface="Microsoft Sans Serif"/>
              </a:rPr>
              <a:t>t</a:t>
            </a:r>
            <a:r>
              <a:rPr sz="160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C00000"/>
                </a:solidFill>
                <a:latin typeface="Microsoft Sans Serif"/>
                <a:cs typeface="Microsoft Sans Serif"/>
              </a:rPr>
              <a:t>line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11</a:t>
            </a:fld>
            <a:endParaRPr spc="-195" dirty="0"/>
          </a:p>
        </p:txBody>
      </p:sp>
      <p:sp>
        <p:nvSpPr>
          <p:cNvPr id="61" name="object 6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3964685" y="3062731"/>
            <a:ext cx="1087755" cy="5080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0"/>
              </a:spcBef>
            </a:pPr>
            <a:r>
              <a:rPr sz="1600" spc="-140" dirty="0">
                <a:solidFill>
                  <a:srgbClr val="C00000"/>
                </a:solidFill>
                <a:latin typeface="Microsoft Sans Serif"/>
                <a:cs typeface="Microsoft Sans Serif"/>
              </a:rPr>
              <a:t>m</a:t>
            </a:r>
            <a:r>
              <a:rPr sz="1600" spc="-90" dirty="0">
                <a:solidFill>
                  <a:srgbClr val="C00000"/>
                </a:solidFill>
                <a:latin typeface="Microsoft Sans Serif"/>
                <a:cs typeface="Microsoft Sans Serif"/>
              </a:rPr>
              <a:t>o</a:t>
            </a:r>
            <a:r>
              <a:rPr sz="1600" spc="-95" dirty="0">
                <a:solidFill>
                  <a:srgbClr val="C00000"/>
                </a:solidFill>
                <a:latin typeface="Microsoft Sans Serif"/>
                <a:cs typeface="Microsoft Sans Serif"/>
              </a:rPr>
              <a:t>d</a:t>
            </a:r>
            <a:r>
              <a:rPr sz="1600" spc="-105" dirty="0">
                <a:solidFill>
                  <a:srgbClr val="C00000"/>
                </a:solidFill>
                <a:latin typeface="Microsoft Sans Serif"/>
                <a:cs typeface="Microsoft Sans Serif"/>
              </a:rPr>
              <a:t>ul</a:t>
            </a:r>
            <a:r>
              <a:rPr sz="1600" spc="-140" dirty="0">
                <a:solidFill>
                  <a:srgbClr val="C00000"/>
                </a:solidFill>
                <a:latin typeface="Microsoft Sans Serif"/>
                <a:cs typeface="Microsoft Sans Serif"/>
              </a:rPr>
              <a:t>e</a:t>
            </a:r>
            <a:r>
              <a:rPr sz="1600" spc="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600" spc="-180" dirty="0">
                <a:solidFill>
                  <a:srgbClr val="C00000"/>
                </a:solidFill>
                <a:latin typeface="Microsoft Sans Serif"/>
                <a:cs typeface="Microsoft Sans Serif"/>
              </a:rPr>
              <a:t>n</a:t>
            </a:r>
            <a:r>
              <a:rPr sz="1600" spc="-185" dirty="0">
                <a:solidFill>
                  <a:srgbClr val="C00000"/>
                </a:solidFill>
                <a:latin typeface="Microsoft Sans Serif"/>
                <a:cs typeface="Microsoft Sans Serif"/>
              </a:rPr>
              <a:t>a</a:t>
            </a:r>
            <a:r>
              <a:rPr sz="1600" spc="-120" dirty="0">
                <a:solidFill>
                  <a:srgbClr val="C00000"/>
                </a:solidFill>
                <a:latin typeface="Microsoft Sans Serif"/>
                <a:cs typeface="Microsoft Sans Serif"/>
              </a:rPr>
              <a:t>me  </a:t>
            </a:r>
            <a:r>
              <a:rPr sz="1600" spc="-40" dirty="0">
                <a:solidFill>
                  <a:srgbClr val="C00000"/>
                </a:solidFill>
                <a:latin typeface="Microsoft Sans Serif"/>
                <a:cs typeface="Microsoft Sans Serif"/>
              </a:rPr>
              <a:t>port</a:t>
            </a:r>
            <a:r>
              <a:rPr sz="16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C00000"/>
                </a:solidFill>
                <a:latin typeface="Microsoft Sans Serif"/>
                <a:cs typeface="Microsoft Sans Serif"/>
              </a:rPr>
              <a:t>list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64685" y="3945077"/>
            <a:ext cx="1334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rgbClr val="C00000"/>
                </a:solidFill>
                <a:latin typeface="Microsoft Sans Serif"/>
                <a:cs typeface="Microsoft Sans Serif"/>
              </a:rPr>
              <a:t>port</a:t>
            </a:r>
            <a:r>
              <a:rPr sz="1600" spc="-6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600" spc="-120" dirty="0">
                <a:solidFill>
                  <a:srgbClr val="C00000"/>
                </a:solidFill>
                <a:latin typeface="Microsoft Sans Serif"/>
                <a:cs typeface="Microsoft Sans Serif"/>
              </a:rPr>
              <a:t>declarations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64685" y="4936363"/>
            <a:ext cx="418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solidFill>
                  <a:srgbClr val="C00000"/>
                </a:solidFill>
                <a:latin typeface="Microsoft Sans Serif"/>
                <a:cs typeface="Microsoft Sans Serif"/>
              </a:rPr>
              <a:t>bo</a:t>
            </a:r>
            <a:r>
              <a:rPr sz="1600" spc="-100" dirty="0">
                <a:solidFill>
                  <a:srgbClr val="C00000"/>
                </a:solidFill>
                <a:latin typeface="Microsoft Sans Serif"/>
                <a:cs typeface="Microsoft Sans Serif"/>
              </a:rPr>
              <a:t>d</a:t>
            </a:r>
            <a:r>
              <a:rPr sz="1600" spc="-85" dirty="0">
                <a:solidFill>
                  <a:srgbClr val="C00000"/>
                </a:solidFill>
                <a:latin typeface="Microsoft Sans Serif"/>
                <a:cs typeface="Microsoft Sans Serif"/>
              </a:rPr>
              <a:t>y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64685" y="5545632"/>
            <a:ext cx="9544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45" dirty="0">
                <a:solidFill>
                  <a:srgbClr val="C00000"/>
                </a:solidFill>
                <a:latin typeface="Microsoft Sans Serif"/>
                <a:cs typeface="Microsoft Sans Serif"/>
              </a:rPr>
              <a:t>en</a:t>
            </a:r>
            <a:r>
              <a:rPr sz="1600" spc="-140" dirty="0">
                <a:solidFill>
                  <a:srgbClr val="C00000"/>
                </a:solidFill>
                <a:latin typeface="Microsoft Sans Serif"/>
                <a:cs typeface="Microsoft Sans Serif"/>
              </a:rPr>
              <a:t>d</a:t>
            </a:r>
            <a:r>
              <a:rPr sz="16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600" spc="-114" dirty="0">
                <a:solidFill>
                  <a:srgbClr val="C00000"/>
                </a:solidFill>
                <a:latin typeface="Microsoft Sans Serif"/>
                <a:cs typeface="Microsoft Sans Serif"/>
              </a:rPr>
              <a:t>mo</a:t>
            </a:r>
            <a:r>
              <a:rPr sz="1600" spc="-95" dirty="0">
                <a:solidFill>
                  <a:srgbClr val="C00000"/>
                </a:solidFill>
                <a:latin typeface="Microsoft Sans Serif"/>
                <a:cs typeface="Microsoft Sans Serif"/>
              </a:rPr>
              <a:t>d</a:t>
            </a:r>
            <a:r>
              <a:rPr sz="1600" spc="-120" dirty="0">
                <a:solidFill>
                  <a:srgbClr val="C00000"/>
                </a:solidFill>
                <a:latin typeface="Microsoft Sans Serif"/>
                <a:cs typeface="Microsoft Sans Serif"/>
              </a:rPr>
              <a:t>ule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12</a:t>
            </a:fld>
            <a:endParaRPr spc="-19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7664" y="155460"/>
              <a:ext cx="232257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712590" y="289382"/>
            <a:ext cx="17164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250" dirty="0"/>
              <a:t>U</a:t>
            </a:r>
            <a:r>
              <a:rPr spc="-150" dirty="0"/>
              <a:t>LE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138173"/>
            <a:ext cx="8376920" cy="4286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 algn="just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</a:tabLst>
            </a:pP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Modules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basic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building</a:t>
            </a:r>
            <a:r>
              <a:rPr sz="2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4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Verilog.</a:t>
            </a:r>
            <a:r>
              <a:rPr sz="2800" spc="4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135" dirty="0">
                <a:solidFill>
                  <a:srgbClr val="006FC0"/>
                </a:solidFill>
                <a:latin typeface="Microsoft Sans Serif"/>
                <a:cs typeface="Microsoft Sans Serif"/>
              </a:rPr>
              <a:t>A </a:t>
            </a:r>
            <a:r>
              <a:rPr sz="2800" spc="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definition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starts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315" dirty="0">
                <a:latin typeface="Arial"/>
                <a:cs typeface="Arial"/>
              </a:rPr>
              <a:t>module</a:t>
            </a:r>
            <a:r>
              <a:rPr sz="2800" b="1" spc="-310" dirty="0">
                <a:latin typeface="Arial"/>
                <a:cs typeface="Arial"/>
              </a:rPr>
              <a:t> 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ends </a:t>
            </a:r>
            <a:r>
              <a:rPr sz="2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325" dirty="0">
                <a:latin typeface="Arial"/>
                <a:cs typeface="Arial"/>
              </a:rPr>
              <a:t>endmodule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0000"/>
              </a:buClr>
              <a:buFont typeface="Wingdings"/>
              <a:buChar char=""/>
            </a:pPr>
            <a:endParaRPr sz="2150">
              <a:latin typeface="Arial"/>
              <a:cs typeface="Arial"/>
            </a:endParaRPr>
          </a:p>
          <a:p>
            <a:pPr marL="266700" marR="5972810" lvl="1" indent="-266700" algn="r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266700" algn="l"/>
              </a:tabLst>
            </a:pP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El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</a:pPr>
            <a:endParaRPr sz="2100">
              <a:latin typeface="Microsoft Sans Serif"/>
              <a:cs typeface="Microsoft Sans Serif"/>
            </a:endParaRPr>
          </a:p>
          <a:p>
            <a:pPr marL="913765" lvl="2" indent="-293370">
              <a:lnSpc>
                <a:spcPts val="2090"/>
              </a:lnSpc>
              <a:spcBef>
                <a:spcPts val="1460"/>
              </a:spcBef>
              <a:buClr>
                <a:srgbClr val="FF0000"/>
              </a:buClr>
              <a:buFont typeface="Times New Roman"/>
              <a:buChar char="—"/>
              <a:tabLst>
                <a:tab pos="914400" algn="l"/>
              </a:tabLst>
            </a:pP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co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port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endParaRPr sz="1800">
              <a:latin typeface="Microsoft Sans Serif"/>
              <a:cs typeface="Microsoft Sans Serif"/>
            </a:endParaRPr>
          </a:p>
          <a:p>
            <a:pPr marL="1955164">
              <a:lnSpc>
                <a:spcPts val="2090"/>
              </a:lnSpc>
            </a:pP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ete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dec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913765" marR="5990590" lvl="2" indent="-914400" algn="r">
              <a:lnSpc>
                <a:spcPct val="100000"/>
              </a:lnSpc>
              <a:buClr>
                <a:srgbClr val="FF0000"/>
              </a:buClr>
              <a:buFont typeface="Times New Roman"/>
              <a:buChar char="—"/>
              <a:tabLst>
                <a:tab pos="914400" algn="l"/>
              </a:tabLst>
            </a:pP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op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ad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180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Times New Roman"/>
              <a:buChar char="—"/>
            </a:pPr>
            <a:endParaRPr sz="1900">
              <a:latin typeface="Microsoft Sans Serif"/>
              <a:cs typeface="Microsoft Sans Serif"/>
            </a:endParaRPr>
          </a:p>
          <a:p>
            <a:pPr marL="913765" lvl="2" indent="-293370">
              <a:lnSpc>
                <a:spcPct val="100000"/>
              </a:lnSpc>
              <a:buClr>
                <a:srgbClr val="FF0000"/>
              </a:buClr>
              <a:buFont typeface="Times New Roman"/>
              <a:buChar char="—"/>
              <a:tabLst>
                <a:tab pos="914400" algn="l"/>
              </a:tabLst>
            </a:pP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body: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specification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internal</a:t>
            </a:r>
            <a:endParaRPr sz="1800">
              <a:latin typeface="Microsoft Sans Serif"/>
              <a:cs typeface="Microsoft Sans Serif"/>
            </a:endParaRPr>
          </a:p>
          <a:p>
            <a:pPr marL="1510030">
              <a:lnSpc>
                <a:spcPct val="100000"/>
              </a:lnSpc>
              <a:spcBef>
                <a:spcPts val="5"/>
              </a:spcBef>
            </a:pP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part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81955" y="2639567"/>
            <a:ext cx="3061970" cy="3900170"/>
            <a:chOff x="4981955" y="2639567"/>
            <a:chExt cx="3061970" cy="390017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81955" y="2639567"/>
              <a:ext cx="3061716" cy="38999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29199" y="2668269"/>
              <a:ext cx="2971800" cy="3807460"/>
            </a:xfrm>
            <a:prstGeom prst="rect">
              <a:avLst/>
            </a:prstGeom>
          </p:spPr>
        </p:pic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024120" y="2662237"/>
          <a:ext cx="2971800" cy="381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962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mod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u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le n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me</a:t>
                      </a:r>
                      <a:r>
                        <a:rPr sz="1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(port_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ist)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192405">
                        <a:lnSpc>
                          <a:spcPts val="2140"/>
                        </a:lnSpc>
                        <a:spcBef>
                          <a:spcPts val="655"/>
                        </a:spcBef>
                      </a:pPr>
                      <a:r>
                        <a:rPr sz="1800" spc="-45" dirty="0">
                          <a:latin typeface="Microsoft Sans Serif"/>
                          <a:cs typeface="Microsoft Sans Serif"/>
                        </a:rPr>
                        <a:t>port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35" dirty="0">
                          <a:latin typeface="Microsoft Sans Serif"/>
                          <a:cs typeface="Microsoft Sans Serif"/>
                        </a:rPr>
                        <a:t>declarations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  <a:p>
                      <a:pPr marL="192405">
                        <a:lnSpc>
                          <a:spcPts val="2140"/>
                        </a:lnSpc>
                      </a:pP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p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meter</a:t>
                      </a:r>
                      <a:r>
                        <a:rPr sz="18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lar</a:t>
                      </a:r>
                      <a:r>
                        <a:rPr sz="1800" spc="-15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800" spc="-5" dirty="0">
                          <a:latin typeface="Microsoft Sans Serif"/>
                          <a:cs typeface="Microsoft Sans Serif"/>
                        </a:rPr>
                        <a:t>tio</a:t>
                      </a:r>
                      <a:r>
                        <a:rPr sz="1800" spc="5" dirty="0"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1800" dirty="0">
                          <a:latin typeface="Microsoft Sans Serif"/>
                          <a:cs typeface="Microsoft Sans Serif"/>
                        </a:rPr>
                        <a:t>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`include</a:t>
                      </a: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20" dirty="0">
                          <a:latin typeface="Microsoft Sans Serif"/>
                          <a:cs typeface="Microsoft Sans Serif"/>
                        </a:rPr>
                        <a:t>directives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167005" marR="1221740">
                        <a:lnSpc>
                          <a:spcPts val="1880"/>
                        </a:lnSpc>
                        <a:spcBef>
                          <a:spcPts val="800"/>
                        </a:spcBef>
                      </a:pP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ari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bl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ati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ns  </a:t>
                      </a:r>
                      <a:r>
                        <a:rPr sz="1600" spc="-175" dirty="0">
                          <a:latin typeface="Microsoft Sans Serif"/>
                          <a:cs typeface="Microsoft Sans Serif"/>
                        </a:rPr>
                        <a:t>assignments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167005">
                        <a:lnSpc>
                          <a:spcPts val="1845"/>
                        </a:lnSpc>
                      </a:pP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w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-l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vel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ul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inst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nti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ti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167005">
                        <a:lnSpc>
                          <a:spcPts val="1950"/>
                        </a:lnSpc>
                      </a:pPr>
                      <a:r>
                        <a:rPr sz="1650" i="1" dirty="0">
                          <a:latin typeface="Arial"/>
                          <a:cs typeface="Arial"/>
                        </a:rPr>
                        <a:t>initi</a:t>
                      </a:r>
                      <a:r>
                        <a:rPr sz="165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50" i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50" i="1" dirty="0">
                          <a:latin typeface="Arial"/>
                          <a:cs typeface="Arial"/>
                        </a:rPr>
                        <a:t>lw</a:t>
                      </a:r>
                      <a:r>
                        <a:rPr sz="1650" i="1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50" i="1" spc="-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50" i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50" i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blocks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167005">
                        <a:lnSpc>
                          <a:spcPts val="1914"/>
                        </a:lnSpc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ta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an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16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fun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ti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438">
                <a:tc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spc="-135" dirty="0">
                          <a:latin typeface="Microsoft Sans Serif"/>
                          <a:cs typeface="Microsoft Sans Serif"/>
                        </a:rPr>
                        <a:t>endmodule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4485640" y="3561715"/>
            <a:ext cx="619760" cy="276860"/>
          </a:xfrm>
          <a:custGeom>
            <a:avLst/>
            <a:gdLst/>
            <a:ahLst/>
            <a:cxnLst/>
            <a:rect l="l" t="t" r="r" b="b"/>
            <a:pathLst>
              <a:path w="619760" h="276860">
                <a:moveTo>
                  <a:pt x="448981" y="53535"/>
                </a:moveTo>
                <a:lnTo>
                  <a:pt x="0" y="223012"/>
                </a:lnTo>
                <a:lnTo>
                  <a:pt x="20320" y="276606"/>
                </a:lnTo>
                <a:lnTo>
                  <a:pt x="469226" y="107112"/>
                </a:lnTo>
                <a:lnTo>
                  <a:pt x="448981" y="53535"/>
                </a:lnTo>
                <a:close/>
              </a:path>
              <a:path w="619760" h="276860">
                <a:moveTo>
                  <a:pt x="597808" y="43434"/>
                </a:moveTo>
                <a:lnTo>
                  <a:pt x="475742" y="43434"/>
                </a:lnTo>
                <a:lnTo>
                  <a:pt x="495935" y="97028"/>
                </a:lnTo>
                <a:lnTo>
                  <a:pt x="469226" y="107112"/>
                </a:lnTo>
                <a:lnTo>
                  <a:pt x="489458" y="160655"/>
                </a:lnTo>
                <a:lnTo>
                  <a:pt x="597808" y="43434"/>
                </a:lnTo>
                <a:close/>
              </a:path>
              <a:path w="619760" h="276860">
                <a:moveTo>
                  <a:pt x="475742" y="43434"/>
                </a:moveTo>
                <a:lnTo>
                  <a:pt x="448981" y="53535"/>
                </a:lnTo>
                <a:lnTo>
                  <a:pt x="469226" y="107112"/>
                </a:lnTo>
                <a:lnTo>
                  <a:pt x="495935" y="97028"/>
                </a:lnTo>
                <a:lnTo>
                  <a:pt x="475742" y="43434"/>
                </a:lnTo>
                <a:close/>
              </a:path>
              <a:path w="619760" h="276860">
                <a:moveTo>
                  <a:pt x="428751" y="0"/>
                </a:moveTo>
                <a:lnTo>
                  <a:pt x="448981" y="53535"/>
                </a:lnTo>
                <a:lnTo>
                  <a:pt x="475742" y="43434"/>
                </a:lnTo>
                <a:lnTo>
                  <a:pt x="597808" y="43434"/>
                </a:lnTo>
                <a:lnTo>
                  <a:pt x="619760" y="19685"/>
                </a:lnTo>
                <a:lnTo>
                  <a:pt x="428751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43428" y="4131944"/>
            <a:ext cx="1986280" cy="1287145"/>
          </a:xfrm>
          <a:custGeom>
            <a:avLst/>
            <a:gdLst/>
            <a:ahLst/>
            <a:cxnLst/>
            <a:rect l="l" t="t" r="r" b="b"/>
            <a:pathLst>
              <a:path w="1986279" h="1287145">
                <a:moveTo>
                  <a:pt x="1909572" y="57531"/>
                </a:moveTo>
                <a:lnTo>
                  <a:pt x="1891779" y="51943"/>
                </a:lnTo>
                <a:lnTo>
                  <a:pt x="1726438" y="0"/>
                </a:lnTo>
                <a:lnTo>
                  <a:pt x="1735493" y="56502"/>
                </a:lnTo>
                <a:lnTo>
                  <a:pt x="0" y="335661"/>
                </a:lnTo>
                <a:lnTo>
                  <a:pt x="9144" y="392176"/>
                </a:lnTo>
                <a:lnTo>
                  <a:pt x="1744548" y="113004"/>
                </a:lnTo>
                <a:lnTo>
                  <a:pt x="1753616" y="169545"/>
                </a:lnTo>
                <a:lnTo>
                  <a:pt x="1909572" y="57531"/>
                </a:lnTo>
                <a:close/>
              </a:path>
              <a:path w="1986279" h="1287145">
                <a:moveTo>
                  <a:pt x="1985772" y="1278255"/>
                </a:moveTo>
                <a:lnTo>
                  <a:pt x="1959406" y="1246251"/>
                </a:lnTo>
                <a:lnTo>
                  <a:pt x="1863725" y="1130046"/>
                </a:lnTo>
                <a:lnTo>
                  <a:pt x="1840509" y="1182319"/>
                </a:lnTo>
                <a:lnTo>
                  <a:pt x="1311656" y="947293"/>
                </a:lnTo>
                <a:lnTo>
                  <a:pt x="1288288" y="999617"/>
                </a:lnTo>
                <a:lnTo>
                  <a:pt x="1817255" y="1234643"/>
                </a:lnTo>
                <a:lnTo>
                  <a:pt x="1794002" y="1287018"/>
                </a:lnTo>
                <a:lnTo>
                  <a:pt x="1985772" y="1278255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13</a:t>
            </a:fld>
            <a:endParaRPr spc="-195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2095" y="155460"/>
              <a:ext cx="4553711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96642" y="289382"/>
            <a:ext cx="39484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</a:t>
            </a:r>
            <a:r>
              <a:rPr spc="-95" dirty="0"/>
              <a:t>O</a:t>
            </a:r>
            <a:r>
              <a:rPr spc="55" dirty="0"/>
              <a:t>D</a:t>
            </a:r>
            <a:r>
              <a:rPr spc="-250" dirty="0"/>
              <a:t>U</a:t>
            </a:r>
            <a:r>
              <a:rPr spc="-150" dirty="0"/>
              <a:t>LE</a:t>
            </a:r>
            <a:r>
              <a:rPr spc="-25" dirty="0"/>
              <a:t> </a:t>
            </a:r>
            <a:r>
              <a:rPr spc="-409" dirty="0"/>
              <a:t>-</a:t>
            </a:r>
            <a:r>
              <a:rPr spc="-10" dirty="0"/>
              <a:t> </a:t>
            </a:r>
            <a:r>
              <a:rPr spc="-120" dirty="0"/>
              <a:t>E</a:t>
            </a:r>
            <a:r>
              <a:rPr spc="-90" dirty="0"/>
              <a:t>X</a:t>
            </a:r>
            <a:r>
              <a:rPr spc="-170" dirty="0"/>
              <a:t>A</a:t>
            </a:r>
            <a:r>
              <a:rPr spc="-185" dirty="0"/>
              <a:t>M</a:t>
            </a:r>
            <a:r>
              <a:rPr spc="-90" dirty="0"/>
              <a:t>PLE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483861" y="1067561"/>
            <a:ext cx="4665345" cy="5790565"/>
            <a:chOff x="4483861" y="1067561"/>
            <a:chExt cx="4665345" cy="579056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96561" y="1067561"/>
              <a:ext cx="0" cy="5029200"/>
            </a:xfrm>
            <a:custGeom>
              <a:avLst/>
              <a:gdLst/>
              <a:ahLst/>
              <a:cxnLst/>
              <a:rect l="l" t="t" r="r" b="b"/>
              <a:pathLst>
                <a:path h="5029200">
                  <a:moveTo>
                    <a:pt x="0" y="502920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9740" y="1512773"/>
            <a:ext cx="3188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32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en</a:t>
            </a:r>
            <a:r>
              <a:rPr sz="32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3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ra</a:t>
            </a:r>
            <a:r>
              <a:rPr sz="3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32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32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32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3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finiti</a:t>
            </a:r>
            <a:r>
              <a:rPr sz="3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3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14</a:t>
            </a:fld>
            <a:endParaRPr spc="-195" dirty="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9740" y="2350134"/>
            <a:ext cx="3158490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</a:pPr>
            <a:r>
              <a:rPr sz="1800" b="1" spc="-24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1800" b="1" spc="-200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1800" b="1" spc="-22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e_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port_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li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); 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declarations;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spc="780" dirty="0">
                <a:solidFill>
                  <a:srgbClr val="006FC0"/>
                </a:solidFill>
                <a:latin typeface="Microsoft Sans Serif"/>
                <a:cs typeface="Microsoft Sans Serif"/>
              </a:rPr>
              <a:t>…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spc="780" dirty="0">
                <a:solidFill>
                  <a:srgbClr val="006FC0"/>
                </a:solidFill>
                <a:latin typeface="Microsoft Sans Serif"/>
                <a:cs typeface="Microsoft Sans Serif"/>
              </a:rPr>
              <a:t>…</a:t>
            </a:r>
            <a:endParaRPr sz="1800">
              <a:latin typeface="Microsoft Sans Serif"/>
              <a:cs typeface="Microsoft Sans Serif"/>
            </a:endParaRPr>
          </a:p>
          <a:p>
            <a:pPr marL="12700" marR="770890" indent="342900">
              <a:lnSpc>
                <a:spcPct val="120000"/>
              </a:lnSpc>
            </a:pP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es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pti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or  </a:t>
            </a:r>
            <a:r>
              <a:rPr sz="1800" b="1" spc="-204" dirty="0">
                <a:solidFill>
                  <a:srgbClr val="006FC0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27575" y="1812607"/>
            <a:ext cx="3438525" cy="29895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35"/>
              </a:spcBef>
              <a:buClr>
                <a:srgbClr val="B9B600"/>
              </a:buClr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sz="1800" b="1" spc="-240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6FC0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fAdde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(A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B,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); 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A,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B;</a:t>
            </a:r>
            <a:endParaRPr sz="1800">
              <a:latin typeface="Microsoft Sans Serif"/>
              <a:cs typeface="Microsoft Sans Serif"/>
            </a:endParaRPr>
          </a:p>
          <a:p>
            <a:pPr marL="12700" marR="1640205">
              <a:lnSpc>
                <a:spcPct val="120000"/>
              </a:lnSpc>
            </a:pP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tp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Su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Su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^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//^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denotes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XOR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 marR="1762125">
              <a:lnSpc>
                <a:spcPct val="120000"/>
              </a:lnSpc>
            </a:pPr>
            <a:r>
              <a:rPr sz="1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otes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ND  </a:t>
            </a:r>
            <a:r>
              <a:rPr sz="1800" b="1" spc="-204" dirty="0">
                <a:solidFill>
                  <a:srgbClr val="006FC0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9876" y="155460"/>
              <a:ext cx="197967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84803" y="289382"/>
            <a:ext cx="1376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</a:t>
            </a:r>
            <a:r>
              <a:rPr spc="-70" dirty="0"/>
              <a:t>O</a:t>
            </a:r>
            <a:r>
              <a:rPr spc="85" dirty="0"/>
              <a:t>R</a:t>
            </a:r>
            <a:r>
              <a:rPr spc="-105" dirty="0"/>
              <a:t>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0" y="1138173"/>
            <a:ext cx="83775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884" marR="5080" indent="-46482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  <a:tab pos="1306195" algn="l"/>
                <a:tab pos="2716530" algn="l"/>
                <a:tab pos="4231640" algn="l"/>
                <a:tab pos="5561965" algn="l"/>
                <a:tab pos="6613525" algn="l"/>
                <a:tab pos="7897495" algn="l"/>
              </a:tabLst>
            </a:pP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ovides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interfa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throug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whic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dule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can 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co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un</a:t>
            </a:r>
            <a:r>
              <a:rPr sz="2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cate</a:t>
            </a: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env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nme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540" y="2205354"/>
            <a:ext cx="8375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6580" indent="-56388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575945" algn="l"/>
                <a:tab pos="576580" algn="l"/>
                <a:tab pos="1372235" algn="l"/>
                <a:tab pos="3075940" algn="l"/>
                <a:tab pos="4034790" algn="l"/>
                <a:tab pos="5154930" algn="l"/>
                <a:tab pos="6482715" algn="l"/>
                <a:tab pos="7602855" algn="l"/>
              </a:tabLst>
            </a:pP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onnect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rule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outputs,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outs,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dth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540" y="2418593"/>
            <a:ext cx="8376284" cy="173228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76884">
              <a:lnSpc>
                <a:spcPct val="100000"/>
              </a:lnSpc>
              <a:spcBef>
                <a:spcPts val="1775"/>
              </a:spcBef>
            </a:pP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ma</a:t>
            </a:r>
            <a:r>
              <a:rPr sz="2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co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necte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rts</a:t>
            </a:r>
            <a:endParaRPr sz="2800">
              <a:latin typeface="Microsoft Sans Serif"/>
              <a:cs typeface="Microsoft Sans Serif"/>
            </a:endParaRPr>
          </a:p>
          <a:p>
            <a:pPr marL="476884" marR="5080" indent="-464820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Font typeface="Wingdings"/>
              <a:buChar char=""/>
              <a:tabLst>
                <a:tab pos="476884" algn="l"/>
                <a:tab pos="477520" algn="l"/>
              </a:tabLst>
            </a:pP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800" spc="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ports</a:t>
            </a:r>
            <a:r>
              <a:rPr sz="2800" spc="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800" spc="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&lt;port_list&gt;</a:t>
            </a:r>
            <a:r>
              <a:rPr sz="2800" spc="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800" spc="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be  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2800" spc="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module. </a:t>
            </a:r>
            <a:r>
              <a:rPr sz="2800" spc="-7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ca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dec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ared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60" dirty="0">
                <a:solidFill>
                  <a:srgbClr val="006FC0"/>
                </a:solidFill>
                <a:latin typeface="Microsoft Sans Serif"/>
                <a:cs typeface="Microsoft Sans Serif"/>
              </a:rPr>
              <a:t>as,</a:t>
            </a:r>
            <a:endParaRPr sz="28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53711" y="3810000"/>
            <a:ext cx="4595495" cy="3048000"/>
            <a:chOff x="4553711" y="3810000"/>
            <a:chExt cx="4595495" cy="304800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53711" y="3810000"/>
              <a:ext cx="3904488" cy="255270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15</a:t>
            </a:fld>
            <a:endParaRPr spc="-195" dirty="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4307" y="155460"/>
              <a:ext cx="4210812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68854" y="289382"/>
            <a:ext cx="3604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P</a:t>
            </a:r>
            <a:r>
              <a:rPr spc="-185" dirty="0"/>
              <a:t>O</a:t>
            </a:r>
            <a:r>
              <a:rPr spc="90" dirty="0"/>
              <a:t>R</a:t>
            </a:r>
            <a:r>
              <a:rPr spc="-114" dirty="0"/>
              <a:t>T</a:t>
            </a:r>
            <a:r>
              <a:rPr spc="-95" dirty="0"/>
              <a:t>S</a:t>
            </a:r>
            <a:r>
              <a:rPr spc="-50" dirty="0"/>
              <a:t> </a:t>
            </a:r>
            <a:r>
              <a:rPr spc="-409" dirty="0"/>
              <a:t>-</a:t>
            </a:r>
            <a:r>
              <a:rPr spc="-10" dirty="0"/>
              <a:t> </a:t>
            </a:r>
            <a:r>
              <a:rPr spc="-125" dirty="0"/>
              <a:t>E</a:t>
            </a:r>
            <a:r>
              <a:rPr spc="-95" dirty="0"/>
              <a:t>X</a:t>
            </a:r>
            <a:r>
              <a:rPr spc="-170" dirty="0"/>
              <a:t>A</a:t>
            </a:r>
            <a:r>
              <a:rPr spc="-185" dirty="0"/>
              <a:t>M</a:t>
            </a:r>
            <a:r>
              <a:rPr spc="-90" dirty="0"/>
              <a:t>PLE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39825" y="1138173"/>
            <a:ext cx="146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279400" algn="l"/>
              </a:tabLst>
            </a:pP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Ver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og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ode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98514" y="1138173"/>
            <a:ext cx="884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279400" algn="l"/>
              </a:tabLst>
            </a:pP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8825" y="1615185"/>
            <a:ext cx="450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module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MAT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(enable,</a:t>
            </a:r>
            <a:r>
              <a:rPr sz="18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data,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all_zero,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result,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status);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7124" y="2283916"/>
            <a:ext cx="393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[3:0]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8825" y="1873137"/>
            <a:ext cx="614045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5099"/>
              </a:lnSpc>
              <a:spcBef>
                <a:spcPts val="95"/>
              </a:spcBef>
            </a:pPr>
            <a:r>
              <a:rPr sz="18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input 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input 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tp</a:t>
            </a:r>
            <a:r>
              <a:rPr sz="18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8825" y="2970403"/>
            <a:ext cx="1106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output</a:t>
            </a:r>
            <a:r>
              <a:rPr sz="1800" spc="4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AF50"/>
                </a:solidFill>
                <a:latin typeface="Microsoft Sans Serif"/>
                <a:cs typeface="Microsoft Sans Serif"/>
              </a:rPr>
              <a:t>[2:0]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5391" y="1873137"/>
            <a:ext cx="848994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4295">
              <a:lnSpc>
                <a:spcPct val="125000"/>
              </a:lnSpc>
              <a:spcBef>
                <a:spcPts val="95"/>
              </a:spcBef>
            </a:pP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enable;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data; </a:t>
            </a:r>
            <a:r>
              <a:rPr sz="18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all_zero; 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result; </a:t>
            </a:r>
            <a:r>
              <a:rPr sz="1800" spc="-9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AF50"/>
                </a:solidFill>
                <a:latin typeface="Microsoft Sans Serif"/>
                <a:cs typeface="Microsoft Sans Serif"/>
              </a:rPr>
              <a:t>status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72621" y="1873137"/>
            <a:ext cx="1837055" cy="17399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635"/>
              </a:spcBef>
            </a:pPr>
            <a:r>
              <a:rPr sz="1800" spc="145" dirty="0">
                <a:solidFill>
                  <a:srgbClr val="00AF50"/>
                </a:solidFill>
                <a:latin typeface="Microsoft Sans Serif"/>
                <a:cs typeface="Microsoft Sans Serif"/>
              </a:rPr>
              <a:t>//</a:t>
            </a:r>
            <a:r>
              <a:rPr sz="18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35" dirty="0">
                <a:solidFill>
                  <a:srgbClr val="00AF50"/>
                </a:solidFill>
                <a:latin typeface="Microsoft Sans Serif"/>
                <a:cs typeface="Microsoft Sans Serif"/>
              </a:rPr>
              <a:t>sc</a:t>
            </a:r>
            <a:r>
              <a:rPr sz="1800" spc="-27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26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r</a:t>
            </a:r>
            <a:r>
              <a:rPr sz="1800" spc="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n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p</a:t>
            </a:r>
            <a:r>
              <a:rPr sz="18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  <a:p>
            <a:pPr marL="134620">
              <a:lnSpc>
                <a:spcPct val="100000"/>
              </a:lnSpc>
              <a:spcBef>
                <a:spcPts val="540"/>
              </a:spcBef>
            </a:pPr>
            <a:r>
              <a:rPr sz="1800" spc="145" dirty="0">
                <a:solidFill>
                  <a:srgbClr val="00AF50"/>
                </a:solidFill>
                <a:latin typeface="Microsoft Sans Serif"/>
                <a:cs typeface="Microsoft Sans Serif"/>
              </a:rPr>
              <a:t>//</a:t>
            </a:r>
            <a:r>
              <a:rPr sz="18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vector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input</a:t>
            </a:r>
            <a:endParaRPr sz="1800">
              <a:latin typeface="Microsoft Sans Serif"/>
              <a:cs typeface="Microsoft Sans Serif"/>
            </a:endParaRPr>
          </a:p>
          <a:p>
            <a:pPr marL="141605">
              <a:lnSpc>
                <a:spcPct val="100000"/>
              </a:lnSpc>
              <a:spcBef>
                <a:spcPts val="545"/>
              </a:spcBef>
            </a:pPr>
            <a:r>
              <a:rPr sz="1800" spc="145" dirty="0">
                <a:solidFill>
                  <a:srgbClr val="00AF50"/>
                </a:solidFill>
                <a:latin typeface="Microsoft Sans Serif"/>
                <a:cs typeface="Microsoft Sans Serif"/>
              </a:rPr>
              <a:t>//</a:t>
            </a:r>
            <a:r>
              <a:rPr sz="18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35" dirty="0">
                <a:solidFill>
                  <a:srgbClr val="00AF50"/>
                </a:solidFill>
                <a:latin typeface="Microsoft Sans Serif"/>
                <a:cs typeface="Microsoft Sans Serif"/>
              </a:rPr>
              <a:t>sc</a:t>
            </a:r>
            <a:r>
              <a:rPr sz="1800" spc="-27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26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r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tp</a:t>
            </a:r>
            <a:r>
              <a:rPr sz="18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  <a:p>
            <a:pPr marL="53340">
              <a:lnSpc>
                <a:spcPct val="100000"/>
              </a:lnSpc>
              <a:spcBef>
                <a:spcPts val="540"/>
              </a:spcBef>
            </a:pPr>
            <a:r>
              <a:rPr sz="1800" spc="145" dirty="0">
                <a:solidFill>
                  <a:srgbClr val="00AF50"/>
                </a:solidFill>
                <a:latin typeface="Microsoft Sans Serif"/>
                <a:cs typeface="Microsoft Sans Serif"/>
              </a:rPr>
              <a:t>//</a:t>
            </a:r>
            <a:r>
              <a:rPr sz="18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ve</a:t>
            </a:r>
            <a:r>
              <a:rPr sz="1800" spc="-170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800" spc="-30" dirty="0">
                <a:solidFill>
                  <a:srgbClr val="00AF50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00AF50"/>
                </a:solidFill>
                <a:latin typeface="Microsoft Sans Serif"/>
                <a:cs typeface="Microsoft Sans Serif"/>
              </a:rPr>
              <a:t>r</a:t>
            </a:r>
            <a:r>
              <a:rPr sz="18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tp</a:t>
            </a:r>
            <a:r>
              <a:rPr sz="18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00" spc="145" dirty="0">
                <a:solidFill>
                  <a:srgbClr val="00AF50"/>
                </a:solidFill>
                <a:latin typeface="Microsoft Sans Serif"/>
                <a:cs typeface="Microsoft Sans Serif"/>
              </a:rPr>
              <a:t>//</a:t>
            </a:r>
            <a:r>
              <a:rPr sz="18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b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i</a:t>
            </a:r>
            <a:r>
              <a:rPr sz="18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-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di</a:t>
            </a:r>
            <a:r>
              <a:rPr sz="18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re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8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ti</a:t>
            </a:r>
            <a:r>
              <a:rPr sz="1800" spc="-45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8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AF50"/>
                </a:solidFill>
                <a:latin typeface="Microsoft Sans Serif"/>
                <a:cs typeface="Microsoft Sans Serif"/>
              </a:rPr>
              <a:t>port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8825" y="3244723"/>
            <a:ext cx="1051560" cy="7112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671830" algn="l"/>
              </a:tabLst>
            </a:pPr>
            <a:r>
              <a:rPr sz="1800" spc="-90" dirty="0">
                <a:solidFill>
                  <a:srgbClr val="00AF50"/>
                </a:solidFill>
                <a:latin typeface="Microsoft Sans Serif"/>
                <a:cs typeface="Microsoft Sans Serif"/>
              </a:rPr>
              <a:t>Ino</a:t>
            </a:r>
            <a:r>
              <a:rPr sz="18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	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[</a:t>
            </a:r>
            <a:r>
              <a:rPr sz="1800" spc="-150" dirty="0">
                <a:solidFill>
                  <a:srgbClr val="00AF50"/>
                </a:solidFill>
                <a:latin typeface="Microsoft Sans Serif"/>
                <a:cs typeface="Microsoft Sans Serif"/>
              </a:rPr>
              <a:t>1:0]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800" spc="780" dirty="0">
                <a:solidFill>
                  <a:srgbClr val="00AF50"/>
                </a:solidFill>
                <a:latin typeface="Microsoft Sans Serif"/>
                <a:cs typeface="Microsoft Sans Serif"/>
              </a:rPr>
              <a:t>……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19837" y="2205037"/>
            <a:ext cx="771525" cy="1228725"/>
            <a:chOff x="6319837" y="2205037"/>
            <a:chExt cx="771525" cy="1228725"/>
          </a:xfrm>
        </p:grpSpPr>
        <p:sp>
          <p:nvSpPr>
            <p:cNvPr id="27" name="object 27"/>
            <p:cNvSpPr/>
            <p:nvPr/>
          </p:nvSpPr>
          <p:spPr>
            <a:xfrm>
              <a:off x="6324600" y="2209799"/>
              <a:ext cx="762000" cy="1219200"/>
            </a:xfrm>
            <a:custGeom>
              <a:avLst/>
              <a:gdLst/>
              <a:ahLst/>
              <a:cxnLst/>
              <a:rect l="l" t="t" r="r" b="b"/>
              <a:pathLst>
                <a:path w="762000" h="1219200">
                  <a:moveTo>
                    <a:pt x="762000" y="1270"/>
                  </a:moveTo>
                  <a:lnTo>
                    <a:pt x="761873" y="1270"/>
                  </a:lnTo>
                  <a:lnTo>
                    <a:pt x="761873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1217930"/>
                  </a:lnTo>
                  <a:lnTo>
                    <a:pt x="127" y="1217930"/>
                  </a:lnTo>
                  <a:lnTo>
                    <a:pt x="127" y="1219200"/>
                  </a:lnTo>
                  <a:lnTo>
                    <a:pt x="761873" y="1219200"/>
                  </a:lnTo>
                  <a:lnTo>
                    <a:pt x="761873" y="1217930"/>
                  </a:lnTo>
                  <a:lnTo>
                    <a:pt x="762000" y="1217930"/>
                  </a:lnTo>
                  <a:lnTo>
                    <a:pt x="762000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24600" y="2209800"/>
              <a:ext cx="762000" cy="1219200"/>
            </a:xfrm>
            <a:custGeom>
              <a:avLst/>
              <a:gdLst/>
              <a:ahLst/>
              <a:cxnLst/>
              <a:rect l="l" t="t" r="r" b="b"/>
              <a:pathLst>
                <a:path w="762000" h="1219200">
                  <a:moveTo>
                    <a:pt x="0" y="1524"/>
                  </a:moveTo>
                  <a:lnTo>
                    <a:pt x="0" y="762"/>
                  </a:lnTo>
                  <a:lnTo>
                    <a:pt x="762" y="0"/>
                  </a:lnTo>
                  <a:lnTo>
                    <a:pt x="1524" y="0"/>
                  </a:lnTo>
                  <a:lnTo>
                    <a:pt x="760476" y="0"/>
                  </a:lnTo>
                  <a:lnTo>
                    <a:pt x="761238" y="0"/>
                  </a:lnTo>
                  <a:lnTo>
                    <a:pt x="762000" y="762"/>
                  </a:lnTo>
                  <a:lnTo>
                    <a:pt x="762000" y="1524"/>
                  </a:lnTo>
                  <a:lnTo>
                    <a:pt x="762000" y="1217676"/>
                  </a:lnTo>
                  <a:lnTo>
                    <a:pt x="762000" y="1218438"/>
                  </a:lnTo>
                  <a:lnTo>
                    <a:pt x="761238" y="1219200"/>
                  </a:lnTo>
                  <a:lnTo>
                    <a:pt x="760476" y="1219200"/>
                  </a:lnTo>
                  <a:lnTo>
                    <a:pt x="1524" y="1219200"/>
                  </a:lnTo>
                  <a:lnTo>
                    <a:pt x="762" y="1219200"/>
                  </a:lnTo>
                  <a:lnTo>
                    <a:pt x="0" y="1218438"/>
                  </a:lnTo>
                  <a:lnTo>
                    <a:pt x="0" y="1217676"/>
                  </a:lnTo>
                  <a:lnTo>
                    <a:pt x="0" y="1524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324600" y="2618613"/>
            <a:ext cx="7620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Microsoft Sans Serif"/>
                <a:cs typeface="Microsoft Sans Serif"/>
              </a:rPr>
              <a:t>MAT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15037" y="2401442"/>
            <a:ext cx="1382395" cy="803910"/>
            <a:chOff x="6015037" y="2401442"/>
            <a:chExt cx="1382395" cy="803910"/>
          </a:xfrm>
        </p:grpSpPr>
        <p:sp>
          <p:nvSpPr>
            <p:cNvPr id="31" name="object 31"/>
            <p:cNvSpPr/>
            <p:nvPr/>
          </p:nvSpPr>
          <p:spPr>
            <a:xfrm>
              <a:off x="6019800" y="2553842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28726" y="0"/>
                  </a:moveTo>
                  <a:lnTo>
                    <a:pt x="228568" y="31689"/>
                  </a:lnTo>
                  <a:lnTo>
                    <a:pt x="241300" y="31750"/>
                  </a:lnTo>
                  <a:lnTo>
                    <a:pt x="241300" y="44450"/>
                  </a:lnTo>
                  <a:lnTo>
                    <a:pt x="228504" y="44450"/>
                  </a:lnTo>
                  <a:lnTo>
                    <a:pt x="228346" y="76200"/>
                  </a:lnTo>
                  <a:lnTo>
                    <a:pt x="292701" y="44450"/>
                  </a:lnTo>
                  <a:lnTo>
                    <a:pt x="241300" y="44450"/>
                  </a:lnTo>
                  <a:lnTo>
                    <a:pt x="292824" y="44389"/>
                  </a:lnTo>
                  <a:lnTo>
                    <a:pt x="304800" y="38481"/>
                  </a:lnTo>
                  <a:lnTo>
                    <a:pt x="228726" y="0"/>
                  </a:lnTo>
                  <a:close/>
                </a:path>
                <a:path w="304800" h="76200">
                  <a:moveTo>
                    <a:pt x="228568" y="31689"/>
                  </a:moveTo>
                  <a:lnTo>
                    <a:pt x="228505" y="44389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28568" y="31689"/>
                  </a:lnTo>
                  <a:close/>
                </a:path>
                <a:path w="304800" h="76200">
                  <a:moveTo>
                    <a:pt x="0" y="30607"/>
                  </a:moveTo>
                  <a:lnTo>
                    <a:pt x="0" y="43307"/>
                  </a:lnTo>
                  <a:lnTo>
                    <a:pt x="228505" y="44389"/>
                  </a:lnTo>
                  <a:lnTo>
                    <a:pt x="228568" y="31689"/>
                  </a:lnTo>
                  <a:lnTo>
                    <a:pt x="0" y="306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19800" y="3047999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228219" y="0"/>
                  </a:moveTo>
                  <a:lnTo>
                    <a:pt x="228219" y="37973"/>
                  </a:lnTo>
                  <a:lnTo>
                    <a:pt x="0" y="37973"/>
                  </a:lnTo>
                  <a:lnTo>
                    <a:pt x="0" y="114046"/>
                  </a:lnTo>
                  <a:lnTo>
                    <a:pt x="228219" y="114046"/>
                  </a:lnTo>
                  <a:lnTo>
                    <a:pt x="228219" y="152019"/>
                  </a:lnTo>
                  <a:lnTo>
                    <a:pt x="304419" y="76073"/>
                  </a:lnTo>
                  <a:lnTo>
                    <a:pt x="228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19800" y="3047999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0" y="37973"/>
                  </a:moveTo>
                  <a:lnTo>
                    <a:pt x="228219" y="37973"/>
                  </a:lnTo>
                  <a:lnTo>
                    <a:pt x="228219" y="0"/>
                  </a:lnTo>
                  <a:lnTo>
                    <a:pt x="304419" y="76073"/>
                  </a:lnTo>
                  <a:lnTo>
                    <a:pt x="228219" y="152019"/>
                  </a:lnTo>
                  <a:lnTo>
                    <a:pt x="228219" y="114046"/>
                  </a:lnTo>
                  <a:lnTo>
                    <a:pt x="0" y="114046"/>
                  </a:lnTo>
                  <a:lnTo>
                    <a:pt x="0" y="3797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86600" y="2401442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28726" y="0"/>
                  </a:moveTo>
                  <a:lnTo>
                    <a:pt x="228568" y="31689"/>
                  </a:lnTo>
                  <a:lnTo>
                    <a:pt x="241300" y="31750"/>
                  </a:lnTo>
                  <a:lnTo>
                    <a:pt x="241300" y="44450"/>
                  </a:lnTo>
                  <a:lnTo>
                    <a:pt x="228504" y="44450"/>
                  </a:lnTo>
                  <a:lnTo>
                    <a:pt x="228346" y="76200"/>
                  </a:lnTo>
                  <a:lnTo>
                    <a:pt x="292701" y="44450"/>
                  </a:lnTo>
                  <a:lnTo>
                    <a:pt x="241300" y="44450"/>
                  </a:lnTo>
                  <a:lnTo>
                    <a:pt x="292824" y="44389"/>
                  </a:lnTo>
                  <a:lnTo>
                    <a:pt x="304800" y="38481"/>
                  </a:lnTo>
                  <a:lnTo>
                    <a:pt x="228726" y="0"/>
                  </a:lnTo>
                  <a:close/>
                </a:path>
                <a:path w="304800" h="76200">
                  <a:moveTo>
                    <a:pt x="228568" y="31689"/>
                  </a:moveTo>
                  <a:lnTo>
                    <a:pt x="228505" y="44389"/>
                  </a:lnTo>
                  <a:lnTo>
                    <a:pt x="241300" y="44450"/>
                  </a:lnTo>
                  <a:lnTo>
                    <a:pt x="241300" y="31750"/>
                  </a:lnTo>
                  <a:lnTo>
                    <a:pt x="228568" y="31689"/>
                  </a:lnTo>
                  <a:close/>
                </a:path>
                <a:path w="304800" h="76200">
                  <a:moveTo>
                    <a:pt x="0" y="30607"/>
                  </a:moveTo>
                  <a:lnTo>
                    <a:pt x="0" y="43307"/>
                  </a:lnTo>
                  <a:lnTo>
                    <a:pt x="228505" y="44389"/>
                  </a:lnTo>
                  <a:lnTo>
                    <a:pt x="228568" y="31689"/>
                  </a:lnTo>
                  <a:lnTo>
                    <a:pt x="0" y="306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86600" y="2743199"/>
              <a:ext cx="306070" cy="153670"/>
            </a:xfrm>
            <a:custGeom>
              <a:avLst/>
              <a:gdLst/>
              <a:ahLst/>
              <a:cxnLst/>
              <a:rect l="l" t="t" r="r" b="b"/>
              <a:pathLst>
                <a:path w="306070" h="153669">
                  <a:moveTo>
                    <a:pt x="229489" y="0"/>
                  </a:moveTo>
                  <a:lnTo>
                    <a:pt x="229489" y="38353"/>
                  </a:lnTo>
                  <a:lnTo>
                    <a:pt x="0" y="38353"/>
                  </a:lnTo>
                  <a:lnTo>
                    <a:pt x="0" y="114935"/>
                  </a:lnTo>
                  <a:lnTo>
                    <a:pt x="229489" y="114935"/>
                  </a:lnTo>
                  <a:lnTo>
                    <a:pt x="229489" y="153542"/>
                  </a:lnTo>
                  <a:lnTo>
                    <a:pt x="305943" y="76580"/>
                  </a:lnTo>
                  <a:lnTo>
                    <a:pt x="2294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86600" y="2743199"/>
              <a:ext cx="306070" cy="153670"/>
            </a:xfrm>
            <a:custGeom>
              <a:avLst/>
              <a:gdLst/>
              <a:ahLst/>
              <a:cxnLst/>
              <a:rect l="l" t="t" r="r" b="b"/>
              <a:pathLst>
                <a:path w="306070" h="153669">
                  <a:moveTo>
                    <a:pt x="0" y="38353"/>
                  </a:moveTo>
                  <a:lnTo>
                    <a:pt x="229489" y="38353"/>
                  </a:lnTo>
                  <a:lnTo>
                    <a:pt x="229489" y="0"/>
                  </a:lnTo>
                  <a:lnTo>
                    <a:pt x="305943" y="76580"/>
                  </a:lnTo>
                  <a:lnTo>
                    <a:pt x="229489" y="153542"/>
                  </a:lnTo>
                  <a:lnTo>
                    <a:pt x="229489" y="114935"/>
                  </a:lnTo>
                  <a:lnTo>
                    <a:pt x="0" y="114935"/>
                  </a:lnTo>
                  <a:lnTo>
                    <a:pt x="0" y="3835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393563" y="2357754"/>
            <a:ext cx="590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5" dirty="0">
                <a:latin typeface="Microsoft Sans Serif"/>
                <a:cs typeface="Microsoft Sans Serif"/>
              </a:rPr>
              <a:t>e</a:t>
            </a:r>
            <a:r>
              <a:rPr sz="1800" spc="-175" dirty="0">
                <a:latin typeface="Microsoft Sans Serif"/>
                <a:cs typeface="Microsoft Sans Serif"/>
              </a:rPr>
              <a:t>n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35" dirty="0">
                <a:latin typeface="Microsoft Sans Serif"/>
                <a:cs typeface="Microsoft Sans Serif"/>
              </a:rPr>
              <a:t>b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225" dirty="0"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07685" y="2891154"/>
            <a:ext cx="763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3</a:t>
            </a:r>
            <a:r>
              <a:rPr sz="1800" spc="-105" dirty="0">
                <a:latin typeface="Microsoft Sans Serif"/>
                <a:cs typeface="Microsoft Sans Serif"/>
              </a:rPr>
              <a:t>:0]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58442" y="3119520"/>
            <a:ext cx="6139180" cy="770255"/>
            <a:chOff x="1258442" y="3119520"/>
            <a:chExt cx="6139180" cy="770255"/>
          </a:xfrm>
        </p:grpSpPr>
        <p:sp>
          <p:nvSpPr>
            <p:cNvPr id="40" name="object 40"/>
            <p:cNvSpPr/>
            <p:nvPr/>
          </p:nvSpPr>
          <p:spPr>
            <a:xfrm>
              <a:off x="7086600" y="3124200"/>
              <a:ext cx="306070" cy="152400"/>
            </a:xfrm>
            <a:custGeom>
              <a:avLst/>
              <a:gdLst/>
              <a:ahLst/>
              <a:cxnLst/>
              <a:rect l="l" t="t" r="r" b="b"/>
              <a:pathLst>
                <a:path w="306070" h="152400">
                  <a:moveTo>
                    <a:pt x="244982" y="0"/>
                  </a:moveTo>
                  <a:lnTo>
                    <a:pt x="244982" y="37973"/>
                  </a:lnTo>
                  <a:lnTo>
                    <a:pt x="60578" y="37973"/>
                  </a:lnTo>
                  <a:lnTo>
                    <a:pt x="60578" y="0"/>
                  </a:lnTo>
                  <a:lnTo>
                    <a:pt x="0" y="76073"/>
                  </a:lnTo>
                  <a:lnTo>
                    <a:pt x="60578" y="152019"/>
                  </a:lnTo>
                  <a:lnTo>
                    <a:pt x="60578" y="114046"/>
                  </a:lnTo>
                  <a:lnTo>
                    <a:pt x="244982" y="114046"/>
                  </a:lnTo>
                  <a:lnTo>
                    <a:pt x="244982" y="152019"/>
                  </a:lnTo>
                  <a:lnTo>
                    <a:pt x="305943" y="76073"/>
                  </a:lnTo>
                  <a:lnTo>
                    <a:pt x="244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86600" y="3124200"/>
              <a:ext cx="306070" cy="152400"/>
            </a:xfrm>
            <a:custGeom>
              <a:avLst/>
              <a:gdLst/>
              <a:ahLst/>
              <a:cxnLst/>
              <a:rect l="l" t="t" r="r" b="b"/>
              <a:pathLst>
                <a:path w="306070" h="152400">
                  <a:moveTo>
                    <a:pt x="0" y="76073"/>
                  </a:moveTo>
                  <a:lnTo>
                    <a:pt x="60578" y="0"/>
                  </a:lnTo>
                  <a:lnTo>
                    <a:pt x="60578" y="37973"/>
                  </a:lnTo>
                  <a:lnTo>
                    <a:pt x="244982" y="37973"/>
                  </a:lnTo>
                  <a:lnTo>
                    <a:pt x="244982" y="0"/>
                  </a:lnTo>
                  <a:lnTo>
                    <a:pt x="305943" y="76073"/>
                  </a:lnTo>
                  <a:lnTo>
                    <a:pt x="244982" y="152019"/>
                  </a:lnTo>
                  <a:lnTo>
                    <a:pt x="244982" y="114046"/>
                  </a:lnTo>
                  <a:lnTo>
                    <a:pt x="60578" y="114046"/>
                  </a:lnTo>
                  <a:lnTo>
                    <a:pt x="60578" y="152019"/>
                  </a:lnTo>
                  <a:lnTo>
                    <a:pt x="0" y="7607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4911" y="3581400"/>
              <a:ext cx="76200" cy="23164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91995" y="3811524"/>
              <a:ext cx="838200" cy="1905"/>
            </a:xfrm>
            <a:custGeom>
              <a:avLst/>
              <a:gdLst/>
              <a:ahLst/>
              <a:cxnLst/>
              <a:rect l="l" t="t" r="r" b="b"/>
              <a:pathLst>
                <a:path w="838200" h="1904">
                  <a:moveTo>
                    <a:pt x="0" y="0"/>
                  </a:moveTo>
                  <a:lnTo>
                    <a:pt x="838199" y="1524"/>
                  </a:lnTo>
                </a:path>
              </a:pathLst>
            </a:custGeom>
            <a:ln w="936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58442" y="3581400"/>
              <a:ext cx="76200" cy="307975"/>
            </a:xfrm>
            <a:custGeom>
              <a:avLst/>
              <a:gdLst/>
              <a:ahLst/>
              <a:cxnLst/>
              <a:rect l="l" t="t" r="r" b="b"/>
              <a:pathLst>
                <a:path w="76200" h="307975">
                  <a:moveTo>
                    <a:pt x="31811" y="76179"/>
                  </a:moveTo>
                  <a:lnTo>
                    <a:pt x="30606" y="307848"/>
                  </a:lnTo>
                  <a:lnTo>
                    <a:pt x="43306" y="307848"/>
                  </a:lnTo>
                  <a:lnTo>
                    <a:pt x="44510" y="76221"/>
                  </a:lnTo>
                  <a:lnTo>
                    <a:pt x="31811" y="76179"/>
                  </a:lnTo>
                  <a:close/>
                </a:path>
                <a:path w="76200" h="307975">
                  <a:moveTo>
                    <a:pt x="69861" y="63500"/>
                  </a:moveTo>
                  <a:lnTo>
                    <a:pt x="44576" y="63500"/>
                  </a:lnTo>
                  <a:lnTo>
                    <a:pt x="44510" y="76221"/>
                  </a:lnTo>
                  <a:lnTo>
                    <a:pt x="76200" y="76326"/>
                  </a:lnTo>
                  <a:lnTo>
                    <a:pt x="69861" y="63500"/>
                  </a:lnTo>
                  <a:close/>
                </a:path>
                <a:path w="76200" h="307975">
                  <a:moveTo>
                    <a:pt x="44576" y="63500"/>
                  </a:moveTo>
                  <a:lnTo>
                    <a:pt x="31876" y="63500"/>
                  </a:lnTo>
                  <a:lnTo>
                    <a:pt x="31811" y="76179"/>
                  </a:lnTo>
                  <a:lnTo>
                    <a:pt x="44510" y="76221"/>
                  </a:lnTo>
                  <a:lnTo>
                    <a:pt x="44576" y="63500"/>
                  </a:lnTo>
                  <a:close/>
                </a:path>
                <a:path w="76200" h="307975">
                  <a:moveTo>
                    <a:pt x="38481" y="0"/>
                  </a:moveTo>
                  <a:lnTo>
                    <a:pt x="0" y="76073"/>
                  </a:lnTo>
                  <a:lnTo>
                    <a:pt x="31811" y="76179"/>
                  </a:lnTo>
                  <a:lnTo>
                    <a:pt x="31876" y="63500"/>
                  </a:lnTo>
                  <a:lnTo>
                    <a:pt x="69861" y="63500"/>
                  </a:lnTo>
                  <a:lnTo>
                    <a:pt x="3848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457947" y="2098675"/>
            <a:ext cx="881380" cy="118300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2065">
              <a:lnSpc>
                <a:spcPct val="141500"/>
              </a:lnSpc>
              <a:spcBef>
                <a:spcPts val="40"/>
              </a:spcBef>
            </a:pPr>
            <a:r>
              <a:rPr sz="1800" spc="-125" dirty="0">
                <a:latin typeface="Microsoft Sans Serif"/>
                <a:cs typeface="Microsoft Sans Serif"/>
              </a:rPr>
              <a:t>all_zero </a:t>
            </a:r>
            <a:r>
              <a:rPr sz="1800" spc="-120" dirty="0">
                <a:latin typeface="Microsoft Sans Serif"/>
                <a:cs typeface="Microsoft Sans Serif"/>
              </a:rPr>
              <a:t> result[2:0]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65" dirty="0">
                <a:latin typeface="Microsoft Sans Serif"/>
                <a:cs typeface="Microsoft Sans Serif"/>
              </a:rPr>
              <a:t>u</a:t>
            </a:r>
            <a:r>
              <a:rPr sz="1800" spc="-160" dirty="0">
                <a:latin typeface="Microsoft Sans Serif"/>
                <a:cs typeface="Microsoft Sans Serif"/>
              </a:rPr>
              <a:t>s[1:0]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16</a:t>
            </a:fld>
            <a:endParaRPr spc="-195" dirty="0"/>
          </a:p>
        </p:txBody>
      </p:sp>
      <p:sp>
        <p:nvSpPr>
          <p:cNvPr id="50" name="object 5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252619" y="3566369"/>
            <a:ext cx="24923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68400" algn="l"/>
                <a:tab pos="1951989" algn="l"/>
              </a:tabLst>
            </a:pPr>
            <a:r>
              <a:rPr sz="1900" i="1" u="sng" spc="-30" dirty="0">
                <a:uFill>
                  <a:solidFill>
                    <a:srgbClr val="808080"/>
                  </a:solidFill>
                </a:uFill>
                <a:latin typeface="Arial"/>
                <a:cs typeface="Arial"/>
              </a:rPr>
              <a:t> 	</a:t>
            </a:r>
            <a:r>
              <a:rPr sz="1900" i="1" u="sng" spc="-320" dirty="0">
                <a:uFill>
                  <a:solidFill>
                    <a:srgbClr val="808080"/>
                  </a:solidFill>
                </a:uFill>
                <a:latin typeface="Arial"/>
                <a:cs typeface="Arial"/>
              </a:rPr>
              <a:t>LSB	</a:t>
            </a:r>
            <a:r>
              <a:rPr sz="2850" i="1" spc="-427" baseline="-17543" dirty="0">
                <a:latin typeface="Arial"/>
                <a:cs typeface="Arial"/>
              </a:rPr>
              <a:t>MSB</a:t>
            </a:r>
            <a:endParaRPr sz="2850" baseline="-17543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8825" y="3999357"/>
            <a:ext cx="6548120" cy="232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endmodule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Microsoft Sans Serif"/>
              <a:cs typeface="Microsoft Sans Serif"/>
            </a:endParaRPr>
          </a:p>
          <a:p>
            <a:pPr marL="690880" indent="-29718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690880" algn="l"/>
              </a:tabLst>
            </a:pP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make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easy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read,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self-explanatory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names</a:t>
            </a:r>
            <a:endParaRPr sz="2000">
              <a:latin typeface="Microsoft Sans Serif"/>
              <a:cs typeface="Microsoft Sans Serif"/>
            </a:endParaRPr>
          </a:p>
          <a:p>
            <a:pPr marL="690880" indent="-297180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 typeface="Wingdings"/>
              <a:buChar char=""/>
              <a:tabLst>
                <a:tab pos="690880" algn="l"/>
              </a:tabLst>
            </a:pP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os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iseness,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0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sh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  <a:p>
            <a:pPr marL="760730" indent="-367665">
              <a:lnSpc>
                <a:spcPts val="2315"/>
              </a:lnSpc>
              <a:spcBef>
                <a:spcPts val="1800"/>
              </a:spcBef>
              <a:buClr>
                <a:srgbClr val="FF0000"/>
              </a:buClr>
              <a:buFont typeface="Wingdings"/>
              <a:buChar char=""/>
              <a:tabLst>
                <a:tab pos="760730" algn="l"/>
                <a:tab pos="761365" algn="l"/>
              </a:tabLst>
            </a:pP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ct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dec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lar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ati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MSB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small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812800">
              <a:lnSpc>
                <a:spcPts val="2315"/>
              </a:lnSpc>
              <a:tabLst>
                <a:tab pos="1282065" algn="l"/>
                <a:tab pos="2072639" algn="l"/>
                <a:tab pos="2619375" algn="l"/>
                <a:tab pos="3286125" algn="l"/>
              </a:tabLst>
            </a:pP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e.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ou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tp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[0: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(r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esult[0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MSB)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17</a:t>
            </a:fld>
            <a:endParaRPr spc="-19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098699"/>
            <a:ext cx="6118225" cy="50126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77520" indent="-46545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  <a:tab pos="478155" algn="l"/>
              </a:tabLst>
            </a:pP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Very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similar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og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75" dirty="0">
                <a:solidFill>
                  <a:srgbClr val="006FC0"/>
                </a:solidFill>
                <a:latin typeface="Microsoft Sans Serif"/>
                <a:cs typeface="Microsoft Sans Serif"/>
              </a:rPr>
              <a:t>case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8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sens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tive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ke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we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375" dirty="0">
                <a:solidFill>
                  <a:srgbClr val="006FC0"/>
                </a:solidFill>
                <a:latin typeface="Microsoft Sans Serif"/>
                <a:cs typeface="Microsoft Sans Serif"/>
              </a:rPr>
              <a:t>case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1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Ve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og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og</a:t>
            </a: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am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str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8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ens</a:t>
            </a:r>
            <a:endParaRPr sz="28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Identifiers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Es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pe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Identif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ers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Keywords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Comments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Val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Set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Numbers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Whitespace</a:t>
            </a:r>
            <a:endParaRPr sz="20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Strings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18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83863" y="1113789"/>
            <a:ext cx="11728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45" dirty="0">
                <a:solidFill>
                  <a:srgbClr val="C00000"/>
                </a:solidFill>
                <a:latin typeface="Arial"/>
                <a:cs typeface="Arial"/>
              </a:rPr>
              <a:t>IDENTIFIERS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1369821"/>
            <a:ext cx="5182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1713230" algn="l"/>
                <a:tab pos="2272665" algn="l"/>
                <a:tab pos="3105150" algn="l"/>
                <a:tab pos="3914140" algn="l"/>
                <a:tab pos="4356100" algn="l"/>
              </a:tabLst>
            </a:pP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tifi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nam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giv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objects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92165" y="1369821"/>
            <a:ext cx="2717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9105" algn="l"/>
                <a:tab pos="1116965" algn="l"/>
                <a:tab pos="1824989" algn="l"/>
                <a:tab pos="2423795" algn="l"/>
              </a:tabLst>
            </a:pP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ca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1662429"/>
            <a:ext cx="5532755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referen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sign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om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Microsoft Sans Serif"/>
                <a:cs typeface="Microsoft Sans Serif"/>
              </a:rPr>
              <a:t>{[</a:t>
            </a:r>
            <a:r>
              <a:rPr sz="2400" spc="2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-Z]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24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z],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9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],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_,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$</a:t>
            </a:r>
            <a:r>
              <a:rPr sz="2400" spc="105" dirty="0">
                <a:solidFill>
                  <a:srgbClr val="006FC0"/>
                </a:solidFill>
                <a:latin typeface="Microsoft Sans Serif"/>
                <a:cs typeface="Microsoft Sans Serif"/>
              </a:rPr>
              <a:t>},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but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gi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wit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$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9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06875" y="3245180"/>
            <a:ext cx="307975" cy="1835785"/>
            <a:chOff x="4206875" y="3245180"/>
            <a:chExt cx="307975" cy="183578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6875" y="3245180"/>
              <a:ext cx="307848" cy="372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6875" y="3611245"/>
              <a:ext cx="307848" cy="3718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6875" y="3977005"/>
              <a:ext cx="307848" cy="3718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6875" y="4342765"/>
              <a:ext cx="307848" cy="3718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6875" y="4708525"/>
              <a:ext cx="307848" cy="37185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431919" y="3217290"/>
            <a:ext cx="78168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valid </a:t>
            </a:r>
            <a:r>
              <a:rPr sz="24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valid </a:t>
            </a:r>
            <a:r>
              <a:rPr sz="24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FF0000"/>
                </a:solidFill>
                <a:latin typeface="Microsoft Sans Serif"/>
                <a:cs typeface="Microsoft Sans Serif"/>
              </a:rPr>
              <a:t>inval</a:t>
            </a:r>
            <a:r>
              <a:rPr sz="2400" spc="-85" dirty="0">
                <a:solidFill>
                  <a:srgbClr val="FF0000"/>
                </a:solidFill>
                <a:latin typeface="Microsoft Sans Serif"/>
                <a:cs typeface="Microsoft Sans Serif"/>
              </a:rPr>
              <a:t>i</a:t>
            </a:r>
            <a:r>
              <a:rPr sz="2400" spc="-90" dirty="0">
                <a:solidFill>
                  <a:srgbClr val="FF0000"/>
                </a:solidFill>
                <a:latin typeface="Microsoft Sans Serif"/>
                <a:cs typeface="Microsoft Sans Serif"/>
              </a:rPr>
              <a:t>d  </a:t>
            </a:r>
            <a:r>
              <a:rPr sz="2400" spc="-140" dirty="0">
                <a:solidFill>
                  <a:srgbClr val="FF0000"/>
                </a:solidFill>
                <a:latin typeface="Microsoft Sans Serif"/>
                <a:cs typeface="Microsoft Sans Serif"/>
              </a:rPr>
              <a:t>inval</a:t>
            </a:r>
            <a:r>
              <a:rPr sz="2400" spc="-85" dirty="0">
                <a:solidFill>
                  <a:srgbClr val="FF0000"/>
                </a:solidFill>
                <a:latin typeface="Microsoft Sans Serif"/>
                <a:cs typeface="Microsoft Sans Serif"/>
              </a:rPr>
              <a:t>i</a:t>
            </a:r>
            <a:r>
              <a:rPr sz="2400" spc="-90" dirty="0">
                <a:solidFill>
                  <a:srgbClr val="FF0000"/>
                </a:solidFill>
                <a:latin typeface="Microsoft Sans Serif"/>
                <a:cs typeface="Microsoft Sans Serif"/>
              </a:rPr>
              <a:t>d  </a:t>
            </a:r>
            <a:r>
              <a:rPr sz="24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valid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19</a:t>
            </a:fld>
            <a:endParaRPr spc="-195" dirty="0"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35940" y="3217290"/>
            <a:ext cx="3327400" cy="281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ourier New"/>
                <a:cs typeface="Courier New"/>
              </a:rPr>
              <a:t>myidentifier</a:t>
            </a:r>
            <a:endParaRPr sz="2400">
              <a:latin typeface="Courier New"/>
              <a:cs typeface="Courier New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ourier New"/>
                <a:cs typeface="Courier New"/>
              </a:rPr>
              <a:t>m_y_identifier</a:t>
            </a:r>
            <a:endParaRPr sz="2400">
              <a:latin typeface="Courier New"/>
              <a:cs typeface="Courier New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ourier New"/>
                <a:cs typeface="Courier New"/>
              </a:rPr>
              <a:t>3my_identifier</a:t>
            </a:r>
            <a:endParaRPr sz="2400">
              <a:latin typeface="Courier New"/>
              <a:cs typeface="Courier New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ourier New"/>
                <a:cs typeface="Courier New"/>
              </a:rPr>
              <a:t>$my_identifier</a:t>
            </a:r>
            <a:endParaRPr sz="2400">
              <a:latin typeface="Courier New"/>
              <a:cs typeface="Courier New"/>
            </a:endParaRPr>
          </a:p>
          <a:p>
            <a:pPr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ourier New"/>
                <a:cs typeface="Courier New"/>
              </a:rPr>
              <a:t>_myidentifier$</a:t>
            </a:r>
            <a:endParaRPr sz="24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18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Cas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sensit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vity</a:t>
            </a:r>
            <a:endParaRPr sz="24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10"/>
              </a:spcBef>
            </a:pPr>
            <a:r>
              <a:rPr sz="2400" spc="-5" dirty="0">
                <a:latin typeface="Courier New"/>
                <a:cs typeface="Courier New"/>
              </a:rPr>
              <a:t>myi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Myid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092086"/>
            <a:ext cx="8071484" cy="543750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  <a:tabLst>
                <a:tab pos="972185" algn="l"/>
              </a:tabLst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ESCAPE	</a:t>
            </a:r>
            <a:r>
              <a:rPr sz="2000" b="1" spc="-175" dirty="0">
                <a:solidFill>
                  <a:srgbClr val="C00000"/>
                </a:solidFill>
                <a:latin typeface="Arial"/>
                <a:cs typeface="Arial"/>
              </a:rPr>
              <a:t>IDENTIFIERS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3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698500" algn="l"/>
                <a:tab pos="1847214" algn="l"/>
                <a:tab pos="2383790" algn="l"/>
                <a:tab pos="3006090" algn="l"/>
                <a:tab pos="3406775" algn="l"/>
                <a:tab pos="4624705" algn="l"/>
                <a:tab pos="5202555" algn="l"/>
                <a:tab pos="5604510" algn="l"/>
                <a:tab pos="6141085" algn="l"/>
                <a:tab pos="7336155" algn="l"/>
              </a:tabLst>
            </a:pP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prov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ides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wa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luding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ntabl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ASCII 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characteristics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identifiers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begin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back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slash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(\)</a:t>
            </a:r>
            <a:r>
              <a:rPr sz="2400" spc="3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end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white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space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Some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amp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\a*b*c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\**print</a:t>
            </a:r>
            <a:r>
              <a:rPr sz="24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AF50"/>
                </a:solidFill>
                <a:latin typeface="Microsoft Sans Serif"/>
                <a:cs typeface="Microsoft Sans Serif"/>
              </a:rPr>
              <a:t>value**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280" dirty="0">
                <a:solidFill>
                  <a:srgbClr val="00AF50"/>
                </a:solidFill>
                <a:latin typeface="Microsoft Sans Serif"/>
                <a:cs typeface="Microsoft Sans Serif"/>
              </a:rPr>
              <a:t>\4000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es</a:t>
            </a:r>
            <a:r>
              <a:rPr sz="24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aped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yword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no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treate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4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me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yword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identifier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\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begin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distinct</a:t>
            </a:r>
            <a:r>
              <a:rPr sz="24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from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identifier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begin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  <a:tab pos="1925320" algn="l"/>
              </a:tabLst>
            </a:pP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myname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</a:t>
            </a:r>
            <a:r>
              <a:rPr sz="240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\myname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20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156462"/>
            <a:ext cx="8072120" cy="51104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2400" b="1" spc="-270" dirty="0">
                <a:solidFill>
                  <a:srgbClr val="C00000"/>
                </a:solidFill>
                <a:latin typeface="Arial"/>
                <a:cs typeface="Arial"/>
              </a:rPr>
              <a:t>KEYWORDS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590"/>
              </a:lnSpc>
              <a:spcBef>
                <a:spcPts val="61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1710055" algn="l"/>
                <a:tab pos="2272665" algn="l"/>
                <a:tab pos="3795395" algn="l"/>
                <a:tab pos="4766310" algn="l"/>
                <a:tab pos="6107430" algn="l"/>
                <a:tab pos="6767830" algn="l"/>
                <a:tab pos="7686675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Ke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d,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special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id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ntifie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ine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he 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lang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age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con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tructs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39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fi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low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case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Some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100" dirty="0">
                <a:latin typeface="Microsoft Sans Serif"/>
                <a:cs typeface="Microsoft Sans Serif"/>
              </a:rPr>
              <a:t>input,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output,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inout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185" dirty="0">
                <a:latin typeface="Microsoft Sans Serif"/>
                <a:cs typeface="Microsoft Sans Serif"/>
              </a:rPr>
              <a:t>re</a:t>
            </a:r>
            <a:r>
              <a:rPr sz="2400" spc="-225" dirty="0">
                <a:latin typeface="Microsoft Sans Serif"/>
                <a:cs typeface="Microsoft Sans Serif"/>
              </a:rPr>
              <a:t>g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wir</a:t>
            </a:r>
            <a:r>
              <a:rPr sz="2400" spc="-160" dirty="0">
                <a:latin typeface="Microsoft Sans Serif"/>
                <a:cs typeface="Microsoft Sans Serif"/>
              </a:rPr>
              <a:t>e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35" dirty="0">
                <a:latin typeface="Microsoft Sans Serif"/>
                <a:cs typeface="Microsoft Sans Serif"/>
              </a:rPr>
              <a:t>ta</a:t>
            </a:r>
            <a:r>
              <a:rPr sz="2400" spc="-290" dirty="0">
                <a:latin typeface="Microsoft Sans Serif"/>
                <a:cs typeface="Microsoft Sans Serif"/>
              </a:rPr>
              <a:t>s</a:t>
            </a:r>
            <a:r>
              <a:rPr sz="2400" spc="-200" dirty="0">
                <a:latin typeface="Microsoft Sans Serif"/>
                <a:cs typeface="Microsoft Sans Serif"/>
              </a:rPr>
              <a:t>k</a:t>
            </a:r>
            <a:r>
              <a:rPr sz="2400" spc="-110" dirty="0">
                <a:latin typeface="Microsoft Sans Serif"/>
                <a:cs typeface="Microsoft Sans Serif"/>
              </a:rPr>
              <a:t>,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tri</a:t>
            </a:r>
            <a:r>
              <a:rPr sz="2400" spc="-30" dirty="0">
                <a:latin typeface="Microsoft Sans Serif"/>
                <a:cs typeface="Microsoft Sans Serif"/>
              </a:rPr>
              <a:t>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time,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245" dirty="0">
                <a:latin typeface="Microsoft Sans Serif"/>
                <a:cs typeface="Microsoft Sans Serif"/>
              </a:rPr>
              <a:t>pmo</a:t>
            </a:r>
            <a:r>
              <a:rPr sz="2400" spc="-195" dirty="0">
                <a:latin typeface="Microsoft Sans Serif"/>
                <a:cs typeface="Microsoft Sans Serif"/>
              </a:rPr>
              <a:t>s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260" dirty="0">
                <a:latin typeface="Microsoft Sans Serif"/>
                <a:cs typeface="Microsoft Sans Serif"/>
              </a:rPr>
              <a:t>nmo</a:t>
            </a:r>
            <a:r>
              <a:rPr sz="2400" spc="-195" dirty="0">
                <a:latin typeface="Microsoft Sans Serif"/>
                <a:cs typeface="Microsoft Sans Serif"/>
              </a:rPr>
              <a:t>s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200" dirty="0">
                <a:latin typeface="Microsoft Sans Serif"/>
                <a:cs typeface="Microsoft Sans Serif"/>
              </a:rPr>
              <a:t>and,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or,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14" dirty="0">
                <a:latin typeface="Microsoft Sans Serif"/>
                <a:cs typeface="Microsoft Sans Serif"/>
              </a:rPr>
              <a:t>not</a:t>
            </a:r>
            <a:r>
              <a:rPr sz="2400" spc="-7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wo</a:t>
            </a:r>
            <a:r>
              <a:rPr sz="2400" spc="-70" dirty="0">
                <a:latin typeface="Microsoft Sans Serif"/>
                <a:cs typeface="Microsoft Sans Serif"/>
              </a:rPr>
              <a:t>r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x</a:t>
            </a:r>
            <a:r>
              <a:rPr sz="2400" spc="-170" dirty="0">
                <a:latin typeface="Microsoft Sans Serif"/>
                <a:cs typeface="Microsoft Sans Serif"/>
              </a:rPr>
              <a:t>n</a:t>
            </a:r>
            <a:r>
              <a:rPr sz="2400" spc="-70" dirty="0">
                <a:latin typeface="Microsoft Sans Serif"/>
                <a:cs typeface="Microsoft Sans Serif"/>
              </a:rPr>
              <a:t>or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190" dirty="0">
                <a:latin typeface="Microsoft Sans Serif"/>
                <a:cs typeface="Microsoft Sans Serif"/>
              </a:rPr>
              <a:t>begin,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70" dirty="0">
                <a:latin typeface="Microsoft Sans Serif"/>
                <a:cs typeface="Microsoft Sans Serif"/>
              </a:rPr>
              <a:t>parameter,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buf,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35" dirty="0">
                <a:latin typeface="Microsoft Sans Serif"/>
                <a:cs typeface="Microsoft Sans Serif"/>
              </a:rPr>
              <a:t>edge,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join,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55" dirty="0">
                <a:latin typeface="Microsoft Sans Serif"/>
                <a:cs typeface="Microsoft Sans Serif"/>
              </a:rPr>
              <a:t>medium,wait,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310" dirty="0">
                <a:latin typeface="Microsoft Sans Serif"/>
                <a:cs typeface="Microsoft Sans Serif"/>
              </a:rPr>
              <a:t>use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170" dirty="0">
                <a:latin typeface="Microsoft Sans Serif"/>
                <a:cs typeface="Microsoft Sans Serif"/>
              </a:rPr>
              <a:t>if,else,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210" dirty="0">
                <a:latin typeface="Microsoft Sans Serif"/>
                <a:cs typeface="Microsoft Sans Serif"/>
              </a:rPr>
              <a:t>case,while,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235" dirty="0">
                <a:latin typeface="Microsoft Sans Serif"/>
                <a:cs typeface="Microsoft Sans Serif"/>
              </a:rPr>
              <a:t>always,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initial,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235" dirty="0">
                <a:latin typeface="Microsoft Sans Serif"/>
                <a:cs typeface="Microsoft Sans Serif"/>
              </a:rPr>
              <a:t>posedge,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40" dirty="0">
                <a:latin typeface="Microsoft Sans Serif"/>
                <a:cs typeface="Microsoft Sans Serif"/>
              </a:rPr>
              <a:t>negedge,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295" dirty="0">
                <a:latin typeface="Microsoft Sans Serif"/>
                <a:cs typeface="Microsoft Sans Serif"/>
              </a:rPr>
              <a:t>assign</a:t>
            </a:r>
            <a:endParaRPr sz="2400">
              <a:latin typeface="Microsoft Sans Serif"/>
              <a:cs typeface="Microsoft Sans Serif"/>
            </a:endParaRPr>
          </a:p>
          <a:p>
            <a:pPr marL="756285" marR="1060450" lvl="1" indent="-287020">
              <a:lnSpc>
                <a:spcPts val="2590"/>
              </a:lnSpc>
              <a:spcBef>
                <a:spcPts val="61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400" spc="-190" dirty="0">
                <a:latin typeface="Microsoft Sans Serif"/>
                <a:cs typeface="Microsoft Sans Serif"/>
              </a:rPr>
              <a:t>end,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04" dirty="0">
                <a:latin typeface="Microsoft Sans Serif"/>
                <a:cs typeface="Microsoft Sans Serif"/>
              </a:rPr>
              <a:t>endtask,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54" dirty="0">
                <a:latin typeface="Microsoft Sans Serif"/>
                <a:cs typeface="Microsoft Sans Serif"/>
              </a:rPr>
              <a:t>endcase,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endfunction,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default,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70" dirty="0">
                <a:latin typeface="Microsoft Sans Serif"/>
                <a:cs typeface="Microsoft Sans Serif"/>
              </a:rPr>
              <a:t>endtable,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75" dirty="0">
                <a:latin typeface="Microsoft Sans Serif"/>
                <a:cs typeface="Microsoft Sans Serif"/>
              </a:rPr>
              <a:t>endmodule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21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8340" y="1145857"/>
            <a:ext cx="6802120" cy="49987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289935">
              <a:lnSpc>
                <a:spcPct val="100000"/>
              </a:lnSpc>
              <a:spcBef>
                <a:spcPts val="575"/>
              </a:spcBef>
            </a:pPr>
            <a:r>
              <a:rPr sz="2000" b="1" spc="-125" dirty="0">
                <a:solidFill>
                  <a:srgbClr val="C00000"/>
                </a:solidFill>
                <a:latin typeface="Arial"/>
                <a:cs typeface="Arial"/>
              </a:rPr>
              <a:t>COMMENTS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6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//T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res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li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com</a:t>
            </a:r>
            <a:r>
              <a:rPr sz="2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ent</a:t>
            </a:r>
            <a:endParaRPr sz="280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  <a:spcBef>
                <a:spcPts val="675"/>
              </a:spcBef>
              <a:tabLst>
                <a:tab pos="2702560" algn="l"/>
              </a:tabLst>
            </a:pPr>
            <a:r>
              <a:rPr sz="2800" spc="100" dirty="0">
                <a:solidFill>
                  <a:srgbClr val="00AF50"/>
                </a:solidFill>
                <a:latin typeface="Microsoft Sans Serif"/>
                <a:cs typeface="Microsoft Sans Serif"/>
              </a:rPr>
              <a:t>A=</a:t>
            </a:r>
            <a:r>
              <a:rPr sz="2800" spc="4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AF50"/>
                </a:solidFill>
                <a:latin typeface="Microsoft Sans Serif"/>
                <a:cs typeface="Microsoft Sans Serif"/>
              </a:rPr>
              <a:t>x^</a:t>
            </a:r>
            <a:r>
              <a:rPr sz="2800" spc="-185" dirty="0">
                <a:solidFill>
                  <a:srgbClr val="00AF50"/>
                </a:solidFill>
                <a:latin typeface="Microsoft Sans Serif"/>
                <a:cs typeface="Microsoft Sans Serif"/>
              </a:rPr>
              <a:t>y</a:t>
            </a:r>
            <a:r>
              <a:rPr sz="28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;</a:t>
            </a:r>
            <a:r>
              <a:rPr sz="2800" dirty="0">
                <a:solidFill>
                  <a:srgbClr val="00AF50"/>
                </a:solidFill>
                <a:latin typeface="Microsoft Sans Serif"/>
                <a:cs typeface="Microsoft Sans Serif"/>
              </a:rPr>
              <a:t>	</a:t>
            </a:r>
            <a:r>
              <a:rPr sz="2800" spc="229" dirty="0">
                <a:solidFill>
                  <a:srgbClr val="00AF50"/>
                </a:solidFill>
                <a:latin typeface="Microsoft Sans Serif"/>
                <a:cs typeface="Microsoft Sans Serif"/>
              </a:rPr>
              <a:t>/</a:t>
            </a:r>
            <a:r>
              <a:rPr sz="2800" spc="225" dirty="0">
                <a:solidFill>
                  <a:srgbClr val="00AF50"/>
                </a:solidFill>
                <a:latin typeface="Microsoft Sans Serif"/>
                <a:cs typeface="Microsoft Sans Serif"/>
              </a:rPr>
              <a:t>/</a:t>
            </a:r>
            <a:r>
              <a:rPr sz="2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AF50"/>
                </a:solidFill>
                <a:latin typeface="Microsoft Sans Serif"/>
                <a:cs typeface="Microsoft Sans Serif"/>
              </a:rPr>
              <a:t>th</a:t>
            </a:r>
            <a:r>
              <a:rPr sz="2800" spc="-35" dirty="0">
                <a:solidFill>
                  <a:srgbClr val="00AF50"/>
                </a:solidFill>
                <a:latin typeface="Microsoft Sans Serif"/>
                <a:cs typeface="Microsoft Sans Serif"/>
              </a:rPr>
              <a:t>i</a:t>
            </a:r>
            <a:r>
              <a:rPr sz="2800" spc="-515" dirty="0">
                <a:solidFill>
                  <a:srgbClr val="00AF50"/>
                </a:solidFill>
                <a:latin typeface="Microsoft Sans Serif"/>
                <a:cs typeface="Microsoft Sans Serif"/>
              </a:rPr>
              <a:t>s</a:t>
            </a:r>
            <a:r>
              <a:rPr sz="2800" spc="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2800" spc="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00AF50"/>
                </a:solidFill>
                <a:latin typeface="Microsoft Sans Serif"/>
                <a:cs typeface="Microsoft Sans Serif"/>
              </a:rPr>
              <a:t>sin</a:t>
            </a:r>
            <a:r>
              <a:rPr sz="2800" spc="-330" dirty="0">
                <a:solidFill>
                  <a:srgbClr val="00AF50"/>
                </a:solidFill>
                <a:latin typeface="Microsoft Sans Serif"/>
                <a:cs typeface="Microsoft Sans Serif"/>
              </a:rPr>
              <a:t>g</a:t>
            </a:r>
            <a:r>
              <a:rPr sz="2800" spc="-190" dirty="0">
                <a:solidFill>
                  <a:srgbClr val="00AF50"/>
                </a:solidFill>
                <a:latin typeface="Microsoft Sans Serif"/>
                <a:cs typeface="Microsoft Sans Serif"/>
              </a:rPr>
              <a:t>le</a:t>
            </a:r>
            <a:r>
              <a:rPr sz="2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35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2800" spc="-30" dirty="0">
                <a:solidFill>
                  <a:srgbClr val="00AF50"/>
                </a:solidFill>
                <a:latin typeface="Microsoft Sans Serif"/>
                <a:cs typeface="Microsoft Sans Serif"/>
              </a:rPr>
              <a:t>i</a:t>
            </a:r>
            <a:r>
              <a:rPr sz="2800" spc="-285" dirty="0">
                <a:solidFill>
                  <a:srgbClr val="00AF50"/>
                </a:solidFill>
                <a:latin typeface="Microsoft Sans Serif"/>
                <a:cs typeface="Microsoft Sans Serif"/>
              </a:rPr>
              <a:t>n</a:t>
            </a:r>
            <a:r>
              <a:rPr sz="2800" spc="-280" dirty="0">
                <a:solidFill>
                  <a:srgbClr val="00AF50"/>
                </a:solidFill>
                <a:latin typeface="Microsoft Sans Serif"/>
                <a:cs typeface="Microsoft Sans Serif"/>
              </a:rPr>
              <a:t>e</a:t>
            </a:r>
            <a:r>
              <a:rPr sz="28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204" dirty="0">
                <a:solidFill>
                  <a:srgbClr val="00AF50"/>
                </a:solidFill>
                <a:latin typeface="Microsoft Sans Serif"/>
                <a:cs typeface="Microsoft Sans Serif"/>
              </a:rPr>
              <a:t>com</a:t>
            </a:r>
            <a:r>
              <a:rPr sz="2800" spc="-260" dirty="0">
                <a:solidFill>
                  <a:srgbClr val="00AF50"/>
                </a:solidFill>
                <a:latin typeface="Microsoft Sans Serif"/>
                <a:cs typeface="Microsoft Sans Serif"/>
              </a:rPr>
              <a:t>m</a:t>
            </a:r>
            <a:r>
              <a:rPr sz="2800" spc="-170" dirty="0">
                <a:solidFill>
                  <a:srgbClr val="00AF50"/>
                </a:solidFill>
                <a:latin typeface="Microsoft Sans Serif"/>
                <a:cs typeface="Microsoft Sans Serif"/>
              </a:rPr>
              <a:t>ent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5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/*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Multiple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line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comment*/</a:t>
            </a:r>
            <a:endParaRPr sz="2800">
              <a:latin typeface="Microsoft Sans Serif"/>
              <a:cs typeface="Microsoft Sans Serif"/>
            </a:endParaRPr>
          </a:p>
          <a:p>
            <a:pPr marL="1384300" marR="5080">
              <a:lnSpc>
                <a:spcPct val="120000"/>
              </a:lnSpc>
              <a:spcBef>
                <a:spcPts val="5"/>
              </a:spcBef>
            </a:pPr>
            <a:r>
              <a:rPr sz="2800" spc="145" dirty="0">
                <a:solidFill>
                  <a:srgbClr val="00AF50"/>
                </a:solidFill>
                <a:latin typeface="Microsoft Sans Serif"/>
                <a:cs typeface="Microsoft Sans Serif"/>
              </a:rPr>
              <a:t>/* </a:t>
            </a:r>
            <a:r>
              <a:rPr sz="2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this </a:t>
            </a:r>
            <a:r>
              <a:rPr sz="2800" spc="-275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2800" spc="-27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AF50"/>
                </a:solidFill>
                <a:latin typeface="Microsoft Sans Serif"/>
                <a:cs typeface="Microsoft Sans Serif"/>
              </a:rPr>
              <a:t>example</a:t>
            </a:r>
            <a:r>
              <a:rPr sz="2800" spc="-24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of </a:t>
            </a:r>
            <a:r>
              <a:rPr sz="2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multiline </a:t>
            </a:r>
            <a:r>
              <a:rPr sz="2800" spc="-200" dirty="0">
                <a:solidFill>
                  <a:srgbClr val="00AF50"/>
                </a:solidFill>
                <a:latin typeface="Microsoft Sans Serif"/>
                <a:cs typeface="Microsoft Sans Serif"/>
              </a:rPr>
              <a:t>comment </a:t>
            </a:r>
            <a:r>
              <a:rPr sz="2800" spc="-7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100" dirty="0">
                <a:solidFill>
                  <a:srgbClr val="00AF50"/>
                </a:solidFill>
                <a:latin typeface="Microsoft Sans Serif"/>
                <a:cs typeface="Microsoft Sans Serif"/>
              </a:rPr>
              <a:t>A=</a:t>
            </a:r>
            <a:r>
              <a:rPr sz="28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x^y;</a:t>
            </a:r>
            <a:endParaRPr sz="280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  <a:spcBef>
                <a:spcPts val="670"/>
              </a:spcBef>
              <a:tabLst>
                <a:tab pos="2848610" algn="l"/>
              </a:tabLst>
            </a:pPr>
            <a:r>
              <a:rPr sz="2800" spc="-130" dirty="0">
                <a:solidFill>
                  <a:srgbClr val="00AF50"/>
                </a:solidFill>
                <a:latin typeface="Microsoft Sans Serif"/>
                <a:cs typeface="Microsoft Sans Serif"/>
              </a:rPr>
              <a:t>C=a+b;	</a:t>
            </a:r>
            <a:r>
              <a:rPr sz="2800" spc="140" dirty="0">
                <a:solidFill>
                  <a:srgbClr val="00AF50"/>
                </a:solidFill>
                <a:latin typeface="Microsoft Sans Serif"/>
                <a:cs typeface="Microsoft Sans Serif"/>
              </a:rPr>
              <a:t>*/</a:t>
            </a:r>
            <a:endParaRPr sz="2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6235" algn="l"/>
                <a:tab pos="6278245" algn="l"/>
              </a:tabLst>
            </a:pPr>
            <a:r>
              <a:rPr sz="2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/*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Nesting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/*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comments</a:t>
            </a:r>
            <a:r>
              <a:rPr sz="2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*/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8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25" dirty="0">
                <a:solidFill>
                  <a:srgbClr val="006FC0"/>
                </a:solidFill>
                <a:latin typeface="Arial"/>
                <a:cs typeface="Arial"/>
              </a:rPr>
              <a:t>NOT</a:t>
            </a:r>
            <a:r>
              <a:rPr sz="2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work	</a:t>
            </a:r>
            <a:r>
              <a:rPr sz="28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*/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22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69794" y="1514601"/>
            <a:ext cx="5110480" cy="3764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25575">
              <a:lnSpc>
                <a:spcPct val="100000"/>
              </a:lnSpc>
              <a:spcBef>
                <a:spcPts val="105"/>
              </a:spcBef>
            </a:pPr>
            <a:r>
              <a:rPr sz="2000" b="1" spc="7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LU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6909"/>
              </a:lnSpc>
              <a:spcBef>
                <a:spcPts val="290"/>
              </a:spcBef>
            </a:pP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sents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low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lev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fal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on 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sents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hig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ogic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lev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tr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endParaRPr sz="2400">
              <a:latin typeface="Microsoft Sans Serif"/>
              <a:cs typeface="Microsoft Sans Serif"/>
            </a:endParaRPr>
          </a:p>
          <a:p>
            <a:pPr marL="12700" marR="739140">
              <a:lnSpc>
                <a:spcPts val="6909"/>
              </a:lnSpc>
            </a:pP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sents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nown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ogic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lev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 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represents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high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impedance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9600" y="2179320"/>
            <a:ext cx="2057400" cy="353567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23</a:t>
            </a:fld>
            <a:endParaRPr spc="-195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130551"/>
            <a:ext cx="6118860" cy="53041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442335">
              <a:lnSpc>
                <a:spcPct val="100000"/>
              </a:lnSpc>
              <a:spcBef>
                <a:spcPts val="695"/>
              </a:spcBef>
            </a:pP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NUMBERS</a:t>
            </a:r>
            <a:endParaRPr sz="2000">
              <a:latin typeface="Arial"/>
              <a:cs typeface="Arial"/>
            </a:endParaRPr>
          </a:p>
          <a:p>
            <a:pPr marL="858519" indent="-465455">
              <a:lnSpc>
                <a:spcPct val="100000"/>
              </a:lnSpc>
              <a:spcBef>
                <a:spcPts val="710"/>
              </a:spcBef>
              <a:buClr>
                <a:srgbClr val="E36C09"/>
              </a:buClr>
              <a:buFont typeface="Wingdings"/>
              <a:buChar char=""/>
              <a:tabLst>
                <a:tab pos="858519" algn="l"/>
                <a:tab pos="859155" algn="l"/>
              </a:tabLst>
            </a:pP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Specification</a:t>
            </a:r>
            <a:endParaRPr sz="2400">
              <a:latin typeface="Microsoft Sans Serif"/>
              <a:cs typeface="Microsoft Sans Serif"/>
            </a:endParaRPr>
          </a:p>
          <a:p>
            <a:pPr marL="1308100" lvl="1" indent="-457834">
              <a:lnSpc>
                <a:spcPct val="100000"/>
              </a:lnSpc>
              <a:spcBef>
                <a:spcPts val="1085"/>
              </a:spcBef>
              <a:buClr>
                <a:srgbClr val="E36C09"/>
              </a:buClr>
              <a:buFont typeface="Wingdings"/>
              <a:buChar char=""/>
              <a:tabLst>
                <a:tab pos="1308100" algn="l"/>
                <a:tab pos="1308735" algn="l"/>
              </a:tabLst>
            </a:pPr>
            <a:r>
              <a:rPr sz="2400" spc="-380" dirty="0">
                <a:latin typeface="Microsoft Sans Serif"/>
                <a:cs typeface="Microsoft Sans Serif"/>
              </a:rPr>
              <a:t>S</a:t>
            </a:r>
            <a:r>
              <a:rPr sz="2400" spc="-140" dirty="0">
                <a:latin typeface="Microsoft Sans Serif"/>
                <a:cs typeface="Microsoft Sans Serif"/>
              </a:rPr>
              <a:t>i</a:t>
            </a:r>
            <a:r>
              <a:rPr sz="2400" spc="-265" dirty="0">
                <a:latin typeface="Microsoft Sans Serif"/>
                <a:cs typeface="Microsoft Sans Serif"/>
              </a:rPr>
              <a:t>zed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</a:t>
            </a:r>
            <a:r>
              <a:rPr sz="2400" spc="-170" dirty="0">
                <a:latin typeface="Microsoft Sans Serif"/>
                <a:cs typeface="Microsoft Sans Serif"/>
              </a:rPr>
              <a:t>u</a:t>
            </a:r>
            <a:r>
              <a:rPr sz="2400" spc="-240" dirty="0">
                <a:latin typeface="Microsoft Sans Serif"/>
                <a:cs typeface="Microsoft Sans Serif"/>
              </a:rPr>
              <a:t>mb</a:t>
            </a:r>
            <a:r>
              <a:rPr sz="2400" spc="-190" dirty="0">
                <a:latin typeface="Microsoft Sans Serif"/>
                <a:cs typeface="Microsoft Sans Serif"/>
              </a:rPr>
              <a:t>e</a:t>
            </a:r>
            <a:r>
              <a:rPr sz="2400" spc="-225" dirty="0">
                <a:latin typeface="Microsoft Sans Serif"/>
                <a:cs typeface="Microsoft Sans Serif"/>
              </a:rPr>
              <a:t>rs</a:t>
            </a:r>
            <a:endParaRPr sz="2400">
              <a:latin typeface="Microsoft Sans Serif"/>
              <a:cs typeface="Microsoft Sans Serif"/>
            </a:endParaRPr>
          </a:p>
          <a:p>
            <a:pPr marL="1308100" lvl="1" indent="-457834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"/>
              <a:tabLst>
                <a:tab pos="1308100" algn="l"/>
                <a:tab pos="1308735" algn="l"/>
              </a:tabLst>
            </a:pPr>
            <a:r>
              <a:rPr sz="2400" spc="-195" dirty="0">
                <a:latin typeface="Microsoft Sans Serif"/>
                <a:cs typeface="Microsoft Sans Serif"/>
              </a:rPr>
              <a:t>Uns</a:t>
            </a:r>
            <a:r>
              <a:rPr sz="2400" spc="-85" dirty="0">
                <a:latin typeface="Microsoft Sans Serif"/>
                <a:cs typeface="Microsoft Sans Serif"/>
              </a:rPr>
              <a:t>i</a:t>
            </a:r>
            <a:r>
              <a:rPr sz="2400" spc="-265" dirty="0">
                <a:latin typeface="Microsoft Sans Serif"/>
                <a:cs typeface="Microsoft Sans Serif"/>
              </a:rPr>
              <a:t>zed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</a:t>
            </a:r>
            <a:r>
              <a:rPr sz="2400" spc="-170" dirty="0">
                <a:latin typeface="Microsoft Sans Serif"/>
                <a:cs typeface="Microsoft Sans Serif"/>
              </a:rPr>
              <a:t>u</a:t>
            </a:r>
            <a:r>
              <a:rPr sz="2400" spc="-240" dirty="0">
                <a:latin typeface="Microsoft Sans Serif"/>
                <a:cs typeface="Microsoft Sans Serif"/>
              </a:rPr>
              <a:t>mb</a:t>
            </a:r>
            <a:r>
              <a:rPr sz="2400" spc="-190" dirty="0">
                <a:latin typeface="Microsoft Sans Serif"/>
                <a:cs typeface="Microsoft Sans Serif"/>
              </a:rPr>
              <a:t>e</a:t>
            </a:r>
            <a:r>
              <a:rPr sz="2400" spc="-225" dirty="0">
                <a:latin typeface="Microsoft Sans Serif"/>
                <a:cs typeface="Microsoft Sans Serif"/>
              </a:rPr>
              <a:t>rs</a:t>
            </a:r>
            <a:endParaRPr sz="2400">
              <a:latin typeface="Microsoft Sans Serif"/>
              <a:cs typeface="Microsoft Sans Serif"/>
            </a:endParaRPr>
          </a:p>
          <a:p>
            <a:pPr marL="1308100" lvl="1" indent="-457834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"/>
              <a:tabLst>
                <a:tab pos="1308100" algn="l"/>
                <a:tab pos="1308735" algn="l"/>
              </a:tabLst>
            </a:pPr>
            <a:r>
              <a:rPr sz="2400" spc="-135" dirty="0">
                <a:latin typeface="Microsoft Sans Serif"/>
                <a:cs typeface="Microsoft Sans Serif"/>
              </a:rPr>
              <a:t>Unk</a:t>
            </a:r>
            <a:r>
              <a:rPr sz="2400" spc="-120" dirty="0">
                <a:latin typeface="Microsoft Sans Serif"/>
                <a:cs typeface="Microsoft Sans Serif"/>
              </a:rPr>
              <a:t>n</a:t>
            </a:r>
            <a:r>
              <a:rPr sz="2400" spc="-175" dirty="0">
                <a:latin typeface="Microsoft Sans Serif"/>
                <a:cs typeface="Microsoft Sans Serif"/>
              </a:rPr>
              <a:t>own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350" dirty="0">
                <a:latin typeface="Microsoft Sans Serif"/>
                <a:cs typeface="Microsoft Sans Serif"/>
              </a:rPr>
              <a:t>a</a:t>
            </a:r>
            <a:r>
              <a:rPr sz="2400" spc="-160" dirty="0">
                <a:latin typeface="Microsoft Sans Serif"/>
                <a:cs typeface="Microsoft Sans Serif"/>
              </a:rPr>
              <a:t>n</a:t>
            </a:r>
            <a:r>
              <a:rPr sz="2400" spc="-155" dirty="0">
                <a:latin typeface="Microsoft Sans Serif"/>
                <a:cs typeface="Microsoft Sans Serif"/>
              </a:rPr>
              <a:t>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hig</a:t>
            </a:r>
            <a:r>
              <a:rPr sz="2400" spc="-185" dirty="0">
                <a:latin typeface="Microsoft Sans Serif"/>
                <a:cs typeface="Microsoft Sans Serif"/>
              </a:rPr>
              <a:t>h</a:t>
            </a:r>
            <a:r>
              <a:rPr sz="2400" spc="-140" dirty="0">
                <a:latin typeface="Microsoft Sans Serif"/>
                <a:cs typeface="Microsoft Sans Serif"/>
              </a:rPr>
              <a:t>-</a:t>
            </a:r>
            <a:r>
              <a:rPr sz="2400" spc="-200" dirty="0">
                <a:latin typeface="Microsoft Sans Serif"/>
                <a:cs typeface="Microsoft Sans Serif"/>
              </a:rPr>
              <a:t>impedance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220" dirty="0">
                <a:latin typeface="Microsoft Sans Serif"/>
                <a:cs typeface="Microsoft Sans Serif"/>
              </a:rPr>
              <a:t>va</a:t>
            </a:r>
            <a:r>
              <a:rPr sz="2400" spc="-105" dirty="0">
                <a:latin typeface="Microsoft Sans Serif"/>
                <a:cs typeface="Microsoft Sans Serif"/>
              </a:rPr>
              <a:t>l</a:t>
            </a:r>
            <a:r>
              <a:rPr sz="2400" spc="-240" dirty="0">
                <a:latin typeface="Microsoft Sans Serif"/>
                <a:cs typeface="Microsoft Sans Serif"/>
              </a:rPr>
              <a:t>u</a:t>
            </a:r>
            <a:r>
              <a:rPr sz="2400" spc="-229" dirty="0">
                <a:latin typeface="Microsoft Sans Serif"/>
                <a:cs typeface="Microsoft Sans Serif"/>
              </a:rPr>
              <a:t>e</a:t>
            </a:r>
            <a:r>
              <a:rPr sz="2400" spc="-440" dirty="0"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marL="1308100" lvl="1" indent="-457834">
              <a:lnSpc>
                <a:spcPct val="100000"/>
              </a:lnSpc>
              <a:spcBef>
                <a:spcPts val="1440"/>
              </a:spcBef>
              <a:buClr>
                <a:srgbClr val="E36C09"/>
              </a:buClr>
              <a:buFont typeface="Wingdings"/>
              <a:buChar char=""/>
              <a:tabLst>
                <a:tab pos="1308100" algn="l"/>
                <a:tab pos="1308735" algn="l"/>
              </a:tabLst>
            </a:pPr>
            <a:r>
              <a:rPr sz="2400" spc="-160" dirty="0">
                <a:latin typeface="Microsoft Sans Serif"/>
                <a:cs typeface="Microsoft Sans Serif"/>
              </a:rPr>
              <a:t>N</a:t>
            </a:r>
            <a:r>
              <a:rPr sz="2400" spc="-114" dirty="0">
                <a:latin typeface="Microsoft Sans Serif"/>
                <a:cs typeface="Microsoft Sans Serif"/>
              </a:rPr>
              <a:t>e</a:t>
            </a:r>
            <a:r>
              <a:rPr sz="2400" spc="-175" dirty="0">
                <a:latin typeface="Microsoft Sans Serif"/>
                <a:cs typeface="Microsoft Sans Serif"/>
              </a:rPr>
              <a:t>gativ</a:t>
            </a:r>
            <a:r>
              <a:rPr sz="2400" spc="-225" dirty="0">
                <a:latin typeface="Microsoft Sans Serif"/>
                <a:cs typeface="Microsoft Sans Serif"/>
              </a:rPr>
              <a:t>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</a:t>
            </a:r>
            <a:r>
              <a:rPr sz="2400" spc="-170" dirty="0">
                <a:latin typeface="Microsoft Sans Serif"/>
                <a:cs typeface="Microsoft Sans Serif"/>
              </a:rPr>
              <a:t>u</a:t>
            </a:r>
            <a:r>
              <a:rPr sz="2400" spc="-240" dirty="0">
                <a:latin typeface="Microsoft Sans Serif"/>
                <a:cs typeface="Microsoft Sans Serif"/>
              </a:rPr>
              <a:t>mb</a:t>
            </a:r>
            <a:r>
              <a:rPr sz="2400" spc="-190" dirty="0">
                <a:latin typeface="Microsoft Sans Serif"/>
                <a:cs typeface="Microsoft Sans Serif"/>
              </a:rPr>
              <a:t>e</a:t>
            </a:r>
            <a:r>
              <a:rPr sz="2400" spc="-225" dirty="0">
                <a:latin typeface="Microsoft Sans Serif"/>
                <a:cs typeface="Microsoft Sans Serif"/>
              </a:rPr>
              <a:t>rs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14" dirty="0">
                <a:latin typeface="Microsoft Sans Serif"/>
                <a:cs typeface="Microsoft Sans Serif"/>
              </a:rPr>
              <a:t>Un</a:t>
            </a:r>
            <a:r>
              <a:rPr sz="2400" spc="-95" dirty="0">
                <a:latin typeface="Microsoft Sans Serif"/>
                <a:cs typeface="Microsoft Sans Serif"/>
              </a:rPr>
              <a:t>d</a:t>
            </a:r>
            <a:r>
              <a:rPr sz="2400" spc="-190" dirty="0">
                <a:latin typeface="Microsoft Sans Serif"/>
                <a:cs typeface="Microsoft Sans Serif"/>
              </a:rPr>
              <a:t>e</a:t>
            </a:r>
            <a:r>
              <a:rPr sz="2400" spc="-105" dirty="0">
                <a:latin typeface="Microsoft Sans Serif"/>
                <a:cs typeface="Microsoft Sans Serif"/>
              </a:rPr>
              <a:t>r</a:t>
            </a:r>
            <a:r>
              <a:rPr sz="2400" spc="-215" dirty="0">
                <a:latin typeface="Microsoft Sans Serif"/>
                <a:cs typeface="Microsoft Sans Serif"/>
              </a:rPr>
              <a:t>score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85" dirty="0">
                <a:latin typeface="Microsoft Sans Serif"/>
                <a:cs typeface="Microsoft Sans Serif"/>
              </a:rPr>
              <a:t>charact</a:t>
            </a:r>
            <a:r>
              <a:rPr sz="2400" spc="-210" dirty="0">
                <a:latin typeface="Microsoft Sans Serif"/>
                <a:cs typeface="Microsoft Sans Serif"/>
              </a:rPr>
              <a:t>e</a:t>
            </a:r>
            <a:r>
              <a:rPr sz="2400" dirty="0">
                <a:latin typeface="Microsoft Sans Serif"/>
                <a:cs typeface="Microsoft Sans Serif"/>
              </a:rPr>
              <a:t>r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215" dirty="0">
                <a:latin typeface="Microsoft Sans Serif"/>
                <a:cs typeface="Microsoft Sans Serif"/>
              </a:rPr>
              <a:t>and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70" dirty="0">
                <a:latin typeface="Microsoft Sans Serif"/>
                <a:cs typeface="Microsoft Sans Serif"/>
              </a:rPr>
              <a:t>q</a:t>
            </a:r>
            <a:r>
              <a:rPr sz="2400" spc="-240" dirty="0">
                <a:latin typeface="Microsoft Sans Serif"/>
                <a:cs typeface="Microsoft Sans Serif"/>
              </a:rPr>
              <a:t>u</a:t>
            </a:r>
            <a:r>
              <a:rPr sz="2400" spc="-225" dirty="0">
                <a:latin typeface="Microsoft Sans Serif"/>
                <a:cs typeface="Microsoft Sans Serif"/>
              </a:rPr>
              <a:t>e</a:t>
            </a:r>
            <a:r>
              <a:rPr sz="2400" spc="-145" dirty="0">
                <a:latin typeface="Microsoft Sans Serif"/>
                <a:cs typeface="Microsoft Sans Serif"/>
              </a:rPr>
              <a:t>stion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mar</a:t>
            </a:r>
            <a:r>
              <a:rPr sz="2400" spc="-150" dirty="0">
                <a:latin typeface="Microsoft Sans Serif"/>
                <a:cs typeface="Microsoft Sans Serif"/>
              </a:rPr>
              <a:t>k</a:t>
            </a:r>
            <a:r>
              <a:rPr sz="2400" spc="-440" dirty="0"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‘_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mpro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ad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bil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ty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6335" algn="l"/>
              </a:tabLst>
            </a:pP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12’b1111_0000_1010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6335" algn="l"/>
              </a:tabLst>
            </a:pP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No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lowed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firs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chara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ter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5" dirty="0">
                <a:latin typeface="Microsoft Sans Serif"/>
                <a:cs typeface="Microsoft Sans Serif"/>
              </a:rPr>
              <a:t>‘?’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ame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‘z</a:t>
            </a:r>
            <a:r>
              <a:rPr sz="2400" spc="-20" dirty="0">
                <a:latin typeface="Microsoft Sans Serif"/>
                <a:cs typeface="Microsoft Sans Serif"/>
              </a:rPr>
              <a:t>’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(o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ly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gardin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mb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rs)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6335" algn="l"/>
              </a:tabLst>
            </a:pP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4’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10?</a:t>
            </a:r>
            <a:r>
              <a:rPr sz="24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?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ame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b10zz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24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251460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205864"/>
            <a:ext cx="6142355" cy="5036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42335">
              <a:lnSpc>
                <a:spcPts val="2350"/>
              </a:lnSpc>
              <a:spcBef>
                <a:spcPts val="105"/>
              </a:spcBef>
            </a:pP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NUMBERS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83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60" dirty="0">
                <a:latin typeface="Microsoft Sans Serif"/>
                <a:cs typeface="Microsoft Sans Serif"/>
              </a:rPr>
              <a:t>Sized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</a:t>
            </a:r>
            <a:r>
              <a:rPr sz="2400" spc="-165" dirty="0">
                <a:latin typeface="Microsoft Sans Serif"/>
                <a:cs typeface="Microsoft Sans Serif"/>
              </a:rPr>
              <a:t>u</a:t>
            </a:r>
            <a:r>
              <a:rPr sz="2400" spc="-225" dirty="0">
                <a:latin typeface="Microsoft Sans Serif"/>
                <a:cs typeface="Microsoft Sans Serif"/>
              </a:rPr>
              <a:t>m</a:t>
            </a:r>
            <a:r>
              <a:rPr sz="2400" spc="-145" dirty="0">
                <a:latin typeface="Microsoft Sans Serif"/>
                <a:cs typeface="Microsoft Sans Serif"/>
              </a:rPr>
              <a:t>b</a:t>
            </a:r>
            <a:r>
              <a:rPr sz="2400" spc="-190" dirty="0">
                <a:latin typeface="Microsoft Sans Serif"/>
                <a:cs typeface="Microsoft Sans Serif"/>
              </a:rPr>
              <a:t>e</a:t>
            </a:r>
            <a:r>
              <a:rPr sz="2400" spc="-105" dirty="0">
                <a:latin typeface="Microsoft Sans Serif"/>
                <a:cs typeface="Microsoft Sans Serif"/>
              </a:rPr>
              <a:t>r</a:t>
            </a:r>
            <a:r>
              <a:rPr sz="2400" spc="-440" dirty="0"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18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50" dirty="0">
                <a:latin typeface="Microsoft Sans Serif"/>
                <a:cs typeface="Microsoft Sans Serif"/>
              </a:rPr>
              <a:t>Gen</a:t>
            </a:r>
            <a:r>
              <a:rPr sz="2400" spc="-215" dirty="0">
                <a:latin typeface="Microsoft Sans Serif"/>
                <a:cs typeface="Microsoft Sans Serif"/>
              </a:rPr>
              <a:t>e</a:t>
            </a:r>
            <a:r>
              <a:rPr sz="2400" spc="-150" dirty="0">
                <a:latin typeface="Microsoft Sans Serif"/>
                <a:cs typeface="Microsoft Sans Serif"/>
              </a:rPr>
              <a:t>ra</a:t>
            </a:r>
            <a:r>
              <a:rPr sz="2400" spc="-75" dirty="0">
                <a:latin typeface="Microsoft Sans Serif"/>
                <a:cs typeface="Microsoft Sans Serif"/>
              </a:rPr>
              <a:t>l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synt</a:t>
            </a:r>
            <a:r>
              <a:rPr sz="2400" spc="-245" dirty="0">
                <a:latin typeface="Microsoft Sans Serif"/>
                <a:cs typeface="Microsoft Sans Serif"/>
              </a:rPr>
              <a:t>a</a:t>
            </a:r>
            <a:r>
              <a:rPr sz="2400" spc="-110" dirty="0">
                <a:latin typeface="Microsoft Sans Serif"/>
                <a:cs typeface="Microsoft Sans Serif"/>
              </a:rPr>
              <a:t>x</a:t>
            </a:r>
            <a:r>
              <a:rPr sz="2400" spc="-60" dirty="0">
                <a:latin typeface="Microsoft Sans Serif"/>
                <a:cs typeface="Microsoft Sans Serif"/>
              </a:rPr>
              <a:t>: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500" i="1" spc="-295" dirty="0">
                <a:latin typeface="Times New Roman"/>
                <a:cs typeface="Times New Roman"/>
              </a:rPr>
              <a:t>&lt;s</a:t>
            </a:r>
            <a:r>
              <a:rPr sz="2500" i="1" spc="-170" dirty="0">
                <a:latin typeface="Times New Roman"/>
                <a:cs typeface="Times New Roman"/>
              </a:rPr>
              <a:t>i</a:t>
            </a:r>
            <a:r>
              <a:rPr sz="2500" i="1" spc="-190" dirty="0">
                <a:latin typeface="Times New Roman"/>
                <a:cs typeface="Times New Roman"/>
              </a:rPr>
              <a:t>ze&gt;’&lt;</a:t>
            </a:r>
            <a:r>
              <a:rPr sz="2500" i="1" spc="-185" dirty="0">
                <a:latin typeface="Times New Roman"/>
                <a:cs typeface="Times New Roman"/>
              </a:rPr>
              <a:t>b</a:t>
            </a:r>
            <a:r>
              <a:rPr sz="2500" i="1" spc="-260" dirty="0">
                <a:latin typeface="Times New Roman"/>
                <a:cs typeface="Times New Roman"/>
              </a:rPr>
              <a:t>a</a:t>
            </a:r>
            <a:r>
              <a:rPr sz="2500" i="1" spc="-220" dirty="0">
                <a:latin typeface="Times New Roman"/>
                <a:cs typeface="Times New Roman"/>
              </a:rPr>
              <a:t>s</a:t>
            </a:r>
            <a:r>
              <a:rPr sz="2500" i="1" spc="-200" dirty="0">
                <a:latin typeface="Times New Roman"/>
                <a:cs typeface="Times New Roman"/>
              </a:rPr>
              <a:t>e&gt;&lt;n</a:t>
            </a:r>
            <a:r>
              <a:rPr sz="2500" i="1" spc="-170" dirty="0">
                <a:latin typeface="Times New Roman"/>
                <a:cs typeface="Times New Roman"/>
              </a:rPr>
              <a:t>u</a:t>
            </a:r>
            <a:r>
              <a:rPr sz="2500" i="1" spc="-90" dirty="0">
                <a:latin typeface="Times New Roman"/>
                <a:cs typeface="Times New Roman"/>
              </a:rPr>
              <a:t>mbe</a:t>
            </a:r>
            <a:r>
              <a:rPr sz="2500" i="1" spc="-60" dirty="0">
                <a:latin typeface="Times New Roman"/>
                <a:cs typeface="Times New Roman"/>
              </a:rPr>
              <a:t>r</a:t>
            </a:r>
            <a:r>
              <a:rPr sz="2500" i="1" spc="-345" dirty="0">
                <a:latin typeface="Times New Roman"/>
                <a:cs typeface="Times New Roman"/>
              </a:rPr>
              <a:t>&gt;</a:t>
            </a:r>
            <a:endParaRPr sz="2500">
              <a:latin typeface="Times New Roman"/>
              <a:cs typeface="Times New Roman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00"/>
              </a:spcBef>
              <a:buSzPct val="96000"/>
              <a:buFont typeface="Arial MT"/>
              <a:buChar char="•"/>
              <a:tabLst>
                <a:tab pos="1156335" algn="l"/>
              </a:tabLst>
            </a:pPr>
            <a:r>
              <a:rPr sz="2500" i="1" spc="-275" dirty="0">
                <a:solidFill>
                  <a:srgbClr val="006FC0"/>
                </a:solidFill>
                <a:latin typeface="Arial"/>
                <a:cs typeface="Arial"/>
              </a:rPr>
              <a:t>&lt;s</a:t>
            </a:r>
            <a:r>
              <a:rPr sz="2500" i="1" spc="-12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500" i="1" spc="-295" dirty="0">
                <a:solidFill>
                  <a:srgbClr val="006FC0"/>
                </a:solidFill>
                <a:latin typeface="Arial"/>
                <a:cs typeface="Arial"/>
              </a:rPr>
              <a:t>ze&gt;</a:t>
            </a:r>
            <a:r>
              <a:rPr sz="2500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mb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(i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decim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l),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no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he  n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mb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decim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digits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150"/>
              </a:spcBef>
              <a:buSzPct val="96000"/>
              <a:buFont typeface="Arial MT"/>
              <a:buChar char="•"/>
              <a:tabLst>
                <a:tab pos="1156335" algn="l"/>
              </a:tabLst>
            </a:pPr>
            <a:r>
              <a:rPr sz="2500" i="1" spc="-200" dirty="0">
                <a:solidFill>
                  <a:srgbClr val="006FC0"/>
                </a:solidFill>
                <a:latin typeface="Arial"/>
                <a:cs typeface="Arial"/>
              </a:rPr>
              <a:t>&lt;n</a:t>
            </a:r>
            <a:r>
              <a:rPr sz="2500" i="1" spc="-18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2500" i="1" spc="-310" dirty="0">
                <a:solidFill>
                  <a:srgbClr val="006FC0"/>
                </a:solidFill>
                <a:latin typeface="Arial"/>
                <a:cs typeface="Arial"/>
              </a:rPr>
              <a:t>mb</a:t>
            </a:r>
            <a:r>
              <a:rPr sz="2500" i="1" spc="-24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500" i="1" spc="-6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500" i="1" spc="-95" dirty="0">
                <a:solidFill>
                  <a:srgbClr val="006FC0"/>
                </a:solidFill>
                <a:latin typeface="Arial"/>
                <a:cs typeface="Arial"/>
              </a:rPr>
              <a:t>&gt;</a:t>
            </a:r>
            <a:r>
              <a:rPr sz="25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num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radi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i="1" spc="-290" dirty="0">
                <a:solidFill>
                  <a:srgbClr val="006FC0"/>
                </a:solidFill>
                <a:latin typeface="Arial"/>
                <a:cs typeface="Arial"/>
              </a:rPr>
              <a:t>&lt;base&gt;</a:t>
            </a:r>
            <a:endParaRPr sz="25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170"/>
              </a:spcBef>
              <a:buSzPct val="96000"/>
              <a:buFont typeface="Arial MT"/>
              <a:buChar char="•"/>
              <a:tabLst>
                <a:tab pos="1156335" algn="l"/>
              </a:tabLst>
            </a:pPr>
            <a:r>
              <a:rPr sz="2500" i="1" spc="-320" dirty="0">
                <a:solidFill>
                  <a:srgbClr val="006FC0"/>
                </a:solidFill>
                <a:latin typeface="Arial"/>
                <a:cs typeface="Arial"/>
              </a:rPr>
              <a:t>&lt;ba</a:t>
            </a:r>
            <a:r>
              <a:rPr sz="2500" i="1" spc="-29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500" i="1" spc="-23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500" i="1" spc="-240" dirty="0">
                <a:solidFill>
                  <a:srgbClr val="006FC0"/>
                </a:solidFill>
                <a:latin typeface="Arial"/>
                <a:cs typeface="Arial"/>
              </a:rPr>
              <a:t>&gt;</a:t>
            </a:r>
            <a:r>
              <a:rPr sz="25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1612900" lvl="3" indent="-229235">
              <a:lnSpc>
                <a:spcPct val="100000"/>
              </a:lnSpc>
              <a:spcBef>
                <a:spcPts val="270"/>
              </a:spcBef>
              <a:buFont typeface="Arial MT"/>
              <a:buChar char="–"/>
              <a:tabLst>
                <a:tab pos="1613535" algn="l"/>
              </a:tabLst>
            </a:pP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decim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ad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10)</a:t>
            </a:r>
            <a:endParaRPr sz="2400">
              <a:latin typeface="Microsoft Sans Serif"/>
              <a:cs typeface="Microsoft Sans Serif"/>
            </a:endParaRPr>
          </a:p>
          <a:p>
            <a:pPr marL="1612900" lvl="3" indent="-229235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1613535" algn="l"/>
              </a:tabLst>
            </a:pP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binar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ad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2)</a:t>
            </a:r>
            <a:endParaRPr sz="2400">
              <a:latin typeface="Microsoft Sans Serif"/>
              <a:cs typeface="Microsoft Sans Serif"/>
            </a:endParaRPr>
          </a:p>
          <a:p>
            <a:pPr marL="1612900" lvl="3" indent="-229235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1613535" algn="l"/>
              </a:tabLst>
            </a:pP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octal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(radix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8)</a:t>
            </a:r>
            <a:endParaRPr sz="2400">
              <a:latin typeface="Microsoft Sans Serif"/>
              <a:cs typeface="Microsoft Sans Serif"/>
            </a:endParaRPr>
          </a:p>
          <a:p>
            <a:pPr marL="1612900" lvl="3" indent="-229235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1613535" algn="l"/>
              </a:tabLst>
            </a:pP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xadec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(radi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6)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40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  <a:spcBef>
                <a:spcPts val="285"/>
              </a:spcBef>
              <a:tabLst>
                <a:tab pos="2755900" algn="l"/>
                <a:tab pos="3964940" algn="l"/>
              </a:tabLst>
            </a:pPr>
            <a:r>
              <a:rPr sz="2400" dirty="0">
                <a:solidFill>
                  <a:srgbClr val="006FC0"/>
                </a:solidFill>
                <a:latin typeface="Arial MT"/>
                <a:cs typeface="Arial MT"/>
              </a:rPr>
              <a:t>–</a:t>
            </a:r>
            <a:r>
              <a:rPr sz="2400" spc="-2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4’b1111,	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12’habc,	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8’d255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25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2140" y="1026637"/>
            <a:ext cx="7228840" cy="497840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608965" algn="ctr">
              <a:lnSpc>
                <a:spcPct val="100000"/>
              </a:lnSpc>
              <a:spcBef>
                <a:spcPts val="1515"/>
              </a:spcBef>
            </a:pP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NUMBERS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695"/>
              </a:spcBef>
              <a:buClr>
                <a:srgbClr val="E36C09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225" dirty="0">
                <a:latin typeface="Microsoft Sans Serif"/>
                <a:cs typeface="Microsoft Sans Serif"/>
              </a:rPr>
              <a:t>Un</a:t>
            </a:r>
            <a:r>
              <a:rPr sz="2400" spc="-190" dirty="0">
                <a:latin typeface="Microsoft Sans Serif"/>
                <a:cs typeface="Microsoft Sans Serif"/>
              </a:rPr>
              <a:t>s</a:t>
            </a:r>
            <a:r>
              <a:rPr sz="2400" spc="-204" dirty="0">
                <a:latin typeface="Microsoft Sans Serif"/>
                <a:cs typeface="Microsoft Sans Serif"/>
              </a:rPr>
              <a:t>ized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</a:t>
            </a:r>
            <a:r>
              <a:rPr sz="2400" spc="-175" dirty="0">
                <a:latin typeface="Microsoft Sans Serif"/>
                <a:cs typeface="Microsoft Sans Serif"/>
              </a:rPr>
              <a:t>u</a:t>
            </a:r>
            <a:r>
              <a:rPr sz="2400" spc="-190" dirty="0">
                <a:latin typeface="Microsoft Sans Serif"/>
                <a:cs typeface="Microsoft Sans Serif"/>
              </a:rPr>
              <a:t>mbe</a:t>
            </a:r>
            <a:r>
              <a:rPr sz="2400" spc="-95" dirty="0">
                <a:latin typeface="Microsoft Sans Serif"/>
                <a:cs typeface="Microsoft Sans Serif"/>
              </a:rPr>
              <a:t>r</a:t>
            </a:r>
            <a:r>
              <a:rPr sz="2400" spc="-440" dirty="0"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lr>
                <a:srgbClr val="E36C09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faul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ba</a:t>
            </a:r>
            <a:r>
              <a:rPr sz="24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mal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lr>
                <a:srgbClr val="E36C09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faul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ize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least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(dep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nd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ompi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lr>
                <a:srgbClr val="E36C09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Clr>
                <a:srgbClr val="E36C09"/>
              </a:buClr>
              <a:buFont typeface="Wingdings"/>
              <a:buChar char=""/>
              <a:tabLst>
                <a:tab pos="1156335" algn="l"/>
              </a:tabLst>
            </a:pP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23232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Clr>
                <a:srgbClr val="E36C09"/>
              </a:buClr>
              <a:buFont typeface="Wingdings"/>
              <a:buChar char=""/>
              <a:tabLst>
                <a:tab pos="1156335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’habc</a:t>
            </a:r>
            <a:endParaRPr sz="2400">
              <a:latin typeface="Microsoft Sans Serif"/>
              <a:cs typeface="Microsoft Sans Serif"/>
            </a:endParaRPr>
          </a:p>
          <a:p>
            <a:pPr marL="1155700" lvl="2" indent="-229235">
              <a:lnSpc>
                <a:spcPts val="2630"/>
              </a:lnSpc>
              <a:spcBef>
                <a:spcPts val="285"/>
              </a:spcBef>
              <a:buClr>
                <a:srgbClr val="E36C09"/>
              </a:buClr>
              <a:buFont typeface="Wingdings"/>
              <a:buChar char=""/>
              <a:tabLst>
                <a:tab pos="1156335" algn="l"/>
              </a:tabLst>
            </a:pP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’o234</a:t>
            </a:r>
            <a:endParaRPr sz="2400">
              <a:latin typeface="Microsoft Sans Serif"/>
              <a:cs typeface="Microsoft Sans Serif"/>
            </a:endParaRPr>
          </a:p>
          <a:p>
            <a:pPr marL="477520" indent="-465455">
              <a:lnSpc>
                <a:spcPts val="2340"/>
              </a:lnSpc>
              <a:buClr>
                <a:srgbClr val="E36C09"/>
              </a:buClr>
              <a:buFont typeface="Wingdings"/>
              <a:buChar char=""/>
              <a:tabLst>
                <a:tab pos="477520" algn="l"/>
                <a:tab pos="478155" algn="l"/>
              </a:tabLst>
            </a:pPr>
            <a:r>
              <a:rPr sz="2400" spc="-160" dirty="0">
                <a:latin typeface="Microsoft Sans Serif"/>
                <a:cs typeface="Microsoft Sans Serif"/>
              </a:rPr>
              <a:t>N</a:t>
            </a:r>
            <a:r>
              <a:rPr sz="2400" spc="-114" dirty="0">
                <a:latin typeface="Microsoft Sans Serif"/>
                <a:cs typeface="Microsoft Sans Serif"/>
              </a:rPr>
              <a:t>e</a:t>
            </a:r>
            <a:r>
              <a:rPr sz="2400" spc="-175" dirty="0">
                <a:latin typeface="Microsoft Sans Serif"/>
                <a:cs typeface="Microsoft Sans Serif"/>
              </a:rPr>
              <a:t>gativ</a:t>
            </a:r>
            <a:r>
              <a:rPr sz="2400" spc="-225" dirty="0">
                <a:latin typeface="Microsoft Sans Serif"/>
                <a:cs typeface="Microsoft Sans Serif"/>
              </a:rPr>
              <a:t>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80" dirty="0">
                <a:latin typeface="Microsoft Sans Serif"/>
                <a:cs typeface="Microsoft Sans Serif"/>
              </a:rPr>
              <a:t>n</a:t>
            </a:r>
            <a:r>
              <a:rPr sz="2400" spc="-170" dirty="0">
                <a:latin typeface="Microsoft Sans Serif"/>
                <a:cs typeface="Microsoft Sans Serif"/>
              </a:rPr>
              <a:t>u</a:t>
            </a:r>
            <a:r>
              <a:rPr sz="2400" spc="-240" dirty="0">
                <a:latin typeface="Microsoft Sans Serif"/>
                <a:cs typeface="Microsoft Sans Serif"/>
              </a:rPr>
              <a:t>mb</a:t>
            </a:r>
            <a:r>
              <a:rPr sz="2400" spc="-190" dirty="0">
                <a:latin typeface="Microsoft Sans Serif"/>
                <a:cs typeface="Microsoft Sans Serif"/>
              </a:rPr>
              <a:t>e</a:t>
            </a:r>
            <a:r>
              <a:rPr sz="2400" spc="-225" dirty="0">
                <a:latin typeface="Microsoft Sans Serif"/>
                <a:cs typeface="Microsoft Sans Serif"/>
              </a:rPr>
              <a:t>rs</a:t>
            </a:r>
            <a:endParaRPr sz="2400">
              <a:latin typeface="Microsoft Sans Serif"/>
              <a:cs typeface="Microsoft Sans Serif"/>
            </a:endParaRPr>
          </a:p>
          <a:p>
            <a:pPr marL="762635" lvl="1" indent="-293370">
              <a:lnSpc>
                <a:spcPts val="2305"/>
              </a:lnSpc>
              <a:buClr>
                <a:srgbClr val="E36C09"/>
              </a:buClr>
              <a:buFont typeface="Wingdings"/>
              <a:buChar char=""/>
              <a:tabLst>
                <a:tab pos="762635" algn="l"/>
                <a:tab pos="763270" algn="l"/>
              </a:tabLst>
            </a:pP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Put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ign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ize&gt;</a:t>
            </a:r>
            <a:endParaRPr sz="2400">
              <a:latin typeface="Microsoft Sans Serif"/>
              <a:cs typeface="Microsoft Sans Serif"/>
            </a:endParaRPr>
          </a:p>
          <a:p>
            <a:pPr marL="762635" lvl="1" indent="-293370">
              <a:lnSpc>
                <a:spcPts val="2305"/>
              </a:lnSpc>
              <a:buClr>
                <a:srgbClr val="E36C09"/>
              </a:buClr>
              <a:buFont typeface="Wingdings"/>
              <a:buChar char=""/>
              <a:tabLst>
                <a:tab pos="762635" algn="l"/>
                <a:tab pos="763270" algn="l"/>
              </a:tabLst>
            </a:pP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400">
              <a:latin typeface="Microsoft Sans Serif"/>
              <a:cs typeface="Microsoft Sans Serif"/>
            </a:endParaRPr>
          </a:p>
          <a:p>
            <a:pPr marL="1271270" lvl="2" indent="-344805">
              <a:lnSpc>
                <a:spcPts val="2305"/>
              </a:lnSpc>
              <a:buClr>
                <a:srgbClr val="E36C09"/>
              </a:buClr>
              <a:buFont typeface="Wingdings"/>
              <a:buChar char=""/>
              <a:tabLst>
                <a:tab pos="1271270" algn="l"/>
                <a:tab pos="1271905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-6’d35</a:t>
            </a:r>
            <a:endParaRPr sz="2400">
              <a:latin typeface="Microsoft Sans Serif"/>
              <a:cs typeface="Microsoft Sans Serif"/>
            </a:endParaRPr>
          </a:p>
          <a:p>
            <a:pPr marL="1271270" lvl="2" indent="-344805">
              <a:lnSpc>
                <a:spcPts val="2590"/>
              </a:lnSpc>
              <a:buClr>
                <a:srgbClr val="E36C09"/>
              </a:buClr>
              <a:buFont typeface="Wingdings"/>
              <a:buChar char=""/>
              <a:tabLst>
                <a:tab pos="1271270" algn="l"/>
                <a:tab pos="1271905" algn="l"/>
                <a:tab pos="2755900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4’d-12	</a:t>
            </a:r>
            <a:r>
              <a:rPr sz="24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illegal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26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65575" y="1205864"/>
            <a:ext cx="11315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MBER</a:t>
            </a:r>
            <a:r>
              <a:rPr sz="2000" b="1" spc="-40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27</a:t>
            </a:fld>
            <a:endParaRPr spc="-195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59740" y="1401825"/>
            <a:ext cx="18021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E36C09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14" dirty="0">
                <a:latin typeface="Microsoft Sans Serif"/>
                <a:cs typeface="Microsoft Sans Serif"/>
              </a:rPr>
              <a:t>X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65" dirty="0">
                <a:latin typeface="Microsoft Sans Serif"/>
                <a:cs typeface="Microsoft Sans Serif"/>
              </a:rPr>
              <a:t>or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140" dirty="0">
                <a:latin typeface="Microsoft Sans Serif"/>
                <a:cs typeface="Microsoft Sans Serif"/>
              </a:rPr>
              <a:t>Z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229" dirty="0">
                <a:latin typeface="Microsoft Sans Serif"/>
                <a:cs typeface="Microsoft Sans Serif"/>
              </a:rPr>
              <a:t>values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6939" y="1736801"/>
            <a:ext cx="5802630" cy="4599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664210" indent="-286385" algn="r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86385" algn="l"/>
                <a:tab pos="287020" algn="l"/>
              </a:tabLst>
            </a:pP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Unknown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value: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lowercase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Uppercase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endParaRPr sz="2200">
              <a:latin typeface="Microsoft Sans Serif"/>
              <a:cs typeface="Microsoft Sans Serif"/>
            </a:endParaRPr>
          </a:p>
          <a:p>
            <a:pPr marL="227965" marR="615950" lvl="1" indent="-227965" algn="r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27965" algn="l"/>
                <a:tab pos="228600" algn="l"/>
              </a:tabLst>
            </a:pP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he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octal,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bin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ry</a:t>
            </a:r>
            <a:endParaRPr sz="22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High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impe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ce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2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lue: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erc</a:t>
            </a:r>
            <a:r>
              <a:rPr sz="2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percase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endParaRPr sz="2200">
              <a:latin typeface="Microsoft Sans Serif"/>
              <a:cs typeface="Microsoft Sans Serif"/>
            </a:endParaRPr>
          </a:p>
          <a:p>
            <a:pPr marL="698500" lvl="1" indent="-229235">
              <a:lnSpc>
                <a:spcPct val="100000"/>
              </a:lnSpc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he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octal,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bin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ry</a:t>
            </a:r>
            <a:endParaRPr sz="22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</a:t>
            </a:r>
            <a:endParaRPr sz="2200">
              <a:latin typeface="Microsoft Sans Serif"/>
              <a:cs typeface="Microsoft Sans Serif"/>
            </a:endParaRPr>
          </a:p>
          <a:p>
            <a:pPr marL="698500" lvl="1" indent="-229235">
              <a:lnSpc>
                <a:spcPct val="100000"/>
              </a:lnSpc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12’h13x</a:t>
            </a:r>
            <a:endParaRPr sz="2200">
              <a:latin typeface="Microsoft Sans Serif"/>
              <a:cs typeface="Microsoft Sans Serif"/>
            </a:endParaRPr>
          </a:p>
          <a:p>
            <a:pPr marL="698500" lvl="1" indent="-229235">
              <a:lnSpc>
                <a:spcPct val="100000"/>
              </a:lnSpc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4’hX</a:t>
            </a:r>
            <a:endParaRPr sz="2200">
              <a:latin typeface="Microsoft Sans Serif"/>
              <a:cs typeface="Microsoft Sans Serif"/>
            </a:endParaRPr>
          </a:p>
          <a:p>
            <a:pPr marL="698500" lvl="1" indent="-229235">
              <a:lnSpc>
                <a:spcPct val="100000"/>
              </a:lnSpc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32’bz</a:t>
            </a:r>
            <a:endParaRPr sz="22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006FC0"/>
              </a:buClr>
              <a:buFont typeface="Arial MT"/>
              <a:buChar char="•"/>
            </a:pPr>
            <a:endParaRPr sz="23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–"/>
              <a:tabLst>
                <a:tab pos="299085" algn="l"/>
                <a:tab pos="299720" algn="l"/>
              </a:tabLst>
            </a:pPr>
            <a:r>
              <a:rPr sz="2200" spc="-170" dirty="0">
                <a:latin typeface="Microsoft Sans Serif"/>
                <a:cs typeface="Microsoft Sans Serif"/>
              </a:rPr>
              <a:t>Extending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135" dirty="0">
                <a:latin typeface="Microsoft Sans Serif"/>
                <a:cs typeface="Microsoft Sans Serif"/>
              </a:rPr>
              <a:t>the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45" dirty="0">
                <a:latin typeface="Microsoft Sans Serif"/>
                <a:cs typeface="Microsoft Sans Serif"/>
              </a:rPr>
              <a:t>most-significant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100" dirty="0">
                <a:latin typeface="Microsoft Sans Serif"/>
                <a:cs typeface="Microsoft Sans Serif"/>
              </a:rPr>
              <a:t>part</a:t>
            </a:r>
            <a:endParaRPr sz="2200">
              <a:latin typeface="Microsoft Sans Serif"/>
              <a:cs typeface="Microsoft Sans Serif"/>
            </a:endParaRPr>
          </a:p>
          <a:p>
            <a:pPr marL="756285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MS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sz="2000" spc="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this</a:t>
            </a:r>
            <a:endParaRPr sz="20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tabLst>
                <a:tab pos="1213485" algn="l"/>
              </a:tabLst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–	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_x1</a:t>
            </a:r>
            <a:endParaRPr sz="2000">
              <a:latin typeface="Microsoft Sans Serif"/>
              <a:cs typeface="Microsoft Sans Serif"/>
            </a:endParaRPr>
          </a:p>
          <a:p>
            <a:pPr marL="756285" indent="-287020">
              <a:lnSpc>
                <a:spcPts val="239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MS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sz="20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0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tension</a:t>
            </a:r>
            <a:endParaRPr sz="2000">
              <a:latin typeface="Microsoft Sans Serif"/>
              <a:cs typeface="Microsoft Sans Serif"/>
            </a:endParaRPr>
          </a:p>
          <a:p>
            <a:pPr marL="927100">
              <a:lnSpc>
                <a:spcPts val="2395"/>
              </a:lnSpc>
              <a:tabLst>
                <a:tab pos="1213485" algn="l"/>
              </a:tabLst>
            </a:pPr>
            <a:r>
              <a:rPr sz="2000" dirty="0">
                <a:solidFill>
                  <a:srgbClr val="006FC0"/>
                </a:solidFill>
                <a:latin typeface="Arial MT"/>
                <a:cs typeface="Arial MT"/>
              </a:rPr>
              <a:t>–	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_1x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8" y="155460"/>
              <a:ext cx="5215127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65933" y="289382"/>
            <a:ext cx="4606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LEXICAL</a:t>
            </a:r>
            <a:r>
              <a:rPr spc="-85" dirty="0"/>
              <a:t> </a:t>
            </a:r>
            <a:r>
              <a:rPr spc="-160" dirty="0"/>
              <a:t>CONVENTIONS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16939" y="1102309"/>
            <a:ext cx="5011420" cy="50609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223135">
              <a:lnSpc>
                <a:spcPct val="100000"/>
              </a:lnSpc>
              <a:spcBef>
                <a:spcPts val="470"/>
              </a:spcBef>
            </a:pP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2000" b="1" spc="-125" dirty="0">
                <a:solidFill>
                  <a:srgbClr val="C00000"/>
                </a:solidFill>
                <a:latin typeface="Arial"/>
                <a:cs typeface="Arial"/>
              </a:rPr>
              <a:t>IT</a:t>
            </a:r>
            <a:r>
              <a:rPr sz="2000" b="1" spc="-17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SP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CE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5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RINGS</a:t>
            </a:r>
            <a:endParaRPr sz="2000">
              <a:latin typeface="Arial"/>
              <a:cs typeface="Arial"/>
            </a:endParaRPr>
          </a:p>
          <a:p>
            <a:pPr marL="477520" indent="-465455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Font typeface="Wingdings"/>
              <a:buChar char=""/>
              <a:tabLst>
                <a:tab pos="477520" algn="l"/>
                <a:tab pos="478155" algn="l"/>
              </a:tabLst>
            </a:pPr>
            <a:r>
              <a:rPr sz="2800" spc="-250" dirty="0">
                <a:latin typeface="Microsoft Sans Serif"/>
                <a:cs typeface="Microsoft Sans Serif"/>
              </a:rPr>
              <a:t>Whitespace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Font typeface="Wingdings"/>
              <a:buChar char=""/>
              <a:tabLst>
                <a:tab pos="756920" algn="l"/>
              </a:tabLst>
            </a:pP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Blank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space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\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b)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Font typeface="Wingdings"/>
              <a:buChar char=""/>
              <a:tabLst>
                <a:tab pos="756920" algn="l"/>
              </a:tabLst>
            </a:pP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Ta</a:t>
            </a:r>
            <a:r>
              <a:rPr sz="2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\</a:t>
            </a:r>
            <a:r>
              <a:rPr sz="2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t)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Font typeface="Wingdings"/>
              <a:buChar char=""/>
              <a:tabLst>
                <a:tab pos="756920" algn="l"/>
              </a:tabLst>
            </a:pP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Newline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(\n)</a:t>
            </a:r>
            <a:endParaRPr sz="2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"/>
            </a:pPr>
            <a:endParaRPr sz="3100">
              <a:latin typeface="Microsoft Sans Serif"/>
              <a:cs typeface="Microsoft Sans Serif"/>
            </a:endParaRPr>
          </a:p>
          <a:p>
            <a:pPr marL="477520" indent="-465455">
              <a:lnSpc>
                <a:spcPts val="3275"/>
              </a:lnSpc>
              <a:buClr>
                <a:srgbClr val="FF0000"/>
              </a:buClr>
              <a:buFont typeface="Wingdings"/>
              <a:buChar char=""/>
              <a:tabLst>
                <a:tab pos="477520" algn="l"/>
                <a:tab pos="478155" algn="l"/>
              </a:tabLst>
            </a:pPr>
            <a:r>
              <a:rPr sz="2800" spc="-229" dirty="0">
                <a:latin typeface="Microsoft Sans Serif"/>
                <a:cs typeface="Microsoft Sans Serif"/>
              </a:rPr>
              <a:t>Strings</a:t>
            </a:r>
            <a:endParaRPr sz="2800">
              <a:latin typeface="Microsoft Sans Serif"/>
              <a:cs typeface="Microsoft Sans Serif"/>
            </a:endParaRPr>
          </a:p>
          <a:p>
            <a:pPr marL="762635" lvl="1" indent="-293370">
              <a:lnSpc>
                <a:spcPts val="3275"/>
              </a:lnSpc>
              <a:buClr>
                <a:srgbClr val="FF0000"/>
              </a:buClr>
              <a:buFont typeface="Wingdings"/>
              <a:buChar char=""/>
              <a:tabLst>
                <a:tab pos="763270" algn="l"/>
              </a:tabLst>
            </a:pP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C,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8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q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otes</a:t>
            </a:r>
            <a:endParaRPr sz="2800">
              <a:latin typeface="Microsoft Sans Serif"/>
              <a:cs typeface="Microsoft Sans Serif"/>
            </a:endParaRPr>
          </a:p>
          <a:p>
            <a:pPr marL="762635" lvl="1" indent="-293370">
              <a:lnSpc>
                <a:spcPts val="3170"/>
              </a:lnSpc>
              <a:buClr>
                <a:srgbClr val="FF0000"/>
              </a:buClr>
              <a:buFont typeface="Wingdings"/>
              <a:buChar char=""/>
              <a:tabLst>
                <a:tab pos="763270" algn="l"/>
              </a:tabLst>
            </a:pPr>
            <a:r>
              <a:rPr sz="2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800">
              <a:latin typeface="Microsoft Sans Serif"/>
              <a:cs typeface="Microsoft Sans Serif"/>
            </a:endParaRPr>
          </a:p>
          <a:p>
            <a:pPr marL="1391920" lvl="2" indent="-465455">
              <a:lnSpc>
                <a:spcPts val="2405"/>
              </a:lnSpc>
              <a:buClr>
                <a:srgbClr val="FF0000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“Hello</a:t>
            </a:r>
            <a:r>
              <a:rPr sz="2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world!”</a:t>
            </a:r>
            <a:endParaRPr sz="2400">
              <a:latin typeface="Microsoft Sans Serif"/>
              <a:cs typeface="Microsoft Sans Serif"/>
            </a:endParaRPr>
          </a:p>
          <a:p>
            <a:pPr marL="1391920" lvl="2" indent="-465455">
              <a:lnSpc>
                <a:spcPts val="2240"/>
              </a:lnSpc>
              <a:buClr>
                <a:srgbClr val="FF0000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“a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b”</a:t>
            </a:r>
            <a:endParaRPr sz="2400">
              <a:latin typeface="Microsoft Sans Serif"/>
              <a:cs typeface="Microsoft Sans Serif"/>
            </a:endParaRPr>
          </a:p>
          <a:p>
            <a:pPr marL="1391920" lvl="2" indent="-465455">
              <a:lnSpc>
                <a:spcPts val="3010"/>
              </a:lnSpc>
              <a:buClr>
                <a:srgbClr val="FF0000"/>
              </a:buClr>
              <a:buFont typeface="Wingdings"/>
              <a:buChar char=""/>
              <a:tabLst>
                <a:tab pos="1391920" algn="l"/>
                <a:tab pos="1392555" algn="l"/>
              </a:tabLst>
            </a:pP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“text\tcolumn1\bcolumn2\n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28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29</a:t>
            </a:fld>
            <a:endParaRPr spc="-19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89541"/>
            <a:ext cx="6383655" cy="21805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823335">
              <a:lnSpc>
                <a:spcPct val="100000"/>
              </a:lnSpc>
              <a:spcBef>
                <a:spcPts val="570"/>
              </a:spcBef>
            </a:pPr>
            <a:r>
              <a:rPr sz="2000" b="1" spc="-125" dirty="0">
                <a:solidFill>
                  <a:srgbClr val="C00000"/>
                </a:solidFill>
                <a:latin typeface="Arial"/>
                <a:cs typeface="Arial"/>
              </a:rPr>
              <a:t>NET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Tw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oups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ypes: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2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50" dirty="0">
                <a:latin typeface="Microsoft Sans Serif"/>
                <a:cs typeface="Microsoft Sans Serif"/>
              </a:rPr>
              <a:t>Net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represents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connection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between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hardware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elements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180" dirty="0">
                <a:latin typeface="Microsoft Sans Serif"/>
                <a:cs typeface="Microsoft Sans Serif"/>
              </a:rPr>
              <a:t>Registers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represents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abstract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storage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element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98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Syntax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dec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arat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on: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3691823"/>
            <a:ext cx="7569834" cy="27298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455"/>
              </a:spcBef>
              <a:buClr>
                <a:srgbClr val="FF0000"/>
              </a:buClr>
              <a:buSzPct val="95238"/>
              <a:buFont typeface="Wingdings"/>
              <a:buChar char=""/>
              <a:tabLst>
                <a:tab pos="756920" algn="l"/>
                <a:tab pos="1827530" algn="l"/>
              </a:tabLst>
            </a:pPr>
            <a:r>
              <a:rPr sz="2100" i="1" spc="-165" dirty="0">
                <a:solidFill>
                  <a:srgbClr val="006FC0"/>
                </a:solidFill>
                <a:latin typeface="Arial"/>
                <a:cs typeface="Arial"/>
              </a:rPr>
              <a:t>&lt;</a:t>
            </a:r>
            <a:r>
              <a:rPr sz="2100" i="1" spc="-14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100" i="1" spc="-19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100" i="1" spc="-9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10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120" dirty="0">
                <a:solidFill>
                  <a:srgbClr val="006FC0"/>
                </a:solidFill>
                <a:latin typeface="Arial"/>
                <a:cs typeface="Arial"/>
              </a:rPr>
              <a:t>lis</a:t>
            </a:r>
            <a:r>
              <a:rPr sz="2100" i="1" spc="-114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100" i="1" spc="-105" dirty="0">
                <a:solidFill>
                  <a:srgbClr val="006FC0"/>
                </a:solidFill>
                <a:latin typeface="Arial"/>
                <a:cs typeface="Arial"/>
              </a:rPr>
              <a:t>&gt;</a:t>
            </a:r>
            <a:r>
              <a:rPr sz="2100" i="1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100" i="1" spc="-185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100" i="1" spc="-180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2100" i="1" spc="-3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100" i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9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100" i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150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100" i="1" spc="-19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10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200" dirty="0">
                <a:solidFill>
                  <a:srgbClr val="006FC0"/>
                </a:solidFill>
                <a:latin typeface="Arial"/>
                <a:cs typeface="Arial"/>
              </a:rPr>
              <a:t>ne</a:t>
            </a:r>
            <a:r>
              <a:rPr sz="2100" i="1" spc="-10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10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155" dirty="0">
                <a:solidFill>
                  <a:srgbClr val="006FC0"/>
                </a:solidFill>
                <a:latin typeface="Arial"/>
                <a:cs typeface="Arial"/>
              </a:rPr>
              <a:t>type</a:t>
            </a:r>
            <a:endParaRPr sz="21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360"/>
              </a:spcBef>
              <a:buClr>
                <a:srgbClr val="FF0000"/>
              </a:buClr>
              <a:buSzPct val="95238"/>
              <a:buFont typeface="Wingdings"/>
              <a:buChar char=""/>
              <a:tabLst>
                <a:tab pos="756920" algn="l"/>
                <a:tab pos="1815464" algn="l"/>
              </a:tabLst>
            </a:pPr>
            <a:r>
              <a:rPr sz="2100" i="1" spc="-85" dirty="0">
                <a:solidFill>
                  <a:srgbClr val="006FC0"/>
                </a:solidFill>
                <a:latin typeface="Arial"/>
                <a:cs typeface="Arial"/>
              </a:rPr>
              <a:t>[</a:t>
            </a:r>
            <a:r>
              <a:rPr sz="2100" i="1" spc="-220" dirty="0">
                <a:solidFill>
                  <a:srgbClr val="006FC0"/>
                </a:solidFill>
                <a:latin typeface="Arial"/>
                <a:cs typeface="Arial"/>
              </a:rPr>
              <a:t>msb:lsb</a:t>
            </a:r>
            <a:r>
              <a:rPr sz="2100" i="1" spc="-85" dirty="0">
                <a:solidFill>
                  <a:srgbClr val="006FC0"/>
                </a:solidFill>
                <a:latin typeface="Arial"/>
                <a:cs typeface="Arial"/>
              </a:rPr>
              <a:t>]</a:t>
            </a:r>
            <a:r>
              <a:rPr sz="2100" i="1" dirty="0">
                <a:solidFill>
                  <a:srgbClr val="006FC0"/>
                </a:solidFill>
                <a:latin typeface="Arial"/>
                <a:cs typeface="Arial"/>
              </a:rPr>
              <a:t>	</a:t>
            </a:r>
            <a:r>
              <a:rPr sz="2100" i="1" spc="-295" dirty="0">
                <a:solidFill>
                  <a:srgbClr val="006FC0"/>
                </a:solidFill>
                <a:latin typeface="Arial"/>
                <a:cs typeface="Arial"/>
              </a:rPr>
              <a:t>sp</a:t>
            </a:r>
            <a:r>
              <a:rPr sz="2100" i="1" spc="-140" dirty="0">
                <a:solidFill>
                  <a:srgbClr val="006FC0"/>
                </a:solidFill>
                <a:latin typeface="Arial"/>
                <a:cs typeface="Arial"/>
              </a:rPr>
              <a:t>ecif</a:t>
            </a:r>
            <a:r>
              <a:rPr sz="2100" i="1" spc="-175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2100" i="1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14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100" i="1" spc="-22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100" i="1" spc="-320" dirty="0">
                <a:solidFill>
                  <a:srgbClr val="006FC0"/>
                </a:solidFill>
                <a:latin typeface="Arial"/>
                <a:cs typeface="Arial"/>
              </a:rPr>
              <a:t>nge</a:t>
            </a:r>
            <a:r>
              <a:rPr sz="2100" i="1" spc="-28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2100" i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95" dirty="0">
                <a:solidFill>
                  <a:srgbClr val="006FC0"/>
                </a:solidFill>
                <a:latin typeface="Arial"/>
                <a:cs typeface="Arial"/>
              </a:rPr>
              <a:t>of</a:t>
            </a:r>
            <a:r>
              <a:rPr sz="2100" i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150" dirty="0">
                <a:solidFill>
                  <a:srgbClr val="006FC0"/>
                </a:solidFill>
                <a:latin typeface="Arial"/>
                <a:cs typeface="Arial"/>
              </a:rPr>
              <a:t>th</a:t>
            </a:r>
            <a:r>
              <a:rPr sz="2100" i="1" spc="-19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10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170" dirty="0">
                <a:solidFill>
                  <a:srgbClr val="006FC0"/>
                </a:solidFill>
                <a:latin typeface="Arial"/>
                <a:cs typeface="Arial"/>
              </a:rPr>
              <a:t>net</a:t>
            </a:r>
            <a:endParaRPr sz="21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95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determined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from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drivers</a:t>
            </a:r>
            <a:endParaRPr sz="24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spcBef>
                <a:spcPts val="202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Nets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one-bit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unless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they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vectors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and </a:t>
            </a:r>
            <a:r>
              <a:rPr sz="2400" spc="-6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ault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endParaRPr sz="24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  <a:tabLst>
                <a:tab pos="2755900" algn="l"/>
              </a:tabLst>
            </a:pPr>
            <a:r>
              <a:rPr sz="2000" spc="-250" dirty="0">
                <a:latin typeface="Microsoft Sans Serif"/>
                <a:cs typeface="Microsoft Sans Serif"/>
              </a:rPr>
              <a:t>Exa</a:t>
            </a:r>
            <a:r>
              <a:rPr sz="2000" spc="-155" dirty="0">
                <a:latin typeface="Microsoft Sans Serif"/>
                <a:cs typeface="Microsoft Sans Serif"/>
              </a:rPr>
              <a:t>mples: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wir</a:t>
            </a:r>
            <a:r>
              <a:rPr sz="2000" spc="-135" dirty="0">
                <a:latin typeface="Microsoft Sans Serif"/>
                <a:cs typeface="Microsoft Sans Serif"/>
              </a:rPr>
              <a:t>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a;</a:t>
            </a:r>
            <a:r>
              <a:rPr sz="2000" dirty="0">
                <a:latin typeface="Microsoft Sans Serif"/>
                <a:cs typeface="Microsoft Sans Serif"/>
              </a:rPr>
              <a:t>	</a:t>
            </a:r>
            <a:r>
              <a:rPr sz="2000" spc="-110" dirty="0">
                <a:latin typeface="Microsoft Sans Serif"/>
                <a:cs typeface="Microsoft Sans Serif"/>
              </a:rPr>
              <a:t>wir</a:t>
            </a:r>
            <a:r>
              <a:rPr sz="2000" spc="-135" dirty="0">
                <a:latin typeface="Microsoft Sans Serif"/>
                <a:cs typeface="Microsoft Sans Serif"/>
              </a:rPr>
              <a:t>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80" dirty="0">
                <a:latin typeface="Microsoft Sans Serif"/>
                <a:cs typeface="Microsoft Sans Serif"/>
              </a:rPr>
              <a:t>b</a:t>
            </a:r>
            <a:r>
              <a:rPr sz="2000" spc="-90" dirty="0">
                <a:latin typeface="Microsoft Sans Serif"/>
                <a:cs typeface="Microsoft Sans Serif"/>
              </a:rPr>
              <a:t>,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c;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wir</a:t>
            </a:r>
            <a:r>
              <a:rPr sz="2000" spc="-135" dirty="0">
                <a:latin typeface="Microsoft Sans Serif"/>
                <a:cs typeface="Microsoft Sans Serif"/>
              </a:rPr>
              <a:t>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d</a:t>
            </a:r>
            <a:r>
              <a:rPr sz="2000" spc="-25" dirty="0">
                <a:latin typeface="Microsoft Sans Serif"/>
                <a:cs typeface="Microsoft Sans Serif"/>
              </a:rPr>
              <a:t>=</a:t>
            </a:r>
            <a:r>
              <a:rPr sz="2000" spc="-120" dirty="0">
                <a:latin typeface="Microsoft Sans Serif"/>
                <a:cs typeface="Microsoft Sans Serif"/>
              </a:rPr>
              <a:t>1</a:t>
            </a:r>
            <a:r>
              <a:rPr sz="2000" spc="-55" dirty="0">
                <a:latin typeface="Microsoft Sans Serif"/>
                <a:cs typeface="Microsoft Sans Serif"/>
              </a:rPr>
              <a:t>’</a:t>
            </a:r>
            <a:r>
              <a:rPr sz="2000" spc="-150" dirty="0">
                <a:latin typeface="Microsoft Sans Serif"/>
                <a:cs typeface="Microsoft Sans Serif"/>
              </a:rPr>
              <a:t>b0;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07008" y="3317735"/>
            <a:ext cx="4430395" cy="561340"/>
            <a:chOff x="1207008" y="3317735"/>
            <a:chExt cx="4430395" cy="56134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8156" y="3336023"/>
              <a:ext cx="4389120" cy="4602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7008" y="3317735"/>
              <a:ext cx="4430268" cy="5608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5400" y="3363468"/>
              <a:ext cx="4299204" cy="3703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295400" y="3363467"/>
            <a:ext cx="4299585" cy="37084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1800" spc="-85" dirty="0">
                <a:latin typeface="Microsoft Sans Serif"/>
                <a:cs typeface="Microsoft Sans Serif"/>
              </a:rPr>
              <a:t>&lt;net_list&gt;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[msb:lsb]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10" dirty="0">
                <a:latin typeface="Microsoft Sans Serif"/>
                <a:cs typeface="Microsoft Sans Serif"/>
              </a:rPr>
              <a:t>net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85" dirty="0">
                <a:latin typeface="Microsoft Sans Serif"/>
                <a:cs typeface="Microsoft Sans Serif"/>
              </a:rPr>
              <a:t>1,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10" dirty="0">
                <a:latin typeface="Microsoft Sans Serif"/>
                <a:cs typeface="Microsoft Sans Serif"/>
              </a:rPr>
              <a:t>net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170" dirty="0">
                <a:latin typeface="Microsoft Sans Serif"/>
                <a:cs typeface="Microsoft Sans Serif"/>
              </a:rPr>
              <a:t>2,……….net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70" dirty="0">
                <a:latin typeface="Microsoft Sans Serif"/>
                <a:cs typeface="Microsoft Sans Serif"/>
              </a:rPr>
              <a:t>n;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30</a:t>
            </a:fld>
            <a:endParaRPr spc="-195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442203" y="1655064"/>
            <a:ext cx="3707129" cy="5203190"/>
            <a:chOff x="5442203" y="1655064"/>
            <a:chExt cx="3707129" cy="520319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2203" y="1655064"/>
              <a:ext cx="1000518" cy="16863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75803" y="1655064"/>
              <a:ext cx="1000518" cy="17625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00799" y="3011297"/>
              <a:ext cx="1219200" cy="76200"/>
            </a:xfrm>
            <a:custGeom>
              <a:avLst/>
              <a:gdLst/>
              <a:ahLst/>
              <a:cxnLst/>
              <a:rect l="l" t="t" r="r" b="b"/>
              <a:pathLst>
                <a:path w="1219200" h="76200">
                  <a:moveTo>
                    <a:pt x="1143000" y="44434"/>
                  </a:moveTo>
                  <a:lnTo>
                    <a:pt x="1143000" y="76200"/>
                  </a:lnTo>
                  <a:lnTo>
                    <a:pt x="1206712" y="44450"/>
                  </a:lnTo>
                  <a:lnTo>
                    <a:pt x="1143000" y="44434"/>
                  </a:lnTo>
                  <a:close/>
                </a:path>
                <a:path w="1219200" h="76200">
                  <a:moveTo>
                    <a:pt x="1143000" y="31734"/>
                  </a:moveTo>
                  <a:lnTo>
                    <a:pt x="1143000" y="44434"/>
                  </a:lnTo>
                  <a:lnTo>
                    <a:pt x="1155700" y="44450"/>
                  </a:lnTo>
                  <a:lnTo>
                    <a:pt x="1155700" y="31750"/>
                  </a:lnTo>
                  <a:lnTo>
                    <a:pt x="1143000" y="31734"/>
                  </a:lnTo>
                  <a:close/>
                </a:path>
                <a:path w="1219200" h="76200">
                  <a:moveTo>
                    <a:pt x="1143000" y="0"/>
                  </a:moveTo>
                  <a:lnTo>
                    <a:pt x="1143000" y="31734"/>
                  </a:lnTo>
                  <a:lnTo>
                    <a:pt x="1155700" y="31750"/>
                  </a:lnTo>
                  <a:lnTo>
                    <a:pt x="1155700" y="44450"/>
                  </a:lnTo>
                  <a:lnTo>
                    <a:pt x="1206712" y="44450"/>
                  </a:lnTo>
                  <a:lnTo>
                    <a:pt x="1219200" y="38226"/>
                  </a:lnTo>
                  <a:lnTo>
                    <a:pt x="1143000" y="0"/>
                  </a:lnTo>
                  <a:close/>
                </a:path>
                <a:path w="1219200" h="76200">
                  <a:moveTo>
                    <a:pt x="0" y="30352"/>
                  </a:moveTo>
                  <a:lnTo>
                    <a:pt x="0" y="43052"/>
                  </a:lnTo>
                  <a:lnTo>
                    <a:pt x="1143000" y="44434"/>
                  </a:lnTo>
                  <a:lnTo>
                    <a:pt x="1143000" y="31734"/>
                  </a:lnTo>
                  <a:lnTo>
                    <a:pt x="0" y="303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00799" y="2438400"/>
              <a:ext cx="1220470" cy="152400"/>
            </a:xfrm>
            <a:custGeom>
              <a:avLst/>
              <a:gdLst/>
              <a:ahLst/>
              <a:cxnLst/>
              <a:rect l="l" t="t" r="r" b="b"/>
              <a:pathLst>
                <a:path w="1220470" h="152400">
                  <a:moveTo>
                    <a:pt x="1118489" y="0"/>
                  </a:moveTo>
                  <a:lnTo>
                    <a:pt x="1118489" y="40894"/>
                  </a:lnTo>
                  <a:lnTo>
                    <a:pt x="101600" y="40894"/>
                  </a:lnTo>
                  <a:lnTo>
                    <a:pt x="101600" y="0"/>
                  </a:lnTo>
                  <a:lnTo>
                    <a:pt x="0" y="76073"/>
                  </a:lnTo>
                  <a:lnTo>
                    <a:pt x="101600" y="152019"/>
                  </a:lnTo>
                  <a:lnTo>
                    <a:pt x="101600" y="110744"/>
                  </a:lnTo>
                  <a:lnTo>
                    <a:pt x="1118489" y="110744"/>
                  </a:lnTo>
                  <a:lnTo>
                    <a:pt x="1118489" y="152019"/>
                  </a:lnTo>
                  <a:lnTo>
                    <a:pt x="1220343" y="76073"/>
                  </a:lnTo>
                  <a:lnTo>
                    <a:pt x="11184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0799" y="2438400"/>
              <a:ext cx="1220470" cy="152400"/>
            </a:xfrm>
            <a:custGeom>
              <a:avLst/>
              <a:gdLst/>
              <a:ahLst/>
              <a:cxnLst/>
              <a:rect l="l" t="t" r="r" b="b"/>
              <a:pathLst>
                <a:path w="1220470" h="152400">
                  <a:moveTo>
                    <a:pt x="0" y="76073"/>
                  </a:moveTo>
                  <a:lnTo>
                    <a:pt x="101600" y="0"/>
                  </a:lnTo>
                  <a:lnTo>
                    <a:pt x="101600" y="40894"/>
                  </a:lnTo>
                  <a:lnTo>
                    <a:pt x="1118489" y="40894"/>
                  </a:lnTo>
                  <a:lnTo>
                    <a:pt x="1118489" y="0"/>
                  </a:lnTo>
                  <a:lnTo>
                    <a:pt x="1220343" y="76073"/>
                  </a:lnTo>
                  <a:lnTo>
                    <a:pt x="1118489" y="152019"/>
                  </a:lnTo>
                  <a:lnTo>
                    <a:pt x="1118489" y="110744"/>
                  </a:lnTo>
                  <a:lnTo>
                    <a:pt x="101600" y="110744"/>
                  </a:lnTo>
                  <a:lnTo>
                    <a:pt x="101600" y="152019"/>
                  </a:lnTo>
                  <a:lnTo>
                    <a:pt x="0" y="76073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799" y="1905000"/>
              <a:ext cx="1220470" cy="152400"/>
            </a:xfrm>
            <a:custGeom>
              <a:avLst/>
              <a:gdLst/>
              <a:ahLst/>
              <a:cxnLst/>
              <a:rect l="l" t="t" r="r" b="b"/>
              <a:pathLst>
                <a:path w="1220470" h="152400">
                  <a:moveTo>
                    <a:pt x="1096136" y="0"/>
                  </a:moveTo>
                  <a:lnTo>
                    <a:pt x="1096136" y="47371"/>
                  </a:lnTo>
                  <a:lnTo>
                    <a:pt x="0" y="47371"/>
                  </a:lnTo>
                  <a:lnTo>
                    <a:pt x="0" y="104394"/>
                  </a:lnTo>
                  <a:lnTo>
                    <a:pt x="1096136" y="104394"/>
                  </a:lnTo>
                  <a:lnTo>
                    <a:pt x="1096136" y="152019"/>
                  </a:lnTo>
                  <a:lnTo>
                    <a:pt x="1220343" y="76073"/>
                  </a:lnTo>
                  <a:lnTo>
                    <a:pt x="1096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799" y="1905000"/>
              <a:ext cx="1220470" cy="152400"/>
            </a:xfrm>
            <a:custGeom>
              <a:avLst/>
              <a:gdLst/>
              <a:ahLst/>
              <a:cxnLst/>
              <a:rect l="l" t="t" r="r" b="b"/>
              <a:pathLst>
                <a:path w="1220470" h="152400">
                  <a:moveTo>
                    <a:pt x="0" y="47371"/>
                  </a:moveTo>
                  <a:lnTo>
                    <a:pt x="1096136" y="47371"/>
                  </a:lnTo>
                  <a:lnTo>
                    <a:pt x="1096136" y="0"/>
                  </a:lnTo>
                  <a:lnTo>
                    <a:pt x="1220343" y="76073"/>
                  </a:lnTo>
                  <a:lnTo>
                    <a:pt x="1096136" y="152019"/>
                  </a:lnTo>
                  <a:lnTo>
                    <a:pt x="1096136" y="104394"/>
                  </a:lnTo>
                  <a:lnTo>
                    <a:pt x="0" y="104394"/>
                  </a:lnTo>
                  <a:lnTo>
                    <a:pt x="0" y="4737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06867" y="1868424"/>
              <a:ext cx="619518" cy="126568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904843" y="2028825"/>
            <a:ext cx="280035" cy="86550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Me</a:t>
            </a:r>
            <a:r>
              <a:rPr sz="2000" spc="-10" dirty="0">
                <a:solidFill>
                  <a:srgbClr val="FFC000"/>
                </a:solidFill>
                <a:latin typeface="Microsoft Sans Serif"/>
                <a:cs typeface="Microsoft Sans Serif"/>
              </a:rPr>
              <a:t>m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o</a:t>
            </a:r>
            <a:r>
              <a:rPr sz="2000" spc="5" dirty="0">
                <a:solidFill>
                  <a:srgbClr val="FFC000"/>
                </a:solidFill>
                <a:latin typeface="Microsoft Sans Serif"/>
                <a:cs typeface="Microsoft Sans Serif"/>
              </a:rPr>
              <a:t>r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80888" y="1758695"/>
            <a:ext cx="618007" cy="139065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777261" y="1919097"/>
            <a:ext cx="280670" cy="94932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995"/>
              </a:lnSpc>
            </a:pP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Pr</a:t>
            </a:r>
            <a:r>
              <a:rPr sz="2000" spc="5" dirty="0">
                <a:solidFill>
                  <a:srgbClr val="FFC000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FFC000"/>
                </a:solidFill>
                <a:latin typeface="Microsoft Sans Serif"/>
                <a:cs typeface="Microsoft Sans Serif"/>
              </a:rPr>
              <a:t>cessor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630923" y="2695930"/>
            <a:ext cx="630186" cy="51285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784340" y="2744850"/>
            <a:ext cx="323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FFC000"/>
                </a:solidFill>
                <a:latin typeface="Microsoft Sans Serif"/>
                <a:cs typeface="Microsoft Sans Serif"/>
              </a:rPr>
              <a:t>r_w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07123" y="2086343"/>
            <a:ext cx="683514" cy="51283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860540" y="2135250"/>
            <a:ext cx="356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FFC000"/>
                </a:solidFill>
                <a:latin typeface="Microsoft Sans Serif"/>
                <a:cs typeface="Microsoft Sans Serif"/>
              </a:rPr>
              <a:t>d</a:t>
            </a:r>
            <a:r>
              <a:rPr sz="1600" spc="-235" dirty="0">
                <a:solidFill>
                  <a:srgbClr val="FFC000"/>
                </a:solidFill>
                <a:latin typeface="Microsoft Sans Serif"/>
                <a:cs typeface="Microsoft Sans Serif"/>
              </a:rPr>
              <a:t>a</a:t>
            </a:r>
            <a:r>
              <a:rPr sz="1600" spc="-105" dirty="0">
                <a:solidFill>
                  <a:srgbClr val="FFC000"/>
                </a:solidFill>
                <a:latin typeface="Microsoft Sans Serif"/>
                <a:cs typeface="Microsoft Sans Serif"/>
              </a:rPr>
              <a:t>ta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07123" y="1552930"/>
            <a:ext cx="709422" cy="51285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6860540" y="1601469"/>
            <a:ext cx="38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35" dirty="0">
                <a:solidFill>
                  <a:srgbClr val="FFC000"/>
                </a:solidFill>
                <a:latin typeface="Microsoft Sans Serif"/>
                <a:cs typeface="Microsoft Sans Serif"/>
              </a:rPr>
              <a:t>a</a:t>
            </a:r>
            <a:r>
              <a:rPr sz="1600" spc="-95" dirty="0">
                <a:solidFill>
                  <a:srgbClr val="FFC000"/>
                </a:solidFill>
                <a:latin typeface="Microsoft Sans Serif"/>
                <a:cs typeface="Microsoft Sans Serif"/>
              </a:rPr>
              <a:t>dd</a:t>
            </a:r>
            <a:r>
              <a:rPr sz="1600" spc="-5" dirty="0">
                <a:solidFill>
                  <a:srgbClr val="FFC000"/>
                </a:solidFill>
                <a:latin typeface="Microsoft Sans Serif"/>
                <a:cs typeface="Microsoft Sans Serif"/>
              </a:rPr>
              <a:t>r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1278000" y="2492362"/>
          <a:ext cx="3216274" cy="977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sz="1800" spc="-10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wire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1950"/>
                        </a:lnSpc>
                      </a:pPr>
                      <a:r>
                        <a:rPr sz="1800" spc="-13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[7:0]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950"/>
                        </a:lnSpc>
                      </a:pPr>
                      <a:r>
                        <a:rPr sz="1800" spc="-12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data;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ts val="1950"/>
                        </a:lnSpc>
                      </a:pPr>
                      <a:r>
                        <a:rPr sz="1800" spc="14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//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vector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6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signal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1800" spc="-10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wire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150"/>
                        </a:lnSpc>
                      </a:pPr>
                      <a:r>
                        <a:rPr sz="1800" spc="-13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[9:0]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2150"/>
                        </a:lnSpc>
                      </a:pPr>
                      <a:r>
                        <a:rPr sz="1800" spc="-9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addr;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50"/>
                        </a:lnSpc>
                      </a:pPr>
                      <a:r>
                        <a:rPr sz="1800" spc="14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//</a:t>
                      </a:r>
                      <a:r>
                        <a:rPr sz="180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vector</a:t>
                      </a:r>
                      <a:r>
                        <a:rPr sz="1800" spc="-1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65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signal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1800" spc="780" dirty="0">
                          <a:solidFill>
                            <a:srgbClr val="006FC0"/>
                          </a:solidFill>
                          <a:latin typeface="Microsoft Sans Serif"/>
                          <a:cs typeface="Microsoft Sans Serif"/>
                        </a:rPr>
                        <a:t>……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763625" y="1550923"/>
            <a:ext cx="4091940" cy="8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indent="-329565">
              <a:lnSpc>
                <a:spcPts val="1995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42265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ke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word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AF50"/>
                </a:solidFill>
                <a:latin typeface="Microsoft Sans Serif"/>
                <a:cs typeface="Microsoft Sans Serif"/>
              </a:rPr>
              <a:t>i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re</a:t>
            </a:r>
            <a:endParaRPr sz="1800">
              <a:latin typeface="Microsoft Sans Serif"/>
              <a:cs typeface="Microsoft Sans Serif"/>
            </a:endParaRPr>
          </a:p>
          <a:p>
            <a:pPr marL="546100">
              <a:lnSpc>
                <a:spcPts val="1995"/>
              </a:lnSpc>
            </a:pPr>
            <a:r>
              <a:rPr sz="1800" spc="780" dirty="0">
                <a:solidFill>
                  <a:srgbClr val="006FC0"/>
                </a:solidFill>
                <a:latin typeface="Microsoft Sans Serif"/>
                <a:cs typeface="Microsoft Sans Serif"/>
              </a:rPr>
              <a:t>……</a:t>
            </a:r>
            <a:endParaRPr sz="1800">
              <a:latin typeface="Microsoft Sans Serif"/>
              <a:cs typeface="Microsoft Sans Serif"/>
            </a:endParaRPr>
          </a:p>
          <a:p>
            <a:pPr marL="546100">
              <a:lnSpc>
                <a:spcPct val="100000"/>
              </a:lnSpc>
              <a:spcBef>
                <a:spcPts val="409"/>
              </a:spcBef>
              <a:tabLst>
                <a:tab pos="1777364" algn="l"/>
                <a:tab pos="2557780" algn="l"/>
              </a:tabLst>
            </a:pP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sc</a:t>
            </a:r>
            <a:r>
              <a:rPr sz="1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4540" y="3514166"/>
            <a:ext cx="3590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356235" algn="l"/>
              </a:tabLst>
            </a:pP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Dif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eren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ki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ds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pes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re: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07591" y="3907535"/>
            <a:ext cx="3459479" cy="2702560"/>
            <a:chOff x="1307591" y="3907535"/>
            <a:chExt cx="3459479" cy="2702560"/>
          </a:xfrm>
        </p:grpSpPr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24355" y="3907535"/>
              <a:ext cx="3442716" cy="26319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07591" y="3991355"/>
              <a:ext cx="2715768" cy="26182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1599" y="3934967"/>
              <a:ext cx="3352800" cy="2542032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371600" y="3934967"/>
            <a:ext cx="3352800" cy="254254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434340" indent="-343535">
              <a:lnSpc>
                <a:spcPct val="100000"/>
              </a:lnSpc>
              <a:spcBef>
                <a:spcPts val="980"/>
              </a:spcBef>
              <a:buAutoNum type="alphaUcParenBoth"/>
              <a:tabLst>
                <a:tab pos="434975" algn="l"/>
              </a:tabLst>
            </a:pPr>
            <a:r>
              <a:rPr sz="1800" spc="-170" dirty="0">
                <a:latin typeface="Microsoft Sans Serif"/>
                <a:cs typeface="Microsoft Sans Serif"/>
              </a:rPr>
              <a:t>W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90" dirty="0">
                <a:latin typeface="Microsoft Sans Serif"/>
                <a:cs typeface="Microsoft Sans Serif"/>
              </a:rPr>
              <a:t>r</a:t>
            </a:r>
            <a:r>
              <a:rPr sz="1800" spc="-14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&amp;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</a:t>
            </a:r>
            <a:r>
              <a:rPr sz="1800" spc="15" dirty="0">
                <a:latin typeface="Microsoft Sans Serif"/>
                <a:cs typeface="Microsoft Sans Serif"/>
              </a:rPr>
              <a:t>i</a:t>
            </a:r>
            <a:r>
              <a:rPr sz="1800" spc="-100" dirty="0">
                <a:latin typeface="Microsoft Sans Serif"/>
                <a:cs typeface="Microsoft Sans Serif"/>
              </a:rPr>
              <a:t>-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80" dirty="0">
                <a:latin typeface="Microsoft Sans Serif"/>
                <a:cs typeface="Microsoft Sans Serif"/>
              </a:rPr>
              <a:t>ets</a:t>
            </a:r>
            <a:endParaRPr sz="1800">
              <a:latin typeface="Microsoft Sans Serif"/>
              <a:cs typeface="Microsoft Sans Serif"/>
            </a:endParaRPr>
          </a:p>
          <a:p>
            <a:pPr marL="434340" indent="-343535">
              <a:lnSpc>
                <a:spcPct val="100000"/>
              </a:lnSpc>
              <a:spcBef>
                <a:spcPts val="1085"/>
              </a:spcBef>
              <a:buAutoNum type="alphaUcParenBoth"/>
              <a:tabLst>
                <a:tab pos="434975" algn="l"/>
              </a:tabLst>
            </a:pPr>
            <a:r>
              <a:rPr sz="1800" spc="-90" dirty="0">
                <a:latin typeface="Microsoft Sans Serif"/>
                <a:cs typeface="Microsoft Sans Serif"/>
              </a:rPr>
              <a:t>Wor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&amp;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trior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nets</a:t>
            </a:r>
            <a:endParaRPr sz="1800">
              <a:latin typeface="Microsoft Sans Serif"/>
              <a:cs typeface="Microsoft Sans Serif"/>
            </a:endParaRPr>
          </a:p>
          <a:p>
            <a:pPr marL="434340" indent="-343535">
              <a:lnSpc>
                <a:spcPct val="100000"/>
              </a:lnSpc>
              <a:spcBef>
                <a:spcPts val="1075"/>
              </a:spcBef>
              <a:buAutoNum type="alphaUcParenBoth"/>
              <a:tabLst>
                <a:tab pos="434975" algn="l"/>
              </a:tabLst>
            </a:pPr>
            <a:r>
              <a:rPr sz="1800" spc="-170" dirty="0">
                <a:latin typeface="Microsoft Sans Serif"/>
                <a:cs typeface="Microsoft Sans Serif"/>
              </a:rPr>
              <a:t>W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05" dirty="0">
                <a:latin typeface="Microsoft Sans Serif"/>
                <a:cs typeface="Microsoft Sans Serif"/>
              </a:rPr>
              <a:t>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&amp;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800" spc="-10" dirty="0">
                <a:latin typeface="Microsoft Sans Serif"/>
                <a:cs typeface="Microsoft Sans Serif"/>
              </a:rPr>
              <a:t>i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05" dirty="0">
                <a:latin typeface="Microsoft Sans Serif"/>
                <a:cs typeface="Microsoft Sans Serif"/>
              </a:rPr>
              <a:t>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80" dirty="0">
                <a:latin typeface="Microsoft Sans Serif"/>
                <a:cs typeface="Microsoft Sans Serif"/>
              </a:rPr>
              <a:t>ets</a:t>
            </a:r>
            <a:endParaRPr sz="1800">
              <a:latin typeface="Microsoft Sans Serif"/>
              <a:cs typeface="Microsoft Sans Serif"/>
            </a:endParaRPr>
          </a:p>
          <a:p>
            <a:pPr marL="434340" indent="-343535">
              <a:lnSpc>
                <a:spcPct val="100000"/>
              </a:lnSpc>
              <a:spcBef>
                <a:spcPts val="1080"/>
              </a:spcBef>
              <a:buAutoNum type="alphaUcParenBoth"/>
              <a:tabLst>
                <a:tab pos="434975" algn="l"/>
              </a:tabLst>
            </a:pPr>
            <a:r>
              <a:rPr sz="1800" spc="-95" dirty="0">
                <a:latin typeface="Microsoft Sans Serif"/>
                <a:cs typeface="Microsoft Sans Serif"/>
              </a:rPr>
              <a:t>Tri0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&amp;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65" dirty="0">
                <a:latin typeface="Microsoft Sans Serif"/>
                <a:cs typeface="Microsoft Sans Serif"/>
              </a:rPr>
              <a:t>tri1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nets</a:t>
            </a:r>
            <a:endParaRPr sz="1800">
              <a:latin typeface="Microsoft Sans Serif"/>
              <a:cs typeface="Microsoft Sans Serif"/>
            </a:endParaRPr>
          </a:p>
          <a:p>
            <a:pPr marL="434340" indent="-343535">
              <a:lnSpc>
                <a:spcPct val="100000"/>
              </a:lnSpc>
              <a:spcBef>
                <a:spcPts val="1080"/>
              </a:spcBef>
              <a:buAutoNum type="alphaUcParenBoth"/>
              <a:tabLst>
                <a:tab pos="434975" algn="l"/>
              </a:tabLst>
            </a:pPr>
            <a:r>
              <a:rPr sz="1800" spc="-250" dirty="0">
                <a:latin typeface="Microsoft Sans Serif"/>
                <a:cs typeface="Microsoft Sans Serif"/>
              </a:rPr>
              <a:t>Su</a:t>
            </a:r>
            <a:r>
              <a:rPr sz="1800" spc="-75" dirty="0">
                <a:latin typeface="Microsoft Sans Serif"/>
                <a:cs typeface="Microsoft Sans Serif"/>
              </a:rPr>
              <a:t>ppl</a:t>
            </a:r>
            <a:r>
              <a:rPr sz="1800" spc="-90" dirty="0">
                <a:latin typeface="Microsoft Sans Serif"/>
                <a:cs typeface="Microsoft Sans Serif"/>
              </a:rPr>
              <a:t>y</a:t>
            </a:r>
            <a:r>
              <a:rPr sz="1800" spc="-254" dirty="0">
                <a:latin typeface="Microsoft Sans Serif"/>
                <a:cs typeface="Microsoft Sans Serif"/>
              </a:rPr>
              <a:t>0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&amp;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20" dirty="0">
                <a:latin typeface="Microsoft Sans Serif"/>
                <a:cs typeface="Microsoft Sans Serif"/>
              </a:rPr>
              <a:t>s</a:t>
            </a:r>
            <a:r>
              <a:rPr sz="1800" spc="-235" dirty="0">
                <a:latin typeface="Microsoft Sans Serif"/>
                <a:cs typeface="Microsoft Sans Serif"/>
              </a:rPr>
              <a:t>u</a:t>
            </a:r>
            <a:r>
              <a:rPr sz="1800" spc="-75" dirty="0">
                <a:latin typeface="Microsoft Sans Serif"/>
                <a:cs typeface="Microsoft Sans Serif"/>
              </a:rPr>
              <a:t>ppl</a:t>
            </a:r>
            <a:r>
              <a:rPr sz="1800" spc="-90" dirty="0">
                <a:latin typeface="Microsoft Sans Serif"/>
                <a:cs typeface="Microsoft Sans Serif"/>
              </a:rPr>
              <a:t>y</a:t>
            </a:r>
            <a:r>
              <a:rPr sz="1800" spc="-254" dirty="0">
                <a:latin typeface="Microsoft Sans Serif"/>
                <a:cs typeface="Microsoft Sans Serif"/>
              </a:rPr>
              <a:t>1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80" dirty="0">
                <a:latin typeface="Microsoft Sans Serif"/>
                <a:cs typeface="Microsoft Sans Serif"/>
              </a:rPr>
              <a:t>ets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50594" y="6163474"/>
            <a:ext cx="24637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00"/>
              </a:lnSpc>
            </a:pPr>
            <a:r>
              <a:rPr sz="1800" spc="-190" dirty="0">
                <a:latin typeface="Microsoft Sans Serif"/>
                <a:cs typeface="Microsoft Sans Serif"/>
              </a:rPr>
              <a:t>(F)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93494" y="6163474"/>
            <a:ext cx="9683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00"/>
              </a:lnSpc>
            </a:pPr>
            <a:r>
              <a:rPr sz="1800" spc="-45" dirty="0">
                <a:latin typeface="Microsoft Sans Serif"/>
                <a:cs typeface="Microsoft Sans Serif"/>
              </a:rPr>
              <a:t>Tr</a:t>
            </a:r>
            <a:r>
              <a:rPr sz="1800" spc="-20" dirty="0">
                <a:latin typeface="Microsoft Sans Serif"/>
                <a:cs typeface="Microsoft Sans Serif"/>
              </a:rPr>
              <a:t>i</a:t>
            </a:r>
            <a:r>
              <a:rPr sz="1800" spc="-145" dirty="0">
                <a:latin typeface="Microsoft Sans Serif"/>
                <a:cs typeface="Microsoft Sans Serif"/>
              </a:rPr>
              <a:t>re</a:t>
            </a:r>
            <a:r>
              <a:rPr sz="1800" spc="-175" dirty="0">
                <a:latin typeface="Microsoft Sans Serif"/>
                <a:cs typeface="Microsoft Sans Serif"/>
              </a:rPr>
              <a:t>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70" dirty="0">
                <a:latin typeface="Microsoft Sans Serif"/>
                <a:cs typeface="Microsoft Sans Serif"/>
              </a:rPr>
              <a:t>nets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31</a:t>
            </a:fld>
            <a:endParaRPr spc="-195" dirty="0"/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750690" y="1072641"/>
            <a:ext cx="1283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0235" algn="l"/>
              </a:tabLst>
            </a:pP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YPES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823203" y="3941064"/>
            <a:ext cx="3326129" cy="2917190"/>
            <a:chOff x="5823203" y="3941064"/>
            <a:chExt cx="3326129" cy="291719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23203" y="3941064"/>
              <a:ext cx="2753105" cy="24483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8003" y="4474464"/>
              <a:ext cx="695705" cy="16863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8203" y="4474464"/>
              <a:ext cx="619518" cy="176250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81799" y="5830709"/>
              <a:ext cx="990600" cy="76200"/>
            </a:xfrm>
            <a:custGeom>
              <a:avLst/>
              <a:gdLst/>
              <a:ahLst/>
              <a:cxnLst/>
              <a:rect l="l" t="t" r="r" b="b"/>
              <a:pathLst>
                <a:path w="990600" h="76200">
                  <a:moveTo>
                    <a:pt x="914400" y="44443"/>
                  </a:moveTo>
                  <a:lnTo>
                    <a:pt x="914400" y="76200"/>
                  </a:lnTo>
                  <a:lnTo>
                    <a:pt x="978065" y="44462"/>
                  </a:lnTo>
                  <a:lnTo>
                    <a:pt x="927100" y="44462"/>
                  </a:lnTo>
                  <a:lnTo>
                    <a:pt x="914400" y="44443"/>
                  </a:lnTo>
                  <a:close/>
                </a:path>
                <a:path w="990600" h="76200">
                  <a:moveTo>
                    <a:pt x="914400" y="31743"/>
                  </a:moveTo>
                  <a:lnTo>
                    <a:pt x="914400" y="44443"/>
                  </a:lnTo>
                  <a:lnTo>
                    <a:pt x="927100" y="44462"/>
                  </a:lnTo>
                  <a:lnTo>
                    <a:pt x="927100" y="31762"/>
                  </a:lnTo>
                  <a:lnTo>
                    <a:pt x="914400" y="31743"/>
                  </a:lnTo>
                  <a:close/>
                </a:path>
                <a:path w="990600" h="76200">
                  <a:moveTo>
                    <a:pt x="914400" y="0"/>
                  </a:moveTo>
                  <a:lnTo>
                    <a:pt x="914400" y="31743"/>
                  </a:lnTo>
                  <a:lnTo>
                    <a:pt x="927100" y="31762"/>
                  </a:lnTo>
                  <a:lnTo>
                    <a:pt x="927100" y="44462"/>
                  </a:lnTo>
                  <a:lnTo>
                    <a:pt x="978065" y="44462"/>
                  </a:lnTo>
                  <a:lnTo>
                    <a:pt x="990600" y="38214"/>
                  </a:lnTo>
                  <a:lnTo>
                    <a:pt x="914400" y="0"/>
                  </a:lnTo>
                  <a:close/>
                </a:path>
                <a:path w="990600" h="76200">
                  <a:moveTo>
                    <a:pt x="0" y="30340"/>
                  </a:moveTo>
                  <a:lnTo>
                    <a:pt x="0" y="43040"/>
                  </a:lnTo>
                  <a:lnTo>
                    <a:pt x="914400" y="44443"/>
                  </a:lnTo>
                  <a:lnTo>
                    <a:pt x="914400" y="31743"/>
                  </a:lnTo>
                  <a:lnTo>
                    <a:pt x="0" y="303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81799" y="5257800"/>
              <a:ext cx="991869" cy="153670"/>
            </a:xfrm>
            <a:custGeom>
              <a:avLst/>
              <a:gdLst/>
              <a:ahLst/>
              <a:cxnLst/>
              <a:rect l="l" t="t" r="r" b="b"/>
              <a:pathLst>
                <a:path w="991870" h="153670">
                  <a:moveTo>
                    <a:pt x="908939" y="0"/>
                  </a:moveTo>
                  <a:lnTo>
                    <a:pt x="908939" y="41528"/>
                  </a:lnTo>
                  <a:lnTo>
                    <a:pt x="82550" y="41528"/>
                  </a:lnTo>
                  <a:lnTo>
                    <a:pt x="82550" y="0"/>
                  </a:lnTo>
                  <a:lnTo>
                    <a:pt x="0" y="76581"/>
                  </a:lnTo>
                  <a:lnTo>
                    <a:pt x="82550" y="153543"/>
                  </a:lnTo>
                  <a:lnTo>
                    <a:pt x="82550" y="111633"/>
                  </a:lnTo>
                  <a:lnTo>
                    <a:pt x="908939" y="111633"/>
                  </a:lnTo>
                  <a:lnTo>
                    <a:pt x="908939" y="153543"/>
                  </a:lnTo>
                  <a:lnTo>
                    <a:pt x="991743" y="76581"/>
                  </a:lnTo>
                  <a:lnTo>
                    <a:pt x="908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81799" y="5257800"/>
              <a:ext cx="991869" cy="153670"/>
            </a:xfrm>
            <a:custGeom>
              <a:avLst/>
              <a:gdLst/>
              <a:ahLst/>
              <a:cxnLst/>
              <a:rect l="l" t="t" r="r" b="b"/>
              <a:pathLst>
                <a:path w="991870" h="153670">
                  <a:moveTo>
                    <a:pt x="0" y="76581"/>
                  </a:moveTo>
                  <a:lnTo>
                    <a:pt x="82550" y="0"/>
                  </a:lnTo>
                  <a:lnTo>
                    <a:pt x="82550" y="41528"/>
                  </a:lnTo>
                  <a:lnTo>
                    <a:pt x="908939" y="41528"/>
                  </a:lnTo>
                  <a:lnTo>
                    <a:pt x="908939" y="0"/>
                  </a:lnTo>
                  <a:lnTo>
                    <a:pt x="991743" y="76581"/>
                  </a:lnTo>
                  <a:lnTo>
                    <a:pt x="908939" y="153543"/>
                  </a:lnTo>
                  <a:lnTo>
                    <a:pt x="908939" y="111633"/>
                  </a:lnTo>
                  <a:lnTo>
                    <a:pt x="82550" y="111633"/>
                  </a:lnTo>
                  <a:lnTo>
                    <a:pt x="82550" y="153543"/>
                  </a:lnTo>
                  <a:lnTo>
                    <a:pt x="0" y="76581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81799" y="4724400"/>
              <a:ext cx="991869" cy="152400"/>
            </a:xfrm>
            <a:custGeom>
              <a:avLst/>
              <a:gdLst/>
              <a:ahLst/>
              <a:cxnLst/>
              <a:rect l="l" t="t" r="r" b="b"/>
              <a:pathLst>
                <a:path w="991870" h="152400">
                  <a:moveTo>
                    <a:pt x="890904" y="0"/>
                  </a:moveTo>
                  <a:lnTo>
                    <a:pt x="890904" y="47370"/>
                  </a:lnTo>
                  <a:lnTo>
                    <a:pt x="0" y="47370"/>
                  </a:lnTo>
                  <a:lnTo>
                    <a:pt x="0" y="104393"/>
                  </a:lnTo>
                  <a:lnTo>
                    <a:pt x="890904" y="104393"/>
                  </a:lnTo>
                  <a:lnTo>
                    <a:pt x="890904" y="152019"/>
                  </a:lnTo>
                  <a:lnTo>
                    <a:pt x="991743" y="76073"/>
                  </a:lnTo>
                  <a:lnTo>
                    <a:pt x="890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81799" y="4724400"/>
              <a:ext cx="991869" cy="152400"/>
            </a:xfrm>
            <a:custGeom>
              <a:avLst/>
              <a:gdLst/>
              <a:ahLst/>
              <a:cxnLst/>
              <a:rect l="l" t="t" r="r" b="b"/>
              <a:pathLst>
                <a:path w="991870" h="152400">
                  <a:moveTo>
                    <a:pt x="0" y="47370"/>
                  </a:moveTo>
                  <a:lnTo>
                    <a:pt x="890904" y="47370"/>
                  </a:lnTo>
                  <a:lnTo>
                    <a:pt x="890904" y="0"/>
                  </a:lnTo>
                  <a:lnTo>
                    <a:pt x="991743" y="76073"/>
                  </a:lnTo>
                  <a:lnTo>
                    <a:pt x="890904" y="152019"/>
                  </a:lnTo>
                  <a:lnTo>
                    <a:pt x="890904" y="104393"/>
                  </a:lnTo>
                  <a:lnTo>
                    <a:pt x="0" y="104393"/>
                  </a:lnTo>
                  <a:lnTo>
                    <a:pt x="0" y="47370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06867" y="4687824"/>
              <a:ext cx="619518" cy="126568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904843" y="4848859"/>
            <a:ext cx="280035" cy="86550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dirty="0">
                <a:latin typeface="Microsoft Sans Serif"/>
                <a:cs typeface="Microsoft Sans Serif"/>
              </a:rPr>
              <a:t>Me</a:t>
            </a:r>
            <a:r>
              <a:rPr sz="2000" spc="-10" dirty="0">
                <a:latin typeface="Microsoft Sans Serif"/>
                <a:cs typeface="Microsoft Sans Serif"/>
              </a:rPr>
              <a:t>m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5" dirty="0">
                <a:latin typeface="Microsoft Sans Serif"/>
                <a:cs typeface="Microsoft Sans Serif"/>
              </a:rPr>
              <a:t>r</a:t>
            </a:r>
            <a:r>
              <a:rPr sz="2000" dirty="0">
                <a:latin typeface="Microsoft Sans Serif"/>
                <a:cs typeface="Microsoft Sans Serif"/>
              </a:rPr>
              <a:t>y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82867" y="4578096"/>
            <a:ext cx="619518" cy="139064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380589" y="4739132"/>
            <a:ext cx="280035" cy="9486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2000" dirty="0">
                <a:latin typeface="Microsoft Sans Serif"/>
                <a:cs typeface="Microsoft Sans Serif"/>
              </a:rPr>
              <a:t>Pr</a:t>
            </a:r>
            <a:r>
              <a:rPr sz="2000" spc="5" dirty="0">
                <a:latin typeface="Microsoft Sans Serif"/>
                <a:cs typeface="Microsoft Sans Serif"/>
              </a:rPr>
              <a:t>o</a:t>
            </a:r>
            <a:r>
              <a:rPr sz="2000" dirty="0">
                <a:latin typeface="Microsoft Sans Serif"/>
                <a:cs typeface="Microsoft Sans Serif"/>
              </a:rPr>
              <a:t>cess</a:t>
            </a:r>
            <a:r>
              <a:rPr sz="2000" spc="5" dirty="0">
                <a:latin typeface="Microsoft Sans Serif"/>
                <a:cs typeface="Microsoft Sans Serif"/>
              </a:rPr>
              <a:t>o</a:t>
            </a:r>
            <a:r>
              <a:rPr sz="2000" dirty="0"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83323" y="5515355"/>
            <a:ext cx="630186" cy="51282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6936740" y="5564835"/>
            <a:ext cx="323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latin typeface="Microsoft Sans Serif"/>
                <a:cs typeface="Microsoft Sans Serif"/>
              </a:rPr>
              <a:t>r_w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16268" y="4905755"/>
            <a:ext cx="1087374" cy="51282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869938" y="4954904"/>
            <a:ext cx="681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5" dirty="0">
                <a:latin typeface="Microsoft Sans Serif"/>
                <a:cs typeface="Microsoft Sans Serif"/>
              </a:rPr>
              <a:t>data[7:0]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769607" y="4372355"/>
            <a:ext cx="1127010" cy="51282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923913" y="4421504"/>
            <a:ext cx="705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4" dirty="0">
                <a:latin typeface="Microsoft Sans Serif"/>
                <a:cs typeface="Microsoft Sans Serif"/>
              </a:rPr>
              <a:t>addr[9:0]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160264" y="3919715"/>
            <a:ext cx="2880360" cy="1953895"/>
            <a:chOff x="5160264" y="3919715"/>
            <a:chExt cx="2880360" cy="1953895"/>
          </a:xfrm>
        </p:grpSpPr>
        <p:sp>
          <p:nvSpPr>
            <p:cNvPr id="36" name="object 36"/>
            <p:cNvSpPr/>
            <p:nvPr/>
          </p:nvSpPr>
          <p:spPr>
            <a:xfrm>
              <a:off x="5638800" y="4191000"/>
              <a:ext cx="2362200" cy="1905"/>
            </a:xfrm>
            <a:custGeom>
              <a:avLst/>
              <a:gdLst/>
              <a:ahLst/>
              <a:cxnLst/>
              <a:rect l="l" t="t" r="r" b="b"/>
              <a:pathLst>
                <a:path w="2362200" h="1904">
                  <a:moveTo>
                    <a:pt x="0" y="0"/>
                  </a:moveTo>
                  <a:lnTo>
                    <a:pt x="2362200" y="152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38800" y="4190999"/>
              <a:ext cx="2401570" cy="648970"/>
            </a:xfrm>
            <a:custGeom>
              <a:avLst/>
              <a:gdLst/>
              <a:ahLst/>
              <a:cxnLst/>
              <a:rect l="l" t="t" r="r" b="b"/>
              <a:pathLst>
                <a:path w="2401570" h="648970">
                  <a:moveTo>
                    <a:pt x="533400" y="611124"/>
                  </a:moveTo>
                  <a:lnTo>
                    <a:pt x="457327" y="572770"/>
                  </a:lnTo>
                  <a:lnTo>
                    <a:pt x="457212" y="604621"/>
                  </a:lnTo>
                  <a:lnTo>
                    <a:pt x="0" y="603250"/>
                  </a:lnTo>
                  <a:lnTo>
                    <a:pt x="0" y="615950"/>
                  </a:lnTo>
                  <a:lnTo>
                    <a:pt x="457174" y="617321"/>
                  </a:lnTo>
                  <a:lnTo>
                    <a:pt x="457073" y="648970"/>
                  </a:lnTo>
                  <a:lnTo>
                    <a:pt x="520839" y="617347"/>
                  </a:lnTo>
                  <a:lnTo>
                    <a:pt x="533400" y="611124"/>
                  </a:lnTo>
                  <a:close/>
                </a:path>
                <a:path w="2401570" h="648970">
                  <a:moveTo>
                    <a:pt x="877443" y="228346"/>
                  </a:moveTo>
                  <a:lnTo>
                    <a:pt x="845629" y="228511"/>
                  </a:lnTo>
                  <a:lnTo>
                    <a:pt x="844550" y="0"/>
                  </a:lnTo>
                  <a:lnTo>
                    <a:pt x="831850" y="0"/>
                  </a:lnTo>
                  <a:lnTo>
                    <a:pt x="832929" y="228574"/>
                  </a:lnTo>
                  <a:lnTo>
                    <a:pt x="801243" y="228727"/>
                  </a:lnTo>
                  <a:lnTo>
                    <a:pt x="839724" y="304800"/>
                  </a:lnTo>
                  <a:lnTo>
                    <a:pt x="871042" y="241300"/>
                  </a:lnTo>
                  <a:lnTo>
                    <a:pt x="877443" y="228346"/>
                  </a:lnTo>
                  <a:close/>
                </a:path>
                <a:path w="2401570" h="648970">
                  <a:moveTo>
                    <a:pt x="2401443" y="228346"/>
                  </a:moveTo>
                  <a:lnTo>
                    <a:pt x="2369629" y="228511"/>
                  </a:lnTo>
                  <a:lnTo>
                    <a:pt x="2368550" y="0"/>
                  </a:lnTo>
                  <a:lnTo>
                    <a:pt x="2355850" y="0"/>
                  </a:lnTo>
                  <a:lnTo>
                    <a:pt x="2356929" y="228574"/>
                  </a:lnTo>
                  <a:lnTo>
                    <a:pt x="2325243" y="228727"/>
                  </a:lnTo>
                  <a:lnTo>
                    <a:pt x="2363724" y="304800"/>
                  </a:lnTo>
                  <a:lnTo>
                    <a:pt x="2395042" y="241300"/>
                  </a:lnTo>
                  <a:lnTo>
                    <a:pt x="2401443" y="228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38800" y="5257800"/>
              <a:ext cx="534670" cy="153670"/>
            </a:xfrm>
            <a:custGeom>
              <a:avLst/>
              <a:gdLst/>
              <a:ahLst/>
              <a:cxnLst/>
              <a:rect l="l" t="t" r="r" b="b"/>
              <a:pathLst>
                <a:path w="534670" h="153670">
                  <a:moveTo>
                    <a:pt x="64135" y="0"/>
                  </a:moveTo>
                  <a:lnTo>
                    <a:pt x="0" y="76581"/>
                  </a:lnTo>
                  <a:lnTo>
                    <a:pt x="64135" y="153543"/>
                  </a:lnTo>
                  <a:lnTo>
                    <a:pt x="64135" y="120015"/>
                  </a:lnTo>
                  <a:lnTo>
                    <a:pt x="534542" y="120015"/>
                  </a:lnTo>
                  <a:lnTo>
                    <a:pt x="534542" y="33274"/>
                  </a:lnTo>
                  <a:lnTo>
                    <a:pt x="64135" y="33274"/>
                  </a:lnTo>
                  <a:lnTo>
                    <a:pt x="64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38800" y="5257800"/>
              <a:ext cx="534670" cy="153670"/>
            </a:xfrm>
            <a:custGeom>
              <a:avLst/>
              <a:gdLst/>
              <a:ahLst/>
              <a:cxnLst/>
              <a:rect l="l" t="t" r="r" b="b"/>
              <a:pathLst>
                <a:path w="534670" h="153670">
                  <a:moveTo>
                    <a:pt x="534542" y="33274"/>
                  </a:moveTo>
                  <a:lnTo>
                    <a:pt x="64135" y="33274"/>
                  </a:lnTo>
                  <a:lnTo>
                    <a:pt x="64135" y="0"/>
                  </a:lnTo>
                  <a:lnTo>
                    <a:pt x="0" y="76581"/>
                  </a:lnTo>
                  <a:lnTo>
                    <a:pt x="64135" y="153543"/>
                  </a:lnTo>
                  <a:lnTo>
                    <a:pt x="64135" y="120015"/>
                  </a:lnTo>
                  <a:lnTo>
                    <a:pt x="534542" y="120015"/>
                  </a:lnTo>
                  <a:lnTo>
                    <a:pt x="534542" y="33274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38800" y="5715000"/>
              <a:ext cx="534670" cy="153670"/>
            </a:xfrm>
            <a:custGeom>
              <a:avLst/>
              <a:gdLst/>
              <a:ahLst/>
              <a:cxnLst/>
              <a:rect l="l" t="t" r="r" b="b"/>
              <a:pathLst>
                <a:path w="534670" h="153670">
                  <a:moveTo>
                    <a:pt x="458088" y="0"/>
                  </a:moveTo>
                  <a:lnTo>
                    <a:pt x="458088" y="43002"/>
                  </a:lnTo>
                  <a:lnTo>
                    <a:pt x="76073" y="43002"/>
                  </a:lnTo>
                  <a:lnTo>
                    <a:pt x="76073" y="0"/>
                  </a:lnTo>
                  <a:lnTo>
                    <a:pt x="0" y="76606"/>
                  </a:lnTo>
                  <a:lnTo>
                    <a:pt x="76073" y="153568"/>
                  </a:lnTo>
                  <a:lnTo>
                    <a:pt x="76073" y="110197"/>
                  </a:lnTo>
                  <a:lnTo>
                    <a:pt x="458088" y="110197"/>
                  </a:lnTo>
                  <a:lnTo>
                    <a:pt x="458088" y="153568"/>
                  </a:lnTo>
                  <a:lnTo>
                    <a:pt x="534542" y="76606"/>
                  </a:lnTo>
                  <a:lnTo>
                    <a:pt x="458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38800" y="5715000"/>
              <a:ext cx="534670" cy="153670"/>
            </a:xfrm>
            <a:custGeom>
              <a:avLst/>
              <a:gdLst/>
              <a:ahLst/>
              <a:cxnLst/>
              <a:rect l="l" t="t" r="r" b="b"/>
              <a:pathLst>
                <a:path w="534670" h="153670">
                  <a:moveTo>
                    <a:pt x="0" y="76606"/>
                  </a:moveTo>
                  <a:lnTo>
                    <a:pt x="76073" y="0"/>
                  </a:lnTo>
                  <a:lnTo>
                    <a:pt x="76073" y="43002"/>
                  </a:lnTo>
                  <a:lnTo>
                    <a:pt x="458088" y="43002"/>
                  </a:lnTo>
                  <a:lnTo>
                    <a:pt x="458088" y="0"/>
                  </a:lnTo>
                  <a:lnTo>
                    <a:pt x="534542" y="76606"/>
                  </a:lnTo>
                  <a:lnTo>
                    <a:pt x="458088" y="153568"/>
                  </a:lnTo>
                  <a:lnTo>
                    <a:pt x="458088" y="110197"/>
                  </a:lnTo>
                  <a:lnTo>
                    <a:pt x="76073" y="110197"/>
                  </a:lnTo>
                  <a:lnTo>
                    <a:pt x="76073" y="153568"/>
                  </a:lnTo>
                  <a:lnTo>
                    <a:pt x="0" y="76606"/>
                  </a:lnTo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60264" y="3919715"/>
              <a:ext cx="607326" cy="56465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5329809" y="3972559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125" dirty="0">
                <a:latin typeface="Microsoft Sans Serif"/>
                <a:cs typeface="Microsoft Sans Serif"/>
              </a:rPr>
              <a:t>k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160264" y="4590275"/>
            <a:ext cx="578370" cy="56617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5329809" y="4644008"/>
            <a:ext cx="243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latin typeface="Microsoft Sans Serif"/>
                <a:cs typeface="Microsoft Sans Serif"/>
              </a:rPr>
              <a:t>r</a:t>
            </a:r>
            <a:r>
              <a:rPr sz="1800" spc="-200" dirty="0">
                <a:latin typeface="Microsoft Sans Serif"/>
                <a:cs typeface="Microsoft Sans Serif"/>
              </a:rPr>
              <a:t>s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6" name="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323588" y="5123688"/>
            <a:ext cx="1357122" cy="566178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4493133" y="5177790"/>
            <a:ext cx="8807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65" dirty="0">
                <a:latin typeface="Microsoft Sans Serif"/>
                <a:cs typeface="Microsoft Sans Serif"/>
              </a:rPr>
              <a:t>u</a:t>
            </a:r>
            <a:r>
              <a:rPr sz="1800" spc="-160" dirty="0">
                <a:latin typeface="Microsoft Sans Serif"/>
                <a:cs typeface="Microsoft Sans Serif"/>
              </a:rPr>
              <a:t>s[3:0]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8" name="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626864" y="5580888"/>
            <a:ext cx="1078230" cy="566178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4796409" y="5634938"/>
            <a:ext cx="67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14" dirty="0">
                <a:latin typeface="Microsoft Sans Serif"/>
                <a:cs typeface="Microsoft Sans Serif"/>
              </a:rPr>
              <a:t>_o[7:0]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48283" y="3854196"/>
            <a:ext cx="3409315" cy="2750820"/>
            <a:chOff x="748283" y="3854196"/>
            <a:chExt cx="3409315" cy="2750820"/>
          </a:xfrm>
        </p:grpSpPr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90955" y="3886200"/>
              <a:ext cx="3366516" cy="265328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8283" y="3854196"/>
              <a:ext cx="3101340" cy="275081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8199" y="3914140"/>
              <a:ext cx="3276600" cy="256286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38199" y="3913632"/>
              <a:ext cx="3276600" cy="2563495"/>
            </a:xfrm>
            <a:custGeom>
              <a:avLst/>
              <a:gdLst/>
              <a:ahLst/>
              <a:cxnLst/>
              <a:rect l="l" t="t" r="r" b="b"/>
              <a:pathLst>
                <a:path w="3276600" h="2563495">
                  <a:moveTo>
                    <a:pt x="0" y="1524"/>
                  </a:moveTo>
                  <a:lnTo>
                    <a:pt x="0" y="635"/>
                  </a:lnTo>
                  <a:lnTo>
                    <a:pt x="685" y="0"/>
                  </a:lnTo>
                  <a:lnTo>
                    <a:pt x="1536" y="0"/>
                  </a:lnTo>
                  <a:lnTo>
                    <a:pt x="3275076" y="0"/>
                  </a:lnTo>
                  <a:lnTo>
                    <a:pt x="3275965" y="0"/>
                  </a:lnTo>
                  <a:lnTo>
                    <a:pt x="3276600" y="635"/>
                  </a:lnTo>
                  <a:lnTo>
                    <a:pt x="3276600" y="1524"/>
                  </a:lnTo>
                  <a:lnTo>
                    <a:pt x="3276600" y="2561831"/>
                  </a:lnTo>
                  <a:lnTo>
                    <a:pt x="3276600" y="2562682"/>
                  </a:lnTo>
                  <a:lnTo>
                    <a:pt x="3275965" y="2563368"/>
                  </a:lnTo>
                  <a:lnTo>
                    <a:pt x="3275076" y="2563368"/>
                  </a:lnTo>
                  <a:lnTo>
                    <a:pt x="1536" y="2563368"/>
                  </a:lnTo>
                  <a:lnTo>
                    <a:pt x="685" y="2563368"/>
                  </a:lnTo>
                  <a:lnTo>
                    <a:pt x="0" y="2562682"/>
                  </a:lnTo>
                  <a:lnTo>
                    <a:pt x="0" y="2561831"/>
                  </a:lnTo>
                  <a:lnTo>
                    <a:pt x="0" y="1524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916025" y="3908805"/>
            <a:ext cx="2768600" cy="111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40"/>
              </a:lnSpc>
              <a:spcBef>
                <a:spcPts val="100"/>
              </a:spcBef>
            </a:pP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14" dirty="0">
                <a:latin typeface="Microsoft Sans Serif"/>
                <a:cs typeface="Microsoft Sans Serif"/>
              </a:rPr>
              <a:t>od</a:t>
            </a:r>
            <a:r>
              <a:rPr sz="1800" spc="-110" dirty="0">
                <a:latin typeface="Microsoft Sans Serif"/>
                <a:cs typeface="Microsoft Sans Serif"/>
              </a:rPr>
              <a:t>u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225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pc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(</a:t>
            </a:r>
            <a:r>
              <a:rPr sz="1800" spc="-195" dirty="0">
                <a:latin typeface="Microsoft Sans Serif"/>
                <a:cs typeface="Microsoft Sans Serif"/>
              </a:rPr>
              <a:t>c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150" dirty="0">
                <a:latin typeface="Microsoft Sans Serif"/>
                <a:cs typeface="Microsoft Sans Serif"/>
              </a:rPr>
              <a:t>k</a:t>
            </a:r>
            <a:r>
              <a:rPr sz="1800" spc="-80" dirty="0">
                <a:latin typeface="Microsoft Sans Serif"/>
                <a:cs typeface="Microsoft Sans Serif"/>
              </a:rPr>
              <a:t>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40" dirty="0">
                <a:latin typeface="Microsoft Sans Serif"/>
                <a:cs typeface="Microsoft Sans Serif"/>
              </a:rPr>
              <a:t>r</a:t>
            </a:r>
            <a:r>
              <a:rPr sz="1800" spc="-195" dirty="0">
                <a:latin typeface="Microsoft Sans Serif"/>
                <a:cs typeface="Microsoft Sans Serif"/>
              </a:rPr>
              <a:t>s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35" dirty="0">
                <a:latin typeface="Microsoft Sans Serif"/>
                <a:cs typeface="Microsoft Sans Serif"/>
              </a:rPr>
              <a:t>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65" dirty="0">
                <a:latin typeface="Microsoft Sans Serif"/>
                <a:cs typeface="Microsoft Sans Serif"/>
              </a:rPr>
              <a:t>u</a:t>
            </a:r>
            <a:r>
              <a:rPr sz="1800" spc="-220" dirty="0">
                <a:latin typeface="Microsoft Sans Serif"/>
                <a:cs typeface="Microsoft Sans Serif"/>
              </a:rPr>
              <a:t>s,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85" dirty="0">
                <a:latin typeface="Microsoft Sans Serif"/>
                <a:cs typeface="Microsoft Sans Serif"/>
              </a:rPr>
              <a:t>_o);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140"/>
              </a:lnSpc>
            </a:pPr>
            <a:r>
              <a:rPr sz="1800" spc="-70" dirty="0">
                <a:latin typeface="Microsoft Sans Serif"/>
                <a:cs typeface="Microsoft Sans Serif"/>
              </a:rPr>
              <a:t>input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clk,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80" dirty="0">
                <a:latin typeface="Microsoft Sans Serif"/>
                <a:cs typeface="Microsoft Sans Serif"/>
              </a:rPr>
              <a:t>rst;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-65" dirty="0">
                <a:latin typeface="Microsoft Sans Serif"/>
                <a:cs typeface="Microsoft Sans Serif"/>
              </a:rPr>
              <a:t>tp</a:t>
            </a:r>
            <a:r>
              <a:rPr sz="1800" spc="-80" dirty="0">
                <a:latin typeface="Microsoft Sans Serif"/>
                <a:cs typeface="Microsoft Sans Serif"/>
              </a:rPr>
              <a:t>u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3</a:t>
            </a:r>
            <a:r>
              <a:rPr sz="1800" spc="-105" dirty="0">
                <a:latin typeface="Microsoft Sans Serif"/>
                <a:cs typeface="Microsoft Sans Serif"/>
              </a:rPr>
              <a:t>:0]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65" dirty="0">
                <a:latin typeface="Microsoft Sans Serif"/>
                <a:cs typeface="Microsoft Sans Serif"/>
              </a:rPr>
              <a:t>u</a:t>
            </a:r>
            <a:r>
              <a:rPr sz="1800" spc="-170" dirty="0">
                <a:latin typeface="Microsoft Sans Serif"/>
                <a:cs typeface="Microsoft Sans Serif"/>
              </a:rPr>
              <a:t>s;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70" dirty="0">
                <a:latin typeface="Microsoft Sans Serif"/>
                <a:cs typeface="Microsoft Sans Serif"/>
              </a:rPr>
              <a:t>inout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[7:0]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i_o;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16025" y="6157988"/>
            <a:ext cx="101091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00"/>
              </a:lnSpc>
            </a:pPr>
            <a:r>
              <a:rPr sz="1800" spc="-135" dirty="0">
                <a:latin typeface="Microsoft Sans Serif"/>
                <a:cs typeface="Microsoft Sans Serif"/>
              </a:rPr>
              <a:t>endmodule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32</a:t>
            </a:fld>
            <a:endParaRPr spc="-195" dirty="0"/>
          </a:p>
        </p:txBody>
      </p:sp>
      <p:sp>
        <p:nvSpPr>
          <p:cNvPr id="61" name="object 6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896975" y="5041379"/>
          <a:ext cx="1579245" cy="1115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209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sz="1800" spc="-105" dirty="0">
                          <a:latin typeface="Microsoft Sans Serif"/>
                          <a:cs typeface="Microsoft Sans Serif"/>
                        </a:rPr>
                        <a:t>wire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1950"/>
                        </a:lnSpc>
                      </a:pPr>
                      <a:r>
                        <a:rPr sz="1800" spc="-65" dirty="0">
                          <a:latin typeface="Microsoft Sans Serif"/>
                          <a:cs typeface="Microsoft Sans Serif"/>
                        </a:rPr>
                        <a:t>r_w;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0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spc="-105" dirty="0">
                          <a:latin typeface="Microsoft Sans Serif"/>
                          <a:cs typeface="Microsoft Sans Serif"/>
                        </a:rPr>
                        <a:t>wire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1880"/>
                        </a:lnSpc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[7:0]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1880"/>
                        </a:lnSpc>
                      </a:pPr>
                      <a:r>
                        <a:rPr sz="1800" spc="-120" dirty="0">
                          <a:latin typeface="Microsoft Sans Serif"/>
                          <a:cs typeface="Microsoft Sans Serif"/>
                        </a:rPr>
                        <a:t>data;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93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spc="-105" dirty="0">
                          <a:latin typeface="Microsoft Sans Serif"/>
                          <a:cs typeface="Microsoft Sans Serif"/>
                        </a:rPr>
                        <a:t>wire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1880"/>
                        </a:lnSpc>
                      </a:pPr>
                      <a:r>
                        <a:rPr sz="1800" spc="-130" dirty="0">
                          <a:latin typeface="Microsoft Sans Serif"/>
                          <a:cs typeface="Microsoft Sans Serif"/>
                        </a:rPr>
                        <a:t>[9:0]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95" dirty="0">
                          <a:latin typeface="Microsoft Sans Serif"/>
                          <a:cs typeface="Microsoft Sans Serif"/>
                        </a:rPr>
                        <a:t>addr;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01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spc="775" dirty="0">
                          <a:latin typeface="Microsoft Sans Serif"/>
                          <a:cs typeface="Microsoft Sans Serif"/>
                        </a:rPr>
                        <a:t>……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" name="object 57"/>
          <p:cNvSpPr txBox="1"/>
          <p:nvPr/>
        </p:nvSpPr>
        <p:spPr>
          <a:xfrm>
            <a:off x="535025" y="1005971"/>
            <a:ext cx="7738109" cy="2892458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92710" algn="ctr">
              <a:lnSpc>
                <a:spcPct val="100000"/>
              </a:lnSpc>
              <a:spcBef>
                <a:spcPts val="1075"/>
              </a:spcBef>
            </a:pP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b="1" spc="-48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5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40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  <a:p>
            <a:pPr marL="367665" indent="-355600">
              <a:lnSpc>
                <a:spcPct val="100000"/>
              </a:lnSpc>
              <a:spcBef>
                <a:spcPts val="1170"/>
              </a:spcBef>
              <a:buClr>
                <a:srgbClr val="FF0000"/>
              </a:buClr>
              <a:buFont typeface="Wingdings"/>
              <a:buChar char=""/>
              <a:tabLst>
                <a:tab pos="368300" algn="l"/>
              </a:tabLst>
            </a:pP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Nets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internal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signals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cannot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accessed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outside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Font typeface="Wingdings"/>
              <a:buChar char=""/>
            </a:pPr>
            <a:endParaRPr sz="2200" dirty="0">
              <a:latin typeface="Microsoft Sans Serif"/>
              <a:cs typeface="Microsoft Sans Serif"/>
            </a:endParaRPr>
          </a:p>
          <a:p>
            <a:pPr marL="367665" indent="-3556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68300" algn="l"/>
              </a:tabLst>
            </a:pP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Ports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external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signals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interface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outside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environment</a:t>
            </a:r>
            <a:endParaRPr sz="2400" dirty="0">
              <a:latin typeface="Microsoft Sans Serif"/>
              <a:cs typeface="Microsoft Sans Serif"/>
            </a:endParaRPr>
          </a:p>
          <a:p>
            <a:pPr marL="915035" lvl="1" indent="-293370">
              <a:lnSpc>
                <a:spcPts val="2855"/>
              </a:lnSpc>
              <a:spcBef>
                <a:spcPts val="785"/>
              </a:spcBef>
              <a:buClr>
                <a:srgbClr val="FF0000"/>
              </a:buClr>
              <a:buSzPct val="75000"/>
              <a:buFont typeface="Times New Roman"/>
              <a:buChar char="—"/>
              <a:tabLst>
                <a:tab pos="915669" algn="l"/>
              </a:tabLst>
            </a:pP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written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but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cannot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read</a:t>
            </a:r>
            <a:endParaRPr sz="2400" dirty="0">
              <a:latin typeface="Microsoft Sans Serif"/>
              <a:cs typeface="Microsoft Sans Serif"/>
            </a:endParaRPr>
          </a:p>
          <a:p>
            <a:pPr marL="1010919" lvl="1" indent="-389255">
              <a:lnSpc>
                <a:spcPts val="2855"/>
              </a:lnSpc>
              <a:buClr>
                <a:srgbClr val="FF0000"/>
              </a:buClr>
              <a:buFont typeface="Times New Roman"/>
              <a:buChar char="—"/>
              <a:tabLst>
                <a:tab pos="1011555" algn="l"/>
              </a:tabLst>
            </a:pP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read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but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cannot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3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spc="-200">
                <a:solidFill>
                  <a:srgbClr val="006FC0"/>
                </a:solidFill>
                <a:latin typeface="Microsoft Sans Serif"/>
                <a:cs typeface="Microsoft Sans Serif"/>
              </a:rPr>
              <a:t>written</a:t>
            </a:r>
            <a:endParaRPr sz="2400" dirty="0">
              <a:latin typeface="Microsoft Sans Serif"/>
              <a:cs typeface="Microsoft Sans Serif"/>
            </a:endParaRPr>
          </a:p>
          <a:p>
            <a:pPr marL="1010919" lvl="1" indent="-389255">
              <a:lnSpc>
                <a:spcPct val="100000"/>
              </a:lnSpc>
              <a:buClr>
                <a:srgbClr val="FF0000"/>
              </a:buClr>
              <a:buFont typeface="Times New Roman"/>
              <a:buChar char="—"/>
              <a:tabLst>
                <a:tab pos="1011555" algn="l"/>
              </a:tabLst>
            </a:pP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inout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ad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ritten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13395"/>
            <a:ext cx="7951470" cy="366204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22275" algn="ctr">
              <a:lnSpc>
                <a:spcPct val="100000"/>
              </a:lnSpc>
              <a:spcBef>
                <a:spcPts val="570"/>
              </a:spcBef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10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type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represents</a:t>
            </a:r>
            <a:r>
              <a:rPr sz="22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storage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elements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endParaRPr sz="22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hol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lue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represent</a:t>
            </a:r>
            <a:r>
              <a:rPr sz="22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real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hardware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but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real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hardware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implemented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2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registers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within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2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default</a:t>
            </a:r>
            <a:endParaRPr sz="22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2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lue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2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2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2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d: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9644" y="6116609"/>
            <a:ext cx="174942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30" dirty="0">
                <a:latin typeface="Arial MT"/>
                <a:cs typeface="Arial MT"/>
              </a:rPr>
              <a:t>#5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CLK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=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~CLK;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96234" y="6146727"/>
            <a:ext cx="3663315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9860">
              <a:lnSpc>
                <a:spcPts val="2315"/>
              </a:lnSpc>
            </a:pPr>
            <a:r>
              <a:rPr sz="2000" b="1" dirty="0">
                <a:latin typeface="Arial"/>
                <a:cs typeface="Arial"/>
              </a:rPr>
              <a:t>C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0;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//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now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1000" b="1" spc="55" dirty="0">
                <a:solidFill>
                  <a:srgbClr val="C00000"/>
                </a:solidFill>
                <a:latin typeface="Cambria"/>
                <a:cs typeface="Cambria"/>
              </a:rPr>
              <a:t>BECE102L</a:t>
            </a:r>
            <a:r>
              <a:rPr sz="1000" b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130" dirty="0">
                <a:solidFill>
                  <a:srgbClr val="C00000"/>
                </a:solidFill>
                <a:latin typeface="Trebuchet MS"/>
                <a:cs typeface="Trebuchet MS"/>
              </a:rPr>
              <a:t>–</a:t>
            </a:r>
            <a:r>
              <a:rPr sz="1000" b="1" spc="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DIGITAL</a:t>
            </a:r>
            <a:r>
              <a:rPr sz="1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1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33</a:t>
            </a:fld>
            <a:endParaRPr spc="-195" dirty="0"/>
          </a:p>
        </p:txBody>
      </p:sp>
      <p:sp>
        <p:nvSpPr>
          <p:cNvPr id="18" name="object 18"/>
          <p:cNvSpPr txBox="1"/>
          <p:nvPr/>
        </p:nvSpPr>
        <p:spPr>
          <a:xfrm>
            <a:off x="840739" y="4595654"/>
            <a:ext cx="1520190" cy="145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7515">
              <a:lnSpc>
                <a:spcPct val="130100"/>
              </a:lnSpc>
              <a:spcBef>
                <a:spcPts val="95"/>
              </a:spcBef>
              <a:tabLst>
                <a:tab pos="526415" algn="l"/>
              </a:tabLst>
            </a:pPr>
            <a:r>
              <a:rPr sz="1800" spc="140" dirty="0">
                <a:latin typeface="Arial MT"/>
                <a:cs typeface="Arial MT"/>
              </a:rPr>
              <a:t>r</a:t>
            </a:r>
            <a:r>
              <a:rPr sz="1800" spc="40" dirty="0">
                <a:latin typeface="Arial MT"/>
                <a:cs typeface="Arial MT"/>
              </a:rPr>
              <a:t>e</a:t>
            </a:r>
            <a:r>
              <a:rPr sz="1800" spc="120" dirty="0">
                <a:latin typeface="Arial MT"/>
                <a:cs typeface="Arial MT"/>
              </a:rPr>
              <a:t>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60" dirty="0">
                <a:latin typeface="Arial MT"/>
                <a:cs typeface="Arial MT"/>
              </a:rPr>
              <a:t>CLK;  </a:t>
            </a:r>
            <a:r>
              <a:rPr sz="1800" spc="90" dirty="0">
                <a:latin typeface="Arial MT"/>
                <a:cs typeface="Arial MT"/>
              </a:rPr>
              <a:t>initial 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90" dirty="0">
                <a:latin typeface="Arial MT"/>
                <a:cs typeface="Arial MT"/>
              </a:rPr>
              <a:t>begin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645"/>
              </a:spcBef>
            </a:pPr>
            <a:r>
              <a:rPr sz="1800" spc="80" dirty="0">
                <a:latin typeface="Arial MT"/>
                <a:cs typeface="Arial MT"/>
              </a:rPr>
              <a:t>CLK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=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75" dirty="0">
                <a:latin typeface="Arial MT"/>
                <a:cs typeface="Arial MT"/>
              </a:rPr>
              <a:t>1'b0;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46575" y="4598289"/>
            <a:ext cx="364934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reg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C;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//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declaration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always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 marL="469900" marR="508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C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A;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//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gets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 </a:t>
            </a:r>
            <a:r>
              <a:rPr sz="2000" b="1" dirty="0">
                <a:latin typeface="Arial"/>
                <a:cs typeface="Arial"/>
              </a:rPr>
              <a:t>1 </a:t>
            </a:r>
            <a:r>
              <a:rPr sz="2000" b="1" spc="-5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0;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//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 is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still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85045"/>
            <a:ext cx="8376920" cy="20808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605"/>
              </a:spcBef>
              <a:tabLst>
                <a:tab pos="4514850" algn="l"/>
              </a:tabLst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	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a)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29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-29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10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integer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contains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integer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It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general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purpose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type 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manipulating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 quantities,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typically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high-level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behavior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540" y="3610736"/>
            <a:ext cx="6781800" cy="2437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MSB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2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specify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ra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2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integ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200">
              <a:latin typeface="Microsoft Sans Serif"/>
              <a:cs typeface="Microsoft Sans Serif"/>
            </a:endParaRPr>
          </a:p>
          <a:p>
            <a:pPr marL="1079500" marR="3693160">
              <a:lnSpc>
                <a:spcPct val="130100"/>
              </a:lnSpc>
              <a:spcBef>
                <a:spcPts val="215"/>
              </a:spcBef>
            </a:pPr>
            <a:r>
              <a:rPr sz="1800" spc="95" dirty="0">
                <a:latin typeface="Arial MT"/>
                <a:cs typeface="Arial MT"/>
              </a:rPr>
              <a:t>integer </a:t>
            </a:r>
            <a:r>
              <a:rPr sz="1800" spc="100" dirty="0">
                <a:latin typeface="Arial MT"/>
                <a:cs typeface="Arial MT"/>
              </a:rPr>
              <a:t>count; 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spc="95" dirty="0">
                <a:latin typeface="Arial MT"/>
                <a:cs typeface="Arial MT"/>
              </a:rPr>
              <a:t>integer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125" dirty="0">
                <a:latin typeface="Arial MT"/>
                <a:cs typeface="Arial MT"/>
              </a:rPr>
              <a:t>addr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[3:0];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90" dirty="0">
                <a:latin typeface="Arial MT"/>
                <a:cs typeface="Arial MT"/>
              </a:rPr>
              <a:t>initial</a:t>
            </a:r>
            <a:endParaRPr sz="1800">
              <a:latin typeface="Arial MT"/>
              <a:cs typeface="Arial MT"/>
            </a:endParaRPr>
          </a:p>
          <a:p>
            <a:pPr marL="1079500">
              <a:lnSpc>
                <a:spcPct val="100000"/>
              </a:lnSpc>
              <a:spcBef>
                <a:spcPts val="650"/>
              </a:spcBef>
            </a:pPr>
            <a:r>
              <a:rPr sz="1800" spc="90" dirty="0">
                <a:latin typeface="Arial MT"/>
                <a:cs typeface="Arial MT"/>
              </a:rPr>
              <a:t>begin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11808" y="3165335"/>
            <a:ext cx="5337175" cy="561340"/>
            <a:chOff x="1511808" y="3165335"/>
            <a:chExt cx="5337175" cy="56134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2956" y="3183623"/>
              <a:ext cx="5295900" cy="4602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1808" y="3165335"/>
              <a:ext cx="4997195" cy="5608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0200" y="3211067"/>
              <a:ext cx="5205984" cy="3703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600200" y="3211067"/>
            <a:ext cx="5206365" cy="37084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1800" spc="-114" dirty="0">
                <a:latin typeface="Microsoft Sans Serif"/>
                <a:cs typeface="Microsoft Sans Serif"/>
              </a:rPr>
              <a:t>Integer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integer1,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10" dirty="0">
                <a:latin typeface="Microsoft Sans Serif"/>
                <a:cs typeface="Microsoft Sans Serif"/>
              </a:rPr>
              <a:t>integer2,……….integer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[msb:lsb]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79194" y="6116609"/>
            <a:ext cx="176276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85" dirty="0">
                <a:latin typeface="Arial MT"/>
                <a:cs typeface="Arial MT"/>
              </a:rPr>
              <a:t>count=count+1;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34</a:t>
            </a:fld>
            <a:endParaRPr spc="-195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08845"/>
            <a:ext cx="8376920" cy="252603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605"/>
              </a:spcBef>
              <a:tabLst>
                <a:tab pos="4514850" algn="l"/>
              </a:tabLst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	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1800" b="1" spc="-21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7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29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229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954405" algn="l"/>
                <a:tab pos="1969135" algn="l"/>
                <a:tab pos="2441575" algn="l"/>
                <a:tab pos="3070225" algn="l"/>
                <a:tab pos="3439160" algn="l"/>
                <a:tab pos="4312285" algn="l"/>
                <a:tab pos="4795520" algn="l"/>
                <a:tab pos="5760085" algn="l"/>
                <a:tab pos="6098540" algn="l"/>
                <a:tab pos="7066915" algn="l"/>
                <a:tab pos="7442834" algn="l"/>
              </a:tabLst>
            </a:pPr>
            <a:r>
              <a:rPr sz="22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Rea</a:t>
            </a:r>
            <a:r>
              <a:rPr sz="22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ist</a:t>
            </a:r>
            <a:r>
              <a:rPr sz="2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specify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ria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le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imal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scie</a:t>
            </a:r>
            <a:r>
              <a:rPr sz="22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tif</a:t>
            </a:r>
            <a:r>
              <a:rPr sz="22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endParaRPr sz="22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notati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wi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real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355600" marR="112395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Real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numbers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cannot </a:t>
            </a:r>
            <a:r>
              <a:rPr sz="22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have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range</a:t>
            </a:r>
            <a:r>
              <a:rPr sz="22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declaration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their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default 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200" spc="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0,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sy</a:t>
            </a:r>
            <a:r>
              <a:rPr sz="22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ta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give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6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540" y="3979545"/>
            <a:ext cx="1441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2994" y="4138040"/>
            <a:ext cx="1403350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9410">
              <a:lnSpc>
                <a:spcPct val="130000"/>
              </a:lnSpc>
              <a:spcBef>
                <a:spcPts val="100"/>
              </a:spcBef>
            </a:pPr>
            <a:r>
              <a:rPr sz="1800" spc="85" dirty="0">
                <a:latin typeface="Arial MT"/>
                <a:cs typeface="Arial MT"/>
              </a:rPr>
              <a:t>real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105" dirty="0">
                <a:latin typeface="Arial MT"/>
                <a:cs typeface="Arial MT"/>
              </a:rPr>
              <a:t>pwd;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90" dirty="0">
                <a:latin typeface="Arial MT"/>
                <a:cs typeface="Arial MT"/>
              </a:rPr>
              <a:t>initial 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90" dirty="0">
                <a:latin typeface="Arial MT"/>
                <a:cs typeface="Arial MT"/>
              </a:rPr>
              <a:t>begin</a:t>
            </a:r>
            <a:endParaRPr sz="1800">
              <a:latin typeface="Arial MT"/>
              <a:cs typeface="Arial MT"/>
            </a:endParaRPr>
          </a:p>
          <a:p>
            <a:pPr marL="241300" marR="5080">
              <a:lnSpc>
                <a:spcPct val="130000"/>
              </a:lnSpc>
            </a:pPr>
            <a:r>
              <a:rPr sz="1800" spc="75" dirty="0">
                <a:latin typeface="Arial MT"/>
                <a:cs typeface="Arial MT"/>
              </a:rPr>
              <a:t>pwd=3e5;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95" dirty="0">
                <a:latin typeface="Arial MT"/>
                <a:cs typeface="Arial MT"/>
              </a:rPr>
              <a:t>p</a:t>
            </a:r>
            <a:r>
              <a:rPr sz="1800" spc="135" dirty="0">
                <a:latin typeface="Arial MT"/>
                <a:cs typeface="Arial MT"/>
              </a:rPr>
              <a:t>w</a:t>
            </a:r>
            <a:r>
              <a:rPr sz="1800" spc="60" dirty="0">
                <a:latin typeface="Arial MT"/>
                <a:cs typeface="Arial MT"/>
              </a:rPr>
              <a:t>d=2.13;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85" dirty="0">
                <a:latin typeface="Arial MT"/>
                <a:cs typeface="Arial MT"/>
              </a:rPr>
              <a:t>end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11808" y="3535667"/>
            <a:ext cx="4871085" cy="561340"/>
            <a:chOff x="1511808" y="3535667"/>
            <a:chExt cx="4871085" cy="56134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2956" y="3553955"/>
              <a:ext cx="4760976" cy="4602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1808" y="3535667"/>
              <a:ext cx="4870704" cy="5608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0200" y="3581399"/>
              <a:ext cx="4671060" cy="37033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00200" y="3581400"/>
            <a:ext cx="4671060" cy="37084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0"/>
              </a:spcBef>
            </a:pPr>
            <a:r>
              <a:rPr sz="1800" spc="-270" dirty="0">
                <a:latin typeface="Microsoft Sans Serif"/>
                <a:cs typeface="Microsoft Sans Serif"/>
              </a:rPr>
              <a:t>Re</a:t>
            </a:r>
            <a:r>
              <a:rPr sz="1800" spc="-24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l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50" dirty="0">
                <a:latin typeface="Microsoft Sans Serif"/>
                <a:cs typeface="Microsoft Sans Serif"/>
              </a:rPr>
              <a:t>re</a:t>
            </a:r>
            <a:r>
              <a:rPr sz="1800" spc="-195" dirty="0">
                <a:latin typeface="Microsoft Sans Serif"/>
                <a:cs typeface="Microsoft Sans Serif"/>
              </a:rPr>
              <a:t>a</a:t>
            </a:r>
            <a:r>
              <a:rPr sz="1800" spc="-35" dirty="0">
                <a:latin typeface="Microsoft Sans Serif"/>
                <a:cs typeface="Microsoft Sans Serif"/>
              </a:rPr>
              <a:t>l</a:t>
            </a:r>
            <a:r>
              <a:rPr sz="1800" spc="-70" dirty="0">
                <a:latin typeface="Microsoft Sans Serif"/>
                <a:cs typeface="Microsoft Sans Serif"/>
              </a:rPr>
              <a:t>_</a:t>
            </a:r>
            <a:r>
              <a:rPr sz="1800" spc="-180" dirty="0">
                <a:latin typeface="Microsoft Sans Serif"/>
                <a:cs typeface="Microsoft Sans Serif"/>
              </a:rPr>
              <a:t>reg1</a:t>
            </a:r>
            <a:r>
              <a:rPr sz="1800" spc="-100" dirty="0">
                <a:latin typeface="Microsoft Sans Serif"/>
                <a:cs typeface="Microsoft Sans Serif"/>
              </a:rPr>
              <a:t>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50" dirty="0">
                <a:latin typeface="Microsoft Sans Serif"/>
                <a:cs typeface="Microsoft Sans Serif"/>
              </a:rPr>
              <a:t>re</a:t>
            </a:r>
            <a:r>
              <a:rPr sz="1800" spc="-195" dirty="0">
                <a:latin typeface="Microsoft Sans Serif"/>
                <a:cs typeface="Microsoft Sans Serif"/>
              </a:rPr>
              <a:t>a</a:t>
            </a:r>
            <a:r>
              <a:rPr sz="1800" spc="-35" dirty="0">
                <a:latin typeface="Microsoft Sans Serif"/>
                <a:cs typeface="Microsoft Sans Serif"/>
              </a:rPr>
              <a:t>l</a:t>
            </a:r>
            <a:r>
              <a:rPr sz="1800" spc="-70" dirty="0">
                <a:latin typeface="Microsoft Sans Serif"/>
                <a:cs typeface="Microsoft Sans Serif"/>
              </a:rPr>
              <a:t>_</a:t>
            </a:r>
            <a:r>
              <a:rPr sz="1800" spc="-180" dirty="0">
                <a:latin typeface="Microsoft Sans Serif"/>
                <a:cs typeface="Microsoft Sans Serif"/>
              </a:rPr>
              <a:t>reg2</a:t>
            </a:r>
            <a:r>
              <a:rPr sz="1800" spc="-110" dirty="0">
                <a:latin typeface="Microsoft Sans Serif"/>
                <a:cs typeface="Microsoft Sans Serif"/>
              </a:rPr>
              <a:t>,</a:t>
            </a:r>
            <a:r>
              <a:rPr sz="1800" spc="780" dirty="0">
                <a:latin typeface="Microsoft Sans Serif"/>
                <a:cs typeface="Microsoft Sans Serif"/>
              </a:rPr>
              <a:t>……</a:t>
            </a:r>
            <a:r>
              <a:rPr sz="1800" spc="770" dirty="0">
                <a:latin typeface="Microsoft Sans Serif"/>
                <a:cs typeface="Microsoft Sans Serif"/>
              </a:rPr>
              <a:t>…</a:t>
            </a:r>
            <a:r>
              <a:rPr sz="1800" spc="780" dirty="0">
                <a:latin typeface="Microsoft Sans Serif"/>
                <a:cs typeface="Microsoft Sans Serif"/>
              </a:rPr>
              <a:t>……</a:t>
            </a:r>
            <a:r>
              <a:rPr sz="1800" spc="770" dirty="0">
                <a:latin typeface="Microsoft Sans Serif"/>
                <a:cs typeface="Microsoft Sans Serif"/>
              </a:rPr>
              <a:t>…</a:t>
            </a:r>
            <a:r>
              <a:rPr sz="1800" spc="-135" dirty="0">
                <a:latin typeface="Microsoft Sans Serif"/>
                <a:cs typeface="Microsoft Sans Serif"/>
              </a:rPr>
              <a:t>.re</a:t>
            </a:r>
            <a:r>
              <a:rPr sz="1800" spc="-200" dirty="0">
                <a:latin typeface="Microsoft Sans Serif"/>
                <a:cs typeface="Microsoft Sans Serif"/>
              </a:rPr>
              <a:t>a</a:t>
            </a:r>
            <a:r>
              <a:rPr sz="1800" spc="-35" dirty="0">
                <a:latin typeface="Microsoft Sans Serif"/>
                <a:cs typeface="Microsoft Sans Serif"/>
              </a:rPr>
              <a:t>l</a:t>
            </a:r>
            <a:r>
              <a:rPr sz="1800" spc="-70" dirty="0">
                <a:latin typeface="Microsoft Sans Serif"/>
                <a:cs typeface="Microsoft Sans Serif"/>
              </a:rPr>
              <a:t>_</a:t>
            </a:r>
            <a:r>
              <a:rPr sz="1800" spc="-150" dirty="0">
                <a:latin typeface="Microsoft Sans Serif"/>
                <a:cs typeface="Microsoft Sans Serif"/>
              </a:rPr>
              <a:t>regn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826754" y="6643232"/>
            <a:ext cx="17780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85045"/>
            <a:ext cx="8345805" cy="211772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605"/>
              </a:spcBef>
              <a:tabLst>
                <a:tab pos="4514850" algn="l"/>
              </a:tabLst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	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1800" b="1" spc="-204" dirty="0">
                <a:solidFill>
                  <a:srgbClr val="C00000"/>
                </a:solidFill>
                <a:latin typeface="Arial"/>
                <a:cs typeface="Arial"/>
              </a:rPr>
              <a:t>c)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IM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store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manupulate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values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"/>
            </a:pPr>
            <a:endParaRPr sz="225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They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store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simulation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time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540" y="3500450"/>
            <a:ext cx="11544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Syntax: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3540" y="4040248"/>
            <a:ext cx="3250565" cy="22117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200">
              <a:latin typeface="Microsoft Sans Serif"/>
              <a:cs typeface="Microsoft Sans Serif"/>
            </a:endParaRPr>
          </a:p>
          <a:p>
            <a:pPr marL="1231900" marR="444500">
              <a:lnSpc>
                <a:spcPts val="2810"/>
              </a:lnSpc>
              <a:spcBef>
                <a:spcPts val="85"/>
              </a:spcBef>
            </a:pPr>
            <a:r>
              <a:rPr sz="1800" spc="95" dirty="0">
                <a:latin typeface="Arial MT"/>
                <a:cs typeface="Arial MT"/>
              </a:rPr>
              <a:t>time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114" dirty="0">
                <a:latin typeface="Arial MT"/>
                <a:cs typeface="Arial MT"/>
              </a:rPr>
              <a:t>currtime;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90" dirty="0">
                <a:latin typeface="Arial MT"/>
                <a:cs typeface="Arial MT"/>
              </a:rPr>
              <a:t>initial</a:t>
            </a:r>
            <a:endParaRPr sz="1800">
              <a:latin typeface="Arial MT"/>
              <a:cs typeface="Arial MT"/>
            </a:endParaRPr>
          </a:p>
          <a:p>
            <a:pPr marL="1231900">
              <a:lnSpc>
                <a:spcPct val="100000"/>
              </a:lnSpc>
              <a:spcBef>
                <a:spcPts val="445"/>
              </a:spcBef>
            </a:pPr>
            <a:r>
              <a:rPr sz="1800" spc="90" dirty="0">
                <a:latin typeface="Arial MT"/>
                <a:cs typeface="Arial MT"/>
              </a:rPr>
              <a:t>begin</a:t>
            </a:r>
            <a:endParaRPr sz="1800">
              <a:latin typeface="Arial MT"/>
              <a:cs typeface="Arial MT"/>
            </a:endParaRPr>
          </a:p>
          <a:p>
            <a:pPr marL="1231900" marR="5080" indent="228600">
              <a:lnSpc>
                <a:spcPct val="130000"/>
              </a:lnSpc>
            </a:pPr>
            <a:r>
              <a:rPr sz="1800" spc="95" dirty="0">
                <a:latin typeface="Arial MT"/>
                <a:cs typeface="Arial MT"/>
              </a:rPr>
              <a:t>currtime=$time;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end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64207" y="3459467"/>
            <a:ext cx="4876800" cy="561340"/>
            <a:chOff x="1664207" y="3459467"/>
            <a:chExt cx="4876800" cy="56134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05355" y="3477755"/>
              <a:ext cx="4797552" cy="4602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64207" y="3459467"/>
              <a:ext cx="4876800" cy="5608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2599" y="3505199"/>
              <a:ext cx="4707636" cy="37033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752600" y="3505200"/>
            <a:ext cx="4707890" cy="37084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0"/>
              </a:spcBef>
            </a:pPr>
            <a:r>
              <a:rPr sz="1800" spc="-120" dirty="0">
                <a:latin typeface="Microsoft Sans Serif"/>
                <a:cs typeface="Microsoft Sans Serif"/>
              </a:rPr>
              <a:t>Time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time_id1,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110" dirty="0">
                <a:latin typeface="Microsoft Sans Serif"/>
                <a:cs typeface="Microsoft Sans Serif"/>
              </a:rPr>
              <a:t>time_id2,………………..time_idn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36</a:t>
            </a:fld>
            <a:endParaRPr spc="-195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08845"/>
            <a:ext cx="8378825" cy="13950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605"/>
              </a:spcBef>
              <a:tabLst>
                <a:tab pos="4514850" algn="l"/>
              </a:tabLst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	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18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1800" b="1" spc="-29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-17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1800" b="1" spc="-330" dirty="0">
                <a:solidFill>
                  <a:srgbClr val="C00000"/>
                </a:solidFill>
                <a:latin typeface="Arial"/>
                <a:cs typeface="Arial"/>
              </a:rPr>
              <a:t>RS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0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reg</a:t>
            </a:r>
            <a:r>
              <a:rPr sz="20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20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0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vector,</a:t>
            </a:r>
            <a:r>
              <a:rPr sz="20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width</a:t>
            </a:r>
            <a:r>
              <a:rPr sz="20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0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specified,</a:t>
            </a:r>
            <a:r>
              <a:rPr sz="20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default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lar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bit)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37</a:t>
            </a:fld>
            <a:endParaRPr spc="-195" dirty="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3540" y="2438526"/>
            <a:ext cx="1347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Exa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mples: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2594" y="2378176"/>
            <a:ext cx="3424554" cy="277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822960" algn="l"/>
                <a:tab pos="967740" algn="l"/>
                <a:tab pos="1917700" algn="l"/>
              </a:tabLst>
            </a:pP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wire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b;	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//scalar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wire</a:t>
            </a: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7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ta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8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Repre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bu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18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solidFill>
                  <a:srgbClr val="006FC0"/>
                </a:solidFill>
                <a:latin typeface="Courier New"/>
                <a:cs typeface="Courier New"/>
              </a:rPr>
              <a:t>wire[3:0]</a:t>
            </a:r>
            <a:r>
              <a:rPr sz="1800" spc="-4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urier New"/>
                <a:cs typeface="Courier New"/>
              </a:rPr>
              <a:t>busA;</a:t>
            </a:r>
            <a:endParaRPr sz="180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solidFill>
                  <a:srgbClr val="006FC0"/>
                </a:solidFill>
                <a:latin typeface="Courier New"/>
                <a:cs typeface="Courier New"/>
              </a:rPr>
              <a:t>reg</a:t>
            </a:r>
            <a:r>
              <a:rPr sz="18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urier New"/>
                <a:cs typeface="Courier New"/>
              </a:rPr>
              <a:t>[1:4]</a:t>
            </a:r>
            <a:r>
              <a:rPr sz="18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urier New"/>
                <a:cs typeface="Courier New"/>
              </a:rPr>
              <a:t>busB;</a:t>
            </a:r>
            <a:endParaRPr sz="180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solidFill>
                  <a:srgbClr val="006FC0"/>
                </a:solidFill>
                <a:latin typeface="Courier New"/>
                <a:cs typeface="Courier New"/>
              </a:rPr>
              <a:t>reg</a:t>
            </a:r>
            <a:r>
              <a:rPr sz="18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urier New"/>
                <a:cs typeface="Courier New"/>
              </a:rPr>
              <a:t>[1:0]</a:t>
            </a:r>
            <a:r>
              <a:rPr sz="18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urier New"/>
                <a:cs typeface="Courier New"/>
              </a:rPr>
              <a:t>busC;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ef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nu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MS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Ve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900" b="1" i="1" spc="-280" dirty="0">
                <a:solidFill>
                  <a:srgbClr val="006FC0"/>
                </a:solidFill>
                <a:latin typeface="Arial"/>
                <a:cs typeface="Arial"/>
              </a:rPr>
              <a:t>b</a:t>
            </a:r>
            <a:r>
              <a:rPr sz="1900" b="1" i="1" spc="-250" dirty="0">
                <a:solidFill>
                  <a:srgbClr val="006FC0"/>
                </a:solidFill>
                <a:latin typeface="Arial"/>
                <a:cs typeface="Arial"/>
              </a:rPr>
              <a:t>y</a:t>
            </a:r>
            <a:r>
              <a:rPr sz="1900" b="1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900" b="1" i="1" spc="-254" dirty="0">
                <a:solidFill>
                  <a:srgbClr val="006FC0"/>
                </a:solidFill>
                <a:latin typeface="Arial"/>
                <a:cs typeface="Arial"/>
              </a:rPr>
              <a:t>po</a:t>
            </a:r>
            <a:r>
              <a:rPr sz="1900" b="1" i="1" spc="-420" dirty="0">
                <a:solidFill>
                  <a:srgbClr val="006FC0"/>
                </a:solidFill>
                <a:latin typeface="Arial"/>
                <a:cs typeface="Arial"/>
              </a:rPr>
              <a:t>s</a:t>
            </a:r>
            <a:r>
              <a:rPr sz="1900" b="1" i="1" spc="-204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1900" b="1" i="1" spc="-135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1900" b="1" i="1" spc="-114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1900" b="1" i="1" spc="-28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1900" b="1" i="1" spc="-275" dirty="0">
                <a:solidFill>
                  <a:srgbClr val="006FC0"/>
                </a:solidFill>
                <a:latin typeface="Arial"/>
                <a:cs typeface="Arial"/>
              </a:rPr>
              <a:t>n</a:t>
            </a:r>
            <a:r>
              <a:rPr sz="1900" b="1" i="1" spc="-35" dirty="0">
                <a:solidFill>
                  <a:srgbClr val="006FC0"/>
                </a:solidFill>
                <a:latin typeface="Arial"/>
                <a:cs typeface="Arial"/>
              </a:rPr>
              <a:t>!</a:t>
            </a:r>
            <a:r>
              <a:rPr sz="1900" b="1" i="1" spc="-25" dirty="0">
                <a:solidFill>
                  <a:srgbClr val="006FC0"/>
                </a:solidFill>
                <a:latin typeface="Arial"/>
                <a:cs typeface="Arial"/>
              </a:rPr>
              <a:t>!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108325" y="5233348"/>
          <a:ext cx="2522220" cy="1246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2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047">
                <a:tc>
                  <a:txBody>
                    <a:bodyPr/>
                    <a:lstStyle/>
                    <a:p>
                      <a:pPr marR="27940"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busB[1]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busA[3];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58">
                <a:tc>
                  <a:txBody>
                    <a:bodyPr/>
                    <a:lstStyle/>
                    <a:p>
                      <a:pPr marR="27940" algn="ctr">
                        <a:lnSpc>
                          <a:spcPts val="2135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busB[2]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35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busA[2];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marR="27940" algn="ctr">
                        <a:lnSpc>
                          <a:spcPts val="2135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busB[3]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35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busA[1];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72">
                <a:tc>
                  <a:txBody>
                    <a:bodyPr/>
                    <a:lstStyle/>
                    <a:p>
                      <a:pPr marR="27940" algn="ctr">
                        <a:lnSpc>
                          <a:spcPts val="2135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busB[4]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35"/>
                        </a:lnSpc>
                      </a:pPr>
                      <a:r>
                        <a:rPr sz="18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busA[0];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23341" y="3950461"/>
            <a:ext cx="8825865" cy="2907665"/>
            <a:chOff x="323341" y="3950461"/>
            <a:chExt cx="8825865" cy="290766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6041" y="3963161"/>
              <a:ext cx="4800600" cy="2590800"/>
            </a:xfrm>
            <a:custGeom>
              <a:avLst/>
              <a:gdLst/>
              <a:ahLst/>
              <a:cxnLst/>
              <a:rect l="l" t="t" r="r" b="b"/>
              <a:pathLst>
                <a:path w="4800600" h="2590800">
                  <a:moveTo>
                    <a:pt x="4800600" y="0"/>
                  </a:moveTo>
                  <a:lnTo>
                    <a:pt x="0" y="0"/>
                  </a:lnTo>
                  <a:lnTo>
                    <a:pt x="0" y="2590800"/>
                  </a:lnTo>
                  <a:lnTo>
                    <a:pt x="4800600" y="2590800"/>
                  </a:lnTo>
                  <a:lnTo>
                    <a:pt x="4800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041" y="3963161"/>
              <a:ext cx="4800600" cy="2590800"/>
            </a:xfrm>
            <a:custGeom>
              <a:avLst/>
              <a:gdLst/>
              <a:ahLst/>
              <a:cxnLst/>
              <a:rect l="l" t="t" r="r" b="b"/>
              <a:pathLst>
                <a:path w="4800600" h="2590800">
                  <a:moveTo>
                    <a:pt x="0" y="2590800"/>
                  </a:moveTo>
                  <a:lnTo>
                    <a:pt x="4800600" y="2590800"/>
                  </a:lnTo>
                  <a:lnTo>
                    <a:pt x="4800600" y="0"/>
                  </a:lnTo>
                  <a:lnTo>
                    <a:pt x="0" y="0"/>
                  </a:lnTo>
                  <a:lnTo>
                    <a:pt x="0" y="25908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70859" y="1148841"/>
            <a:ext cx="20002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27785" algn="l"/>
              </a:tabLst>
            </a:pP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245" dirty="0">
                <a:solidFill>
                  <a:srgbClr val="C00000"/>
                </a:solidFill>
                <a:latin typeface="Arial"/>
                <a:cs typeface="Arial"/>
              </a:rPr>
              <a:t>GISTER</a:t>
            </a:r>
            <a:r>
              <a:rPr sz="2000" b="1" spc="-254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YPES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4192" y="2389759"/>
            <a:ext cx="3407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255" algn="l"/>
                <a:tab pos="1137285" algn="l"/>
                <a:tab pos="1755775" algn="l"/>
                <a:tab pos="2199640" algn="l"/>
                <a:tab pos="3115310" algn="l"/>
              </a:tabLst>
            </a:pP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pes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rra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cc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sse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3540" y="1456689"/>
            <a:ext cx="4964430" cy="15074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spc="-160" dirty="0">
                <a:solidFill>
                  <a:srgbClr val="C00000"/>
                </a:solidFill>
                <a:latin typeface="Arial"/>
                <a:cs typeface="Arial"/>
              </a:rPr>
              <a:t>(e)ARRAY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multi-dimensional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19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  <a:tab pos="1044575" algn="l"/>
                <a:tab pos="1675130" algn="l"/>
                <a:tab pos="2117090" algn="l"/>
                <a:tab pos="2687320" algn="l"/>
                <a:tab pos="3115945" algn="l"/>
                <a:tab pos="3612515" algn="l"/>
                <a:tab pos="4438650" algn="l"/>
              </a:tabLst>
            </a:pP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	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types	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are	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	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	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reg,	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integer,	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&lt;array_name&gt;[&lt;subscript&gt;]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540" y="3217290"/>
            <a:ext cx="1247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12594" y="3162804"/>
            <a:ext cx="579755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774950" algn="l"/>
              </a:tabLst>
            </a:pP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tege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tr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1800" spc="105" dirty="0">
                <a:solidFill>
                  <a:srgbClr val="006FC0"/>
                </a:solidFill>
                <a:latin typeface="Arial MT"/>
                <a:cs typeface="Arial MT"/>
              </a:rPr>
              <a:t>[4:0]</a:t>
            </a:r>
            <a:r>
              <a:rPr sz="1800" spc="65" dirty="0">
                <a:solidFill>
                  <a:srgbClr val="006FC0"/>
                </a:solidFill>
                <a:latin typeface="Arial MT"/>
                <a:cs typeface="Arial MT"/>
              </a:rPr>
              <a:t>[</a:t>
            </a:r>
            <a:r>
              <a:rPr sz="1800" spc="80" dirty="0">
                <a:solidFill>
                  <a:srgbClr val="006FC0"/>
                </a:solidFill>
                <a:latin typeface="Arial MT"/>
                <a:cs typeface="Arial MT"/>
              </a:rPr>
              <a:t>0:255</a:t>
            </a:r>
            <a:r>
              <a:rPr sz="1800" spc="35" dirty="0">
                <a:solidFill>
                  <a:srgbClr val="006FC0"/>
                </a:solidFill>
                <a:latin typeface="Arial MT"/>
                <a:cs typeface="Arial MT"/>
              </a:rPr>
              <a:t>]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/two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di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rra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teger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2093595" algn="l"/>
              </a:tabLst>
            </a:pP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reg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[7:</a:t>
            </a:r>
            <a:r>
              <a:rPr sz="1800" spc="100" dirty="0">
                <a:solidFill>
                  <a:srgbClr val="006FC0"/>
                </a:solidFill>
                <a:latin typeface="Arial MT"/>
                <a:cs typeface="Arial MT"/>
              </a:rPr>
              <a:t>0</a:t>
            </a:r>
            <a:r>
              <a:rPr sz="1800" spc="135" dirty="0">
                <a:solidFill>
                  <a:srgbClr val="006FC0"/>
                </a:solidFill>
                <a:latin typeface="Arial MT"/>
                <a:cs typeface="Arial MT"/>
              </a:rPr>
              <a:t>]</a:t>
            </a:r>
            <a:r>
              <a:rPr sz="180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1800" spc="75" dirty="0">
                <a:solidFill>
                  <a:srgbClr val="006FC0"/>
                </a:solidFill>
                <a:latin typeface="Arial MT"/>
                <a:cs typeface="Arial MT"/>
              </a:rPr>
              <a:t>[3:</a:t>
            </a:r>
            <a:r>
              <a:rPr sz="1800" spc="100" dirty="0">
                <a:solidFill>
                  <a:srgbClr val="006FC0"/>
                </a:solidFill>
                <a:latin typeface="Arial MT"/>
                <a:cs typeface="Arial MT"/>
              </a:rPr>
              <a:t>0</a:t>
            </a:r>
            <a:r>
              <a:rPr sz="1800" spc="130" dirty="0">
                <a:solidFill>
                  <a:srgbClr val="006FC0"/>
                </a:solidFill>
                <a:latin typeface="Arial MT"/>
                <a:cs typeface="Arial MT"/>
              </a:rPr>
              <a:t>]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8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/de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lare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arr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8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vec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reg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6415" y="3935958"/>
            <a:ext cx="4621530" cy="13042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1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Syntax</a:t>
            </a:r>
            <a:endParaRPr sz="1400">
              <a:latin typeface="Microsoft Sans Serif"/>
              <a:cs typeface="Microsoft Sans Serif"/>
            </a:endParaRPr>
          </a:p>
          <a:p>
            <a:pPr marL="456565" marR="856615">
              <a:lnSpc>
                <a:spcPts val="2020"/>
              </a:lnSpc>
              <a:spcBef>
                <a:spcPts val="110"/>
              </a:spcBef>
            </a:pP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integer count[1:5];//5 </a:t>
            </a:r>
            <a:r>
              <a:rPr sz="1400" spc="-10" dirty="0">
                <a:solidFill>
                  <a:srgbClr val="006FC0"/>
                </a:solidFill>
                <a:latin typeface="Courier New"/>
                <a:cs typeface="Courier New"/>
              </a:rPr>
              <a:t>integers </a:t>
            </a:r>
            <a:r>
              <a:rPr sz="1400" spc="-8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reg</a:t>
            </a:r>
            <a:r>
              <a:rPr sz="14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var[-15:16];//32</a:t>
            </a:r>
            <a:r>
              <a:rPr sz="1400" spc="-4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1-bit</a:t>
            </a:r>
            <a:r>
              <a:rPr sz="14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regs</a:t>
            </a:r>
            <a:endParaRPr sz="1400">
              <a:latin typeface="Courier New"/>
              <a:cs typeface="Courier New"/>
            </a:endParaRPr>
          </a:p>
          <a:p>
            <a:pPr marL="456565">
              <a:lnSpc>
                <a:spcPct val="100000"/>
              </a:lnSpc>
              <a:spcBef>
                <a:spcPts val="209"/>
              </a:spcBef>
            </a:pP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reg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[7:0]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urier New"/>
                <a:cs typeface="Courier New"/>
              </a:rPr>
              <a:t>mem[0:1023];//1024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 8-bit</a:t>
            </a:r>
            <a:r>
              <a:rPr sz="1400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regs</a:t>
            </a:r>
            <a:endParaRPr sz="1400">
              <a:latin typeface="Courier New"/>
              <a:cs typeface="Courier New"/>
            </a:endParaRPr>
          </a:p>
          <a:p>
            <a:pPr marL="342265" indent="-3422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1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Ac</a:t>
            </a:r>
            <a:r>
              <a:rPr sz="1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essin</a:t>
            </a:r>
            <a:r>
              <a:rPr sz="1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arra</a:t>
            </a:r>
            <a:r>
              <a:rPr sz="1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ele</a:t>
            </a:r>
            <a:r>
              <a:rPr sz="1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3615" y="5211978"/>
            <a:ext cx="3739515" cy="13074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6385" indent="-287020">
              <a:lnSpc>
                <a:spcPct val="100000"/>
              </a:lnSpc>
              <a:spcBef>
                <a:spcPts val="445"/>
              </a:spcBef>
              <a:buFont typeface="Arial MT"/>
              <a:buChar char="–"/>
              <a:tabLst>
                <a:tab pos="286385" algn="l"/>
                <a:tab pos="287020" algn="l"/>
              </a:tabLst>
            </a:pPr>
            <a:r>
              <a:rPr sz="1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Entire</a:t>
            </a:r>
            <a:r>
              <a:rPr sz="1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element:</a:t>
            </a:r>
            <a:r>
              <a:rPr sz="1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mem[10]</a:t>
            </a:r>
            <a:r>
              <a:rPr sz="14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 8’b10101010;</a:t>
            </a:r>
            <a:endParaRPr sz="1400">
              <a:latin typeface="Courier New"/>
              <a:cs typeface="Courier New"/>
            </a:endParaRPr>
          </a:p>
          <a:p>
            <a:pPr marL="286385" indent="-287020">
              <a:lnSpc>
                <a:spcPct val="100000"/>
              </a:lnSpc>
              <a:spcBef>
                <a:spcPts val="350"/>
              </a:spcBef>
              <a:buFont typeface="Arial MT"/>
              <a:buChar char="–"/>
              <a:tabLst>
                <a:tab pos="286385" algn="l"/>
                <a:tab pos="287020" algn="l"/>
              </a:tabLst>
            </a:pPr>
            <a:r>
              <a:rPr sz="1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su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el</a:t>
            </a:r>
            <a:r>
              <a:rPr sz="1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(n</a:t>
            </a:r>
            <a:r>
              <a:rPr sz="1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1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stor</a:t>
            </a:r>
            <a:r>
              <a:rPr sz="1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):</a:t>
            </a:r>
            <a:endParaRPr sz="1400">
              <a:latin typeface="Microsoft Sans Serif"/>
              <a:cs typeface="Microsoft Sans Serif"/>
            </a:endParaRPr>
          </a:p>
          <a:p>
            <a:pPr marL="457200" marR="1463675">
              <a:lnSpc>
                <a:spcPts val="2020"/>
              </a:lnSpc>
              <a:spcBef>
                <a:spcPts val="75"/>
              </a:spcBef>
            </a:pP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reg [7:0] </a:t>
            </a:r>
            <a:r>
              <a:rPr sz="1400" spc="-10" dirty="0">
                <a:solidFill>
                  <a:srgbClr val="006FC0"/>
                </a:solidFill>
                <a:latin typeface="Courier New"/>
                <a:cs typeface="Courier New"/>
              </a:rPr>
              <a:t>temp;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 temp 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= </a:t>
            </a:r>
            <a:r>
              <a:rPr sz="1400" spc="-10" dirty="0">
                <a:solidFill>
                  <a:srgbClr val="006FC0"/>
                </a:solidFill>
                <a:latin typeface="Courier New"/>
                <a:cs typeface="Courier New"/>
              </a:rPr>
              <a:t>mem[10];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 var[6]</a:t>
            </a:r>
            <a:r>
              <a:rPr sz="14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urier New"/>
                <a:cs typeface="Courier New"/>
              </a:rPr>
              <a:t>temp[2];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89473" y="4102861"/>
            <a:ext cx="3606800" cy="2311400"/>
            <a:chOff x="5189473" y="4102861"/>
            <a:chExt cx="3606800" cy="2311400"/>
          </a:xfrm>
        </p:grpSpPr>
        <p:sp>
          <p:nvSpPr>
            <p:cNvPr id="27" name="object 27"/>
            <p:cNvSpPr/>
            <p:nvPr/>
          </p:nvSpPr>
          <p:spPr>
            <a:xfrm>
              <a:off x="5202173" y="4115561"/>
              <a:ext cx="3581400" cy="2286000"/>
            </a:xfrm>
            <a:custGeom>
              <a:avLst/>
              <a:gdLst/>
              <a:ahLst/>
              <a:cxnLst/>
              <a:rect l="l" t="t" r="r" b="b"/>
              <a:pathLst>
                <a:path w="3581400" h="2286000">
                  <a:moveTo>
                    <a:pt x="35814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3581400" y="2286000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02173" y="4115561"/>
              <a:ext cx="3581400" cy="2286000"/>
            </a:xfrm>
            <a:custGeom>
              <a:avLst/>
              <a:gdLst/>
              <a:ahLst/>
              <a:cxnLst/>
              <a:rect l="l" t="t" r="r" b="b"/>
              <a:pathLst>
                <a:path w="3581400" h="2286000">
                  <a:moveTo>
                    <a:pt x="0" y="2286000"/>
                  </a:moveTo>
                  <a:lnTo>
                    <a:pt x="3581400" y="2286000"/>
                  </a:lnTo>
                  <a:lnTo>
                    <a:pt x="358140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92852" y="4128896"/>
            <a:ext cx="3267710" cy="163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marR="5080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4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mitat</a:t>
            </a:r>
            <a:r>
              <a:rPr sz="1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: </a:t>
            </a:r>
            <a:r>
              <a:rPr sz="1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ac</a:t>
            </a:r>
            <a:r>
              <a:rPr sz="1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ss</a:t>
            </a:r>
            <a:r>
              <a:rPr sz="1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arra</a:t>
            </a:r>
            <a:r>
              <a:rPr sz="1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su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el</a:t>
            </a:r>
            <a:r>
              <a:rPr sz="1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400" dirty="0">
                <a:solidFill>
                  <a:srgbClr val="006FC0"/>
                </a:solidFill>
                <a:latin typeface="Microsoft Sans Serif"/>
                <a:cs typeface="Microsoft Sans Serif"/>
              </a:rPr>
              <a:t>r  </a:t>
            </a:r>
            <a:r>
              <a:rPr sz="1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arra</a:t>
            </a:r>
            <a:r>
              <a:rPr sz="1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1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ce</a:t>
            </a:r>
            <a:endParaRPr sz="1400">
              <a:latin typeface="Microsoft Sans Serif"/>
              <a:cs typeface="Microsoft Sans Serif"/>
            </a:endParaRPr>
          </a:p>
          <a:p>
            <a:pPr marL="457200" marR="247015">
              <a:lnSpc>
                <a:spcPts val="2350"/>
              </a:lnSpc>
              <a:spcBef>
                <a:spcPts val="100"/>
              </a:spcBef>
            </a:pP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var[2:9]</a:t>
            </a:r>
            <a:r>
              <a:rPr sz="14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spc="-4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???;//WRONG!! </a:t>
            </a:r>
            <a:r>
              <a:rPr sz="1400" spc="-8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var</a:t>
            </a:r>
            <a:r>
              <a:rPr sz="14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6FC0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???;//WRONG!!</a:t>
            </a:r>
            <a:endParaRPr sz="1400">
              <a:latin typeface="Courier New"/>
              <a:cs typeface="Courier New"/>
            </a:endParaRPr>
          </a:p>
          <a:p>
            <a:pPr marL="342265" indent="-34226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1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Arra</a:t>
            </a:r>
            <a:r>
              <a:rPr sz="1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1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14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1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4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Rea</a:t>
            </a:r>
            <a:r>
              <a:rPr sz="1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ata</a:t>
            </a:r>
            <a:r>
              <a:rPr sz="1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ty</a:t>
            </a:r>
            <a:r>
              <a:rPr sz="1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1400">
              <a:latin typeface="Microsoft Sans Serif"/>
              <a:cs typeface="Microsoft Sans Serif"/>
            </a:endParaRPr>
          </a:p>
          <a:p>
            <a:pPr marL="457200">
              <a:lnSpc>
                <a:spcPct val="100000"/>
              </a:lnSpc>
              <a:spcBef>
                <a:spcPts val="655"/>
              </a:spcBef>
            </a:pP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real</a:t>
            </a:r>
            <a:r>
              <a:rPr sz="14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r[1:10];//WRONG</a:t>
            </a:r>
            <a:r>
              <a:rPr sz="1400" spc="-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6FC0"/>
                </a:solidFill>
                <a:latin typeface="Courier New"/>
                <a:cs typeface="Courier New"/>
              </a:rPr>
              <a:t>!!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38</a:t>
            </a:fld>
            <a:endParaRPr spc="-195" dirty="0"/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100"/>
            <a:ext cx="9144000" cy="6682740"/>
            <a:chOff x="0" y="38100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100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53162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85045"/>
            <a:ext cx="8376284" cy="264731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605"/>
              </a:spcBef>
              <a:tabLst>
                <a:tab pos="4514850" algn="l"/>
              </a:tabLst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	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1800" b="1" spc="-85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-29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-135" dirty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b="1" spc="-335" dirty="0">
                <a:solidFill>
                  <a:srgbClr val="C00000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memory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registers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simply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one-dimensional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registers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"/>
            </a:pPr>
            <a:endParaRPr sz="265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Each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element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known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element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1800" spc="2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word</a:t>
            </a:r>
            <a:r>
              <a:rPr sz="1800" spc="2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25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addressed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single</a:t>
            </a:r>
            <a:r>
              <a:rPr sz="1800" spc="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array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index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"/>
            </a:pPr>
            <a:endParaRPr sz="26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memory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component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defined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using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reg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85416" y="4924044"/>
            <a:ext cx="2857500" cy="1477010"/>
          </a:xfrm>
          <a:custGeom>
            <a:avLst/>
            <a:gdLst/>
            <a:ahLst/>
            <a:cxnLst/>
            <a:rect l="l" t="t" r="r" b="b"/>
            <a:pathLst>
              <a:path w="2857500" h="1477010">
                <a:moveTo>
                  <a:pt x="0" y="1396"/>
                </a:moveTo>
                <a:lnTo>
                  <a:pt x="0" y="634"/>
                </a:lnTo>
                <a:lnTo>
                  <a:pt x="634" y="0"/>
                </a:lnTo>
                <a:lnTo>
                  <a:pt x="1396" y="0"/>
                </a:lnTo>
                <a:lnTo>
                  <a:pt x="2856103" y="0"/>
                </a:lnTo>
                <a:lnTo>
                  <a:pt x="2856864" y="0"/>
                </a:lnTo>
                <a:lnTo>
                  <a:pt x="2857499" y="634"/>
                </a:lnTo>
                <a:lnTo>
                  <a:pt x="2857499" y="1396"/>
                </a:lnTo>
                <a:lnTo>
                  <a:pt x="2857499" y="1475320"/>
                </a:lnTo>
                <a:lnTo>
                  <a:pt x="2857499" y="1476120"/>
                </a:lnTo>
                <a:lnTo>
                  <a:pt x="2856864" y="1476755"/>
                </a:lnTo>
                <a:lnTo>
                  <a:pt x="2856103" y="1476755"/>
                </a:lnTo>
                <a:lnTo>
                  <a:pt x="1396" y="1476755"/>
                </a:lnTo>
                <a:lnTo>
                  <a:pt x="634" y="1476755"/>
                </a:lnTo>
                <a:lnTo>
                  <a:pt x="0" y="1476120"/>
                </a:lnTo>
                <a:lnTo>
                  <a:pt x="0" y="1475320"/>
                </a:lnTo>
                <a:lnTo>
                  <a:pt x="0" y="1396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2185416" y="4924425"/>
          <a:ext cx="2854956" cy="1476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7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79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3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39</a:t>
            </a:fld>
            <a:endParaRPr spc="-195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53607" y="4561408"/>
            <a:ext cx="169672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005" algn="l"/>
                <a:tab pos="830580" algn="l"/>
                <a:tab pos="1165225" algn="l"/>
                <a:tab pos="1572895" algn="l"/>
              </a:tabLst>
            </a:pPr>
            <a:r>
              <a:rPr sz="2100" spc="-300" dirty="0">
                <a:solidFill>
                  <a:srgbClr val="C00000"/>
                </a:solidFill>
                <a:latin typeface="Microsoft Sans Serif"/>
                <a:cs typeface="Microsoft Sans Serif"/>
              </a:rPr>
              <a:t>4	3	2	1	0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44261" y="4842255"/>
            <a:ext cx="970280" cy="1502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30300"/>
              </a:lnSpc>
              <a:spcBef>
                <a:spcPts val="55"/>
              </a:spcBef>
            </a:pPr>
            <a:r>
              <a:rPr sz="1800" spc="-120" dirty="0">
                <a:solidFill>
                  <a:srgbClr val="C00000"/>
                </a:solidFill>
                <a:latin typeface="Microsoft Sans Serif"/>
                <a:cs typeface="Microsoft Sans Serif"/>
              </a:rPr>
              <a:t>myMe</a:t>
            </a:r>
            <a:r>
              <a:rPr sz="1800" spc="-135" dirty="0">
                <a:solidFill>
                  <a:srgbClr val="C00000"/>
                </a:solidFill>
                <a:latin typeface="Microsoft Sans Serif"/>
                <a:cs typeface="Microsoft Sans Serif"/>
              </a:rPr>
              <a:t>m</a:t>
            </a:r>
            <a:r>
              <a:rPr sz="1800" spc="-105" dirty="0">
                <a:solidFill>
                  <a:srgbClr val="C0000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C00000"/>
                </a:solidFill>
                <a:latin typeface="Microsoft Sans Serif"/>
                <a:cs typeface="Microsoft Sans Serif"/>
              </a:rPr>
              <a:t>0</a:t>
            </a:r>
            <a:r>
              <a:rPr sz="1800" spc="-55" dirty="0">
                <a:solidFill>
                  <a:srgbClr val="C00000"/>
                </a:solidFill>
                <a:latin typeface="Microsoft Sans Serif"/>
                <a:cs typeface="Microsoft Sans Serif"/>
              </a:rPr>
              <a:t>]  </a:t>
            </a:r>
            <a:r>
              <a:rPr sz="1800" spc="-120" dirty="0">
                <a:solidFill>
                  <a:srgbClr val="C00000"/>
                </a:solidFill>
                <a:latin typeface="Microsoft Sans Serif"/>
                <a:cs typeface="Microsoft Sans Serif"/>
              </a:rPr>
              <a:t>myMe</a:t>
            </a:r>
            <a:r>
              <a:rPr sz="1800" spc="-135" dirty="0">
                <a:solidFill>
                  <a:srgbClr val="C00000"/>
                </a:solidFill>
                <a:latin typeface="Microsoft Sans Serif"/>
                <a:cs typeface="Microsoft Sans Serif"/>
              </a:rPr>
              <a:t>m</a:t>
            </a:r>
            <a:r>
              <a:rPr sz="1800" spc="-105" dirty="0">
                <a:solidFill>
                  <a:srgbClr val="C0000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C00000"/>
                </a:solidFill>
                <a:latin typeface="Microsoft Sans Serif"/>
                <a:cs typeface="Microsoft Sans Serif"/>
              </a:rPr>
              <a:t>1</a:t>
            </a:r>
            <a:r>
              <a:rPr sz="1800" spc="-55" dirty="0">
                <a:solidFill>
                  <a:srgbClr val="C00000"/>
                </a:solidFill>
                <a:latin typeface="Microsoft Sans Serif"/>
                <a:cs typeface="Microsoft Sans Serif"/>
              </a:rPr>
              <a:t>]  </a:t>
            </a:r>
            <a:r>
              <a:rPr sz="1800" spc="-120" dirty="0">
                <a:solidFill>
                  <a:srgbClr val="C00000"/>
                </a:solidFill>
                <a:latin typeface="Microsoft Sans Serif"/>
                <a:cs typeface="Microsoft Sans Serif"/>
              </a:rPr>
              <a:t>myMe</a:t>
            </a:r>
            <a:r>
              <a:rPr sz="1800" spc="-135" dirty="0">
                <a:solidFill>
                  <a:srgbClr val="C00000"/>
                </a:solidFill>
                <a:latin typeface="Microsoft Sans Serif"/>
                <a:cs typeface="Microsoft Sans Serif"/>
              </a:rPr>
              <a:t>m</a:t>
            </a:r>
            <a:r>
              <a:rPr sz="1800" spc="-105" dirty="0">
                <a:solidFill>
                  <a:srgbClr val="C0000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C00000"/>
                </a:solidFill>
                <a:latin typeface="Microsoft Sans Serif"/>
                <a:cs typeface="Microsoft Sans Serif"/>
              </a:rPr>
              <a:t>2</a:t>
            </a:r>
            <a:r>
              <a:rPr sz="1800" spc="-55" dirty="0">
                <a:solidFill>
                  <a:srgbClr val="C00000"/>
                </a:solidFill>
                <a:latin typeface="Microsoft Sans Serif"/>
                <a:cs typeface="Microsoft Sans Serif"/>
              </a:rPr>
              <a:t>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spc="-125" dirty="0">
                <a:solidFill>
                  <a:srgbClr val="C00000"/>
                </a:solidFill>
                <a:latin typeface="Microsoft Sans Serif"/>
                <a:cs typeface="Microsoft Sans Serif"/>
              </a:rPr>
              <a:t>myMem[3]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025" y="3793997"/>
            <a:ext cx="2308225" cy="111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0910" algn="l"/>
              </a:tabLst>
            </a:pP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[7:0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yM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[3:0];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000">
              <a:latin typeface="Microsoft Sans Serif"/>
              <a:cs typeface="Microsoft Sans Serif"/>
            </a:endParaRPr>
          </a:p>
          <a:p>
            <a:pPr marL="774700">
              <a:lnSpc>
                <a:spcPct val="100000"/>
              </a:lnSpc>
              <a:spcBef>
                <a:spcPts val="1380"/>
              </a:spcBef>
              <a:tabLst>
                <a:tab pos="1346835" algn="l"/>
                <a:tab pos="1681480" algn="l"/>
                <a:tab pos="2016125" algn="l"/>
              </a:tabLst>
            </a:pPr>
            <a:r>
              <a:rPr sz="2100" spc="-100" dirty="0">
                <a:solidFill>
                  <a:srgbClr val="C00000"/>
                </a:solidFill>
                <a:latin typeface="Microsoft Sans Serif"/>
                <a:cs typeface="Microsoft Sans Serif"/>
              </a:rPr>
              <a:t>Bit	</a:t>
            </a:r>
            <a:r>
              <a:rPr sz="2100" spc="-300" dirty="0">
                <a:solidFill>
                  <a:srgbClr val="C00000"/>
                </a:solidFill>
                <a:latin typeface="Microsoft Sans Serif"/>
                <a:cs typeface="Microsoft Sans Serif"/>
              </a:rPr>
              <a:t>7	6	5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45794" y="3793997"/>
            <a:ext cx="431292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defi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ory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endParaRPr sz="1800">
              <a:latin typeface="Microsoft Sans Serif"/>
              <a:cs typeface="Microsoft Sans Serif"/>
            </a:endParaRPr>
          </a:p>
          <a:p>
            <a:pPr marL="424815">
              <a:lnSpc>
                <a:spcPct val="100000"/>
              </a:lnSpc>
            </a:pPr>
            <a:r>
              <a:rPr sz="2000" spc="155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oc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con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tai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8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ta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45008" y="2936735"/>
            <a:ext cx="8703945" cy="3921760"/>
            <a:chOff x="445008" y="2936735"/>
            <a:chExt cx="8703945" cy="39217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156" y="2955023"/>
              <a:ext cx="8295132" cy="4602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008" y="2936735"/>
              <a:ext cx="7796783" cy="5608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3400" y="2982467"/>
              <a:ext cx="8205216" cy="37033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3540" y="1008845"/>
            <a:ext cx="7121525" cy="17145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605"/>
              </a:spcBef>
              <a:tabLst>
                <a:tab pos="4514850" algn="l"/>
              </a:tabLst>
            </a:pP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REGISTERS	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TYPES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1800" b="1" spc="-31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-15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36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15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14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195" dirty="0">
                <a:solidFill>
                  <a:srgbClr val="C00000"/>
                </a:solidFill>
                <a:latin typeface="Arial"/>
                <a:cs typeface="Arial"/>
              </a:rPr>
              <a:t>METE</a:t>
            </a:r>
            <a:r>
              <a:rPr sz="1800" b="1" spc="-19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365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constant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specify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delays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widths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variables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"/>
            </a:pPr>
            <a:endParaRPr sz="26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Parameter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assigned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once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using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declaration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form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40</a:t>
            </a:fld>
            <a:endParaRPr spc="-195" dirty="0"/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33400" y="2982467"/>
            <a:ext cx="8205470" cy="37084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1800" spc="-135" dirty="0">
                <a:latin typeface="Microsoft Sans Serif"/>
                <a:cs typeface="Microsoft Sans Serif"/>
              </a:rPr>
              <a:t>parameter</a:t>
            </a:r>
            <a:r>
              <a:rPr sz="1800" spc="17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param1=const_expr1,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param2=const_expr2,…….paramN=const_exprN;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540" y="3740277"/>
            <a:ext cx="6835140" cy="2449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Parameter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changed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compilation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using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def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param</a:t>
            </a:r>
            <a:r>
              <a:rPr sz="1800" spc="3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6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Example:</a:t>
            </a:r>
            <a:endParaRPr sz="1800">
              <a:latin typeface="Microsoft Sans Serif"/>
              <a:cs typeface="Microsoft Sans Serif"/>
            </a:endParaRPr>
          </a:p>
          <a:p>
            <a:pPr marL="1536065">
              <a:lnSpc>
                <a:spcPts val="2140"/>
              </a:lnSpc>
              <a:spcBef>
                <a:spcPts val="969"/>
              </a:spcBef>
            </a:pPr>
            <a:r>
              <a:rPr sz="1800" spc="780" dirty="0">
                <a:solidFill>
                  <a:srgbClr val="006FC0"/>
                </a:solidFill>
                <a:latin typeface="Microsoft Sans Serif"/>
                <a:cs typeface="Microsoft Sans Serif"/>
              </a:rPr>
              <a:t>……</a:t>
            </a:r>
            <a:endParaRPr sz="1800">
              <a:latin typeface="Microsoft Sans Serif"/>
              <a:cs typeface="Microsoft Sans Serif"/>
            </a:endParaRPr>
          </a:p>
          <a:p>
            <a:pPr marL="1536065">
              <a:lnSpc>
                <a:spcPts val="2140"/>
              </a:lnSpc>
            </a:pP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ete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bu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8;</a:t>
            </a:r>
            <a:endParaRPr sz="1800">
              <a:latin typeface="Microsoft Sans Serif"/>
              <a:cs typeface="Microsoft Sans Serif"/>
            </a:endParaRPr>
          </a:p>
          <a:p>
            <a:pPr marL="1536065" marR="2880995">
              <a:lnSpc>
                <a:spcPct val="100000"/>
              </a:lnSpc>
              <a:spcBef>
                <a:spcPts val="5"/>
              </a:spcBef>
            </a:pPr>
            <a:r>
              <a:rPr sz="18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ete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8; 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[b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: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bu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s;</a:t>
            </a:r>
            <a:endParaRPr sz="1800">
              <a:latin typeface="Microsoft Sans Serif"/>
              <a:cs typeface="Microsoft Sans Serif"/>
            </a:endParaRPr>
          </a:p>
          <a:p>
            <a:pPr marL="1536065">
              <a:lnSpc>
                <a:spcPct val="100000"/>
              </a:lnSpc>
            </a:pPr>
            <a:r>
              <a:rPr sz="1800" spc="780" dirty="0">
                <a:solidFill>
                  <a:srgbClr val="006FC0"/>
                </a:solidFill>
                <a:latin typeface="Microsoft Sans Serif"/>
                <a:cs typeface="Microsoft Sans Serif"/>
              </a:rPr>
              <a:t>……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9523" y="155460"/>
              <a:ext cx="3040379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54451" y="289382"/>
            <a:ext cx="2434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335" dirty="0"/>
              <a:t>A</a:t>
            </a:r>
            <a:r>
              <a:rPr spc="-30" dirty="0"/>
              <a:t> </a:t>
            </a:r>
            <a:r>
              <a:rPr spc="-360" dirty="0"/>
              <a:t>T</a:t>
            </a:r>
            <a:r>
              <a:rPr spc="-345" dirty="0"/>
              <a:t>Y</a:t>
            </a:r>
            <a:r>
              <a:rPr spc="10" dirty="0"/>
              <a:t>PES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225041"/>
            <a:ext cx="5763895" cy="4610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9655">
              <a:lnSpc>
                <a:spcPct val="100000"/>
              </a:lnSpc>
              <a:spcBef>
                <a:spcPts val="105"/>
              </a:spcBef>
            </a:pP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254" dirty="0">
                <a:solidFill>
                  <a:srgbClr val="C00000"/>
                </a:solidFill>
                <a:latin typeface="Arial"/>
                <a:cs typeface="Arial"/>
              </a:rPr>
              <a:t>ST</a:t>
            </a: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ICT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2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-370" dirty="0">
                <a:solidFill>
                  <a:srgbClr val="C00000"/>
                </a:solidFill>
                <a:latin typeface="Arial"/>
                <a:cs typeface="Arial"/>
              </a:rPr>
              <a:t>PE</a:t>
            </a:r>
            <a:r>
              <a:rPr sz="2000" b="1" spc="-40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Da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Fl</a:t>
            </a:r>
            <a:r>
              <a:rPr sz="2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uc</a:t>
            </a:r>
            <a:r>
              <a:rPr sz="2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Mo</a:t>
            </a:r>
            <a:r>
              <a:rPr sz="2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8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b="1" i="1" spc="-515" dirty="0">
                <a:solidFill>
                  <a:srgbClr val="006FC0"/>
                </a:solidFill>
                <a:latin typeface="Arial"/>
                <a:cs typeface="Arial"/>
              </a:rPr>
              <a:t>w</a:t>
            </a:r>
            <a:r>
              <a:rPr sz="2950" b="1" i="1" spc="-204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950" b="1" i="1" spc="-21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950" b="1" i="1" spc="-43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950" b="1" i="1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ty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ot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8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b="1" i="1" spc="-204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950" b="1" i="1" spc="-42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950" b="1" i="1" spc="-595" dirty="0">
                <a:solidFill>
                  <a:srgbClr val="006FC0"/>
                </a:solidFill>
                <a:latin typeface="Arial"/>
                <a:cs typeface="Arial"/>
              </a:rPr>
              <a:t>g</a:t>
            </a:r>
            <a:r>
              <a:rPr sz="2950" b="1" i="1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ty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2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Arial MT"/>
              <a:buChar char="–"/>
            </a:pPr>
            <a:endParaRPr sz="41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av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ra</a:t>
            </a:r>
            <a:r>
              <a:rPr sz="2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8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b="1" i="1" spc="-210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950" b="1" i="1" spc="-42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950" b="1" i="1" spc="-595" dirty="0">
                <a:solidFill>
                  <a:srgbClr val="006FC0"/>
                </a:solidFill>
                <a:latin typeface="Arial"/>
                <a:cs typeface="Arial"/>
              </a:rPr>
              <a:t>g</a:t>
            </a:r>
            <a:r>
              <a:rPr sz="2950" b="1" i="1" spc="-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ty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28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640"/>
              </a:spcBef>
            </a:pP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(within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constructs)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ot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8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b="1" i="1" spc="-509" dirty="0">
                <a:solidFill>
                  <a:srgbClr val="006FC0"/>
                </a:solidFill>
                <a:latin typeface="Arial"/>
                <a:cs typeface="Arial"/>
              </a:rPr>
              <a:t>w</a:t>
            </a:r>
            <a:r>
              <a:rPr sz="2950" b="1" i="1" spc="-20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950" b="1" i="1" spc="-204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950" b="1" i="1" spc="-43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950" b="1" i="1" spc="-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type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41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42</a:t>
            </a:fld>
            <a:endParaRPr spc="-19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8940" y="1072641"/>
            <a:ext cx="7298690" cy="4843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113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ITH</a:t>
            </a:r>
            <a:r>
              <a:rPr sz="2000" b="1" spc="-6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ETIC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31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ATO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40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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+,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-,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*,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/,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%,**</a:t>
            </a:r>
            <a:endParaRPr sz="2400">
              <a:latin typeface="Microsoft Sans Serif"/>
              <a:cs typeface="Microsoft Sans Serif"/>
            </a:endParaRPr>
          </a:p>
          <a:p>
            <a:pPr marL="406400" indent="-342900">
              <a:lnSpc>
                <a:spcPct val="100000"/>
              </a:lnSpc>
              <a:spcBef>
                <a:spcPts val="1340"/>
              </a:spcBef>
              <a:buClr>
                <a:srgbClr val="FF0000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any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i="1" spc="-21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r>
              <a:rPr sz="2500" i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i="1" spc="-21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endParaRPr sz="2500">
              <a:latin typeface="Arial"/>
              <a:cs typeface="Arial"/>
            </a:endParaRPr>
          </a:p>
          <a:p>
            <a:pPr marL="406400" indent="-342900">
              <a:lnSpc>
                <a:spcPct val="100000"/>
              </a:lnSpc>
              <a:spcBef>
                <a:spcPts val="1420"/>
              </a:spcBef>
              <a:buClr>
                <a:srgbClr val="FF0000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gisters:</a:t>
            </a:r>
            <a:endParaRPr sz="2400">
              <a:latin typeface="Microsoft Sans Serif"/>
              <a:cs typeface="Microsoft Sans Serif"/>
            </a:endParaRPr>
          </a:p>
          <a:p>
            <a:pPr marL="520700">
              <a:lnSpc>
                <a:spcPct val="100000"/>
              </a:lnSpc>
              <a:spcBef>
                <a:spcPts val="1440"/>
              </a:spcBef>
            </a:pP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8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gat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treate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ed</a:t>
            </a:r>
            <a:endParaRPr sz="2400">
              <a:latin typeface="Microsoft Sans Serif"/>
              <a:cs typeface="Microsoft Sans Serif"/>
            </a:endParaRPr>
          </a:p>
          <a:p>
            <a:pPr marL="977900">
              <a:lnSpc>
                <a:spcPct val="100000"/>
              </a:lnSpc>
              <a:spcBef>
                <a:spcPts val="1445"/>
              </a:spcBef>
            </a:pP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[15:0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gA;</a:t>
            </a:r>
            <a:endParaRPr sz="2400">
              <a:latin typeface="Microsoft Sans Serif"/>
              <a:cs typeface="Microsoft Sans Serif"/>
            </a:endParaRPr>
          </a:p>
          <a:p>
            <a:pPr marL="977900">
              <a:lnSpc>
                <a:spcPct val="100000"/>
              </a:lnSpc>
              <a:spcBef>
                <a:spcPts val="1440"/>
              </a:spcBef>
            </a:pP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endParaRPr sz="2400">
              <a:latin typeface="Microsoft Sans Serif"/>
              <a:cs typeface="Microsoft Sans Serif"/>
            </a:endParaRPr>
          </a:p>
          <a:p>
            <a:pPr marL="977900">
              <a:lnSpc>
                <a:spcPct val="100000"/>
              </a:lnSpc>
              <a:spcBef>
                <a:spcPts val="1440"/>
              </a:spcBef>
            </a:pP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4’d12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2400" spc="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95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tore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400" spc="-352" baseline="24305" dirty="0">
                <a:solidFill>
                  <a:srgbClr val="006FC0"/>
                </a:solidFill>
                <a:latin typeface="Microsoft Sans Serif"/>
                <a:cs typeface="Microsoft Sans Serif"/>
              </a:rPr>
              <a:t>16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65524</a:t>
            </a:r>
            <a:endParaRPr sz="2400">
              <a:latin typeface="Microsoft Sans Serif"/>
              <a:cs typeface="Microsoft Sans Serif"/>
            </a:endParaRPr>
          </a:p>
          <a:p>
            <a:pPr marL="977900">
              <a:lnSpc>
                <a:spcPct val="100000"/>
              </a:lnSpc>
              <a:spcBef>
                <a:spcPts val="1440"/>
              </a:spcBef>
              <a:tabLst>
                <a:tab pos="2806700" algn="l"/>
              </a:tabLst>
            </a:pP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gA/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uates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21861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43</a:t>
            </a:fld>
            <a:endParaRPr spc="-19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072641"/>
            <a:ext cx="6415405" cy="3909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4310">
              <a:lnSpc>
                <a:spcPct val="100000"/>
              </a:lnSpc>
              <a:spcBef>
                <a:spcPts val="105"/>
              </a:spcBef>
            </a:pPr>
            <a:r>
              <a:rPr sz="2000" b="1" spc="-24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OGICAL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ERA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60" dirty="0">
                <a:solidFill>
                  <a:srgbClr val="C00000"/>
                </a:solidFill>
                <a:latin typeface="Arial"/>
                <a:cs typeface="Arial"/>
              </a:rPr>
              <a:t>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8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6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&amp;&amp;</a:t>
            </a:r>
            <a:r>
              <a:rPr sz="26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</a:t>
            </a:r>
            <a:r>
              <a:rPr sz="2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endParaRPr sz="2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27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6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|</a:t>
            </a:r>
            <a:r>
              <a:rPr sz="26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|</a:t>
            </a:r>
            <a:r>
              <a:rPr sz="26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</a:t>
            </a:r>
            <a:r>
              <a:rPr sz="2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endParaRPr sz="2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27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  <a:tab pos="649605" algn="l"/>
              </a:tabLst>
            </a:pPr>
            <a:r>
              <a:rPr sz="2600" spc="140" dirty="0">
                <a:solidFill>
                  <a:srgbClr val="006FC0"/>
                </a:solidFill>
                <a:latin typeface="Microsoft Sans Serif"/>
                <a:cs typeface="Microsoft Sans Serif"/>
              </a:rPr>
              <a:t>!	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</a:t>
            </a:r>
            <a:r>
              <a:rPr sz="26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endParaRPr sz="26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94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6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Operands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evaluated</a:t>
            </a:r>
            <a:r>
              <a:rPr sz="26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26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value:</a:t>
            </a:r>
            <a:r>
              <a:rPr sz="26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50" i="1" spc="-300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50" i="1" spc="-45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750" i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50" i="1" spc="-250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25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600" spc="-434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26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6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ul</a:t>
            </a:r>
            <a:r>
              <a:rPr sz="26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6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6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6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</a:t>
            </a:r>
            <a:r>
              <a:rPr sz="26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6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50" i="1" spc="-455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6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50" i="1" spc="-450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750" i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6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750" i="1" spc="-250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endParaRPr sz="27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44</a:t>
            </a:fld>
            <a:endParaRPr spc="-195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79905" y="4954600"/>
            <a:ext cx="87630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6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6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1;</a:t>
            </a:r>
            <a:endParaRPr sz="2600">
              <a:latin typeface="Microsoft Sans Serif"/>
              <a:cs typeface="Microsoft Sans Serif"/>
            </a:endParaRPr>
          </a:p>
          <a:p>
            <a:pPr marL="12700" marR="31750">
              <a:lnSpc>
                <a:spcPct val="100000"/>
              </a:lnSpc>
            </a:pPr>
            <a:r>
              <a:rPr sz="26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0;  </a:t>
            </a:r>
            <a:r>
              <a:rPr sz="26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x;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79775" y="4954600"/>
            <a:ext cx="3074035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6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6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5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endParaRPr sz="2600">
              <a:latin typeface="Microsoft Sans Serif"/>
              <a:cs typeface="Microsoft Sans Serif"/>
            </a:endParaRPr>
          </a:p>
          <a:p>
            <a:pPr marL="12700" marR="574675">
              <a:lnSpc>
                <a:spcPct val="100000"/>
              </a:lnSpc>
            </a:pPr>
            <a:r>
              <a:rPr sz="26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||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!</a:t>
            </a:r>
            <a:r>
              <a:rPr sz="26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||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1  </a:t>
            </a:r>
            <a:r>
              <a:rPr sz="26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||</a:t>
            </a:r>
            <a:r>
              <a:rPr sz="2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||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6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8340" y="1072641"/>
            <a:ext cx="5396230" cy="37769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1735">
              <a:lnSpc>
                <a:spcPts val="2385"/>
              </a:lnSpc>
              <a:spcBef>
                <a:spcPts val="105"/>
              </a:spcBef>
            </a:pP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31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IO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NA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70" dirty="0">
                <a:solidFill>
                  <a:srgbClr val="C00000"/>
                </a:solidFill>
                <a:latin typeface="Arial"/>
                <a:cs typeface="Arial"/>
              </a:rPr>
              <a:t>PE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TORS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ts val="3345"/>
              </a:lnSpc>
              <a:buClr>
                <a:srgbClr val="FF0000"/>
              </a:buClr>
              <a:buFont typeface="Wingdings"/>
              <a:buChar char=""/>
              <a:tabLst>
                <a:tab pos="356235" algn="l"/>
                <a:tab pos="927100" algn="l"/>
              </a:tabLst>
            </a:pP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	</a:t>
            </a:r>
            <a:r>
              <a:rPr sz="2800" spc="-5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800" spc="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greater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than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24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927100" algn="l"/>
              </a:tabLst>
            </a:pP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800" spc="-5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8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less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than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24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927100" algn="l"/>
              </a:tabLst>
            </a:pP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=	</a:t>
            </a:r>
            <a:r>
              <a:rPr sz="2800" spc="-5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8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greate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eq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than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2405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927100" algn="l"/>
              </a:tabLst>
            </a:pPr>
            <a:r>
              <a:rPr sz="2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800" dirty="0">
                <a:solidFill>
                  <a:srgbClr val="006FC0"/>
                </a:solidFill>
                <a:latin typeface="Microsoft Sans Serif"/>
                <a:cs typeface="Microsoft Sans Serif"/>
              </a:rPr>
              <a:t>=	</a:t>
            </a:r>
            <a:r>
              <a:rPr sz="2800" spc="-5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800" spc="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less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eq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than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298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8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Res</a:t>
            </a:r>
            <a:r>
              <a:rPr sz="2800" spc="-35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lt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bi</a:t>
            </a:r>
            <a:r>
              <a:rPr sz="2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val</a:t>
            </a:r>
            <a:r>
              <a:rPr sz="2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: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i="1" spc="-484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i="1" spc="-484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r>
              <a:rPr sz="295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950" i="1" spc="-26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endParaRPr sz="2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45</a:t>
            </a:fld>
            <a:endParaRPr spc="-195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32305" y="4966426"/>
            <a:ext cx="1296035" cy="138938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4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b1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32175" y="4969729"/>
            <a:ext cx="541655" cy="13893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i="1" spc="-395" dirty="0">
                <a:solidFill>
                  <a:srgbClr val="006FC0"/>
                </a:solidFill>
                <a:latin typeface="Arial"/>
                <a:cs typeface="Arial"/>
              </a:rPr>
              <a:t>1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i="1" spc="-21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i="1" spc="-215" dirty="0">
                <a:solidFill>
                  <a:srgbClr val="006FC0"/>
                </a:solidFill>
                <a:latin typeface="Arial"/>
                <a:cs typeface="Arial"/>
              </a:rPr>
              <a:t>x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4540" y="1008251"/>
            <a:ext cx="5076190" cy="8382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436495">
              <a:lnSpc>
                <a:spcPct val="100000"/>
              </a:lnSpc>
              <a:spcBef>
                <a:spcPts val="610"/>
              </a:spcBef>
            </a:pP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QU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IT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70" dirty="0">
                <a:solidFill>
                  <a:srgbClr val="C00000"/>
                </a:solidFill>
                <a:latin typeface="Arial"/>
                <a:cs typeface="Arial"/>
              </a:rPr>
              <a:t>PE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TORS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927100" algn="l"/>
              </a:tabLst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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==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equality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540" y="1893773"/>
            <a:ext cx="327660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927100" algn="l"/>
              </a:tabLst>
            </a:pPr>
            <a:r>
              <a:rPr sz="2400" spc="95" dirty="0">
                <a:solidFill>
                  <a:srgbClr val="006FC0"/>
                </a:solidFill>
                <a:latin typeface="Microsoft Sans Serif"/>
                <a:cs typeface="Microsoft Sans Serif"/>
              </a:rPr>
              <a:t>!=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inequality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sz="2400" dirty="0">
                <a:solidFill>
                  <a:srgbClr val="FF0000"/>
                </a:solidFill>
                <a:latin typeface="Wingdings"/>
                <a:cs typeface="Wingdings"/>
              </a:rPr>
              <a:t>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==</a:t>
            </a:r>
            <a:r>
              <a:rPr sz="2400" spc="16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q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ual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ty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!==</a:t>
            </a:r>
            <a:r>
              <a:rPr sz="2400" spc="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ine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q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ual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5800" y="1519237"/>
            <a:ext cx="7571740" cy="4958080"/>
            <a:chOff x="685800" y="1519237"/>
            <a:chExt cx="7571740" cy="495808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800" y="3505200"/>
              <a:ext cx="7571232" cy="29718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91000" y="1524000"/>
              <a:ext cx="76200" cy="1981200"/>
            </a:xfrm>
            <a:custGeom>
              <a:avLst/>
              <a:gdLst/>
              <a:ahLst/>
              <a:cxnLst/>
              <a:rect l="l" t="t" r="r" b="b"/>
              <a:pathLst>
                <a:path w="76200" h="1981200">
                  <a:moveTo>
                    <a:pt x="0" y="0"/>
                  </a:moveTo>
                  <a:lnTo>
                    <a:pt x="14847" y="5484"/>
                  </a:lnTo>
                  <a:lnTo>
                    <a:pt x="26955" y="20447"/>
                  </a:lnTo>
                  <a:lnTo>
                    <a:pt x="35111" y="42648"/>
                  </a:lnTo>
                  <a:lnTo>
                    <a:pt x="38100" y="69850"/>
                  </a:lnTo>
                  <a:lnTo>
                    <a:pt x="38100" y="349250"/>
                  </a:lnTo>
                  <a:lnTo>
                    <a:pt x="41088" y="376451"/>
                  </a:lnTo>
                  <a:lnTo>
                    <a:pt x="49244" y="398653"/>
                  </a:lnTo>
                  <a:lnTo>
                    <a:pt x="61352" y="413615"/>
                  </a:lnTo>
                  <a:lnTo>
                    <a:pt x="76200" y="419100"/>
                  </a:lnTo>
                  <a:lnTo>
                    <a:pt x="61352" y="424584"/>
                  </a:lnTo>
                  <a:lnTo>
                    <a:pt x="49244" y="439547"/>
                  </a:lnTo>
                  <a:lnTo>
                    <a:pt x="41088" y="461748"/>
                  </a:lnTo>
                  <a:lnTo>
                    <a:pt x="38100" y="488950"/>
                  </a:lnTo>
                  <a:lnTo>
                    <a:pt x="38100" y="768350"/>
                  </a:lnTo>
                  <a:lnTo>
                    <a:pt x="35111" y="795551"/>
                  </a:lnTo>
                  <a:lnTo>
                    <a:pt x="26955" y="817753"/>
                  </a:lnTo>
                  <a:lnTo>
                    <a:pt x="14847" y="832715"/>
                  </a:lnTo>
                  <a:lnTo>
                    <a:pt x="0" y="838200"/>
                  </a:lnTo>
                </a:path>
                <a:path w="76200" h="1981200">
                  <a:moveTo>
                    <a:pt x="0" y="1143000"/>
                  </a:moveTo>
                  <a:lnTo>
                    <a:pt x="14847" y="1148484"/>
                  </a:lnTo>
                  <a:lnTo>
                    <a:pt x="26955" y="1163447"/>
                  </a:lnTo>
                  <a:lnTo>
                    <a:pt x="35111" y="1185648"/>
                  </a:lnTo>
                  <a:lnTo>
                    <a:pt x="38100" y="1212850"/>
                  </a:lnTo>
                  <a:lnTo>
                    <a:pt x="38100" y="1492250"/>
                  </a:lnTo>
                  <a:lnTo>
                    <a:pt x="41088" y="1519451"/>
                  </a:lnTo>
                  <a:lnTo>
                    <a:pt x="49244" y="1541653"/>
                  </a:lnTo>
                  <a:lnTo>
                    <a:pt x="61352" y="1556615"/>
                  </a:lnTo>
                  <a:lnTo>
                    <a:pt x="76200" y="1562100"/>
                  </a:lnTo>
                  <a:lnTo>
                    <a:pt x="61352" y="1567584"/>
                  </a:lnTo>
                  <a:lnTo>
                    <a:pt x="49244" y="1582547"/>
                  </a:lnTo>
                  <a:lnTo>
                    <a:pt x="41088" y="1604748"/>
                  </a:lnTo>
                  <a:lnTo>
                    <a:pt x="38100" y="1631950"/>
                  </a:lnTo>
                  <a:lnTo>
                    <a:pt x="38100" y="1911350"/>
                  </a:lnTo>
                  <a:lnTo>
                    <a:pt x="35111" y="1938551"/>
                  </a:lnTo>
                  <a:lnTo>
                    <a:pt x="26955" y="1960753"/>
                  </a:lnTo>
                  <a:lnTo>
                    <a:pt x="14847" y="1975715"/>
                  </a:lnTo>
                  <a:lnTo>
                    <a:pt x="0" y="1981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33976" y="1764747"/>
            <a:ext cx="14065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55" dirty="0">
                <a:latin typeface="Microsoft Sans Serif"/>
                <a:cs typeface="Microsoft Sans Serif"/>
              </a:rPr>
              <a:t>Retu</a:t>
            </a:r>
            <a:r>
              <a:rPr sz="1800" spc="-55" dirty="0">
                <a:latin typeface="Microsoft Sans Serif"/>
                <a:cs typeface="Microsoft Sans Serif"/>
              </a:rPr>
              <a:t>r</a:t>
            </a:r>
            <a:r>
              <a:rPr sz="1800" spc="-85" dirty="0">
                <a:latin typeface="Microsoft Sans Serif"/>
                <a:cs typeface="Microsoft Sans Serif"/>
              </a:rPr>
              <a:t>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900" i="1" spc="-315" dirty="0">
                <a:latin typeface="Arial"/>
                <a:cs typeface="Arial"/>
              </a:rPr>
              <a:t>0</a:t>
            </a:r>
            <a:r>
              <a:rPr sz="1800" spc="-105" dirty="0">
                <a:latin typeface="Microsoft Sans Serif"/>
                <a:cs typeface="Microsoft Sans Serif"/>
              </a:rPr>
              <a:t>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900" i="1" spc="-310" dirty="0">
                <a:latin typeface="Arial"/>
                <a:cs typeface="Arial"/>
              </a:rPr>
              <a:t>1</a:t>
            </a:r>
            <a:r>
              <a:rPr sz="1900" i="1" spc="-25" dirty="0">
                <a:latin typeface="Arial"/>
                <a:cs typeface="Arial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or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900" i="1" spc="-175" dirty="0">
                <a:latin typeface="Arial"/>
                <a:cs typeface="Arial"/>
              </a:rPr>
              <a:t>x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46</a:t>
            </a:fld>
            <a:endParaRPr spc="-195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651375" y="2968326"/>
            <a:ext cx="11925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155" dirty="0">
                <a:latin typeface="Microsoft Sans Serif"/>
                <a:cs typeface="Microsoft Sans Serif"/>
              </a:rPr>
              <a:t>Retu</a:t>
            </a:r>
            <a:r>
              <a:rPr sz="1800" spc="-55" dirty="0">
                <a:latin typeface="Microsoft Sans Serif"/>
                <a:cs typeface="Microsoft Sans Serif"/>
              </a:rPr>
              <a:t>r</a:t>
            </a:r>
            <a:r>
              <a:rPr sz="1800" spc="-85" dirty="0">
                <a:latin typeface="Microsoft Sans Serif"/>
                <a:cs typeface="Microsoft Sans Serif"/>
              </a:rPr>
              <a:t>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900" i="1" spc="-310" dirty="0">
                <a:latin typeface="Arial"/>
                <a:cs typeface="Arial"/>
              </a:rPr>
              <a:t>0</a:t>
            </a:r>
            <a:r>
              <a:rPr sz="1900" i="1" spc="-30" dirty="0">
                <a:latin typeface="Arial"/>
                <a:cs typeface="Arial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or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900" i="1" spc="-310" dirty="0"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352800" y="4343400"/>
            <a:ext cx="5796280" cy="2514600"/>
            <a:chOff x="3352800" y="4343400"/>
            <a:chExt cx="5796280" cy="2514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8400" y="4343400"/>
              <a:ext cx="2464307" cy="21564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2800" y="4379976"/>
              <a:ext cx="2819400" cy="20970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12140" y="1008251"/>
            <a:ext cx="5078095" cy="259461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734310">
              <a:lnSpc>
                <a:spcPct val="100000"/>
              </a:lnSpc>
              <a:spcBef>
                <a:spcPts val="610"/>
              </a:spcBef>
            </a:pPr>
            <a:r>
              <a:rPr sz="2000" b="1" spc="-40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9" dirty="0">
                <a:solidFill>
                  <a:srgbClr val="C00000"/>
                </a:solidFill>
                <a:latin typeface="Arial"/>
                <a:cs typeface="Arial"/>
              </a:rPr>
              <a:t>WIS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ERA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60" dirty="0">
                <a:solidFill>
                  <a:srgbClr val="C00000"/>
                </a:solidFill>
                <a:latin typeface="Arial"/>
                <a:cs typeface="Arial"/>
              </a:rPr>
              <a:t>RS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1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1841500" algn="l"/>
              </a:tabLst>
            </a:pP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bitwise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1841500" algn="l"/>
              </a:tabLst>
            </a:pP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|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bitwise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1841500" algn="l"/>
              </a:tabLst>
            </a:pP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~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bitwise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1841500" algn="l"/>
              </a:tabLst>
            </a:pP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^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bitwise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XOR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  <a:tab pos="1841500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~^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^~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bitwise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XNOR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51375" y="4082033"/>
            <a:ext cx="982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~a;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7200" y="4431791"/>
            <a:ext cx="2743200" cy="196900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12140" y="3444621"/>
            <a:ext cx="3725545" cy="1015365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67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Operation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basis</a:t>
            </a:r>
            <a:endParaRPr sz="24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&amp;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47</a:t>
            </a:fld>
            <a:endParaRPr spc="-195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988556" y="4045457"/>
            <a:ext cx="1392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c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^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b;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2140" y="1378965"/>
            <a:ext cx="563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48</a:t>
            </a:fld>
            <a:endParaRPr spc="-195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12140" y="2037715"/>
            <a:ext cx="4070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|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2140" y="2696083"/>
            <a:ext cx="4864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^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140" y="3354146"/>
            <a:ext cx="7296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~&amp;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2140" y="4013072"/>
            <a:ext cx="572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~|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2140" y="4671441"/>
            <a:ext cx="1356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~^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^~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41194" y="1072641"/>
            <a:ext cx="3533140" cy="399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5"/>
              </a:spcBef>
            </a:pP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24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UC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IO</a:t>
            </a:r>
            <a:r>
              <a:rPr sz="2000" b="1" spc="2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ERA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60" dirty="0">
                <a:solidFill>
                  <a:srgbClr val="C00000"/>
                </a:solidFill>
                <a:latin typeface="Arial"/>
                <a:cs typeface="Arial"/>
              </a:rPr>
              <a:t>RS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XOR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NAND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NOR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XNOR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2140" y="5161303"/>
            <a:ext cx="5834380" cy="136398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90"/>
              </a:spcBef>
              <a:buClr>
                <a:srgbClr val="FF0000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multi-bit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single-bit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result</a:t>
            </a:r>
            <a:endParaRPr sz="24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1085"/>
              </a:spcBef>
            </a:pP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b10</a:t>
            </a:r>
            <a:r>
              <a:rPr sz="20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1;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|a;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1|</a:t>
            </a:r>
            <a:r>
              <a:rPr sz="20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|0|1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14471" y="1072641"/>
            <a:ext cx="21031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FT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31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ATO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40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49</a:t>
            </a:fld>
            <a:endParaRPr spc="-195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5940" y="1252092"/>
            <a:ext cx="6499225" cy="167068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927100" algn="l"/>
              </a:tabLst>
            </a:pP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&gt;&gt;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shift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right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927100" algn="l"/>
              </a:tabLst>
            </a:pP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&lt;&lt;	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shift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left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43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Result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same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size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first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operand,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330" dirty="0">
                <a:solidFill>
                  <a:srgbClr val="006FC0"/>
                </a:solidFill>
                <a:latin typeface="Arial"/>
                <a:cs typeface="Arial"/>
              </a:rPr>
              <a:t>always</a:t>
            </a:r>
            <a:r>
              <a:rPr sz="24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260" dirty="0">
                <a:solidFill>
                  <a:srgbClr val="006FC0"/>
                </a:solidFill>
                <a:latin typeface="Arial"/>
                <a:cs typeface="Arial"/>
              </a:rPr>
              <a:t>zero</a:t>
            </a:r>
            <a:r>
              <a:rPr sz="24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spc="-185" dirty="0">
                <a:solidFill>
                  <a:srgbClr val="006FC0"/>
                </a:solidFill>
                <a:latin typeface="Arial"/>
                <a:cs typeface="Arial"/>
              </a:rPr>
              <a:t>filled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08828" y="2943348"/>
            <a:ext cx="1341120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0010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195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0100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2943348"/>
            <a:ext cx="4124960" cy="20294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70"/>
              </a:spcBef>
            </a:pP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4’b1010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2;</a:t>
            </a:r>
            <a:endParaRPr sz="2400">
              <a:latin typeface="Microsoft Sans Serif"/>
              <a:cs typeface="Microsoft Sans Serif"/>
            </a:endParaRPr>
          </a:p>
          <a:p>
            <a:pPr marR="31115" algn="r">
              <a:lnSpc>
                <a:spcPct val="100000"/>
              </a:lnSpc>
              <a:spcBef>
                <a:spcPts val="580"/>
              </a:spcBef>
            </a:pP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1;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67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arithmetic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shift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rig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400" spc="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arithmeti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shift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left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940" y="5129021"/>
            <a:ext cx="770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Vacant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position</a:t>
            </a:r>
            <a:r>
              <a:rPr sz="24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filled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either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LSB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(&gt;&gt;&gt;)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MSB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(&lt;&lt;&lt;)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50594" y="5613603"/>
            <a:ext cx="1458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4’b01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79775" y="5540451"/>
            <a:ext cx="146621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&gt;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&gt;1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1;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8828" y="5540451"/>
            <a:ext cx="134112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1010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1010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72641"/>
            <a:ext cx="6274435" cy="564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4725">
              <a:lnSpc>
                <a:spcPts val="2120"/>
              </a:lnSpc>
              <a:spcBef>
                <a:spcPts val="105"/>
              </a:spcBef>
            </a:pP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CONCATENATION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  <a:p>
            <a:pPr marL="425450" indent="-413384">
              <a:lnSpc>
                <a:spcPts val="2120"/>
              </a:lnSpc>
              <a:buClr>
                <a:srgbClr val="FF0000"/>
              </a:buClr>
              <a:buFont typeface="Wingdings"/>
              <a:buChar char=""/>
              <a:tabLst>
                <a:tab pos="425450" algn="l"/>
                <a:tab pos="426084" algn="l"/>
              </a:tabLst>
            </a:pP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{op1,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op2,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..}</a:t>
            </a:r>
            <a:r>
              <a:rPr sz="2000" spc="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00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concatenates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op1,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op2,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single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50</a:t>
            </a:fld>
            <a:endParaRPr spc="-195" dirty="0"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59740" y="1825409"/>
            <a:ext cx="3013075" cy="368490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425450" indent="-413384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Font typeface="Wingdings"/>
              <a:buChar char=""/>
              <a:tabLst>
                <a:tab pos="425450" algn="l"/>
                <a:tab pos="426084" algn="l"/>
              </a:tabLst>
            </a:pP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er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siz</a:t>
            </a:r>
            <a:r>
              <a:rPr sz="20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10" dirty="0">
                <a:solidFill>
                  <a:srgbClr val="006FC0"/>
                </a:solidFill>
                <a:latin typeface="Microsoft Sans Serif"/>
                <a:cs typeface="Microsoft Sans Serif"/>
              </a:rPr>
              <a:t>!!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a;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[2:0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c;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’b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1;</a:t>
            </a:r>
            <a:endParaRPr sz="2000">
              <a:latin typeface="Microsoft Sans Serif"/>
              <a:cs typeface="Microsoft Sans Serif"/>
            </a:endParaRPr>
          </a:p>
          <a:p>
            <a:pPr marL="756285" marR="1075690">
              <a:lnSpc>
                <a:spcPct val="120000"/>
              </a:lnSpc>
              <a:spcBef>
                <a:spcPts val="5"/>
              </a:spcBef>
            </a:pP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0; 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3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1;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{a,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c};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{b,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’</a:t>
            </a: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b11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a};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{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1};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7975" y="4387062"/>
            <a:ext cx="1962785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0_</a:t>
            </a:r>
            <a:r>
              <a:rPr sz="20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01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0_</a:t>
            </a:r>
            <a:r>
              <a:rPr sz="20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1_1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ONG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10" dirty="0">
                <a:solidFill>
                  <a:srgbClr val="006FC0"/>
                </a:solidFill>
                <a:latin typeface="Microsoft Sans Serif"/>
                <a:cs typeface="Microsoft Sans Serif"/>
              </a:rPr>
              <a:t>!!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740" y="5704128"/>
            <a:ext cx="303720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lication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{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{a},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2{c}};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17975" y="6130239"/>
            <a:ext cx="2567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catr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1111_010_101101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304097" y="3058477"/>
            <a:ext cx="6844665" cy="3799840"/>
            <a:chOff x="2304097" y="3058477"/>
            <a:chExt cx="6844665" cy="379984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66034" y="3369131"/>
              <a:ext cx="390525" cy="847090"/>
            </a:xfrm>
            <a:custGeom>
              <a:avLst/>
              <a:gdLst/>
              <a:ahLst/>
              <a:cxnLst/>
              <a:rect l="l" t="t" r="r" b="b"/>
              <a:pathLst>
                <a:path w="390525" h="847089">
                  <a:moveTo>
                    <a:pt x="390525" y="62534"/>
                  </a:moveTo>
                  <a:lnTo>
                    <a:pt x="309626" y="0"/>
                  </a:lnTo>
                  <a:lnTo>
                    <a:pt x="309626" y="5918"/>
                  </a:lnTo>
                  <a:lnTo>
                    <a:pt x="309626" y="11938"/>
                  </a:lnTo>
                  <a:lnTo>
                    <a:pt x="309626" y="466394"/>
                  </a:lnTo>
                  <a:lnTo>
                    <a:pt x="9512" y="698373"/>
                  </a:lnTo>
                  <a:lnTo>
                    <a:pt x="4826" y="702005"/>
                  </a:lnTo>
                  <a:lnTo>
                    <a:pt x="0" y="705739"/>
                  </a:lnTo>
                  <a:lnTo>
                    <a:pt x="0" y="846759"/>
                  </a:lnTo>
                  <a:lnTo>
                    <a:pt x="24968" y="827455"/>
                  </a:lnTo>
                  <a:lnTo>
                    <a:pt x="390525" y="544880"/>
                  </a:lnTo>
                  <a:lnTo>
                    <a:pt x="390525" y="62534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4660" y="3063239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0" y="0"/>
                  </a:moveTo>
                  <a:lnTo>
                    <a:pt x="0" y="1066800"/>
                  </a:lnTo>
                  <a:lnTo>
                    <a:pt x="381000" y="772287"/>
                  </a:lnTo>
                  <a:lnTo>
                    <a:pt x="381000" y="294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94660" y="3063239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0" y="1066800"/>
                  </a:moveTo>
                  <a:lnTo>
                    <a:pt x="381000" y="772287"/>
                  </a:lnTo>
                  <a:lnTo>
                    <a:pt x="381000" y="294513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8860" y="3215639"/>
              <a:ext cx="914400" cy="1143000"/>
            </a:xfrm>
            <a:custGeom>
              <a:avLst/>
              <a:gdLst/>
              <a:ahLst/>
              <a:cxnLst/>
              <a:rect l="l" t="t" r="r" b="b"/>
              <a:pathLst>
                <a:path w="914400" h="1143000">
                  <a:moveTo>
                    <a:pt x="685800" y="0"/>
                  </a:moveTo>
                  <a:lnTo>
                    <a:pt x="0" y="0"/>
                  </a:lnTo>
                </a:path>
                <a:path w="914400" h="1143000">
                  <a:moveTo>
                    <a:pt x="914400" y="762000"/>
                  </a:moveTo>
                  <a:lnTo>
                    <a:pt x="914400" y="1143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5940" y="997051"/>
            <a:ext cx="5527675" cy="14966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386965">
              <a:lnSpc>
                <a:spcPct val="100000"/>
              </a:lnSpc>
              <a:spcBef>
                <a:spcPts val="700"/>
              </a:spcBef>
            </a:pPr>
            <a:r>
              <a:rPr sz="2000" b="1" spc="-65" dirty="0">
                <a:solidFill>
                  <a:srgbClr val="C00000"/>
                </a:solidFill>
                <a:latin typeface="Arial"/>
                <a:cs typeface="Arial"/>
              </a:rPr>
              <a:t>CONDITIONAL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_exp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?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e_exp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: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fal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e_expr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28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ike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0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mux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84470" y="3472942"/>
            <a:ext cx="156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Y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=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" dirty="0">
                <a:latin typeface="Cambria"/>
                <a:cs typeface="Cambria"/>
              </a:rPr>
              <a:t>(sel)?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0030" y="2888996"/>
            <a:ext cx="189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2959" y="3300221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9575" algn="l"/>
                <a:tab pos="697865" algn="l"/>
              </a:tabLst>
            </a:pPr>
            <a:r>
              <a:rPr sz="1800" u="sng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	</a:t>
            </a:r>
            <a:r>
              <a:rPr sz="1800" u="sng" spc="-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Y	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84960" y="3439477"/>
            <a:ext cx="6126480" cy="2542540"/>
            <a:chOff x="1584960" y="3439477"/>
            <a:chExt cx="6126480" cy="2542540"/>
          </a:xfrm>
        </p:grpSpPr>
        <p:sp>
          <p:nvSpPr>
            <p:cNvPr id="26" name="object 26"/>
            <p:cNvSpPr/>
            <p:nvPr/>
          </p:nvSpPr>
          <p:spPr>
            <a:xfrm>
              <a:off x="4472940" y="3502151"/>
              <a:ext cx="508634" cy="417830"/>
            </a:xfrm>
            <a:custGeom>
              <a:avLst/>
              <a:gdLst/>
              <a:ahLst/>
              <a:cxnLst/>
              <a:rect l="l" t="t" r="r" b="b"/>
              <a:pathLst>
                <a:path w="508635" h="417829">
                  <a:moveTo>
                    <a:pt x="80899" y="0"/>
                  </a:moveTo>
                  <a:lnTo>
                    <a:pt x="59994" y="37338"/>
                  </a:lnTo>
                  <a:lnTo>
                    <a:pt x="65532" y="37338"/>
                  </a:lnTo>
                  <a:lnTo>
                    <a:pt x="70942" y="37338"/>
                  </a:lnTo>
                  <a:lnTo>
                    <a:pt x="71374" y="37338"/>
                  </a:lnTo>
                  <a:lnTo>
                    <a:pt x="76200" y="37338"/>
                  </a:lnTo>
                  <a:lnTo>
                    <a:pt x="80899" y="37338"/>
                  </a:lnTo>
                  <a:lnTo>
                    <a:pt x="80899" y="36576"/>
                  </a:lnTo>
                  <a:lnTo>
                    <a:pt x="80899" y="0"/>
                  </a:lnTo>
                  <a:close/>
                </a:path>
                <a:path w="508635" h="417829">
                  <a:moveTo>
                    <a:pt x="320040" y="227838"/>
                  </a:moveTo>
                  <a:lnTo>
                    <a:pt x="0" y="227838"/>
                  </a:lnTo>
                  <a:lnTo>
                    <a:pt x="0" y="253492"/>
                  </a:lnTo>
                  <a:lnTo>
                    <a:pt x="0" y="263220"/>
                  </a:lnTo>
                  <a:lnTo>
                    <a:pt x="0" y="273024"/>
                  </a:lnTo>
                  <a:lnTo>
                    <a:pt x="80899" y="417576"/>
                  </a:lnTo>
                  <a:lnTo>
                    <a:pt x="80899" y="381000"/>
                  </a:lnTo>
                  <a:lnTo>
                    <a:pt x="80899" y="308864"/>
                  </a:lnTo>
                  <a:lnTo>
                    <a:pt x="320040" y="308864"/>
                  </a:lnTo>
                  <a:lnTo>
                    <a:pt x="320040" y="304038"/>
                  </a:lnTo>
                  <a:lnTo>
                    <a:pt x="320040" y="299339"/>
                  </a:lnTo>
                  <a:lnTo>
                    <a:pt x="320040" y="227838"/>
                  </a:lnTo>
                  <a:close/>
                </a:path>
                <a:path w="508635" h="417829">
                  <a:moveTo>
                    <a:pt x="508381" y="208788"/>
                  </a:moveTo>
                  <a:lnTo>
                    <a:pt x="411899" y="36576"/>
                  </a:lnTo>
                  <a:lnTo>
                    <a:pt x="391414" y="0"/>
                  </a:lnTo>
                  <a:lnTo>
                    <a:pt x="391414" y="69545"/>
                  </a:lnTo>
                  <a:lnTo>
                    <a:pt x="396240" y="78168"/>
                  </a:lnTo>
                  <a:lnTo>
                    <a:pt x="426720" y="132588"/>
                  </a:lnTo>
                  <a:lnTo>
                    <a:pt x="333336" y="299339"/>
                  </a:lnTo>
                  <a:lnTo>
                    <a:pt x="330708" y="304038"/>
                  </a:lnTo>
                  <a:lnTo>
                    <a:pt x="328002" y="308864"/>
                  </a:lnTo>
                  <a:lnTo>
                    <a:pt x="391414" y="308864"/>
                  </a:lnTo>
                  <a:lnTo>
                    <a:pt x="391414" y="417576"/>
                  </a:lnTo>
                  <a:lnTo>
                    <a:pt x="411899" y="381000"/>
                  </a:lnTo>
                  <a:lnTo>
                    <a:pt x="508381" y="208788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66260" y="344424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426719" y="0"/>
                  </a:moveTo>
                  <a:lnTo>
                    <a:pt x="426719" y="95250"/>
                  </a:lnTo>
                  <a:lnTo>
                    <a:pt x="106679" y="95250"/>
                  </a:lnTo>
                  <a:lnTo>
                    <a:pt x="106679" y="0"/>
                  </a:lnTo>
                  <a:lnTo>
                    <a:pt x="0" y="190500"/>
                  </a:lnTo>
                  <a:lnTo>
                    <a:pt x="106679" y="381000"/>
                  </a:lnTo>
                  <a:lnTo>
                    <a:pt x="106679" y="285750"/>
                  </a:lnTo>
                  <a:lnTo>
                    <a:pt x="426719" y="285750"/>
                  </a:lnTo>
                  <a:lnTo>
                    <a:pt x="426719" y="381000"/>
                  </a:lnTo>
                  <a:lnTo>
                    <a:pt x="533400" y="190500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66260" y="3444240"/>
              <a:ext cx="533400" cy="381000"/>
            </a:xfrm>
            <a:custGeom>
              <a:avLst/>
              <a:gdLst/>
              <a:ahLst/>
              <a:cxnLst/>
              <a:rect l="l" t="t" r="r" b="b"/>
              <a:pathLst>
                <a:path w="533400" h="381000">
                  <a:moveTo>
                    <a:pt x="0" y="190500"/>
                  </a:moveTo>
                  <a:lnTo>
                    <a:pt x="106679" y="0"/>
                  </a:lnTo>
                  <a:lnTo>
                    <a:pt x="106679" y="95250"/>
                  </a:lnTo>
                  <a:lnTo>
                    <a:pt x="426719" y="95250"/>
                  </a:lnTo>
                  <a:lnTo>
                    <a:pt x="426719" y="0"/>
                  </a:lnTo>
                  <a:lnTo>
                    <a:pt x="533400" y="190500"/>
                  </a:lnTo>
                  <a:lnTo>
                    <a:pt x="426719" y="381000"/>
                  </a:lnTo>
                  <a:lnTo>
                    <a:pt x="426719" y="285750"/>
                  </a:lnTo>
                  <a:lnTo>
                    <a:pt x="106679" y="285750"/>
                  </a:lnTo>
                  <a:lnTo>
                    <a:pt x="106679" y="381000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4960" y="5638800"/>
              <a:ext cx="6126479" cy="3429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254630" y="3574795"/>
            <a:ext cx="889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39775" algn="l"/>
              </a:tabLst>
            </a:pPr>
            <a:r>
              <a:rPr sz="1800" u="sng" spc="-2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B	</a:t>
            </a:r>
            <a:r>
              <a:rPr sz="2700" spc="-382" baseline="-26234" dirty="0">
                <a:solidFill>
                  <a:srgbClr val="FFFFFF"/>
                </a:solidFill>
                <a:latin typeface="Microsoft Sans Serif"/>
                <a:cs typeface="Microsoft Sans Serif"/>
              </a:rPr>
              <a:t>0</a:t>
            </a:r>
            <a:endParaRPr sz="2700" baseline="-26234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51</a:t>
            </a:fld>
            <a:endParaRPr spc="-195" dirty="0"/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997835" y="3073653"/>
            <a:ext cx="120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4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5940" y="4078351"/>
            <a:ext cx="3030220" cy="989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195" dirty="0">
                <a:latin typeface="Microsoft Sans Serif"/>
                <a:cs typeface="Microsoft Sans Serif"/>
              </a:rPr>
              <a:t>sel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2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..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0379" y="155460"/>
              <a:ext cx="305866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O</a:t>
            </a:r>
            <a:r>
              <a:rPr spc="-55" dirty="0"/>
              <a:t>P</a:t>
            </a:r>
            <a:r>
              <a:rPr spc="-30" dirty="0"/>
              <a:t>E</a:t>
            </a:r>
            <a:r>
              <a:rPr spc="-100" dirty="0"/>
              <a:t>RATORS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937260" y="1872995"/>
            <a:ext cx="8211820" cy="4985385"/>
            <a:chOff x="937260" y="1872995"/>
            <a:chExt cx="8211820" cy="498538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7260" y="1872995"/>
              <a:ext cx="4853940" cy="437540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910332" y="1129664"/>
            <a:ext cx="2908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ERA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37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34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REC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5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52</a:t>
            </a:fld>
            <a:endParaRPr spc="-195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23228" y="3172713"/>
            <a:ext cx="22942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Cambria"/>
                <a:cs typeface="Cambria"/>
              </a:rPr>
              <a:t>Use</a:t>
            </a:r>
            <a:r>
              <a:rPr sz="2000" spc="-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Cambria"/>
                <a:cs typeface="Cambria"/>
              </a:rPr>
              <a:t>parentheses</a:t>
            </a:r>
            <a:r>
              <a:rPr sz="2000" spc="-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ambria"/>
                <a:cs typeface="Cambria"/>
              </a:rPr>
              <a:t>to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6FC0"/>
                </a:solidFill>
                <a:latin typeface="Cambria"/>
                <a:cs typeface="Cambria"/>
              </a:rPr>
              <a:t>enforce</a:t>
            </a:r>
            <a:r>
              <a:rPr sz="2000" spc="-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ambria"/>
                <a:cs typeface="Cambria"/>
              </a:rPr>
              <a:t>your</a:t>
            </a:r>
            <a:r>
              <a:rPr sz="2000" spc="-3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"/>
                <a:cs typeface="Cambria"/>
              </a:rPr>
              <a:t>priority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7044" y="155460"/>
              <a:ext cx="4623815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61589" y="289382"/>
            <a:ext cx="40176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VERILOG</a:t>
            </a:r>
            <a:r>
              <a:rPr spc="-95" dirty="0"/>
              <a:t> 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010155" y="3936479"/>
            <a:ext cx="7138670" cy="2921635"/>
            <a:chOff x="2010155" y="3936479"/>
            <a:chExt cx="7138670" cy="292163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0155" y="3936479"/>
              <a:ext cx="2756916" cy="806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7399" y="3963924"/>
              <a:ext cx="2667000" cy="71628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057400" y="3963923"/>
            <a:ext cx="2667000" cy="71628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20129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1585"/>
              </a:spcBef>
            </a:pPr>
            <a:r>
              <a:rPr sz="1800" b="1" spc="5" dirty="0">
                <a:latin typeface="Arial"/>
                <a:cs typeface="Arial"/>
              </a:rPr>
              <a:t>BEHAVIORAL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10155" y="2031504"/>
            <a:ext cx="2757170" cy="902335"/>
            <a:chOff x="2010155" y="2031504"/>
            <a:chExt cx="2757170" cy="902335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10155" y="2031504"/>
              <a:ext cx="2756916" cy="90219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57399" y="2058923"/>
              <a:ext cx="2667000" cy="81229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057400" y="2058923"/>
            <a:ext cx="2667000" cy="81280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Times New Roman"/>
              <a:cs typeface="Times New Roman"/>
            </a:endParaRPr>
          </a:p>
          <a:p>
            <a:pPr marL="483234">
              <a:lnSpc>
                <a:spcPct val="100000"/>
              </a:lnSpc>
            </a:pPr>
            <a:r>
              <a:rPr sz="1800" b="1" spc="15" dirty="0">
                <a:latin typeface="Arial"/>
                <a:cs typeface="Arial"/>
              </a:rPr>
              <a:t>STRUCTURAL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10155" y="3020555"/>
            <a:ext cx="2757170" cy="806450"/>
            <a:chOff x="2010155" y="3020555"/>
            <a:chExt cx="2757170" cy="80645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0155" y="3020555"/>
              <a:ext cx="2756916" cy="8062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57399" y="3048000"/>
              <a:ext cx="2667000" cy="7162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057400" y="3048000"/>
            <a:ext cx="2667000" cy="71628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L="671195">
              <a:lnSpc>
                <a:spcPct val="100000"/>
              </a:lnSpc>
              <a:spcBef>
                <a:spcPts val="1590"/>
              </a:spcBef>
            </a:pPr>
            <a:r>
              <a:rPr sz="1800" b="1" spc="-30" dirty="0">
                <a:latin typeface="Arial"/>
                <a:cs typeface="Arial"/>
              </a:rPr>
              <a:t>D</a:t>
            </a:r>
            <a:r>
              <a:rPr sz="1800" b="1" spc="-155" dirty="0">
                <a:latin typeface="Arial"/>
                <a:cs typeface="Arial"/>
              </a:rPr>
              <a:t>A</a:t>
            </a:r>
            <a:r>
              <a:rPr sz="1800" b="1" spc="-70" dirty="0">
                <a:latin typeface="Arial"/>
                <a:cs typeface="Arial"/>
              </a:rPr>
              <a:t>T</a:t>
            </a:r>
            <a:r>
              <a:rPr sz="1800" b="1" spc="-10" dirty="0">
                <a:latin typeface="Arial"/>
                <a:cs typeface="Arial"/>
              </a:rPr>
              <a:t>A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</a:t>
            </a:r>
            <a:r>
              <a:rPr sz="1800" b="1" spc="-95" dirty="0">
                <a:latin typeface="Arial"/>
                <a:cs typeface="Arial"/>
              </a:rPr>
              <a:t>L</a:t>
            </a:r>
            <a:r>
              <a:rPr sz="1800" b="1" spc="50" dirty="0">
                <a:latin typeface="Arial"/>
                <a:cs typeface="Arial"/>
              </a:rPr>
              <a:t>O</a:t>
            </a:r>
            <a:r>
              <a:rPr sz="1800" b="1" spc="-15" dirty="0">
                <a:latin typeface="Arial"/>
                <a:cs typeface="Arial"/>
              </a:rPr>
              <a:t>W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29967" y="4818888"/>
            <a:ext cx="2755900" cy="806450"/>
            <a:chOff x="2029967" y="4818888"/>
            <a:chExt cx="2755900" cy="806450"/>
          </a:xfrm>
        </p:grpSpPr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29967" y="4818888"/>
              <a:ext cx="2755392" cy="80620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77211" y="4846320"/>
              <a:ext cx="2665476" cy="7162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077211" y="4846320"/>
            <a:ext cx="2665730" cy="71628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590"/>
              </a:spcBef>
            </a:pPr>
            <a:r>
              <a:rPr sz="1800" b="1" spc="20" dirty="0">
                <a:latin typeface="Arial"/>
                <a:cs typeface="Arial"/>
              </a:rPr>
              <a:t>SWITCH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00600" y="2133600"/>
            <a:ext cx="2354580" cy="2513330"/>
            <a:chOff x="4800600" y="2133600"/>
            <a:chExt cx="2354580" cy="2513330"/>
          </a:xfrm>
        </p:grpSpPr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00600" y="2133600"/>
              <a:ext cx="571500" cy="64312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76800" y="3125724"/>
              <a:ext cx="569976" cy="64312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47844" y="4003548"/>
              <a:ext cx="571500" cy="64312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20155" y="3098253"/>
              <a:ext cx="1335024" cy="48467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62827" y="3095231"/>
              <a:ext cx="1248155" cy="5608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67400" y="3125724"/>
              <a:ext cx="1245107" cy="39471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867400" y="3125723"/>
            <a:ext cx="1245235" cy="394970"/>
          </a:xfrm>
          <a:prstGeom prst="rect">
            <a:avLst/>
          </a:prstGeom>
          <a:ln w="9525">
            <a:solidFill>
              <a:srgbClr val="46AAC5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285"/>
              </a:spcBef>
            </a:pPr>
            <a:r>
              <a:rPr sz="1800" b="1" spc="25" dirty="0">
                <a:latin typeface="Arial"/>
                <a:cs typeface="Arial"/>
              </a:rPr>
              <a:t>O</a:t>
            </a:r>
            <a:r>
              <a:rPr sz="1800" b="1" spc="-215" dirty="0">
                <a:latin typeface="Arial"/>
                <a:cs typeface="Arial"/>
              </a:rPr>
              <a:t>u</a:t>
            </a:r>
            <a:r>
              <a:rPr sz="1800" b="1" spc="-100" dirty="0">
                <a:latin typeface="Arial"/>
                <a:cs typeface="Arial"/>
              </a:rPr>
              <a:t>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85" dirty="0">
                <a:latin typeface="Arial"/>
                <a:cs typeface="Arial"/>
              </a:rPr>
              <a:t>f</a:t>
            </a:r>
            <a:r>
              <a:rPr sz="1800" b="1" spc="-190" dirty="0">
                <a:latin typeface="Arial"/>
                <a:cs typeface="Arial"/>
              </a:rPr>
              <a:t>o</a:t>
            </a:r>
            <a:r>
              <a:rPr sz="1800" b="1" spc="-250" dirty="0">
                <a:latin typeface="Arial"/>
                <a:cs typeface="Arial"/>
              </a:rPr>
              <a:t>c</a:t>
            </a:r>
            <a:r>
              <a:rPr sz="1800" b="1" spc="-215" dirty="0">
                <a:latin typeface="Arial"/>
                <a:cs typeface="Arial"/>
              </a:rPr>
              <a:t>u</a:t>
            </a:r>
            <a:r>
              <a:rPr sz="1800" b="1" spc="-43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43728" y="2115311"/>
            <a:ext cx="315595" cy="2519680"/>
            <a:chOff x="5443728" y="2115311"/>
            <a:chExt cx="315595" cy="2519680"/>
          </a:xfrm>
        </p:grpSpPr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43728" y="2115311"/>
              <a:ext cx="315467" cy="251917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86400" y="2142743"/>
              <a:ext cx="230124" cy="242925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486400" y="2142743"/>
              <a:ext cx="230504" cy="2429510"/>
            </a:xfrm>
            <a:custGeom>
              <a:avLst/>
              <a:gdLst/>
              <a:ahLst/>
              <a:cxnLst/>
              <a:rect l="l" t="t" r="r" b="b"/>
              <a:pathLst>
                <a:path w="230504" h="2429510">
                  <a:moveTo>
                    <a:pt x="0" y="0"/>
                  </a:moveTo>
                  <a:lnTo>
                    <a:pt x="67933" y="35137"/>
                  </a:lnTo>
                  <a:lnTo>
                    <a:pt x="92848" y="74560"/>
                  </a:lnTo>
                  <a:lnTo>
                    <a:pt x="109191" y="124553"/>
                  </a:lnTo>
                  <a:lnTo>
                    <a:pt x="115062" y="182117"/>
                  </a:lnTo>
                  <a:lnTo>
                    <a:pt x="115062" y="1032509"/>
                  </a:lnTo>
                  <a:lnTo>
                    <a:pt x="120932" y="1090074"/>
                  </a:lnTo>
                  <a:lnTo>
                    <a:pt x="137275" y="1140067"/>
                  </a:lnTo>
                  <a:lnTo>
                    <a:pt x="162190" y="1179490"/>
                  </a:lnTo>
                  <a:lnTo>
                    <a:pt x="193773" y="1205343"/>
                  </a:lnTo>
                  <a:lnTo>
                    <a:pt x="230124" y="1214627"/>
                  </a:lnTo>
                  <a:lnTo>
                    <a:pt x="193773" y="1223912"/>
                  </a:lnTo>
                  <a:lnTo>
                    <a:pt x="162190" y="1249765"/>
                  </a:lnTo>
                  <a:lnTo>
                    <a:pt x="137275" y="1289188"/>
                  </a:lnTo>
                  <a:lnTo>
                    <a:pt x="120932" y="1339181"/>
                  </a:lnTo>
                  <a:lnTo>
                    <a:pt x="115062" y="1396745"/>
                  </a:lnTo>
                  <a:lnTo>
                    <a:pt x="115062" y="2247137"/>
                  </a:lnTo>
                  <a:lnTo>
                    <a:pt x="109191" y="2304702"/>
                  </a:lnTo>
                  <a:lnTo>
                    <a:pt x="92848" y="2354695"/>
                  </a:lnTo>
                  <a:lnTo>
                    <a:pt x="67933" y="2394118"/>
                  </a:lnTo>
                  <a:lnTo>
                    <a:pt x="36350" y="2419971"/>
                  </a:lnTo>
                  <a:lnTo>
                    <a:pt x="0" y="2429255"/>
                  </a:lnTo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195" dirty="0"/>
              <a:t>53</a:t>
            </a:fld>
            <a:endParaRPr spc="-195" dirty="0"/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519" y="1455419"/>
              <a:ext cx="6983730" cy="40927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26754" y="6643232"/>
            <a:ext cx="17780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385442"/>
            <a:ext cx="8074659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spc="80" dirty="0">
                <a:solidFill>
                  <a:srgbClr val="006FC0"/>
                </a:solidFill>
                <a:latin typeface="Microsoft Sans Serif"/>
                <a:cs typeface="Microsoft Sans Serif"/>
              </a:rPr>
              <a:t>At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level,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described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in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terms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gates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(e.g.,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and,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nand)</a:t>
            </a:r>
            <a:endParaRPr sz="2400">
              <a:latin typeface="Microsoft Sans Serif"/>
              <a:cs typeface="Microsoft Sans Serif"/>
            </a:endParaRPr>
          </a:p>
          <a:p>
            <a:pPr marL="469900" marR="8255" indent="-457200" algn="just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Hardware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at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this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intuitive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user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basic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le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endParaRPr sz="2400">
              <a:latin typeface="Microsoft Sans Serif"/>
              <a:cs typeface="Microsoft Sans Serif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Because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possible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5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see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one-to-one</a:t>
            </a:r>
            <a:r>
              <a:rPr sz="2400" spc="3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correspondence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between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diagram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description</a:t>
            </a:r>
            <a:endParaRPr sz="2400">
              <a:latin typeface="Microsoft Sans Serif"/>
              <a:cs typeface="Microsoft Sans Serif"/>
            </a:endParaRPr>
          </a:p>
          <a:p>
            <a:pPr marL="469900" marR="8890" indent="-457200" algn="just">
              <a:lnSpc>
                <a:spcPct val="100000"/>
              </a:lnSpc>
              <a:spcBef>
                <a:spcPts val="1685"/>
              </a:spcBef>
              <a:buClr>
                <a:srgbClr val="FF000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Actually,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lowest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abstraction</a:t>
            </a:r>
            <a:r>
              <a:rPr sz="2400" spc="3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switch-</a:t>
            </a:r>
            <a:r>
              <a:rPr sz="2400" spc="3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(transistor-)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modeling</a:t>
            </a:r>
            <a:endParaRPr sz="2400">
              <a:latin typeface="Microsoft Sans Serif"/>
              <a:cs typeface="Microsoft Sans Serif"/>
            </a:endParaRPr>
          </a:p>
          <a:p>
            <a:pPr marL="469900" marR="6985" indent="-457200" algn="just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Font typeface="Wingdings"/>
              <a:buChar char=""/>
              <a:tabLst>
                <a:tab pos="469900" algn="l"/>
              </a:tabLst>
            </a:pP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However,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designs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getting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very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complex,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very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few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hardware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designers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work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switch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level.</a:t>
            </a:r>
            <a:r>
              <a:rPr sz="2400" spc="3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So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most</a:t>
            </a:r>
            <a:r>
              <a:rPr sz="24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now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done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higher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abstraction.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54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015886"/>
            <a:ext cx="8073390" cy="51104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MI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80" dirty="0">
                <a:solidFill>
                  <a:srgbClr val="C00000"/>
                </a:solidFill>
                <a:latin typeface="Arial"/>
                <a:cs typeface="Arial"/>
              </a:rPr>
              <a:t>IV</a:t>
            </a:r>
            <a:r>
              <a:rPr sz="2000" b="1" spc="-114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40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355600" marR="6350" indent="-342900" algn="just">
              <a:lnSpc>
                <a:spcPct val="98000"/>
              </a:lnSpc>
              <a:spcBef>
                <a:spcPts val="59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All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circuits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designed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using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basic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gates.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supports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basic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gates</a:t>
            </a:r>
            <a:r>
              <a:rPr sz="2400" spc="1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85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predefined</a:t>
            </a:r>
            <a:r>
              <a:rPr sz="2400" spc="3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500" i="1" spc="-165" dirty="0">
                <a:solidFill>
                  <a:srgbClr val="006FC0"/>
                </a:solidFill>
                <a:latin typeface="Arial"/>
                <a:cs typeface="Arial"/>
              </a:rPr>
              <a:t>primitives.</a:t>
            </a:r>
            <a:r>
              <a:rPr sz="2500" i="1" spc="3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There</a:t>
            </a:r>
            <a:r>
              <a:rPr sz="24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are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8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ses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bas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gates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"/>
            </a:pPr>
            <a:endParaRPr sz="22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3024505" algn="l"/>
              </a:tabLst>
            </a:pPr>
            <a:r>
              <a:rPr sz="2400" dirty="0">
                <a:latin typeface="Microsoft Sans Serif"/>
                <a:cs typeface="Microsoft Sans Serif"/>
              </a:rPr>
              <a:t>M</a:t>
            </a:r>
            <a:r>
              <a:rPr sz="2400" spc="-60" dirty="0">
                <a:latin typeface="Microsoft Sans Serif"/>
                <a:cs typeface="Microsoft Sans Serif"/>
              </a:rPr>
              <a:t>ul</a:t>
            </a:r>
            <a:r>
              <a:rPr sz="2400" spc="-40" dirty="0">
                <a:latin typeface="Microsoft Sans Serif"/>
                <a:cs typeface="Microsoft Sans Serif"/>
              </a:rPr>
              <a:t>t</a:t>
            </a:r>
            <a:r>
              <a:rPr sz="2400" spc="-105" dirty="0">
                <a:latin typeface="Microsoft Sans Serif"/>
                <a:cs typeface="Microsoft Sans Serif"/>
              </a:rPr>
              <a:t>ipl</a:t>
            </a:r>
            <a:r>
              <a:rPr sz="2400" spc="-185" dirty="0">
                <a:latin typeface="Microsoft Sans Serif"/>
                <a:cs typeface="Microsoft Sans Serif"/>
              </a:rPr>
              <a:t>e</a:t>
            </a:r>
            <a:r>
              <a:rPr sz="2400" spc="-140" dirty="0">
                <a:latin typeface="Microsoft Sans Serif"/>
                <a:cs typeface="Microsoft Sans Serif"/>
              </a:rPr>
              <a:t>-</a:t>
            </a:r>
            <a:r>
              <a:rPr sz="2400" spc="-95" dirty="0">
                <a:latin typeface="Microsoft Sans Serif"/>
                <a:cs typeface="Microsoft Sans Serif"/>
              </a:rPr>
              <a:t>input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270" dirty="0">
                <a:latin typeface="Microsoft Sans Serif"/>
                <a:cs typeface="Microsoft Sans Serif"/>
              </a:rPr>
              <a:t>gates</a:t>
            </a:r>
            <a:r>
              <a:rPr sz="2400" spc="-5" dirty="0">
                <a:latin typeface="Microsoft Sans Serif"/>
                <a:cs typeface="Microsoft Sans Serif"/>
              </a:rPr>
              <a:t>: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0" dirty="0">
                <a:latin typeface="Microsoft Sans Serif"/>
                <a:cs typeface="Microsoft Sans Serif"/>
              </a:rPr>
              <a:t>and,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or,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20" dirty="0">
                <a:latin typeface="Microsoft Sans Serif"/>
                <a:cs typeface="Microsoft Sans Serif"/>
              </a:rPr>
              <a:t>nand</a:t>
            </a:r>
            <a:r>
              <a:rPr sz="2400" spc="-110" dirty="0">
                <a:latin typeface="Microsoft Sans Serif"/>
                <a:cs typeface="Microsoft Sans Serif"/>
              </a:rPr>
              <a:t>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no</a:t>
            </a:r>
            <a:r>
              <a:rPr sz="2400" spc="-70" dirty="0">
                <a:latin typeface="Microsoft Sans Serif"/>
                <a:cs typeface="Microsoft Sans Serif"/>
              </a:rPr>
              <a:t>r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xo</a:t>
            </a:r>
            <a:r>
              <a:rPr sz="2400" spc="-70" dirty="0">
                <a:latin typeface="Microsoft Sans Serif"/>
                <a:cs typeface="Microsoft Sans Serif"/>
              </a:rPr>
              <a:t>r</a:t>
            </a:r>
            <a:r>
              <a:rPr sz="2400" spc="-140" dirty="0">
                <a:latin typeface="Microsoft Sans Serif"/>
                <a:cs typeface="Microsoft Sans Serif"/>
              </a:rPr>
              <a:t>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65" dirty="0">
                <a:latin typeface="Microsoft Sans Serif"/>
                <a:cs typeface="Microsoft Sans Serif"/>
              </a:rPr>
              <a:t>x</a:t>
            </a:r>
            <a:r>
              <a:rPr sz="2400" spc="-175" dirty="0">
                <a:latin typeface="Microsoft Sans Serif"/>
                <a:cs typeface="Microsoft Sans Serif"/>
              </a:rPr>
              <a:t>n</a:t>
            </a:r>
            <a:r>
              <a:rPr sz="2400" spc="-70" dirty="0">
                <a:latin typeface="Microsoft Sans Serif"/>
                <a:cs typeface="Microsoft Sans Serif"/>
              </a:rPr>
              <a:t>or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90" dirty="0">
                <a:latin typeface="Microsoft Sans Serif"/>
                <a:cs typeface="Microsoft Sans Serif"/>
              </a:rPr>
              <a:t>Multiple-output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225" dirty="0">
                <a:latin typeface="Microsoft Sans Serif"/>
                <a:cs typeface="Microsoft Sans Serif"/>
              </a:rPr>
              <a:t>gates: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buffer,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90" dirty="0">
                <a:latin typeface="Microsoft Sans Serif"/>
                <a:cs typeface="Microsoft Sans Serif"/>
              </a:rPr>
              <a:t>not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3077845" algn="l"/>
              </a:tabLst>
            </a:pPr>
            <a:r>
              <a:rPr sz="2400" spc="-140" dirty="0">
                <a:latin typeface="Microsoft Sans Serif"/>
                <a:cs typeface="Microsoft Sans Serif"/>
              </a:rPr>
              <a:t>Tristate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225" dirty="0">
                <a:latin typeface="Microsoft Sans Serif"/>
                <a:cs typeface="Microsoft Sans Serif"/>
              </a:rPr>
              <a:t>gates:	</a:t>
            </a:r>
            <a:r>
              <a:rPr sz="2400" spc="-120" dirty="0">
                <a:latin typeface="Microsoft Sans Serif"/>
                <a:cs typeface="Microsoft Sans Serif"/>
              </a:rPr>
              <a:t>bufif0,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bufif1,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notif0,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notif1</a:t>
            </a:r>
            <a:endParaRPr sz="2400">
              <a:latin typeface="Microsoft Sans Serif"/>
              <a:cs typeface="Microsoft Sans Serif"/>
            </a:endParaRPr>
          </a:p>
          <a:p>
            <a:pPr marL="355600" marR="5080" indent="-342900" algn="just">
              <a:lnSpc>
                <a:spcPts val="2880"/>
              </a:lnSpc>
              <a:spcBef>
                <a:spcPts val="2400"/>
              </a:spcBef>
              <a:buClr>
                <a:srgbClr val="FF0000"/>
              </a:buClr>
              <a:buSzPct val="96000"/>
              <a:buFont typeface="Wingdings"/>
              <a:buChar char=""/>
              <a:tabLst>
                <a:tab pos="355600" algn="l"/>
              </a:tabLst>
            </a:pPr>
            <a:r>
              <a:rPr sz="2500" i="1" spc="-325" dirty="0">
                <a:solidFill>
                  <a:srgbClr val="006FC0"/>
                </a:solidFill>
                <a:latin typeface="Arial"/>
                <a:cs typeface="Arial"/>
              </a:rPr>
              <a:t>These</a:t>
            </a:r>
            <a:r>
              <a:rPr sz="2500" i="1" spc="-3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500" i="1" spc="-165" dirty="0">
                <a:solidFill>
                  <a:srgbClr val="006FC0"/>
                </a:solidFill>
                <a:latin typeface="Arial"/>
                <a:cs typeface="Arial"/>
              </a:rPr>
              <a:t>primitives</a:t>
            </a:r>
            <a:r>
              <a:rPr sz="2500" i="1" spc="-16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500" i="1" spc="-260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r>
              <a:rPr sz="2500" i="1" spc="-25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500" i="1" spc="-190" dirty="0">
                <a:solidFill>
                  <a:srgbClr val="006FC0"/>
                </a:solidFill>
                <a:latin typeface="Arial"/>
                <a:cs typeface="Arial"/>
              </a:rPr>
              <a:t>instantiated</a:t>
            </a:r>
            <a:r>
              <a:rPr sz="2500" i="1" spc="3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500" i="1" spc="-160" dirty="0">
                <a:solidFill>
                  <a:srgbClr val="006FC0"/>
                </a:solidFill>
                <a:latin typeface="Arial"/>
                <a:cs typeface="Arial"/>
              </a:rPr>
              <a:t>like</a:t>
            </a:r>
            <a:r>
              <a:rPr sz="2500" i="1" spc="3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500" i="1" spc="-254" dirty="0">
                <a:solidFill>
                  <a:srgbClr val="006FC0"/>
                </a:solidFill>
                <a:latin typeface="Arial"/>
                <a:cs typeface="Arial"/>
              </a:rPr>
              <a:t>modules</a:t>
            </a:r>
            <a:r>
              <a:rPr sz="2500" i="1" spc="18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except</a:t>
            </a:r>
            <a:r>
              <a:rPr sz="2400" spc="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400" spc="4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they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predefined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need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definition.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"/>
            </a:pPr>
            <a:endParaRPr sz="1900">
              <a:latin typeface="Microsoft Sans Serif"/>
              <a:cs typeface="Microsoft Sans Serif"/>
            </a:endParaRPr>
          </a:p>
          <a:p>
            <a:pPr marL="355600" marR="6350" indent="-342900" algn="just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gates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be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200" spc="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using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gate</a:t>
            </a:r>
            <a:r>
              <a:rPr sz="22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instantiation.</a:t>
            </a:r>
            <a:r>
              <a:rPr sz="2200" spc="3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105" dirty="0">
                <a:solidFill>
                  <a:srgbClr val="006FC0"/>
                </a:solidFill>
                <a:latin typeface="Microsoft Sans Serif"/>
                <a:cs typeface="Microsoft Sans Serif"/>
              </a:rPr>
              <a:t>A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simple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2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rma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2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insta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tiati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is,</a:t>
            </a:r>
            <a:endParaRPr sz="22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32916" y="6050279"/>
            <a:ext cx="6201410" cy="561340"/>
            <a:chOff x="1232916" y="6050279"/>
            <a:chExt cx="6201410" cy="56134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4064" y="6068567"/>
              <a:ext cx="6160008" cy="4587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2916" y="6050279"/>
              <a:ext cx="5945124" cy="5608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1308" y="6095999"/>
              <a:ext cx="6070092" cy="36880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321308" y="6096000"/>
            <a:ext cx="6070600" cy="36893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5"/>
              </a:spcBef>
            </a:pPr>
            <a:r>
              <a:rPr sz="1800" spc="-235" dirty="0">
                <a:latin typeface="Microsoft Sans Serif"/>
                <a:cs typeface="Microsoft Sans Serif"/>
              </a:rPr>
              <a:t>G</a:t>
            </a:r>
            <a:r>
              <a:rPr sz="1800" spc="-175" dirty="0">
                <a:latin typeface="Microsoft Sans Serif"/>
                <a:cs typeface="Microsoft Sans Serif"/>
              </a:rPr>
              <a:t>a</a:t>
            </a:r>
            <a:r>
              <a:rPr sz="1800" spc="-90" dirty="0">
                <a:latin typeface="Microsoft Sans Serif"/>
                <a:cs typeface="Microsoft Sans Serif"/>
              </a:rPr>
              <a:t>te</a:t>
            </a:r>
            <a:r>
              <a:rPr sz="1800" spc="-110" dirty="0">
                <a:latin typeface="Microsoft Sans Serif"/>
                <a:cs typeface="Microsoft Sans Serif"/>
              </a:rPr>
              <a:t>_</a:t>
            </a:r>
            <a:r>
              <a:rPr sz="1800" spc="-25" dirty="0">
                <a:latin typeface="Microsoft Sans Serif"/>
                <a:cs typeface="Microsoft Sans Serif"/>
              </a:rPr>
              <a:t>t</a:t>
            </a:r>
            <a:r>
              <a:rPr sz="1800" spc="-35" dirty="0">
                <a:latin typeface="Microsoft Sans Serif"/>
                <a:cs typeface="Microsoft Sans Serif"/>
              </a:rPr>
              <a:t>y</a:t>
            </a:r>
            <a:r>
              <a:rPr sz="1800" spc="-165" dirty="0">
                <a:latin typeface="Microsoft Sans Serif"/>
                <a:cs typeface="Microsoft Sans Serif"/>
              </a:rPr>
              <a:t>pe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[i</a:t>
            </a:r>
            <a:r>
              <a:rPr sz="1800" spc="-105" dirty="0">
                <a:latin typeface="Microsoft Sans Serif"/>
                <a:cs typeface="Microsoft Sans Serif"/>
              </a:rPr>
              <a:t>n</a:t>
            </a: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155" dirty="0">
                <a:latin typeface="Microsoft Sans Serif"/>
                <a:cs typeface="Microsoft Sans Serif"/>
              </a:rPr>
              <a:t>e_</a:t>
            </a:r>
            <a:r>
              <a:rPr sz="1800" spc="-140" dirty="0">
                <a:latin typeface="Microsoft Sans Serif"/>
                <a:cs typeface="Microsoft Sans Serif"/>
              </a:rPr>
              <a:t>n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90" dirty="0">
                <a:latin typeface="Microsoft Sans Serif"/>
                <a:cs typeface="Microsoft Sans Serif"/>
              </a:rPr>
              <a:t>e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(term1</a:t>
            </a:r>
            <a:r>
              <a:rPr sz="1800" spc="-75" dirty="0">
                <a:latin typeface="Microsoft Sans Serif"/>
                <a:cs typeface="Microsoft Sans Serif"/>
              </a:rPr>
              <a:t>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70" dirty="0">
                <a:latin typeface="Microsoft Sans Serif"/>
                <a:cs typeface="Microsoft Sans Serif"/>
              </a:rPr>
              <a:t>ter</a:t>
            </a:r>
            <a:r>
              <a:rPr sz="1800" spc="-140" dirty="0">
                <a:latin typeface="Microsoft Sans Serif"/>
                <a:cs typeface="Microsoft Sans Serif"/>
              </a:rPr>
              <a:t>m</a:t>
            </a:r>
            <a:r>
              <a:rPr sz="1800" spc="450" dirty="0">
                <a:latin typeface="Microsoft Sans Serif"/>
                <a:cs typeface="Microsoft Sans Serif"/>
              </a:rPr>
              <a:t>2,……………</a:t>
            </a:r>
            <a:r>
              <a:rPr sz="1800" spc="229" dirty="0">
                <a:latin typeface="Microsoft Sans Serif"/>
                <a:cs typeface="Microsoft Sans Serif"/>
              </a:rPr>
              <a:t>.</a:t>
            </a:r>
            <a:r>
              <a:rPr sz="1800" spc="-75" dirty="0">
                <a:latin typeface="Microsoft Sans Serif"/>
                <a:cs typeface="Microsoft Sans Serif"/>
              </a:rPr>
              <a:t>.ter</a:t>
            </a:r>
            <a:r>
              <a:rPr sz="1800" spc="-160" dirty="0">
                <a:latin typeface="Microsoft Sans Serif"/>
                <a:cs typeface="Microsoft Sans Serif"/>
              </a:rPr>
              <a:t>m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80" dirty="0">
                <a:latin typeface="Microsoft Sans Serif"/>
                <a:cs typeface="Microsoft Sans Serif"/>
              </a:rPr>
              <a:t>);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55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066800" y="2590800"/>
            <a:ext cx="8082280" cy="4267200"/>
            <a:chOff x="1066800" y="2590800"/>
            <a:chExt cx="8082280" cy="42672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6800" y="2590800"/>
              <a:ext cx="3080004" cy="1676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6800" y="4953000"/>
              <a:ext cx="3048000" cy="16002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813175" y="1724076"/>
            <a:ext cx="3545204" cy="48856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2412365" algn="r">
              <a:lnSpc>
                <a:spcPct val="100000"/>
              </a:lnSpc>
              <a:spcBef>
                <a:spcPts val="395"/>
              </a:spcBef>
            </a:pP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-16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231900">
              <a:lnSpc>
                <a:spcPct val="100000"/>
              </a:lnSpc>
              <a:spcBef>
                <a:spcPts val="259"/>
              </a:spcBef>
              <a:tabLst>
                <a:tab pos="2858135" algn="l"/>
              </a:tabLst>
            </a:pPr>
            <a:r>
              <a:rPr sz="1600" b="1" spc="13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600" b="1" spc="12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150" dirty="0">
                <a:solidFill>
                  <a:srgbClr val="0000FF"/>
                </a:solidFill>
                <a:latin typeface="Arial"/>
                <a:cs typeface="Arial"/>
              </a:rPr>
              <a:t>le</a:t>
            </a:r>
            <a:r>
              <a:rPr sz="16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22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21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600" b="1" spc="-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600" b="1" spc="-27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600" b="1" spc="-17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1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 marL="1460500" marR="104775" indent="-229235">
              <a:lnSpc>
                <a:spcPct val="120000"/>
              </a:lnSpc>
            </a:pPr>
            <a:r>
              <a:rPr sz="1600" b="1" spc="-21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17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150" dirty="0">
                <a:solidFill>
                  <a:srgbClr val="0000FF"/>
                </a:solidFill>
                <a:latin typeface="Arial"/>
                <a:cs typeface="Arial"/>
              </a:rPr>
              <a:t>le</a:t>
            </a:r>
            <a:r>
              <a:rPr sz="16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600" b="1" spc="-27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1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15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600" b="1" spc="-140" dirty="0">
                <a:solidFill>
                  <a:srgbClr val="0000FF"/>
                </a:solidFill>
                <a:latin typeface="Arial"/>
                <a:cs typeface="Arial"/>
              </a:rPr>
              <a:t>i1,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2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6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1600" b="1" spc="-85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600">
              <a:latin typeface="Arial"/>
              <a:cs typeface="Arial"/>
            </a:endParaRPr>
          </a:p>
          <a:p>
            <a:pPr marL="1460500" marR="850900">
              <a:lnSpc>
                <a:spcPct val="120000"/>
              </a:lnSpc>
            </a:pP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600" b="1" spc="-85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6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600" b="1" spc="-17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85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8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3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600" b="1" spc="-1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1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6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i2</a:t>
            </a:r>
            <a:r>
              <a:rPr sz="1600" b="1" spc="-13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600">
              <a:latin typeface="Arial"/>
              <a:cs typeface="Arial"/>
            </a:endParaRPr>
          </a:p>
          <a:p>
            <a:pPr marL="1231900">
              <a:lnSpc>
                <a:spcPct val="100000"/>
              </a:lnSpc>
              <a:spcBef>
                <a:spcPts val="385"/>
              </a:spcBef>
            </a:pPr>
            <a:r>
              <a:rPr sz="1600" b="1" spc="-185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Arial"/>
              <a:cs typeface="Arial"/>
            </a:endParaRPr>
          </a:p>
          <a:p>
            <a:pPr marR="2426335" algn="r">
              <a:lnSpc>
                <a:spcPct val="100000"/>
              </a:lnSpc>
            </a:pP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28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170"/>
              </a:spcBef>
              <a:tabLst>
                <a:tab pos="2931160" algn="l"/>
              </a:tabLst>
            </a:pPr>
            <a:r>
              <a:rPr sz="1600" b="1" spc="13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4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6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4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Orgate</a:t>
            </a:r>
            <a:endParaRPr sz="160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380"/>
              </a:spcBef>
            </a:pPr>
            <a:r>
              <a:rPr sz="1600" b="1" spc="-22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18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150" dirty="0">
                <a:solidFill>
                  <a:srgbClr val="0000FF"/>
                </a:solidFill>
                <a:latin typeface="Arial"/>
                <a:cs typeface="Arial"/>
              </a:rPr>
              <a:t>le</a:t>
            </a:r>
            <a:r>
              <a:rPr sz="16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600" b="1" spc="-27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600" b="1" spc="-140" dirty="0">
                <a:solidFill>
                  <a:srgbClr val="0000FF"/>
                </a:solidFill>
                <a:latin typeface="Arial"/>
                <a:cs typeface="Arial"/>
              </a:rPr>
              <a:t>i1,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6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13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600">
              <a:latin typeface="Arial"/>
              <a:cs typeface="Arial"/>
            </a:endParaRPr>
          </a:p>
          <a:p>
            <a:pPr marL="1536700">
              <a:lnSpc>
                <a:spcPct val="100000"/>
              </a:lnSpc>
              <a:spcBef>
                <a:spcPts val="385"/>
              </a:spcBef>
            </a:pP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600" b="1" spc="-20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600">
              <a:latin typeface="Arial"/>
              <a:cs typeface="Arial"/>
            </a:endParaRPr>
          </a:p>
          <a:p>
            <a:pPr marL="1536700" marR="1060450">
              <a:lnSpc>
                <a:spcPct val="120000"/>
              </a:lnSpc>
              <a:spcBef>
                <a:spcPts val="5"/>
              </a:spcBef>
            </a:pP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600" b="1" spc="-22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600" b="1" spc="-85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600" b="1" spc="-17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9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6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600" b="1" spc="-20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600" b="1" spc="-4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600" b="1" spc="-85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600" b="1" spc="-140" dirty="0">
                <a:solidFill>
                  <a:srgbClr val="0000FF"/>
                </a:solidFill>
                <a:latin typeface="Arial"/>
                <a:cs typeface="Arial"/>
              </a:rPr>
              <a:t>or(out,i1,i2);</a:t>
            </a:r>
            <a:endParaRPr sz="160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384"/>
              </a:spcBef>
            </a:pPr>
            <a:r>
              <a:rPr sz="1600" b="1" spc="-185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1375" y="1060691"/>
            <a:ext cx="8464550" cy="835660"/>
            <a:chOff x="341375" y="1060691"/>
            <a:chExt cx="8464550" cy="83566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523" y="1078991"/>
              <a:ext cx="8423148" cy="7360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1375" y="1060691"/>
              <a:ext cx="7496556" cy="8351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9767" y="1106423"/>
              <a:ext cx="8333232" cy="6461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29768" y="1106424"/>
            <a:ext cx="8333740" cy="64643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65"/>
              </a:spcBef>
            </a:pPr>
            <a:r>
              <a:rPr sz="1800" spc="-280" dirty="0">
                <a:latin typeface="Microsoft Sans Serif"/>
                <a:cs typeface="Microsoft Sans Serif"/>
              </a:rPr>
              <a:t>B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240" dirty="0">
                <a:latin typeface="Microsoft Sans Serif"/>
                <a:cs typeface="Microsoft Sans Serif"/>
              </a:rPr>
              <a:t>s</a:t>
            </a:r>
            <a:r>
              <a:rPr sz="1800" spc="-105" dirty="0">
                <a:latin typeface="Microsoft Sans Serif"/>
                <a:cs typeface="Microsoft Sans Serif"/>
              </a:rPr>
              <a:t>i</a:t>
            </a:r>
            <a:r>
              <a:rPr sz="1800" spc="-150" dirty="0">
                <a:latin typeface="Microsoft Sans Serif"/>
                <a:cs typeface="Microsoft Sans Serif"/>
              </a:rPr>
              <a:t>c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110" dirty="0">
                <a:latin typeface="Microsoft Sans Serif"/>
                <a:cs typeface="Microsoft Sans Serif"/>
              </a:rPr>
              <a:t>yn</a:t>
            </a:r>
            <a:r>
              <a:rPr sz="1800" spc="-75" dirty="0">
                <a:latin typeface="Microsoft Sans Serif"/>
                <a:cs typeface="Microsoft Sans Serif"/>
              </a:rPr>
              <a:t>t</a:t>
            </a:r>
            <a:r>
              <a:rPr sz="1800" spc="-150" dirty="0">
                <a:latin typeface="Microsoft Sans Serif"/>
                <a:cs typeface="Microsoft Sans Serif"/>
              </a:rPr>
              <a:t>a</a:t>
            </a:r>
            <a:r>
              <a:rPr sz="1800" spc="-120" dirty="0">
                <a:latin typeface="Microsoft Sans Serif"/>
                <a:cs typeface="Microsoft Sans Serif"/>
              </a:rPr>
              <a:t>x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</a:t>
            </a:r>
            <a:r>
              <a:rPr sz="1800" spc="-50" dirty="0">
                <a:latin typeface="Microsoft Sans Serif"/>
                <a:cs typeface="Microsoft Sans Serif"/>
              </a:rPr>
              <a:t>or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m</a:t>
            </a:r>
            <a:r>
              <a:rPr sz="1800" spc="-130" dirty="0">
                <a:latin typeface="Microsoft Sans Serif"/>
                <a:cs typeface="Microsoft Sans Serif"/>
              </a:rPr>
              <a:t>u</a:t>
            </a:r>
            <a:r>
              <a:rPr sz="1800" dirty="0">
                <a:latin typeface="Microsoft Sans Serif"/>
                <a:cs typeface="Microsoft Sans Serif"/>
              </a:rPr>
              <a:t>lt</a:t>
            </a:r>
            <a:r>
              <a:rPr sz="1800" spc="5" dirty="0">
                <a:latin typeface="Microsoft Sans Serif"/>
                <a:cs typeface="Microsoft Sans Serif"/>
              </a:rPr>
              <a:t>i</a:t>
            </a:r>
            <a:r>
              <a:rPr sz="1800" spc="-100" dirty="0">
                <a:latin typeface="Microsoft Sans Serif"/>
                <a:cs typeface="Microsoft Sans Serif"/>
              </a:rPr>
              <a:t>pl</a:t>
            </a:r>
            <a:r>
              <a:rPr sz="1800" spc="-130" dirty="0">
                <a:latin typeface="Microsoft Sans Serif"/>
                <a:cs typeface="Microsoft Sans Serif"/>
              </a:rPr>
              <a:t>e</a:t>
            </a:r>
            <a:r>
              <a:rPr sz="1800" spc="-100" dirty="0">
                <a:latin typeface="Microsoft Sans Serif"/>
                <a:cs typeface="Microsoft Sans Serif"/>
              </a:rPr>
              <a:t>-</a:t>
            </a:r>
            <a:r>
              <a:rPr sz="1800" spc="-30" dirty="0">
                <a:latin typeface="Microsoft Sans Serif"/>
                <a:cs typeface="Microsoft Sans Serif"/>
              </a:rPr>
              <a:t>i</a:t>
            </a:r>
            <a:r>
              <a:rPr sz="1800" spc="-130" dirty="0">
                <a:latin typeface="Microsoft Sans Serif"/>
                <a:cs typeface="Microsoft Sans Serif"/>
              </a:rPr>
              <a:t>n</a:t>
            </a:r>
            <a:r>
              <a:rPr sz="1800" spc="-65" dirty="0">
                <a:latin typeface="Microsoft Sans Serif"/>
                <a:cs typeface="Microsoft Sans Serif"/>
              </a:rPr>
              <a:t>put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45" dirty="0">
                <a:latin typeface="Microsoft Sans Serif"/>
                <a:cs typeface="Microsoft Sans Serif"/>
              </a:rPr>
              <a:t>g</a:t>
            </a:r>
            <a:r>
              <a:rPr sz="1800" spc="-250" dirty="0">
                <a:latin typeface="Microsoft Sans Serif"/>
                <a:cs typeface="Microsoft Sans Serif"/>
              </a:rPr>
              <a:t>a</a:t>
            </a:r>
            <a:r>
              <a:rPr sz="1800" spc="-165" dirty="0">
                <a:latin typeface="Microsoft Sans Serif"/>
                <a:cs typeface="Microsoft Sans Serif"/>
              </a:rPr>
              <a:t>te</a:t>
            </a:r>
            <a:r>
              <a:rPr sz="1800" spc="-195" dirty="0">
                <a:latin typeface="Microsoft Sans Serif"/>
                <a:cs typeface="Microsoft Sans Serif"/>
              </a:rPr>
              <a:t>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75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80" dirty="0">
                <a:latin typeface="Microsoft Sans Serif"/>
                <a:cs typeface="Microsoft Sans Serif"/>
              </a:rPr>
              <a:t>M</a:t>
            </a:r>
            <a:r>
              <a:rPr sz="1800" spc="-50" dirty="0">
                <a:latin typeface="Microsoft Sans Serif"/>
                <a:cs typeface="Microsoft Sans Serif"/>
              </a:rPr>
              <a:t>u</a:t>
            </a:r>
            <a:r>
              <a:rPr sz="1800" spc="-25" dirty="0">
                <a:latin typeface="Microsoft Sans Serif"/>
                <a:cs typeface="Microsoft Sans Serif"/>
              </a:rPr>
              <a:t>lti</a:t>
            </a:r>
            <a:r>
              <a:rPr sz="1800" spc="-45" dirty="0">
                <a:latin typeface="Microsoft Sans Serif"/>
                <a:cs typeface="Microsoft Sans Serif"/>
              </a:rPr>
              <a:t>p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120" dirty="0">
                <a:latin typeface="Microsoft Sans Serif"/>
                <a:cs typeface="Microsoft Sans Serif"/>
              </a:rPr>
              <a:t>e_inpu</a:t>
            </a:r>
            <a:r>
              <a:rPr sz="1800" spc="-90" dirty="0">
                <a:latin typeface="Microsoft Sans Serif"/>
                <a:cs typeface="Microsoft Sans Serif"/>
              </a:rPr>
              <a:t>t_Gate_t</a:t>
            </a:r>
            <a:r>
              <a:rPr sz="1800" spc="-85" dirty="0">
                <a:latin typeface="Microsoft Sans Serif"/>
                <a:cs typeface="Microsoft Sans Serif"/>
              </a:rPr>
              <a:t>y</a:t>
            </a:r>
            <a:r>
              <a:rPr sz="1800" spc="-165" dirty="0">
                <a:latin typeface="Microsoft Sans Serif"/>
                <a:cs typeface="Microsoft Sans Serif"/>
              </a:rPr>
              <a:t>pe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[i</a:t>
            </a:r>
            <a:r>
              <a:rPr sz="1800" spc="-105" dirty="0">
                <a:latin typeface="Microsoft Sans Serif"/>
                <a:cs typeface="Microsoft Sans Serif"/>
              </a:rPr>
              <a:t>n</a:t>
            </a: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155" dirty="0">
                <a:latin typeface="Microsoft Sans Serif"/>
                <a:cs typeface="Microsoft Sans Serif"/>
              </a:rPr>
              <a:t>e_</a:t>
            </a:r>
            <a:r>
              <a:rPr sz="1800" spc="-140" dirty="0">
                <a:latin typeface="Microsoft Sans Serif"/>
                <a:cs typeface="Microsoft Sans Serif"/>
              </a:rPr>
              <a:t>n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90" dirty="0">
                <a:latin typeface="Microsoft Sans Serif"/>
                <a:cs typeface="Microsoft Sans Serif"/>
              </a:rPr>
              <a:t>e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(outp</a:t>
            </a:r>
            <a:r>
              <a:rPr sz="1800" spc="-110" dirty="0">
                <a:latin typeface="Microsoft Sans Serif"/>
                <a:cs typeface="Microsoft Sans Serif"/>
              </a:rPr>
              <a:t>u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35" dirty="0">
                <a:latin typeface="Microsoft Sans Serif"/>
                <a:cs typeface="Microsoft Sans Serif"/>
              </a:rPr>
              <a:t>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i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20" dirty="0">
                <a:latin typeface="Microsoft Sans Serif"/>
                <a:cs typeface="Microsoft Sans Serif"/>
              </a:rPr>
              <a:t>p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-125" dirty="0">
                <a:latin typeface="Microsoft Sans Serif"/>
                <a:cs typeface="Microsoft Sans Serif"/>
              </a:rPr>
              <a:t>t1</a:t>
            </a:r>
            <a:r>
              <a:rPr sz="1800" spc="-80" dirty="0">
                <a:latin typeface="Microsoft Sans Serif"/>
                <a:cs typeface="Microsoft Sans Serif"/>
              </a:rPr>
              <a:t>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20" dirty="0">
                <a:latin typeface="Microsoft Sans Serif"/>
                <a:cs typeface="Microsoft Sans Serif"/>
              </a:rPr>
              <a:t>p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195" dirty="0">
                <a:latin typeface="Microsoft Sans Serif"/>
                <a:cs typeface="Microsoft Sans Serif"/>
              </a:rPr>
              <a:t>t2,……</a:t>
            </a:r>
            <a:r>
              <a:rPr sz="1800" spc="114" dirty="0">
                <a:latin typeface="Microsoft Sans Serif"/>
                <a:cs typeface="Microsoft Sans Serif"/>
              </a:rPr>
              <a:t>.</a:t>
            </a:r>
            <a:r>
              <a:rPr sz="1800" spc="-70" dirty="0">
                <a:latin typeface="Microsoft Sans Serif"/>
                <a:cs typeface="Microsoft Sans Serif"/>
              </a:rPr>
              <a:t>.i</a:t>
            </a:r>
            <a:r>
              <a:rPr sz="1800" spc="-130" dirty="0">
                <a:latin typeface="Microsoft Sans Serif"/>
                <a:cs typeface="Microsoft Sans Serif"/>
              </a:rPr>
              <a:t>n</a:t>
            </a:r>
            <a:r>
              <a:rPr sz="1800" spc="-120" dirty="0">
                <a:latin typeface="Microsoft Sans Serif"/>
                <a:cs typeface="Microsoft Sans Serif"/>
              </a:rPr>
              <a:t>p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-40" dirty="0">
                <a:latin typeface="Microsoft Sans Serif"/>
                <a:cs typeface="Microsoft Sans Serif"/>
              </a:rPr>
              <a:t>t</a:t>
            </a:r>
            <a:r>
              <a:rPr sz="1800" spc="-65" dirty="0">
                <a:latin typeface="Microsoft Sans Serif"/>
                <a:cs typeface="Microsoft Sans Serif"/>
              </a:rPr>
              <a:t>n</a:t>
            </a:r>
            <a:r>
              <a:rPr sz="1800" spc="-80" dirty="0">
                <a:latin typeface="Microsoft Sans Serif"/>
                <a:cs typeface="Microsoft Sans Serif"/>
              </a:rPr>
              <a:t>);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56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914400" y="1752600"/>
            <a:ext cx="8234680" cy="5105400"/>
            <a:chOff x="914400" y="1752600"/>
            <a:chExt cx="8234680" cy="51054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6924" y="1752600"/>
              <a:ext cx="2894076" cy="1905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4400" y="4622292"/>
              <a:ext cx="3429000" cy="180593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660775" y="919734"/>
            <a:ext cx="3613785" cy="565912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NAND</a:t>
            </a:r>
            <a:r>
              <a:rPr sz="18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GATE</a:t>
            </a:r>
            <a:endParaRPr sz="1800">
              <a:latin typeface="Arial"/>
              <a:cs typeface="Arial"/>
            </a:endParaRPr>
          </a:p>
          <a:p>
            <a:pPr marL="927100" marR="5080">
              <a:lnSpc>
                <a:spcPct val="120000"/>
              </a:lnSpc>
              <a:spcBef>
                <a:spcPts val="405"/>
              </a:spcBef>
              <a:tabLst>
                <a:tab pos="2747645" algn="l"/>
              </a:tabLst>
            </a:pPr>
            <a:r>
              <a:rPr sz="1800" b="1" spc="15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14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6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7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at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e  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60" dirty="0">
                <a:solidFill>
                  <a:srgbClr val="0000FF"/>
                </a:solidFill>
                <a:latin typeface="Arial"/>
                <a:cs typeface="Arial"/>
              </a:rPr>
              <a:t>dga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135" dirty="0">
                <a:solidFill>
                  <a:srgbClr val="0000FF"/>
                </a:solidFill>
                <a:latin typeface="Arial"/>
                <a:cs typeface="Arial"/>
              </a:rPr>
              <a:t>(i</a:t>
            </a:r>
            <a:r>
              <a:rPr sz="1800" b="1" spc="-24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183005" marR="1414145">
              <a:lnSpc>
                <a:spcPct val="120000"/>
              </a:lnSpc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t;</a:t>
            </a:r>
            <a:endParaRPr sz="1800">
              <a:latin typeface="Arial"/>
              <a:cs typeface="Arial"/>
            </a:endParaRPr>
          </a:p>
          <a:p>
            <a:pPr marL="927100" marR="1127125" indent="255904">
              <a:lnSpc>
                <a:spcPct val="120000"/>
              </a:lnSpc>
            </a:pPr>
            <a:r>
              <a:rPr sz="1800" b="1" spc="-175" dirty="0">
                <a:solidFill>
                  <a:srgbClr val="0000FF"/>
                </a:solidFill>
                <a:latin typeface="Arial"/>
                <a:cs typeface="Arial"/>
              </a:rPr>
              <a:t>nand(out,i1,i2); </a:t>
            </a:r>
            <a:r>
              <a:rPr sz="1800" b="1" spc="-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28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003300" marR="60325">
              <a:lnSpc>
                <a:spcPct val="120000"/>
              </a:lnSpc>
              <a:spcBef>
                <a:spcPts val="315"/>
              </a:spcBef>
              <a:tabLst>
                <a:tab pos="2823845" algn="l"/>
              </a:tabLst>
            </a:pPr>
            <a:r>
              <a:rPr sz="1800" b="1" spc="15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14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rg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te  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800" b="1" spc="-30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800" b="1" spc="-28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te(i1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259205">
              <a:lnSpc>
                <a:spcPct val="100000"/>
              </a:lnSpc>
              <a:spcBef>
                <a:spcPts val="430"/>
              </a:spcBef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259205">
              <a:lnSpc>
                <a:spcPct val="100000"/>
              </a:lnSpc>
              <a:spcBef>
                <a:spcPts val="434"/>
              </a:spcBef>
            </a:pP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put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320165" marR="1116330" indent="-60960">
              <a:lnSpc>
                <a:spcPct val="120000"/>
              </a:lnSpc>
            </a:pP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nor(out,i1,i2);</a:t>
            </a:r>
            <a:endParaRPr sz="1800">
              <a:latin typeface="Arial"/>
              <a:cs typeface="Arial"/>
            </a:endParaRPr>
          </a:p>
          <a:p>
            <a:pPr marL="1003300">
              <a:lnSpc>
                <a:spcPct val="100000"/>
              </a:lnSpc>
              <a:spcBef>
                <a:spcPts val="434"/>
              </a:spcBef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57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066800" y="1905000"/>
            <a:ext cx="8082280" cy="4953000"/>
            <a:chOff x="1066800" y="1905000"/>
            <a:chExt cx="8082280" cy="49530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6800" y="1905000"/>
              <a:ext cx="3429000" cy="1676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3000" y="4724400"/>
              <a:ext cx="3153155" cy="166725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279775" y="1075690"/>
            <a:ext cx="3871595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28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220470">
              <a:lnSpc>
                <a:spcPct val="100000"/>
              </a:lnSpc>
              <a:spcBef>
                <a:spcPts val="1440"/>
              </a:spcBef>
              <a:tabLst>
                <a:tab pos="3043555" algn="l"/>
              </a:tabLst>
            </a:pPr>
            <a:r>
              <a:rPr sz="1800" b="1" spc="15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Xorgate</a:t>
            </a:r>
            <a:endParaRPr sz="1800">
              <a:latin typeface="Arial"/>
              <a:cs typeface="Arial"/>
            </a:endParaRPr>
          </a:p>
          <a:p>
            <a:pPr marL="1220470">
              <a:lnSpc>
                <a:spcPct val="100000"/>
              </a:lnSpc>
              <a:spcBef>
                <a:spcPts val="430"/>
              </a:spcBef>
            </a:pP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0" dirty="0">
                <a:solidFill>
                  <a:srgbClr val="0000FF"/>
                </a:solidFill>
                <a:latin typeface="Arial"/>
                <a:cs typeface="Arial"/>
              </a:rPr>
              <a:t>du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orgate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(i1,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476375" marR="1235075">
              <a:lnSpc>
                <a:spcPct val="120000"/>
              </a:lnSpc>
              <a:spcBef>
                <a:spcPts val="5"/>
              </a:spcBef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or(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7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,i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220470">
              <a:lnSpc>
                <a:spcPct val="100000"/>
              </a:lnSpc>
              <a:spcBef>
                <a:spcPts val="430"/>
              </a:spcBef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b="1" spc="-8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28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231900" marR="5080">
              <a:lnSpc>
                <a:spcPct val="120000"/>
              </a:lnSpc>
              <a:spcBef>
                <a:spcPts val="409"/>
              </a:spcBef>
              <a:tabLst>
                <a:tab pos="3052445" algn="l"/>
              </a:tabLst>
            </a:pPr>
            <a:r>
              <a:rPr sz="1800" b="1" spc="15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14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20" dirty="0">
                <a:solidFill>
                  <a:srgbClr val="0000FF"/>
                </a:solidFill>
                <a:latin typeface="Arial"/>
                <a:cs typeface="Arial"/>
              </a:rPr>
              <a:t>org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te  </a:t>
            </a:r>
            <a:r>
              <a:rPr sz="1800" b="1" spc="-20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Xnorgate(i1,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i2,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out);</a:t>
            </a:r>
            <a:endParaRPr sz="1800">
              <a:latin typeface="Arial"/>
              <a:cs typeface="Arial"/>
            </a:endParaRPr>
          </a:p>
          <a:p>
            <a:pPr marL="1487805">
              <a:lnSpc>
                <a:spcPct val="100000"/>
              </a:lnSpc>
              <a:spcBef>
                <a:spcPts val="430"/>
              </a:spcBef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487805" marR="1111885">
              <a:lnSpc>
                <a:spcPct val="120000"/>
              </a:lnSpc>
              <a:spcBef>
                <a:spcPts val="5"/>
              </a:spcBef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70" dirty="0">
                <a:solidFill>
                  <a:srgbClr val="0000FF"/>
                </a:solidFill>
                <a:latin typeface="Arial"/>
                <a:cs typeface="Arial"/>
              </a:rPr>
              <a:t>or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7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,i1,i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6234" y="6310693"/>
            <a:ext cx="2504440" cy="513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5060">
              <a:lnSpc>
                <a:spcPts val="1800"/>
              </a:lnSpc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000" b="1" spc="55" dirty="0">
                <a:solidFill>
                  <a:srgbClr val="C00000"/>
                </a:solidFill>
                <a:latin typeface="Cambria"/>
                <a:cs typeface="Cambria"/>
              </a:rPr>
              <a:t>BECE102L</a:t>
            </a:r>
            <a:r>
              <a:rPr sz="1000" b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130" dirty="0">
                <a:solidFill>
                  <a:srgbClr val="C00000"/>
                </a:solidFill>
                <a:latin typeface="Trebuchet MS"/>
                <a:cs typeface="Trebuchet MS"/>
              </a:rPr>
              <a:t>–</a:t>
            </a:r>
            <a:r>
              <a:rPr sz="1000" b="1" spc="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DIGITAL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1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826754" y="6643232"/>
            <a:ext cx="17780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58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762000" y="2772155"/>
            <a:ext cx="8387080" cy="4086225"/>
            <a:chOff x="762000" y="2772155"/>
            <a:chExt cx="8387080" cy="408622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000" y="4893563"/>
              <a:ext cx="3153155" cy="16200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5339" y="2772155"/>
              <a:ext cx="3604260" cy="145542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879975" y="4487417"/>
            <a:ext cx="256095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833245" algn="l"/>
              </a:tabLst>
            </a:pPr>
            <a:r>
              <a:rPr sz="1800" b="1" spc="15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14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tg</a:t>
            </a:r>
            <a:r>
              <a:rPr sz="1800" b="1" spc="-24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te  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800" b="1" spc="-28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te(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268605" marR="1275080">
              <a:lnSpc>
                <a:spcPct val="120000"/>
              </a:lnSpc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not(out,in);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5975" y="2114803"/>
            <a:ext cx="3907154" cy="208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800" b="1" spc="-275" dirty="0">
                <a:solidFill>
                  <a:srgbClr val="C00000"/>
                </a:solidFill>
                <a:latin typeface="Arial"/>
                <a:cs typeface="Arial"/>
              </a:rPr>
              <a:t>FFER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536700">
              <a:lnSpc>
                <a:spcPts val="2150"/>
              </a:lnSpc>
              <a:tabLst>
                <a:tab pos="3357245" algn="l"/>
              </a:tabLst>
            </a:pPr>
            <a:r>
              <a:rPr sz="1800" b="1" spc="15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145" dirty="0">
                <a:solidFill>
                  <a:srgbClr val="0000FF"/>
                </a:solidFill>
                <a:latin typeface="Arial"/>
                <a:cs typeface="Arial"/>
              </a:rPr>
              <a:t>/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800" b="1" spc="-32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fer</a:t>
            </a:r>
            <a:endParaRPr sz="1800">
              <a:latin typeface="Arial"/>
              <a:cs typeface="Arial"/>
            </a:endParaRPr>
          </a:p>
          <a:p>
            <a:pPr marL="1536700">
              <a:lnSpc>
                <a:spcPct val="100000"/>
              </a:lnSpc>
              <a:spcBef>
                <a:spcPts val="215"/>
              </a:spcBef>
            </a:pP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0" dirty="0">
                <a:solidFill>
                  <a:srgbClr val="0000FF"/>
                </a:solidFill>
                <a:latin typeface="Arial"/>
                <a:cs typeface="Arial"/>
              </a:rPr>
              <a:t>du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32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ff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er</a:t>
            </a:r>
            <a:r>
              <a:rPr sz="1800" b="1" spc="-13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792605" marR="1097280">
              <a:lnSpc>
                <a:spcPct val="110000"/>
              </a:lnSpc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buf(out,in);</a:t>
            </a:r>
            <a:endParaRPr sz="1800">
              <a:latin typeface="Arial"/>
              <a:cs typeface="Arial"/>
            </a:endParaRPr>
          </a:p>
          <a:p>
            <a:pPr marL="1536700">
              <a:lnSpc>
                <a:spcPct val="100000"/>
              </a:lnSpc>
              <a:spcBef>
                <a:spcPts val="219"/>
              </a:spcBef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32175" y="4312996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1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GATE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6408" y="1097267"/>
            <a:ext cx="8665845" cy="835660"/>
            <a:chOff x="216408" y="1097267"/>
            <a:chExt cx="8665845" cy="835660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7556" y="1115568"/>
              <a:ext cx="8624316" cy="7360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6408" y="1097267"/>
              <a:ext cx="7897368" cy="8351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4800" y="1143000"/>
              <a:ext cx="8534400" cy="64617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04800" y="1143000"/>
            <a:ext cx="8534400" cy="64643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0"/>
              </a:spcBef>
            </a:pPr>
            <a:r>
              <a:rPr sz="1800" spc="-285" dirty="0">
                <a:latin typeface="Microsoft Sans Serif"/>
                <a:cs typeface="Microsoft Sans Serif"/>
              </a:rPr>
              <a:t>B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245" dirty="0">
                <a:latin typeface="Microsoft Sans Serif"/>
                <a:cs typeface="Microsoft Sans Serif"/>
              </a:rPr>
              <a:t>s</a:t>
            </a:r>
            <a:r>
              <a:rPr sz="1800" spc="-105" dirty="0">
                <a:latin typeface="Microsoft Sans Serif"/>
                <a:cs typeface="Microsoft Sans Serif"/>
              </a:rPr>
              <a:t>i</a:t>
            </a:r>
            <a:r>
              <a:rPr sz="1800" spc="-155" dirty="0">
                <a:latin typeface="Microsoft Sans Serif"/>
                <a:cs typeface="Microsoft Sans Serif"/>
              </a:rPr>
              <a:t>c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90" dirty="0">
                <a:latin typeface="Microsoft Sans Serif"/>
                <a:cs typeface="Microsoft Sans Serif"/>
              </a:rPr>
              <a:t>y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25" dirty="0">
                <a:latin typeface="Microsoft Sans Serif"/>
                <a:cs typeface="Microsoft Sans Serif"/>
              </a:rPr>
              <a:t>x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f</a:t>
            </a:r>
            <a:r>
              <a:rPr sz="1800" spc="-75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35" dirty="0">
                <a:latin typeface="Microsoft Sans Serif"/>
                <a:cs typeface="Microsoft Sans Serif"/>
              </a:rPr>
              <a:t>u</a:t>
            </a:r>
            <a:r>
              <a:rPr sz="1800" spc="-25" dirty="0">
                <a:latin typeface="Microsoft Sans Serif"/>
                <a:cs typeface="Microsoft Sans Serif"/>
              </a:rPr>
              <a:t>lti</a:t>
            </a:r>
            <a:r>
              <a:rPr sz="1800" spc="-45" dirty="0">
                <a:latin typeface="Microsoft Sans Serif"/>
                <a:cs typeface="Microsoft Sans Serif"/>
              </a:rPr>
              <a:t>p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200" dirty="0">
                <a:latin typeface="Microsoft Sans Serif"/>
                <a:cs typeface="Microsoft Sans Serif"/>
              </a:rPr>
              <a:t>e</a:t>
            </a:r>
            <a:r>
              <a:rPr sz="1800" spc="-100" dirty="0">
                <a:latin typeface="Microsoft Sans Serif"/>
                <a:cs typeface="Microsoft Sans Serif"/>
              </a:rPr>
              <a:t>-</a:t>
            </a: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25" dirty="0">
                <a:latin typeface="Microsoft Sans Serif"/>
                <a:cs typeface="Microsoft Sans Serif"/>
              </a:rPr>
              <a:t>t</a:t>
            </a:r>
            <a:r>
              <a:rPr sz="1800" spc="-120" dirty="0">
                <a:latin typeface="Microsoft Sans Serif"/>
                <a:cs typeface="Microsoft Sans Serif"/>
              </a:rPr>
              <a:t>p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45" dirty="0">
                <a:latin typeface="Microsoft Sans Serif"/>
                <a:cs typeface="Microsoft Sans Serif"/>
              </a:rPr>
              <a:t>g</a:t>
            </a:r>
            <a:r>
              <a:rPr sz="1800" spc="-250" dirty="0">
                <a:latin typeface="Microsoft Sans Serif"/>
                <a:cs typeface="Microsoft Sans Serif"/>
              </a:rPr>
              <a:t>a</a:t>
            </a:r>
            <a:r>
              <a:rPr sz="1800" spc="-165" dirty="0">
                <a:latin typeface="Microsoft Sans Serif"/>
                <a:cs typeface="Microsoft Sans Serif"/>
              </a:rPr>
              <a:t>te</a:t>
            </a:r>
            <a:r>
              <a:rPr sz="1800" spc="-195" dirty="0">
                <a:latin typeface="Microsoft Sans Serif"/>
                <a:cs typeface="Microsoft Sans Serif"/>
              </a:rPr>
              <a:t>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70" dirty="0">
                <a:latin typeface="Microsoft Sans Serif"/>
                <a:cs typeface="Microsoft Sans Serif"/>
              </a:rPr>
              <a:t>s:</a:t>
            </a:r>
            <a:endParaRPr sz="1800">
              <a:latin typeface="Microsoft Sans Serif"/>
              <a:cs typeface="Microsoft Sans Serif"/>
            </a:endParaRPr>
          </a:p>
          <a:p>
            <a:pPr marL="90805">
              <a:lnSpc>
                <a:spcPct val="100000"/>
              </a:lnSpc>
            </a:pPr>
            <a:r>
              <a:rPr sz="1800" spc="-90" dirty="0">
                <a:latin typeface="Microsoft Sans Serif"/>
                <a:cs typeface="Microsoft Sans Serif"/>
              </a:rPr>
              <a:t>Multiple_output_Gate_type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[instance_name]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(output1,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output2,……..outputn,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input);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96234" y="6246990"/>
            <a:ext cx="2504440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6060">
              <a:lnSpc>
                <a:spcPts val="1800"/>
              </a:lnSpc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000" b="1" spc="55" dirty="0">
                <a:solidFill>
                  <a:srgbClr val="C00000"/>
                </a:solidFill>
                <a:latin typeface="Cambria"/>
                <a:cs typeface="Cambria"/>
              </a:rPr>
              <a:t>BECE102L</a:t>
            </a:r>
            <a:r>
              <a:rPr sz="1000" b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130" dirty="0">
                <a:solidFill>
                  <a:srgbClr val="C00000"/>
                </a:solidFill>
                <a:latin typeface="Trebuchet MS"/>
                <a:cs typeface="Trebuchet MS"/>
              </a:rPr>
              <a:t>–</a:t>
            </a:r>
            <a:r>
              <a:rPr sz="1000" b="1" spc="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DIGITAL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97408" y="1097267"/>
            <a:ext cx="8551545" cy="5761355"/>
            <a:chOff x="597408" y="1097267"/>
            <a:chExt cx="8551545" cy="576135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556" y="1115568"/>
              <a:ext cx="7633716" cy="7360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408" y="1097267"/>
              <a:ext cx="5000244" cy="835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5800" y="1143000"/>
              <a:ext cx="7543800" cy="64617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879975" y="2475102"/>
            <a:ext cx="24339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1833245" algn="l"/>
              </a:tabLst>
            </a:pPr>
            <a:r>
              <a:rPr sz="1800" b="1" spc="15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Bufif1 </a:t>
            </a:r>
            <a:r>
              <a:rPr sz="1800" b="1" spc="-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32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800" b="1" spc="-26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268605" marR="605155">
              <a:lnSpc>
                <a:spcPct val="110000"/>
              </a:lnSpc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tpu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fif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(out,i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55975" y="2219071"/>
            <a:ext cx="1315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FI</a:t>
            </a:r>
            <a:r>
              <a:rPr sz="1800" b="1" spc="-260" dirty="0">
                <a:solidFill>
                  <a:srgbClr val="C00000"/>
                </a:solidFill>
                <a:latin typeface="Arial"/>
                <a:cs typeface="Arial"/>
              </a:rPr>
              <a:t>F1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32175" y="4429125"/>
            <a:ext cx="1315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FI</a:t>
            </a:r>
            <a:r>
              <a:rPr sz="1800" b="1" spc="-260" dirty="0">
                <a:solidFill>
                  <a:srgbClr val="C00000"/>
                </a:solidFill>
                <a:latin typeface="Arial"/>
                <a:cs typeface="Arial"/>
              </a:rPr>
              <a:t>F0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5800" y="1143000"/>
            <a:ext cx="7543800" cy="64643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0"/>
              </a:spcBef>
            </a:pPr>
            <a:r>
              <a:rPr sz="1800" spc="-285" dirty="0">
                <a:latin typeface="Microsoft Sans Serif"/>
                <a:cs typeface="Microsoft Sans Serif"/>
              </a:rPr>
              <a:t>B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245" dirty="0">
                <a:latin typeface="Microsoft Sans Serif"/>
                <a:cs typeface="Microsoft Sans Serif"/>
              </a:rPr>
              <a:t>s</a:t>
            </a:r>
            <a:r>
              <a:rPr sz="1800" spc="-105" dirty="0">
                <a:latin typeface="Microsoft Sans Serif"/>
                <a:cs typeface="Microsoft Sans Serif"/>
              </a:rPr>
              <a:t>i</a:t>
            </a:r>
            <a:r>
              <a:rPr sz="1800" spc="-155" dirty="0">
                <a:latin typeface="Microsoft Sans Serif"/>
                <a:cs typeface="Microsoft Sans Serif"/>
              </a:rPr>
              <a:t>c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90" dirty="0">
                <a:latin typeface="Microsoft Sans Serif"/>
                <a:cs typeface="Microsoft Sans Serif"/>
              </a:rPr>
              <a:t>y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25" dirty="0">
                <a:latin typeface="Microsoft Sans Serif"/>
                <a:cs typeface="Microsoft Sans Serif"/>
              </a:rPr>
              <a:t>x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f</a:t>
            </a:r>
            <a:r>
              <a:rPr sz="1800" spc="-75" dirty="0">
                <a:latin typeface="Microsoft Sans Serif"/>
                <a:cs typeface="Microsoft Sans Serif"/>
              </a:rPr>
              <a:t>o</a:t>
            </a:r>
            <a:r>
              <a:rPr sz="1800" dirty="0">
                <a:latin typeface="Microsoft Sans Serif"/>
                <a:cs typeface="Microsoft Sans Serif"/>
              </a:rPr>
              <a:t>r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</a:t>
            </a:r>
            <a:r>
              <a:rPr sz="1800" spc="5" dirty="0">
                <a:latin typeface="Microsoft Sans Serif"/>
                <a:cs typeface="Microsoft Sans Serif"/>
              </a:rPr>
              <a:t>i</a:t>
            </a: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70" dirty="0">
                <a:latin typeface="Microsoft Sans Serif"/>
                <a:cs typeface="Microsoft Sans Serif"/>
              </a:rPr>
              <a:t>t</a:t>
            </a:r>
            <a:r>
              <a:rPr sz="1800" spc="-105" dirty="0">
                <a:latin typeface="Microsoft Sans Serif"/>
                <a:cs typeface="Microsoft Sans Serif"/>
              </a:rPr>
              <a:t>e</a:t>
            </a:r>
            <a:r>
              <a:rPr sz="1800" spc="-100" dirty="0">
                <a:latin typeface="Microsoft Sans Serif"/>
                <a:cs typeface="Microsoft Sans Serif"/>
              </a:rPr>
              <a:t>-</a:t>
            </a:r>
            <a:r>
              <a:rPr sz="1800" spc="-245" dirty="0">
                <a:latin typeface="Microsoft Sans Serif"/>
                <a:cs typeface="Microsoft Sans Serif"/>
              </a:rPr>
              <a:t>g</a:t>
            </a:r>
            <a:r>
              <a:rPr sz="1800" spc="-250" dirty="0">
                <a:latin typeface="Microsoft Sans Serif"/>
                <a:cs typeface="Microsoft Sans Serif"/>
              </a:rPr>
              <a:t>a</a:t>
            </a:r>
            <a:r>
              <a:rPr sz="1800" spc="-165" dirty="0">
                <a:latin typeface="Microsoft Sans Serif"/>
                <a:cs typeface="Microsoft Sans Serif"/>
              </a:rPr>
              <a:t>te</a:t>
            </a:r>
            <a:r>
              <a:rPr sz="1800" spc="-195" dirty="0">
                <a:latin typeface="Microsoft Sans Serif"/>
                <a:cs typeface="Microsoft Sans Serif"/>
              </a:rPr>
              <a:t>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70" dirty="0">
                <a:latin typeface="Microsoft Sans Serif"/>
                <a:cs typeface="Microsoft Sans Serif"/>
              </a:rPr>
              <a:t>s:</a:t>
            </a:r>
            <a:endParaRPr sz="18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800" spc="-105" dirty="0">
                <a:latin typeface="Microsoft Sans Serif"/>
                <a:cs typeface="Microsoft Sans Serif"/>
              </a:rPr>
              <a:t>Tristate_type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[instance_name]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80" dirty="0">
                <a:latin typeface="Microsoft Sans Serif"/>
                <a:cs typeface="Microsoft Sans Serif"/>
              </a:rPr>
              <a:t>(output,input,control);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10996" y="2791955"/>
            <a:ext cx="2598420" cy="1021715"/>
            <a:chOff x="1110996" y="2791955"/>
            <a:chExt cx="2598420" cy="1021715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48256" y="2791955"/>
              <a:ext cx="699516" cy="6065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95500" y="2819400"/>
              <a:ext cx="609600" cy="5166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095500" y="2819400"/>
              <a:ext cx="609600" cy="516890"/>
            </a:xfrm>
            <a:custGeom>
              <a:avLst/>
              <a:gdLst/>
              <a:ahLst/>
              <a:cxnLst/>
              <a:rect l="l" t="t" r="r" b="b"/>
              <a:pathLst>
                <a:path w="609600" h="516889">
                  <a:moveTo>
                    <a:pt x="0" y="0"/>
                  </a:moveTo>
                  <a:lnTo>
                    <a:pt x="609600" y="258317"/>
                  </a:lnTo>
                  <a:lnTo>
                    <a:pt x="0" y="5166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2428" y="3041904"/>
              <a:ext cx="1046988" cy="1080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05862" y="307771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5">
                  <a:moveTo>
                    <a:pt x="0" y="0"/>
                  </a:moveTo>
                  <a:lnTo>
                    <a:pt x="952500" y="1524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10996" y="3041904"/>
              <a:ext cx="1046988" cy="10807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54430" y="307771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5">
                  <a:moveTo>
                    <a:pt x="0" y="0"/>
                  </a:moveTo>
                  <a:lnTo>
                    <a:pt x="952500" y="1524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07336" y="3203460"/>
              <a:ext cx="108076" cy="60958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362962" y="3225546"/>
              <a:ext cx="1905" cy="516255"/>
            </a:xfrm>
            <a:custGeom>
              <a:avLst/>
              <a:gdLst/>
              <a:ahLst/>
              <a:cxnLst/>
              <a:rect l="l" t="t" r="r" b="b"/>
              <a:pathLst>
                <a:path w="1905" h="516254">
                  <a:moveTo>
                    <a:pt x="1650" y="0"/>
                  </a:moveTo>
                  <a:lnTo>
                    <a:pt x="0" y="516127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65504" y="3704844"/>
              <a:ext cx="1046987" cy="1080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408938" y="374065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24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92555" y="290093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00AFEF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60775" y="2895091"/>
            <a:ext cx="322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AFE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93444" y="3576320"/>
            <a:ext cx="347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00AFEF"/>
                </a:solidFill>
                <a:latin typeface="Arial"/>
                <a:cs typeface="Arial"/>
              </a:rPr>
              <a:t>c</a:t>
            </a:r>
            <a:r>
              <a:rPr sz="1800" b="1" spc="-225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AFE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502407" y="3230867"/>
            <a:ext cx="2036445" cy="835660"/>
            <a:chOff x="2502407" y="3230867"/>
            <a:chExt cx="2036445" cy="835660"/>
          </a:xfrm>
        </p:grpSpPr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43555" y="3249168"/>
              <a:ext cx="1994916" cy="73609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02407" y="3230867"/>
              <a:ext cx="1808988" cy="8351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90799" y="3276600"/>
              <a:ext cx="1905000" cy="646176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590800" y="3276600"/>
            <a:ext cx="1905000" cy="64643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0"/>
              </a:spcBef>
            </a:pPr>
            <a:r>
              <a:rPr sz="1800" spc="-35" dirty="0">
                <a:latin typeface="Microsoft Sans Serif"/>
                <a:cs typeface="Microsoft Sans Serif"/>
              </a:rPr>
              <a:t>Out=in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if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con=1</a:t>
            </a:r>
            <a:endParaRPr sz="18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800" spc="-210" dirty="0">
                <a:latin typeface="Microsoft Sans Serif"/>
                <a:cs typeface="Microsoft Sans Serif"/>
              </a:rPr>
              <a:t>El</a:t>
            </a:r>
            <a:r>
              <a:rPr sz="1800" spc="-229" dirty="0">
                <a:latin typeface="Microsoft Sans Serif"/>
                <a:cs typeface="Microsoft Sans Serif"/>
              </a:rPr>
              <a:t>s</a:t>
            </a:r>
            <a:r>
              <a:rPr sz="1800" spc="-225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out=Z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56175" y="4608957"/>
            <a:ext cx="243776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1835785" algn="l"/>
              </a:tabLst>
            </a:pPr>
            <a:r>
              <a:rPr sz="1800" b="1" spc="15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8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Bufif0 </a:t>
            </a:r>
            <a:r>
              <a:rPr sz="1800" b="1" spc="-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36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800" b="1" spc="-170" dirty="0">
                <a:solidFill>
                  <a:srgbClr val="0000FF"/>
                </a:solidFill>
                <a:latin typeface="Arial"/>
                <a:cs typeface="Arial"/>
              </a:rPr>
              <a:t>0(i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268605" marR="609600">
              <a:lnSpc>
                <a:spcPct val="110000"/>
              </a:lnSpc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fif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(out,i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59180" y="5039867"/>
            <a:ext cx="2598420" cy="1021080"/>
            <a:chOff x="1059180" y="5039867"/>
            <a:chExt cx="2598420" cy="1021080"/>
          </a:xfrm>
        </p:grpSpPr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96440" y="5039867"/>
              <a:ext cx="699515" cy="6065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43683" y="5067299"/>
              <a:ext cx="609600" cy="51663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043683" y="5067299"/>
              <a:ext cx="609600" cy="516890"/>
            </a:xfrm>
            <a:custGeom>
              <a:avLst/>
              <a:gdLst/>
              <a:ahLst/>
              <a:cxnLst/>
              <a:rect l="l" t="t" r="r" b="b"/>
              <a:pathLst>
                <a:path w="609600" h="516889">
                  <a:moveTo>
                    <a:pt x="0" y="0"/>
                  </a:moveTo>
                  <a:lnTo>
                    <a:pt x="609600" y="258318"/>
                  </a:lnTo>
                  <a:lnTo>
                    <a:pt x="0" y="5166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10612" y="5289803"/>
              <a:ext cx="1046988" cy="10807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654046" y="5325617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23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9180" y="5289803"/>
              <a:ext cx="1046988" cy="10807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102614" y="5325617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23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55519" y="5451347"/>
              <a:ext cx="108076" cy="60958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311146" y="5473445"/>
              <a:ext cx="1905" cy="516255"/>
            </a:xfrm>
            <a:custGeom>
              <a:avLst/>
              <a:gdLst/>
              <a:ahLst/>
              <a:cxnLst/>
              <a:rect l="l" t="t" r="r" b="b"/>
              <a:pathLst>
                <a:path w="1905" h="516254">
                  <a:moveTo>
                    <a:pt x="1651" y="0"/>
                  </a:moveTo>
                  <a:lnTo>
                    <a:pt x="0" y="516077"/>
                  </a:lnTo>
                </a:path>
              </a:pathLst>
            </a:custGeom>
            <a:ln w="25399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3688" y="5952743"/>
              <a:ext cx="1046988" cy="10807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357122" y="5988557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36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40739" y="5149341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00AFEF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08959" y="5143246"/>
            <a:ext cx="322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AFE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41324" y="5824829"/>
            <a:ext cx="347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0" dirty="0">
                <a:solidFill>
                  <a:srgbClr val="00AFEF"/>
                </a:solidFill>
                <a:latin typeface="Arial"/>
                <a:cs typeface="Arial"/>
              </a:rPr>
              <a:t>c</a:t>
            </a:r>
            <a:r>
              <a:rPr sz="1800" b="1" spc="-190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AFE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450592" y="5478779"/>
            <a:ext cx="2036445" cy="835660"/>
            <a:chOff x="2450592" y="5478779"/>
            <a:chExt cx="2036445" cy="835660"/>
          </a:xfrm>
        </p:grpSpPr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91740" y="5497067"/>
              <a:ext cx="1994915" cy="73609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50592" y="5478779"/>
              <a:ext cx="1808987" cy="83516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38984" y="5524499"/>
              <a:ext cx="1904999" cy="646176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2538983" y="5524500"/>
            <a:ext cx="1905000" cy="64643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 marR="351790">
              <a:lnSpc>
                <a:spcPct val="100000"/>
              </a:lnSpc>
              <a:spcBef>
                <a:spcPts val="175"/>
              </a:spcBef>
            </a:pPr>
            <a:r>
              <a:rPr sz="1800" spc="-35" dirty="0">
                <a:latin typeface="Microsoft Sans Serif"/>
                <a:cs typeface="Microsoft Sans Serif"/>
              </a:rPr>
              <a:t>Out=in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if </a:t>
            </a:r>
            <a:r>
              <a:rPr sz="1800" spc="-125" dirty="0">
                <a:latin typeface="Microsoft Sans Serif"/>
                <a:cs typeface="Microsoft Sans Serif"/>
              </a:rPr>
              <a:t>con=0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El</a:t>
            </a:r>
            <a:r>
              <a:rPr sz="1800" spc="-280" dirty="0">
                <a:latin typeface="Microsoft Sans Serif"/>
                <a:cs typeface="Microsoft Sans Serif"/>
              </a:rPr>
              <a:t>se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20" dirty="0">
                <a:latin typeface="Microsoft Sans Serif"/>
                <a:cs typeface="Microsoft Sans Serif"/>
              </a:rPr>
              <a:t>t</a:t>
            </a:r>
            <a:r>
              <a:rPr sz="1800" spc="45" dirty="0">
                <a:latin typeface="Microsoft Sans Serif"/>
                <a:cs typeface="Microsoft Sans Serif"/>
              </a:rPr>
              <a:t>=</a:t>
            </a:r>
            <a:r>
              <a:rPr sz="1800" spc="-110" dirty="0">
                <a:latin typeface="Microsoft Sans Serif"/>
                <a:cs typeface="Microsoft Sans Serif"/>
              </a:rPr>
              <a:t>Z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238755" y="5428488"/>
            <a:ext cx="166370" cy="196850"/>
            <a:chOff x="2238755" y="5428488"/>
            <a:chExt cx="166370" cy="196850"/>
          </a:xfrm>
        </p:grpSpPr>
        <p:pic>
          <p:nvPicPr>
            <p:cNvPr id="66" name="object 6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38755" y="5428488"/>
              <a:ext cx="166192" cy="19659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85999" y="5455920"/>
              <a:ext cx="76200" cy="1066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81237" y="5451157"/>
              <a:ext cx="85725" cy="116205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3396234" y="6246990"/>
            <a:ext cx="2504440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6060">
              <a:lnSpc>
                <a:spcPts val="1800"/>
              </a:lnSpc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000" b="1" spc="55" dirty="0">
                <a:solidFill>
                  <a:srgbClr val="C00000"/>
                </a:solidFill>
                <a:latin typeface="Cambria"/>
                <a:cs typeface="Cambria"/>
              </a:rPr>
              <a:t>BECE102L</a:t>
            </a:r>
            <a:r>
              <a:rPr sz="1000" b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130" dirty="0">
                <a:solidFill>
                  <a:srgbClr val="C00000"/>
                </a:solidFill>
                <a:latin typeface="Trebuchet MS"/>
                <a:cs typeface="Trebuchet MS"/>
              </a:rPr>
              <a:t>–</a:t>
            </a:r>
            <a:r>
              <a:rPr sz="1000" b="1" spc="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DIGITAL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110996" y="2106155"/>
            <a:ext cx="8037830" cy="4752340"/>
            <a:chOff x="1110996" y="2106155"/>
            <a:chExt cx="8037830" cy="475234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48256" y="2106155"/>
              <a:ext cx="699516" cy="6065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95500" y="2133600"/>
              <a:ext cx="609600" cy="5166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095500" y="2133600"/>
              <a:ext cx="609600" cy="516890"/>
            </a:xfrm>
            <a:custGeom>
              <a:avLst/>
              <a:gdLst/>
              <a:ahLst/>
              <a:cxnLst/>
              <a:rect l="l" t="t" r="r" b="b"/>
              <a:pathLst>
                <a:path w="609600" h="516889">
                  <a:moveTo>
                    <a:pt x="0" y="0"/>
                  </a:moveTo>
                  <a:lnTo>
                    <a:pt x="609600" y="258317"/>
                  </a:lnTo>
                  <a:lnTo>
                    <a:pt x="0" y="5166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62428" y="2356104"/>
              <a:ext cx="1046988" cy="1080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05862" y="239191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5">
                  <a:moveTo>
                    <a:pt x="0" y="0"/>
                  </a:moveTo>
                  <a:lnTo>
                    <a:pt x="952500" y="1524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0996" y="2356104"/>
              <a:ext cx="1046988" cy="10807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154430" y="239191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5">
                  <a:moveTo>
                    <a:pt x="0" y="0"/>
                  </a:moveTo>
                  <a:lnTo>
                    <a:pt x="952500" y="1524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07336" y="2517660"/>
              <a:ext cx="108076" cy="60958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62962" y="2539746"/>
              <a:ext cx="1905" cy="516255"/>
            </a:xfrm>
            <a:custGeom>
              <a:avLst/>
              <a:gdLst/>
              <a:ahLst/>
              <a:cxnLst/>
              <a:rect l="l" t="t" r="r" b="b"/>
              <a:pathLst>
                <a:path w="1905" h="516255">
                  <a:moveTo>
                    <a:pt x="1650" y="0"/>
                  </a:moveTo>
                  <a:lnTo>
                    <a:pt x="0" y="516127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65504" y="3019044"/>
              <a:ext cx="1046987" cy="10807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08938" y="305485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5">
                  <a:moveTo>
                    <a:pt x="0" y="0"/>
                  </a:moveTo>
                  <a:lnTo>
                    <a:pt x="952500" y="1524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79975" y="1713062"/>
            <a:ext cx="2433955" cy="18364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833245" algn="l"/>
              </a:tabLst>
            </a:pPr>
            <a:r>
              <a:rPr sz="1800" b="1" spc="15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notif1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0" dirty="0">
                <a:solidFill>
                  <a:srgbClr val="0000FF"/>
                </a:solidFill>
                <a:latin typeface="Arial"/>
                <a:cs typeface="Arial"/>
              </a:rPr>
              <a:t>du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tif</a:t>
            </a:r>
            <a:r>
              <a:rPr sz="1800" b="1" spc="-26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268605" marR="598805">
              <a:lnSpc>
                <a:spcPct val="110000"/>
              </a:lnSpc>
            </a:pP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notif1(out,in,con);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55975" y="1228090"/>
            <a:ext cx="140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C00000"/>
                </a:solidFill>
                <a:latin typeface="Arial"/>
                <a:cs typeface="Arial"/>
              </a:rPr>
              <a:t>F1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55975" y="3819525"/>
            <a:ext cx="1404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b="1" spc="-260" dirty="0">
                <a:solidFill>
                  <a:srgbClr val="C00000"/>
                </a:solidFill>
                <a:latin typeface="Arial"/>
                <a:cs typeface="Arial"/>
              </a:rPr>
              <a:t>F0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56175" y="4380357"/>
            <a:ext cx="243776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1835785" algn="l"/>
              </a:tabLst>
            </a:pPr>
            <a:r>
              <a:rPr sz="1800" b="1" spc="15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8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Name:	notif0 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4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1800" b="1" spc="-170" dirty="0">
                <a:solidFill>
                  <a:srgbClr val="0000FF"/>
                </a:solidFill>
                <a:latin typeface="Arial"/>
                <a:cs typeface="Arial"/>
              </a:rPr>
              <a:t>0(i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268605">
              <a:lnSpc>
                <a:spcPct val="100000"/>
              </a:lnSpc>
              <a:spcBef>
                <a:spcPts val="215"/>
              </a:spcBef>
            </a:pP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put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on;</a:t>
            </a:r>
            <a:endParaRPr sz="1800">
              <a:latin typeface="Arial"/>
              <a:cs typeface="Arial"/>
            </a:endParaRPr>
          </a:p>
          <a:p>
            <a:pPr marL="268605" marR="602615">
              <a:lnSpc>
                <a:spcPct val="110000"/>
              </a:lnSpc>
            </a:pP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0" dirty="0">
                <a:solidFill>
                  <a:srgbClr val="0000FF"/>
                </a:solidFill>
                <a:latin typeface="Arial"/>
                <a:cs typeface="Arial"/>
              </a:rPr>
              <a:t>t;  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notif0(out,in,con);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92555" y="221513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00AFEF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48329" y="2209038"/>
            <a:ext cx="835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6390" algn="l"/>
                <a:tab pos="524510" algn="l"/>
              </a:tabLst>
            </a:pPr>
            <a:r>
              <a:rPr sz="1800" b="1" u="heavy" spc="-5" dirty="0">
                <a:solidFill>
                  <a:srgbClr val="00AFE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800" b="1" spc="-5" dirty="0">
                <a:solidFill>
                  <a:srgbClr val="00AFEF"/>
                </a:solidFill>
                <a:latin typeface="Arial"/>
                <a:cs typeface="Arial"/>
              </a:rPr>
              <a:t>	</a:t>
            </a:r>
            <a:r>
              <a:rPr sz="1800" b="1" spc="-190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AFE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93444" y="2890520"/>
            <a:ext cx="347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15" dirty="0">
                <a:solidFill>
                  <a:srgbClr val="00AFEF"/>
                </a:solidFill>
                <a:latin typeface="Arial"/>
                <a:cs typeface="Arial"/>
              </a:rPr>
              <a:t>c</a:t>
            </a:r>
            <a:r>
              <a:rPr sz="1800" b="1" spc="-225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AFE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02407" y="2545067"/>
            <a:ext cx="2036445" cy="835660"/>
            <a:chOff x="2502407" y="2545067"/>
            <a:chExt cx="2036445" cy="835660"/>
          </a:xfrm>
        </p:grpSpPr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43555" y="2563368"/>
              <a:ext cx="1994916" cy="73609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02407" y="2545067"/>
              <a:ext cx="1808988" cy="8351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90799" y="2590800"/>
              <a:ext cx="1905000" cy="64617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590800" y="2590800"/>
            <a:ext cx="1905000" cy="64643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 marR="351790">
              <a:lnSpc>
                <a:spcPct val="100000"/>
              </a:lnSpc>
              <a:spcBef>
                <a:spcPts val="170"/>
              </a:spcBef>
            </a:pPr>
            <a:r>
              <a:rPr sz="1800" spc="-35" dirty="0">
                <a:latin typeface="Microsoft Sans Serif"/>
                <a:cs typeface="Microsoft Sans Serif"/>
              </a:rPr>
              <a:t>Out=in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if </a:t>
            </a:r>
            <a:r>
              <a:rPr sz="1800" spc="-125" dirty="0">
                <a:latin typeface="Microsoft Sans Serif"/>
                <a:cs typeface="Microsoft Sans Serif"/>
              </a:rPr>
              <a:t>con=1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El</a:t>
            </a:r>
            <a:r>
              <a:rPr sz="1800" spc="-280" dirty="0">
                <a:latin typeface="Microsoft Sans Serif"/>
                <a:cs typeface="Microsoft Sans Serif"/>
              </a:rPr>
              <a:t>se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20" dirty="0">
                <a:latin typeface="Microsoft Sans Serif"/>
                <a:cs typeface="Microsoft Sans Serif"/>
              </a:rPr>
              <a:t>t</a:t>
            </a:r>
            <a:r>
              <a:rPr sz="1800" spc="45" dirty="0">
                <a:latin typeface="Microsoft Sans Serif"/>
                <a:cs typeface="Microsoft Sans Serif"/>
              </a:rPr>
              <a:t>=</a:t>
            </a:r>
            <a:r>
              <a:rPr sz="1800" spc="-110" dirty="0">
                <a:latin typeface="Microsoft Sans Serif"/>
                <a:cs typeface="Microsoft Sans Serif"/>
              </a:rPr>
              <a:t>Z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59180" y="2304288"/>
            <a:ext cx="2598420" cy="3375660"/>
            <a:chOff x="1059180" y="2304288"/>
            <a:chExt cx="2598420" cy="3375660"/>
          </a:xfrm>
        </p:grpSpPr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19755" y="2304288"/>
              <a:ext cx="166192" cy="19659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67000" y="2331720"/>
              <a:ext cx="76200" cy="10667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62237" y="2326957"/>
              <a:ext cx="85725" cy="1162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30296" y="2601468"/>
              <a:ext cx="323113" cy="10807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6440" y="4658855"/>
              <a:ext cx="699515" cy="6065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43683" y="4686300"/>
              <a:ext cx="609600" cy="5166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043683" y="4686300"/>
              <a:ext cx="609600" cy="516890"/>
            </a:xfrm>
            <a:custGeom>
              <a:avLst/>
              <a:gdLst/>
              <a:ahLst/>
              <a:cxnLst/>
              <a:rect l="l" t="t" r="r" b="b"/>
              <a:pathLst>
                <a:path w="609600" h="516889">
                  <a:moveTo>
                    <a:pt x="0" y="0"/>
                  </a:moveTo>
                  <a:lnTo>
                    <a:pt x="609600" y="258318"/>
                  </a:lnTo>
                  <a:lnTo>
                    <a:pt x="0" y="51663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10612" y="4908804"/>
              <a:ext cx="1046988" cy="10807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654046" y="4944617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23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9180" y="4908804"/>
              <a:ext cx="1046988" cy="10807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102614" y="4944617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23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55519" y="5070348"/>
              <a:ext cx="108076" cy="60958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311146" y="5092445"/>
              <a:ext cx="1905" cy="516255"/>
            </a:xfrm>
            <a:custGeom>
              <a:avLst/>
              <a:gdLst/>
              <a:ahLst/>
              <a:cxnLst/>
              <a:rect l="l" t="t" r="r" b="b"/>
              <a:pathLst>
                <a:path w="1905" h="516254">
                  <a:moveTo>
                    <a:pt x="1651" y="0"/>
                  </a:moveTo>
                  <a:lnTo>
                    <a:pt x="0" y="516077"/>
                  </a:lnTo>
                </a:path>
              </a:pathLst>
            </a:custGeom>
            <a:ln w="25399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3688" y="5571744"/>
              <a:ext cx="1046988" cy="10807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357122" y="5607558"/>
              <a:ext cx="952500" cy="1905"/>
            </a:xfrm>
            <a:custGeom>
              <a:avLst/>
              <a:gdLst/>
              <a:ahLst/>
              <a:cxnLst/>
              <a:rect l="l" t="t" r="r" b="b"/>
              <a:pathLst>
                <a:path w="952500" h="1904">
                  <a:moveTo>
                    <a:pt x="0" y="0"/>
                  </a:moveTo>
                  <a:lnTo>
                    <a:pt x="952500" y="1536"/>
                  </a:lnTo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840739" y="476808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5" dirty="0">
                <a:solidFill>
                  <a:srgbClr val="00AFEF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08959" y="4762245"/>
            <a:ext cx="322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90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AFE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41324" y="5443524"/>
            <a:ext cx="347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0" dirty="0">
                <a:solidFill>
                  <a:srgbClr val="00AFEF"/>
                </a:solidFill>
                <a:latin typeface="Arial"/>
                <a:cs typeface="Arial"/>
              </a:rPr>
              <a:t>c</a:t>
            </a:r>
            <a:r>
              <a:rPr sz="1800" b="1" spc="-190" dirty="0">
                <a:solidFill>
                  <a:srgbClr val="00AFE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AFEF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450592" y="5097779"/>
            <a:ext cx="2036445" cy="835660"/>
            <a:chOff x="2450592" y="5097779"/>
            <a:chExt cx="2036445" cy="835660"/>
          </a:xfrm>
        </p:grpSpPr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91740" y="5116067"/>
              <a:ext cx="1994915" cy="73609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50592" y="5097779"/>
              <a:ext cx="1808987" cy="83516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38984" y="5143499"/>
              <a:ext cx="1904999" cy="646176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2538983" y="5143500"/>
            <a:ext cx="1905000" cy="646430"/>
          </a:xfrm>
          <a:prstGeom prst="rect">
            <a:avLst/>
          </a:prstGeom>
          <a:ln w="9525">
            <a:solidFill>
              <a:srgbClr val="97B853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</a:pPr>
            <a:r>
              <a:rPr sz="1800" spc="-35" dirty="0">
                <a:latin typeface="Microsoft Sans Serif"/>
                <a:cs typeface="Microsoft Sans Serif"/>
              </a:rPr>
              <a:t>Out=in</a:t>
            </a:r>
            <a:r>
              <a:rPr sz="1800" spc="-5" dirty="0">
                <a:latin typeface="Microsoft Sans Serif"/>
                <a:cs typeface="Microsoft Sans Serif"/>
              </a:rPr>
              <a:t> if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con=0</a:t>
            </a:r>
            <a:endParaRPr sz="18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800" spc="-165" dirty="0">
                <a:latin typeface="Microsoft Sans Serif"/>
                <a:cs typeface="Microsoft Sans Serif"/>
              </a:rPr>
              <a:t>El</a:t>
            </a:r>
            <a:r>
              <a:rPr sz="1800" spc="-280" dirty="0">
                <a:latin typeface="Microsoft Sans Serif"/>
                <a:cs typeface="Microsoft Sans Serif"/>
              </a:rPr>
              <a:t>se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20" dirty="0">
                <a:latin typeface="Microsoft Sans Serif"/>
                <a:cs typeface="Microsoft Sans Serif"/>
              </a:rPr>
              <a:t>t</a:t>
            </a:r>
            <a:r>
              <a:rPr sz="1800" spc="45" dirty="0">
                <a:latin typeface="Microsoft Sans Serif"/>
                <a:cs typeface="Microsoft Sans Serif"/>
              </a:rPr>
              <a:t>=</a:t>
            </a:r>
            <a:r>
              <a:rPr sz="1800" spc="-110" dirty="0">
                <a:latin typeface="Microsoft Sans Serif"/>
                <a:cs typeface="Microsoft Sans Serif"/>
              </a:rPr>
              <a:t>Z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238755" y="4849367"/>
            <a:ext cx="1166495" cy="425450"/>
            <a:chOff x="2238755" y="4849367"/>
            <a:chExt cx="1166495" cy="425450"/>
          </a:xfrm>
        </p:grpSpPr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38755" y="5047487"/>
              <a:ext cx="166192" cy="19659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85999" y="5074919"/>
              <a:ext cx="76200" cy="1066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81237" y="5070157"/>
              <a:ext cx="85725" cy="11620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43555" y="4849367"/>
              <a:ext cx="166192" cy="19659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90799" y="4876799"/>
              <a:ext cx="76200" cy="10668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86037" y="4872037"/>
              <a:ext cx="85725" cy="11620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81527" y="5166359"/>
              <a:ext cx="323113" cy="10807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124961" y="5202173"/>
              <a:ext cx="228600" cy="1905"/>
            </a:xfrm>
            <a:custGeom>
              <a:avLst/>
              <a:gdLst/>
              <a:ahLst/>
              <a:cxnLst/>
              <a:rect l="l" t="t" r="r" b="b"/>
              <a:pathLst>
                <a:path w="228600" h="1904">
                  <a:moveTo>
                    <a:pt x="-12700" y="762"/>
                  </a:moveTo>
                  <a:lnTo>
                    <a:pt x="241300" y="762"/>
                  </a:lnTo>
                </a:path>
              </a:pathLst>
            </a:custGeom>
            <a:ln w="26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61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" y="2229611"/>
            <a:ext cx="8844280" cy="4628515"/>
            <a:chOff x="304800" y="2229611"/>
            <a:chExt cx="8844280" cy="462851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2229611"/>
              <a:ext cx="8077200" cy="340918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32175" y="1129664"/>
            <a:ext cx="2258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AMPLE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" y="2362200"/>
            <a:ext cx="8844280" cy="4495800"/>
            <a:chOff x="304800" y="2362200"/>
            <a:chExt cx="8844280" cy="4495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2362200"/>
              <a:ext cx="8500872" cy="33436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041775" y="1392173"/>
            <a:ext cx="932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800" b="1" spc="-85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800" b="1" spc="-229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63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" y="2162555"/>
            <a:ext cx="8844280" cy="4695825"/>
            <a:chOff x="304800" y="2162555"/>
            <a:chExt cx="8844280" cy="469582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2162555"/>
              <a:ext cx="8458200" cy="324764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813175" y="1228090"/>
            <a:ext cx="1631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2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-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800" b="1" spc="-85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800" b="1" spc="-229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-30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64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000" y="2467355"/>
            <a:ext cx="8768080" cy="4391025"/>
            <a:chOff x="381000" y="2467355"/>
            <a:chExt cx="8768080" cy="439102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2467355"/>
              <a:ext cx="8458200" cy="324764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194175" y="1315973"/>
            <a:ext cx="1113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70" dirty="0">
                <a:solidFill>
                  <a:srgbClr val="C00000"/>
                </a:solidFill>
                <a:latin typeface="Arial"/>
                <a:cs typeface="Arial"/>
              </a:rPr>
              <a:t>PORT</a:t>
            </a:r>
            <a:r>
              <a:rPr sz="1800" b="1" spc="3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C00000"/>
                </a:solidFill>
                <a:latin typeface="Arial"/>
                <a:cs typeface="Arial"/>
              </a:rPr>
              <a:t>LIST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65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" y="2476500"/>
            <a:ext cx="8844280" cy="4381500"/>
            <a:chOff x="304800" y="2476500"/>
            <a:chExt cx="8844280" cy="43815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2476500"/>
              <a:ext cx="8525256" cy="3162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051175" y="1380490"/>
            <a:ext cx="32531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C00000"/>
                </a:solidFill>
                <a:latin typeface="Arial"/>
                <a:cs typeface="Arial"/>
              </a:rPr>
              <a:t>INPUT/OUTPUT</a:t>
            </a:r>
            <a:r>
              <a:rPr sz="1800" b="1" spc="4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C00000"/>
                </a:solidFill>
                <a:latin typeface="Arial"/>
                <a:cs typeface="Arial"/>
              </a:rPr>
              <a:t>DECLARATION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800" y="2409444"/>
            <a:ext cx="8844280" cy="4448810"/>
            <a:chOff x="304800" y="2409444"/>
            <a:chExt cx="8844280" cy="444881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800" y="2409444"/>
              <a:ext cx="8534400" cy="33055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203575" y="1304290"/>
            <a:ext cx="281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C00000"/>
                </a:solidFill>
                <a:latin typeface="Arial"/>
                <a:cs typeface="Arial"/>
              </a:rPr>
              <a:t>DATA </a:t>
            </a:r>
            <a:r>
              <a:rPr sz="1800" b="1" spc="-220" dirty="0">
                <a:solidFill>
                  <a:srgbClr val="C00000"/>
                </a:solidFill>
                <a:latin typeface="Arial"/>
                <a:cs typeface="Arial"/>
              </a:rPr>
              <a:t>TYPE</a:t>
            </a:r>
            <a:r>
              <a:rPr sz="1800" b="1" spc="4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C00000"/>
                </a:solidFill>
                <a:latin typeface="Arial"/>
                <a:cs typeface="Arial"/>
              </a:rPr>
              <a:t>DECLARATION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67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000" y="1600200"/>
            <a:ext cx="8768080" cy="5257800"/>
            <a:chOff x="381000" y="1600200"/>
            <a:chExt cx="8768080" cy="5257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1600200"/>
              <a:ext cx="8382000" cy="4953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355975" y="1163573"/>
            <a:ext cx="225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GATE</a:t>
            </a:r>
            <a:r>
              <a:rPr sz="1800" b="1" spc="4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INSTATIATION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68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45" dirty="0">
                <a:latin typeface="Trebuchet MS"/>
                <a:cs typeface="Trebuchet MS"/>
              </a:rPr>
              <a:t>STRUCTURAL</a:t>
            </a:r>
            <a:r>
              <a:rPr sz="3600" b="1" spc="-114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2057400"/>
            <a:ext cx="8691880" cy="4800600"/>
            <a:chOff x="457200" y="2057400"/>
            <a:chExt cx="8691880" cy="4800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7200" y="2057400"/>
              <a:ext cx="8305800" cy="33528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32175" y="1380490"/>
            <a:ext cx="225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25" dirty="0">
                <a:solidFill>
                  <a:srgbClr val="C00000"/>
                </a:solidFill>
                <a:latin typeface="Arial"/>
                <a:cs typeface="Arial"/>
              </a:rPr>
              <a:t>GATE</a:t>
            </a:r>
            <a:r>
              <a:rPr sz="1800" b="1" spc="4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C00000"/>
                </a:solidFill>
                <a:latin typeface="Arial"/>
                <a:cs typeface="Arial"/>
              </a:rPr>
              <a:t>INSTATIATION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69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85800" y="2590800"/>
            <a:ext cx="8463280" cy="4267200"/>
            <a:chOff x="685800" y="2590800"/>
            <a:chExt cx="8463280" cy="42672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800" y="2590800"/>
              <a:ext cx="3302508" cy="234391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041775" y="2239492"/>
            <a:ext cx="371729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2032000" algn="l"/>
              </a:tabLst>
            </a:pPr>
            <a:r>
              <a:rPr sz="2000" b="1" spc="165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HalfAdder 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7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000" b="1" spc="-204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210" dirty="0">
                <a:solidFill>
                  <a:srgbClr val="0000FF"/>
                </a:solidFill>
                <a:latin typeface="Arial"/>
                <a:cs typeface="Arial"/>
              </a:rPr>
              <a:t>dule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b="1" spc="-9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b="1" spc="-220" dirty="0">
                <a:solidFill>
                  <a:srgbClr val="0000FF"/>
                </a:solidFill>
                <a:latin typeface="Arial"/>
                <a:cs typeface="Arial"/>
              </a:rPr>
              <a:t>dde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000" b="1" spc="-295" dirty="0">
                <a:solidFill>
                  <a:srgbClr val="0000FF"/>
                </a:solidFill>
                <a:latin typeface="Arial"/>
                <a:cs typeface="Arial"/>
              </a:rPr>
              <a:t>(sum</a:t>
            </a:r>
            <a:r>
              <a:rPr sz="2000" b="1" spc="-13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_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ou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292735" marR="2060575">
              <a:lnSpc>
                <a:spcPct val="110000"/>
              </a:lnSpc>
            </a:pPr>
            <a:r>
              <a:rPr sz="2000" b="1" spc="-204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utp</a:t>
            </a:r>
            <a:r>
              <a:rPr sz="2000" b="1" spc="-24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47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45" dirty="0">
                <a:solidFill>
                  <a:srgbClr val="0000FF"/>
                </a:solidFill>
                <a:latin typeface="Arial"/>
                <a:cs typeface="Arial"/>
              </a:rPr>
              <a:t>m;  </a:t>
            </a:r>
            <a:r>
              <a:rPr sz="2000" b="1" spc="-204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utp</a:t>
            </a:r>
            <a:r>
              <a:rPr sz="2000" b="1" spc="-24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95" dirty="0">
                <a:solidFill>
                  <a:srgbClr val="0000FF"/>
                </a:solidFill>
                <a:latin typeface="Arial"/>
                <a:cs typeface="Arial"/>
              </a:rPr>
              <a:t>_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254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210" dirty="0">
                <a:solidFill>
                  <a:srgbClr val="0000FF"/>
                </a:solidFill>
                <a:latin typeface="Arial"/>
                <a:cs typeface="Arial"/>
              </a:rPr>
              <a:t>xor(sum,i1,i2);</a:t>
            </a:r>
            <a:endParaRPr sz="200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240"/>
              </a:spcBef>
            </a:pPr>
            <a:r>
              <a:rPr sz="2000" b="1" spc="-190" dirty="0">
                <a:solidFill>
                  <a:srgbClr val="0000FF"/>
                </a:solidFill>
                <a:latin typeface="Arial"/>
                <a:cs typeface="Arial"/>
              </a:rPr>
              <a:t>and(c_out,i1,i2);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229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736975" y="1205864"/>
            <a:ext cx="1470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7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270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DER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83994" y="1205864"/>
            <a:ext cx="6569709" cy="4717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254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8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ULE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60" dirty="0">
                <a:solidFill>
                  <a:srgbClr val="C00000"/>
                </a:solidFill>
                <a:latin typeface="Arial"/>
                <a:cs typeface="Arial"/>
              </a:rPr>
              <a:t>ST</a:t>
            </a:r>
            <a:r>
              <a:rPr sz="2000" b="1" spc="-17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TIATI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2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2451100">
              <a:lnSpc>
                <a:spcPct val="100000"/>
              </a:lnSpc>
              <a:spcBef>
                <a:spcPts val="1270"/>
              </a:spcBef>
              <a:tabLst>
                <a:tab pos="4470400" algn="l"/>
              </a:tabLst>
            </a:pPr>
            <a:r>
              <a:rPr sz="2000" b="1" spc="165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8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2000" b="1" spc="-180" dirty="0">
                <a:solidFill>
                  <a:srgbClr val="0000FF"/>
                </a:solidFill>
                <a:latin typeface="Arial"/>
                <a:cs typeface="Arial"/>
              </a:rPr>
              <a:t>FullAdder</a:t>
            </a:r>
            <a:endParaRPr sz="2000">
              <a:latin typeface="Arial"/>
              <a:cs typeface="Arial"/>
            </a:endParaRPr>
          </a:p>
          <a:p>
            <a:pPr marL="2731770" marR="5080" indent="-280670">
              <a:lnSpc>
                <a:spcPct val="110000"/>
              </a:lnSpc>
            </a:pPr>
            <a:r>
              <a:rPr sz="2000" b="1" spc="-275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000" b="1" spc="-204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210" dirty="0">
                <a:solidFill>
                  <a:srgbClr val="0000FF"/>
                </a:solidFill>
                <a:latin typeface="Arial"/>
                <a:cs typeface="Arial"/>
              </a:rPr>
              <a:t>dule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2000" b="1" spc="-165" dirty="0">
                <a:solidFill>
                  <a:srgbClr val="0000FF"/>
                </a:solidFill>
                <a:latin typeface="Arial"/>
                <a:cs typeface="Arial"/>
              </a:rPr>
              <a:t>lAdde</a:t>
            </a:r>
            <a:r>
              <a:rPr sz="2000" b="1" spc="-125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000" b="1" spc="-260" dirty="0">
                <a:solidFill>
                  <a:srgbClr val="0000FF"/>
                </a:solidFill>
                <a:latin typeface="Arial"/>
                <a:cs typeface="Arial"/>
              </a:rPr>
              <a:t>(sum,</a:t>
            </a:r>
            <a:r>
              <a:rPr sz="20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_</a:t>
            </a:r>
            <a:r>
              <a:rPr sz="2000" b="1" spc="-24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190" dirty="0">
                <a:solidFill>
                  <a:srgbClr val="0000FF"/>
                </a:solidFill>
                <a:latin typeface="Arial"/>
                <a:cs typeface="Arial"/>
              </a:rPr>
              <a:t>,c_in</a:t>
            </a:r>
            <a:r>
              <a:rPr sz="2000" b="1" spc="-13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204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utp</a:t>
            </a:r>
            <a:r>
              <a:rPr sz="2000" b="1" spc="-24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47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m;</a:t>
            </a:r>
            <a:endParaRPr sz="2000">
              <a:latin typeface="Arial"/>
              <a:cs typeface="Arial"/>
            </a:endParaRPr>
          </a:p>
          <a:p>
            <a:pPr marL="2731770" marR="2473960">
              <a:lnSpc>
                <a:spcPct val="110000"/>
              </a:lnSpc>
            </a:pPr>
            <a:r>
              <a:rPr sz="2000" b="1" spc="-204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utp</a:t>
            </a:r>
            <a:r>
              <a:rPr sz="2000" b="1" spc="-24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_</a:t>
            </a:r>
            <a:r>
              <a:rPr sz="2000" b="1" spc="-24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7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_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5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2000" b="1" spc="-160" dirty="0">
                <a:solidFill>
                  <a:srgbClr val="0000FF"/>
                </a:solidFill>
                <a:latin typeface="Arial"/>
                <a:cs typeface="Arial"/>
              </a:rPr>
              <a:t>ire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47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225" dirty="0">
                <a:solidFill>
                  <a:srgbClr val="0000FF"/>
                </a:solidFill>
                <a:latin typeface="Arial"/>
                <a:cs typeface="Arial"/>
              </a:rPr>
              <a:t>,c1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225" dirty="0">
                <a:solidFill>
                  <a:srgbClr val="0000FF"/>
                </a:solidFill>
                <a:latin typeface="Arial"/>
                <a:cs typeface="Arial"/>
              </a:rPr>
              <a:t>c2;</a:t>
            </a:r>
            <a:endParaRPr sz="2000">
              <a:latin typeface="Arial"/>
              <a:cs typeface="Arial"/>
            </a:endParaRPr>
          </a:p>
          <a:p>
            <a:pPr marL="2731770" marR="553085">
              <a:lnSpc>
                <a:spcPct val="100099"/>
              </a:lnSpc>
              <a:spcBef>
                <a:spcPts val="240"/>
              </a:spcBef>
            </a:pPr>
            <a:r>
              <a:rPr sz="2000" b="1" spc="-75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b="1" spc="-105" dirty="0">
                <a:solidFill>
                  <a:srgbClr val="0000FF"/>
                </a:solidFill>
                <a:latin typeface="Arial"/>
                <a:cs typeface="Arial"/>
              </a:rPr>
              <a:t>lfA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000" b="1" spc="-23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000" b="1" spc="-11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75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b="1" spc="-295" dirty="0">
                <a:solidFill>
                  <a:srgbClr val="0000FF"/>
                </a:solidFill>
                <a:latin typeface="Arial"/>
                <a:cs typeface="Arial"/>
              </a:rPr>
              <a:t>1(s1</a:t>
            </a:r>
            <a:r>
              <a:rPr sz="2000" b="1" spc="-16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2000" b="1" spc="-114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135" dirty="0">
                <a:solidFill>
                  <a:srgbClr val="0000FF"/>
                </a:solidFill>
                <a:latin typeface="Arial"/>
                <a:cs typeface="Arial"/>
              </a:rPr>
              <a:t>);  </a:t>
            </a:r>
            <a:r>
              <a:rPr sz="2000" b="1" spc="-70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2000" b="1" spc="-13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Add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0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70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b="1" spc="-285" dirty="0">
                <a:solidFill>
                  <a:srgbClr val="0000FF"/>
                </a:solidFill>
                <a:latin typeface="Arial"/>
                <a:cs typeface="Arial"/>
              </a:rPr>
              <a:t>2(s</a:t>
            </a:r>
            <a:r>
              <a:rPr sz="2000" b="1" spc="-36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m,</a:t>
            </a:r>
            <a:r>
              <a:rPr sz="20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000" b="1" spc="-28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2000" b="1" spc="-47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spc="-200" dirty="0">
                <a:solidFill>
                  <a:srgbClr val="0000FF"/>
                </a:solidFill>
                <a:latin typeface="Arial"/>
                <a:cs typeface="Arial"/>
              </a:rPr>
              <a:t>1,c_</a:t>
            </a:r>
            <a:r>
              <a:rPr sz="2000" b="1" spc="-12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spc="-160" dirty="0">
                <a:solidFill>
                  <a:srgbClr val="0000FF"/>
                </a:solidFill>
                <a:latin typeface="Arial"/>
                <a:cs typeface="Arial"/>
              </a:rPr>
              <a:t>n);  </a:t>
            </a:r>
            <a:r>
              <a:rPr sz="2000" b="1" spc="-190" dirty="0">
                <a:solidFill>
                  <a:srgbClr val="0000FF"/>
                </a:solidFill>
                <a:latin typeface="Arial"/>
                <a:cs typeface="Arial"/>
              </a:rPr>
              <a:t>or(c_out,c1,c2);</a:t>
            </a:r>
            <a:endParaRPr sz="2000">
              <a:latin typeface="Arial"/>
              <a:cs typeface="Arial"/>
            </a:endParaRPr>
          </a:p>
          <a:p>
            <a:pPr marL="2451100">
              <a:lnSpc>
                <a:spcPct val="100000"/>
              </a:lnSpc>
              <a:spcBef>
                <a:spcPts val="240"/>
              </a:spcBef>
            </a:pPr>
            <a:r>
              <a:rPr sz="2000" b="1" spc="-229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800" y="3115056"/>
            <a:ext cx="4191000" cy="1761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26754" y="6643232"/>
            <a:ext cx="17780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71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74394" y="996797"/>
            <a:ext cx="7546340" cy="547497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2000" b="1" spc="-40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6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LL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EL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8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70" dirty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OD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26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33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TA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IO</a:t>
            </a:r>
            <a:r>
              <a:rPr sz="2000" b="1" spc="2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  <a:p>
            <a:pPr marL="3449320" marR="967105" indent="-342900">
              <a:lnSpc>
                <a:spcPts val="3600"/>
              </a:lnSpc>
              <a:spcBef>
                <a:spcPts val="170"/>
              </a:spcBef>
            </a:pPr>
            <a:r>
              <a:rPr sz="2000" spc="-140" dirty="0">
                <a:latin typeface="Microsoft Sans Serif"/>
                <a:cs typeface="Microsoft Sans Serif"/>
              </a:rPr>
              <a:t>mo</a:t>
            </a:r>
            <a:r>
              <a:rPr sz="2000" spc="-105" dirty="0">
                <a:latin typeface="Microsoft Sans Serif"/>
                <a:cs typeface="Microsoft Sans Serif"/>
              </a:rPr>
              <a:t>d</a:t>
            </a:r>
            <a:r>
              <a:rPr sz="2000" spc="-125" dirty="0">
                <a:latin typeface="Microsoft Sans Serif"/>
                <a:cs typeface="Microsoft Sans Serif"/>
              </a:rPr>
              <a:t>ul</a:t>
            </a:r>
            <a:r>
              <a:rPr sz="2000" spc="-170" dirty="0">
                <a:latin typeface="Microsoft Sans Serif"/>
                <a:cs typeface="Microsoft Sans Serif"/>
              </a:rPr>
              <a:t>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95" dirty="0">
                <a:latin typeface="Microsoft Sans Serif"/>
                <a:cs typeface="Microsoft Sans Serif"/>
              </a:rPr>
              <a:t>a</a:t>
            </a:r>
            <a:r>
              <a:rPr sz="2000" spc="-190" dirty="0">
                <a:latin typeface="Microsoft Sans Serif"/>
                <a:cs typeface="Microsoft Sans Serif"/>
              </a:rPr>
              <a:t>d</a:t>
            </a:r>
            <a:r>
              <a:rPr sz="2000" spc="-120" dirty="0">
                <a:latin typeface="Microsoft Sans Serif"/>
                <a:cs typeface="Microsoft Sans Serif"/>
              </a:rPr>
              <a:t>der</a:t>
            </a:r>
            <a:r>
              <a:rPr sz="2000" spc="-100" dirty="0">
                <a:latin typeface="Microsoft Sans Serif"/>
                <a:cs typeface="Microsoft Sans Serif"/>
              </a:rPr>
              <a:t>_4bit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229" dirty="0">
                <a:latin typeface="Microsoft Sans Serif"/>
                <a:cs typeface="Microsoft Sans Serif"/>
              </a:rPr>
              <a:t>(S,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COU</a:t>
            </a:r>
            <a:r>
              <a:rPr sz="2000" spc="-60" dirty="0">
                <a:latin typeface="Microsoft Sans Serif"/>
                <a:cs typeface="Microsoft Sans Serif"/>
              </a:rPr>
              <a:t>T</a:t>
            </a:r>
            <a:r>
              <a:rPr sz="2000" spc="-130" dirty="0">
                <a:latin typeface="Microsoft Sans Serif"/>
                <a:cs typeface="Microsoft Sans Serif"/>
              </a:rPr>
              <a:t>,A,B</a:t>
            </a:r>
            <a:r>
              <a:rPr sz="2000" spc="-90" dirty="0">
                <a:latin typeface="Microsoft Sans Serif"/>
                <a:cs typeface="Microsoft Sans Serif"/>
              </a:rPr>
              <a:t>)</a:t>
            </a:r>
            <a:r>
              <a:rPr sz="2000" spc="-5" dirty="0">
                <a:latin typeface="Microsoft Sans Serif"/>
                <a:cs typeface="Microsoft Sans Serif"/>
              </a:rPr>
              <a:t>;  </a:t>
            </a:r>
            <a:r>
              <a:rPr sz="2000" spc="-130" dirty="0">
                <a:latin typeface="Microsoft Sans Serif"/>
                <a:cs typeface="Microsoft Sans Serif"/>
              </a:rPr>
              <a:t>o</a:t>
            </a:r>
            <a:r>
              <a:rPr sz="2000" spc="-125" dirty="0">
                <a:latin typeface="Microsoft Sans Serif"/>
                <a:cs typeface="Microsoft Sans Serif"/>
              </a:rPr>
              <a:t>u</a:t>
            </a:r>
            <a:r>
              <a:rPr sz="2000" spc="-70" dirty="0">
                <a:latin typeface="Microsoft Sans Serif"/>
                <a:cs typeface="Microsoft Sans Serif"/>
              </a:rPr>
              <a:t>tp</a:t>
            </a:r>
            <a:r>
              <a:rPr sz="2000" spc="-80" dirty="0">
                <a:latin typeface="Microsoft Sans Serif"/>
                <a:cs typeface="Microsoft Sans Serif"/>
              </a:rPr>
              <a:t>u</a:t>
            </a:r>
            <a:r>
              <a:rPr sz="2000" spc="45" dirty="0">
                <a:latin typeface="Microsoft Sans Serif"/>
                <a:cs typeface="Microsoft Sans Serif"/>
              </a:rPr>
              <a:t>t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[3:0]</a:t>
            </a:r>
            <a:r>
              <a:rPr sz="2000" spc="-275" dirty="0">
                <a:latin typeface="Microsoft Sans Serif"/>
                <a:cs typeface="Microsoft Sans Serif"/>
              </a:rPr>
              <a:t>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3449320" marR="2544445">
              <a:lnSpc>
                <a:spcPts val="3600"/>
              </a:lnSpc>
              <a:spcBef>
                <a:spcPts val="5"/>
              </a:spcBef>
            </a:pPr>
            <a:r>
              <a:rPr sz="2000" spc="-70" dirty="0">
                <a:latin typeface="Microsoft Sans Serif"/>
                <a:cs typeface="Microsoft Sans Serif"/>
              </a:rPr>
              <a:t>output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COUT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;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85" dirty="0">
                <a:latin typeface="Microsoft Sans Serif"/>
                <a:cs typeface="Microsoft Sans Serif"/>
              </a:rPr>
              <a:t>in</a:t>
            </a:r>
            <a:r>
              <a:rPr sz="2000" spc="-110" dirty="0">
                <a:latin typeface="Microsoft Sans Serif"/>
                <a:cs typeface="Microsoft Sans Serif"/>
              </a:rPr>
              <a:t>p</a:t>
            </a:r>
            <a:r>
              <a:rPr sz="2000" spc="-70" dirty="0">
                <a:latin typeface="Microsoft Sans Serif"/>
                <a:cs typeface="Microsoft Sans Serif"/>
              </a:rPr>
              <a:t>u</a:t>
            </a:r>
            <a:r>
              <a:rPr sz="2000" spc="-35" dirty="0">
                <a:latin typeface="Microsoft Sans Serif"/>
                <a:cs typeface="Microsoft Sans Serif"/>
              </a:rPr>
              <a:t>t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[3:0</a:t>
            </a:r>
            <a:r>
              <a:rPr sz="2000" spc="-100" dirty="0">
                <a:latin typeface="Microsoft Sans Serif"/>
                <a:cs typeface="Microsoft Sans Serif"/>
              </a:rPr>
              <a:t>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880"/>
              </a:spcBef>
            </a:pPr>
            <a:r>
              <a:rPr sz="2000" spc="-100" dirty="0">
                <a:latin typeface="Microsoft Sans Serif"/>
                <a:cs typeface="Microsoft Sans Serif"/>
              </a:rPr>
              <a:t>inp</a:t>
            </a:r>
            <a:r>
              <a:rPr sz="2000" spc="-120" dirty="0">
                <a:latin typeface="Microsoft Sans Serif"/>
                <a:cs typeface="Microsoft Sans Serif"/>
              </a:rPr>
              <a:t>u</a:t>
            </a:r>
            <a:r>
              <a:rPr sz="2000" spc="45" dirty="0">
                <a:latin typeface="Microsoft Sans Serif"/>
                <a:cs typeface="Microsoft Sans Serif"/>
              </a:rPr>
              <a:t>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[3:</a:t>
            </a:r>
            <a:r>
              <a:rPr sz="2000" spc="-220" dirty="0">
                <a:latin typeface="Microsoft Sans Serif"/>
                <a:cs typeface="Microsoft Sans Serif"/>
              </a:rPr>
              <a:t>0</a:t>
            </a:r>
            <a:r>
              <a:rPr sz="2000" spc="-60" dirty="0">
                <a:latin typeface="Microsoft Sans Serif"/>
                <a:cs typeface="Microsoft Sans Serif"/>
              </a:rPr>
              <a:t>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300" dirty="0">
                <a:latin typeface="Microsoft Sans Serif"/>
                <a:cs typeface="Microsoft Sans Serif"/>
              </a:rPr>
              <a:t>B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1200"/>
              </a:spcBef>
            </a:pPr>
            <a:r>
              <a:rPr sz="2000" spc="-110" dirty="0">
                <a:latin typeface="Microsoft Sans Serif"/>
                <a:cs typeface="Microsoft Sans Serif"/>
              </a:rPr>
              <a:t>wir</a:t>
            </a:r>
            <a:r>
              <a:rPr sz="2000" spc="-135" dirty="0">
                <a:latin typeface="Microsoft Sans Serif"/>
                <a:cs typeface="Microsoft Sans Serif"/>
              </a:rPr>
              <a:t>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30" dirty="0">
                <a:latin typeface="Microsoft Sans Serif"/>
                <a:cs typeface="Microsoft Sans Serif"/>
              </a:rPr>
              <a:t>[2:0]C;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1200"/>
              </a:spcBef>
            </a:pPr>
            <a:r>
              <a:rPr sz="2000" spc="-95" dirty="0">
                <a:latin typeface="Microsoft Sans Serif"/>
                <a:cs typeface="Microsoft Sans Serif"/>
              </a:rPr>
              <a:t>FullAdder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FA0(S[0],C[0],A[0],B[0],1'b0);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1200"/>
              </a:spcBef>
            </a:pPr>
            <a:r>
              <a:rPr sz="2000" spc="-80" dirty="0">
                <a:latin typeface="Microsoft Sans Serif"/>
                <a:cs typeface="Microsoft Sans Serif"/>
              </a:rPr>
              <a:t>FullA</a:t>
            </a:r>
            <a:r>
              <a:rPr sz="2000" spc="-90" dirty="0">
                <a:latin typeface="Microsoft Sans Serif"/>
                <a:cs typeface="Microsoft Sans Serif"/>
              </a:rPr>
              <a:t>d</a:t>
            </a:r>
            <a:r>
              <a:rPr sz="2000" spc="-120" dirty="0">
                <a:latin typeface="Microsoft Sans Serif"/>
                <a:cs typeface="Microsoft Sans Serif"/>
              </a:rPr>
              <a:t>der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200" dirty="0">
                <a:latin typeface="Microsoft Sans Serif"/>
                <a:cs typeface="Microsoft Sans Serif"/>
              </a:rPr>
              <a:t>FA1(S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65" dirty="0">
                <a:latin typeface="Microsoft Sans Serif"/>
                <a:cs typeface="Microsoft Sans Serif"/>
              </a:rPr>
              <a:t>1],C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75" dirty="0">
                <a:latin typeface="Microsoft Sans Serif"/>
                <a:cs typeface="Microsoft Sans Serif"/>
              </a:rPr>
              <a:t>1]</a:t>
            </a:r>
            <a:r>
              <a:rPr sz="2000" spc="-130" dirty="0">
                <a:latin typeface="Microsoft Sans Serif"/>
                <a:cs typeface="Microsoft Sans Serif"/>
              </a:rPr>
              <a:t>,</a:t>
            </a:r>
            <a:r>
              <a:rPr sz="2000" spc="30" dirty="0">
                <a:latin typeface="Microsoft Sans Serif"/>
                <a:cs typeface="Microsoft Sans Serif"/>
              </a:rPr>
              <a:t>A</a:t>
            </a:r>
            <a:r>
              <a:rPr sz="2000" spc="15" dirty="0">
                <a:latin typeface="Microsoft Sans Serif"/>
                <a:cs typeface="Microsoft Sans Serif"/>
              </a:rPr>
              <a:t>[</a:t>
            </a:r>
            <a:r>
              <a:rPr sz="2000" spc="-229" dirty="0">
                <a:latin typeface="Microsoft Sans Serif"/>
                <a:cs typeface="Microsoft Sans Serif"/>
              </a:rPr>
              <a:t>1</a:t>
            </a:r>
            <a:r>
              <a:rPr sz="2000" spc="-130" dirty="0">
                <a:latin typeface="Microsoft Sans Serif"/>
                <a:cs typeface="Microsoft Sans Serif"/>
              </a:rPr>
              <a:t>]</a:t>
            </a:r>
            <a:r>
              <a:rPr sz="2000" spc="-180" dirty="0">
                <a:latin typeface="Microsoft Sans Serif"/>
                <a:cs typeface="Microsoft Sans Serif"/>
              </a:rPr>
              <a:t>,B[1</a:t>
            </a:r>
            <a:r>
              <a:rPr sz="2000" spc="-120" dirty="0">
                <a:latin typeface="Microsoft Sans Serif"/>
                <a:cs typeface="Microsoft Sans Serif"/>
              </a:rPr>
              <a:t>]</a:t>
            </a:r>
            <a:r>
              <a:rPr sz="2000" spc="-155" dirty="0">
                <a:latin typeface="Microsoft Sans Serif"/>
                <a:cs typeface="Microsoft Sans Serif"/>
              </a:rPr>
              <a:t>,C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90" dirty="0">
                <a:latin typeface="Microsoft Sans Serif"/>
                <a:cs typeface="Microsoft Sans Serif"/>
              </a:rPr>
              <a:t>0]</a:t>
            </a:r>
            <a:r>
              <a:rPr sz="2000" spc="-145" dirty="0">
                <a:latin typeface="Microsoft Sans Serif"/>
                <a:cs typeface="Microsoft Sans Serif"/>
              </a:rPr>
              <a:t>)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1205"/>
              </a:spcBef>
            </a:pPr>
            <a:r>
              <a:rPr sz="2000" spc="-80" dirty="0">
                <a:latin typeface="Microsoft Sans Serif"/>
                <a:cs typeface="Microsoft Sans Serif"/>
              </a:rPr>
              <a:t>FullA</a:t>
            </a:r>
            <a:r>
              <a:rPr sz="2000" spc="-90" dirty="0">
                <a:latin typeface="Microsoft Sans Serif"/>
                <a:cs typeface="Microsoft Sans Serif"/>
              </a:rPr>
              <a:t>d</a:t>
            </a:r>
            <a:r>
              <a:rPr sz="2000" spc="-120" dirty="0">
                <a:latin typeface="Microsoft Sans Serif"/>
                <a:cs typeface="Microsoft Sans Serif"/>
              </a:rPr>
              <a:t>der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200" dirty="0">
                <a:latin typeface="Microsoft Sans Serif"/>
                <a:cs typeface="Microsoft Sans Serif"/>
              </a:rPr>
              <a:t>FA2(S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65" dirty="0">
                <a:latin typeface="Microsoft Sans Serif"/>
                <a:cs typeface="Microsoft Sans Serif"/>
              </a:rPr>
              <a:t>2],C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75" dirty="0">
                <a:latin typeface="Microsoft Sans Serif"/>
                <a:cs typeface="Microsoft Sans Serif"/>
              </a:rPr>
              <a:t>2]</a:t>
            </a:r>
            <a:r>
              <a:rPr sz="2000" spc="-130" dirty="0">
                <a:latin typeface="Microsoft Sans Serif"/>
                <a:cs typeface="Microsoft Sans Serif"/>
              </a:rPr>
              <a:t>,</a:t>
            </a:r>
            <a:r>
              <a:rPr sz="2000" spc="30" dirty="0">
                <a:latin typeface="Microsoft Sans Serif"/>
                <a:cs typeface="Microsoft Sans Serif"/>
              </a:rPr>
              <a:t>A</a:t>
            </a:r>
            <a:r>
              <a:rPr sz="2000" spc="15" dirty="0">
                <a:latin typeface="Microsoft Sans Serif"/>
                <a:cs typeface="Microsoft Sans Serif"/>
              </a:rPr>
              <a:t>[</a:t>
            </a:r>
            <a:r>
              <a:rPr sz="2000" spc="-229" dirty="0">
                <a:latin typeface="Microsoft Sans Serif"/>
                <a:cs typeface="Microsoft Sans Serif"/>
              </a:rPr>
              <a:t>2</a:t>
            </a:r>
            <a:r>
              <a:rPr sz="2000" spc="-130" dirty="0">
                <a:latin typeface="Microsoft Sans Serif"/>
                <a:cs typeface="Microsoft Sans Serif"/>
              </a:rPr>
              <a:t>]</a:t>
            </a:r>
            <a:r>
              <a:rPr sz="2000" spc="-180" dirty="0">
                <a:latin typeface="Microsoft Sans Serif"/>
                <a:cs typeface="Microsoft Sans Serif"/>
              </a:rPr>
              <a:t>,B[2</a:t>
            </a:r>
            <a:r>
              <a:rPr sz="2000" spc="-120" dirty="0">
                <a:latin typeface="Microsoft Sans Serif"/>
                <a:cs typeface="Microsoft Sans Serif"/>
              </a:rPr>
              <a:t>]</a:t>
            </a:r>
            <a:r>
              <a:rPr sz="2000" spc="-155" dirty="0">
                <a:latin typeface="Microsoft Sans Serif"/>
                <a:cs typeface="Microsoft Sans Serif"/>
              </a:rPr>
              <a:t>,C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90" dirty="0">
                <a:latin typeface="Microsoft Sans Serif"/>
                <a:cs typeface="Microsoft Sans Serif"/>
              </a:rPr>
              <a:t>1]</a:t>
            </a:r>
            <a:r>
              <a:rPr sz="2000" spc="-145" dirty="0">
                <a:latin typeface="Microsoft Sans Serif"/>
                <a:cs typeface="Microsoft Sans Serif"/>
              </a:rPr>
              <a:t>)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1195"/>
              </a:spcBef>
            </a:pPr>
            <a:r>
              <a:rPr sz="2000" spc="-95" dirty="0">
                <a:latin typeface="Microsoft Sans Serif"/>
                <a:cs typeface="Microsoft Sans Serif"/>
              </a:rPr>
              <a:t>FullAdder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35" dirty="0">
                <a:latin typeface="Microsoft Sans Serif"/>
                <a:cs typeface="Microsoft Sans Serif"/>
              </a:rPr>
              <a:t>FA3(S[3],COUT,A[3],B[3],C[2]);</a:t>
            </a:r>
            <a:endParaRPr sz="2000">
              <a:latin typeface="Microsoft Sans Serif"/>
              <a:cs typeface="Microsoft Sans Serif"/>
            </a:endParaRPr>
          </a:p>
          <a:p>
            <a:pPr marL="3449320">
              <a:lnSpc>
                <a:spcPct val="100000"/>
              </a:lnSpc>
              <a:spcBef>
                <a:spcPts val="1200"/>
              </a:spcBef>
            </a:pPr>
            <a:r>
              <a:rPr sz="2000" spc="-150" dirty="0">
                <a:latin typeface="Microsoft Sans Serif"/>
                <a:cs typeface="Microsoft Sans Serif"/>
              </a:rPr>
              <a:t>endmodule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1731" y="2590800"/>
            <a:ext cx="4658868" cy="213360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826754" y="6643232"/>
            <a:ext cx="17780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71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94175" y="1186941"/>
            <a:ext cx="3591560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3245" algn="l"/>
              </a:tabLst>
            </a:pPr>
            <a:r>
              <a:rPr sz="1800" b="1" spc="15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800" b="1" spc="-175" dirty="0">
                <a:solidFill>
                  <a:srgbClr val="0000FF"/>
                </a:solidFill>
                <a:latin typeface="Arial"/>
                <a:cs typeface="Arial"/>
              </a:rPr>
              <a:t>Mux4to1</a:t>
            </a:r>
            <a:endParaRPr sz="1800">
              <a:latin typeface="Arial"/>
              <a:cs typeface="Arial"/>
            </a:endParaRPr>
          </a:p>
          <a:p>
            <a:pPr marL="268605" marR="5080" indent="-256540">
              <a:lnSpc>
                <a:spcPct val="100000"/>
              </a:lnSpc>
            </a:pPr>
            <a:r>
              <a:rPr sz="1800" b="1" spc="-20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70" dirty="0">
                <a:solidFill>
                  <a:srgbClr val="0000FF"/>
                </a:solidFill>
                <a:latin typeface="Arial"/>
                <a:cs typeface="Arial"/>
              </a:rPr>
              <a:t>Mux4to1(i0,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i1,</a:t>
            </a:r>
            <a:r>
              <a:rPr sz="18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i2,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i3,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60" dirty="0">
                <a:solidFill>
                  <a:srgbClr val="0000FF"/>
                </a:solidFill>
                <a:latin typeface="Arial"/>
                <a:cs typeface="Arial"/>
              </a:rPr>
              <a:t>s0,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60" dirty="0">
                <a:solidFill>
                  <a:srgbClr val="0000FF"/>
                </a:solidFill>
                <a:latin typeface="Arial"/>
                <a:cs typeface="Arial"/>
              </a:rPr>
              <a:t>s1,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out); </a:t>
            </a:r>
            <a:r>
              <a:rPr sz="1800" b="1" spc="-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268605" marR="2306320">
              <a:lnSpc>
                <a:spcPct val="100000"/>
              </a:lnSpc>
            </a:pP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put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42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42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155" dirty="0">
                <a:solidFill>
                  <a:srgbClr val="0000FF"/>
                </a:solidFill>
                <a:latin typeface="Arial"/>
                <a:cs typeface="Arial"/>
              </a:rPr>
              <a:t>tp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85" dirty="0">
                <a:solidFill>
                  <a:srgbClr val="0000FF"/>
                </a:solidFill>
                <a:latin typeface="Arial"/>
                <a:cs typeface="Arial"/>
              </a:rPr>
              <a:t>t;</a:t>
            </a:r>
            <a:endParaRPr sz="1800">
              <a:latin typeface="Arial"/>
              <a:cs typeface="Arial"/>
            </a:endParaRPr>
          </a:p>
          <a:p>
            <a:pPr marL="419100" marR="1721485">
              <a:lnSpc>
                <a:spcPct val="100000"/>
              </a:lnSpc>
              <a:spcBef>
                <a:spcPts val="5"/>
              </a:spcBef>
            </a:pP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14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42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95" dirty="0">
                <a:solidFill>
                  <a:srgbClr val="0000FF"/>
                </a:solidFill>
                <a:latin typeface="Arial"/>
                <a:cs typeface="Arial"/>
              </a:rPr>
              <a:t>s0</a:t>
            </a:r>
            <a:r>
              <a:rPr sz="1800" b="1" spc="-32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9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800" b="1" spc="-95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800" b="1" spc="-14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195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,y2,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3;  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42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45" dirty="0">
                <a:solidFill>
                  <a:srgbClr val="0000FF"/>
                </a:solidFill>
                <a:latin typeface="Arial"/>
                <a:cs typeface="Arial"/>
              </a:rPr>
              <a:t>,s</a:t>
            </a:r>
            <a:r>
              <a:rPr sz="1800" b="1" spc="-30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42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45" dirty="0">
                <a:solidFill>
                  <a:srgbClr val="0000FF"/>
                </a:solidFill>
                <a:latin typeface="Arial"/>
                <a:cs typeface="Arial"/>
              </a:rPr>
              <a:t>,s</a:t>
            </a:r>
            <a:r>
              <a:rPr sz="1800" b="1" spc="-30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,i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245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800" b="1" spc="-3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45" dirty="0">
                <a:solidFill>
                  <a:srgbClr val="0000FF"/>
                </a:solidFill>
                <a:latin typeface="Arial"/>
                <a:cs typeface="Arial"/>
              </a:rPr>
              <a:t>,s</a:t>
            </a:r>
            <a:r>
              <a:rPr sz="1800" b="1" spc="-30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,i</a:t>
            </a: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,s1n,</a:t>
            </a:r>
            <a:r>
              <a:rPr sz="1800" b="1" spc="-30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,i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95" dirty="0">
                <a:solidFill>
                  <a:srgbClr val="0000FF"/>
                </a:solidFill>
                <a:latin typeface="Arial"/>
                <a:cs typeface="Arial"/>
              </a:rPr>
              <a:t>s0</a:t>
            </a:r>
            <a:r>
              <a:rPr sz="1800" b="1" spc="-32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130" dirty="0">
                <a:solidFill>
                  <a:srgbClr val="0000FF"/>
                </a:solidFill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</a:pPr>
            <a:r>
              <a:rPr sz="1800" b="1" spc="-229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800" b="1" spc="-20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8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800" b="1" spc="-125" dirty="0">
                <a:solidFill>
                  <a:srgbClr val="0000FF"/>
                </a:solidFill>
                <a:latin typeface="Arial"/>
                <a:cs typeface="Arial"/>
              </a:rPr>
              <a:t>,i</a:t>
            </a:r>
            <a:r>
              <a:rPr sz="1800" b="1" spc="-225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800" b="1" spc="-254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800" b="1" spc="-14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235" dirty="0">
                <a:solidFill>
                  <a:srgbClr val="0000FF"/>
                </a:solidFill>
                <a:latin typeface="Arial"/>
                <a:cs typeface="Arial"/>
              </a:rPr>
              <a:t>s0);</a:t>
            </a:r>
            <a:endParaRPr sz="1800">
              <a:latin typeface="Arial"/>
              <a:cs typeface="Arial"/>
            </a:endParaRPr>
          </a:p>
          <a:p>
            <a:pPr marL="12700" marR="1439545" indent="406400">
              <a:lnSpc>
                <a:spcPct val="100000"/>
              </a:lnSpc>
            </a:pP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105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800" b="1" spc="-19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800" b="1" spc="-21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800" b="1" spc="-5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,y0,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800" b="1" spc="-165" dirty="0">
                <a:solidFill>
                  <a:srgbClr val="0000FF"/>
                </a:solidFill>
                <a:latin typeface="Arial"/>
                <a:cs typeface="Arial"/>
              </a:rPr>
              <a:t>,y2,</a:t>
            </a:r>
            <a:r>
              <a:rPr sz="1800" b="1" spc="-210" dirty="0">
                <a:solidFill>
                  <a:srgbClr val="0000FF"/>
                </a:solidFill>
                <a:latin typeface="Arial"/>
                <a:cs typeface="Arial"/>
              </a:rPr>
              <a:t>y</a:t>
            </a:r>
            <a:r>
              <a:rPr sz="1800" b="1" spc="-25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800" b="1" spc="-120" dirty="0">
                <a:solidFill>
                  <a:srgbClr val="0000FF"/>
                </a:solidFill>
                <a:latin typeface="Arial"/>
                <a:cs typeface="Arial"/>
              </a:rPr>
              <a:t>);  </a:t>
            </a:r>
            <a:r>
              <a:rPr sz="1800" b="1" spc="-204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2627" y="2229611"/>
            <a:ext cx="3816096" cy="285445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76197" y="1377441"/>
            <a:ext cx="9283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72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76197" y="1377441"/>
            <a:ext cx="1285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1800" algn="l"/>
              </a:tabLst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5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UX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975" y="1260093"/>
            <a:ext cx="4629785" cy="4948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33575" algn="l"/>
              </a:tabLst>
            </a:pPr>
            <a:r>
              <a:rPr sz="1900" b="1" spc="155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70" dirty="0">
                <a:solidFill>
                  <a:srgbClr val="0000FF"/>
                </a:solidFill>
                <a:latin typeface="Arial"/>
                <a:cs typeface="Arial"/>
              </a:rPr>
              <a:t>Module</a:t>
            </a:r>
            <a:r>
              <a:rPr sz="19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70" dirty="0">
                <a:solidFill>
                  <a:srgbClr val="0000FF"/>
                </a:solidFill>
                <a:latin typeface="Arial"/>
                <a:cs typeface="Arial"/>
              </a:rPr>
              <a:t>Name:	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Dux1to4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od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900" b="1" spc="-24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9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70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23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o4</a:t>
            </a:r>
            <a:r>
              <a:rPr sz="1900" b="1" spc="-13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in,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45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9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45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9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900" b="1" spc="-11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1900" b="1" spc="-110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900">
              <a:latin typeface="Arial"/>
              <a:cs typeface="Arial"/>
            </a:endParaRPr>
          </a:p>
          <a:p>
            <a:pPr marL="280670" marR="3032760">
              <a:lnSpc>
                <a:spcPct val="100000"/>
              </a:lnSpc>
            </a:pP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45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45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275" dirty="0">
                <a:solidFill>
                  <a:srgbClr val="0000FF"/>
                </a:solidFill>
                <a:latin typeface="Arial"/>
                <a:cs typeface="Arial"/>
              </a:rPr>
              <a:t>w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900" b="1" spc="-24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9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45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6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900" b="1" spc="-37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;  </a:t>
            </a:r>
            <a:r>
              <a:rPr sz="1900" b="1" spc="-229" dirty="0">
                <a:solidFill>
                  <a:srgbClr val="0000FF"/>
                </a:solidFill>
                <a:latin typeface="Arial"/>
                <a:cs typeface="Arial"/>
              </a:rPr>
              <a:t>not(s0n,s0);</a:t>
            </a:r>
            <a:endParaRPr sz="1900">
              <a:latin typeface="Arial"/>
              <a:cs typeface="Arial"/>
            </a:endParaRPr>
          </a:p>
          <a:p>
            <a:pPr marL="422275">
              <a:lnSpc>
                <a:spcPct val="100000"/>
              </a:lnSpc>
              <a:spcBef>
                <a:spcPts val="5"/>
              </a:spcBef>
            </a:pPr>
            <a:r>
              <a:rPr sz="1900" b="1" spc="-229" dirty="0">
                <a:solidFill>
                  <a:srgbClr val="0000FF"/>
                </a:solidFill>
                <a:latin typeface="Arial"/>
                <a:cs typeface="Arial"/>
              </a:rPr>
              <a:t>not(s1n,s1);</a:t>
            </a:r>
            <a:endParaRPr sz="1900">
              <a:latin typeface="Arial"/>
              <a:cs typeface="Arial"/>
            </a:endParaRPr>
          </a:p>
          <a:p>
            <a:pPr marL="422275" marR="2275840">
              <a:lnSpc>
                <a:spcPct val="100000"/>
              </a:lnSpc>
            </a:pPr>
            <a:r>
              <a:rPr sz="1900" b="1" spc="-26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900" b="1" spc="-32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,s0</a:t>
            </a:r>
            <a:r>
              <a:rPr sz="1900" b="1" spc="-32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125" dirty="0">
                <a:solidFill>
                  <a:srgbClr val="0000FF"/>
                </a:solidFill>
                <a:latin typeface="Arial"/>
                <a:cs typeface="Arial"/>
              </a:rPr>
              <a:t>);  </a:t>
            </a:r>
            <a:r>
              <a:rPr sz="1900" b="1" spc="-26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55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5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900" b="1" spc="-32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04" dirty="0">
                <a:solidFill>
                  <a:srgbClr val="0000FF"/>
                </a:solidFill>
                <a:latin typeface="Arial"/>
                <a:cs typeface="Arial"/>
              </a:rPr>
              <a:t>,s0);  </a:t>
            </a:r>
            <a:r>
              <a:rPr sz="1900" b="1" spc="-26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70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315" dirty="0">
                <a:solidFill>
                  <a:srgbClr val="0000FF"/>
                </a:solidFill>
                <a:latin typeface="Arial"/>
                <a:cs typeface="Arial"/>
              </a:rPr>
              <a:t>s0</a:t>
            </a:r>
            <a:r>
              <a:rPr sz="1900" b="1" spc="-33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125" dirty="0">
                <a:solidFill>
                  <a:srgbClr val="0000FF"/>
                </a:solidFill>
                <a:latin typeface="Arial"/>
                <a:cs typeface="Arial"/>
              </a:rPr>
              <a:t>);  </a:t>
            </a:r>
            <a:r>
              <a:rPr sz="1900" b="1" spc="-26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15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1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sz="1900" b="1" spc="-2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u</a:t>
            </a:r>
            <a:r>
              <a:rPr sz="1900" b="1" spc="-60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900" b="1" spc="-254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1900" b="1" spc="-10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11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900" b="1" spc="-24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1900" b="1" spc="-270" dirty="0">
                <a:solidFill>
                  <a:srgbClr val="0000FF"/>
                </a:solidFill>
                <a:latin typeface="Arial"/>
                <a:cs typeface="Arial"/>
              </a:rPr>
              <a:t>,s1</a:t>
            </a:r>
            <a:r>
              <a:rPr sz="1900" b="1" spc="-160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900" b="1" spc="-250" dirty="0">
                <a:solidFill>
                  <a:srgbClr val="0000FF"/>
                </a:solidFill>
                <a:latin typeface="Arial"/>
                <a:cs typeface="Arial"/>
              </a:rPr>
              <a:t>s0);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00" b="1" spc="-220" dirty="0">
                <a:solidFill>
                  <a:srgbClr val="0000FF"/>
                </a:solidFill>
                <a:latin typeface="Arial"/>
                <a:cs typeface="Arial"/>
              </a:rPr>
              <a:t>endmodule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5279" y="2321051"/>
            <a:ext cx="3017520" cy="3165348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73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81000" y="1905000"/>
            <a:ext cx="8768080" cy="4953000"/>
            <a:chOff x="381000" y="1905000"/>
            <a:chExt cx="8768080" cy="49530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1600" y="1905000"/>
              <a:ext cx="3429000" cy="39334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043427"/>
              <a:ext cx="4543044" cy="190957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099428" y="1301241"/>
            <a:ext cx="1452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74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98194" y="1682242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254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8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5" y="155460"/>
              <a:ext cx="550011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4201" y="289382"/>
            <a:ext cx="4890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STRUCTURAL</a:t>
            </a:r>
            <a:r>
              <a:rPr spc="-114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93444" y="1225041"/>
            <a:ext cx="4027804" cy="3846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000" b="1" spc="-250" dirty="0">
                <a:solidFill>
                  <a:srgbClr val="C00000"/>
                </a:solidFill>
                <a:latin typeface="Arial"/>
                <a:cs typeface="Arial"/>
              </a:rPr>
              <a:t>EXERCISE</a:t>
            </a:r>
            <a:endParaRPr sz="20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spcBef>
                <a:spcPts val="1760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465" dirty="0">
                <a:latin typeface="Arial"/>
                <a:cs typeface="Arial"/>
              </a:rPr>
              <a:t>B</a:t>
            </a:r>
            <a:r>
              <a:rPr sz="2400" b="1" spc="-170" dirty="0">
                <a:latin typeface="Arial"/>
                <a:cs typeface="Arial"/>
              </a:rPr>
              <a:t>i</a:t>
            </a:r>
            <a:r>
              <a:rPr sz="2400" b="1" spc="-295" dirty="0">
                <a:latin typeface="Arial"/>
                <a:cs typeface="Arial"/>
              </a:rPr>
              <a:t>n</a:t>
            </a:r>
            <a:r>
              <a:rPr sz="2400" b="1" spc="-275" dirty="0">
                <a:latin typeface="Arial"/>
                <a:cs typeface="Arial"/>
              </a:rPr>
              <a:t>a</a:t>
            </a:r>
            <a:r>
              <a:rPr sz="2400" b="1" spc="-190" dirty="0">
                <a:latin typeface="Arial"/>
                <a:cs typeface="Arial"/>
              </a:rPr>
              <a:t>r</a:t>
            </a:r>
            <a:r>
              <a:rPr sz="2400" b="1" spc="-254" dirty="0">
                <a:latin typeface="Arial"/>
                <a:cs typeface="Arial"/>
              </a:rPr>
              <a:t>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409" dirty="0">
                <a:latin typeface="Arial"/>
                <a:cs typeface="Arial"/>
              </a:rPr>
              <a:t>S</a:t>
            </a:r>
            <a:r>
              <a:rPr sz="2400" b="1" spc="-360" dirty="0">
                <a:latin typeface="Arial"/>
                <a:cs typeface="Arial"/>
              </a:rPr>
              <a:t>u</a:t>
            </a:r>
            <a:r>
              <a:rPr sz="2400" b="1" spc="-295" dirty="0">
                <a:latin typeface="Arial"/>
                <a:cs typeface="Arial"/>
              </a:rPr>
              <a:t>b</a:t>
            </a:r>
            <a:r>
              <a:rPr sz="2400" b="1" spc="-160" dirty="0">
                <a:latin typeface="Arial"/>
                <a:cs typeface="Arial"/>
              </a:rPr>
              <a:t>tr</a:t>
            </a:r>
            <a:r>
              <a:rPr sz="2400" b="1" spc="-235" dirty="0">
                <a:latin typeface="Arial"/>
                <a:cs typeface="Arial"/>
              </a:rPr>
              <a:t>a</a:t>
            </a:r>
            <a:r>
              <a:rPr sz="2400" b="1" spc="-204" dirty="0">
                <a:latin typeface="Arial"/>
                <a:cs typeface="Arial"/>
              </a:rPr>
              <a:t>ct</a:t>
            </a:r>
            <a:r>
              <a:rPr sz="2400" b="1" spc="-290" dirty="0">
                <a:latin typeface="Arial"/>
                <a:cs typeface="Arial"/>
              </a:rPr>
              <a:t>o</a:t>
            </a:r>
            <a:r>
              <a:rPr sz="2400" b="1" spc="-135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445" dirty="0">
                <a:latin typeface="Arial"/>
                <a:cs typeface="Arial"/>
              </a:rPr>
              <a:t>P</a:t>
            </a:r>
            <a:r>
              <a:rPr sz="2400" b="1" spc="-365" dirty="0">
                <a:latin typeface="Arial"/>
                <a:cs typeface="Arial"/>
              </a:rPr>
              <a:t>a</a:t>
            </a:r>
            <a:r>
              <a:rPr sz="2400" b="1" spc="-125" dirty="0">
                <a:latin typeface="Arial"/>
                <a:cs typeface="Arial"/>
              </a:rPr>
              <a:t>r</a:t>
            </a:r>
            <a:r>
              <a:rPr sz="2400" b="1" spc="-325" dirty="0">
                <a:latin typeface="Arial"/>
                <a:cs typeface="Arial"/>
              </a:rPr>
              <a:t>a</a:t>
            </a:r>
            <a:r>
              <a:rPr sz="2400" b="1" spc="-155" dirty="0">
                <a:latin typeface="Arial"/>
                <a:cs typeface="Arial"/>
              </a:rPr>
              <a:t>l</a:t>
            </a:r>
            <a:r>
              <a:rPr sz="2400" b="1" spc="-200" dirty="0">
                <a:latin typeface="Arial"/>
                <a:cs typeface="Arial"/>
              </a:rPr>
              <a:t>lel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55" dirty="0">
                <a:latin typeface="Arial"/>
                <a:cs typeface="Arial"/>
              </a:rPr>
              <a:t>A</a:t>
            </a:r>
            <a:r>
              <a:rPr sz="2400" b="1" spc="-114" dirty="0">
                <a:latin typeface="Arial"/>
                <a:cs typeface="Arial"/>
              </a:rPr>
              <a:t>d</a:t>
            </a:r>
            <a:r>
              <a:rPr sz="2400" b="1" spc="-265" dirty="0">
                <a:latin typeface="Arial"/>
                <a:cs typeface="Arial"/>
              </a:rPr>
              <a:t>d</a:t>
            </a:r>
            <a:r>
              <a:rPr sz="2400" b="1" spc="-220" dirty="0">
                <a:latin typeface="Arial"/>
                <a:cs typeface="Arial"/>
              </a:rPr>
              <a:t>er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465" dirty="0">
                <a:latin typeface="Arial"/>
                <a:cs typeface="Arial"/>
              </a:rPr>
              <a:t>B</a:t>
            </a:r>
            <a:r>
              <a:rPr sz="2400" b="1" spc="-170" dirty="0">
                <a:latin typeface="Arial"/>
                <a:cs typeface="Arial"/>
              </a:rPr>
              <a:t>i</a:t>
            </a:r>
            <a:r>
              <a:rPr sz="2400" b="1" spc="-300" dirty="0">
                <a:latin typeface="Arial"/>
                <a:cs typeface="Arial"/>
              </a:rPr>
              <a:t>n</a:t>
            </a:r>
            <a:r>
              <a:rPr sz="2400" b="1" spc="-280" dirty="0">
                <a:latin typeface="Arial"/>
                <a:cs typeface="Arial"/>
              </a:rPr>
              <a:t>a</a:t>
            </a:r>
            <a:r>
              <a:rPr sz="2400" b="1" spc="-185" dirty="0">
                <a:latin typeface="Arial"/>
                <a:cs typeface="Arial"/>
              </a:rPr>
              <a:t>r</a:t>
            </a:r>
            <a:r>
              <a:rPr sz="2400" b="1" spc="-254" dirty="0">
                <a:latin typeface="Arial"/>
                <a:cs typeface="Arial"/>
              </a:rPr>
              <a:t>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M</a:t>
            </a:r>
            <a:r>
              <a:rPr sz="2400" b="1" spc="-300" dirty="0">
                <a:latin typeface="Arial"/>
                <a:cs typeface="Arial"/>
              </a:rPr>
              <a:t>u</a:t>
            </a:r>
            <a:r>
              <a:rPr sz="2400" b="1" spc="-130" dirty="0">
                <a:latin typeface="Arial"/>
                <a:cs typeface="Arial"/>
              </a:rPr>
              <a:t>lt</a:t>
            </a:r>
            <a:r>
              <a:rPr sz="2400" b="1" spc="-110" dirty="0">
                <a:latin typeface="Arial"/>
                <a:cs typeface="Arial"/>
              </a:rPr>
              <a:t>i</a:t>
            </a:r>
            <a:r>
              <a:rPr sz="2400" b="1" spc="-200" dirty="0">
                <a:latin typeface="Arial"/>
                <a:cs typeface="Arial"/>
              </a:rPr>
              <a:t>plier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10" dirty="0">
                <a:latin typeface="Arial"/>
                <a:cs typeface="Arial"/>
              </a:rPr>
              <a:t>M</a:t>
            </a:r>
            <a:r>
              <a:rPr sz="2400" b="1" spc="-365" dirty="0">
                <a:latin typeface="Arial"/>
                <a:cs typeface="Arial"/>
              </a:rPr>
              <a:t>a</a:t>
            </a:r>
            <a:r>
              <a:rPr sz="2400" b="1" spc="-390" dirty="0">
                <a:latin typeface="Arial"/>
                <a:cs typeface="Arial"/>
              </a:rPr>
              <a:t>g</a:t>
            </a:r>
            <a:r>
              <a:rPr sz="2400" b="1" spc="-320" dirty="0">
                <a:latin typeface="Arial"/>
                <a:cs typeface="Arial"/>
              </a:rPr>
              <a:t>n</a:t>
            </a:r>
            <a:r>
              <a:rPr sz="2400" b="1" spc="-140" dirty="0">
                <a:latin typeface="Arial"/>
                <a:cs typeface="Arial"/>
              </a:rPr>
              <a:t>i</a:t>
            </a:r>
            <a:r>
              <a:rPr sz="2400" b="1" spc="-240" dirty="0">
                <a:latin typeface="Arial"/>
                <a:cs typeface="Arial"/>
              </a:rPr>
              <a:t>tud</a:t>
            </a:r>
            <a:r>
              <a:rPr sz="2400" b="1" spc="-250" dirty="0">
                <a:latin typeface="Arial"/>
                <a:cs typeface="Arial"/>
              </a:rPr>
              <a:t>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50" dirty="0">
                <a:latin typeface="Arial"/>
                <a:cs typeface="Arial"/>
              </a:rPr>
              <a:t>C</a:t>
            </a:r>
            <a:r>
              <a:rPr sz="2400" b="1" spc="-265" dirty="0">
                <a:latin typeface="Arial"/>
                <a:cs typeface="Arial"/>
              </a:rPr>
              <a:t>o</a:t>
            </a:r>
            <a:r>
              <a:rPr sz="2400" b="1" spc="-330" dirty="0">
                <a:latin typeface="Arial"/>
                <a:cs typeface="Arial"/>
              </a:rPr>
              <a:t>m</a:t>
            </a:r>
            <a:r>
              <a:rPr sz="2400" b="1" spc="-265" dirty="0">
                <a:latin typeface="Arial"/>
                <a:cs typeface="Arial"/>
              </a:rPr>
              <a:t>p</a:t>
            </a:r>
            <a:r>
              <a:rPr sz="2400" b="1" spc="-245" dirty="0">
                <a:latin typeface="Arial"/>
                <a:cs typeface="Arial"/>
              </a:rPr>
              <a:t>ara</a:t>
            </a:r>
            <a:r>
              <a:rPr sz="2400" b="1" spc="-160" dirty="0">
                <a:latin typeface="Arial"/>
                <a:cs typeface="Arial"/>
              </a:rPr>
              <a:t>t</a:t>
            </a:r>
            <a:r>
              <a:rPr sz="2400" b="1" spc="-245" dirty="0">
                <a:latin typeface="Arial"/>
                <a:cs typeface="Arial"/>
              </a:rPr>
              <a:t>o</a:t>
            </a:r>
            <a:r>
              <a:rPr sz="2400" b="1" spc="-150" dirty="0">
                <a:latin typeface="Arial"/>
                <a:cs typeface="Arial"/>
              </a:rPr>
              <a:t>r</a:t>
            </a:r>
            <a:r>
              <a:rPr sz="2400" b="1" spc="-130" dirty="0">
                <a:latin typeface="Arial"/>
                <a:cs typeface="Arial"/>
              </a:rPr>
              <a:t>-</a:t>
            </a:r>
            <a:r>
              <a:rPr sz="2400" b="1" spc="-340" dirty="0">
                <a:latin typeface="Arial"/>
                <a:cs typeface="Arial"/>
              </a:rPr>
              <a:t>4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300" dirty="0">
                <a:latin typeface="Arial"/>
                <a:cs typeface="Arial"/>
              </a:rPr>
              <a:t>b</a:t>
            </a:r>
            <a:r>
              <a:rPr sz="2400" b="1" spc="-114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295" dirty="0">
                <a:latin typeface="Arial"/>
                <a:cs typeface="Arial"/>
              </a:rPr>
              <a:t>Decoders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325" dirty="0">
                <a:latin typeface="Arial"/>
                <a:cs typeface="Arial"/>
              </a:rPr>
              <a:t>Encoders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190" dirty="0">
                <a:latin typeface="Arial"/>
                <a:cs typeface="Arial"/>
              </a:rPr>
              <a:t>Mux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285" dirty="0">
                <a:latin typeface="Arial"/>
                <a:cs typeface="Arial"/>
              </a:rPr>
              <a:t>Demux</a:t>
            </a:r>
            <a:endParaRPr sz="2400">
              <a:latin typeface="Arial"/>
              <a:cs typeface="Arial"/>
            </a:endParaRPr>
          </a:p>
          <a:p>
            <a:pPr marL="469265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  <a:tab pos="469900" algn="l"/>
              </a:tabLst>
            </a:pPr>
            <a:r>
              <a:rPr sz="2400" b="1" spc="-445" dirty="0">
                <a:latin typeface="Arial"/>
                <a:cs typeface="Arial"/>
              </a:rPr>
              <a:t>P</a:t>
            </a:r>
            <a:r>
              <a:rPr sz="2400" b="1" spc="-365" dirty="0">
                <a:latin typeface="Arial"/>
                <a:cs typeface="Arial"/>
              </a:rPr>
              <a:t>a</a:t>
            </a:r>
            <a:r>
              <a:rPr sz="2400" b="1" spc="-125" dirty="0">
                <a:latin typeface="Arial"/>
                <a:cs typeface="Arial"/>
              </a:rPr>
              <a:t>r</a:t>
            </a:r>
            <a:r>
              <a:rPr sz="2400" b="1" spc="-105" dirty="0">
                <a:latin typeface="Arial"/>
                <a:cs typeface="Arial"/>
              </a:rPr>
              <a:t>i</a:t>
            </a:r>
            <a:r>
              <a:rPr sz="2400" b="1" spc="-110" dirty="0">
                <a:latin typeface="Arial"/>
                <a:cs typeface="Arial"/>
              </a:rPr>
              <a:t>t</a:t>
            </a:r>
            <a:r>
              <a:rPr sz="2400" b="1" spc="-254" dirty="0">
                <a:latin typeface="Arial"/>
                <a:cs typeface="Arial"/>
              </a:rPr>
              <a:t>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420" dirty="0">
                <a:latin typeface="Arial"/>
                <a:cs typeface="Arial"/>
              </a:rPr>
              <a:t>g</a:t>
            </a:r>
            <a:r>
              <a:rPr sz="2400" b="1" spc="-290" dirty="0">
                <a:latin typeface="Arial"/>
                <a:cs typeface="Arial"/>
              </a:rPr>
              <a:t>e</a:t>
            </a:r>
            <a:r>
              <a:rPr sz="2400" b="1" spc="-235" dirty="0">
                <a:latin typeface="Arial"/>
                <a:cs typeface="Arial"/>
              </a:rPr>
              <a:t>nerato</a:t>
            </a:r>
            <a:r>
              <a:rPr sz="2400" b="1" spc="-175" dirty="0">
                <a:latin typeface="Arial"/>
                <a:cs typeface="Arial"/>
              </a:rPr>
              <a:t>r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310" dirty="0">
                <a:latin typeface="Arial"/>
                <a:cs typeface="Arial"/>
              </a:rPr>
              <a:t>a</a:t>
            </a:r>
            <a:r>
              <a:rPr sz="2400" b="1" spc="-320" dirty="0">
                <a:latin typeface="Arial"/>
                <a:cs typeface="Arial"/>
              </a:rPr>
              <a:t>n</a:t>
            </a:r>
            <a:r>
              <a:rPr sz="2400" b="1" spc="-270" dirty="0">
                <a:latin typeface="Arial"/>
                <a:cs typeface="Arial"/>
              </a:rPr>
              <a:t>d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310" dirty="0">
                <a:latin typeface="Arial"/>
                <a:cs typeface="Arial"/>
              </a:rPr>
              <a:t>c</a:t>
            </a:r>
            <a:r>
              <a:rPr sz="2400" b="1" spc="-320" dirty="0">
                <a:latin typeface="Arial"/>
                <a:cs typeface="Arial"/>
              </a:rPr>
              <a:t>h</a:t>
            </a:r>
            <a:r>
              <a:rPr sz="2400" b="1" spc="-315" dirty="0">
                <a:latin typeface="Arial"/>
                <a:cs typeface="Arial"/>
              </a:rPr>
              <a:t>eck</a:t>
            </a:r>
            <a:r>
              <a:rPr sz="2400" b="1" spc="-305" dirty="0">
                <a:latin typeface="Arial"/>
                <a:cs typeface="Arial"/>
              </a:rPr>
              <a:t>e</a:t>
            </a:r>
            <a:r>
              <a:rPr sz="2400" b="1" spc="-140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19" y="1679447"/>
              <a:ext cx="6983730" cy="38747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828800" y="1293875"/>
            <a:ext cx="7320280" cy="5564505"/>
            <a:chOff x="1828800" y="1293875"/>
            <a:chExt cx="7320280" cy="556450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8800" y="1293875"/>
              <a:ext cx="5410200" cy="503072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77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193038"/>
            <a:ext cx="7868920" cy="49498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Behavioral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enables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you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system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higher </a:t>
            </a:r>
            <a:r>
              <a:rPr sz="2400" spc="-6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abstraction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1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we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need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behavior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our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tio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000" spc="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Ho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mo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ci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sh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ul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beh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?</a:t>
            </a:r>
            <a:endParaRPr sz="2000">
              <a:latin typeface="Microsoft Sans Serif"/>
              <a:cs typeface="Microsoft Sans Serif"/>
            </a:endParaRPr>
          </a:p>
          <a:p>
            <a:pPr marL="756285" marR="148590" lvl="1" indent="-287020">
              <a:lnSpc>
                <a:spcPts val="2150"/>
              </a:lnSpc>
              <a:spcBef>
                <a:spcPts val="52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Timing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control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sz="2000" spc="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what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what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thing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what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do </a:t>
            </a:r>
            <a:r>
              <a:rPr sz="20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thing</a:t>
            </a:r>
            <a:endParaRPr sz="20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Font typeface="Wingdings"/>
              <a:buChar char=""/>
            </a:pPr>
            <a:endParaRPr sz="2100">
              <a:latin typeface="Microsoft Sans Serif"/>
              <a:cs typeface="Microsoft Sans Serif"/>
            </a:endParaRPr>
          </a:p>
          <a:p>
            <a:pPr marL="355600" marR="839469" indent="-342900">
              <a:lnSpc>
                <a:spcPts val="259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supports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following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 </a:t>
            </a:r>
            <a:r>
              <a:rPr sz="2400" spc="-6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behavior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ced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ura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bl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ck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Pr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ced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ura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45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Timin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con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trols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nt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Conditional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78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12291"/>
            <a:ext cx="6491605" cy="13474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56865">
              <a:lnSpc>
                <a:spcPct val="100000"/>
              </a:lnSpc>
              <a:spcBef>
                <a:spcPts val="580"/>
              </a:spcBef>
            </a:pP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OCE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URAL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40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000" b="1" spc="-24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135" dirty="0">
                <a:solidFill>
                  <a:srgbClr val="C00000"/>
                </a:solidFill>
                <a:latin typeface="Arial"/>
                <a:cs typeface="Arial"/>
              </a:rPr>
              <a:t>OCK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basic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behavior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modeling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2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</a:tabLst>
            </a:pPr>
            <a:r>
              <a:rPr sz="16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We</a:t>
            </a:r>
            <a:r>
              <a:rPr sz="1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6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1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r>
              <a:rPr sz="16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1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90"/>
              </a:spcBef>
              <a:buClr>
                <a:srgbClr val="FF0000"/>
              </a:buClr>
              <a:buFont typeface="Wingdings"/>
              <a:buChar char=""/>
              <a:tabLst>
                <a:tab pos="756920" algn="l"/>
                <a:tab pos="3022600" algn="l"/>
                <a:tab pos="4584700" algn="l"/>
              </a:tabLst>
            </a:pPr>
            <a:r>
              <a:rPr sz="16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6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6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6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6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6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6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6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bl</a:t>
            </a:r>
            <a:r>
              <a:rPr sz="1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6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6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6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6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6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s:</a:t>
            </a:r>
            <a:r>
              <a:rPr sz="16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6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(i</a:t>
            </a:r>
            <a:r>
              <a:rPr sz="16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1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init</a:t>
            </a:r>
            <a:r>
              <a:rPr sz="16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6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6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6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16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(ii</a:t>
            </a:r>
            <a:r>
              <a:rPr sz="16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1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2334285"/>
            <a:ext cx="580707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Font typeface="Wingdings"/>
              <a:buChar char=""/>
              <a:tabLst>
                <a:tab pos="299720" algn="l"/>
              </a:tabLst>
            </a:pPr>
            <a:r>
              <a:rPr sz="1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1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16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16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</a:t>
            </a:r>
            <a:r>
              <a:rPr sz="16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concurrently</a:t>
            </a:r>
            <a:r>
              <a:rPr sz="16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starting</a:t>
            </a:r>
            <a:r>
              <a:rPr sz="1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1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16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t=0</a:t>
            </a:r>
            <a:endParaRPr sz="1600">
              <a:latin typeface="Microsoft Sans Serif"/>
              <a:cs typeface="Microsoft Sans Serif"/>
            </a:endParaRPr>
          </a:p>
          <a:p>
            <a:pPr marL="299085" indent="-28702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Font typeface="Wingdings"/>
              <a:buChar char=""/>
              <a:tabLst>
                <a:tab pos="299720" algn="l"/>
              </a:tabLst>
            </a:pPr>
            <a:r>
              <a:rPr sz="1600" spc="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r>
              <a:rPr sz="16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may</a:t>
            </a:r>
            <a:r>
              <a:rPr sz="1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contain</a:t>
            </a:r>
            <a:r>
              <a:rPr sz="1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any</a:t>
            </a:r>
            <a:r>
              <a:rPr sz="16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</a:t>
            </a:r>
            <a:r>
              <a:rPr sz="16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6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16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16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16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6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740" y="2809971"/>
            <a:ext cx="3851910" cy="1576705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Str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ct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ed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bl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ck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000" b="1" dirty="0">
                <a:solidFill>
                  <a:srgbClr val="0000FF"/>
                </a:solidFill>
                <a:latin typeface="Constantia"/>
                <a:cs typeface="Constantia"/>
              </a:rPr>
              <a:t>type-of-block</a:t>
            </a:r>
            <a:r>
              <a:rPr sz="2000" b="1" spc="-55" dirty="0">
                <a:solidFill>
                  <a:srgbClr val="0000FF"/>
                </a:solidFill>
                <a:latin typeface="Constantia"/>
                <a:cs typeface="Constantia"/>
              </a:rPr>
              <a:t> </a:t>
            </a:r>
            <a:r>
              <a:rPr sz="2000" b="1" spc="5" dirty="0">
                <a:solidFill>
                  <a:srgbClr val="0000FF"/>
                </a:solidFill>
                <a:latin typeface="Constantia"/>
                <a:cs typeface="Constantia"/>
              </a:rPr>
              <a:t>@</a:t>
            </a:r>
            <a:r>
              <a:rPr sz="2000" b="1" spc="-25" dirty="0">
                <a:solidFill>
                  <a:srgbClr val="0000FF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nstantia"/>
                <a:cs typeface="Constantia"/>
              </a:rPr>
              <a:t>(sensitivity</a:t>
            </a:r>
            <a:r>
              <a:rPr sz="2000" b="1" spc="-90" dirty="0">
                <a:solidFill>
                  <a:srgbClr val="0000FF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onstantia"/>
                <a:cs typeface="Constantia"/>
              </a:rPr>
              <a:t>list)</a:t>
            </a:r>
            <a:endParaRPr sz="2000">
              <a:latin typeface="Constantia"/>
              <a:cs typeface="Constantia"/>
            </a:endParaRPr>
          </a:p>
          <a:p>
            <a:pPr marL="132715" marR="606425">
              <a:lnSpc>
                <a:spcPct val="100000"/>
              </a:lnSpc>
            </a:pPr>
            <a:r>
              <a:rPr sz="2000" b="1" dirty="0">
                <a:solidFill>
                  <a:srgbClr val="0000FF"/>
                </a:solidFill>
                <a:latin typeface="Constantia"/>
                <a:cs typeface="Constantia"/>
              </a:rPr>
              <a:t>begin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: name-of-block; </a:t>
            </a:r>
            <a:r>
              <a:rPr sz="2000" b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latin typeface="Constantia"/>
                <a:cs typeface="Constantia"/>
              </a:rPr>
              <a:t>loca</a:t>
            </a:r>
            <a:r>
              <a:rPr sz="2000" b="1" dirty="0">
                <a:latin typeface="Constantia"/>
                <a:cs typeface="Constantia"/>
              </a:rPr>
              <a:t>l</a:t>
            </a:r>
            <a:r>
              <a:rPr sz="2000" b="1" spc="-50" dirty="0">
                <a:latin typeface="Constantia"/>
                <a:cs typeface="Constantia"/>
              </a:rPr>
              <a:t> </a:t>
            </a:r>
            <a:r>
              <a:rPr sz="2000" b="1" spc="-20" dirty="0">
                <a:latin typeface="Constantia"/>
                <a:cs typeface="Constantia"/>
              </a:rPr>
              <a:t>v</a:t>
            </a:r>
            <a:r>
              <a:rPr sz="2000" b="1" spc="-10" dirty="0">
                <a:latin typeface="Constantia"/>
                <a:cs typeface="Constantia"/>
              </a:rPr>
              <a:t>a</a:t>
            </a:r>
            <a:r>
              <a:rPr sz="2000" b="1" spc="-5" dirty="0">
                <a:latin typeface="Constantia"/>
                <a:cs typeface="Constantia"/>
              </a:rPr>
              <a:t>r</a:t>
            </a:r>
            <a:r>
              <a:rPr sz="2000" b="1" spc="-15" dirty="0">
                <a:latin typeface="Constantia"/>
                <a:cs typeface="Constantia"/>
              </a:rPr>
              <a:t>i</a:t>
            </a:r>
            <a:r>
              <a:rPr sz="2000" b="1" spc="-10" dirty="0">
                <a:latin typeface="Constantia"/>
                <a:cs typeface="Constantia"/>
              </a:rPr>
              <a:t>a</a:t>
            </a:r>
            <a:r>
              <a:rPr sz="2000" b="1" dirty="0">
                <a:latin typeface="Constantia"/>
                <a:cs typeface="Constantia"/>
              </a:rPr>
              <a:t>ble</a:t>
            </a:r>
            <a:r>
              <a:rPr sz="2000" b="1" spc="-90" dirty="0">
                <a:latin typeface="Constantia"/>
                <a:cs typeface="Constantia"/>
              </a:rPr>
              <a:t> </a:t>
            </a:r>
            <a:r>
              <a:rPr sz="2000" b="1" spc="-5" dirty="0">
                <a:latin typeface="Constantia"/>
                <a:cs typeface="Constantia"/>
              </a:rPr>
              <a:t>d</a:t>
            </a:r>
            <a:r>
              <a:rPr sz="2000" b="1" spc="5" dirty="0">
                <a:latin typeface="Constantia"/>
                <a:cs typeface="Constantia"/>
              </a:rPr>
              <a:t>e</a:t>
            </a:r>
            <a:r>
              <a:rPr sz="2000" b="1" spc="-5" dirty="0">
                <a:latin typeface="Constantia"/>
                <a:cs typeface="Constantia"/>
              </a:rPr>
              <a:t>cla</a:t>
            </a:r>
            <a:r>
              <a:rPr sz="2000" b="1" spc="-50" dirty="0">
                <a:latin typeface="Constantia"/>
                <a:cs typeface="Constantia"/>
              </a:rPr>
              <a:t>r</a:t>
            </a:r>
            <a:r>
              <a:rPr sz="2000" b="1" spc="-10" dirty="0">
                <a:latin typeface="Constantia"/>
                <a:cs typeface="Constantia"/>
              </a:rPr>
              <a:t>a</a:t>
            </a:r>
            <a:r>
              <a:rPr sz="2000" b="1" dirty="0">
                <a:latin typeface="Constantia"/>
                <a:cs typeface="Constantia"/>
              </a:rPr>
              <a:t>t</a:t>
            </a:r>
            <a:r>
              <a:rPr sz="2000" b="1" spc="-10" dirty="0">
                <a:latin typeface="Constantia"/>
                <a:cs typeface="Constantia"/>
              </a:rPr>
              <a:t>i</a:t>
            </a:r>
            <a:r>
              <a:rPr sz="2000" b="1" dirty="0">
                <a:latin typeface="Constantia"/>
                <a:cs typeface="Constantia"/>
              </a:rPr>
              <a:t>o</a:t>
            </a:r>
            <a:r>
              <a:rPr sz="2000" b="1" spc="5" dirty="0">
                <a:latin typeface="Constantia"/>
                <a:cs typeface="Constantia"/>
              </a:rPr>
              <a:t>n</a:t>
            </a:r>
            <a:r>
              <a:rPr sz="2000" b="1" dirty="0">
                <a:latin typeface="Constantia"/>
                <a:cs typeface="Constantia"/>
              </a:rPr>
              <a:t>;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4040" y="4665345"/>
            <a:ext cx="483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Constantia"/>
                <a:cs typeface="Constantia"/>
              </a:rPr>
              <a:t>end</a:t>
            </a:r>
            <a:endParaRPr sz="2000">
              <a:latin typeface="Constantia"/>
              <a:cs typeface="Constant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86755" y="3176016"/>
            <a:ext cx="2985770" cy="520065"/>
            <a:chOff x="5286755" y="3176016"/>
            <a:chExt cx="2985770" cy="52006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86755" y="3176016"/>
              <a:ext cx="2985516" cy="470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20867" y="3188208"/>
              <a:ext cx="2715767" cy="5074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33999" y="3200400"/>
              <a:ext cx="2895600" cy="3810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333999" y="3200400"/>
              <a:ext cx="2895600" cy="381000"/>
            </a:xfrm>
            <a:custGeom>
              <a:avLst/>
              <a:gdLst/>
              <a:ahLst/>
              <a:cxnLst/>
              <a:rect l="l" t="t" r="r" b="b"/>
              <a:pathLst>
                <a:path w="2895600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2832100" y="0"/>
                  </a:lnTo>
                  <a:lnTo>
                    <a:pt x="2856809" y="4992"/>
                  </a:lnTo>
                  <a:lnTo>
                    <a:pt x="2876994" y="18605"/>
                  </a:lnTo>
                  <a:lnTo>
                    <a:pt x="2890607" y="38790"/>
                  </a:lnTo>
                  <a:lnTo>
                    <a:pt x="2895600" y="63500"/>
                  </a:lnTo>
                  <a:lnTo>
                    <a:pt x="2895600" y="317500"/>
                  </a:lnTo>
                  <a:lnTo>
                    <a:pt x="2890607" y="342209"/>
                  </a:lnTo>
                  <a:lnTo>
                    <a:pt x="2876994" y="362394"/>
                  </a:lnTo>
                  <a:lnTo>
                    <a:pt x="2856809" y="376007"/>
                  </a:lnTo>
                  <a:lnTo>
                    <a:pt x="2832100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574284" y="3235579"/>
            <a:ext cx="2415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Typ</a:t>
            </a:r>
            <a:r>
              <a:rPr sz="16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6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f</a:t>
            </a:r>
            <a:r>
              <a:rPr sz="1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bl</a:t>
            </a:r>
            <a:r>
              <a:rPr sz="16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6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6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initial</a:t>
            </a:r>
            <a:r>
              <a:rPr sz="16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16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4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lw</a:t>
            </a:r>
            <a:r>
              <a:rPr sz="16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ys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39011" y="3140951"/>
            <a:ext cx="7033259" cy="1207135"/>
            <a:chOff x="1239011" y="3140951"/>
            <a:chExt cx="7033259" cy="1207135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39011" y="3140951"/>
              <a:ext cx="4247388" cy="3596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81937" y="3218434"/>
              <a:ext cx="4053204" cy="224154"/>
            </a:xfrm>
            <a:custGeom>
              <a:avLst/>
              <a:gdLst/>
              <a:ahLst/>
              <a:cxnLst/>
              <a:rect l="l" t="t" r="r" b="b"/>
              <a:pathLst>
                <a:path w="4053204" h="224154">
                  <a:moveTo>
                    <a:pt x="3980833" y="46227"/>
                  </a:moveTo>
                  <a:lnTo>
                    <a:pt x="5715" y="46227"/>
                  </a:lnTo>
                  <a:lnTo>
                    <a:pt x="0" y="51942"/>
                  </a:lnTo>
                  <a:lnTo>
                    <a:pt x="0" y="218312"/>
                  </a:lnTo>
                  <a:lnTo>
                    <a:pt x="5715" y="224027"/>
                  </a:lnTo>
                  <a:lnTo>
                    <a:pt x="14224" y="224027"/>
                  </a:lnTo>
                  <a:lnTo>
                    <a:pt x="14224" y="200151"/>
                  </a:lnTo>
                  <a:lnTo>
                    <a:pt x="12700" y="198627"/>
                  </a:lnTo>
                  <a:lnTo>
                    <a:pt x="25400" y="198627"/>
                  </a:lnTo>
                  <a:lnTo>
                    <a:pt x="25400" y="71627"/>
                  </a:lnTo>
                  <a:lnTo>
                    <a:pt x="12700" y="71627"/>
                  </a:lnTo>
                  <a:lnTo>
                    <a:pt x="25400" y="58927"/>
                  </a:lnTo>
                  <a:lnTo>
                    <a:pt x="4002604" y="58927"/>
                  </a:lnTo>
                  <a:lnTo>
                    <a:pt x="3980833" y="46227"/>
                  </a:lnTo>
                  <a:close/>
                </a:path>
                <a:path w="4053204" h="224154">
                  <a:moveTo>
                    <a:pt x="25400" y="198627"/>
                  </a:moveTo>
                  <a:lnTo>
                    <a:pt x="14224" y="198627"/>
                  </a:lnTo>
                  <a:lnTo>
                    <a:pt x="14224" y="200151"/>
                  </a:lnTo>
                  <a:lnTo>
                    <a:pt x="25400" y="211327"/>
                  </a:lnTo>
                  <a:lnTo>
                    <a:pt x="25400" y="198627"/>
                  </a:lnTo>
                  <a:close/>
                </a:path>
                <a:path w="4053204" h="224154">
                  <a:moveTo>
                    <a:pt x="14224" y="198627"/>
                  </a:moveTo>
                  <a:lnTo>
                    <a:pt x="12700" y="198627"/>
                  </a:lnTo>
                  <a:lnTo>
                    <a:pt x="14224" y="200151"/>
                  </a:lnTo>
                  <a:lnTo>
                    <a:pt x="14224" y="198627"/>
                  </a:lnTo>
                  <a:close/>
                </a:path>
                <a:path w="4053204" h="224154">
                  <a:moveTo>
                    <a:pt x="4002604" y="58927"/>
                  </a:moveTo>
                  <a:lnTo>
                    <a:pt x="3945128" y="92455"/>
                  </a:lnTo>
                  <a:lnTo>
                    <a:pt x="3939032" y="95885"/>
                  </a:lnTo>
                  <a:lnTo>
                    <a:pt x="3937000" y="103758"/>
                  </a:lnTo>
                  <a:lnTo>
                    <a:pt x="3940556" y="109727"/>
                  </a:lnTo>
                  <a:lnTo>
                    <a:pt x="3943985" y="115824"/>
                  </a:lnTo>
                  <a:lnTo>
                    <a:pt x="3951859" y="117855"/>
                  </a:lnTo>
                  <a:lnTo>
                    <a:pt x="3957828" y="114300"/>
                  </a:lnTo>
                  <a:lnTo>
                    <a:pt x="4031035" y="71627"/>
                  </a:lnTo>
                  <a:lnTo>
                    <a:pt x="4027804" y="71627"/>
                  </a:lnTo>
                  <a:lnTo>
                    <a:pt x="4027804" y="69850"/>
                  </a:lnTo>
                  <a:lnTo>
                    <a:pt x="4021328" y="69850"/>
                  </a:lnTo>
                  <a:lnTo>
                    <a:pt x="4002604" y="58927"/>
                  </a:lnTo>
                  <a:close/>
                </a:path>
                <a:path w="4053204" h="224154">
                  <a:moveTo>
                    <a:pt x="25400" y="58927"/>
                  </a:moveTo>
                  <a:lnTo>
                    <a:pt x="12700" y="71627"/>
                  </a:lnTo>
                  <a:lnTo>
                    <a:pt x="25400" y="71627"/>
                  </a:lnTo>
                  <a:lnTo>
                    <a:pt x="25400" y="58927"/>
                  </a:lnTo>
                  <a:close/>
                </a:path>
                <a:path w="4053204" h="224154">
                  <a:moveTo>
                    <a:pt x="4002604" y="58927"/>
                  </a:moveTo>
                  <a:lnTo>
                    <a:pt x="25400" y="58927"/>
                  </a:lnTo>
                  <a:lnTo>
                    <a:pt x="25400" y="71627"/>
                  </a:lnTo>
                  <a:lnTo>
                    <a:pt x="3980833" y="71627"/>
                  </a:lnTo>
                  <a:lnTo>
                    <a:pt x="4002604" y="58927"/>
                  </a:lnTo>
                  <a:close/>
                </a:path>
                <a:path w="4053204" h="224154">
                  <a:moveTo>
                    <a:pt x="4031035" y="46227"/>
                  </a:moveTo>
                  <a:lnTo>
                    <a:pt x="4027804" y="46227"/>
                  </a:lnTo>
                  <a:lnTo>
                    <a:pt x="4027804" y="71627"/>
                  </a:lnTo>
                  <a:lnTo>
                    <a:pt x="4031035" y="71627"/>
                  </a:lnTo>
                  <a:lnTo>
                    <a:pt x="4052824" y="58927"/>
                  </a:lnTo>
                  <a:lnTo>
                    <a:pt x="4031035" y="46227"/>
                  </a:lnTo>
                  <a:close/>
                </a:path>
                <a:path w="4053204" h="224154">
                  <a:moveTo>
                    <a:pt x="4021328" y="48005"/>
                  </a:moveTo>
                  <a:lnTo>
                    <a:pt x="4002604" y="58927"/>
                  </a:lnTo>
                  <a:lnTo>
                    <a:pt x="4021328" y="69850"/>
                  </a:lnTo>
                  <a:lnTo>
                    <a:pt x="4021328" y="48005"/>
                  </a:lnTo>
                  <a:close/>
                </a:path>
                <a:path w="4053204" h="224154">
                  <a:moveTo>
                    <a:pt x="4027804" y="48005"/>
                  </a:moveTo>
                  <a:lnTo>
                    <a:pt x="4021328" y="48005"/>
                  </a:lnTo>
                  <a:lnTo>
                    <a:pt x="4021328" y="69850"/>
                  </a:lnTo>
                  <a:lnTo>
                    <a:pt x="4027804" y="69850"/>
                  </a:lnTo>
                  <a:lnTo>
                    <a:pt x="4027804" y="48005"/>
                  </a:lnTo>
                  <a:close/>
                </a:path>
                <a:path w="4053204" h="224154">
                  <a:moveTo>
                    <a:pt x="3951859" y="0"/>
                  </a:moveTo>
                  <a:lnTo>
                    <a:pt x="3943985" y="2031"/>
                  </a:lnTo>
                  <a:lnTo>
                    <a:pt x="3940556" y="8127"/>
                  </a:lnTo>
                  <a:lnTo>
                    <a:pt x="3937000" y="14096"/>
                  </a:lnTo>
                  <a:lnTo>
                    <a:pt x="3939032" y="21970"/>
                  </a:lnTo>
                  <a:lnTo>
                    <a:pt x="3945128" y="25400"/>
                  </a:lnTo>
                  <a:lnTo>
                    <a:pt x="4002604" y="58927"/>
                  </a:lnTo>
                  <a:lnTo>
                    <a:pt x="4021328" y="48005"/>
                  </a:lnTo>
                  <a:lnTo>
                    <a:pt x="4027804" y="48005"/>
                  </a:lnTo>
                  <a:lnTo>
                    <a:pt x="4027804" y="46227"/>
                  </a:lnTo>
                  <a:lnTo>
                    <a:pt x="4031035" y="46227"/>
                  </a:lnTo>
                  <a:lnTo>
                    <a:pt x="3957828" y="3555"/>
                  </a:lnTo>
                  <a:lnTo>
                    <a:pt x="39518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86755" y="3630142"/>
              <a:ext cx="2985516" cy="62334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48300" y="3596627"/>
              <a:ext cx="2715768" cy="75134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34000" y="3657600"/>
              <a:ext cx="2895600" cy="5334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334000" y="3657600"/>
              <a:ext cx="2895600" cy="533400"/>
            </a:xfrm>
            <a:custGeom>
              <a:avLst/>
              <a:gdLst/>
              <a:ahLst/>
              <a:cxnLst/>
              <a:rect l="l" t="t" r="r" b="b"/>
              <a:pathLst>
                <a:path w="28956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2806700" y="0"/>
                  </a:lnTo>
                  <a:lnTo>
                    <a:pt x="2841325" y="6979"/>
                  </a:lnTo>
                  <a:lnTo>
                    <a:pt x="2869580" y="26019"/>
                  </a:lnTo>
                  <a:lnTo>
                    <a:pt x="2888620" y="54274"/>
                  </a:lnTo>
                  <a:lnTo>
                    <a:pt x="2895600" y="88900"/>
                  </a:lnTo>
                  <a:lnTo>
                    <a:pt x="2895600" y="444500"/>
                  </a:lnTo>
                  <a:lnTo>
                    <a:pt x="2888620" y="479125"/>
                  </a:lnTo>
                  <a:lnTo>
                    <a:pt x="2869580" y="507380"/>
                  </a:lnTo>
                  <a:lnTo>
                    <a:pt x="2841325" y="526420"/>
                  </a:lnTo>
                  <a:lnTo>
                    <a:pt x="28067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00446" y="3647313"/>
            <a:ext cx="23622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95"/>
              </a:spcBef>
            </a:pPr>
            <a:r>
              <a:rPr sz="1600" spc="-155" dirty="0">
                <a:latin typeface="Microsoft Sans Serif"/>
                <a:cs typeface="Microsoft Sans Serif"/>
              </a:rPr>
              <a:t>Symb</a:t>
            </a:r>
            <a:r>
              <a:rPr sz="1600" spc="-130" dirty="0">
                <a:latin typeface="Microsoft Sans Serif"/>
                <a:cs typeface="Microsoft Sans Serif"/>
              </a:rPr>
              <a:t>o</a:t>
            </a:r>
            <a:r>
              <a:rPr sz="1600" spc="-20" dirty="0">
                <a:latin typeface="Microsoft Sans Serif"/>
                <a:cs typeface="Microsoft Sans Serif"/>
              </a:rPr>
              <a:t>l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225" dirty="0">
                <a:latin typeface="Microsoft Sans Serif"/>
                <a:cs typeface="Microsoft Sans Serif"/>
              </a:rPr>
              <a:t>u</a:t>
            </a:r>
            <a:r>
              <a:rPr sz="1600" spc="-210" dirty="0">
                <a:latin typeface="Microsoft Sans Serif"/>
                <a:cs typeface="Microsoft Sans Serif"/>
              </a:rPr>
              <a:t>s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95" dirty="0">
                <a:latin typeface="Microsoft Sans Serif"/>
                <a:cs typeface="Microsoft Sans Serif"/>
              </a:rPr>
              <a:t>d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t</a:t>
            </a:r>
            <a:r>
              <a:rPr sz="1600" spc="-40" dirty="0">
                <a:latin typeface="Microsoft Sans Serif"/>
                <a:cs typeface="Microsoft Sans Serif"/>
              </a:rPr>
              <a:t>o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14" dirty="0">
                <a:latin typeface="Microsoft Sans Serif"/>
                <a:cs typeface="Microsoft Sans Serif"/>
              </a:rPr>
              <a:t>signi</a:t>
            </a:r>
            <a:r>
              <a:rPr sz="1600" spc="-75" dirty="0">
                <a:latin typeface="Microsoft Sans Serif"/>
                <a:cs typeface="Microsoft Sans Serif"/>
              </a:rPr>
              <a:t>f</a:t>
            </a:r>
            <a:r>
              <a:rPr sz="1600" spc="-65" dirty="0">
                <a:latin typeface="Microsoft Sans Serif"/>
                <a:cs typeface="Microsoft Sans Serif"/>
              </a:rPr>
              <a:t>i</a:t>
            </a:r>
            <a:r>
              <a:rPr sz="1600" spc="-150" dirty="0">
                <a:latin typeface="Microsoft Sans Serif"/>
                <a:cs typeface="Microsoft Sans Serif"/>
              </a:rPr>
              <a:t>e</a:t>
            </a:r>
            <a:r>
              <a:rPr sz="1600" spc="-295" dirty="0">
                <a:latin typeface="Microsoft Sans Serif"/>
                <a:cs typeface="Microsoft Sans Serif"/>
              </a:rPr>
              <a:t>s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110" dirty="0">
                <a:latin typeface="Microsoft Sans Serif"/>
                <a:cs typeface="Microsoft Sans Serif"/>
              </a:rPr>
              <a:t>v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40" dirty="0">
                <a:latin typeface="Microsoft Sans Serif"/>
                <a:cs typeface="Microsoft Sans Serif"/>
              </a:rPr>
              <a:t>nt  </a:t>
            </a:r>
            <a:r>
              <a:rPr sz="1600" spc="-90" dirty="0">
                <a:latin typeface="Microsoft Sans Serif"/>
                <a:cs typeface="Microsoft Sans Serif"/>
              </a:rPr>
              <a:t>(only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f</a:t>
            </a:r>
            <a:r>
              <a:rPr sz="1600" spc="-55" dirty="0">
                <a:latin typeface="Microsoft Sans Serif"/>
                <a:cs typeface="Microsoft Sans Serif"/>
              </a:rPr>
              <a:t>o</a:t>
            </a:r>
            <a:r>
              <a:rPr sz="1600" spc="-5" dirty="0">
                <a:latin typeface="Microsoft Sans Serif"/>
                <a:cs typeface="Microsoft Sans Serif"/>
              </a:rPr>
              <a:t>r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25" dirty="0">
                <a:latin typeface="Microsoft Sans Serif"/>
                <a:cs typeface="Microsoft Sans Serif"/>
              </a:rPr>
              <a:t>lw</a:t>
            </a:r>
            <a:r>
              <a:rPr sz="1600" spc="-155" dirty="0">
                <a:latin typeface="Microsoft Sans Serif"/>
                <a:cs typeface="Microsoft Sans Serif"/>
              </a:rPr>
              <a:t>a</a:t>
            </a:r>
            <a:r>
              <a:rPr sz="1600" spc="-195" dirty="0">
                <a:latin typeface="Microsoft Sans Serif"/>
                <a:cs typeface="Microsoft Sans Serif"/>
              </a:rPr>
              <a:t>y</a:t>
            </a:r>
            <a:r>
              <a:rPr sz="1600" spc="-190" dirty="0">
                <a:latin typeface="Microsoft Sans Serif"/>
                <a:cs typeface="Microsoft Sans Serif"/>
              </a:rPr>
              <a:t>s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75" dirty="0">
                <a:latin typeface="Microsoft Sans Serif"/>
                <a:cs typeface="Microsoft Sans Serif"/>
              </a:rPr>
              <a:t>bl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-140" dirty="0">
                <a:latin typeface="Microsoft Sans Serif"/>
                <a:cs typeface="Microsoft Sans Serif"/>
              </a:rPr>
              <a:t>)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31135" y="3393973"/>
            <a:ext cx="6422390" cy="1521460"/>
            <a:chOff x="2231135" y="3393973"/>
            <a:chExt cx="6422390" cy="1521460"/>
          </a:xfrm>
        </p:grpSpPr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44851" y="3393973"/>
              <a:ext cx="3241548" cy="70253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286761" y="3417062"/>
              <a:ext cx="3048000" cy="567055"/>
            </a:xfrm>
            <a:custGeom>
              <a:avLst/>
              <a:gdLst/>
              <a:ahLst/>
              <a:cxnLst/>
              <a:rect l="l" t="t" r="r" b="b"/>
              <a:pathLst>
                <a:path w="3048000" h="567054">
                  <a:moveTo>
                    <a:pt x="2997780" y="508000"/>
                  </a:moveTo>
                  <a:lnTo>
                    <a:pt x="2940304" y="541527"/>
                  </a:lnTo>
                  <a:lnTo>
                    <a:pt x="2934208" y="544957"/>
                  </a:lnTo>
                  <a:lnTo>
                    <a:pt x="2932176" y="552831"/>
                  </a:lnTo>
                  <a:lnTo>
                    <a:pt x="2935732" y="558800"/>
                  </a:lnTo>
                  <a:lnTo>
                    <a:pt x="2939161" y="564895"/>
                  </a:lnTo>
                  <a:lnTo>
                    <a:pt x="2947035" y="566927"/>
                  </a:lnTo>
                  <a:lnTo>
                    <a:pt x="2953004" y="563371"/>
                  </a:lnTo>
                  <a:lnTo>
                    <a:pt x="3026211" y="520700"/>
                  </a:lnTo>
                  <a:lnTo>
                    <a:pt x="3022854" y="520700"/>
                  </a:lnTo>
                  <a:lnTo>
                    <a:pt x="3022854" y="518921"/>
                  </a:lnTo>
                  <a:lnTo>
                    <a:pt x="3016504" y="518921"/>
                  </a:lnTo>
                  <a:lnTo>
                    <a:pt x="2997780" y="508000"/>
                  </a:lnTo>
                  <a:close/>
                </a:path>
                <a:path w="3048000" h="567054">
                  <a:moveTo>
                    <a:pt x="2224532" y="12700"/>
                  </a:moveTo>
                  <a:lnTo>
                    <a:pt x="2224532" y="514985"/>
                  </a:lnTo>
                  <a:lnTo>
                    <a:pt x="2230247" y="520700"/>
                  </a:lnTo>
                  <a:lnTo>
                    <a:pt x="2976009" y="520700"/>
                  </a:lnTo>
                  <a:lnTo>
                    <a:pt x="2997780" y="508000"/>
                  </a:lnTo>
                  <a:lnTo>
                    <a:pt x="2249932" y="508000"/>
                  </a:lnTo>
                  <a:lnTo>
                    <a:pt x="2237232" y="495300"/>
                  </a:lnTo>
                  <a:lnTo>
                    <a:pt x="2249932" y="495300"/>
                  </a:lnTo>
                  <a:lnTo>
                    <a:pt x="2249932" y="25400"/>
                  </a:lnTo>
                  <a:lnTo>
                    <a:pt x="2237232" y="25400"/>
                  </a:lnTo>
                  <a:lnTo>
                    <a:pt x="2224532" y="12700"/>
                  </a:lnTo>
                  <a:close/>
                </a:path>
                <a:path w="3048000" h="567054">
                  <a:moveTo>
                    <a:pt x="3026211" y="495300"/>
                  </a:moveTo>
                  <a:lnTo>
                    <a:pt x="3022854" y="495300"/>
                  </a:lnTo>
                  <a:lnTo>
                    <a:pt x="3022854" y="520700"/>
                  </a:lnTo>
                  <a:lnTo>
                    <a:pt x="3026211" y="520700"/>
                  </a:lnTo>
                  <a:lnTo>
                    <a:pt x="3048000" y="508000"/>
                  </a:lnTo>
                  <a:lnTo>
                    <a:pt x="3026211" y="495300"/>
                  </a:lnTo>
                  <a:close/>
                </a:path>
                <a:path w="3048000" h="567054">
                  <a:moveTo>
                    <a:pt x="3016504" y="497077"/>
                  </a:moveTo>
                  <a:lnTo>
                    <a:pt x="2997780" y="508000"/>
                  </a:lnTo>
                  <a:lnTo>
                    <a:pt x="3016504" y="518921"/>
                  </a:lnTo>
                  <a:lnTo>
                    <a:pt x="3016504" y="497077"/>
                  </a:lnTo>
                  <a:close/>
                </a:path>
                <a:path w="3048000" h="567054">
                  <a:moveTo>
                    <a:pt x="3022854" y="497077"/>
                  </a:moveTo>
                  <a:lnTo>
                    <a:pt x="3016504" y="497077"/>
                  </a:lnTo>
                  <a:lnTo>
                    <a:pt x="3016504" y="518921"/>
                  </a:lnTo>
                  <a:lnTo>
                    <a:pt x="3022854" y="518921"/>
                  </a:lnTo>
                  <a:lnTo>
                    <a:pt x="3022854" y="497077"/>
                  </a:lnTo>
                  <a:close/>
                </a:path>
                <a:path w="3048000" h="567054">
                  <a:moveTo>
                    <a:pt x="2249932" y="495300"/>
                  </a:moveTo>
                  <a:lnTo>
                    <a:pt x="2237232" y="495300"/>
                  </a:lnTo>
                  <a:lnTo>
                    <a:pt x="2249932" y="508000"/>
                  </a:lnTo>
                  <a:lnTo>
                    <a:pt x="2249932" y="495300"/>
                  </a:lnTo>
                  <a:close/>
                </a:path>
                <a:path w="3048000" h="567054">
                  <a:moveTo>
                    <a:pt x="2976009" y="495300"/>
                  </a:moveTo>
                  <a:lnTo>
                    <a:pt x="2249932" y="495300"/>
                  </a:lnTo>
                  <a:lnTo>
                    <a:pt x="2249932" y="508000"/>
                  </a:lnTo>
                  <a:lnTo>
                    <a:pt x="2997780" y="508000"/>
                  </a:lnTo>
                  <a:lnTo>
                    <a:pt x="2976009" y="495300"/>
                  </a:lnTo>
                  <a:close/>
                </a:path>
                <a:path w="3048000" h="567054">
                  <a:moveTo>
                    <a:pt x="2947035" y="449071"/>
                  </a:moveTo>
                  <a:lnTo>
                    <a:pt x="2939161" y="451104"/>
                  </a:lnTo>
                  <a:lnTo>
                    <a:pt x="2935732" y="457200"/>
                  </a:lnTo>
                  <a:lnTo>
                    <a:pt x="2932176" y="463169"/>
                  </a:lnTo>
                  <a:lnTo>
                    <a:pt x="2934208" y="471043"/>
                  </a:lnTo>
                  <a:lnTo>
                    <a:pt x="2940304" y="474471"/>
                  </a:lnTo>
                  <a:lnTo>
                    <a:pt x="2997780" y="508000"/>
                  </a:lnTo>
                  <a:lnTo>
                    <a:pt x="3016504" y="497077"/>
                  </a:lnTo>
                  <a:lnTo>
                    <a:pt x="3022854" y="497077"/>
                  </a:lnTo>
                  <a:lnTo>
                    <a:pt x="3022854" y="495300"/>
                  </a:lnTo>
                  <a:lnTo>
                    <a:pt x="3026211" y="495300"/>
                  </a:lnTo>
                  <a:lnTo>
                    <a:pt x="2953004" y="452627"/>
                  </a:lnTo>
                  <a:lnTo>
                    <a:pt x="2947035" y="449071"/>
                  </a:lnTo>
                  <a:close/>
                </a:path>
                <a:path w="3048000" h="567054">
                  <a:moveTo>
                    <a:pt x="2244216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2224532" y="25400"/>
                  </a:lnTo>
                  <a:lnTo>
                    <a:pt x="2224532" y="12700"/>
                  </a:lnTo>
                  <a:lnTo>
                    <a:pt x="2249932" y="12700"/>
                  </a:lnTo>
                  <a:lnTo>
                    <a:pt x="2249932" y="5714"/>
                  </a:lnTo>
                  <a:lnTo>
                    <a:pt x="2244216" y="0"/>
                  </a:lnTo>
                  <a:close/>
                </a:path>
                <a:path w="3048000" h="567054">
                  <a:moveTo>
                    <a:pt x="2249932" y="12700"/>
                  </a:moveTo>
                  <a:lnTo>
                    <a:pt x="2224532" y="12700"/>
                  </a:lnTo>
                  <a:lnTo>
                    <a:pt x="2237232" y="25400"/>
                  </a:lnTo>
                  <a:lnTo>
                    <a:pt x="2249932" y="25400"/>
                  </a:lnTo>
                  <a:lnTo>
                    <a:pt x="2249932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31135" y="3409149"/>
              <a:ext cx="106616" cy="16767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286761" y="3431286"/>
              <a:ext cx="1270" cy="75565"/>
            </a:xfrm>
            <a:custGeom>
              <a:avLst/>
              <a:gdLst/>
              <a:ahLst/>
              <a:cxnLst/>
              <a:rect l="l" t="t" r="r" b="b"/>
              <a:pathLst>
                <a:path w="1269" h="75564">
                  <a:moveTo>
                    <a:pt x="381" y="-12700"/>
                  </a:moveTo>
                  <a:lnTo>
                    <a:pt x="381" y="88137"/>
                  </a:lnTo>
                </a:path>
              </a:pathLst>
            </a:custGeom>
            <a:ln w="26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00955" y="4242790"/>
              <a:ext cx="4052315" cy="62334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16195" y="4247362"/>
              <a:ext cx="4020311" cy="6675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48200" y="4267200"/>
              <a:ext cx="3962400" cy="5334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48200" y="4267200"/>
              <a:ext cx="3962400" cy="533400"/>
            </a:xfrm>
            <a:custGeom>
              <a:avLst/>
              <a:gdLst/>
              <a:ahLst/>
              <a:cxnLst/>
              <a:rect l="l" t="t" r="r" b="b"/>
              <a:pathLst>
                <a:path w="3962400" h="533400">
                  <a:moveTo>
                    <a:pt x="0" y="88900"/>
                  </a:moveTo>
                  <a:lnTo>
                    <a:pt x="6979" y="54274"/>
                  </a:lnTo>
                  <a:lnTo>
                    <a:pt x="26019" y="26019"/>
                  </a:lnTo>
                  <a:lnTo>
                    <a:pt x="54274" y="6979"/>
                  </a:lnTo>
                  <a:lnTo>
                    <a:pt x="88900" y="0"/>
                  </a:lnTo>
                  <a:lnTo>
                    <a:pt x="3873500" y="0"/>
                  </a:lnTo>
                  <a:lnTo>
                    <a:pt x="3908125" y="6979"/>
                  </a:lnTo>
                  <a:lnTo>
                    <a:pt x="3936380" y="26019"/>
                  </a:lnTo>
                  <a:lnTo>
                    <a:pt x="3955420" y="54274"/>
                  </a:lnTo>
                  <a:lnTo>
                    <a:pt x="3962400" y="88900"/>
                  </a:lnTo>
                  <a:lnTo>
                    <a:pt x="3962400" y="444500"/>
                  </a:lnTo>
                  <a:lnTo>
                    <a:pt x="3955420" y="479125"/>
                  </a:lnTo>
                  <a:lnTo>
                    <a:pt x="3936380" y="507380"/>
                  </a:lnTo>
                  <a:lnTo>
                    <a:pt x="3908125" y="526420"/>
                  </a:lnTo>
                  <a:lnTo>
                    <a:pt x="3873500" y="533400"/>
                  </a:lnTo>
                  <a:lnTo>
                    <a:pt x="88900" y="533400"/>
                  </a:lnTo>
                  <a:lnTo>
                    <a:pt x="54274" y="526420"/>
                  </a:lnTo>
                  <a:lnTo>
                    <a:pt x="26019" y="507380"/>
                  </a:lnTo>
                  <a:lnTo>
                    <a:pt x="6979" y="479125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753736" y="4288916"/>
            <a:ext cx="3753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Specify</a:t>
            </a:r>
            <a:r>
              <a:rPr sz="14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4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event</a:t>
            </a:r>
            <a:r>
              <a:rPr sz="14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which</a:t>
            </a:r>
            <a:r>
              <a:rPr sz="1400" spc="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starts</a:t>
            </a:r>
            <a:r>
              <a:rPr sz="14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4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execution</a:t>
            </a:r>
            <a:r>
              <a:rPr sz="140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40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1687" y="4360545"/>
            <a:ext cx="61963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latin typeface="Constantia"/>
                <a:cs typeface="Constantia"/>
              </a:rPr>
              <a:t>procedural</a:t>
            </a:r>
            <a:r>
              <a:rPr sz="2000" b="1" spc="-60" dirty="0">
                <a:latin typeface="Constantia"/>
                <a:cs typeface="Constantia"/>
              </a:rPr>
              <a:t> </a:t>
            </a:r>
            <a:r>
              <a:rPr sz="2000" b="1" spc="-5" dirty="0">
                <a:latin typeface="Constantia"/>
                <a:cs typeface="Constantia"/>
              </a:rPr>
              <a:t>assignment</a:t>
            </a:r>
            <a:r>
              <a:rPr sz="2000" b="1" spc="-95" dirty="0">
                <a:latin typeface="Constantia"/>
                <a:cs typeface="Constantia"/>
              </a:rPr>
              <a:t> </a:t>
            </a:r>
            <a:r>
              <a:rPr sz="2000" b="1" spc="-45" dirty="0">
                <a:latin typeface="Constantia"/>
                <a:cs typeface="Constantia"/>
              </a:rPr>
              <a:t>statements;</a:t>
            </a:r>
            <a:r>
              <a:rPr sz="2100" spc="-67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block</a:t>
            </a:r>
            <a:r>
              <a:rPr sz="2100" spc="22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120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(only</a:t>
            </a:r>
            <a:r>
              <a:rPr sz="2100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37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100" spc="15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217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always</a:t>
            </a:r>
            <a:r>
              <a:rPr sz="2100" spc="15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100" spc="-135" baseline="-19841" dirty="0">
                <a:solidFill>
                  <a:srgbClr val="FFFFFF"/>
                </a:solidFill>
                <a:latin typeface="Microsoft Sans Serif"/>
                <a:cs typeface="Microsoft Sans Serif"/>
              </a:rPr>
              <a:t>block)</a:t>
            </a:r>
            <a:endParaRPr sz="2100" baseline="-19841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48811" y="3714038"/>
            <a:ext cx="5128260" cy="1617345"/>
            <a:chOff x="3448811" y="3714038"/>
            <a:chExt cx="5128260" cy="1617345"/>
          </a:xfrm>
        </p:grpSpPr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64051" y="3851160"/>
              <a:ext cx="1336548" cy="66445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505961" y="3874262"/>
              <a:ext cx="1143000" cy="528955"/>
            </a:xfrm>
            <a:custGeom>
              <a:avLst/>
              <a:gdLst/>
              <a:ahLst/>
              <a:cxnLst/>
              <a:rect l="l" t="t" r="r" b="b"/>
              <a:pathLst>
                <a:path w="1143000" h="528954">
                  <a:moveTo>
                    <a:pt x="1092780" y="469900"/>
                  </a:moveTo>
                  <a:lnTo>
                    <a:pt x="1035303" y="503427"/>
                  </a:lnTo>
                  <a:lnTo>
                    <a:pt x="1029208" y="506856"/>
                  </a:lnTo>
                  <a:lnTo>
                    <a:pt x="1027176" y="514731"/>
                  </a:lnTo>
                  <a:lnTo>
                    <a:pt x="1030732" y="520700"/>
                  </a:lnTo>
                  <a:lnTo>
                    <a:pt x="1034161" y="526795"/>
                  </a:lnTo>
                  <a:lnTo>
                    <a:pt x="1042035" y="528827"/>
                  </a:lnTo>
                  <a:lnTo>
                    <a:pt x="1048003" y="525271"/>
                  </a:lnTo>
                  <a:lnTo>
                    <a:pt x="1121211" y="482600"/>
                  </a:lnTo>
                  <a:lnTo>
                    <a:pt x="1117853" y="482600"/>
                  </a:lnTo>
                  <a:lnTo>
                    <a:pt x="1117853" y="480821"/>
                  </a:lnTo>
                  <a:lnTo>
                    <a:pt x="1111503" y="480821"/>
                  </a:lnTo>
                  <a:lnTo>
                    <a:pt x="1092780" y="469900"/>
                  </a:lnTo>
                  <a:close/>
                </a:path>
                <a:path w="1143000" h="528954">
                  <a:moveTo>
                    <a:pt x="439927" y="12700"/>
                  </a:moveTo>
                  <a:lnTo>
                    <a:pt x="439927" y="476885"/>
                  </a:lnTo>
                  <a:lnTo>
                    <a:pt x="445642" y="482600"/>
                  </a:lnTo>
                  <a:lnTo>
                    <a:pt x="1071009" y="482600"/>
                  </a:lnTo>
                  <a:lnTo>
                    <a:pt x="1092780" y="469900"/>
                  </a:lnTo>
                  <a:lnTo>
                    <a:pt x="465327" y="469900"/>
                  </a:lnTo>
                  <a:lnTo>
                    <a:pt x="452627" y="457200"/>
                  </a:lnTo>
                  <a:lnTo>
                    <a:pt x="465327" y="457200"/>
                  </a:lnTo>
                  <a:lnTo>
                    <a:pt x="465327" y="25400"/>
                  </a:lnTo>
                  <a:lnTo>
                    <a:pt x="452627" y="25400"/>
                  </a:lnTo>
                  <a:lnTo>
                    <a:pt x="439927" y="12700"/>
                  </a:lnTo>
                  <a:close/>
                </a:path>
                <a:path w="1143000" h="528954">
                  <a:moveTo>
                    <a:pt x="1121211" y="457200"/>
                  </a:moveTo>
                  <a:lnTo>
                    <a:pt x="1117853" y="457200"/>
                  </a:lnTo>
                  <a:lnTo>
                    <a:pt x="1117853" y="482600"/>
                  </a:lnTo>
                  <a:lnTo>
                    <a:pt x="1121211" y="482600"/>
                  </a:lnTo>
                  <a:lnTo>
                    <a:pt x="1143000" y="469900"/>
                  </a:lnTo>
                  <a:lnTo>
                    <a:pt x="1121211" y="457200"/>
                  </a:lnTo>
                  <a:close/>
                </a:path>
                <a:path w="1143000" h="528954">
                  <a:moveTo>
                    <a:pt x="1111503" y="458977"/>
                  </a:moveTo>
                  <a:lnTo>
                    <a:pt x="1092780" y="469900"/>
                  </a:lnTo>
                  <a:lnTo>
                    <a:pt x="1111503" y="480821"/>
                  </a:lnTo>
                  <a:lnTo>
                    <a:pt x="1111503" y="458977"/>
                  </a:lnTo>
                  <a:close/>
                </a:path>
                <a:path w="1143000" h="528954">
                  <a:moveTo>
                    <a:pt x="1117853" y="458977"/>
                  </a:moveTo>
                  <a:lnTo>
                    <a:pt x="1111503" y="458977"/>
                  </a:lnTo>
                  <a:lnTo>
                    <a:pt x="1111503" y="480821"/>
                  </a:lnTo>
                  <a:lnTo>
                    <a:pt x="1117853" y="480821"/>
                  </a:lnTo>
                  <a:lnTo>
                    <a:pt x="1117853" y="458977"/>
                  </a:lnTo>
                  <a:close/>
                </a:path>
                <a:path w="1143000" h="528954">
                  <a:moveTo>
                    <a:pt x="465327" y="457200"/>
                  </a:moveTo>
                  <a:lnTo>
                    <a:pt x="452627" y="457200"/>
                  </a:lnTo>
                  <a:lnTo>
                    <a:pt x="465327" y="469900"/>
                  </a:lnTo>
                  <a:lnTo>
                    <a:pt x="465327" y="457200"/>
                  </a:lnTo>
                  <a:close/>
                </a:path>
                <a:path w="1143000" h="528954">
                  <a:moveTo>
                    <a:pt x="1071009" y="457200"/>
                  </a:moveTo>
                  <a:lnTo>
                    <a:pt x="465327" y="457200"/>
                  </a:lnTo>
                  <a:lnTo>
                    <a:pt x="465327" y="469900"/>
                  </a:lnTo>
                  <a:lnTo>
                    <a:pt x="1092780" y="469900"/>
                  </a:lnTo>
                  <a:lnTo>
                    <a:pt x="1071009" y="457200"/>
                  </a:lnTo>
                  <a:close/>
                </a:path>
                <a:path w="1143000" h="528954">
                  <a:moveTo>
                    <a:pt x="1042035" y="410971"/>
                  </a:moveTo>
                  <a:lnTo>
                    <a:pt x="1034161" y="413004"/>
                  </a:lnTo>
                  <a:lnTo>
                    <a:pt x="1030732" y="419100"/>
                  </a:lnTo>
                  <a:lnTo>
                    <a:pt x="1027176" y="425069"/>
                  </a:lnTo>
                  <a:lnTo>
                    <a:pt x="1029208" y="432943"/>
                  </a:lnTo>
                  <a:lnTo>
                    <a:pt x="1035303" y="436371"/>
                  </a:lnTo>
                  <a:lnTo>
                    <a:pt x="1092780" y="469900"/>
                  </a:lnTo>
                  <a:lnTo>
                    <a:pt x="1111503" y="458977"/>
                  </a:lnTo>
                  <a:lnTo>
                    <a:pt x="1117853" y="458977"/>
                  </a:lnTo>
                  <a:lnTo>
                    <a:pt x="1117853" y="457200"/>
                  </a:lnTo>
                  <a:lnTo>
                    <a:pt x="1121211" y="457200"/>
                  </a:lnTo>
                  <a:lnTo>
                    <a:pt x="1048003" y="414527"/>
                  </a:lnTo>
                  <a:lnTo>
                    <a:pt x="1042035" y="410971"/>
                  </a:lnTo>
                  <a:close/>
                </a:path>
                <a:path w="1143000" h="528954">
                  <a:moveTo>
                    <a:pt x="459613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439927" y="25400"/>
                  </a:lnTo>
                  <a:lnTo>
                    <a:pt x="439927" y="12700"/>
                  </a:lnTo>
                  <a:lnTo>
                    <a:pt x="465327" y="12700"/>
                  </a:lnTo>
                  <a:lnTo>
                    <a:pt x="465327" y="5714"/>
                  </a:lnTo>
                  <a:lnTo>
                    <a:pt x="459613" y="0"/>
                  </a:lnTo>
                  <a:close/>
                </a:path>
                <a:path w="1143000" h="528954">
                  <a:moveTo>
                    <a:pt x="465327" y="12700"/>
                  </a:moveTo>
                  <a:lnTo>
                    <a:pt x="439927" y="12700"/>
                  </a:lnTo>
                  <a:lnTo>
                    <a:pt x="452627" y="25400"/>
                  </a:lnTo>
                  <a:lnTo>
                    <a:pt x="465327" y="25400"/>
                  </a:lnTo>
                  <a:lnTo>
                    <a:pt x="465327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48811" y="3714038"/>
              <a:ext cx="108076" cy="24531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04437" y="3736086"/>
              <a:ext cx="1905" cy="152400"/>
            </a:xfrm>
            <a:custGeom>
              <a:avLst/>
              <a:gdLst/>
              <a:ahLst/>
              <a:cxnLst/>
              <a:rect l="l" t="t" r="r" b="b"/>
              <a:pathLst>
                <a:path w="1904" h="152400">
                  <a:moveTo>
                    <a:pt x="825" y="-12700"/>
                  </a:moveTo>
                  <a:lnTo>
                    <a:pt x="825" y="165100"/>
                  </a:lnTo>
                </a:path>
              </a:pathLst>
            </a:custGeom>
            <a:ln w="27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53355" y="4849329"/>
              <a:ext cx="3823715" cy="3947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45379" y="4823460"/>
              <a:ext cx="3438144" cy="50749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00600" y="4876800"/>
              <a:ext cx="3733800" cy="3048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800600" y="4876800"/>
              <a:ext cx="3733800" cy="304800"/>
            </a:xfrm>
            <a:custGeom>
              <a:avLst/>
              <a:gdLst/>
              <a:ahLst/>
              <a:cxnLst/>
              <a:rect l="l" t="t" r="r" b="b"/>
              <a:pathLst>
                <a:path w="3733800" h="3048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3683000" y="0"/>
                  </a:lnTo>
                  <a:lnTo>
                    <a:pt x="3702778" y="3990"/>
                  </a:lnTo>
                  <a:lnTo>
                    <a:pt x="3718925" y="14874"/>
                  </a:lnTo>
                  <a:lnTo>
                    <a:pt x="3729809" y="31021"/>
                  </a:lnTo>
                  <a:lnTo>
                    <a:pt x="3733800" y="50800"/>
                  </a:lnTo>
                  <a:lnTo>
                    <a:pt x="3733800" y="254000"/>
                  </a:lnTo>
                  <a:lnTo>
                    <a:pt x="3729809" y="273778"/>
                  </a:lnTo>
                  <a:lnTo>
                    <a:pt x="3718925" y="289925"/>
                  </a:lnTo>
                  <a:lnTo>
                    <a:pt x="3702778" y="300809"/>
                  </a:lnTo>
                  <a:lnTo>
                    <a:pt x="3683000" y="304800"/>
                  </a:lnTo>
                  <a:lnTo>
                    <a:pt x="50800" y="304800"/>
                  </a:lnTo>
                  <a:lnTo>
                    <a:pt x="31021" y="300809"/>
                  </a:lnTo>
                  <a:lnTo>
                    <a:pt x="14874" y="289925"/>
                  </a:lnTo>
                  <a:lnTo>
                    <a:pt x="3990" y="273778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097907" y="4874133"/>
            <a:ext cx="3137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75" dirty="0">
                <a:latin typeface="Microsoft Sans Serif"/>
                <a:cs typeface="Microsoft Sans Serif"/>
              </a:rPr>
              <a:t>A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30" dirty="0">
                <a:latin typeface="Microsoft Sans Serif"/>
                <a:cs typeface="Microsoft Sans Serif"/>
              </a:rPr>
              <a:t>b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75" dirty="0">
                <a:latin typeface="Microsoft Sans Serif"/>
                <a:cs typeface="Microsoft Sans Serif"/>
              </a:rPr>
              <a:t>c</a:t>
            </a:r>
            <a:r>
              <a:rPr sz="1600" spc="-200" dirty="0">
                <a:latin typeface="Microsoft Sans Serif"/>
                <a:cs typeface="Microsoft Sans Serif"/>
              </a:rPr>
              <a:t>a</a:t>
            </a:r>
            <a:r>
              <a:rPr sz="1600" spc="-120" dirty="0">
                <a:latin typeface="Microsoft Sans Serif"/>
                <a:cs typeface="Microsoft Sans Serif"/>
              </a:rPr>
              <a:t>n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240" dirty="0">
                <a:latin typeface="Microsoft Sans Serif"/>
                <a:cs typeface="Microsoft Sans Serif"/>
              </a:rPr>
              <a:t>a</a:t>
            </a:r>
            <a:r>
              <a:rPr sz="1600" spc="-185" dirty="0">
                <a:latin typeface="Microsoft Sans Serif"/>
                <a:cs typeface="Microsoft Sans Serif"/>
              </a:rPr>
              <a:t>ssign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229" dirty="0">
                <a:latin typeface="Microsoft Sans Serif"/>
                <a:cs typeface="Microsoft Sans Serif"/>
              </a:rPr>
              <a:t>a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80" dirty="0">
                <a:latin typeface="Microsoft Sans Serif"/>
                <a:cs typeface="Microsoft Sans Serif"/>
              </a:rPr>
              <a:t>n</a:t>
            </a:r>
            <a:r>
              <a:rPr sz="1600" spc="-185" dirty="0">
                <a:latin typeface="Microsoft Sans Serif"/>
                <a:cs typeface="Microsoft Sans Serif"/>
              </a:rPr>
              <a:t>a</a:t>
            </a:r>
            <a:r>
              <a:rPr sz="1600" spc="-170" dirty="0">
                <a:latin typeface="Microsoft Sans Serif"/>
                <a:cs typeface="Microsoft Sans Serif"/>
              </a:rPr>
              <a:t>me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f</a:t>
            </a:r>
            <a:r>
              <a:rPr sz="1600" spc="-55" dirty="0">
                <a:latin typeface="Microsoft Sans Serif"/>
                <a:cs typeface="Microsoft Sans Serif"/>
              </a:rPr>
              <a:t>o</a:t>
            </a:r>
            <a:r>
              <a:rPr sz="1600" spc="-5" dirty="0">
                <a:latin typeface="Microsoft Sans Serif"/>
                <a:cs typeface="Microsoft Sans Serif"/>
              </a:rPr>
              <a:t>r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90" dirty="0">
                <a:latin typeface="Microsoft Sans Serif"/>
                <a:cs typeface="Microsoft Sans Serif"/>
              </a:rPr>
              <a:t>th</a:t>
            </a:r>
            <a:r>
              <a:rPr sz="1600" spc="-114" dirty="0">
                <a:latin typeface="Microsoft Sans Serif"/>
                <a:cs typeface="Microsoft Sans Serif"/>
              </a:rPr>
              <a:t>e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75" dirty="0">
                <a:latin typeface="Microsoft Sans Serif"/>
                <a:cs typeface="Microsoft Sans Serif"/>
              </a:rPr>
              <a:t>bl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26136" y="3927347"/>
            <a:ext cx="8174990" cy="2893060"/>
            <a:chOff x="326136" y="3927347"/>
            <a:chExt cx="8174990" cy="2893060"/>
          </a:xfrm>
        </p:grpSpPr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72156" y="4005084"/>
              <a:ext cx="2180844" cy="119632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814446" y="4028058"/>
              <a:ext cx="1986914" cy="1009650"/>
            </a:xfrm>
            <a:custGeom>
              <a:avLst/>
              <a:gdLst/>
              <a:ahLst/>
              <a:cxnLst/>
              <a:rect l="l" t="t" r="r" b="b"/>
              <a:pathLst>
                <a:path w="1986914" h="1009650">
                  <a:moveTo>
                    <a:pt x="1916670" y="981003"/>
                  </a:moveTo>
                  <a:lnTo>
                    <a:pt x="1868551" y="984123"/>
                  </a:lnTo>
                  <a:lnTo>
                    <a:pt x="1863216" y="990092"/>
                  </a:lnTo>
                  <a:lnTo>
                    <a:pt x="1863745" y="997585"/>
                  </a:lnTo>
                  <a:lnTo>
                    <a:pt x="1864105" y="1004189"/>
                  </a:lnTo>
                  <a:lnTo>
                    <a:pt x="1870202" y="1009523"/>
                  </a:lnTo>
                  <a:lnTo>
                    <a:pt x="1984955" y="1002030"/>
                  </a:lnTo>
                  <a:lnTo>
                    <a:pt x="1958720" y="1002030"/>
                  </a:lnTo>
                  <a:lnTo>
                    <a:pt x="1916670" y="981003"/>
                  </a:lnTo>
                  <a:close/>
                </a:path>
                <a:path w="1986914" h="1009650">
                  <a:moveTo>
                    <a:pt x="1941878" y="979402"/>
                  </a:moveTo>
                  <a:lnTo>
                    <a:pt x="1916670" y="981003"/>
                  </a:lnTo>
                  <a:lnTo>
                    <a:pt x="1958720" y="1002030"/>
                  </a:lnTo>
                  <a:lnTo>
                    <a:pt x="1960955" y="997585"/>
                  </a:lnTo>
                  <a:lnTo>
                    <a:pt x="1953767" y="997585"/>
                  </a:lnTo>
                  <a:lnTo>
                    <a:pt x="1941878" y="979402"/>
                  </a:lnTo>
                  <a:close/>
                </a:path>
                <a:path w="1986914" h="1009650">
                  <a:moveTo>
                    <a:pt x="1915032" y="902335"/>
                  </a:moveTo>
                  <a:lnTo>
                    <a:pt x="1909190" y="906145"/>
                  </a:lnTo>
                  <a:lnTo>
                    <a:pt x="1903349" y="910082"/>
                  </a:lnTo>
                  <a:lnTo>
                    <a:pt x="1901698" y="917956"/>
                  </a:lnTo>
                  <a:lnTo>
                    <a:pt x="1928042" y="958244"/>
                  </a:lnTo>
                  <a:lnTo>
                    <a:pt x="1970151" y="979297"/>
                  </a:lnTo>
                  <a:lnTo>
                    <a:pt x="1958720" y="1002030"/>
                  </a:lnTo>
                  <a:lnTo>
                    <a:pt x="1984955" y="1002030"/>
                  </a:lnTo>
                  <a:lnTo>
                    <a:pt x="1986914" y="1001903"/>
                  </a:lnTo>
                  <a:lnTo>
                    <a:pt x="1922906" y="903986"/>
                  </a:lnTo>
                  <a:lnTo>
                    <a:pt x="1915032" y="902335"/>
                  </a:lnTo>
                  <a:close/>
                </a:path>
                <a:path w="1986914" h="1009650">
                  <a:moveTo>
                    <a:pt x="1963547" y="978027"/>
                  </a:moveTo>
                  <a:lnTo>
                    <a:pt x="1941878" y="979402"/>
                  </a:lnTo>
                  <a:lnTo>
                    <a:pt x="1953767" y="997585"/>
                  </a:lnTo>
                  <a:lnTo>
                    <a:pt x="1963547" y="978027"/>
                  </a:lnTo>
                  <a:close/>
                </a:path>
                <a:path w="1986914" h="1009650">
                  <a:moveTo>
                    <a:pt x="1967610" y="978027"/>
                  </a:moveTo>
                  <a:lnTo>
                    <a:pt x="1963547" y="978027"/>
                  </a:lnTo>
                  <a:lnTo>
                    <a:pt x="1953767" y="997585"/>
                  </a:lnTo>
                  <a:lnTo>
                    <a:pt x="1960955" y="997585"/>
                  </a:lnTo>
                  <a:lnTo>
                    <a:pt x="1970151" y="979297"/>
                  </a:lnTo>
                  <a:lnTo>
                    <a:pt x="1967610" y="978027"/>
                  </a:lnTo>
                  <a:close/>
                </a:path>
                <a:path w="1986914" h="1009650">
                  <a:moveTo>
                    <a:pt x="11429" y="0"/>
                  </a:moveTo>
                  <a:lnTo>
                    <a:pt x="0" y="22606"/>
                  </a:lnTo>
                  <a:lnTo>
                    <a:pt x="1916670" y="981003"/>
                  </a:lnTo>
                  <a:lnTo>
                    <a:pt x="1941878" y="979402"/>
                  </a:lnTo>
                  <a:lnTo>
                    <a:pt x="1928042" y="958244"/>
                  </a:lnTo>
                  <a:lnTo>
                    <a:pt x="11429" y="0"/>
                  </a:lnTo>
                  <a:close/>
                </a:path>
                <a:path w="1986914" h="1009650">
                  <a:moveTo>
                    <a:pt x="1928042" y="958244"/>
                  </a:moveTo>
                  <a:lnTo>
                    <a:pt x="1941878" y="979402"/>
                  </a:lnTo>
                  <a:lnTo>
                    <a:pt x="1963547" y="978027"/>
                  </a:lnTo>
                  <a:lnTo>
                    <a:pt x="1967610" y="978027"/>
                  </a:lnTo>
                  <a:lnTo>
                    <a:pt x="1928042" y="958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00812" y="3942575"/>
              <a:ext cx="108077" cy="100737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56438" y="3964685"/>
              <a:ext cx="1905" cy="914400"/>
            </a:xfrm>
            <a:custGeom>
              <a:avLst/>
              <a:gdLst/>
              <a:ahLst/>
              <a:cxnLst/>
              <a:rect l="l" t="t" r="r" b="b"/>
              <a:pathLst>
                <a:path w="1904" h="914400">
                  <a:moveTo>
                    <a:pt x="1587" y="0"/>
                  </a:moveTo>
                  <a:lnTo>
                    <a:pt x="0" y="9144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29556" y="6224015"/>
              <a:ext cx="3671315" cy="47091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27091" y="6152392"/>
              <a:ext cx="3473196" cy="66753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76800" y="6248399"/>
              <a:ext cx="3581400" cy="3810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876800" y="6248399"/>
              <a:ext cx="3581400" cy="381000"/>
            </a:xfrm>
            <a:custGeom>
              <a:avLst/>
              <a:gdLst/>
              <a:ahLst/>
              <a:cxnLst/>
              <a:rect l="l" t="t" r="r" b="b"/>
              <a:pathLst>
                <a:path w="3581400" h="381000">
                  <a:moveTo>
                    <a:pt x="0" y="63500"/>
                  </a:moveTo>
                  <a:lnTo>
                    <a:pt x="4992" y="38785"/>
                  </a:lnTo>
                  <a:lnTo>
                    <a:pt x="18605" y="18600"/>
                  </a:lnTo>
                  <a:lnTo>
                    <a:pt x="38790" y="4990"/>
                  </a:lnTo>
                  <a:lnTo>
                    <a:pt x="63500" y="0"/>
                  </a:lnTo>
                  <a:lnTo>
                    <a:pt x="3517900" y="0"/>
                  </a:lnTo>
                  <a:lnTo>
                    <a:pt x="3542609" y="4990"/>
                  </a:lnTo>
                  <a:lnTo>
                    <a:pt x="3562794" y="18600"/>
                  </a:lnTo>
                  <a:lnTo>
                    <a:pt x="3576407" y="38785"/>
                  </a:lnTo>
                  <a:lnTo>
                    <a:pt x="3581400" y="63500"/>
                  </a:lnTo>
                  <a:lnTo>
                    <a:pt x="3581400" y="317500"/>
                  </a:lnTo>
                  <a:lnTo>
                    <a:pt x="3576407" y="342214"/>
                  </a:lnTo>
                  <a:lnTo>
                    <a:pt x="3562794" y="362399"/>
                  </a:lnTo>
                  <a:lnTo>
                    <a:pt x="3542609" y="376009"/>
                  </a:lnTo>
                  <a:lnTo>
                    <a:pt x="3517900" y="381000"/>
                  </a:lnTo>
                  <a:lnTo>
                    <a:pt x="63500" y="381000"/>
                  </a:lnTo>
                  <a:lnTo>
                    <a:pt x="38790" y="376009"/>
                  </a:lnTo>
                  <a:lnTo>
                    <a:pt x="18605" y="362399"/>
                  </a:lnTo>
                  <a:lnTo>
                    <a:pt x="4992" y="342214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4528" y="3927347"/>
              <a:ext cx="170649" cy="10807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57962" y="3963161"/>
              <a:ext cx="76200" cy="1905"/>
            </a:xfrm>
            <a:custGeom>
              <a:avLst/>
              <a:gdLst/>
              <a:ahLst/>
              <a:cxnLst/>
              <a:rect l="l" t="t" r="r" b="b"/>
              <a:pathLst>
                <a:path w="76200" h="1904">
                  <a:moveTo>
                    <a:pt x="-12700" y="762"/>
                  </a:moveTo>
                  <a:lnTo>
                    <a:pt x="88900" y="762"/>
                  </a:lnTo>
                </a:path>
              </a:pathLst>
            </a:custGeom>
            <a:ln w="26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4528" y="4841747"/>
              <a:ext cx="170649" cy="108076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7962" y="4877561"/>
              <a:ext cx="76200" cy="1905"/>
            </a:xfrm>
            <a:custGeom>
              <a:avLst/>
              <a:gdLst/>
              <a:ahLst/>
              <a:cxnLst/>
              <a:rect l="l" t="t" r="r" b="b"/>
              <a:pathLst>
                <a:path w="76200" h="1904">
                  <a:moveTo>
                    <a:pt x="-12700" y="762"/>
                  </a:moveTo>
                  <a:lnTo>
                    <a:pt x="88900" y="762"/>
                  </a:lnTo>
                </a:path>
              </a:pathLst>
            </a:custGeom>
            <a:ln w="26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38328" y="4383023"/>
              <a:ext cx="170649" cy="10807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6136" y="4399800"/>
              <a:ext cx="144526" cy="214884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81762" y="4421885"/>
              <a:ext cx="1270" cy="2056764"/>
            </a:xfrm>
            <a:custGeom>
              <a:avLst/>
              <a:gdLst/>
              <a:ahLst/>
              <a:cxnLst/>
              <a:rect l="l" t="t" r="r" b="b"/>
              <a:pathLst>
                <a:path w="1270" h="2056764">
                  <a:moveTo>
                    <a:pt x="800" y="0"/>
                  </a:moveTo>
                  <a:lnTo>
                    <a:pt x="0" y="205659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8328" y="6303263"/>
              <a:ext cx="4690872" cy="30782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81660" y="6381559"/>
              <a:ext cx="4496435" cy="118110"/>
            </a:xfrm>
            <a:custGeom>
              <a:avLst/>
              <a:gdLst/>
              <a:ahLst/>
              <a:cxnLst/>
              <a:rect l="l" t="t" r="r" b="b"/>
              <a:pathLst>
                <a:path w="4496435" h="118110">
                  <a:moveTo>
                    <a:pt x="4474098" y="45618"/>
                  </a:moveTo>
                  <a:lnTo>
                    <a:pt x="4470628" y="45618"/>
                  </a:lnTo>
                  <a:lnTo>
                    <a:pt x="4470882" y="71018"/>
                  </a:lnTo>
                  <a:lnTo>
                    <a:pt x="4423895" y="71416"/>
                  </a:lnTo>
                  <a:lnTo>
                    <a:pt x="4382363" y="96075"/>
                  </a:lnTo>
                  <a:lnTo>
                    <a:pt x="4380458" y="103873"/>
                  </a:lnTo>
                  <a:lnTo>
                    <a:pt x="4387570" y="115925"/>
                  </a:lnTo>
                  <a:lnTo>
                    <a:pt x="4395444" y="117906"/>
                  </a:lnTo>
                  <a:lnTo>
                    <a:pt x="4495901" y="58102"/>
                  </a:lnTo>
                  <a:lnTo>
                    <a:pt x="4474098" y="45618"/>
                  </a:lnTo>
                  <a:close/>
                </a:path>
                <a:path w="4496435" h="118110">
                  <a:moveTo>
                    <a:pt x="4423619" y="46016"/>
                  </a:moveTo>
                  <a:lnTo>
                    <a:pt x="0" y="83502"/>
                  </a:lnTo>
                  <a:lnTo>
                    <a:pt x="203" y="108902"/>
                  </a:lnTo>
                  <a:lnTo>
                    <a:pt x="4423895" y="71416"/>
                  </a:lnTo>
                  <a:lnTo>
                    <a:pt x="4445530" y="58547"/>
                  </a:lnTo>
                  <a:lnTo>
                    <a:pt x="4423619" y="46016"/>
                  </a:lnTo>
                  <a:close/>
                </a:path>
                <a:path w="4496435" h="118110">
                  <a:moveTo>
                    <a:pt x="4445530" y="58547"/>
                  </a:moveTo>
                  <a:lnTo>
                    <a:pt x="4423895" y="71416"/>
                  </a:lnTo>
                  <a:lnTo>
                    <a:pt x="4470882" y="71018"/>
                  </a:lnTo>
                  <a:lnTo>
                    <a:pt x="4470865" y="69341"/>
                  </a:lnTo>
                  <a:lnTo>
                    <a:pt x="4464405" y="69341"/>
                  </a:lnTo>
                  <a:lnTo>
                    <a:pt x="4445530" y="58547"/>
                  </a:lnTo>
                  <a:close/>
                </a:path>
                <a:path w="4496435" h="118110">
                  <a:moveTo>
                    <a:pt x="4464278" y="47396"/>
                  </a:moveTo>
                  <a:lnTo>
                    <a:pt x="4445530" y="58547"/>
                  </a:lnTo>
                  <a:lnTo>
                    <a:pt x="4464405" y="69341"/>
                  </a:lnTo>
                  <a:lnTo>
                    <a:pt x="4464278" y="47396"/>
                  </a:lnTo>
                  <a:close/>
                </a:path>
                <a:path w="4496435" h="118110">
                  <a:moveTo>
                    <a:pt x="4470646" y="47396"/>
                  </a:moveTo>
                  <a:lnTo>
                    <a:pt x="4464278" y="47396"/>
                  </a:lnTo>
                  <a:lnTo>
                    <a:pt x="4464405" y="69341"/>
                  </a:lnTo>
                  <a:lnTo>
                    <a:pt x="4470865" y="69341"/>
                  </a:lnTo>
                  <a:lnTo>
                    <a:pt x="4470646" y="47396"/>
                  </a:lnTo>
                  <a:close/>
                </a:path>
                <a:path w="4496435" h="118110">
                  <a:moveTo>
                    <a:pt x="4470628" y="45618"/>
                  </a:moveTo>
                  <a:lnTo>
                    <a:pt x="4423619" y="46016"/>
                  </a:lnTo>
                  <a:lnTo>
                    <a:pt x="4445530" y="58547"/>
                  </a:lnTo>
                  <a:lnTo>
                    <a:pt x="4464278" y="47396"/>
                  </a:lnTo>
                  <a:lnTo>
                    <a:pt x="4470646" y="47396"/>
                  </a:lnTo>
                  <a:lnTo>
                    <a:pt x="4470628" y="45618"/>
                  </a:lnTo>
                  <a:close/>
                </a:path>
                <a:path w="4496435" h="118110">
                  <a:moveTo>
                    <a:pt x="4394428" y="0"/>
                  </a:moveTo>
                  <a:lnTo>
                    <a:pt x="4386681" y="2120"/>
                  </a:lnTo>
                  <a:lnTo>
                    <a:pt x="4383125" y="8204"/>
                  </a:lnTo>
                  <a:lnTo>
                    <a:pt x="4379696" y="14300"/>
                  </a:lnTo>
                  <a:lnTo>
                    <a:pt x="4381728" y="22059"/>
                  </a:lnTo>
                  <a:lnTo>
                    <a:pt x="4423619" y="46016"/>
                  </a:lnTo>
                  <a:lnTo>
                    <a:pt x="4474098" y="45618"/>
                  </a:lnTo>
                  <a:lnTo>
                    <a:pt x="43944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29556" y="5766815"/>
              <a:ext cx="3671315" cy="4709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253227" y="5779007"/>
              <a:ext cx="2822448" cy="50749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876800" y="5791199"/>
              <a:ext cx="3581400" cy="38100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876800" y="5791199"/>
              <a:ext cx="3581400" cy="381000"/>
            </a:xfrm>
            <a:custGeom>
              <a:avLst/>
              <a:gdLst/>
              <a:ahLst/>
              <a:cxnLst/>
              <a:rect l="l" t="t" r="r" b="b"/>
              <a:pathLst>
                <a:path w="3581400" h="381000">
                  <a:moveTo>
                    <a:pt x="0" y="63500"/>
                  </a:moveTo>
                  <a:lnTo>
                    <a:pt x="4992" y="38785"/>
                  </a:lnTo>
                  <a:lnTo>
                    <a:pt x="18605" y="18600"/>
                  </a:lnTo>
                  <a:lnTo>
                    <a:pt x="38790" y="4990"/>
                  </a:lnTo>
                  <a:lnTo>
                    <a:pt x="63500" y="0"/>
                  </a:lnTo>
                  <a:lnTo>
                    <a:pt x="3517900" y="0"/>
                  </a:lnTo>
                  <a:lnTo>
                    <a:pt x="3542609" y="4990"/>
                  </a:lnTo>
                  <a:lnTo>
                    <a:pt x="3562794" y="18600"/>
                  </a:lnTo>
                  <a:lnTo>
                    <a:pt x="3576407" y="38785"/>
                  </a:lnTo>
                  <a:lnTo>
                    <a:pt x="3581400" y="63500"/>
                  </a:lnTo>
                  <a:lnTo>
                    <a:pt x="3581400" y="317500"/>
                  </a:lnTo>
                  <a:lnTo>
                    <a:pt x="3576407" y="342214"/>
                  </a:lnTo>
                  <a:lnTo>
                    <a:pt x="3562794" y="362399"/>
                  </a:lnTo>
                  <a:lnTo>
                    <a:pt x="3542609" y="376009"/>
                  </a:lnTo>
                  <a:lnTo>
                    <a:pt x="3517900" y="381000"/>
                  </a:lnTo>
                  <a:lnTo>
                    <a:pt x="63500" y="381000"/>
                  </a:lnTo>
                  <a:lnTo>
                    <a:pt x="38790" y="376009"/>
                  </a:lnTo>
                  <a:lnTo>
                    <a:pt x="18605" y="362399"/>
                  </a:lnTo>
                  <a:lnTo>
                    <a:pt x="4992" y="342214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40180" y="4657356"/>
              <a:ext cx="106616" cy="1373123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495805" y="4679441"/>
              <a:ext cx="1270" cy="1280160"/>
            </a:xfrm>
            <a:custGeom>
              <a:avLst/>
              <a:gdLst/>
              <a:ahLst/>
              <a:cxnLst/>
              <a:rect l="l" t="t" r="r" b="b"/>
              <a:pathLst>
                <a:path w="1269" h="1280160">
                  <a:moveTo>
                    <a:pt x="762" y="0"/>
                  </a:moveTo>
                  <a:lnTo>
                    <a:pt x="0" y="128015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50847" y="5788151"/>
              <a:ext cx="3578352" cy="307822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494155" y="5866739"/>
              <a:ext cx="3383915" cy="118110"/>
            </a:xfrm>
            <a:custGeom>
              <a:avLst/>
              <a:gdLst/>
              <a:ahLst/>
              <a:cxnLst/>
              <a:rect l="l" t="t" r="r" b="b"/>
              <a:pathLst>
                <a:path w="3383915" h="118110">
                  <a:moveTo>
                    <a:pt x="3361578" y="45389"/>
                  </a:moveTo>
                  <a:lnTo>
                    <a:pt x="3358133" y="45389"/>
                  </a:lnTo>
                  <a:lnTo>
                    <a:pt x="3358387" y="70789"/>
                  </a:lnTo>
                  <a:lnTo>
                    <a:pt x="3311485" y="71318"/>
                  </a:lnTo>
                  <a:lnTo>
                    <a:pt x="3269996" y="96100"/>
                  </a:lnTo>
                  <a:lnTo>
                    <a:pt x="3268091" y="103898"/>
                  </a:lnTo>
                  <a:lnTo>
                    <a:pt x="3271647" y="109918"/>
                  </a:lnTo>
                  <a:lnTo>
                    <a:pt x="3275329" y="115938"/>
                  </a:lnTo>
                  <a:lnTo>
                    <a:pt x="3283077" y="117894"/>
                  </a:lnTo>
                  <a:lnTo>
                    <a:pt x="3383406" y="57810"/>
                  </a:lnTo>
                  <a:lnTo>
                    <a:pt x="3361578" y="45389"/>
                  </a:lnTo>
                  <a:close/>
                </a:path>
                <a:path w="3383915" h="118110">
                  <a:moveTo>
                    <a:pt x="3311175" y="45918"/>
                  </a:moveTo>
                  <a:lnTo>
                    <a:pt x="0" y="83210"/>
                  </a:lnTo>
                  <a:lnTo>
                    <a:pt x="253" y="108610"/>
                  </a:lnTo>
                  <a:lnTo>
                    <a:pt x="3311485" y="71318"/>
                  </a:lnTo>
                  <a:lnTo>
                    <a:pt x="3333101" y="58377"/>
                  </a:lnTo>
                  <a:lnTo>
                    <a:pt x="3311175" y="45918"/>
                  </a:lnTo>
                  <a:close/>
                </a:path>
                <a:path w="3383915" h="118110">
                  <a:moveTo>
                    <a:pt x="3333101" y="58377"/>
                  </a:moveTo>
                  <a:lnTo>
                    <a:pt x="3311485" y="71318"/>
                  </a:lnTo>
                  <a:lnTo>
                    <a:pt x="3358387" y="70789"/>
                  </a:lnTo>
                  <a:lnTo>
                    <a:pt x="3358371" y="69138"/>
                  </a:lnTo>
                  <a:lnTo>
                    <a:pt x="3352037" y="69138"/>
                  </a:lnTo>
                  <a:lnTo>
                    <a:pt x="3333101" y="58377"/>
                  </a:lnTo>
                  <a:close/>
                </a:path>
                <a:path w="3383915" h="118110">
                  <a:moveTo>
                    <a:pt x="3351783" y="47193"/>
                  </a:moveTo>
                  <a:lnTo>
                    <a:pt x="3333101" y="58377"/>
                  </a:lnTo>
                  <a:lnTo>
                    <a:pt x="3352037" y="69138"/>
                  </a:lnTo>
                  <a:lnTo>
                    <a:pt x="3351783" y="47193"/>
                  </a:lnTo>
                  <a:close/>
                </a:path>
                <a:path w="3383915" h="118110">
                  <a:moveTo>
                    <a:pt x="3358152" y="47193"/>
                  </a:moveTo>
                  <a:lnTo>
                    <a:pt x="3351783" y="47193"/>
                  </a:lnTo>
                  <a:lnTo>
                    <a:pt x="3352037" y="69138"/>
                  </a:lnTo>
                  <a:lnTo>
                    <a:pt x="3358371" y="69138"/>
                  </a:lnTo>
                  <a:lnTo>
                    <a:pt x="3358152" y="47193"/>
                  </a:lnTo>
                  <a:close/>
                </a:path>
                <a:path w="3383915" h="118110">
                  <a:moveTo>
                    <a:pt x="3358133" y="45389"/>
                  </a:moveTo>
                  <a:lnTo>
                    <a:pt x="3311175" y="45918"/>
                  </a:lnTo>
                  <a:lnTo>
                    <a:pt x="3333101" y="58377"/>
                  </a:lnTo>
                  <a:lnTo>
                    <a:pt x="3351783" y="47193"/>
                  </a:lnTo>
                  <a:lnTo>
                    <a:pt x="3358152" y="47193"/>
                  </a:lnTo>
                  <a:lnTo>
                    <a:pt x="3358133" y="45389"/>
                  </a:lnTo>
                  <a:close/>
                </a:path>
                <a:path w="3383915" h="118110">
                  <a:moveTo>
                    <a:pt x="3281679" y="0"/>
                  </a:moveTo>
                  <a:lnTo>
                    <a:pt x="3273932" y="2133"/>
                  </a:lnTo>
                  <a:lnTo>
                    <a:pt x="3267075" y="14325"/>
                  </a:lnTo>
                  <a:lnTo>
                    <a:pt x="3269233" y="22085"/>
                  </a:lnTo>
                  <a:lnTo>
                    <a:pt x="3311175" y="45918"/>
                  </a:lnTo>
                  <a:lnTo>
                    <a:pt x="3358133" y="45389"/>
                  </a:lnTo>
                  <a:lnTo>
                    <a:pt x="3361578" y="45389"/>
                  </a:lnTo>
                  <a:lnTo>
                    <a:pt x="3287903" y="3467"/>
                  </a:lnTo>
                  <a:lnTo>
                    <a:pt x="32816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29556" y="5233415"/>
              <a:ext cx="3671315" cy="54709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90515" y="5161787"/>
              <a:ext cx="3604260" cy="75134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876800" y="5257799"/>
              <a:ext cx="3581400" cy="45720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4876800" y="5257799"/>
              <a:ext cx="3581400" cy="457200"/>
            </a:xfrm>
            <a:custGeom>
              <a:avLst/>
              <a:gdLst/>
              <a:ahLst/>
              <a:cxnLst/>
              <a:rect l="l" t="t" r="r" b="b"/>
              <a:pathLst>
                <a:path w="3581400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3505200" y="0"/>
                  </a:lnTo>
                  <a:lnTo>
                    <a:pt x="3534840" y="5994"/>
                  </a:lnTo>
                  <a:lnTo>
                    <a:pt x="3559063" y="22336"/>
                  </a:lnTo>
                  <a:lnTo>
                    <a:pt x="3575405" y="46559"/>
                  </a:lnTo>
                  <a:lnTo>
                    <a:pt x="3581400" y="76200"/>
                  </a:lnTo>
                  <a:lnTo>
                    <a:pt x="3581400" y="381000"/>
                  </a:lnTo>
                  <a:lnTo>
                    <a:pt x="3575405" y="410662"/>
                  </a:lnTo>
                  <a:lnTo>
                    <a:pt x="3559063" y="434882"/>
                  </a:lnTo>
                  <a:lnTo>
                    <a:pt x="3534840" y="451212"/>
                  </a:lnTo>
                  <a:lnTo>
                    <a:pt x="3505200" y="457200"/>
                  </a:lnTo>
                  <a:lnTo>
                    <a:pt x="76200" y="457200"/>
                  </a:lnTo>
                  <a:lnTo>
                    <a:pt x="46559" y="451212"/>
                  </a:lnTo>
                  <a:lnTo>
                    <a:pt x="22336" y="434882"/>
                  </a:lnTo>
                  <a:lnTo>
                    <a:pt x="5994" y="410662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043296" y="5209794"/>
            <a:ext cx="3246120" cy="1437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05" dirty="0">
                <a:solidFill>
                  <a:srgbClr val="FFFFFF"/>
                </a:solidFill>
                <a:latin typeface="Microsoft Sans Serif"/>
                <a:cs typeface="Microsoft Sans Serif"/>
              </a:rPr>
              <a:t>V</a:t>
            </a:r>
            <a:r>
              <a:rPr sz="16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ri</a:t>
            </a:r>
            <a:r>
              <a:rPr sz="16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160" dirty="0">
                <a:solidFill>
                  <a:srgbClr val="FFFFFF"/>
                </a:solidFill>
                <a:latin typeface="Microsoft Sans Serif"/>
                <a:cs typeface="Microsoft Sans Serif"/>
              </a:rPr>
              <a:t>ble</a:t>
            </a:r>
            <a:r>
              <a:rPr sz="1600" spc="-175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16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w</a:t>
            </a:r>
            <a:r>
              <a:rPr sz="16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h</a:t>
            </a:r>
            <a:r>
              <a:rPr sz="16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ich</a:t>
            </a:r>
            <a:r>
              <a:rPr sz="16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3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160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16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6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600" spc="-23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16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16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6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th</a:t>
            </a:r>
            <a:r>
              <a:rPr sz="16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bl</a:t>
            </a:r>
            <a:r>
              <a:rPr sz="16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6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6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6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23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6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re  </a:t>
            </a:r>
            <a:r>
              <a:rPr sz="16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600" spc="-2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6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f</a:t>
            </a:r>
            <a:r>
              <a:rPr sz="16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16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ne</a:t>
            </a:r>
            <a:r>
              <a:rPr sz="16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here</a:t>
            </a:r>
            <a:endParaRPr sz="1600">
              <a:latin typeface="Microsoft Sans Serif"/>
              <a:cs typeface="Microsoft Sans Serif"/>
            </a:endParaRPr>
          </a:p>
          <a:p>
            <a:pPr marL="635" algn="ctr">
              <a:lnSpc>
                <a:spcPct val="100000"/>
              </a:lnSpc>
              <a:spcBef>
                <a:spcPts val="1019"/>
              </a:spcBef>
            </a:pPr>
            <a:r>
              <a:rPr sz="16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This</a:t>
            </a:r>
            <a:r>
              <a:rPr sz="16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</a:t>
            </a:r>
            <a:r>
              <a:rPr sz="16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body</a:t>
            </a:r>
            <a:r>
              <a:rPr sz="1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6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6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block</a:t>
            </a:r>
            <a:endParaRPr sz="1600">
              <a:latin typeface="Microsoft Sans Serif"/>
              <a:cs typeface="Microsoft Sans Serif"/>
            </a:endParaRPr>
          </a:p>
          <a:p>
            <a:pPr marL="34290" marR="23495" algn="ctr">
              <a:lnSpc>
                <a:spcPct val="100000"/>
              </a:lnSpc>
              <a:spcBef>
                <a:spcPts val="980"/>
              </a:spcBef>
            </a:pPr>
            <a:r>
              <a:rPr sz="1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All</a:t>
            </a:r>
            <a:r>
              <a:rPr sz="1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4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1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1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withi</a:t>
            </a:r>
            <a:r>
              <a:rPr sz="1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1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4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400" spc="-90" dirty="0">
                <a:solidFill>
                  <a:srgbClr val="FFFFFF"/>
                </a:solidFill>
                <a:latin typeface="Microsoft Sans Serif"/>
                <a:cs typeface="Microsoft Sans Serif"/>
              </a:rPr>
              <a:t>k</a:t>
            </a:r>
            <a:r>
              <a:rPr sz="1400" spc="-260" dirty="0">
                <a:solidFill>
                  <a:srgbClr val="FFFFFF"/>
                </a:solidFill>
                <a:latin typeface="Microsoft Sans Serif"/>
                <a:cs typeface="Microsoft Sans Serif"/>
              </a:rPr>
              <a:t>s</a:t>
            </a:r>
            <a:r>
              <a:rPr sz="1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14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17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400" spc="-12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1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400" spc="-215" dirty="0">
                <a:solidFill>
                  <a:srgbClr val="FFFFFF"/>
                </a:solidFill>
                <a:latin typeface="Microsoft Sans Serif"/>
                <a:cs typeface="Microsoft Sans Serif"/>
              </a:rPr>
              <a:t>se</a:t>
            </a:r>
            <a:r>
              <a:rPr sz="14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r>
              <a:rPr sz="1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sz="1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r>
              <a:rPr sz="1400" spc="-170" dirty="0">
                <a:solidFill>
                  <a:srgbClr val="FFFFFF"/>
                </a:solidFill>
                <a:latin typeface="Microsoft Sans Serif"/>
                <a:cs typeface="Microsoft Sans Serif"/>
              </a:rPr>
              <a:t>eg</a:t>
            </a:r>
            <a:r>
              <a:rPr sz="1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14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-  </a:t>
            </a:r>
            <a:r>
              <a:rPr sz="14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40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14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4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stru</a:t>
            </a:r>
            <a:r>
              <a:rPr sz="1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4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478280" y="4309871"/>
            <a:ext cx="3550920" cy="1348740"/>
            <a:chOff x="1478280" y="4309871"/>
            <a:chExt cx="3550920" cy="1348740"/>
          </a:xfrm>
        </p:grpSpPr>
        <p:pic>
          <p:nvPicPr>
            <p:cNvPr id="88" name="object 8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78280" y="4309871"/>
              <a:ext cx="3550920" cy="134873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520698" y="4332096"/>
              <a:ext cx="3357245" cy="1178560"/>
            </a:xfrm>
            <a:custGeom>
              <a:avLst/>
              <a:gdLst/>
              <a:ahLst/>
              <a:cxnLst/>
              <a:rect l="l" t="t" r="r" b="b"/>
              <a:pathLst>
                <a:path w="3357245" h="1178560">
                  <a:moveTo>
                    <a:pt x="3284452" y="1143841"/>
                  </a:moveTo>
                  <a:lnTo>
                    <a:pt x="3237229" y="1153414"/>
                  </a:lnTo>
                  <a:lnTo>
                    <a:pt x="3232785" y="1160017"/>
                  </a:lnTo>
                  <a:lnTo>
                    <a:pt x="3235579" y="1173861"/>
                  </a:lnTo>
                  <a:lnTo>
                    <a:pt x="3242182" y="1178305"/>
                  </a:lnTo>
                  <a:lnTo>
                    <a:pt x="3337453" y="1159002"/>
                  </a:lnTo>
                  <a:lnTo>
                    <a:pt x="3328924" y="1159002"/>
                  </a:lnTo>
                  <a:lnTo>
                    <a:pt x="3284452" y="1143841"/>
                  </a:lnTo>
                  <a:close/>
                </a:path>
                <a:path w="3357245" h="1178560">
                  <a:moveTo>
                    <a:pt x="3309172" y="1138829"/>
                  </a:moveTo>
                  <a:lnTo>
                    <a:pt x="3284452" y="1143841"/>
                  </a:lnTo>
                  <a:lnTo>
                    <a:pt x="3328924" y="1159002"/>
                  </a:lnTo>
                  <a:lnTo>
                    <a:pt x="3330183" y="1155318"/>
                  </a:lnTo>
                  <a:lnTo>
                    <a:pt x="3323463" y="1155318"/>
                  </a:lnTo>
                  <a:lnTo>
                    <a:pt x="3309172" y="1138829"/>
                  </a:lnTo>
                  <a:close/>
                </a:path>
                <a:path w="3357245" h="1178560">
                  <a:moveTo>
                    <a:pt x="3272281" y="1066037"/>
                  </a:moveTo>
                  <a:lnTo>
                    <a:pt x="3266948" y="1070736"/>
                  </a:lnTo>
                  <a:lnTo>
                    <a:pt x="3261614" y="1075308"/>
                  </a:lnTo>
                  <a:lnTo>
                    <a:pt x="3261105" y="1083309"/>
                  </a:lnTo>
                  <a:lnTo>
                    <a:pt x="3265678" y="1088643"/>
                  </a:lnTo>
                  <a:lnTo>
                    <a:pt x="3292559" y="1119661"/>
                  </a:lnTo>
                  <a:lnTo>
                    <a:pt x="3337179" y="1134871"/>
                  </a:lnTo>
                  <a:lnTo>
                    <a:pt x="3328924" y="1159002"/>
                  </a:lnTo>
                  <a:lnTo>
                    <a:pt x="3337453" y="1159002"/>
                  </a:lnTo>
                  <a:lnTo>
                    <a:pt x="3356864" y="1155064"/>
                  </a:lnTo>
                  <a:lnTo>
                    <a:pt x="3284854" y="1072006"/>
                  </a:lnTo>
                  <a:lnTo>
                    <a:pt x="3280282" y="1066672"/>
                  </a:lnTo>
                  <a:lnTo>
                    <a:pt x="3272281" y="1066037"/>
                  </a:lnTo>
                  <a:close/>
                </a:path>
                <a:path w="3357245" h="1178560">
                  <a:moveTo>
                    <a:pt x="3330575" y="1134490"/>
                  </a:moveTo>
                  <a:lnTo>
                    <a:pt x="3309172" y="1138829"/>
                  </a:lnTo>
                  <a:lnTo>
                    <a:pt x="3323463" y="1155318"/>
                  </a:lnTo>
                  <a:lnTo>
                    <a:pt x="3330575" y="1134490"/>
                  </a:lnTo>
                  <a:close/>
                </a:path>
                <a:path w="3357245" h="1178560">
                  <a:moveTo>
                    <a:pt x="3336061" y="1134490"/>
                  </a:moveTo>
                  <a:lnTo>
                    <a:pt x="3330575" y="1134490"/>
                  </a:lnTo>
                  <a:lnTo>
                    <a:pt x="3323463" y="1155318"/>
                  </a:lnTo>
                  <a:lnTo>
                    <a:pt x="3330183" y="1155318"/>
                  </a:lnTo>
                  <a:lnTo>
                    <a:pt x="3337179" y="1134871"/>
                  </a:lnTo>
                  <a:lnTo>
                    <a:pt x="3336061" y="1134490"/>
                  </a:lnTo>
                  <a:close/>
                </a:path>
                <a:path w="3357245" h="1178560">
                  <a:moveTo>
                    <a:pt x="8127" y="0"/>
                  </a:moveTo>
                  <a:lnTo>
                    <a:pt x="0" y="24129"/>
                  </a:lnTo>
                  <a:lnTo>
                    <a:pt x="3284452" y="1143841"/>
                  </a:lnTo>
                  <a:lnTo>
                    <a:pt x="3309172" y="1138829"/>
                  </a:lnTo>
                  <a:lnTo>
                    <a:pt x="3292559" y="1119661"/>
                  </a:lnTo>
                  <a:lnTo>
                    <a:pt x="8127" y="0"/>
                  </a:lnTo>
                  <a:close/>
                </a:path>
                <a:path w="3357245" h="1178560">
                  <a:moveTo>
                    <a:pt x="3292559" y="1119661"/>
                  </a:moveTo>
                  <a:lnTo>
                    <a:pt x="3309172" y="1138829"/>
                  </a:lnTo>
                  <a:lnTo>
                    <a:pt x="3330575" y="1134490"/>
                  </a:lnTo>
                  <a:lnTo>
                    <a:pt x="3336061" y="1134490"/>
                  </a:lnTo>
                  <a:lnTo>
                    <a:pt x="3292559" y="1119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79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978408" y="3230867"/>
            <a:ext cx="8170545" cy="3627754"/>
            <a:chOff x="978408" y="3230867"/>
            <a:chExt cx="8170545" cy="3627754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9556" y="3249168"/>
              <a:ext cx="6947916" cy="7360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8408" y="3230867"/>
              <a:ext cx="6198108" cy="8351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6800" y="3276600"/>
              <a:ext cx="6858000" cy="64617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66800" y="3276600"/>
              <a:ext cx="6858000" cy="646430"/>
            </a:xfrm>
            <a:custGeom>
              <a:avLst/>
              <a:gdLst/>
              <a:ahLst/>
              <a:cxnLst/>
              <a:rect l="l" t="t" r="r" b="b"/>
              <a:pathLst>
                <a:path w="6858000" h="646429">
                  <a:moveTo>
                    <a:pt x="0" y="646176"/>
                  </a:moveTo>
                  <a:lnTo>
                    <a:pt x="6858000" y="646176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9740" y="1140332"/>
            <a:ext cx="8147684" cy="1970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" algn="ctr">
              <a:lnSpc>
                <a:spcPts val="2375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PROCEDURAL</a:t>
            </a:r>
            <a:r>
              <a:rPr sz="2000" b="1" spc="-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BLOCK</a:t>
            </a:r>
            <a:r>
              <a:rPr sz="2000" b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INITIAL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 STATEMENT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ts val="2375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causes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once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begin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ecutio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mulat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0.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Microsoft Sans Serif"/>
              <a:cs typeface="Microsoft Sans Serif"/>
            </a:endParaRPr>
          </a:p>
          <a:p>
            <a:pPr marL="355600" marR="11557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Sequential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(begin-end)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most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commonly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statement, </a:t>
            </a:r>
            <a:r>
              <a:rPr sz="20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wait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certain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until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event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occurs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8544" y="3285871"/>
            <a:ext cx="819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latin typeface="Microsoft Sans Serif"/>
                <a:cs typeface="Microsoft Sans Serif"/>
              </a:rPr>
              <a:t>Syntax: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800" spc="-150" dirty="0">
                <a:latin typeface="Microsoft Sans Serif"/>
                <a:cs typeface="Microsoft Sans Serif"/>
              </a:rPr>
              <a:t>Example: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87294" y="3285871"/>
            <a:ext cx="4032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Microsoft Sans Serif"/>
                <a:cs typeface="Microsoft Sans Serif"/>
              </a:rPr>
              <a:t>initial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90" dirty="0">
                <a:latin typeface="Microsoft Sans Serif"/>
                <a:cs typeface="Microsoft Sans Serif"/>
              </a:rPr>
              <a:t>[timing_controls]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10" dirty="0">
                <a:latin typeface="Microsoft Sans Serif"/>
                <a:cs typeface="Microsoft Sans Serif"/>
              </a:rPr>
              <a:t>procedural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statements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800" spc="-45" dirty="0">
                <a:latin typeface="Microsoft Sans Serif"/>
                <a:cs typeface="Microsoft Sans Serif"/>
              </a:rPr>
              <a:t>i</a:t>
            </a:r>
            <a:r>
              <a:rPr sz="1800" spc="-100" dirty="0">
                <a:latin typeface="Microsoft Sans Serif"/>
                <a:cs typeface="Microsoft Sans Serif"/>
              </a:rPr>
              <a:t>n</a:t>
            </a:r>
            <a:r>
              <a:rPr sz="1800" spc="5" dirty="0">
                <a:latin typeface="Microsoft Sans Serif"/>
                <a:cs typeface="Microsoft Sans Serif"/>
              </a:rPr>
              <a:t>i</a:t>
            </a:r>
            <a:r>
              <a:rPr sz="1800" spc="15" dirty="0">
                <a:latin typeface="Microsoft Sans Serif"/>
                <a:cs typeface="Microsoft Sans Serif"/>
              </a:rPr>
              <a:t>t</a:t>
            </a:r>
            <a:r>
              <a:rPr sz="1800" spc="-100" dirty="0">
                <a:latin typeface="Microsoft Sans Serif"/>
                <a:cs typeface="Microsoft Sans Serif"/>
              </a:rPr>
              <a:t>ial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60" dirty="0">
                <a:latin typeface="Microsoft Sans Serif"/>
                <a:cs typeface="Microsoft Sans Serif"/>
              </a:rPr>
              <a:t>#</a:t>
            </a:r>
            <a:r>
              <a:rPr sz="1800" spc="-254" dirty="0">
                <a:latin typeface="Microsoft Sans Serif"/>
                <a:cs typeface="Microsoft Sans Serif"/>
              </a:rPr>
              <a:t>2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0" dirty="0">
                <a:latin typeface="Microsoft Sans Serif"/>
                <a:cs typeface="Microsoft Sans Serif"/>
              </a:rPr>
              <a:t>a</a:t>
            </a:r>
            <a:r>
              <a:rPr sz="1800" spc="-114" dirty="0">
                <a:latin typeface="Microsoft Sans Serif"/>
                <a:cs typeface="Microsoft Sans Serif"/>
              </a:rPr>
              <a:t>=</a:t>
            </a:r>
            <a:r>
              <a:rPr sz="1800" spc="-254" dirty="0">
                <a:latin typeface="Microsoft Sans Serif"/>
                <a:cs typeface="Microsoft Sans Serif"/>
              </a:rPr>
              <a:t>0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8808" y="4122420"/>
            <a:ext cx="5236845" cy="2481580"/>
            <a:chOff x="368808" y="4122420"/>
            <a:chExt cx="5236845" cy="248158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9956" y="4140708"/>
              <a:ext cx="5195316" cy="239877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808" y="4122420"/>
              <a:ext cx="4782312" cy="248107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7200" y="4168140"/>
              <a:ext cx="5105400" cy="230886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57200" y="4168140"/>
            <a:ext cx="5105400" cy="230886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005840" marR="645795" indent="-915035">
              <a:lnSpc>
                <a:spcPct val="100000"/>
              </a:lnSpc>
              <a:spcBef>
                <a:spcPts val="180"/>
              </a:spcBef>
            </a:pPr>
            <a:r>
              <a:rPr sz="1800" spc="-150" dirty="0">
                <a:latin typeface="Microsoft Sans Serif"/>
                <a:cs typeface="Microsoft Sans Serif"/>
              </a:rPr>
              <a:t>Example: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//initial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statement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75" dirty="0">
                <a:latin typeface="Microsoft Sans Serif"/>
                <a:cs typeface="Microsoft Sans Serif"/>
              </a:rPr>
              <a:t>with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sequential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10" dirty="0">
                <a:latin typeface="Microsoft Sans Serif"/>
                <a:cs typeface="Microsoft Sans Serif"/>
              </a:rPr>
              <a:t>block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re</a:t>
            </a:r>
            <a:r>
              <a:rPr sz="1800" spc="-17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8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,b;</a:t>
            </a:r>
            <a:endParaRPr sz="1800">
              <a:latin typeface="Microsoft Sans Serif"/>
              <a:cs typeface="Microsoft Sans Serif"/>
            </a:endParaRPr>
          </a:p>
          <a:p>
            <a:pPr marL="1005840" marR="3110865">
              <a:lnSpc>
                <a:spcPct val="100000"/>
              </a:lnSpc>
            </a:pPr>
            <a:r>
              <a:rPr sz="18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initial </a:t>
            </a:r>
            <a:r>
              <a:rPr sz="180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00FF"/>
                </a:solidFill>
                <a:latin typeface="Microsoft Sans Serif"/>
                <a:cs typeface="Microsoft Sans Serif"/>
              </a:rPr>
              <a:t>begin </a:t>
            </a:r>
            <a:r>
              <a:rPr sz="18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a=1`b0; </a:t>
            </a:r>
            <a:r>
              <a:rPr sz="18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b=1`b1; </a:t>
            </a:r>
            <a:r>
              <a:rPr sz="1800" spc="-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260" dirty="0">
                <a:solidFill>
                  <a:srgbClr val="0000FF"/>
                </a:solidFill>
                <a:latin typeface="Microsoft Sans Serif"/>
                <a:cs typeface="Microsoft Sans Serif"/>
              </a:rPr>
              <a:t>#</a:t>
            </a:r>
            <a:r>
              <a:rPr sz="1800" spc="-254" dirty="0">
                <a:solidFill>
                  <a:srgbClr val="0000FF"/>
                </a:solidFill>
                <a:latin typeface="Microsoft Sans Serif"/>
                <a:cs typeface="Microsoft Sans Serif"/>
              </a:rPr>
              <a:t>5</a:t>
            </a:r>
            <a:r>
              <a:rPr sz="18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8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1`b1;  </a:t>
            </a:r>
            <a:r>
              <a:rPr sz="180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end;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19800" y="4495800"/>
            <a:ext cx="2514600" cy="1828800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80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64132"/>
            <a:ext cx="8226425" cy="546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9685" algn="ctr">
              <a:lnSpc>
                <a:spcPts val="22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PROCEDURAL</a:t>
            </a:r>
            <a:r>
              <a:rPr sz="2000" b="1" spc="-6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BLOCK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 -</a:t>
            </a:r>
            <a:r>
              <a:rPr sz="2000" b="1" spc="434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ALWAYS</a:t>
            </a:r>
            <a:r>
              <a:rPr sz="2000" b="1" spc="-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endParaRPr sz="2000">
              <a:latin typeface="Constantia"/>
              <a:cs typeface="Constantia"/>
            </a:endParaRPr>
          </a:p>
          <a:p>
            <a:pPr marL="355600" marR="5715" indent="-342900">
              <a:lnSpc>
                <a:spcPts val="2300"/>
              </a:lnSpc>
              <a:spcBef>
                <a:spcPts val="35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894715" algn="l"/>
                <a:tab pos="1766570" algn="l"/>
                <a:tab pos="2922270" algn="l"/>
                <a:tab pos="3391535" algn="l"/>
                <a:tab pos="3911600" algn="l"/>
                <a:tab pos="4426585" algn="l"/>
                <a:tab pos="5316855" algn="l"/>
                <a:tab pos="6084570" algn="l"/>
                <a:tab pos="6654800" algn="l"/>
                <a:tab pos="7316470" algn="l"/>
                <a:tab pos="7586345" algn="l"/>
              </a:tabLst>
            </a:pP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rc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43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ynt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esi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we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such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ock 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contain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sequential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constructs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Wingdings"/>
              <a:buChar char=""/>
            </a:pPr>
            <a:endParaRPr sz="26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ts val="23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  <a:tab pos="1087120" algn="l"/>
                <a:tab pos="1677035" algn="l"/>
                <a:tab pos="2181225" algn="l"/>
                <a:tab pos="3547110" algn="l"/>
                <a:tab pos="3893185" algn="l"/>
                <a:tab pos="4298315" algn="l"/>
                <a:tab pos="5179695" algn="l"/>
                <a:tab pos="5935345" algn="l"/>
                <a:tab pos="7046595" algn="l"/>
              </a:tabLst>
            </a:pP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ote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tha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tem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nt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30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/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d 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sequentially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just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they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written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Wingdings"/>
              <a:buChar char=""/>
            </a:pPr>
            <a:endParaRPr sz="2100">
              <a:latin typeface="Microsoft Sans Serif"/>
              <a:cs typeface="Microsoft Sans Serif"/>
            </a:endParaRPr>
          </a:p>
          <a:p>
            <a:pPr marL="355600" indent="-342900">
              <a:lnSpc>
                <a:spcPts val="2595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Variables</a:t>
            </a:r>
            <a:r>
              <a:rPr sz="2400" spc="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assigned</a:t>
            </a:r>
            <a:r>
              <a:rPr sz="2400" spc="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400" spc="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inside</a:t>
            </a:r>
            <a:r>
              <a:rPr sz="2400" spc="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400" spc="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400" spc="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400" spc="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400" spc="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type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ts val="2595"/>
              </a:lnSpc>
            </a:pP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reg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inte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er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Microsoft Sans Serif"/>
              <a:cs typeface="Microsoft Sans Serif"/>
            </a:endParaRPr>
          </a:p>
          <a:p>
            <a:pPr marL="355600" marR="6350" indent="-342900">
              <a:lnSpc>
                <a:spcPct val="8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if,</a:t>
            </a:r>
            <a:r>
              <a:rPr sz="2400" spc="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case,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4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loop,</a:t>
            </a:r>
            <a:r>
              <a:rPr sz="2400" spc="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while</a:t>
            </a:r>
            <a:r>
              <a:rPr sz="2400" spc="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400" spc="1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400" spc="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appear</a:t>
            </a:r>
            <a:r>
              <a:rPr sz="2400" spc="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inside</a:t>
            </a:r>
            <a:r>
              <a:rPr sz="24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400" spc="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 </a:t>
            </a:r>
            <a:r>
              <a:rPr sz="2400" spc="-6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"/>
            </a:pPr>
            <a:endParaRPr sz="21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11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have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multiple</a:t>
            </a:r>
            <a:r>
              <a:rPr sz="24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blocks,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but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cannot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nested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0000"/>
              </a:buClr>
              <a:buFont typeface="Wingdings"/>
              <a:buChar char=""/>
            </a:pPr>
            <a:endParaRPr sz="26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ts val="23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896619" algn="l"/>
                <a:tab pos="2018030" algn="l"/>
                <a:tab pos="2620645" algn="l"/>
                <a:tab pos="3304540" algn="l"/>
                <a:tab pos="4401820" algn="l"/>
                <a:tab pos="5293995" algn="l"/>
                <a:tab pos="6159500" algn="l"/>
                <a:tab pos="6563359" algn="l"/>
                <a:tab pos="6947534" algn="l"/>
                <a:tab pos="7464425" algn="l"/>
              </a:tabLst>
            </a:pP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tha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hav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mul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iple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ays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4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ays 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ecut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para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lel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2640" y="2590926"/>
            <a:ext cx="17703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ital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circ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it.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1012037"/>
            <a:ext cx="8141334" cy="160528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515"/>
              </a:spcBef>
            </a:pPr>
            <a:r>
              <a:rPr sz="2000" b="1" spc="-40" dirty="0">
                <a:solidFill>
                  <a:srgbClr val="C00000"/>
                </a:solidFill>
                <a:latin typeface="Constantia"/>
                <a:cs typeface="Constantia"/>
              </a:rPr>
              <a:t>P</a:t>
            </a:r>
            <a:r>
              <a:rPr sz="2000" b="1" spc="-6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DURAL</a:t>
            </a:r>
            <a:r>
              <a:rPr sz="2000" b="1" spc="-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B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K</a:t>
            </a:r>
            <a:r>
              <a:rPr sz="2000" b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 </a:t>
            </a:r>
            <a:r>
              <a:rPr sz="2000" b="1" spc="-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spc="-14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spc="-155" dirty="0">
                <a:solidFill>
                  <a:srgbClr val="C00000"/>
                </a:solidFill>
                <a:latin typeface="Constantia"/>
                <a:cs typeface="Constantia"/>
              </a:rPr>
              <a:t>W</a:t>
            </a:r>
            <a:r>
              <a:rPr sz="2000" b="1" spc="-140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spc="-25" dirty="0">
                <a:solidFill>
                  <a:srgbClr val="C00000"/>
                </a:solidFill>
                <a:latin typeface="Constantia"/>
                <a:cs typeface="Constantia"/>
              </a:rPr>
              <a:t>Y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S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Constantia"/>
                <a:cs typeface="Constantia"/>
              </a:rPr>
              <a:t>S</a:t>
            </a:r>
            <a:r>
              <a:rPr sz="2000" b="1" spc="-10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-95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1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MENT</a:t>
            </a:r>
            <a:endParaRPr sz="2000">
              <a:latin typeface="Constantia"/>
              <a:cs typeface="Constantia"/>
            </a:endParaRPr>
          </a:p>
          <a:p>
            <a:pPr marL="355600" marR="500380" indent="-342900">
              <a:lnSpc>
                <a:spcPts val="2230"/>
              </a:lnSpc>
              <a:spcBef>
                <a:spcPts val="63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repeated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until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simulation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stopped.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Similar</a:t>
            </a:r>
            <a:r>
              <a:rPr sz="20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0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begin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execution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simulation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0.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Font typeface="Wingdings"/>
              <a:buChar char=""/>
            </a:pPr>
            <a:endParaRPr sz="18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This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activity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repeated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continuously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7847" y="4389120"/>
            <a:ext cx="5221605" cy="2214880"/>
            <a:chOff x="307847" y="4389120"/>
            <a:chExt cx="5221605" cy="221488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3755" y="4436376"/>
              <a:ext cx="5195316" cy="210312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7847" y="4389120"/>
              <a:ext cx="4751832" cy="221437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" y="4463796"/>
              <a:ext cx="5105400" cy="20132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1000" y="4463796"/>
              <a:ext cx="5105400" cy="2013585"/>
            </a:xfrm>
            <a:custGeom>
              <a:avLst/>
              <a:gdLst/>
              <a:ahLst/>
              <a:cxnLst/>
              <a:rect l="l" t="t" r="r" b="b"/>
              <a:pathLst>
                <a:path w="5105400" h="2013585">
                  <a:moveTo>
                    <a:pt x="0" y="2013203"/>
                  </a:moveTo>
                  <a:lnTo>
                    <a:pt x="5105400" y="2013203"/>
                  </a:lnTo>
                  <a:lnTo>
                    <a:pt x="5105400" y="0"/>
                  </a:lnTo>
                  <a:lnTo>
                    <a:pt x="0" y="0"/>
                  </a:lnTo>
                  <a:lnTo>
                    <a:pt x="0" y="2013203"/>
                  </a:lnTo>
                  <a:close/>
                </a:path>
              </a:pathLst>
            </a:custGeom>
            <a:ln w="9524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2440" y="4440173"/>
            <a:ext cx="586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140" dirty="0">
                <a:latin typeface="Microsoft Sans Serif"/>
                <a:cs typeface="Microsoft Sans Serif"/>
              </a:rPr>
              <a:t>Synt</a:t>
            </a:r>
            <a:r>
              <a:rPr sz="1600" spc="-165" dirty="0">
                <a:latin typeface="Microsoft Sans Serif"/>
                <a:cs typeface="Microsoft Sans Serif"/>
              </a:rPr>
              <a:t>a</a:t>
            </a:r>
            <a:r>
              <a:rPr sz="1600" spc="-110" dirty="0">
                <a:latin typeface="Microsoft Sans Serif"/>
                <a:cs typeface="Microsoft Sans Serif"/>
              </a:rPr>
              <a:t>x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7094" y="4440173"/>
            <a:ext cx="3526154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0" marR="5080" indent="-914400">
              <a:lnSpc>
                <a:spcPct val="100000"/>
              </a:lnSpc>
              <a:spcBef>
                <a:spcPts val="95"/>
              </a:spcBef>
            </a:pPr>
            <a:r>
              <a:rPr sz="1600" spc="-170" dirty="0">
                <a:latin typeface="Microsoft Sans Serif"/>
                <a:cs typeface="Microsoft Sans Serif"/>
              </a:rPr>
              <a:t>always</a:t>
            </a:r>
            <a:r>
              <a:rPr sz="1600" spc="-165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[timing_control] </a:t>
            </a:r>
            <a:r>
              <a:rPr sz="1600" spc="-105" dirty="0">
                <a:latin typeface="Microsoft Sans Serif"/>
                <a:cs typeface="Microsoft Sans Serif"/>
              </a:rPr>
              <a:t>procedural</a:t>
            </a:r>
            <a:r>
              <a:rPr sz="1600" spc="-100" dirty="0">
                <a:latin typeface="Microsoft Sans Serif"/>
                <a:cs typeface="Microsoft Sans Serif"/>
              </a:rPr>
              <a:t> </a:t>
            </a:r>
            <a:r>
              <a:rPr sz="1600" spc="-125" dirty="0">
                <a:latin typeface="Microsoft Sans Serif"/>
                <a:cs typeface="Microsoft Sans Serif"/>
              </a:rPr>
              <a:t>statement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b="1" spc="-130" dirty="0">
                <a:latin typeface="Arial"/>
                <a:cs typeface="Arial"/>
              </a:rPr>
              <a:t>(or)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25" dirty="0">
                <a:latin typeface="Microsoft Sans Serif"/>
                <a:cs typeface="Microsoft Sans Serif"/>
              </a:rPr>
              <a:t>lw</a:t>
            </a:r>
            <a:r>
              <a:rPr sz="1600" spc="-155" dirty="0">
                <a:latin typeface="Microsoft Sans Serif"/>
                <a:cs typeface="Microsoft Sans Serif"/>
              </a:rPr>
              <a:t>a</a:t>
            </a:r>
            <a:r>
              <a:rPr sz="1600" spc="-195" dirty="0">
                <a:latin typeface="Microsoft Sans Serif"/>
                <a:cs typeface="Microsoft Sans Serif"/>
              </a:rPr>
              <a:t>y</a:t>
            </a:r>
            <a:r>
              <a:rPr sz="1600" spc="-190" dirty="0">
                <a:latin typeface="Microsoft Sans Serif"/>
                <a:cs typeface="Microsoft Sans Serif"/>
              </a:rPr>
              <a:t>s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260" dirty="0">
                <a:latin typeface="Microsoft Sans Serif"/>
                <a:cs typeface="Microsoft Sans Serif"/>
              </a:rPr>
              <a:t>@(</a:t>
            </a:r>
            <a:r>
              <a:rPr sz="1600" spc="-200" dirty="0">
                <a:latin typeface="Microsoft Sans Serif"/>
                <a:cs typeface="Microsoft Sans Serif"/>
              </a:rPr>
              <a:t>s</a:t>
            </a:r>
            <a:r>
              <a:rPr sz="1600" spc="-105" dirty="0">
                <a:latin typeface="Microsoft Sans Serif"/>
                <a:cs typeface="Microsoft Sans Serif"/>
              </a:rPr>
              <a:t>ensitiv</a:t>
            </a:r>
            <a:r>
              <a:rPr sz="1600" spc="-55" dirty="0">
                <a:latin typeface="Microsoft Sans Serif"/>
                <a:cs typeface="Microsoft Sans Serif"/>
              </a:rPr>
              <a:t>i</a:t>
            </a:r>
            <a:r>
              <a:rPr sz="1600" spc="-75" dirty="0">
                <a:latin typeface="Microsoft Sans Serif"/>
                <a:cs typeface="Microsoft Sans Serif"/>
              </a:rPr>
              <a:t>ty_list)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600" spc="-135" dirty="0">
                <a:latin typeface="Microsoft Sans Serif"/>
                <a:cs typeface="Microsoft Sans Serif"/>
              </a:rPr>
              <a:t>begin</a:t>
            </a:r>
            <a:endParaRPr sz="1600">
              <a:latin typeface="Microsoft Sans Serif"/>
              <a:cs typeface="Microsoft Sans Serif"/>
            </a:endParaRPr>
          </a:p>
          <a:p>
            <a:pPr marR="1611630">
              <a:lnSpc>
                <a:spcPct val="100000"/>
              </a:lnSpc>
            </a:pPr>
            <a:r>
              <a:rPr sz="1600" spc="-95" dirty="0">
                <a:latin typeface="Microsoft Sans Serif"/>
                <a:cs typeface="Microsoft Sans Serif"/>
              </a:rPr>
              <a:t>/*sequential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spc="-140" dirty="0">
                <a:latin typeface="Microsoft Sans Serif"/>
                <a:cs typeface="Microsoft Sans Serif"/>
              </a:rPr>
              <a:t>statements </a:t>
            </a:r>
            <a:r>
              <a:rPr sz="1600" spc="-135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225" dirty="0">
                <a:latin typeface="Microsoft Sans Serif"/>
                <a:cs typeface="Microsoft Sans Serif"/>
              </a:rPr>
              <a:t>n</a:t>
            </a:r>
            <a:r>
              <a:rPr sz="1600" spc="-210" dirty="0">
                <a:latin typeface="Microsoft Sans Serif"/>
                <a:cs typeface="Microsoft Sans Serif"/>
              </a:rPr>
              <a:t>s</a:t>
            </a:r>
            <a:r>
              <a:rPr sz="1600" spc="-105" dirty="0">
                <a:latin typeface="Microsoft Sans Serif"/>
                <a:cs typeface="Microsoft Sans Serif"/>
              </a:rPr>
              <a:t>isting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Microsoft Sans Serif"/>
                <a:cs typeface="Microsoft Sans Serif"/>
              </a:rPr>
              <a:t>o</a:t>
            </a:r>
            <a:r>
              <a:rPr sz="1600" spc="-30" dirty="0">
                <a:latin typeface="Microsoft Sans Serif"/>
                <a:cs typeface="Microsoft Sans Serif"/>
              </a:rPr>
              <a:t>f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80" dirty="0">
                <a:latin typeface="Microsoft Sans Serif"/>
                <a:cs typeface="Microsoft Sans Serif"/>
              </a:rPr>
              <a:t>ssignm</a:t>
            </a:r>
            <a:r>
              <a:rPr sz="1600" spc="-185" dirty="0">
                <a:latin typeface="Microsoft Sans Serif"/>
                <a:cs typeface="Microsoft Sans Serif"/>
              </a:rPr>
              <a:t>e</a:t>
            </a:r>
            <a:r>
              <a:rPr sz="1600" spc="-65" dirty="0">
                <a:latin typeface="Microsoft Sans Serif"/>
                <a:cs typeface="Microsoft Sans Serif"/>
              </a:rPr>
              <a:t>nt,</a:t>
            </a:r>
            <a:endParaRPr sz="1600">
              <a:latin typeface="Microsoft Sans Serif"/>
              <a:cs typeface="Microsoft Sans Serif"/>
            </a:endParaRPr>
          </a:p>
          <a:p>
            <a:pPr marL="54610" marR="1087120">
              <a:lnSpc>
                <a:spcPct val="100000"/>
              </a:lnSpc>
            </a:pPr>
            <a:r>
              <a:rPr sz="1600" spc="-10" dirty="0">
                <a:latin typeface="Microsoft Sans Serif"/>
                <a:cs typeface="Microsoft Sans Serif"/>
              </a:rPr>
              <a:t>i</a:t>
            </a:r>
            <a:r>
              <a:rPr sz="1600" spc="-5" dirty="0">
                <a:latin typeface="Microsoft Sans Serif"/>
                <a:cs typeface="Microsoft Sans Serif"/>
              </a:rPr>
              <a:t>f</a:t>
            </a:r>
            <a:r>
              <a:rPr sz="1600" spc="-95" dirty="0">
                <a:latin typeface="Microsoft Sans Serif"/>
                <a:cs typeface="Microsoft Sans Serif"/>
              </a:rPr>
              <a:t>,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95" dirty="0">
                <a:latin typeface="Microsoft Sans Serif"/>
                <a:cs typeface="Microsoft Sans Serif"/>
              </a:rPr>
              <a:t>se,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55" dirty="0">
                <a:latin typeface="Microsoft Sans Serif"/>
                <a:cs typeface="Microsoft Sans Serif"/>
              </a:rPr>
              <a:t>w</a:t>
            </a:r>
            <a:r>
              <a:rPr sz="1600" spc="-125" dirty="0">
                <a:latin typeface="Microsoft Sans Serif"/>
                <a:cs typeface="Microsoft Sans Serif"/>
              </a:rPr>
              <a:t>h</a:t>
            </a:r>
            <a:r>
              <a:rPr sz="1600" spc="-55" dirty="0">
                <a:latin typeface="Microsoft Sans Serif"/>
                <a:cs typeface="Microsoft Sans Serif"/>
              </a:rPr>
              <a:t>il</a:t>
            </a:r>
            <a:r>
              <a:rPr sz="1600" spc="-125" dirty="0">
                <a:latin typeface="Microsoft Sans Serif"/>
                <a:cs typeface="Microsoft Sans Serif"/>
              </a:rPr>
              <a:t>e</a:t>
            </a:r>
            <a:r>
              <a:rPr sz="1600" spc="-95" dirty="0">
                <a:latin typeface="Microsoft Sans Serif"/>
                <a:cs typeface="Microsoft Sans Serif"/>
              </a:rPr>
              <a:t>,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14" dirty="0">
                <a:latin typeface="Microsoft Sans Serif"/>
                <a:cs typeface="Microsoft Sans Serif"/>
              </a:rPr>
              <a:t>n</a:t>
            </a:r>
            <a:r>
              <a:rPr sz="1600" spc="-110" dirty="0">
                <a:latin typeface="Microsoft Sans Serif"/>
                <a:cs typeface="Microsoft Sans Serif"/>
              </a:rPr>
              <a:t>d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f</a:t>
            </a:r>
            <a:r>
              <a:rPr sz="1600" spc="-50" dirty="0">
                <a:latin typeface="Microsoft Sans Serif"/>
                <a:cs typeface="Microsoft Sans Serif"/>
              </a:rPr>
              <a:t>o</a:t>
            </a:r>
            <a:r>
              <a:rPr sz="1600" spc="-5" dirty="0">
                <a:latin typeface="Microsoft Sans Serif"/>
                <a:cs typeface="Microsoft Sans Serif"/>
              </a:rPr>
              <a:t>r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95" dirty="0">
                <a:latin typeface="Microsoft Sans Serif"/>
                <a:cs typeface="Microsoft Sans Serif"/>
              </a:rPr>
              <a:t>op</a:t>
            </a:r>
            <a:r>
              <a:rPr sz="1600" spc="-295" dirty="0">
                <a:latin typeface="Microsoft Sans Serif"/>
                <a:cs typeface="Microsoft Sans Serif"/>
              </a:rPr>
              <a:t>s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*/  </a:t>
            </a:r>
            <a:r>
              <a:rPr sz="1600" spc="-140" dirty="0">
                <a:latin typeface="Microsoft Sans Serif"/>
                <a:cs typeface="Microsoft Sans Serif"/>
              </a:rPr>
              <a:t>end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18047" y="2705100"/>
            <a:ext cx="3011805" cy="3921760"/>
            <a:chOff x="5718047" y="2705100"/>
            <a:chExt cx="3011805" cy="392176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43955" y="2715767"/>
              <a:ext cx="2985516" cy="38755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18047" y="2705100"/>
              <a:ext cx="2772155" cy="39212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91199" y="2743200"/>
              <a:ext cx="2895600" cy="378561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791200" y="2743200"/>
            <a:ext cx="2895600" cy="378587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0"/>
              </a:spcBef>
            </a:pPr>
            <a:r>
              <a:rPr sz="1600" spc="-135" dirty="0">
                <a:latin typeface="Microsoft Sans Serif"/>
                <a:cs typeface="Microsoft Sans Serif"/>
              </a:rPr>
              <a:t>Example: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600" spc="-140" dirty="0">
                <a:latin typeface="Microsoft Sans Serif"/>
                <a:cs typeface="Microsoft Sans Serif"/>
              </a:rPr>
              <a:t>m</a:t>
            </a:r>
            <a:r>
              <a:rPr sz="1600" spc="-90" dirty="0">
                <a:latin typeface="Microsoft Sans Serif"/>
                <a:cs typeface="Microsoft Sans Serif"/>
              </a:rPr>
              <a:t>o</a:t>
            </a:r>
            <a:r>
              <a:rPr sz="1600" spc="-95" dirty="0">
                <a:latin typeface="Microsoft Sans Serif"/>
                <a:cs typeface="Microsoft Sans Serif"/>
              </a:rPr>
              <a:t>d</a:t>
            </a:r>
            <a:r>
              <a:rPr sz="1600" spc="-105" dirty="0">
                <a:latin typeface="Microsoft Sans Serif"/>
                <a:cs typeface="Microsoft Sans Serif"/>
              </a:rPr>
              <a:t>ul</a:t>
            </a:r>
            <a:r>
              <a:rPr sz="1600" spc="-140" dirty="0">
                <a:latin typeface="Microsoft Sans Serif"/>
                <a:cs typeface="Microsoft Sans Serif"/>
              </a:rPr>
              <a:t>e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-160" dirty="0">
                <a:latin typeface="Microsoft Sans Serif"/>
                <a:cs typeface="Microsoft Sans Serif"/>
              </a:rPr>
              <a:t>_g</a:t>
            </a:r>
            <a:r>
              <a:rPr sz="1600" spc="-155" dirty="0">
                <a:latin typeface="Microsoft Sans Serif"/>
                <a:cs typeface="Microsoft Sans Serif"/>
              </a:rPr>
              <a:t>e</a:t>
            </a:r>
            <a:r>
              <a:rPr sz="1600" spc="-70" dirty="0">
                <a:latin typeface="Microsoft Sans Serif"/>
                <a:cs typeface="Microsoft Sans Serif"/>
              </a:rPr>
              <a:t>n;</a:t>
            </a:r>
            <a:endParaRPr sz="16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600" spc="-130" dirty="0">
                <a:latin typeface="Microsoft Sans Serif"/>
                <a:cs typeface="Microsoft Sans Serif"/>
              </a:rPr>
              <a:t>re</a:t>
            </a:r>
            <a:r>
              <a:rPr sz="1600" spc="-155" dirty="0">
                <a:latin typeface="Microsoft Sans Serif"/>
                <a:cs typeface="Microsoft Sans Serif"/>
              </a:rPr>
              <a:t>g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35" dirty="0">
                <a:latin typeface="Microsoft Sans Serif"/>
                <a:cs typeface="Microsoft Sans Serif"/>
              </a:rPr>
              <a:t>k</a:t>
            </a:r>
            <a:r>
              <a:rPr sz="1600" spc="-75" dirty="0">
                <a:latin typeface="Microsoft Sans Serif"/>
                <a:cs typeface="Microsoft Sans Serif"/>
              </a:rPr>
              <a:t>,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80" dirty="0">
                <a:latin typeface="Microsoft Sans Serif"/>
                <a:cs typeface="Microsoft Sans Serif"/>
              </a:rPr>
              <a:t>te</a:t>
            </a:r>
            <a:r>
              <a:rPr sz="1600" spc="-150" dirty="0">
                <a:latin typeface="Microsoft Sans Serif"/>
                <a:cs typeface="Microsoft Sans Serif"/>
              </a:rPr>
              <a:t>m</a:t>
            </a:r>
            <a:r>
              <a:rPr sz="1600" spc="-95" dirty="0">
                <a:latin typeface="Microsoft Sans Serif"/>
                <a:cs typeface="Microsoft Sans Serif"/>
              </a:rPr>
              <a:t>p</a:t>
            </a:r>
            <a:r>
              <a:rPr sz="1600" spc="-5" dirty="0">
                <a:latin typeface="Microsoft Sans Serif"/>
                <a:cs typeface="Microsoft Sans Serif"/>
              </a:rPr>
              <a:t>;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Microsoft Sans Serif"/>
                <a:cs typeface="Microsoft Sans Serif"/>
              </a:rPr>
              <a:t>//Initialize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clock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at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time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40" dirty="0">
                <a:latin typeface="Microsoft Sans Serif"/>
                <a:cs typeface="Microsoft Sans Serif"/>
              </a:rPr>
              <a:t>zero</a:t>
            </a:r>
            <a:endParaRPr sz="16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600" spc="-55" dirty="0">
                <a:latin typeface="Microsoft Sans Serif"/>
                <a:cs typeface="Microsoft Sans Serif"/>
              </a:rPr>
              <a:t>Initial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clock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=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05" dirty="0">
                <a:latin typeface="Microsoft Sans Serif"/>
                <a:cs typeface="Microsoft Sans Serif"/>
              </a:rPr>
              <a:t>1‘b0;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92075" marR="403225">
              <a:lnSpc>
                <a:spcPct val="100000"/>
              </a:lnSpc>
            </a:pPr>
            <a:r>
              <a:rPr sz="1600" spc="125" dirty="0">
                <a:latin typeface="Microsoft Sans Serif"/>
                <a:cs typeface="Microsoft Sans Serif"/>
              </a:rPr>
              <a:t>/</a:t>
            </a:r>
            <a:r>
              <a:rPr sz="1600" spc="130" dirty="0">
                <a:latin typeface="Microsoft Sans Serif"/>
                <a:cs typeface="Microsoft Sans Serif"/>
              </a:rPr>
              <a:t>/</a:t>
            </a:r>
            <a:r>
              <a:rPr sz="1600" spc="-130" dirty="0">
                <a:latin typeface="Microsoft Sans Serif"/>
                <a:cs typeface="Microsoft Sans Serif"/>
              </a:rPr>
              <a:t>To</a:t>
            </a:r>
            <a:r>
              <a:rPr sz="1600" spc="-114" dirty="0">
                <a:latin typeface="Microsoft Sans Serif"/>
                <a:cs typeface="Microsoft Sans Serif"/>
              </a:rPr>
              <a:t>g</a:t>
            </a:r>
            <a:r>
              <a:rPr sz="1600" spc="-200" dirty="0">
                <a:latin typeface="Microsoft Sans Serif"/>
                <a:cs typeface="Microsoft Sans Serif"/>
              </a:rPr>
              <a:t>g</a:t>
            </a:r>
            <a:r>
              <a:rPr sz="1600" spc="-110" dirty="0">
                <a:latin typeface="Microsoft Sans Serif"/>
                <a:cs typeface="Microsoft Sans Serif"/>
              </a:rPr>
              <a:t>le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110" dirty="0">
                <a:latin typeface="Microsoft Sans Serif"/>
                <a:cs typeface="Microsoft Sans Serif"/>
              </a:rPr>
              <a:t>v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40" dirty="0">
                <a:latin typeface="Microsoft Sans Serif"/>
                <a:cs typeface="Microsoft Sans Serif"/>
              </a:rPr>
              <a:t>r</a:t>
            </a:r>
            <a:r>
              <a:rPr sz="1600" spc="-50" dirty="0">
                <a:latin typeface="Microsoft Sans Serif"/>
                <a:cs typeface="Microsoft Sans Serif"/>
              </a:rPr>
              <a:t>y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80" dirty="0">
                <a:latin typeface="Microsoft Sans Serif"/>
                <a:cs typeface="Microsoft Sans Serif"/>
              </a:rPr>
              <a:t>h</a:t>
            </a:r>
            <a:r>
              <a:rPr sz="1600" spc="-185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l</a:t>
            </a:r>
            <a:r>
              <a:rPr sz="1600" spc="10" dirty="0">
                <a:latin typeface="Microsoft Sans Serif"/>
                <a:cs typeface="Microsoft Sans Serif"/>
              </a:rPr>
              <a:t>f</a:t>
            </a:r>
            <a:r>
              <a:rPr sz="1600" spc="-95" dirty="0">
                <a:latin typeface="Microsoft Sans Serif"/>
                <a:cs typeface="Microsoft Sans Serif"/>
              </a:rPr>
              <a:t>-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00" dirty="0">
                <a:latin typeface="Microsoft Sans Serif"/>
                <a:cs typeface="Microsoft Sans Serif"/>
              </a:rPr>
              <a:t>ycle  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25" dirty="0">
                <a:latin typeface="Microsoft Sans Serif"/>
                <a:cs typeface="Microsoft Sans Serif"/>
              </a:rPr>
              <a:t>lw</a:t>
            </a:r>
            <a:r>
              <a:rPr sz="1600" spc="-155" dirty="0">
                <a:latin typeface="Microsoft Sans Serif"/>
                <a:cs typeface="Microsoft Sans Serif"/>
              </a:rPr>
              <a:t>a</a:t>
            </a:r>
            <a:r>
              <a:rPr sz="1600" spc="-195" dirty="0">
                <a:latin typeface="Microsoft Sans Serif"/>
                <a:cs typeface="Microsoft Sans Serif"/>
              </a:rPr>
              <a:t>y</a:t>
            </a:r>
            <a:r>
              <a:rPr sz="1600" spc="-190" dirty="0">
                <a:latin typeface="Microsoft Sans Serif"/>
                <a:cs typeface="Microsoft Sans Serif"/>
              </a:rPr>
              <a:t>s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235" dirty="0">
                <a:latin typeface="Microsoft Sans Serif"/>
                <a:cs typeface="Microsoft Sans Serif"/>
              </a:rPr>
              <a:t>#1</a:t>
            </a:r>
            <a:r>
              <a:rPr sz="1600" spc="-229" dirty="0">
                <a:latin typeface="Microsoft Sans Serif"/>
                <a:cs typeface="Microsoft Sans Serif"/>
              </a:rPr>
              <a:t>0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clock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=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95" dirty="0">
                <a:latin typeface="Microsoft Sans Serif"/>
                <a:cs typeface="Microsoft Sans Serif"/>
              </a:rPr>
              <a:t>-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-5" dirty="0">
                <a:latin typeface="Microsoft Sans Serif"/>
                <a:cs typeface="Microsoft Sans Serif"/>
              </a:rPr>
              <a:t>;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 marL="92075" marR="822960">
              <a:lnSpc>
                <a:spcPct val="100000"/>
              </a:lnSpc>
            </a:pP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25" dirty="0">
                <a:latin typeface="Microsoft Sans Serif"/>
                <a:cs typeface="Microsoft Sans Serif"/>
              </a:rPr>
              <a:t>lw</a:t>
            </a:r>
            <a:r>
              <a:rPr sz="1600" spc="-155" dirty="0">
                <a:latin typeface="Microsoft Sans Serif"/>
                <a:cs typeface="Microsoft Sans Serif"/>
              </a:rPr>
              <a:t>a</a:t>
            </a:r>
            <a:r>
              <a:rPr sz="1600" spc="-195" dirty="0">
                <a:latin typeface="Microsoft Sans Serif"/>
                <a:cs typeface="Microsoft Sans Serif"/>
              </a:rPr>
              <a:t>y</a:t>
            </a:r>
            <a:r>
              <a:rPr sz="1600" spc="-190" dirty="0">
                <a:latin typeface="Microsoft Sans Serif"/>
                <a:cs typeface="Microsoft Sans Serif"/>
              </a:rPr>
              <a:t>s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270" dirty="0">
                <a:latin typeface="Microsoft Sans Serif"/>
                <a:cs typeface="Microsoft Sans Serif"/>
              </a:rPr>
              <a:t>@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14" dirty="0">
                <a:latin typeface="Microsoft Sans Serif"/>
                <a:cs typeface="Microsoft Sans Serif"/>
              </a:rPr>
              <a:t>(p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95" dirty="0">
                <a:latin typeface="Microsoft Sans Serif"/>
                <a:cs typeface="Microsoft Sans Serif"/>
              </a:rPr>
              <a:t>se</a:t>
            </a:r>
            <a:r>
              <a:rPr sz="1600" spc="-200" dirty="0">
                <a:latin typeface="Microsoft Sans Serif"/>
                <a:cs typeface="Microsoft Sans Serif"/>
              </a:rPr>
              <a:t>dge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-120" dirty="0">
                <a:latin typeface="Microsoft Sans Serif"/>
                <a:cs typeface="Microsoft Sans Serif"/>
              </a:rPr>
              <a:t>)  </a:t>
            </a:r>
            <a:r>
              <a:rPr sz="1600" spc="-135" dirty="0">
                <a:latin typeface="Microsoft Sans Serif"/>
                <a:cs typeface="Microsoft Sans Serif"/>
              </a:rPr>
              <a:t>begin</a:t>
            </a:r>
            <a:endParaRPr sz="1600">
              <a:latin typeface="Microsoft Sans Serif"/>
              <a:cs typeface="Microsoft Sans Serif"/>
            </a:endParaRPr>
          </a:p>
          <a:p>
            <a:pPr marL="92075" marR="1600835">
              <a:lnSpc>
                <a:spcPct val="100000"/>
              </a:lnSpc>
            </a:pPr>
            <a:r>
              <a:rPr sz="1600" spc="-60" dirty="0">
                <a:latin typeface="Microsoft Sans Serif"/>
                <a:cs typeface="Microsoft Sans Serif"/>
              </a:rPr>
              <a:t>t</a:t>
            </a:r>
            <a:r>
              <a:rPr sz="1600" spc="-110" dirty="0">
                <a:latin typeface="Microsoft Sans Serif"/>
                <a:cs typeface="Microsoft Sans Serif"/>
              </a:rPr>
              <a:t>e</a:t>
            </a:r>
            <a:r>
              <a:rPr sz="1600" spc="-140" dirty="0">
                <a:latin typeface="Microsoft Sans Serif"/>
                <a:cs typeface="Microsoft Sans Serif"/>
              </a:rPr>
              <a:t>m</a:t>
            </a:r>
            <a:r>
              <a:rPr sz="1600" spc="-90" dirty="0">
                <a:latin typeface="Microsoft Sans Serif"/>
                <a:cs typeface="Microsoft Sans Serif"/>
              </a:rPr>
              <a:t>p</a:t>
            </a:r>
            <a:r>
              <a:rPr sz="1600" spc="-55" dirty="0">
                <a:latin typeface="Microsoft Sans Serif"/>
                <a:cs typeface="Microsoft Sans Serif"/>
              </a:rPr>
              <a:t>=te</a:t>
            </a:r>
            <a:r>
              <a:rPr sz="1600" spc="-95" dirty="0">
                <a:latin typeface="Microsoft Sans Serif"/>
                <a:cs typeface="Microsoft Sans Serif"/>
              </a:rPr>
              <a:t>mp</a:t>
            </a:r>
            <a:r>
              <a:rPr sz="1600" spc="-55" dirty="0">
                <a:latin typeface="Microsoft Sans Serif"/>
                <a:cs typeface="Microsoft Sans Serif"/>
              </a:rPr>
              <a:t>+1;  </a:t>
            </a:r>
            <a:r>
              <a:rPr sz="1600" spc="-140" dirty="0">
                <a:latin typeface="Microsoft Sans Serif"/>
                <a:cs typeface="Microsoft Sans Serif"/>
              </a:rPr>
              <a:t>end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6800" y="2895600"/>
            <a:ext cx="3886200" cy="1511808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82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755648" y="4792967"/>
            <a:ext cx="7393305" cy="2065655"/>
            <a:chOff x="1755648" y="4792967"/>
            <a:chExt cx="7393305" cy="206565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4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1556" y="4803647"/>
              <a:ext cx="2985516" cy="16596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5648" y="4792967"/>
              <a:ext cx="2510028" cy="17266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28800" y="4831079"/>
              <a:ext cx="2895600" cy="156972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9740" y="1072641"/>
            <a:ext cx="8225155" cy="3612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23825" algn="ctr">
              <a:lnSpc>
                <a:spcPts val="2355"/>
              </a:lnSpc>
              <a:spcBef>
                <a:spcPts val="105"/>
              </a:spcBef>
            </a:pP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OCE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URAL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TEM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NT</a:t>
            </a:r>
            <a:endParaRPr sz="2000">
              <a:latin typeface="Arial"/>
              <a:cs typeface="Arial"/>
            </a:endParaRPr>
          </a:p>
          <a:p>
            <a:pPr marL="355600" marR="5715" indent="-342900">
              <a:lnSpc>
                <a:spcPct val="70000"/>
              </a:lnSpc>
              <a:spcBef>
                <a:spcPts val="81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962025" algn="l"/>
                <a:tab pos="2382520" algn="l"/>
                <a:tab pos="3675379" algn="l"/>
                <a:tab pos="4542155" algn="l"/>
                <a:tab pos="4972050" algn="l"/>
                <a:tab pos="5758815" algn="l"/>
                <a:tab pos="7054215" algn="l"/>
                <a:tab pos="7463155" algn="l"/>
              </a:tabLst>
            </a:pP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8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43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ignme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thi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ini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ial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43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tat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me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ays 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ra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tem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nt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8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egiste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type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4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7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  <a:tab pos="1841500" algn="l"/>
                <a:tab pos="3216275" algn="l"/>
                <a:tab pos="4443095" algn="l"/>
                <a:tab pos="6036310" algn="l"/>
                <a:tab pos="7106284" algn="l"/>
                <a:tab pos="7585075" algn="l"/>
              </a:tabLst>
            </a:pP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al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me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ecut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seq</a:t>
            </a:r>
            <a:r>
              <a:rPr sz="24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lly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43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pect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her 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tha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appear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arou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Seq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way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rt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ecutio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when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event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occ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5380990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Two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types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assignments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are:	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(i)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blocking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83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369433" y="4622672"/>
            <a:ext cx="3247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(ii)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non-blocking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8800" y="4831079"/>
            <a:ext cx="2895600" cy="156972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5"/>
              </a:spcBef>
              <a:tabLst>
                <a:tab pos="1005840" algn="l"/>
              </a:tabLst>
            </a:pPr>
            <a:r>
              <a:rPr sz="1600" spc="-270" dirty="0">
                <a:latin typeface="Microsoft Sans Serif"/>
                <a:cs typeface="Microsoft Sans Serif"/>
              </a:rPr>
              <a:t>E</a:t>
            </a:r>
            <a:r>
              <a:rPr sz="1600" spc="-135" dirty="0">
                <a:latin typeface="Microsoft Sans Serif"/>
                <a:cs typeface="Microsoft Sans Serif"/>
              </a:rPr>
              <a:t>xampl</a:t>
            </a:r>
            <a:r>
              <a:rPr sz="1600" spc="-130" dirty="0">
                <a:latin typeface="Microsoft Sans Serif"/>
                <a:cs typeface="Microsoft Sans Serif"/>
              </a:rPr>
              <a:t>e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r>
              <a:rPr sz="1600" dirty="0">
                <a:latin typeface="Microsoft Sans Serif"/>
                <a:cs typeface="Microsoft Sans Serif"/>
              </a:rPr>
              <a:t>	</a:t>
            </a:r>
            <a:r>
              <a:rPr sz="160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6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lw</a:t>
            </a:r>
            <a:r>
              <a:rPr sz="16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6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sz="1600" spc="-19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6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600" spc="-270" dirty="0">
                <a:solidFill>
                  <a:srgbClr val="0000FF"/>
                </a:solidFill>
                <a:latin typeface="Microsoft Sans Serif"/>
                <a:cs typeface="Microsoft Sans Serif"/>
              </a:rPr>
              <a:t>@</a:t>
            </a:r>
            <a:r>
              <a:rPr sz="16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60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sz="1600" spc="-17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6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lk</a:t>
            </a:r>
            <a:r>
              <a:rPr sz="1600" spc="-135" dirty="0">
                <a:solidFill>
                  <a:srgbClr val="0000FF"/>
                </a:solidFill>
                <a:latin typeface="Microsoft Sans Serif"/>
                <a:cs typeface="Microsoft Sans Serif"/>
              </a:rPr>
              <a:t>)</a:t>
            </a:r>
            <a:endParaRPr sz="1600">
              <a:latin typeface="Microsoft Sans Serif"/>
              <a:cs typeface="Microsoft Sans Serif"/>
            </a:endParaRPr>
          </a:p>
          <a:p>
            <a:pPr marL="1005840">
              <a:lnSpc>
                <a:spcPct val="100000"/>
              </a:lnSpc>
            </a:pPr>
            <a:r>
              <a:rPr sz="1600" spc="-135" dirty="0">
                <a:solidFill>
                  <a:srgbClr val="0000FF"/>
                </a:solidFill>
                <a:latin typeface="Microsoft Sans Serif"/>
                <a:cs typeface="Microsoft Sans Serif"/>
              </a:rPr>
              <a:t>begin</a:t>
            </a:r>
            <a:endParaRPr sz="1600">
              <a:latin typeface="Microsoft Sans Serif"/>
              <a:cs typeface="Microsoft Sans Serif"/>
            </a:endParaRPr>
          </a:p>
          <a:p>
            <a:pPr marL="1005840" marR="611505">
              <a:lnSpc>
                <a:spcPct val="100000"/>
              </a:lnSpc>
            </a:pPr>
            <a:r>
              <a:rPr sz="16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re</a:t>
            </a:r>
            <a:r>
              <a:rPr sz="16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6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6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6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6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6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60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t=</a:t>
            </a:r>
            <a:r>
              <a:rPr sz="1600" spc="-75" dirty="0">
                <a:solidFill>
                  <a:srgbClr val="0000FF"/>
                </a:solidFill>
                <a:latin typeface="Microsoft Sans Serif"/>
                <a:cs typeface="Microsoft Sans Serif"/>
              </a:rPr>
              <a:t>z</a:t>
            </a:r>
            <a:r>
              <a:rPr sz="16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  </a:t>
            </a:r>
            <a:r>
              <a:rPr sz="16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6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6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6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6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t=</a:t>
            </a:r>
            <a:r>
              <a:rPr sz="1600" spc="-3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6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6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6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600" spc="-40" dirty="0">
                <a:solidFill>
                  <a:srgbClr val="0000FF"/>
                </a:solidFill>
                <a:latin typeface="Microsoft Sans Serif"/>
                <a:cs typeface="Microsoft Sans Serif"/>
              </a:rPr>
              <a:t>t+1;  </a:t>
            </a:r>
            <a:r>
              <a:rPr sz="160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z=count;</a:t>
            </a:r>
            <a:endParaRPr sz="1600">
              <a:latin typeface="Microsoft Sans Serif"/>
              <a:cs typeface="Microsoft Sans Serif"/>
            </a:endParaRPr>
          </a:p>
          <a:p>
            <a:pPr marL="1005840">
              <a:lnSpc>
                <a:spcPct val="100000"/>
              </a:lnSpc>
            </a:pPr>
            <a:r>
              <a:rPr sz="16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end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2640" y="1634997"/>
            <a:ext cx="1985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pro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ed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2184019"/>
            <a:ext cx="8222615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53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Blocking</a:t>
            </a:r>
            <a:r>
              <a:rPr sz="18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18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18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before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any</a:t>
            </a:r>
            <a:r>
              <a:rPr sz="18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18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18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follow</a:t>
            </a:r>
            <a:r>
              <a:rPr sz="18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are </a:t>
            </a:r>
            <a:r>
              <a:rPr sz="1800" spc="-45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740" y="5970219"/>
            <a:ext cx="8225155" cy="519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53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sum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occurs</a:t>
            </a:r>
            <a:r>
              <a:rPr sz="1800" spc="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first, </a:t>
            </a:r>
            <a:r>
              <a:rPr sz="1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sum</a:t>
            </a:r>
            <a:r>
              <a:rPr sz="18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computed,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then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second</a:t>
            </a:r>
            <a:r>
              <a:rPr sz="18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1800" spc="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executes</a:t>
            </a:r>
            <a:r>
              <a:rPr sz="18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C1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assigned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third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C2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assigned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so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23288" y="2727960"/>
            <a:ext cx="5587365" cy="3228340"/>
            <a:chOff x="1923288" y="2727960"/>
            <a:chExt cx="5587365" cy="322834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33956" y="2731008"/>
              <a:ext cx="5576316" cy="31988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23288" y="2727960"/>
              <a:ext cx="4576572" cy="32278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81200" y="2758440"/>
              <a:ext cx="5486400" cy="310896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981200" y="2758440"/>
              <a:ext cx="5486400" cy="3108960"/>
            </a:xfrm>
            <a:custGeom>
              <a:avLst/>
              <a:gdLst/>
              <a:ahLst/>
              <a:cxnLst/>
              <a:rect l="l" t="t" r="r" b="b"/>
              <a:pathLst>
                <a:path w="5486400" h="3108960">
                  <a:moveTo>
                    <a:pt x="0" y="3108960"/>
                  </a:moveTo>
                  <a:lnTo>
                    <a:pt x="5486400" y="3108960"/>
                  </a:lnTo>
                  <a:lnTo>
                    <a:pt x="5486400" y="0"/>
                  </a:lnTo>
                  <a:lnTo>
                    <a:pt x="0" y="0"/>
                  </a:lnTo>
                  <a:lnTo>
                    <a:pt x="0" y="310896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72894" y="2772537"/>
            <a:ext cx="6432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235" dirty="0">
                <a:latin typeface="Microsoft Sans Serif"/>
                <a:cs typeface="Microsoft Sans Serif"/>
              </a:rPr>
              <a:t>E</a:t>
            </a:r>
            <a:r>
              <a:rPr sz="1400" spc="-145" dirty="0">
                <a:latin typeface="Microsoft Sans Serif"/>
                <a:cs typeface="Microsoft Sans Serif"/>
              </a:rPr>
              <a:t>x</a:t>
            </a:r>
            <a:r>
              <a:rPr sz="1400" spc="-150" dirty="0">
                <a:latin typeface="Microsoft Sans Serif"/>
                <a:cs typeface="Microsoft Sans Serif"/>
              </a:rPr>
              <a:t>a</a:t>
            </a:r>
            <a:r>
              <a:rPr sz="1400" spc="-114" dirty="0">
                <a:latin typeface="Microsoft Sans Serif"/>
                <a:cs typeface="Microsoft Sans Serif"/>
              </a:rPr>
              <a:t>m</a:t>
            </a:r>
            <a:r>
              <a:rPr sz="1400" spc="-75" dirty="0">
                <a:latin typeface="Microsoft Sans Serif"/>
                <a:cs typeface="Microsoft Sans Serif"/>
              </a:rPr>
              <a:t>p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95" dirty="0">
                <a:latin typeface="Microsoft Sans Serif"/>
                <a:cs typeface="Microsoft Sans Serif"/>
              </a:rPr>
              <a:t>e: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87294" y="2772537"/>
            <a:ext cx="3385820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110" dirty="0">
                <a:latin typeface="Microsoft Sans Serif"/>
                <a:cs typeface="Microsoft Sans Serif"/>
              </a:rPr>
              <a:t>//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Full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5" dirty="0">
                <a:latin typeface="Microsoft Sans Serif"/>
                <a:cs typeface="Microsoft Sans Serif"/>
              </a:rPr>
              <a:t>adder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30" dirty="0">
                <a:latin typeface="Microsoft Sans Serif"/>
                <a:cs typeface="Microsoft Sans Serif"/>
              </a:rPr>
              <a:t>using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blocking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procedural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statement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40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m</a:t>
            </a:r>
            <a:r>
              <a:rPr sz="14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400" spc="-75" dirty="0">
                <a:solidFill>
                  <a:srgbClr val="0000FF"/>
                </a:solidFill>
                <a:latin typeface="Microsoft Sans Serif"/>
                <a:cs typeface="Microsoft Sans Serif"/>
              </a:rPr>
              <a:t>d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14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4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F</a:t>
            </a:r>
            <a:r>
              <a:rPr sz="14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A(su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m,co</a:t>
            </a:r>
            <a:r>
              <a:rPr sz="14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t,A,B,C)</a:t>
            </a:r>
            <a:endParaRPr sz="1400">
              <a:latin typeface="Microsoft Sans Serif"/>
              <a:cs typeface="Microsoft Sans Serif"/>
            </a:endParaRPr>
          </a:p>
          <a:p>
            <a:pPr marR="2151380">
              <a:lnSpc>
                <a:spcPct val="100000"/>
              </a:lnSpc>
            </a:pPr>
            <a:r>
              <a:rPr sz="14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input</a:t>
            </a:r>
            <a:r>
              <a:rPr sz="14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0000FF"/>
                </a:solidFill>
                <a:latin typeface="Microsoft Sans Serif"/>
                <a:cs typeface="Microsoft Sans Serif"/>
              </a:rPr>
              <a:t>A,B,C; </a:t>
            </a:r>
            <a:r>
              <a:rPr sz="14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14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p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1400" spc="-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40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m</a:t>
            </a:r>
            <a:r>
              <a:rPr sz="14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4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20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400" spc="-75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t;</a:t>
            </a:r>
            <a:endParaRPr sz="1400">
              <a:latin typeface="Microsoft Sans Serif"/>
              <a:cs typeface="Microsoft Sans Serif"/>
            </a:endParaRPr>
          </a:p>
          <a:p>
            <a:pPr marR="1732280">
              <a:lnSpc>
                <a:spcPct val="100000"/>
              </a:lnSpc>
            </a:pPr>
            <a:r>
              <a:rPr sz="14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4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140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w</a:t>
            </a:r>
            <a:r>
              <a:rPr sz="1400" spc="-13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4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sz="1400" spc="-26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4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229" dirty="0">
                <a:solidFill>
                  <a:srgbClr val="0000FF"/>
                </a:solidFill>
                <a:latin typeface="Microsoft Sans Serif"/>
                <a:cs typeface="Microsoft Sans Serif"/>
              </a:rPr>
              <a:t>@</a:t>
            </a:r>
            <a:r>
              <a:rPr sz="14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20" dirty="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sz="14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4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75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400" dirty="0">
                <a:solidFill>
                  <a:srgbClr val="0000FF"/>
                </a:solidFill>
                <a:latin typeface="Microsoft Sans Serif"/>
                <a:cs typeface="Microsoft Sans Serif"/>
              </a:rPr>
              <a:t>r</a:t>
            </a:r>
            <a:r>
              <a:rPr sz="14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210" dirty="0">
                <a:solidFill>
                  <a:srgbClr val="0000FF"/>
                </a:solidFill>
                <a:latin typeface="Microsoft Sans Serif"/>
                <a:cs typeface="Microsoft Sans Serif"/>
              </a:rPr>
              <a:t>B</a:t>
            </a:r>
            <a:r>
              <a:rPr sz="14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400" dirty="0">
                <a:solidFill>
                  <a:srgbClr val="0000FF"/>
                </a:solidFill>
                <a:latin typeface="Microsoft Sans Serif"/>
                <a:cs typeface="Microsoft Sans Serif"/>
              </a:rPr>
              <a:t>r</a:t>
            </a:r>
            <a:r>
              <a:rPr sz="14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C)  </a:t>
            </a:r>
            <a:r>
              <a:rPr sz="140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begin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4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r</a:t>
            </a:r>
            <a:r>
              <a:rPr sz="140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400" spc="-17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4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4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sz="14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,C</a:t>
            </a:r>
            <a:r>
              <a:rPr sz="14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40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,C3;</a:t>
            </a:r>
            <a:endParaRPr sz="1400">
              <a:latin typeface="Microsoft Sans Serif"/>
              <a:cs typeface="Microsoft Sans Serif"/>
            </a:endParaRPr>
          </a:p>
          <a:p>
            <a:pPr marR="2588895">
              <a:lnSpc>
                <a:spcPct val="100000"/>
              </a:lnSpc>
            </a:pPr>
            <a:r>
              <a:rPr sz="14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40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m</a:t>
            </a:r>
            <a:r>
              <a:rPr sz="14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=A&amp;</a:t>
            </a:r>
            <a:r>
              <a:rPr sz="140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C;  </a:t>
            </a:r>
            <a:r>
              <a:rPr sz="14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C1=A&amp;B; </a:t>
            </a:r>
            <a:r>
              <a:rPr sz="14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C2=B&amp;C; </a:t>
            </a:r>
            <a:r>
              <a:rPr sz="14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C3=A&amp;C;</a:t>
            </a:r>
            <a:endParaRPr sz="1400">
              <a:latin typeface="Microsoft Sans Serif"/>
              <a:cs typeface="Microsoft Sans Serif"/>
            </a:endParaRPr>
          </a:p>
          <a:p>
            <a:pPr marR="2232660">
              <a:lnSpc>
                <a:spcPct val="100000"/>
              </a:lnSpc>
            </a:pPr>
            <a:r>
              <a:rPr sz="14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ou</a:t>
            </a:r>
            <a:r>
              <a:rPr sz="14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1400" spc="4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4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4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sz="14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|C</a:t>
            </a:r>
            <a:r>
              <a:rPr sz="1400" spc="-190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40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|C3;  end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4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endmodule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9740" y="1012920"/>
            <a:ext cx="8223884" cy="7029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R="73025" algn="ctr">
              <a:lnSpc>
                <a:spcPct val="100000"/>
              </a:lnSpc>
              <a:spcBef>
                <a:spcPts val="505"/>
              </a:spcBef>
            </a:pP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BLOCKING</a:t>
            </a:r>
            <a:r>
              <a:rPr sz="2000" b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PROCEDURAL</a:t>
            </a:r>
            <a:r>
              <a:rPr sz="2000" b="1" spc="-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ASSIGNMENT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36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4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</a:t>
            </a:r>
            <a:r>
              <a:rPr sz="1800" spc="4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1800" spc="4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1800" spc="4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which</a:t>
            </a:r>
            <a:r>
              <a:rPr sz="1800" spc="4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4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4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operator</a:t>
            </a:r>
            <a:r>
              <a:rPr sz="1800" spc="4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4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1800" spc="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“=“</a:t>
            </a:r>
            <a:r>
              <a:rPr sz="1800" spc="48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1800" spc="4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4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blocking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03448" y="1714500"/>
            <a:ext cx="3011805" cy="508000"/>
            <a:chOff x="3203448" y="1714500"/>
            <a:chExt cx="3011805" cy="508000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29356" y="1725206"/>
              <a:ext cx="2985516" cy="42820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03448" y="1714500"/>
              <a:ext cx="2904744" cy="50749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76600" y="1752600"/>
              <a:ext cx="2895600" cy="33832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276600" y="1752600"/>
            <a:ext cx="2895600" cy="33845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0"/>
              </a:spcBef>
              <a:tabLst>
                <a:tab pos="1920875" algn="l"/>
              </a:tabLst>
            </a:pPr>
            <a:r>
              <a:rPr sz="1600" spc="-270" dirty="0">
                <a:latin typeface="Microsoft Sans Serif"/>
                <a:cs typeface="Microsoft Sans Serif"/>
              </a:rPr>
              <a:t>E</a:t>
            </a:r>
            <a:r>
              <a:rPr sz="1600" spc="-110" dirty="0">
                <a:latin typeface="Microsoft Sans Serif"/>
                <a:cs typeface="Microsoft Sans Serif"/>
              </a:rPr>
              <a:t>x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40" dirty="0">
                <a:latin typeface="Microsoft Sans Serif"/>
                <a:cs typeface="Microsoft Sans Serif"/>
              </a:rPr>
              <a:t>m</a:t>
            </a:r>
            <a:r>
              <a:rPr sz="1600" spc="-90" dirty="0">
                <a:latin typeface="Microsoft Sans Serif"/>
                <a:cs typeface="Microsoft Sans Serif"/>
              </a:rPr>
              <a:t>p</a:t>
            </a:r>
            <a:r>
              <a:rPr sz="1600" spc="-65" dirty="0">
                <a:latin typeface="Microsoft Sans Serif"/>
                <a:cs typeface="Microsoft Sans Serif"/>
              </a:rPr>
              <a:t>l</a:t>
            </a:r>
            <a:r>
              <a:rPr sz="1600" spc="-150" dirty="0">
                <a:latin typeface="Microsoft Sans Serif"/>
                <a:cs typeface="Microsoft Sans Serif"/>
              </a:rPr>
              <a:t>e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r>
              <a:rPr sz="1600" dirty="0">
                <a:latin typeface="Microsoft Sans Serif"/>
                <a:cs typeface="Microsoft Sans Serif"/>
              </a:rPr>
              <a:t>	</a:t>
            </a:r>
            <a:r>
              <a:rPr sz="16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re</a:t>
            </a:r>
            <a:r>
              <a:rPr sz="16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600" spc="1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600" spc="-135" dirty="0">
                <a:solidFill>
                  <a:srgbClr val="0000FF"/>
                </a:solidFill>
                <a:latin typeface="Microsoft Sans Serif"/>
                <a:cs typeface="Microsoft Sans Serif"/>
              </a:rPr>
              <a:t>B=55;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84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2240407"/>
            <a:ext cx="659828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non-blocking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symbol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“&lt;=“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4922596"/>
            <a:ext cx="781240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3707129" algn="l"/>
              </a:tabLst>
            </a:pP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‘a’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assigned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stored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	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‘b’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this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activity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carried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out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concurrently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negative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edge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clock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‘c’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assigned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b&amp;(~c)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Two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nanoseconds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later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positive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edge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clock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‘c’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‘b’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16607" y="2545079"/>
            <a:ext cx="5617845" cy="2481580"/>
            <a:chOff x="1816607" y="2545079"/>
            <a:chExt cx="5617845" cy="248158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57755" y="2563367"/>
              <a:ext cx="5576316" cy="23987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6607" y="2545079"/>
              <a:ext cx="3346704" cy="248107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04999" y="2590799"/>
              <a:ext cx="5486400" cy="23088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905000" y="2590800"/>
            <a:ext cx="5486400" cy="230886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0"/>
              </a:spcBef>
            </a:pPr>
            <a:r>
              <a:rPr sz="1800" spc="-150" dirty="0">
                <a:latin typeface="Microsoft Sans Serif"/>
                <a:cs typeface="Microsoft Sans Serif"/>
              </a:rPr>
              <a:t>Example:</a:t>
            </a:r>
            <a:endParaRPr sz="1800">
              <a:latin typeface="Microsoft Sans Serif"/>
              <a:cs typeface="Microsoft Sans Serif"/>
            </a:endParaRPr>
          </a:p>
          <a:p>
            <a:pPr marL="1005840" marR="2392045">
              <a:lnSpc>
                <a:spcPct val="100000"/>
              </a:lnSpc>
            </a:pPr>
            <a:r>
              <a:rPr sz="1800" spc="-160" dirty="0">
                <a:solidFill>
                  <a:srgbClr val="0000FF"/>
                </a:solidFill>
                <a:latin typeface="Microsoft Sans Serif"/>
                <a:cs typeface="Microsoft Sans Serif"/>
              </a:rPr>
              <a:t>alwa</a:t>
            </a:r>
            <a:r>
              <a:rPr sz="1800" spc="-150" dirty="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sz="1800" spc="-33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300" dirty="0">
                <a:solidFill>
                  <a:srgbClr val="0000FF"/>
                </a:solidFill>
                <a:latin typeface="Microsoft Sans Serif"/>
                <a:cs typeface="Microsoft Sans Serif"/>
              </a:rPr>
              <a:t>@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po</a:t>
            </a:r>
            <a:r>
              <a:rPr sz="1800" spc="-325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d</a:t>
            </a:r>
            <a:r>
              <a:rPr sz="1800" spc="-229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800" spc="-22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clk)  </a:t>
            </a:r>
            <a:r>
              <a:rPr sz="18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begin</a:t>
            </a:r>
            <a:endParaRPr sz="1800">
              <a:latin typeface="Microsoft Sans Serif"/>
              <a:cs typeface="Microsoft Sans Serif"/>
            </a:endParaRPr>
          </a:p>
          <a:p>
            <a:pPr marL="1005840">
              <a:lnSpc>
                <a:spcPct val="100000"/>
              </a:lnSpc>
            </a:pPr>
            <a:r>
              <a:rPr sz="18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a&lt;=b;</a:t>
            </a:r>
            <a:endParaRPr sz="1800">
              <a:latin typeface="Microsoft Sans Serif"/>
              <a:cs typeface="Microsoft Sans Serif"/>
            </a:endParaRPr>
          </a:p>
          <a:p>
            <a:pPr marL="1005840" marR="3074035">
              <a:lnSpc>
                <a:spcPct val="100000"/>
              </a:lnSpc>
              <a:spcBef>
                <a:spcPts val="5"/>
              </a:spcBef>
            </a:pPr>
            <a:r>
              <a:rPr sz="1800" spc="-300" dirty="0">
                <a:solidFill>
                  <a:srgbClr val="0000FF"/>
                </a:solidFill>
                <a:latin typeface="Microsoft Sans Serif"/>
                <a:cs typeface="Microsoft Sans Serif"/>
              </a:rPr>
              <a:t>@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(n</a:t>
            </a:r>
            <a:r>
              <a:rPr sz="1800" spc="-19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spc="-229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800" spc="-22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dg</a:t>
            </a:r>
            <a:r>
              <a:rPr sz="1800" spc="-22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clk)  </a:t>
            </a:r>
            <a:r>
              <a:rPr sz="1800" spc="-90" dirty="0">
                <a:solidFill>
                  <a:srgbClr val="0000FF"/>
                </a:solidFill>
                <a:latin typeface="Microsoft Sans Serif"/>
                <a:cs typeface="Microsoft Sans Serif"/>
              </a:rPr>
              <a:t>c&lt;=b&amp;(~c);</a:t>
            </a:r>
            <a:endParaRPr sz="1800">
              <a:latin typeface="Microsoft Sans Serif"/>
              <a:cs typeface="Microsoft Sans Serif"/>
            </a:endParaRPr>
          </a:p>
          <a:p>
            <a:pPr marL="1005840">
              <a:lnSpc>
                <a:spcPct val="100000"/>
              </a:lnSpc>
            </a:pPr>
            <a:r>
              <a:rPr sz="1800" spc="-260" dirty="0">
                <a:solidFill>
                  <a:srgbClr val="0000FF"/>
                </a:solidFill>
                <a:latin typeface="Microsoft Sans Serif"/>
                <a:cs typeface="Microsoft Sans Serif"/>
              </a:rPr>
              <a:t>#</a:t>
            </a:r>
            <a:r>
              <a:rPr sz="1800" spc="-254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8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b</a:t>
            </a:r>
            <a:r>
              <a:rPr sz="180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&lt;=</a:t>
            </a:r>
            <a:r>
              <a:rPr sz="1800" spc="-5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005840">
              <a:lnSpc>
                <a:spcPct val="100000"/>
              </a:lnSpc>
            </a:pPr>
            <a:r>
              <a:rPr sz="18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endmodule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9740" y="1064132"/>
            <a:ext cx="8223250" cy="8489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algn="ctr">
              <a:lnSpc>
                <a:spcPts val="233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NON-BLOCKING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PROCEDURAL</a:t>
            </a:r>
            <a:r>
              <a:rPr sz="2000" b="1" spc="-9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ASSIGNMENT</a:t>
            </a:r>
            <a:endParaRPr sz="2000">
              <a:latin typeface="Constantia"/>
              <a:cs typeface="Constantia"/>
            </a:endParaRPr>
          </a:p>
          <a:p>
            <a:pPr marL="355600" marR="5080" indent="-342900">
              <a:lnSpc>
                <a:spcPct val="60000"/>
              </a:lnSpc>
              <a:spcBef>
                <a:spcPts val="98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981710" algn="l"/>
                <a:tab pos="1713230" algn="l"/>
                <a:tab pos="3416300" algn="l"/>
                <a:tab pos="3847465" algn="l"/>
                <a:tab pos="5434330" algn="l"/>
                <a:tab pos="6805930" algn="l"/>
                <a:tab pos="8060055" algn="l"/>
              </a:tabLst>
            </a:pP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ra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rist</a:t>
            </a:r>
            <a:r>
              <a:rPr sz="22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2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cs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non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-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blockin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</a:t>
            </a:r>
            <a:r>
              <a:rPr sz="22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me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sta</a:t>
            </a:r>
            <a:r>
              <a:rPr sz="22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emen</a:t>
            </a:r>
            <a:r>
              <a:rPr sz="22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is  </a:t>
            </a:r>
            <a:r>
              <a:rPr sz="22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ex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2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2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perf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rme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conc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rrently</a:t>
            </a:r>
            <a:endParaRPr sz="22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79647" y="1909572"/>
            <a:ext cx="3011805" cy="508000"/>
            <a:chOff x="3279647" y="1909572"/>
            <a:chExt cx="3011805" cy="508000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05555" y="1920278"/>
              <a:ext cx="2985516" cy="42820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79647" y="1909572"/>
              <a:ext cx="2840736" cy="50749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52799" y="1947672"/>
              <a:ext cx="2895600" cy="33832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352800" y="1947672"/>
            <a:ext cx="2895600" cy="33845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0"/>
              </a:spcBef>
              <a:tabLst>
                <a:tab pos="1920875" algn="l"/>
              </a:tabLst>
            </a:pPr>
            <a:r>
              <a:rPr sz="1600" spc="-135" dirty="0">
                <a:latin typeface="Microsoft Sans Serif"/>
                <a:cs typeface="Microsoft Sans Serif"/>
              </a:rPr>
              <a:t>Example:	</a:t>
            </a:r>
            <a:r>
              <a:rPr sz="160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c&lt;=a&amp;b;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85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142999" y="5723344"/>
            <a:ext cx="8006080" cy="1134745"/>
            <a:chOff x="1142999" y="5723344"/>
            <a:chExt cx="8006080" cy="113474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43478" y="5781201"/>
              <a:ext cx="131445" cy="571500"/>
            </a:xfrm>
            <a:custGeom>
              <a:avLst/>
              <a:gdLst/>
              <a:ahLst/>
              <a:cxnLst/>
              <a:rect l="l" t="t" r="r" b="b"/>
              <a:pathLst>
                <a:path w="131444" h="571500">
                  <a:moveTo>
                    <a:pt x="124050" y="0"/>
                  </a:moveTo>
                  <a:lnTo>
                    <a:pt x="0" y="1453"/>
                  </a:lnTo>
                  <a:lnTo>
                    <a:pt x="7663" y="570906"/>
                  </a:lnTo>
                  <a:lnTo>
                    <a:pt x="103935" y="569949"/>
                  </a:lnTo>
                  <a:lnTo>
                    <a:pt x="131236" y="553215"/>
                  </a:lnTo>
                  <a:lnTo>
                    <a:pt x="124050" y="0"/>
                  </a:lnTo>
                  <a:close/>
                </a:path>
              </a:pathLst>
            </a:custGeom>
            <a:solidFill>
              <a:srgbClr val="888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8793" y="5808010"/>
              <a:ext cx="115570" cy="495300"/>
            </a:xfrm>
            <a:custGeom>
              <a:avLst/>
              <a:gdLst/>
              <a:ahLst/>
              <a:cxnLst/>
              <a:rect l="l" t="t" r="r" b="b"/>
              <a:pathLst>
                <a:path w="115569" h="495300">
                  <a:moveTo>
                    <a:pt x="108722" y="0"/>
                  </a:moveTo>
                  <a:lnTo>
                    <a:pt x="25384" y="928"/>
                  </a:lnTo>
                  <a:lnTo>
                    <a:pt x="6703" y="100856"/>
                  </a:lnTo>
                  <a:lnTo>
                    <a:pt x="0" y="236656"/>
                  </a:lnTo>
                  <a:lnTo>
                    <a:pt x="6703" y="383442"/>
                  </a:lnTo>
                  <a:lnTo>
                    <a:pt x="23467" y="494848"/>
                  </a:lnTo>
                  <a:lnTo>
                    <a:pt x="115426" y="493415"/>
                  </a:lnTo>
                  <a:lnTo>
                    <a:pt x="102014" y="358103"/>
                  </a:lnTo>
                  <a:lnTo>
                    <a:pt x="99623" y="183107"/>
                  </a:lnTo>
                  <a:lnTo>
                    <a:pt x="1087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51243" y="6039886"/>
              <a:ext cx="103505" cy="262890"/>
            </a:xfrm>
            <a:custGeom>
              <a:avLst/>
              <a:gdLst/>
              <a:ahLst/>
              <a:cxnLst/>
              <a:rect l="l" t="t" r="r" b="b"/>
              <a:pathLst>
                <a:path w="103505" h="262889">
                  <a:moveTo>
                    <a:pt x="0" y="0"/>
                  </a:moveTo>
                  <a:lnTo>
                    <a:pt x="2395" y="183123"/>
                  </a:lnTo>
                  <a:lnTo>
                    <a:pt x="19158" y="262496"/>
                  </a:lnTo>
                  <a:lnTo>
                    <a:pt x="102975" y="261539"/>
                  </a:lnTo>
                  <a:lnTo>
                    <a:pt x="89563" y="110449"/>
                  </a:lnTo>
                  <a:lnTo>
                    <a:pt x="48855" y="95147"/>
                  </a:lnTo>
                  <a:lnTo>
                    <a:pt x="24905" y="1075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40807" y="5726211"/>
              <a:ext cx="1230630" cy="574040"/>
            </a:xfrm>
            <a:custGeom>
              <a:avLst/>
              <a:gdLst/>
              <a:ahLst/>
              <a:cxnLst/>
              <a:rect l="l" t="t" r="r" b="b"/>
              <a:pathLst>
                <a:path w="1230630" h="574039">
                  <a:moveTo>
                    <a:pt x="356333" y="0"/>
                  </a:moveTo>
                  <a:lnTo>
                    <a:pt x="295526" y="14373"/>
                  </a:lnTo>
                  <a:lnTo>
                    <a:pt x="198290" y="51639"/>
                  </a:lnTo>
                  <a:lnTo>
                    <a:pt x="11498" y="125282"/>
                  </a:lnTo>
                  <a:lnTo>
                    <a:pt x="0" y="201308"/>
                  </a:lnTo>
                  <a:lnTo>
                    <a:pt x="960" y="273034"/>
                  </a:lnTo>
                  <a:lnTo>
                    <a:pt x="8624" y="499669"/>
                  </a:lnTo>
                  <a:lnTo>
                    <a:pt x="120220" y="537920"/>
                  </a:lnTo>
                  <a:lnTo>
                    <a:pt x="335756" y="535050"/>
                  </a:lnTo>
                  <a:lnTo>
                    <a:pt x="443506" y="573781"/>
                  </a:lnTo>
                  <a:lnTo>
                    <a:pt x="637986" y="479587"/>
                  </a:lnTo>
                  <a:lnTo>
                    <a:pt x="660492" y="399738"/>
                  </a:lnTo>
                  <a:lnTo>
                    <a:pt x="755301" y="323236"/>
                  </a:lnTo>
                  <a:lnTo>
                    <a:pt x="722264" y="255341"/>
                  </a:lnTo>
                  <a:lnTo>
                    <a:pt x="821896" y="202761"/>
                  </a:lnTo>
                  <a:lnTo>
                    <a:pt x="820931" y="138687"/>
                  </a:lnTo>
                  <a:lnTo>
                    <a:pt x="1139438" y="134367"/>
                  </a:lnTo>
                  <a:lnTo>
                    <a:pt x="1226610" y="105701"/>
                  </a:lnTo>
                  <a:lnTo>
                    <a:pt x="1230428" y="65528"/>
                  </a:lnTo>
                  <a:lnTo>
                    <a:pt x="1201692" y="35408"/>
                  </a:lnTo>
                  <a:lnTo>
                    <a:pt x="1188309" y="32542"/>
                  </a:lnTo>
                  <a:lnTo>
                    <a:pt x="878885" y="14373"/>
                  </a:lnTo>
                  <a:lnTo>
                    <a:pt x="723711" y="16271"/>
                  </a:lnTo>
                  <a:lnTo>
                    <a:pt x="615479" y="10053"/>
                  </a:lnTo>
                  <a:lnTo>
                    <a:pt x="416216" y="4804"/>
                  </a:lnTo>
                  <a:lnTo>
                    <a:pt x="356333" y="0"/>
                  </a:lnTo>
                  <a:close/>
                </a:path>
              </a:pathLst>
            </a:custGeom>
            <a:solidFill>
              <a:srgbClr val="D99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43202" y="5761138"/>
              <a:ext cx="1240155" cy="558800"/>
            </a:xfrm>
            <a:custGeom>
              <a:avLst/>
              <a:gdLst/>
              <a:ahLst/>
              <a:cxnLst/>
              <a:rect l="l" t="t" r="r" b="b"/>
              <a:pathLst>
                <a:path w="1240155" h="558800">
                  <a:moveTo>
                    <a:pt x="556044" y="477659"/>
                  </a:moveTo>
                  <a:lnTo>
                    <a:pt x="500507" y="482434"/>
                  </a:lnTo>
                  <a:lnTo>
                    <a:pt x="452602" y="518782"/>
                  </a:lnTo>
                  <a:lnTo>
                    <a:pt x="397052" y="495350"/>
                  </a:lnTo>
                  <a:lnTo>
                    <a:pt x="348665" y="476224"/>
                  </a:lnTo>
                  <a:lnTo>
                    <a:pt x="316598" y="436537"/>
                  </a:lnTo>
                  <a:lnTo>
                    <a:pt x="300761" y="452793"/>
                  </a:lnTo>
                  <a:lnTo>
                    <a:pt x="269176" y="465709"/>
                  </a:lnTo>
                  <a:lnTo>
                    <a:pt x="289267" y="492963"/>
                  </a:lnTo>
                  <a:lnTo>
                    <a:pt x="405180" y="539813"/>
                  </a:lnTo>
                  <a:lnTo>
                    <a:pt x="493306" y="558457"/>
                  </a:lnTo>
                  <a:lnTo>
                    <a:pt x="537400" y="549859"/>
                  </a:lnTo>
                  <a:lnTo>
                    <a:pt x="552716" y="525475"/>
                  </a:lnTo>
                  <a:lnTo>
                    <a:pt x="556044" y="477659"/>
                  </a:lnTo>
                  <a:close/>
                </a:path>
                <a:path w="1240155" h="558800">
                  <a:moveTo>
                    <a:pt x="667169" y="404495"/>
                  </a:moveTo>
                  <a:lnTo>
                    <a:pt x="662393" y="368642"/>
                  </a:lnTo>
                  <a:lnTo>
                    <a:pt x="623125" y="377253"/>
                  </a:lnTo>
                  <a:lnTo>
                    <a:pt x="618820" y="396849"/>
                  </a:lnTo>
                  <a:lnTo>
                    <a:pt x="602996" y="405460"/>
                  </a:lnTo>
                  <a:lnTo>
                    <a:pt x="543153" y="409765"/>
                  </a:lnTo>
                  <a:lnTo>
                    <a:pt x="455498" y="403542"/>
                  </a:lnTo>
                  <a:lnTo>
                    <a:pt x="395605" y="388251"/>
                  </a:lnTo>
                  <a:lnTo>
                    <a:pt x="359676" y="368642"/>
                  </a:lnTo>
                  <a:lnTo>
                    <a:pt x="359676" y="344728"/>
                  </a:lnTo>
                  <a:lnTo>
                    <a:pt x="331901" y="397332"/>
                  </a:lnTo>
                  <a:lnTo>
                    <a:pt x="440143" y="455180"/>
                  </a:lnTo>
                  <a:lnTo>
                    <a:pt x="484708" y="458533"/>
                  </a:lnTo>
                  <a:lnTo>
                    <a:pt x="627430" y="444665"/>
                  </a:lnTo>
                  <a:lnTo>
                    <a:pt x="655193" y="428409"/>
                  </a:lnTo>
                  <a:lnTo>
                    <a:pt x="667169" y="404495"/>
                  </a:lnTo>
                  <a:close/>
                </a:path>
                <a:path w="1240155" h="558800">
                  <a:moveTo>
                    <a:pt x="822833" y="143941"/>
                  </a:moveTo>
                  <a:lnTo>
                    <a:pt x="810856" y="135788"/>
                  </a:lnTo>
                  <a:lnTo>
                    <a:pt x="795058" y="167843"/>
                  </a:lnTo>
                  <a:lnTo>
                    <a:pt x="771588" y="188391"/>
                  </a:lnTo>
                  <a:lnTo>
                    <a:pt x="731837" y="196507"/>
                  </a:lnTo>
                  <a:lnTo>
                    <a:pt x="659980" y="197472"/>
                  </a:lnTo>
                  <a:lnTo>
                    <a:pt x="560387" y="182664"/>
                  </a:lnTo>
                  <a:lnTo>
                    <a:pt x="523976" y="175475"/>
                  </a:lnTo>
                  <a:lnTo>
                    <a:pt x="468439" y="167843"/>
                  </a:lnTo>
                  <a:lnTo>
                    <a:pt x="376923" y="149669"/>
                  </a:lnTo>
                  <a:lnTo>
                    <a:pt x="376923" y="165417"/>
                  </a:lnTo>
                  <a:lnTo>
                    <a:pt x="320408" y="158267"/>
                  </a:lnTo>
                  <a:lnTo>
                    <a:pt x="272986" y="146799"/>
                  </a:lnTo>
                  <a:lnTo>
                    <a:pt x="293128" y="178333"/>
                  </a:lnTo>
                  <a:lnTo>
                    <a:pt x="313220" y="206070"/>
                  </a:lnTo>
                  <a:lnTo>
                    <a:pt x="253860" y="214680"/>
                  </a:lnTo>
                  <a:lnTo>
                    <a:pt x="205955" y="223291"/>
                  </a:lnTo>
                  <a:lnTo>
                    <a:pt x="217932" y="235242"/>
                  </a:lnTo>
                  <a:lnTo>
                    <a:pt x="166192" y="243852"/>
                  </a:lnTo>
                  <a:lnTo>
                    <a:pt x="114465" y="236677"/>
                  </a:lnTo>
                  <a:lnTo>
                    <a:pt x="58420" y="213245"/>
                  </a:lnTo>
                  <a:lnTo>
                    <a:pt x="22504" y="189801"/>
                  </a:lnTo>
                  <a:lnTo>
                    <a:pt x="2387" y="162547"/>
                  </a:lnTo>
                  <a:lnTo>
                    <a:pt x="0" y="349516"/>
                  </a:lnTo>
                  <a:lnTo>
                    <a:pt x="52197" y="352869"/>
                  </a:lnTo>
                  <a:lnTo>
                    <a:pt x="120688" y="383946"/>
                  </a:lnTo>
                  <a:lnTo>
                    <a:pt x="160439" y="418846"/>
                  </a:lnTo>
                  <a:lnTo>
                    <a:pt x="181038" y="466661"/>
                  </a:lnTo>
                  <a:lnTo>
                    <a:pt x="185826" y="486740"/>
                  </a:lnTo>
                  <a:lnTo>
                    <a:pt x="141770" y="487222"/>
                  </a:lnTo>
                  <a:lnTo>
                    <a:pt x="77584" y="475742"/>
                  </a:lnTo>
                  <a:lnTo>
                    <a:pt x="29692" y="460438"/>
                  </a:lnTo>
                  <a:lnTo>
                    <a:pt x="5740" y="448970"/>
                  </a:lnTo>
                  <a:lnTo>
                    <a:pt x="10058" y="472871"/>
                  </a:lnTo>
                  <a:lnTo>
                    <a:pt x="78066" y="499656"/>
                  </a:lnTo>
                  <a:lnTo>
                    <a:pt x="141770" y="518782"/>
                  </a:lnTo>
                  <a:lnTo>
                    <a:pt x="189661" y="530250"/>
                  </a:lnTo>
                  <a:lnTo>
                    <a:pt x="265353" y="525475"/>
                  </a:lnTo>
                  <a:lnTo>
                    <a:pt x="244741" y="449922"/>
                  </a:lnTo>
                  <a:lnTo>
                    <a:pt x="242366" y="286410"/>
                  </a:lnTo>
                  <a:lnTo>
                    <a:pt x="369290" y="205105"/>
                  </a:lnTo>
                  <a:lnTo>
                    <a:pt x="416674" y="196989"/>
                  </a:lnTo>
                  <a:lnTo>
                    <a:pt x="576668" y="210375"/>
                  </a:lnTo>
                  <a:lnTo>
                    <a:pt x="680110" y="217068"/>
                  </a:lnTo>
                  <a:lnTo>
                    <a:pt x="692683" y="217335"/>
                  </a:lnTo>
                  <a:lnTo>
                    <a:pt x="708367" y="249110"/>
                  </a:lnTo>
                  <a:lnTo>
                    <a:pt x="700697" y="273011"/>
                  </a:lnTo>
                  <a:lnTo>
                    <a:pt x="677265" y="284962"/>
                  </a:lnTo>
                  <a:lnTo>
                    <a:pt x="601586" y="297878"/>
                  </a:lnTo>
                  <a:lnTo>
                    <a:pt x="510070" y="303136"/>
                  </a:lnTo>
                  <a:lnTo>
                    <a:pt x="474179" y="295490"/>
                  </a:lnTo>
                  <a:lnTo>
                    <a:pt x="441591" y="263931"/>
                  </a:lnTo>
                  <a:lnTo>
                    <a:pt x="421487" y="256755"/>
                  </a:lnTo>
                  <a:lnTo>
                    <a:pt x="421970" y="307924"/>
                  </a:lnTo>
                  <a:lnTo>
                    <a:pt x="406615" y="320357"/>
                  </a:lnTo>
                  <a:lnTo>
                    <a:pt x="353936" y="284962"/>
                  </a:lnTo>
                  <a:lnTo>
                    <a:pt x="350596" y="265366"/>
                  </a:lnTo>
                  <a:lnTo>
                    <a:pt x="353453" y="245287"/>
                  </a:lnTo>
                  <a:lnTo>
                    <a:pt x="337654" y="253885"/>
                  </a:lnTo>
                  <a:lnTo>
                    <a:pt x="334314" y="285445"/>
                  </a:lnTo>
                  <a:lnTo>
                    <a:pt x="366877" y="308876"/>
                  </a:lnTo>
                  <a:lnTo>
                    <a:pt x="410921" y="331825"/>
                  </a:lnTo>
                  <a:lnTo>
                    <a:pt x="562762" y="349999"/>
                  </a:lnTo>
                  <a:lnTo>
                    <a:pt x="729907" y="332308"/>
                  </a:lnTo>
                  <a:lnTo>
                    <a:pt x="764870" y="299796"/>
                  </a:lnTo>
                  <a:lnTo>
                    <a:pt x="764400" y="259626"/>
                  </a:lnTo>
                  <a:lnTo>
                    <a:pt x="728522" y="217868"/>
                  </a:lnTo>
                  <a:lnTo>
                    <a:pt x="766318" y="211340"/>
                  </a:lnTo>
                  <a:lnTo>
                    <a:pt x="803211" y="187909"/>
                  </a:lnTo>
                  <a:lnTo>
                    <a:pt x="819492" y="167843"/>
                  </a:lnTo>
                  <a:lnTo>
                    <a:pt x="822833" y="143941"/>
                  </a:lnTo>
                  <a:close/>
                </a:path>
                <a:path w="1240155" h="558800">
                  <a:moveTo>
                    <a:pt x="1240002" y="46393"/>
                  </a:moveTo>
                  <a:lnTo>
                    <a:pt x="1231887" y="22491"/>
                  </a:lnTo>
                  <a:lnTo>
                    <a:pt x="1223721" y="14338"/>
                  </a:lnTo>
                  <a:lnTo>
                    <a:pt x="1199286" y="0"/>
                  </a:lnTo>
                  <a:lnTo>
                    <a:pt x="1216050" y="31089"/>
                  </a:lnTo>
                  <a:lnTo>
                    <a:pt x="1204556" y="54991"/>
                  </a:lnTo>
                  <a:lnTo>
                    <a:pt x="1160513" y="67424"/>
                  </a:lnTo>
                  <a:lnTo>
                    <a:pt x="1109268" y="68351"/>
                  </a:lnTo>
                  <a:lnTo>
                    <a:pt x="1036929" y="60731"/>
                  </a:lnTo>
                  <a:lnTo>
                    <a:pt x="985685" y="73647"/>
                  </a:lnTo>
                  <a:lnTo>
                    <a:pt x="929652" y="74574"/>
                  </a:lnTo>
                  <a:lnTo>
                    <a:pt x="873633" y="54991"/>
                  </a:lnTo>
                  <a:lnTo>
                    <a:pt x="801776" y="64071"/>
                  </a:lnTo>
                  <a:lnTo>
                    <a:pt x="730389" y="69329"/>
                  </a:lnTo>
                  <a:lnTo>
                    <a:pt x="634136" y="50673"/>
                  </a:lnTo>
                  <a:lnTo>
                    <a:pt x="501472" y="19621"/>
                  </a:lnTo>
                  <a:lnTo>
                    <a:pt x="622160" y="62623"/>
                  </a:lnTo>
                  <a:lnTo>
                    <a:pt x="658571" y="77927"/>
                  </a:lnTo>
                  <a:lnTo>
                    <a:pt x="762508" y="108534"/>
                  </a:lnTo>
                  <a:lnTo>
                    <a:pt x="902373" y="110909"/>
                  </a:lnTo>
                  <a:lnTo>
                    <a:pt x="1049388" y="100418"/>
                  </a:lnTo>
                  <a:lnTo>
                    <a:pt x="1157173" y="103276"/>
                  </a:lnTo>
                  <a:lnTo>
                    <a:pt x="1205039" y="90843"/>
                  </a:lnTo>
                  <a:lnTo>
                    <a:pt x="1232852" y="74129"/>
                  </a:lnTo>
                  <a:lnTo>
                    <a:pt x="1240002" y="46393"/>
                  </a:lnTo>
                  <a:close/>
                </a:path>
              </a:pathLst>
            </a:custGeom>
            <a:solidFill>
              <a:srgbClr val="CC8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2987" y="5723356"/>
              <a:ext cx="1445260" cy="636905"/>
            </a:xfrm>
            <a:custGeom>
              <a:avLst/>
              <a:gdLst/>
              <a:ahLst/>
              <a:cxnLst/>
              <a:rect l="l" t="t" r="r" b="b"/>
              <a:pathLst>
                <a:path w="1445260" h="636904">
                  <a:moveTo>
                    <a:pt x="112560" y="57404"/>
                  </a:moveTo>
                  <a:lnTo>
                    <a:pt x="0" y="58826"/>
                  </a:lnTo>
                  <a:lnTo>
                    <a:pt x="0" y="74117"/>
                  </a:lnTo>
                  <a:lnTo>
                    <a:pt x="24917" y="91325"/>
                  </a:lnTo>
                  <a:lnTo>
                    <a:pt x="54127" y="73152"/>
                  </a:lnTo>
                  <a:lnTo>
                    <a:pt x="75196" y="76022"/>
                  </a:lnTo>
                  <a:lnTo>
                    <a:pt x="92925" y="66001"/>
                  </a:lnTo>
                  <a:lnTo>
                    <a:pt x="112560" y="57404"/>
                  </a:lnTo>
                  <a:close/>
                </a:path>
                <a:path w="1445260" h="636904">
                  <a:moveTo>
                    <a:pt x="203085" y="582853"/>
                  </a:moveTo>
                  <a:lnTo>
                    <a:pt x="158534" y="535051"/>
                  </a:lnTo>
                  <a:lnTo>
                    <a:pt x="135077" y="563257"/>
                  </a:lnTo>
                  <a:lnTo>
                    <a:pt x="122135" y="479577"/>
                  </a:lnTo>
                  <a:lnTo>
                    <a:pt x="112560" y="360045"/>
                  </a:lnTo>
                  <a:lnTo>
                    <a:pt x="111125" y="249123"/>
                  </a:lnTo>
                  <a:lnTo>
                    <a:pt x="113995" y="173075"/>
                  </a:lnTo>
                  <a:lnTo>
                    <a:pt x="125018" y="93738"/>
                  </a:lnTo>
                  <a:lnTo>
                    <a:pt x="180568" y="80822"/>
                  </a:lnTo>
                  <a:lnTo>
                    <a:pt x="136512" y="81305"/>
                  </a:lnTo>
                  <a:lnTo>
                    <a:pt x="124536" y="57848"/>
                  </a:lnTo>
                  <a:lnTo>
                    <a:pt x="101549" y="125768"/>
                  </a:lnTo>
                  <a:lnTo>
                    <a:pt x="82867" y="253428"/>
                  </a:lnTo>
                  <a:lnTo>
                    <a:pt x="84785" y="400685"/>
                  </a:lnTo>
                  <a:lnTo>
                    <a:pt x="103543" y="625030"/>
                  </a:lnTo>
                  <a:lnTo>
                    <a:pt x="67056" y="544131"/>
                  </a:lnTo>
                  <a:lnTo>
                    <a:pt x="44069" y="592416"/>
                  </a:lnTo>
                  <a:lnTo>
                    <a:pt x="7188" y="557034"/>
                  </a:lnTo>
                  <a:lnTo>
                    <a:pt x="8153" y="636892"/>
                  </a:lnTo>
                  <a:lnTo>
                    <a:pt x="108254" y="635457"/>
                  </a:lnTo>
                  <a:lnTo>
                    <a:pt x="108051" y="635025"/>
                  </a:lnTo>
                  <a:lnTo>
                    <a:pt x="136029" y="631621"/>
                  </a:lnTo>
                  <a:lnTo>
                    <a:pt x="151358" y="583336"/>
                  </a:lnTo>
                  <a:lnTo>
                    <a:pt x="203085" y="582853"/>
                  </a:lnTo>
                  <a:close/>
                </a:path>
                <a:path w="1445260" h="636904">
                  <a:moveTo>
                    <a:pt x="517779" y="463321"/>
                  </a:moveTo>
                  <a:lnTo>
                    <a:pt x="504837" y="481012"/>
                  </a:lnTo>
                  <a:lnTo>
                    <a:pt x="489483" y="494398"/>
                  </a:lnTo>
                  <a:lnTo>
                    <a:pt x="510578" y="491058"/>
                  </a:lnTo>
                  <a:lnTo>
                    <a:pt x="517779" y="483882"/>
                  </a:lnTo>
                  <a:lnTo>
                    <a:pt x="517779" y="463321"/>
                  </a:lnTo>
                  <a:close/>
                </a:path>
                <a:path w="1445260" h="636904">
                  <a:moveTo>
                    <a:pt x="610209" y="271589"/>
                  </a:moveTo>
                  <a:lnTo>
                    <a:pt x="604951" y="261556"/>
                  </a:lnTo>
                  <a:lnTo>
                    <a:pt x="579069" y="264896"/>
                  </a:lnTo>
                  <a:lnTo>
                    <a:pt x="558927" y="275412"/>
                  </a:lnTo>
                  <a:lnTo>
                    <a:pt x="553669" y="290245"/>
                  </a:lnTo>
                  <a:lnTo>
                    <a:pt x="563753" y="282587"/>
                  </a:lnTo>
                  <a:lnTo>
                    <a:pt x="586257" y="272072"/>
                  </a:lnTo>
                  <a:lnTo>
                    <a:pt x="610209" y="271589"/>
                  </a:lnTo>
                  <a:close/>
                </a:path>
                <a:path w="1445260" h="636904">
                  <a:moveTo>
                    <a:pt x="802728" y="89903"/>
                  </a:moveTo>
                  <a:lnTo>
                    <a:pt x="722261" y="61683"/>
                  </a:lnTo>
                  <a:lnTo>
                    <a:pt x="612101" y="35407"/>
                  </a:lnTo>
                  <a:lnTo>
                    <a:pt x="573316" y="20104"/>
                  </a:lnTo>
                  <a:lnTo>
                    <a:pt x="527342" y="31572"/>
                  </a:lnTo>
                  <a:lnTo>
                    <a:pt x="583361" y="35890"/>
                  </a:lnTo>
                  <a:lnTo>
                    <a:pt x="715111" y="65036"/>
                  </a:lnTo>
                  <a:lnTo>
                    <a:pt x="802728" y="89903"/>
                  </a:lnTo>
                  <a:close/>
                </a:path>
                <a:path w="1445260" h="636904">
                  <a:moveTo>
                    <a:pt x="820445" y="91808"/>
                  </a:moveTo>
                  <a:lnTo>
                    <a:pt x="805129" y="89903"/>
                  </a:lnTo>
                  <a:lnTo>
                    <a:pt x="789825" y="102349"/>
                  </a:lnTo>
                  <a:lnTo>
                    <a:pt x="779729" y="120510"/>
                  </a:lnTo>
                  <a:lnTo>
                    <a:pt x="795083" y="108077"/>
                  </a:lnTo>
                  <a:lnTo>
                    <a:pt x="820445" y="91808"/>
                  </a:lnTo>
                  <a:close/>
                </a:path>
                <a:path w="1445260" h="636904">
                  <a:moveTo>
                    <a:pt x="1392834" y="35407"/>
                  </a:moveTo>
                  <a:lnTo>
                    <a:pt x="1243850" y="22479"/>
                  </a:lnTo>
                  <a:lnTo>
                    <a:pt x="1150924" y="21031"/>
                  </a:lnTo>
                  <a:lnTo>
                    <a:pt x="1060907" y="13881"/>
                  </a:lnTo>
                  <a:lnTo>
                    <a:pt x="920076" y="15786"/>
                  </a:lnTo>
                  <a:lnTo>
                    <a:pt x="735203" y="11010"/>
                  </a:lnTo>
                  <a:lnTo>
                    <a:pt x="642289" y="4318"/>
                  </a:lnTo>
                  <a:lnTo>
                    <a:pt x="575729" y="0"/>
                  </a:lnTo>
                  <a:lnTo>
                    <a:pt x="534047" y="3340"/>
                  </a:lnTo>
                  <a:lnTo>
                    <a:pt x="485660" y="16751"/>
                  </a:lnTo>
                  <a:lnTo>
                    <a:pt x="391312" y="51193"/>
                  </a:lnTo>
                  <a:lnTo>
                    <a:pt x="307022" y="86067"/>
                  </a:lnTo>
                  <a:lnTo>
                    <a:pt x="222719" y="117652"/>
                  </a:lnTo>
                  <a:lnTo>
                    <a:pt x="211709" y="87045"/>
                  </a:lnTo>
                  <a:lnTo>
                    <a:pt x="201650" y="84658"/>
                  </a:lnTo>
                  <a:lnTo>
                    <a:pt x="194462" y="132943"/>
                  </a:lnTo>
                  <a:lnTo>
                    <a:pt x="188239" y="226174"/>
                  </a:lnTo>
                  <a:lnTo>
                    <a:pt x="192062" y="349046"/>
                  </a:lnTo>
                  <a:lnTo>
                    <a:pt x="197332" y="510654"/>
                  </a:lnTo>
                  <a:lnTo>
                    <a:pt x="203085" y="582853"/>
                  </a:lnTo>
                  <a:lnTo>
                    <a:pt x="215061" y="578078"/>
                  </a:lnTo>
                  <a:lnTo>
                    <a:pt x="222237" y="518312"/>
                  </a:lnTo>
                  <a:lnTo>
                    <a:pt x="212763" y="510667"/>
                  </a:lnTo>
                  <a:lnTo>
                    <a:pt x="279717" y="540778"/>
                  </a:lnTo>
                  <a:lnTo>
                    <a:pt x="330962" y="555129"/>
                  </a:lnTo>
                  <a:lnTo>
                    <a:pt x="385089" y="567563"/>
                  </a:lnTo>
                  <a:lnTo>
                    <a:pt x="446874" y="567080"/>
                  </a:lnTo>
                  <a:lnTo>
                    <a:pt x="508647" y="566115"/>
                  </a:lnTo>
                  <a:lnTo>
                    <a:pt x="545363" y="563714"/>
                  </a:lnTo>
                  <a:lnTo>
                    <a:pt x="583361" y="582853"/>
                  </a:lnTo>
                  <a:lnTo>
                    <a:pt x="644690" y="605332"/>
                  </a:lnTo>
                  <a:lnTo>
                    <a:pt x="688746" y="607237"/>
                  </a:lnTo>
                  <a:lnTo>
                    <a:pt x="714146" y="607237"/>
                  </a:lnTo>
                  <a:lnTo>
                    <a:pt x="739990" y="596239"/>
                  </a:lnTo>
                  <a:lnTo>
                    <a:pt x="755345" y="580948"/>
                  </a:lnTo>
                  <a:lnTo>
                    <a:pt x="765873" y="552259"/>
                  </a:lnTo>
                  <a:lnTo>
                    <a:pt x="765479" y="529399"/>
                  </a:lnTo>
                  <a:lnTo>
                    <a:pt x="836764" y="517829"/>
                  </a:lnTo>
                  <a:lnTo>
                    <a:pt x="862126" y="507314"/>
                  </a:lnTo>
                  <a:lnTo>
                    <a:pt x="879843" y="479107"/>
                  </a:lnTo>
                  <a:lnTo>
                    <a:pt x="881773" y="450418"/>
                  </a:lnTo>
                  <a:lnTo>
                    <a:pt x="870927" y="411416"/>
                  </a:lnTo>
                  <a:lnTo>
                    <a:pt x="940219" y="388264"/>
                  </a:lnTo>
                  <a:lnTo>
                    <a:pt x="963206" y="374865"/>
                  </a:lnTo>
                  <a:lnTo>
                    <a:pt x="973251" y="357174"/>
                  </a:lnTo>
                  <a:lnTo>
                    <a:pt x="980440" y="320840"/>
                  </a:lnTo>
                  <a:lnTo>
                    <a:pt x="974699" y="287845"/>
                  </a:lnTo>
                  <a:lnTo>
                    <a:pt x="945959" y="257251"/>
                  </a:lnTo>
                  <a:lnTo>
                    <a:pt x="920559" y="254850"/>
                  </a:lnTo>
                  <a:lnTo>
                    <a:pt x="949299" y="280200"/>
                  </a:lnTo>
                  <a:lnTo>
                    <a:pt x="959827" y="297891"/>
                  </a:lnTo>
                  <a:lnTo>
                    <a:pt x="942098" y="342353"/>
                  </a:lnTo>
                  <a:lnTo>
                    <a:pt x="878395" y="355739"/>
                  </a:lnTo>
                  <a:lnTo>
                    <a:pt x="821893" y="359092"/>
                  </a:lnTo>
                  <a:lnTo>
                    <a:pt x="711250" y="355269"/>
                  </a:lnTo>
                  <a:lnTo>
                    <a:pt x="682993" y="363397"/>
                  </a:lnTo>
                  <a:lnTo>
                    <a:pt x="660006" y="361480"/>
                  </a:lnTo>
                  <a:lnTo>
                    <a:pt x="634161" y="346176"/>
                  </a:lnTo>
                  <a:lnTo>
                    <a:pt x="630796" y="328015"/>
                  </a:lnTo>
                  <a:lnTo>
                    <a:pt x="617855" y="289280"/>
                  </a:lnTo>
                  <a:lnTo>
                    <a:pt x="623595" y="338531"/>
                  </a:lnTo>
                  <a:lnTo>
                    <a:pt x="621220" y="346176"/>
                  </a:lnTo>
                  <a:lnTo>
                    <a:pt x="605866" y="361962"/>
                  </a:lnTo>
                  <a:lnTo>
                    <a:pt x="559409" y="339483"/>
                  </a:lnTo>
                  <a:lnTo>
                    <a:pt x="601091" y="366737"/>
                  </a:lnTo>
                  <a:lnTo>
                    <a:pt x="634606" y="394944"/>
                  </a:lnTo>
                  <a:lnTo>
                    <a:pt x="652818" y="399249"/>
                  </a:lnTo>
                  <a:lnTo>
                    <a:pt x="842949" y="420763"/>
                  </a:lnTo>
                  <a:lnTo>
                    <a:pt x="847890" y="419112"/>
                  </a:lnTo>
                  <a:lnTo>
                    <a:pt x="851115" y="427939"/>
                  </a:lnTo>
                  <a:lnTo>
                    <a:pt x="851115" y="437984"/>
                  </a:lnTo>
                  <a:lnTo>
                    <a:pt x="848702" y="448983"/>
                  </a:lnTo>
                  <a:lnTo>
                    <a:pt x="838174" y="460933"/>
                  </a:lnTo>
                  <a:lnTo>
                    <a:pt x="815670" y="466674"/>
                  </a:lnTo>
                  <a:lnTo>
                    <a:pt x="746163" y="469976"/>
                  </a:lnTo>
                  <a:lnTo>
                    <a:pt x="746163" y="532536"/>
                  </a:lnTo>
                  <a:lnTo>
                    <a:pt x="716521" y="570903"/>
                  </a:lnTo>
                  <a:lnTo>
                    <a:pt x="691159" y="571385"/>
                  </a:lnTo>
                  <a:lnTo>
                    <a:pt x="652335" y="566597"/>
                  </a:lnTo>
                  <a:lnTo>
                    <a:pt x="559409" y="531698"/>
                  </a:lnTo>
                  <a:lnTo>
                    <a:pt x="548881" y="511619"/>
                  </a:lnTo>
                  <a:lnTo>
                    <a:pt x="535940" y="516394"/>
                  </a:lnTo>
                  <a:lnTo>
                    <a:pt x="523519" y="522135"/>
                  </a:lnTo>
                  <a:lnTo>
                    <a:pt x="502424" y="519264"/>
                  </a:lnTo>
                  <a:lnTo>
                    <a:pt x="469569" y="502627"/>
                  </a:lnTo>
                  <a:lnTo>
                    <a:pt x="464121" y="497268"/>
                  </a:lnTo>
                  <a:lnTo>
                    <a:pt x="458368" y="476237"/>
                  </a:lnTo>
                  <a:lnTo>
                    <a:pt x="457898" y="458546"/>
                  </a:lnTo>
                  <a:lnTo>
                    <a:pt x="470839" y="445630"/>
                  </a:lnTo>
                  <a:lnTo>
                    <a:pt x="489038" y="432727"/>
                  </a:lnTo>
                  <a:lnTo>
                    <a:pt x="514248" y="437845"/>
                  </a:lnTo>
                  <a:lnTo>
                    <a:pt x="519658" y="444677"/>
                  </a:lnTo>
                  <a:lnTo>
                    <a:pt x="636536" y="525957"/>
                  </a:lnTo>
                  <a:lnTo>
                    <a:pt x="670052" y="540778"/>
                  </a:lnTo>
                  <a:lnTo>
                    <a:pt x="698309" y="540296"/>
                  </a:lnTo>
                  <a:lnTo>
                    <a:pt x="746163" y="532536"/>
                  </a:lnTo>
                  <a:lnTo>
                    <a:pt x="746163" y="469976"/>
                  </a:lnTo>
                  <a:lnTo>
                    <a:pt x="674395" y="473367"/>
                  </a:lnTo>
                  <a:lnTo>
                    <a:pt x="648512" y="473837"/>
                  </a:lnTo>
                  <a:lnTo>
                    <a:pt x="623112" y="466674"/>
                  </a:lnTo>
                  <a:lnTo>
                    <a:pt x="539800" y="424599"/>
                  </a:lnTo>
                  <a:lnTo>
                    <a:pt x="547433" y="400685"/>
                  </a:lnTo>
                  <a:lnTo>
                    <a:pt x="549846" y="388264"/>
                  </a:lnTo>
                  <a:lnTo>
                    <a:pt x="539800" y="406425"/>
                  </a:lnTo>
                  <a:lnTo>
                    <a:pt x="535012" y="414070"/>
                  </a:lnTo>
                  <a:lnTo>
                    <a:pt x="519188" y="419811"/>
                  </a:lnTo>
                  <a:lnTo>
                    <a:pt x="509612" y="416941"/>
                  </a:lnTo>
                  <a:lnTo>
                    <a:pt x="503834" y="409079"/>
                  </a:lnTo>
                  <a:lnTo>
                    <a:pt x="503834" y="424662"/>
                  </a:lnTo>
                  <a:lnTo>
                    <a:pt x="501459" y="422211"/>
                  </a:lnTo>
                  <a:lnTo>
                    <a:pt x="500849" y="420878"/>
                  </a:lnTo>
                  <a:lnTo>
                    <a:pt x="503834" y="424662"/>
                  </a:lnTo>
                  <a:lnTo>
                    <a:pt x="503834" y="409079"/>
                  </a:lnTo>
                  <a:lnTo>
                    <a:pt x="483298" y="381114"/>
                  </a:lnTo>
                  <a:lnTo>
                    <a:pt x="479920" y="366268"/>
                  </a:lnTo>
                  <a:lnTo>
                    <a:pt x="487591" y="350481"/>
                  </a:lnTo>
                  <a:lnTo>
                    <a:pt x="503389" y="339966"/>
                  </a:lnTo>
                  <a:lnTo>
                    <a:pt x="526376" y="334708"/>
                  </a:lnTo>
                  <a:lnTo>
                    <a:pt x="554634" y="354304"/>
                  </a:lnTo>
                  <a:lnTo>
                    <a:pt x="554151" y="337096"/>
                  </a:lnTo>
                  <a:lnTo>
                    <a:pt x="541248" y="324192"/>
                  </a:lnTo>
                  <a:lnTo>
                    <a:pt x="536422" y="306019"/>
                  </a:lnTo>
                  <a:lnTo>
                    <a:pt x="535940" y="285457"/>
                  </a:lnTo>
                  <a:lnTo>
                    <a:pt x="548398" y="265379"/>
                  </a:lnTo>
                  <a:lnTo>
                    <a:pt x="560882" y="254762"/>
                  </a:lnTo>
                  <a:lnTo>
                    <a:pt x="576211" y="246253"/>
                  </a:lnTo>
                  <a:lnTo>
                    <a:pt x="601573" y="241477"/>
                  </a:lnTo>
                  <a:lnTo>
                    <a:pt x="632714" y="245770"/>
                  </a:lnTo>
                  <a:lnTo>
                    <a:pt x="666242" y="253428"/>
                  </a:lnTo>
                  <a:lnTo>
                    <a:pt x="696899" y="254850"/>
                  </a:lnTo>
                  <a:lnTo>
                    <a:pt x="719886" y="265379"/>
                  </a:lnTo>
                  <a:lnTo>
                    <a:pt x="756259" y="259638"/>
                  </a:lnTo>
                  <a:lnTo>
                    <a:pt x="786930" y="256768"/>
                  </a:lnTo>
                  <a:lnTo>
                    <a:pt x="841070" y="255816"/>
                  </a:lnTo>
                  <a:lnTo>
                    <a:pt x="776401" y="243852"/>
                  </a:lnTo>
                  <a:lnTo>
                    <a:pt x="725157" y="231902"/>
                  </a:lnTo>
                  <a:lnTo>
                    <a:pt x="660971" y="230454"/>
                  </a:lnTo>
                  <a:lnTo>
                    <a:pt x="639914" y="222821"/>
                  </a:lnTo>
                  <a:lnTo>
                    <a:pt x="603986" y="210388"/>
                  </a:lnTo>
                  <a:lnTo>
                    <a:pt x="614514" y="228066"/>
                  </a:lnTo>
                  <a:lnTo>
                    <a:pt x="573316" y="229044"/>
                  </a:lnTo>
                  <a:lnTo>
                    <a:pt x="529755" y="218503"/>
                  </a:lnTo>
                  <a:lnTo>
                    <a:pt x="496189" y="203682"/>
                  </a:lnTo>
                  <a:lnTo>
                    <a:pt x="519658" y="227139"/>
                  </a:lnTo>
                  <a:lnTo>
                    <a:pt x="562381" y="240766"/>
                  </a:lnTo>
                  <a:lnTo>
                    <a:pt x="542658" y="249593"/>
                  </a:lnTo>
                  <a:lnTo>
                    <a:pt x="512508" y="260121"/>
                  </a:lnTo>
                  <a:lnTo>
                    <a:pt x="468909" y="266331"/>
                  </a:lnTo>
                  <a:lnTo>
                    <a:pt x="502424" y="278282"/>
                  </a:lnTo>
                  <a:lnTo>
                    <a:pt x="471309" y="288798"/>
                  </a:lnTo>
                  <a:lnTo>
                    <a:pt x="436346" y="293789"/>
                  </a:lnTo>
                  <a:lnTo>
                    <a:pt x="436346" y="556564"/>
                  </a:lnTo>
                  <a:lnTo>
                    <a:pt x="364020" y="554647"/>
                  </a:lnTo>
                  <a:lnTo>
                    <a:pt x="289775" y="537908"/>
                  </a:lnTo>
                  <a:lnTo>
                    <a:pt x="210731" y="509028"/>
                  </a:lnTo>
                  <a:lnTo>
                    <a:pt x="203174" y="364388"/>
                  </a:lnTo>
                  <a:lnTo>
                    <a:pt x="243801" y="366737"/>
                  </a:lnTo>
                  <a:lnTo>
                    <a:pt x="290258" y="378688"/>
                  </a:lnTo>
                  <a:lnTo>
                    <a:pt x="329057" y="396379"/>
                  </a:lnTo>
                  <a:lnTo>
                    <a:pt x="367842" y="421728"/>
                  </a:lnTo>
                  <a:lnTo>
                    <a:pt x="402348" y="454710"/>
                  </a:lnTo>
                  <a:lnTo>
                    <a:pt x="435864" y="520217"/>
                  </a:lnTo>
                  <a:lnTo>
                    <a:pt x="436346" y="556564"/>
                  </a:lnTo>
                  <a:lnTo>
                    <a:pt x="436346" y="293789"/>
                  </a:lnTo>
                  <a:lnTo>
                    <a:pt x="427710" y="295021"/>
                  </a:lnTo>
                  <a:lnTo>
                    <a:pt x="371195" y="295503"/>
                  </a:lnTo>
                  <a:lnTo>
                    <a:pt x="394665" y="307924"/>
                  </a:lnTo>
                  <a:lnTo>
                    <a:pt x="343420" y="308406"/>
                  </a:lnTo>
                  <a:lnTo>
                    <a:pt x="301752" y="299326"/>
                  </a:lnTo>
                  <a:lnTo>
                    <a:pt x="255765" y="276377"/>
                  </a:lnTo>
                  <a:lnTo>
                    <a:pt x="203390" y="230924"/>
                  </a:lnTo>
                  <a:lnTo>
                    <a:pt x="203568" y="205625"/>
                  </a:lnTo>
                  <a:lnTo>
                    <a:pt x="210273" y="128143"/>
                  </a:lnTo>
                  <a:lnTo>
                    <a:pt x="499084" y="19621"/>
                  </a:lnTo>
                  <a:lnTo>
                    <a:pt x="568058" y="5283"/>
                  </a:lnTo>
                  <a:lnTo>
                    <a:pt x="622185" y="12433"/>
                  </a:lnTo>
                  <a:lnTo>
                    <a:pt x="701687" y="18643"/>
                  </a:lnTo>
                  <a:lnTo>
                    <a:pt x="791705" y="21031"/>
                  </a:lnTo>
                  <a:lnTo>
                    <a:pt x="912406" y="24384"/>
                  </a:lnTo>
                  <a:lnTo>
                    <a:pt x="1038402" y="22479"/>
                  </a:lnTo>
                  <a:lnTo>
                    <a:pt x="1151407" y="28219"/>
                  </a:lnTo>
                  <a:lnTo>
                    <a:pt x="1249121" y="30594"/>
                  </a:lnTo>
                  <a:lnTo>
                    <a:pt x="1308036" y="34429"/>
                  </a:lnTo>
                  <a:lnTo>
                    <a:pt x="1392834" y="35407"/>
                  </a:lnTo>
                  <a:close/>
                </a:path>
                <a:path w="1445260" h="636904">
                  <a:moveTo>
                    <a:pt x="1445044" y="104241"/>
                  </a:moveTo>
                  <a:lnTo>
                    <a:pt x="1444561" y="81305"/>
                  </a:lnTo>
                  <a:lnTo>
                    <a:pt x="1442148" y="68389"/>
                  </a:lnTo>
                  <a:lnTo>
                    <a:pt x="1426349" y="50711"/>
                  </a:lnTo>
                  <a:lnTo>
                    <a:pt x="1408633" y="43040"/>
                  </a:lnTo>
                  <a:lnTo>
                    <a:pt x="1423936" y="55956"/>
                  </a:lnTo>
                  <a:lnTo>
                    <a:pt x="1431620" y="68389"/>
                  </a:lnTo>
                  <a:lnTo>
                    <a:pt x="1386128" y="115709"/>
                  </a:lnTo>
                  <a:lnTo>
                    <a:pt x="1339659" y="120992"/>
                  </a:lnTo>
                  <a:lnTo>
                    <a:pt x="1296060" y="121932"/>
                  </a:lnTo>
                  <a:lnTo>
                    <a:pt x="1264945" y="119062"/>
                  </a:lnTo>
                  <a:lnTo>
                    <a:pt x="1252486" y="114300"/>
                  </a:lnTo>
                  <a:lnTo>
                    <a:pt x="1241958" y="96608"/>
                  </a:lnTo>
                  <a:lnTo>
                    <a:pt x="1236662" y="112356"/>
                  </a:lnTo>
                  <a:lnTo>
                    <a:pt x="1221828" y="119545"/>
                  </a:lnTo>
                  <a:lnTo>
                    <a:pt x="1190675" y="125272"/>
                  </a:lnTo>
                  <a:lnTo>
                    <a:pt x="1147114" y="126250"/>
                  </a:lnTo>
                  <a:lnTo>
                    <a:pt x="1109256" y="121437"/>
                  </a:lnTo>
                  <a:lnTo>
                    <a:pt x="1093457" y="111429"/>
                  </a:lnTo>
                  <a:lnTo>
                    <a:pt x="1075258" y="95643"/>
                  </a:lnTo>
                  <a:lnTo>
                    <a:pt x="1046518" y="111912"/>
                  </a:lnTo>
                  <a:lnTo>
                    <a:pt x="1003427" y="120510"/>
                  </a:lnTo>
                  <a:lnTo>
                    <a:pt x="947369" y="118579"/>
                  </a:lnTo>
                  <a:lnTo>
                    <a:pt x="895642" y="106629"/>
                  </a:lnTo>
                  <a:lnTo>
                    <a:pt x="862126" y="91325"/>
                  </a:lnTo>
                  <a:lnTo>
                    <a:pt x="841552" y="98996"/>
                  </a:lnTo>
                  <a:lnTo>
                    <a:pt x="825715" y="94678"/>
                  </a:lnTo>
                  <a:lnTo>
                    <a:pt x="840778" y="107911"/>
                  </a:lnTo>
                  <a:lnTo>
                    <a:pt x="839139" y="107111"/>
                  </a:lnTo>
                  <a:lnTo>
                    <a:pt x="813295" y="114782"/>
                  </a:lnTo>
                  <a:lnTo>
                    <a:pt x="826198" y="117652"/>
                  </a:lnTo>
                  <a:lnTo>
                    <a:pt x="846201" y="112661"/>
                  </a:lnTo>
                  <a:lnTo>
                    <a:pt x="857338" y="122415"/>
                  </a:lnTo>
                  <a:lnTo>
                    <a:pt x="886612" y="140741"/>
                  </a:lnTo>
                  <a:lnTo>
                    <a:pt x="877925" y="147764"/>
                  </a:lnTo>
                  <a:lnTo>
                    <a:pt x="873137" y="155397"/>
                  </a:lnTo>
                  <a:lnTo>
                    <a:pt x="870280" y="163068"/>
                  </a:lnTo>
                  <a:lnTo>
                    <a:pt x="876033" y="173570"/>
                  </a:lnTo>
                  <a:lnTo>
                    <a:pt x="888492" y="183616"/>
                  </a:lnTo>
                  <a:lnTo>
                    <a:pt x="911479" y="190804"/>
                  </a:lnTo>
                  <a:lnTo>
                    <a:pt x="891336" y="177888"/>
                  </a:lnTo>
                  <a:lnTo>
                    <a:pt x="883666" y="165455"/>
                  </a:lnTo>
                  <a:lnTo>
                    <a:pt x="904938" y="147904"/>
                  </a:lnTo>
                  <a:lnTo>
                    <a:pt x="939736" y="156845"/>
                  </a:lnTo>
                  <a:lnTo>
                    <a:pt x="1011555" y="169291"/>
                  </a:lnTo>
                  <a:lnTo>
                    <a:pt x="1016812" y="174536"/>
                  </a:lnTo>
                  <a:lnTo>
                    <a:pt x="1017295" y="186486"/>
                  </a:lnTo>
                  <a:lnTo>
                    <a:pt x="1012037" y="210388"/>
                  </a:lnTo>
                  <a:lnTo>
                    <a:pt x="997204" y="228066"/>
                  </a:lnTo>
                  <a:lnTo>
                    <a:pt x="967016" y="246722"/>
                  </a:lnTo>
                  <a:lnTo>
                    <a:pt x="930605" y="254850"/>
                  </a:lnTo>
                  <a:lnTo>
                    <a:pt x="968946" y="251510"/>
                  </a:lnTo>
                  <a:lnTo>
                    <a:pt x="1000061" y="238125"/>
                  </a:lnTo>
                  <a:lnTo>
                    <a:pt x="1020673" y="217576"/>
                  </a:lnTo>
                  <a:lnTo>
                    <a:pt x="1027874" y="196545"/>
                  </a:lnTo>
                  <a:lnTo>
                    <a:pt x="1027391" y="165938"/>
                  </a:lnTo>
                  <a:lnTo>
                    <a:pt x="1103985" y="154914"/>
                  </a:lnTo>
                  <a:lnTo>
                    <a:pt x="1140396" y="159715"/>
                  </a:lnTo>
                  <a:lnTo>
                    <a:pt x="1209370" y="156362"/>
                  </a:lnTo>
                  <a:lnTo>
                    <a:pt x="1237145" y="147764"/>
                  </a:lnTo>
                  <a:lnTo>
                    <a:pt x="1307553" y="154914"/>
                  </a:lnTo>
                  <a:lnTo>
                    <a:pt x="1360728" y="151561"/>
                  </a:lnTo>
                  <a:lnTo>
                    <a:pt x="1399501" y="143446"/>
                  </a:lnTo>
                  <a:lnTo>
                    <a:pt x="1427314" y="130086"/>
                  </a:lnTo>
                  <a:lnTo>
                    <a:pt x="1440218" y="116674"/>
                  </a:lnTo>
                  <a:lnTo>
                    <a:pt x="1445044" y="104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806445" y="1148841"/>
            <a:ext cx="33324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05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000" b="1" spc="-24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OCKI</a:t>
            </a:r>
            <a:r>
              <a:rPr sz="2000" b="1" spc="-9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b="1" spc="-480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0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204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000" b="1" spc="-11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14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CKI</a:t>
            </a:r>
            <a:r>
              <a:rPr sz="2000" b="1" spc="-12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86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35940" y="1698701"/>
            <a:ext cx="34442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 algn="ctr">
              <a:lnSpc>
                <a:spcPct val="100000"/>
              </a:lnSpc>
              <a:spcBef>
                <a:spcPts val="100"/>
              </a:spcBef>
            </a:pPr>
            <a:r>
              <a:rPr sz="2400" b="1" spc="-300" dirty="0">
                <a:solidFill>
                  <a:srgbClr val="FF3300"/>
                </a:solidFill>
                <a:latin typeface="Arial"/>
                <a:cs typeface="Arial"/>
              </a:rPr>
              <a:t>Blocking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&lt;variable&gt;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b="1" spc="60" dirty="0">
                <a:solidFill>
                  <a:srgbClr val="006FC0"/>
                </a:solidFill>
                <a:latin typeface="Arial"/>
                <a:cs typeface="Arial"/>
              </a:rPr>
              <a:t>=</a:t>
            </a:r>
            <a:r>
              <a:rPr sz="24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&lt;statement&gt;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5940" y="2796666"/>
            <a:ext cx="2420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Simi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ar</a:t>
            </a:r>
            <a:r>
              <a:rPr sz="24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ode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940" y="3528441"/>
            <a:ext cx="3421379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5080" indent="-342900">
              <a:lnSpc>
                <a:spcPts val="2300"/>
              </a:lnSpc>
              <a:spcBef>
                <a:spcPts val="660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15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-40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ig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waits 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24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is 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finished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940" y="4844872"/>
            <a:ext cx="37630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4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combi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ational</a:t>
            </a:r>
            <a:r>
              <a:rPr sz="2400" spc="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75175" y="1698701"/>
            <a:ext cx="3615054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238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FF0000"/>
                </a:solidFill>
                <a:latin typeface="Arial"/>
                <a:cs typeface="Arial"/>
              </a:rPr>
              <a:t>Non-blocking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&lt;variable&gt;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b="1" spc="5" dirty="0">
                <a:solidFill>
                  <a:srgbClr val="006FC0"/>
                </a:solidFill>
                <a:latin typeface="Arial"/>
                <a:cs typeface="Arial"/>
              </a:rPr>
              <a:t>&lt;=</a:t>
            </a:r>
            <a:r>
              <a:rPr sz="24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&lt;statement&gt;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75175" y="2796666"/>
            <a:ext cx="3963670" cy="6838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5080" indent="-342900">
              <a:lnSpc>
                <a:spcPts val="2300"/>
              </a:lnSpc>
              <a:spcBef>
                <a:spcPts val="660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inputs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stored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once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rig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ed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5175" y="3821048"/>
            <a:ext cx="3522979" cy="6838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5080" indent="-342900">
              <a:lnSpc>
                <a:spcPts val="2300"/>
              </a:lnSpc>
              <a:spcBef>
                <a:spcPts val="660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te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ecut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 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parallel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5175" y="4844872"/>
            <a:ext cx="3935729" cy="68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595"/>
              </a:lnSpc>
              <a:spcBef>
                <a:spcPts val="100"/>
              </a:spcBef>
              <a:buClr>
                <a:srgbClr val="EDEBE0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flip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-flop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tche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ts val="2595"/>
              </a:lnSpc>
            </a:pP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5994" y="5717235"/>
            <a:ext cx="42430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204" dirty="0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sz="2400" b="1" spc="-270" dirty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b="1" spc="-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-300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b="1" spc="-265" dirty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b="1" spc="-80" dirty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2400" b="1" spc="-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-330" dirty="0">
                <a:solidFill>
                  <a:srgbClr val="008000"/>
                </a:solidFill>
                <a:latin typeface="Arial"/>
                <a:cs typeface="Arial"/>
              </a:rPr>
              <a:t>m</a:t>
            </a:r>
            <a:r>
              <a:rPr sz="2400" b="1" spc="-225" dirty="0">
                <a:solidFill>
                  <a:srgbClr val="008000"/>
                </a:solidFill>
                <a:latin typeface="Arial"/>
                <a:cs typeface="Arial"/>
              </a:rPr>
              <a:t>ix</a:t>
            </a:r>
            <a:r>
              <a:rPr sz="2400" b="1" spc="-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-300" dirty="0">
                <a:solidFill>
                  <a:srgbClr val="008000"/>
                </a:solidFill>
                <a:latin typeface="Arial"/>
                <a:cs typeface="Arial"/>
              </a:rPr>
              <a:t>b</a:t>
            </a:r>
            <a:r>
              <a:rPr sz="2400" b="1" spc="-265" dirty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b="1" spc="-75" dirty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2400" b="1" spc="-310" dirty="0">
                <a:solidFill>
                  <a:srgbClr val="008000"/>
                </a:solidFill>
                <a:latin typeface="Arial"/>
                <a:cs typeface="Arial"/>
              </a:rPr>
              <a:t>h</a:t>
            </a:r>
            <a:r>
              <a:rPr sz="2400" b="1" spc="-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-455"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sz="2400" b="1" spc="-445" dirty="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sz="2400" b="1" spc="-570" dirty="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sz="2400" b="1" spc="-180" dirty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2400" b="1" spc="-385" dirty="0">
                <a:solidFill>
                  <a:srgbClr val="008000"/>
                </a:solidFill>
                <a:latin typeface="Arial"/>
                <a:cs typeface="Arial"/>
              </a:rPr>
              <a:t>g</a:t>
            </a:r>
            <a:r>
              <a:rPr sz="2400" b="1" spc="-350" dirty="0">
                <a:solidFill>
                  <a:srgbClr val="008000"/>
                </a:solidFill>
                <a:latin typeface="Arial"/>
                <a:cs typeface="Arial"/>
              </a:rPr>
              <a:t>nm</a:t>
            </a:r>
            <a:r>
              <a:rPr sz="2400" b="1" spc="-250" dirty="0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sz="2400" b="1" spc="-320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b="1" spc="-75" dirty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2400" b="1" spc="-575" dirty="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sz="2400" b="1" spc="-4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-229" dirty="0">
                <a:solidFill>
                  <a:srgbClr val="008000"/>
                </a:solidFill>
                <a:latin typeface="Arial"/>
                <a:cs typeface="Arial"/>
              </a:rPr>
              <a:t>in</a:t>
            </a:r>
            <a:r>
              <a:rPr sz="2400" b="1" spc="-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-265" dirty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b="1" spc="-300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b="1" spc="-200" dirty="0">
                <a:solidFill>
                  <a:srgbClr val="008000"/>
                </a:solidFill>
                <a:latin typeface="Arial"/>
                <a:cs typeface="Arial"/>
              </a:rPr>
              <a:t>e  </a:t>
            </a:r>
            <a:r>
              <a:rPr sz="2400" b="1" spc="-254" dirty="0">
                <a:solidFill>
                  <a:srgbClr val="008000"/>
                </a:solidFill>
                <a:latin typeface="Arial"/>
                <a:cs typeface="Arial"/>
              </a:rPr>
              <a:t>procedure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51687" y="4008120"/>
            <a:ext cx="8597265" cy="2849880"/>
            <a:chOff x="551687" y="4008120"/>
            <a:chExt cx="8597265" cy="284988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355" y="4011168"/>
              <a:ext cx="3899916" cy="23362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1687" y="4008120"/>
              <a:ext cx="3457955" cy="23743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599" y="4038600"/>
              <a:ext cx="3810000" cy="224637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9740" y="1065324"/>
            <a:ext cx="8152130" cy="288861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B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KI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G </a:t>
            </a:r>
            <a:r>
              <a:rPr sz="2000" b="1" spc="-25" dirty="0">
                <a:solidFill>
                  <a:srgbClr val="C00000"/>
                </a:solidFill>
                <a:latin typeface="Constantia"/>
                <a:cs typeface="Constantia"/>
              </a:rPr>
              <a:t>S</a:t>
            </a:r>
            <a:r>
              <a:rPr sz="2000" b="1" spc="-10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-95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5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M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NT</a:t>
            </a:r>
            <a:r>
              <a:rPr sz="2000" b="1" spc="-9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 S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QUENTIA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spc="-7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B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K</a:t>
            </a:r>
            <a:endParaRPr sz="2000">
              <a:latin typeface="Constantia"/>
              <a:cs typeface="Constantia"/>
            </a:endParaRPr>
          </a:p>
          <a:p>
            <a:pPr marL="355600" marR="5080" indent="-3429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group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multiple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act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together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one.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There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are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two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types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blocks: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sequential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parallel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Font typeface="Wingdings"/>
              <a:buChar char=""/>
            </a:pPr>
            <a:endParaRPr sz="26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b="1" spc="-220" dirty="0">
                <a:solidFill>
                  <a:srgbClr val="006FC0"/>
                </a:solidFill>
                <a:latin typeface="Arial"/>
                <a:cs typeface="Arial"/>
              </a:rPr>
              <a:t>begin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b="1" spc="-210" dirty="0">
                <a:solidFill>
                  <a:srgbClr val="006FC0"/>
                </a:solidFill>
                <a:latin typeface="Arial"/>
                <a:cs typeface="Arial"/>
              </a:rPr>
              <a:t>end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group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into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sequential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blocks.</a:t>
            </a:r>
            <a:endParaRPr sz="18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q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tia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ll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owi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ter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s: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Font typeface="Wingdings"/>
              <a:buChar char=""/>
              <a:tabLst>
                <a:tab pos="756285" algn="l"/>
                <a:tab pos="756920" algn="l"/>
              </a:tabLst>
            </a:pPr>
            <a:r>
              <a:rPr sz="14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statements</a:t>
            </a:r>
            <a:r>
              <a:rPr sz="14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60" dirty="0">
                <a:solidFill>
                  <a:srgbClr val="00AF50"/>
                </a:solidFill>
                <a:latin typeface="Microsoft Sans Serif"/>
                <a:cs typeface="Microsoft Sans Serif"/>
              </a:rPr>
              <a:t>in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9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400" spc="-15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sequential</a:t>
            </a:r>
            <a:r>
              <a:rPr sz="14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block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are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processed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60" dirty="0">
                <a:solidFill>
                  <a:srgbClr val="00AF50"/>
                </a:solidFill>
                <a:latin typeface="Microsoft Sans Serif"/>
                <a:cs typeface="Microsoft Sans Serif"/>
              </a:rPr>
              <a:t>in</a:t>
            </a:r>
            <a:r>
              <a:rPr sz="1400" spc="-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order</a:t>
            </a:r>
            <a:r>
              <a:rPr sz="14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they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are</a:t>
            </a:r>
            <a:r>
              <a:rPr sz="14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specified</a:t>
            </a:r>
            <a:endParaRPr sz="1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lr>
                <a:srgbClr val="FF0000"/>
              </a:buClr>
              <a:buFont typeface="Wingdings"/>
              <a:buChar char=""/>
              <a:tabLst>
                <a:tab pos="756285" algn="l"/>
                <a:tab pos="756920" algn="l"/>
              </a:tabLst>
            </a:pPr>
            <a:r>
              <a:rPr sz="1400" spc="70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</a:t>
            </a:r>
            <a:r>
              <a:rPr sz="14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executed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only</a:t>
            </a:r>
            <a:r>
              <a:rPr sz="14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after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its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preceding</a:t>
            </a:r>
            <a:r>
              <a:rPr sz="14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completes</a:t>
            </a:r>
            <a:r>
              <a:rPr sz="14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00AF50"/>
                </a:solidFill>
                <a:latin typeface="Microsoft Sans Serif"/>
                <a:cs typeface="Microsoft Sans Serif"/>
              </a:rPr>
              <a:t>execution</a:t>
            </a:r>
            <a:endParaRPr sz="1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lr>
                <a:srgbClr val="FF0000"/>
              </a:buClr>
              <a:buFont typeface="Wingdings"/>
              <a:buChar char=""/>
              <a:tabLst>
                <a:tab pos="756285" algn="l"/>
                <a:tab pos="756920" algn="l"/>
              </a:tabLst>
            </a:pPr>
            <a:r>
              <a:rPr sz="14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If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delay</a:t>
            </a:r>
            <a:r>
              <a:rPr sz="14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40" dirty="0">
                <a:solidFill>
                  <a:srgbClr val="00AF50"/>
                </a:solidFill>
                <a:latin typeface="Microsoft Sans Serif"/>
                <a:cs typeface="Microsoft Sans Serif"/>
              </a:rPr>
              <a:t>or</a:t>
            </a:r>
            <a:r>
              <a:rPr sz="14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event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55" dirty="0">
                <a:solidFill>
                  <a:srgbClr val="00AF50"/>
                </a:solidFill>
                <a:latin typeface="Microsoft Sans Serif"/>
                <a:cs typeface="Microsoft Sans Serif"/>
              </a:rPr>
              <a:t>control</a:t>
            </a:r>
            <a:r>
              <a:rPr sz="1400" spc="-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specified,</a:t>
            </a:r>
            <a:r>
              <a:rPr sz="14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00AF50"/>
                </a:solidFill>
                <a:latin typeface="Microsoft Sans Serif"/>
                <a:cs typeface="Microsoft Sans Serif"/>
              </a:rPr>
              <a:t>it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relative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to</a:t>
            </a:r>
            <a:r>
              <a:rPr sz="14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90" dirty="0">
                <a:solidFill>
                  <a:srgbClr val="00AF50"/>
                </a:solidFill>
                <a:latin typeface="Microsoft Sans Serif"/>
                <a:cs typeface="Microsoft Sans Serif"/>
              </a:rPr>
              <a:t>simulation</a:t>
            </a:r>
            <a:r>
              <a:rPr sz="14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time</a:t>
            </a:r>
            <a:r>
              <a:rPr sz="14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when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previous</a:t>
            </a:r>
            <a:r>
              <a:rPr sz="1400" spc="-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</a:t>
            </a:r>
            <a:r>
              <a:rPr sz="14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in</a:t>
            </a:r>
            <a:r>
              <a:rPr sz="1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endParaRPr sz="14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</a:pP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b</a:t>
            </a:r>
            <a:r>
              <a:rPr sz="1400" spc="-20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4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4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ck</a:t>
            </a:r>
            <a:r>
              <a:rPr sz="14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4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m</a:t>
            </a:r>
            <a:r>
              <a:rPr sz="1400" spc="-75" dirty="0">
                <a:solidFill>
                  <a:srgbClr val="00AF50"/>
                </a:solidFill>
                <a:latin typeface="Microsoft Sans Serif"/>
                <a:cs typeface="Microsoft Sans Serif"/>
              </a:rPr>
              <a:t>p</a:t>
            </a:r>
            <a:r>
              <a:rPr sz="1400" spc="-20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et</a:t>
            </a:r>
            <a:r>
              <a:rPr sz="14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e</a:t>
            </a:r>
            <a:r>
              <a:rPr sz="14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d</a:t>
            </a:r>
            <a:r>
              <a:rPr sz="14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4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e</a:t>
            </a:r>
            <a:r>
              <a:rPr sz="14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x</a:t>
            </a:r>
            <a:r>
              <a:rPr sz="14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e</a:t>
            </a:r>
            <a:r>
              <a:rPr sz="14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u</a:t>
            </a:r>
            <a:r>
              <a:rPr sz="140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4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i</a:t>
            </a:r>
            <a:r>
              <a:rPr sz="1400" spc="-80" dirty="0">
                <a:solidFill>
                  <a:srgbClr val="00AF50"/>
                </a:solidFill>
                <a:latin typeface="Microsoft Sans Serif"/>
                <a:cs typeface="Microsoft Sans Serif"/>
              </a:rPr>
              <a:t>o</a:t>
            </a:r>
            <a:r>
              <a:rPr sz="1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600" y="4038600"/>
            <a:ext cx="3810000" cy="224663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 marR="549910">
              <a:lnSpc>
                <a:spcPct val="100000"/>
              </a:lnSpc>
              <a:spcBef>
                <a:spcPts val="215"/>
              </a:spcBef>
            </a:pPr>
            <a:r>
              <a:rPr sz="1400" spc="55" dirty="0">
                <a:latin typeface="Microsoft Sans Serif"/>
                <a:cs typeface="Microsoft Sans Serif"/>
              </a:rPr>
              <a:t>//I</a:t>
            </a:r>
            <a:r>
              <a:rPr sz="1400" spc="35" dirty="0">
                <a:latin typeface="Microsoft Sans Serif"/>
                <a:cs typeface="Microsoft Sans Serif"/>
              </a:rPr>
              <a:t>l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75" dirty="0">
                <a:latin typeface="Microsoft Sans Serif"/>
                <a:cs typeface="Microsoft Sans Serif"/>
              </a:rPr>
              <a:t>strat</a:t>
            </a:r>
            <a:r>
              <a:rPr sz="1400" spc="-55" dirty="0">
                <a:latin typeface="Microsoft Sans Serif"/>
                <a:cs typeface="Microsoft Sans Serif"/>
              </a:rPr>
              <a:t>i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1</a:t>
            </a:r>
            <a:r>
              <a:rPr sz="1400" spc="-5" dirty="0">
                <a:latin typeface="Microsoft Sans Serif"/>
                <a:cs typeface="Microsoft Sans Serif"/>
              </a:rPr>
              <a:t>: </a:t>
            </a:r>
            <a:r>
              <a:rPr sz="1400" spc="-280" dirty="0">
                <a:latin typeface="Microsoft Sans Serif"/>
                <a:cs typeface="Microsoft Sans Serif"/>
              </a:rPr>
              <a:t>S</a:t>
            </a: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q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n</a:t>
            </a:r>
            <a:r>
              <a:rPr sz="1400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i</a:t>
            </a:r>
            <a:r>
              <a:rPr sz="1400" spc="-105" dirty="0">
                <a:latin typeface="Microsoft Sans Serif"/>
                <a:cs typeface="Microsoft Sans Serif"/>
              </a:rPr>
              <a:t>al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b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5" dirty="0">
                <a:latin typeface="Microsoft Sans Serif"/>
                <a:cs typeface="Microsoft Sans Serif"/>
              </a:rPr>
              <a:t>ck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10" dirty="0">
                <a:latin typeface="Microsoft Sans Serif"/>
                <a:cs typeface="Microsoft Sans Serif"/>
              </a:rPr>
              <a:t>w</a:t>
            </a:r>
            <a:r>
              <a:rPr sz="1400" spc="-45" dirty="0">
                <a:latin typeface="Microsoft Sans Serif"/>
                <a:cs typeface="Microsoft Sans Serif"/>
              </a:rPr>
              <a:t>i</a:t>
            </a:r>
            <a:r>
              <a:rPr sz="1400" spc="-30" dirty="0">
                <a:latin typeface="Microsoft Sans Serif"/>
                <a:cs typeface="Microsoft Sans Serif"/>
              </a:rPr>
              <a:t>t</a:t>
            </a:r>
            <a:r>
              <a:rPr sz="1400" spc="-45" dirty="0">
                <a:latin typeface="Microsoft Sans Serif"/>
                <a:cs typeface="Microsoft Sans Serif"/>
              </a:rPr>
              <a:t>h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105" dirty="0">
                <a:latin typeface="Microsoft Sans Serif"/>
                <a:cs typeface="Microsoft Sans Serif"/>
              </a:rPr>
              <a:t>elay  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X,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60" dirty="0">
                <a:latin typeface="Microsoft Sans Serif"/>
                <a:cs typeface="Microsoft Sans Serif"/>
              </a:rPr>
              <a:t>Y;</a:t>
            </a:r>
            <a:endParaRPr sz="1400">
              <a:latin typeface="Microsoft Sans Serif"/>
              <a:cs typeface="Microsoft Sans Serif"/>
            </a:endParaRPr>
          </a:p>
          <a:p>
            <a:pPr marL="91440" marR="2799715">
              <a:lnSpc>
                <a:spcPct val="100000"/>
              </a:lnSpc>
            </a:pP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10" dirty="0">
                <a:latin typeface="Microsoft Sans Serif"/>
                <a:cs typeface="Microsoft Sans Serif"/>
              </a:rPr>
              <a:t>[1:0</a:t>
            </a:r>
            <a:r>
              <a:rPr sz="1400" spc="-70" dirty="0">
                <a:latin typeface="Microsoft Sans Serif"/>
                <a:cs typeface="Microsoft Sans Serif"/>
              </a:rPr>
              <a:t>]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145" dirty="0">
                <a:latin typeface="Microsoft Sans Serif"/>
                <a:cs typeface="Microsoft Sans Serif"/>
              </a:rPr>
              <a:t>z,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55" dirty="0">
                <a:latin typeface="Microsoft Sans Serif"/>
                <a:cs typeface="Microsoft Sans Serif"/>
              </a:rPr>
              <a:t>w;  </a:t>
            </a:r>
            <a:r>
              <a:rPr sz="1400" spc="-50" dirty="0">
                <a:latin typeface="Microsoft Sans Serif"/>
                <a:cs typeface="Microsoft Sans Serif"/>
              </a:rPr>
              <a:t>initial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spc="-140" dirty="0">
                <a:latin typeface="Microsoft Sans Serif"/>
                <a:cs typeface="Microsoft Sans Serif"/>
              </a:rPr>
              <a:t>Begin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spc="-95" dirty="0">
                <a:latin typeface="Microsoft Sans Serif"/>
                <a:cs typeface="Microsoft Sans Serif"/>
              </a:rPr>
              <a:t>x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=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l'</a:t>
            </a:r>
            <a:r>
              <a:rPr sz="1400" spc="-65" dirty="0">
                <a:latin typeface="Microsoft Sans Serif"/>
                <a:cs typeface="Microsoft Sans Serif"/>
              </a:rPr>
              <a:t>b</a:t>
            </a:r>
            <a:r>
              <a:rPr sz="1400" spc="5" dirty="0">
                <a:latin typeface="Microsoft Sans Serif"/>
                <a:cs typeface="Microsoft Sans Serif"/>
              </a:rPr>
              <a:t>O;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spc="-70" dirty="0">
                <a:latin typeface="Microsoft Sans Serif"/>
                <a:cs typeface="Microsoft Sans Serif"/>
              </a:rPr>
              <a:t>y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10" dirty="0">
                <a:latin typeface="Microsoft Sans Serif"/>
                <a:cs typeface="Microsoft Sans Serif"/>
              </a:rPr>
              <a:t>‘b</a:t>
            </a:r>
            <a:r>
              <a:rPr sz="1400" spc="-200" dirty="0">
                <a:latin typeface="Microsoft Sans Serif"/>
                <a:cs typeface="Microsoft Sans Serif"/>
              </a:rPr>
              <a:t>1</a:t>
            </a:r>
            <a:r>
              <a:rPr sz="1400" spc="-5" dirty="0">
                <a:latin typeface="Microsoft Sans Serif"/>
                <a:cs typeface="Microsoft Sans Serif"/>
              </a:rPr>
              <a:t>;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ts val="1655"/>
              </a:lnSpc>
            </a:pPr>
            <a:r>
              <a:rPr sz="1400" spc="-210" dirty="0">
                <a:latin typeface="Microsoft Sans Serif"/>
                <a:cs typeface="Microsoft Sans Serif"/>
              </a:rPr>
              <a:t>z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10" dirty="0">
                <a:latin typeface="Microsoft Sans Serif"/>
                <a:cs typeface="Microsoft Sans Serif"/>
              </a:rPr>
              <a:t>{x,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y};</a:t>
            </a:r>
            <a:endParaRPr sz="1400">
              <a:latin typeface="Microsoft Sans Serif"/>
              <a:cs typeface="Microsoft Sans Serif"/>
            </a:endParaRPr>
          </a:p>
          <a:p>
            <a:pPr marL="91440" marR="2924810">
              <a:lnSpc>
                <a:spcPts val="1680"/>
              </a:lnSpc>
              <a:spcBef>
                <a:spcPts val="85"/>
              </a:spcBef>
            </a:pPr>
            <a:r>
              <a:rPr sz="1400" spc="-125" dirty="0">
                <a:latin typeface="Microsoft Sans Serif"/>
                <a:cs typeface="Microsoft Sans Serif"/>
              </a:rPr>
              <a:t>w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20" dirty="0">
                <a:latin typeface="Microsoft Sans Serif"/>
                <a:cs typeface="Microsoft Sans Serif"/>
              </a:rPr>
              <a:t>{y,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60" dirty="0">
                <a:latin typeface="Microsoft Sans Serif"/>
                <a:cs typeface="Microsoft Sans Serif"/>
              </a:rPr>
              <a:t>x</a:t>
            </a:r>
            <a:r>
              <a:rPr sz="1400" spc="45" dirty="0">
                <a:latin typeface="Microsoft Sans Serif"/>
                <a:cs typeface="Microsoft Sans Serif"/>
              </a:rPr>
              <a:t>}</a:t>
            </a:r>
            <a:r>
              <a:rPr sz="1450" i="1" spc="-15" dirty="0">
                <a:latin typeface="Arial"/>
                <a:cs typeface="Arial"/>
              </a:rPr>
              <a:t>;  </a:t>
            </a:r>
            <a:r>
              <a:rPr sz="1400" spc="-135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90288" y="4084320"/>
            <a:ext cx="3987165" cy="2374900"/>
            <a:chOff x="4590288" y="4084320"/>
            <a:chExt cx="3987165" cy="237490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00956" y="4087368"/>
              <a:ext cx="3976115" cy="23362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90288" y="4084320"/>
              <a:ext cx="3642360" cy="23743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48200" y="4114800"/>
              <a:ext cx="3886200" cy="224637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648200" y="4114800"/>
            <a:ext cx="3886200" cy="224663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075" marR="798830">
              <a:lnSpc>
                <a:spcPct val="100000"/>
              </a:lnSpc>
              <a:spcBef>
                <a:spcPts val="215"/>
              </a:spcBef>
            </a:pPr>
            <a:r>
              <a:rPr sz="1400" spc="55" dirty="0">
                <a:latin typeface="Microsoft Sans Serif"/>
                <a:cs typeface="Microsoft Sans Serif"/>
              </a:rPr>
              <a:t>//I</a:t>
            </a:r>
            <a:r>
              <a:rPr sz="1400" spc="35" dirty="0">
                <a:latin typeface="Microsoft Sans Serif"/>
                <a:cs typeface="Microsoft Sans Serif"/>
              </a:rPr>
              <a:t>l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75" dirty="0">
                <a:latin typeface="Microsoft Sans Serif"/>
                <a:cs typeface="Microsoft Sans Serif"/>
              </a:rPr>
              <a:t>strat</a:t>
            </a:r>
            <a:r>
              <a:rPr sz="1400" spc="-55" dirty="0">
                <a:latin typeface="Microsoft Sans Serif"/>
                <a:cs typeface="Microsoft Sans Serif"/>
              </a:rPr>
              <a:t>i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spc="-5" dirty="0">
                <a:latin typeface="Microsoft Sans Serif"/>
                <a:cs typeface="Microsoft Sans Serif"/>
              </a:rPr>
              <a:t>: </a:t>
            </a:r>
            <a:r>
              <a:rPr sz="1400" spc="-280" dirty="0">
                <a:latin typeface="Microsoft Sans Serif"/>
                <a:cs typeface="Microsoft Sans Serif"/>
              </a:rPr>
              <a:t>S</a:t>
            </a: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q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n</a:t>
            </a:r>
            <a:r>
              <a:rPr sz="1400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i</a:t>
            </a:r>
            <a:r>
              <a:rPr sz="1400" spc="-105" dirty="0">
                <a:latin typeface="Microsoft Sans Serif"/>
                <a:cs typeface="Microsoft Sans Serif"/>
              </a:rPr>
              <a:t>al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b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5" dirty="0">
                <a:latin typeface="Microsoft Sans Serif"/>
                <a:cs typeface="Microsoft Sans Serif"/>
              </a:rPr>
              <a:t>c</a:t>
            </a:r>
            <a:r>
              <a:rPr sz="1400" spc="-100" dirty="0">
                <a:latin typeface="Microsoft Sans Serif"/>
                <a:cs typeface="Microsoft Sans Serif"/>
              </a:rPr>
              <a:t>k</a:t>
            </a:r>
            <a:r>
              <a:rPr sz="1400" spc="-260" dirty="0">
                <a:latin typeface="Microsoft Sans Serif"/>
                <a:cs typeface="Microsoft Sans Serif"/>
              </a:rPr>
              <a:t>s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10" dirty="0">
                <a:latin typeface="Microsoft Sans Serif"/>
                <a:cs typeface="Microsoft Sans Serif"/>
              </a:rPr>
              <a:t>w</a:t>
            </a:r>
            <a:r>
              <a:rPr sz="1400" spc="-45" dirty="0">
                <a:latin typeface="Microsoft Sans Serif"/>
                <a:cs typeface="Microsoft Sans Serif"/>
              </a:rPr>
              <a:t>i</a:t>
            </a:r>
            <a:r>
              <a:rPr sz="1400" spc="-30" dirty="0">
                <a:latin typeface="Microsoft Sans Serif"/>
                <a:cs typeface="Microsoft Sans Serif"/>
              </a:rPr>
              <a:t>t</a:t>
            </a:r>
            <a:r>
              <a:rPr sz="1400" spc="-45" dirty="0">
                <a:latin typeface="Microsoft Sans Serif"/>
                <a:cs typeface="Microsoft Sans Serif"/>
              </a:rPr>
              <a:t>h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105" dirty="0">
                <a:latin typeface="Microsoft Sans Serif"/>
                <a:cs typeface="Microsoft Sans Serif"/>
              </a:rPr>
              <a:t>elay  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14" dirty="0">
                <a:latin typeface="Microsoft Sans Serif"/>
                <a:cs typeface="Microsoft Sans Serif"/>
              </a:rPr>
              <a:t>x</a:t>
            </a:r>
            <a:r>
              <a:rPr sz="1400" spc="-65" dirty="0">
                <a:latin typeface="Microsoft Sans Serif"/>
                <a:cs typeface="Microsoft Sans Serif"/>
              </a:rPr>
              <a:t>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y;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ts val="1685"/>
              </a:lnSpc>
            </a:pP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10" dirty="0">
                <a:latin typeface="Microsoft Sans Serif"/>
                <a:cs typeface="Microsoft Sans Serif"/>
              </a:rPr>
              <a:t>[1:0</a:t>
            </a:r>
            <a:r>
              <a:rPr sz="1400" spc="-70" dirty="0">
                <a:latin typeface="Microsoft Sans Serif"/>
                <a:cs typeface="Microsoft Sans Serif"/>
              </a:rPr>
              <a:t>]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50" i="1" spc="-235" dirty="0">
                <a:latin typeface="Arial"/>
                <a:cs typeface="Arial"/>
              </a:rPr>
              <a:t>z</a:t>
            </a:r>
            <a:r>
              <a:rPr sz="1450" i="1" spc="-20" dirty="0">
                <a:latin typeface="Arial"/>
                <a:cs typeface="Arial"/>
              </a:rPr>
              <a:t> </a:t>
            </a:r>
            <a:r>
              <a:rPr sz="1450" i="1" spc="-95" dirty="0">
                <a:latin typeface="Arial"/>
                <a:cs typeface="Arial"/>
              </a:rPr>
              <a:t>,</a:t>
            </a:r>
            <a:r>
              <a:rPr sz="1450" i="1" spc="-15" dirty="0">
                <a:latin typeface="Arial"/>
                <a:cs typeface="Arial"/>
              </a:rPr>
              <a:t> </a:t>
            </a:r>
            <a:r>
              <a:rPr sz="1450" i="1" spc="-95" dirty="0">
                <a:latin typeface="Arial"/>
                <a:cs typeface="Arial"/>
              </a:rPr>
              <a:t>w;</a:t>
            </a:r>
            <a:endParaRPr sz="1450">
              <a:latin typeface="Arial"/>
              <a:cs typeface="Arial"/>
            </a:endParaRPr>
          </a:p>
          <a:p>
            <a:pPr marL="92075" marR="3418840">
              <a:lnSpc>
                <a:spcPts val="1680"/>
              </a:lnSpc>
              <a:spcBef>
                <a:spcPts val="50"/>
              </a:spcBef>
            </a:pP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i</a:t>
            </a:r>
            <a:r>
              <a:rPr sz="1400" spc="-90" dirty="0">
                <a:latin typeface="Microsoft Sans Serif"/>
                <a:cs typeface="Microsoft Sans Serif"/>
              </a:rPr>
              <a:t>al  </a:t>
            </a:r>
            <a:r>
              <a:rPr sz="1400" spc="-100" dirty="0">
                <a:latin typeface="Microsoft Sans Serif"/>
                <a:cs typeface="Microsoft Sans Serif"/>
              </a:rPr>
              <a:t>b</a:t>
            </a:r>
            <a:r>
              <a:rPr sz="1400" spc="-180" dirty="0">
                <a:latin typeface="Microsoft Sans Serif"/>
                <a:cs typeface="Microsoft Sans Serif"/>
              </a:rPr>
              <a:t>e</a:t>
            </a:r>
            <a:r>
              <a:rPr sz="1400" spc="-170" dirty="0">
                <a:latin typeface="Microsoft Sans Serif"/>
                <a:cs typeface="Microsoft Sans Serif"/>
              </a:rPr>
              <a:t>g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ts val="1625"/>
              </a:lnSpc>
              <a:tabLst>
                <a:tab pos="1006475" algn="l"/>
              </a:tabLst>
            </a:pPr>
            <a:r>
              <a:rPr sz="1400" spc="-95" dirty="0">
                <a:latin typeface="Microsoft Sans Serif"/>
                <a:cs typeface="Microsoft Sans Serif"/>
              </a:rPr>
              <a:t>x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=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l'</a:t>
            </a:r>
            <a:r>
              <a:rPr sz="1400" spc="-65" dirty="0">
                <a:latin typeface="Microsoft Sans Serif"/>
                <a:cs typeface="Microsoft Sans Serif"/>
              </a:rPr>
              <a:t>b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dirty="0">
                <a:latin typeface="Microsoft Sans Serif"/>
                <a:cs typeface="Microsoft Sans Serif"/>
              </a:rPr>
              <a:t>;	</a:t>
            </a:r>
            <a:r>
              <a:rPr sz="1400" spc="10" dirty="0">
                <a:latin typeface="Microsoft Sans Serif"/>
                <a:cs typeface="Microsoft Sans Serif"/>
              </a:rPr>
              <a:t>//co</a:t>
            </a:r>
            <a:r>
              <a:rPr sz="1400" spc="-95" dirty="0">
                <a:latin typeface="Microsoft Sans Serif"/>
                <a:cs typeface="Microsoft Sans Serif"/>
              </a:rPr>
              <a:t>mp</a:t>
            </a:r>
            <a:r>
              <a:rPr sz="1400" spc="-25" dirty="0">
                <a:latin typeface="Microsoft Sans Serif"/>
                <a:cs typeface="Microsoft Sans Serif"/>
              </a:rPr>
              <a:t>l</a:t>
            </a:r>
            <a:r>
              <a:rPr sz="1400" spc="-145" dirty="0">
                <a:latin typeface="Microsoft Sans Serif"/>
                <a:cs typeface="Microsoft Sans Serif"/>
              </a:rPr>
              <a:t>ete</a:t>
            </a:r>
            <a:r>
              <a:rPr sz="1400" spc="-150" dirty="0">
                <a:latin typeface="Microsoft Sans Serif"/>
                <a:cs typeface="Microsoft Sans Serif"/>
              </a:rPr>
              <a:t>s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at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185" dirty="0">
                <a:latin typeface="Microsoft Sans Serif"/>
                <a:cs typeface="Microsoft Sans Serif"/>
              </a:rPr>
              <a:t>s</a:t>
            </a:r>
            <a:r>
              <a:rPr sz="1400" spc="-95" dirty="0">
                <a:latin typeface="Microsoft Sans Serif"/>
                <a:cs typeface="Microsoft Sans Serif"/>
              </a:rPr>
              <a:t>i</a:t>
            </a:r>
            <a:r>
              <a:rPr sz="1400" spc="-110" dirty="0">
                <a:latin typeface="Microsoft Sans Serif"/>
                <a:cs typeface="Microsoft Sans Serif"/>
              </a:rPr>
              <a:t>mu</a:t>
            </a:r>
            <a:r>
              <a:rPr sz="1400" spc="-25" dirty="0">
                <a:latin typeface="Microsoft Sans Serif"/>
                <a:cs typeface="Microsoft Sans Serif"/>
              </a:rPr>
              <a:t>l</a:t>
            </a:r>
            <a:r>
              <a:rPr sz="1400" spc="-70" dirty="0">
                <a:latin typeface="Microsoft Sans Serif"/>
                <a:cs typeface="Microsoft Sans Serif"/>
              </a:rPr>
              <a:t>at</a:t>
            </a:r>
            <a:r>
              <a:rPr sz="1400" spc="-45" dirty="0">
                <a:latin typeface="Microsoft Sans Serif"/>
                <a:cs typeface="Microsoft Sans Serif"/>
              </a:rPr>
              <a:t>i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5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i</a:t>
            </a:r>
            <a:r>
              <a:rPr sz="1400" spc="-145" dirty="0">
                <a:latin typeface="Microsoft Sans Serif"/>
                <a:cs typeface="Microsoft Sans Serif"/>
              </a:rPr>
              <a:t>me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195" dirty="0">
                <a:latin typeface="Microsoft Sans Serif"/>
                <a:cs typeface="Microsoft Sans Serif"/>
              </a:rPr>
              <a:t>0</a:t>
            </a:r>
            <a:endParaRPr sz="1400">
              <a:latin typeface="Microsoft Sans Serif"/>
              <a:cs typeface="Microsoft Sans Serif"/>
            </a:endParaRPr>
          </a:p>
          <a:p>
            <a:pPr marL="92075" marR="438784">
              <a:lnSpc>
                <a:spcPts val="1680"/>
              </a:lnSpc>
              <a:spcBef>
                <a:spcPts val="60"/>
              </a:spcBef>
              <a:tabLst>
                <a:tab pos="1055370" algn="l"/>
              </a:tabLst>
            </a:pPr>
            <a:r>
              <a:rPr sz="1400" spc="-200" dirty="0">
                <a:latin typeface="Microsoft Sans Serif"/>
                <a:cs typeface="Microsoft Sans Serif"/>
              </a:rPr>
              <a:t>#5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y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30" dirty="0">
                <a:latin typeface="Microsoft Sans Serif"/>
                <a:cs typeface="Microsoft Sans Serif"/>
              </a:rPr>
              <a:t>l'bl;	</a:t>
            </a:r>
            <a:r>
              <a:rPr sz="1400" spc="-70" dirty="0">
                <a:latin typeface="Microsoft Sans Serif"/>
                <a:cs typeface="Microsoft Sans Serif"/>
              </a:rPr>
              <a:t>//completes </a:t>
            </a:r>
            <a:r>
              <a:rPr sz="1400" spc="-85" dirty="0">
                <a:latin typeface="Microsoft Sans Serif"/>
                <a:cs typeface="Microsoft Sans Serif"/>
              </a:rPr>
              <a:t>at</a:t>
            </a:r>
            <a:r>
              <a:rPr sz="1400" spc="-8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simulation </a:t>
            </a:r>
            <a:r>
              <a:rPr sz="1400" spc="-75" dirty="0">
                <a:latin typeface="Microsoft Sans Serif"/>
                <a:cs typeface="Microsoft Sans Serif"/>
              </a:rPr>
              <a:t>time</a:t>
            </a:r>
            <a:r>
              <a:rPr sz="1400" spc="225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5 </a:t>
            </a:r>
            <a:r>
              <a:rPr sz="1400" spc="-195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#10</a:t>
            </a:r>
            <a:r>
              <a:rPr sz="1400" spc="-195" dirty="0">
                <a:latin typeface="Microsoft Sans Serif"/>
                <a:cs typeface="Microsoft Sans Serif"/>
              </a:rPr>
              <a:t> </a:t>
            </a:r>
            <a:r>
              <a:rPr sz="1400" spc="-210" dirty="0">
                <a:latin typeface="Microsoft Sans Serif"/>
                <a:cs typeface="Microsoft Sans Serif"/>
              </a:rPr>
              <a:t>z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 </a:t>
            </a:r>
            <a:r>
              <a:rPr sz="1400" spc="10" dirty="0">
                <a:latin typeface="Microsoft Sans Serif"/>
                <a:cs typeface="Microsoft Sans Serif"/>
              </a:rPr>
              <a:t>{x, </a:t>
            </a:r>
            <a:r>
              <a:rPr sz="1400" spc="40" dirty="0">
                <a:latin typeface="Microsoft Sans Serif"/>
                <a:cs typeface="Microsoft Sans Serif"/>
              </a:rPr>
              <a:t>y}; </a:t>
            </a:r>
            <a:r>
              <a:rPr sz="1400" spc="-70" dirty="0">
                <a:latin typeface="Microsoft Sans Serif"/>
                <a:cs typeface="Microsoft Sans Serif"/>
              </a:rPr>
              <a:t>//completes </a:t>
            </a:r>
            <a:r>
              <a:rPr sz="1400" spc="-85" dirty="0">
                <a:latin typeface="Microsoft Sans Serif"/>
                <a:cs typeface="Microsoft Sans Serif"/>
              </a:rPr>
              <a:t>at</a:t>
            </a:r>
            <a:r>
              <a:rPr sz="1400" spc="-8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simulation </a:t>
            </a:r>
            <a:r>
              <a:rPr sz="1400" spc="-75" dirty="0">
                <a:latin typeface="Microsoft Sans Serif"/>
                <a:cs typeface="Microsoft Sans Serif"/>
              </a:rPr>
              <a:t>time </a:t>
            </a:r>
            <a:r>
              <a:rPr sz="1400" spc="-200" dirty="0">
                <a:latin typeface="Microsoft Sans Serif"/>
                <a:cs typeface="Microsoft Sans Serif"/>
              </a:rPr>
              <a:t>15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#20</a:t>
            </a:r>
            <a:r>
              <a:rPr sz="1400" spc="-195" dirty="0">
                <a:latin typeface="Microsoft Sans Serif"/>
                <a:cs typeface="Microsoft Sans Serif"/>
              </a:rPr>
              <a:t> </a:t>
            </a:r>
            <a:r>
              <a:rPr sz="1400" spc="-125" dirty="0">
                <a:latin typeface="Microsoft Sans Serif"/>
                <a:cs typeface="Microsoft Sans Serif"/>
              </a:rPr>
              <a:t>w</a:t>
            </a:r>
            <a:r>
              <a:rPr sz="1400" spc="-120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 </a:t>
            </a:r>
            <a:r>
              <a:rPr sz="1400" spc="20" dirty="0">
                <a:latin typeface="Microsoft Sans Serif"/>
                <a:cs typeface="Microsoft Sans Serif"/>
              </a:rPr>
              <a:t>{y, </a:t>
            </a:r>
            <a:r>
              <a:rPr sz="1450" i="1" spc="-95" dirty="0">
                <a:latin typeface="Arial"/>
                <a:cs typeface="Arial"/>
              </a:rPr>
              <a:t>x); </a:t>
            </a:r>
            <a:r>
              <a:rPr sz="1450" i="1" spc="-90" dirty="0">
                <a:latin typeface="Arial"/>
                <a:cs typeface="Arial"/>
              </a:rPr>
              <a:t>//completes </a:t>
            </a:r>
            <a:r>
              <a:rPr sz="1450" i="1" spc="-105" dirty="0">
                <a:latin typeface="Arial"/>
                <a:cs typeface="Arial"/>
              </a:rPr>
              <a:t>at</a:t>
            </a:r>
            <a:r>
              <a:rPr sz="1450" i="1" spc="-100" dirty="0">
                <a:latin typeface="Arial"/>
                <a:cs typeface="Arial"/>
              </a:rPr>
              <a:t> </a:t>
            </a:r>
            <a:r>
              <a:rPr sz="1450" i="1" spc="-110" dirty="0">
                <a:latin typeface="Arial"/>
                <a:cs typeface="Arial"/>
              </a:rPr>
              <a:t>simulation </a:t>
            </a:r>
            <a:r>
              <a:rPr sz="1450" i="1" spc="-95" dirty="0">
                <a:latin typeface="Arial"/>
                <a:cs typeface="Arial"/>
              </a:rPr>
              <a:t>time </a:t>
            </a:r>
            <a:r>
              <a:rPr sz="1450" i="1" spc="-225" dirty="0">
                <a:latin typeface="Arial"/>
                <a:cs typeface="Arial"/>
              </a:rPr>
              <a:t>35 </a:t>
            </a:r>
            <a:r>
              <a:rPr sz="1450" i="1" spc="-390" dirty="0">
                <a:latin typeface="Arial"/>
                <a:cs typeface="Arial"/>
              </a:rPr>
              <a:t> </a:t>
            </a:r>
            <a:r>
              <a:rPr sz="1400" spc="-120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87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2640" y="4134992"/>
            <a:ext cx="10502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important.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4789911"/>
            <a:ext cx="4425315" cy="13531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61315" marR="5080" indent="-349250">
              <a:lnSpc>
                <a:spcPct val="106500"/>
              </a:lnSpc>
              <a:spcBef>
                <a:spcPts val="7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simulation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remain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same 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cep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ent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sta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100" i="1" spc="-250" dirty="0">
                <a:solidFill>
                  <a:srgbClr val="006FC0"/>
                </a:solidFill>
                <a:latin typeface="Arial"/>
                <a:cs typeface="Arial"/>
              </a:rPr>
              <a:t>p</a:t>
            </a:r>
            <a:r>
              <a:rPr sz="2100" i="1" spc="-24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100" i="1" spc="-14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100" i="1" spc="-22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100" i="1" spc="-85" dirty="0">
                <a:solidFill>
                  <a:srgbClr val="006FC0"/>
                </a:solidFill>
                <a:latin typeface="Arial"/>
                <a:cs typeface="Arial"/>
              </a:rPr>
              <a:t>ll</a:t>
            </a:r>
            <a:r>
              <a:rPr sz="2100" i="1" spc="-21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100" i="1" spc="-40" dirty="0">
                <a:solidFill>
                  <a:srgbClr val="006FC0"/>
                </a:solidFill>
                <a:latin typeface="Arial"/>
                <a:cs typeface="Arial"/>
              </a:rPr>
              <a:t>l  </a:t>
            </a:r>
            <a:r>
              <a:rPr sz="2100" i="1" spc="-160" dirty="0">
                <a:solidFill>
                  <a:srgbClr val="006FC0"/>
                </a:solidFill>
                <a:latin typeface="Arial"/>
                <a:cs typeface="Arial"/>
              </a:rPr>
              <a:t>at</a:t>
            </a:r>
            <a:r>
              <a:rPr sz="2100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i="1" spc="-55" dirty="0">
                <a:solidFill>
                  <a:srgbClr val="006FC0"/>
                </a:solidFill>
                <a:latin typeface="Arial"/>
                <a:cs typeface="Arial"/>
              </a:rPr>
              <a:t>ti</a:t>
            </a:r>
            <a:r>
              <a:rPr sz="2100" i="1" spc="-17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100" i="1" spc="-300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100" b="1" i="1" spc="-335" dirty="0">
                <a:solidFill>
                  <a:srgbClr val="006FC0"/>
                </a:solidFill>
                <a:latin typeface="Arial"/>
                <a:cs typeface="Arial"/>
              </a:rPr>
              <a:t>0</a:t>
            </a:r>
            <a:r>
              <a:rPr sz="2100" i="1" spc="-145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r>
              <a:rPr sz="2100" i="1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Hence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bl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ck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finishe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at 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0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inst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35.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740" y="1087729"/>
            <a:ext cx="8041005" cy="31038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76200" algn="ctr">
              <a:lnSpc>
                <a:spcPct val="100000"/>
              </a:lnSpc>
              <a:spcBef>
                <a:spcPts val="265"/>
              </a:spcBef>
            </a:pP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B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KI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N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G </a:t>
            </a:r>
            <a:r>
              <a:rPr sz="2000" b="1" spc="-25" dirty="0">
                <a:solidFill>
                  <a:srgbClr val="C00000"/>
                </a:solidFill>
                <a:latin typeface="Constantia"/>
                <a:cs typeface="Constantia"/>
              </a:rPr>
              <a:t>S</a:t>
            </a:r>
            <a:r>
              <a:rPr sz="2000" b="1" spc="-10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-95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5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M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NT</a:t>
            </a:r>
            <a:r>
              <a:rPr sz="2000" b="1" spc="-9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50" dirty="0">
                <a:solidFill>
                  <a:srgbClr val="C00000"/>
                </a:solidFill>
                <a:latin typeface="Constantia"/>
                <a:cs typeface="Constantia"/>
              </a:rPr>
              <a:t>P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ALLE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L </a:t>
            </a:r>
            <a:r>
              <a:rPr sz="2000" b="1" spc="-7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B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OCK</a:t>
            </a:r>
            <a:endParaRPr sz="2000">
              <a:latin typeface="Constantia"/>
              <a:cs typeface="Constantia"/>
            </a:endParaRPr>
          </a:p>
          <a:p>
            <a:pPr marL="355600" marR="800735" indent="-342900">
              <a:lnSpc>
                <a:spcPts val="2160"/>
              </a:lnSpc>
              <a:spcBef>
                <a:spcPts val="434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Parallel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specified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keywords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fork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join,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provide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interesting </a:t>
            </a:r>
            <a:r>
              <a:rPr sz="20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simulation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features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79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Parallel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have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following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characteristics: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6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Statements</a:t>
            </a:r>
            <a:r>
              <a:rPr sz="16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in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229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6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parallel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block</a:t>
            </a:r>
            <a:r>
              <a:rPr sz="16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are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30" dirty="0">
                <a:solidFill>
                  <a:srgbClr val="00AF50"/>
                </a:solidFill>
                <a:latin typeface="Microsoft Sans Serif"/>
                <a:cs typeface="Microsoft Sans Serif"/>
              </a:rPr>
              <a:t>executed</a:t>
            </a:r>
            <a:r>
              <a:rPr sz="16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00AF50"/>
                </a:solidFill>
                <a:latin typeface="Microsoft Sans Serif"/>
                <a:cs typeface="Microsoft Sans Serif"/>
              </a:rPr>
              <a:t>concurrently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19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6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Ordering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40" dirty="0">
                <a:solidFill>
                  <a:srgbClr val="00AF50"/>
                </a:solidFill>
                <a:latin typeface="Microsoft Sans Serif"/>
                <a:cs typeface="Microsoft Sans Serif"/>
              </a:rPr>
              <a:t>of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statements</a:t>
            </a:r>
            <a:r>
              <a:rPr sz="16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16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solidFill>
                  <a:srgbClr val="00AF50"/>
                </a:solidFill>
                <a:latin typeface="Microsoft Sans Serif"/>
                <a:cs typeface="Microsoft Sans Serif"/>
              </a:rPr>
              <a:t>controlled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by</a:t>
            </a:r>
            <a:r>
              <a:rPr sz="1600" spc="3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6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delay</a:t>
            </a:r>
            <a:r>
              <a:rPr sz="16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0AF50"/>
                </a:solidFill>
                <a:latin typeface="Microsoft Sans Serif"/>
                <a:cs typeface="Microsoft Sans Serif"/>
              </a:rPr>
              <a:t>or</a:t>
            </a:r>
            <a:r>
              <a:rPr sz="16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event</a:t>
            </a:r>
            <a:r>
              <a:rPr sz="1600" spc="-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control</a:t>
            </a:r>
            <a:r>
              <a:rPr sz="16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85" dirty="0">
                <a:solidFill>
                  <a:srgbClr val="00AF50"/>
                </a:solidFill>
                <a:latin typeface="Microsoft Sans Serif"/>
                <a:cs typeface="Microsoft Sans Serif"/>
              </a:rPr>
              <a:t>assigned</a:t>
            </a:r>
            <a:r>
              <a:rPr sz="1600" spc="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00AF50"/>
                </a:solidFill>
                <a:latin typeface="Microsoft Sans Serif"/>
                <a:cs typeface="Microsoft Sans Serif"/>
              </a:rPr>
              <a:t>to</a:t>
            </a:r>
            <a:r>
              <a:rPr sz="16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each</a:t>
            </a:r>
            <a:r>
              <a:rPr sz="16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statement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1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6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If</a:t>
            </a:r>
            <a:r>
              <a:rPr sz="16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25" dirty="0">
                <a:solidFill>
                  <a:srgbClr val="00AF50"/>
                </a:solidFill>
                <a:latin typeface="Microsoft Sans Serif"/>
                <a:cs typeface="Microsoft Sans Serif"/>
              </a:rPr>
              <a:t>delay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0AF50"/>
                </a:solidFill>
                <a:latin typeface="Microsoft Sans Serif"/>
                <a:cs typeface="Microsoft Sans Serif"/>
              </a:rPr>
              <a:t>or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event</a:t>
            </a:r>
            <a:r>
              <a:rPr sz="1600" spc="-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control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1600" spc="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specified,</a:t>
            </a:r>
            <a:r>
              <a:rPr sz="16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it </a:t>
            </a:r>
            <a:r>
              <a:rPr sz="16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is</a:t>
            </a:r>
            <a:r>
              <a:rPr sz="16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relative</a:t>
            </a:r>
            <a:r>
              <a:rPr sz="16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35" dirty="0">
                <a:solidFill>
                  <a:srgbClr val="00AF50"/>
                </a:solidFill>
                <a:latin typeface="Microsoft Sans Serif"/>
                <a:cs typeface="Microsoft Sans Serif"/>
              </a:rPr>
              <a:t>to</a:t>
            </a:r>
            <a:r>
              <a:rPr sz="16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6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time</a:t>
            </a:r>
            <a:r>
              <a:rPr sz="16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16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block</a:t>
            </a:r>
            <a:r>
              <a:rPr sz="16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229" dirty="0">
                <a:solidFill>
                  <a:srgbClr val="00AF50"/>
                </a:solidFill>
                <a:latin typeface="Microsoft Sans Serif"/>
                <a:cs typeface="Microsoft Sans Serif"/>
              </a:rPr>
              <a:t>was</a:t>
            </a:r>
            <a:r>
              <a:rPr sz="16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600" spc="-114" dirty="0">
                <a:solidFill>
                  <a:srgbClr val="00AF50"/>
                </a:solidFill>
                <a:latin typeface="Microsoft Sans Serif"/>
                <a:cs typeface="Microsoft Sans Serif"/>
              </a:rPr>
              <a:t>entered</a:t>
            </a:r>
            <a:endParaRPr sz="16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00AF50"/>
              </a:buClr>
              <a:buFont typeface="Arial MT"/>
              <a:buChar char="–"/>
            </a:pPr>
            <a:endParaRPr sz="1800">
              <a:latin typeface="Microsoft Sans Serif"/>
              <a:cs typeface="Microsoft Sans Serif"/>
            </a:endParaRPr>
          </a:p>
          <a:p>
            <a:pPr marL="355600" marR="38100" indent="-342900">
              <a:lnSpc>
                <a:spcPts val="216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parallel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when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was</a:t>
            </a:r>
            <a:r>
              <a:rPr sz="20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entered. </a:t>
            </a:r>
            <a:r>
              <a:rPr sz="2000" spc="-5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Thus,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order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which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written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23688" y="4123944"/>
            <a:ext cx="3682365" cy="2374900"/>
            <a:chOff x="5123688" y="4123944"/>
            <a:chExt cx="3682365" cy="237490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4356" y="4126992"/>
              <a:ext cx="3671315" cy="23362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23688" y="4123944"/>
              <a:ext cx="3494532" cy="23743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81600" y="4154424"/>
              <a:ext cx="3581400" cy="224637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181600" y="4154423"/>
            <a:ext cx="3581400" cy="224663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2075" marR="926465">
              <a:lnSpc>
                <a:spcPct val="100000"/>
              </a:lnSpc>
              <a:spcBef>
                <a:spcPts val="210"/>
              </a:spcBef>
            </a:pPr>
            <a:r>
              <a:rPr sz="1400" spc="-5" dirty="0">
                <a:latin typeface="Microsoft Sans Serif"/>
                <a:cs typeface="Microsoft Sans Serif"/>
              </a:rPr>
              <a:t>//E</a:t>
            </a:r>
            <a:r>
              <a:rPr sz="1400" spc="-145" dirty="0">
                <a:latin typeface="Microsoft Sans Serif"/>
                <a:cs typeface="Microsoft Sans Serif"/>
              </a:rPr>
              <a:t>x</a:t>
            </a:r>
            <a:r>
              <a:rPr sz="1400" spc="-150" dirty="0">
                <a:latin typeface="Microsoft Sans Serif"/>
                <a:cs typeface="Microsoft Sans Serif"/>
              </a:rPr>
              <a:t>a</a:t>
            </a:r>
            <a:r>
              <a:rPr sz="1400" spc="-114" dirty="0">
                <a:latin typeface="Microsoft Sans Serif"/>
                <a:cs typeface="Microsoft Sans Serif"/>
              </a:rPr>
              <a:t>m</a:t>
            </a:r>
            <a:r>
              <a:rPr sz="1400" spc="-75" dirty="0">
                <a:latin typeface="Microsoft Sans Serif"/>
                <a:cs typeface="Microsoft Sans Serif"/>
              </a:rPr>
              <a:t>p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175" dirty="0">
                <a:latin typeface="Microsoft Sans Serif"/>
                <a:cs typeface="Microsoft Sans Serif"/>
              </a:rPr>
              <a:t>e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: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80" dirty="0">
                <a:latin typeface="Microsoft Sans Serif"/>
                <a:cs typeface="Microsoft Sans Serif"/>
              </a:rPr>
              <a:t>P</a:t>
            </a:r>
            <a:r>
              <a:rPr sz="1400" spc="-130" dirty="0">
                <a:latin typeface="Microsoft Sans Serif"/>
                <a:cs typeface="Microsoft Sans Serif"/>
              </a:rPr>
              <a:t>ara</a:t>
            </a:r>
            <a:r>
              <a:rPr sz="1400" spc="-20" dirty="0">
                <a:latin typeface="Microsoft Sans Serif"/>
                <a:cs typeface="Microsoft Sans Serif"/>
              </a:rPr>
              <a:t>ll</a:t>
            </a:r>
            <a:r>
              <a:rPr sz="1400" spc="-140" dirty="0">
                <a:latin typeface="Microsoft Sans Serif"/>
                <a:cs typeface="Microsoft Sans Serif"/>
              </a:rPr>
              <a:t>e</a:t>
            </a:r>
            <a:r>
              <a:rPr sz="1400" spc="-55" dirty="0">
                <a:latin typeface="Microsoft Sans Serif"/>
                <a:cs typeface="Microsoft Sans Serif"/>
              </a:rPr>
              <a:t>l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b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5" dirty="0">
                <a:latin typeface="Microsoft Sans Serif"/>
                <a:cs typeface="Microsoft Sans Serif"/>
              </a:rPr>
              <a:t>c</a:t>
            </a:r>
            <a:r>
              <a:rPr sz="1400" spc="-100" dirty="0">
                <a:latin typeface="Microsoft Sans Serif"/>
                <a:cs typeface="Microsoft Sans Serif"/>
              </a:rPr>
              <a:t>k</a:t>
            </a:r>
            <a:r>
              <a:rPr sz="1400" spc="-260" dirty="0">
                <a:latin typeface="Microsoft Sans Serif"/>
                <a:cs typeface="Microsoft Sans Serif"/>
              </a:rPr>
              <a:t>s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10" dirty="0">
                <a:latin typeface="Microsoft Sans Serif"/>
                <a:cs typeface="Microsoft Sans Serif"/>
              </a:rPr>
              <a:t>w</a:t>
            </a:r>
            <a:r>
              <a:rPr sz="1400" spc="-45" dirty="0">
                <a:latin typeface="Microsoft Sans Serif"/>
                <a:cs typeface="Microsoft Sans Serif"/>
              </a:rPr>
              <a:t>i</a:t>
            </a:r>
            <a:r>
              <a:rPr sz="1400" spc="-30" dirty="0">
                <a:latin typeface="Microsoft Sans Serif"/>
                <a:cs typeface="Microsoft Sans Serif"/>
              </a:rPr>
              <a:t>t</a:t>
            </a:r>
            <a:r>
              <a:rPr sz="1400" spc="-45" dirty="0">
                <a:latin typeface="Microsoft Sans Serif"/>
                <a:cs typeface="Microsoft Sans Serif"/>
              </a:rPr>
              <a:t>h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105" dirty="0">
                <a:latin typeface="Microsoft Sans Serif"/>
                <a:cs typeface="Microsoft Sans Serif"/>
              </a:rPr>
              <a:t>elay  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14" dirty="0">
                <a:latin typeface="Microsoft Sans Serif"/>
                <a:cs typeface="Microsoft Sans Serif"/>
              </a:rPr>
              <a:t>x</a:t>
            </a:r>
            <a:r>
              <a:rPr sz="1400" spc="-65" dirty="0">
                <a:latin typeface="Microsoft Sans Serif"/>
                <a:cs typeface="Microsoft Sans Serif"/>
              </a:rPr>
              <a:t>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y;</a:t>
            </a:r>
            <a:endParaRPr sz="1400">
              <a:latin typeface="Microsoft Sans Serif"/>
              <a:cs typeface="Microsoft Sans Serif"/>
            </a:endParaRPr>
          </a:p>
          <a:p>
            <a:pPr marL="92075" marR="2374265">
              <a:lnSpc>
                <a:spcPct val="100000"/>
              </a:lnSpc>
            </a:pP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[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1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: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0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]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145" dirty="0">
                <a:latin typeface="Microsoft Sans Serif"/>
                <a:cs typeface="Microsoft Sans Serif"/>
              </a:rPr>
              <a:t>z,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55" dirty="0">
                <a:latin typeface="Microsoft Sans Serif"/>
                <a:cs typeface="Microsoft Sans Serif"/>
              </a:rPr>
              <a:t>w;  </a:t>
            </a:r>
            <a:r>
              <a:rPr sz="1400" spc="-50" dirty="0">
                <a:latin typeface="Microsoft Sans Serif"/>
                <a:cs typeface="Microsoft Sans Serif"/>
              </a:rPr>
              <a:t>initial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400" spc="-45" dirty="0">
                <a:latin typeface="Microsoft Sans Serif"/>
                <a:cs typeface="Microsoft Sans Serif"/>
              </a:rPr>
              <a:t>fork</a:t>
            </a:r>
            <a:endParaRPr sz="1400">
              <a:latin typeface="Microsoft Sans Serif"/>
              <a:cs typeface="Microsoft Sans Serif"/>
            </a:endParaRPr>
          </a:p>
          <a:p>
            <a:pPr marL="92075" marR="281940">
              <a:lnSpc>
                <a:spcPct val="100000"/>
              </a:lnSpc>
              <a:tabLst>
                <a:tab pos="1006475" algn="l"/>
              </a:tabLst>
            </a:pPr>
            <a:r>
              <a:rPr sz="1400" spc="-95" dirty="0">
                <a:latin typeface="Microsoft Sans Serif"/>
                <a:cs typeface="Microsoft Sans Serif"/>
              </a:rPr>
              <a:t>x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l'bO;	</a:t>
            </a:r>
            <a:r>
              <a:rPr sz="1400" spc="-70" dirty="0">
                <a:latin typeface="Microsoft Sans Serif"/>
                <a:cs typeface="Microsoft Sans Serif"/>
              </a:rPr>
              <a:t>//completes </a:t>
            </a:r>
            <a:r>
              <a:rPr sz="1400" spc="-85" dirty="0">
                <a:latin typeface="Microsoft Sans Serif"/>
                <a:cs typeface="Microsoft Sans Serif"/>
              </a:rPr>
              <a:t>at</a:t>
            </a:r>
            <a:r>
              <a:rPr sz="1400" spc="-8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simulation</a:t>
            </a:r>
            <a:r>
              <a:rPr sz="1400" spc="-85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time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0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#5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y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l'b1;	</a:t>
            </a:r>
            <a:r>
              <a:rPr sz="1400" spc="-70" dirty="0">
                <a:latin typeface="Microsoft Sans Serif"/>
                <a:cs typeface="Microsoft Sans Serif"/>
              </a:rPr>
              <a:t>//completes </a:t>
            </a:r>
            <a:r>
              <a:rPr sz="1400" spc="-85" dirty="0">
                <a:latin typeface="Microsoft Sans Serif"/>
                <a:cs typeface="Microsoft Sans Serif"/>
              </a:rPr>
              <a:t>at</a:t>
            </a:r>
            <a:r>
              <a:rPr sz="1400" spc="-8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simulation</a:t>
            </a:r>
            <a:r>
              <a:rPr sz="1400" spc="-85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time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5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#10</a:t>
            </a:r>
            <a:r>
              <a:rPr sz="1400" spc="-185" dirty="0">
                <a:latin typeface="Microsoft Sans Serif"/>
                <a:cs typeface="Microsoft Sans Serif"/>
              </a:rPr>
              <a:t> </a:t>
            </a:r>
            <a:r>
              <a:rPr sz="1400" spc="-210" dirty="0">
                <a:latin typeface="Microsoft Sans Serif"/>
                <a:cs typeface="Microsoft Sans Serif"/>
              </a:rPr>
              <a:t>z</a:t>
            </a:r>
            <a:r>
              <a:rPr sz="1400" spc="-145" dirty="0">
                <a:latin typeface="Microsoft Sans Serif"/>
                <a:cs typeface="Microsoft Sans Serif"/>
              </a:rPr>
              <a:t> </a:t>
            </a:r>
            <a:r>
              <a:rPr sz="1400" spc="10" dirty="0">
                <a:latin typeface="Microsoft Sans Serif"/>
                <a:cs typeface="Microsoft Sans Serif"/>
              </a:rPr>
              <a:t>{x,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y};</a:t>
            </a:r>
            <a:r>
              <a:rPr sz="1400" spc="160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//completes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at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simulation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time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10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#20</a:t>
            </a:r>
            <a:r>
              <a:rPr sz="1400" spc="-180" dirty="0">
                <a:latin typeface="Microsoft Sans Serif"/>
                <a:cs typeface="Microsoft Sans Serif"/>
              </a:rPr>
              <a:t> </a:t>
            </a:r>
            <a:r>
              <a:rPr sz="1400" spc="-125" dirty="0">
                <a:latin typeface="Microsoft Sans Serif"/>
                <a:cs typeface="Microsoft Sans Serif"/>
              </a:rPr>
              <a:t>w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20" dirty="0">
                <a:latin typeface="Microsoft Sans Serif"/>
                <a:cs typeface="Microsoft Sans Serif"/>
              </a:rPr>
              <a:t>{y, </a:t>
            </a:r>
            <a:r>
              <a:rPr sz="1400" spc="30" dirty="0">
                <a:latin typeface="Microsoft Sans Serif"/>
                <a:cs typeface="Microsoft Sans Serif"/>
              </a:rPr>
              <a:t>x};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//completes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at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simulation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time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55" dirty="0">
                <a:latin typeface="Microsoft Sans Serif"/>
                <a:cs typeface="Microsoft Sans Serif"/>
              </a:rPr>
              <a:t>join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88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2640" y="3234055"/>
            <a:ext cx="11042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ted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3759174"/>
            <a:ext cx="60940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If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condition_ </a:t>
            </a:r>
            <a:r>
              <a:rPr sz="20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evaluates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0.x,z,</a:t>
            </a:r>
            <a:r>
              <a:rPr sz="2000" spc="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then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procedural_statement2 </a:t>
            </a:r>
            <a:r>
              <a:rPr sz="2000" spc="-5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else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branch,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exist,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740" y="1140332"/>
            <a:ext cx="8334375" cy="212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IF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Conditional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making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decisions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based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upon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certain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These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conditions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decide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whether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should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condition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evaluates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non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zero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known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then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procedural_statement1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23888" y="3261359"/>
            <a:ext cx="2082164" cy="3228340"/>
            <a:chOff x="6723888" y="3261359"/>
            <a:chExt cx="2082164" cy="322834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4556" y="3264407"/>
              <a:ext cx="2071116" cy="31988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3888" y="3261359"/>
              <a:ext cx="1869948" cy="32278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81800" y="3291839"/>
              <a:ext cx="1981200" cy="31089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781800" y="3291840"/>
            <a:ext cx="1981200" cy="310896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15"/>
              </a:spcBef>
            </a:pPr>
            <a:r>
              <a:rPr sz="1400" spc="-114" dirty="0">
                <a:latin typeface="Microsoft Sans Serif"/>
                <a:cs typeface="Microsoft Sans Serif"/>
              </a:rPr>
              <a:t>Example:</a:t>
            </a:r>
            <a:endParaRPr sz="1400">
              <a:latin typeface="Microsoft Sans Serif"/>
              <a:cs typeface="Microsoft Sans Serif"/>
            </a:endParaRPr>
          </a:p>
          <a:p>
            <a:pPr marL="549275" marR="305435">
              <a:lnSpc>
                <a:spcPct val="100000"/>
              </a:lnSpc>
            </a:pPr>
            <a:r>
              <a:rPr sz="1400" spc="-95" dirty="0">
                <a:latin typeface="Microsoft Sans Serif"/>
                <a:cs typeface="Microsoft Sans Serif"/>
              </a:rPr>
              <a:t>module </a:t>
            </a:r>
            <a:r>
              <a:rPr sz="1400" spc="-90" dirty="0">
                <a:latin typeface="Microsoft Sans Serif"/>
                <a:cs typeface="Microsoft Sans Serif"/>
              </a:rPr>
              <a:t> </a:t>
            </a:r>
            <a:r>
              <a:rPr sz="1400" spc="-130" dirty="0">
                <a:latin typeface="Microsoft Sans Serif"/>
                <a:cs typeface="Microsoft Sans Serif"/>
              </a:rPr>
              <a:t>m</a:t>
            </a:r>
            <a:r>
              <a:rPr sz="1400" spc="-85" dirty="0">
                <a:latin typeface="Microsoft Sans Serif"/>
                <a:cs typeface="Microsoft Sans Serif"/>
              </a:rPr>
              <a:t>u</a:t>
            </a:r>
            <a:r>
              <a:rPr sz="1400" spc="-95" dirty="0">
                <a:latin typeface="Microsoft Sans Serif"/>
                <a:cs typeface="Microsoft Sans Serif"/>
              </a:rPr>
              <a:t>x(</a:t>
            </a:r>
            <a:r>
              <a:rPr sz="1400" spc="-11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90" dirty="0">
                <a:latin typeface="Microsoft Sans Serif"/>
                <a:cs typeface="Microsoft Sans Serif"/>
              </a:rPr>
              <a:t>t,a</a:t>
            </a:r>
            <a:r>
              <a:rPr sz="1400" spc="-65" dirty="0">
                <a:latin typeface="Microsoft Sans Serif"/>
                <a:cs typeface="Microsoft Sans Serif"/>
              </a:rPr>
              <a:t>,</a:t>
            </a:r>
            <a:r>
              <a:rPr sz="1400" spc="-100" dirty="0">
                <a:latin typeface="Microsoft Sans Serif"/>
                <a:cs typeface="Microsoft Sans Serif"/>
              </a:rPr>
              <a:t>b</a:t>
            </a:r>
            <a:r>
              <a:rPr sz="1400" spc="-155" dirty="0">
                <a:latin typeface="Microsoft Sans Serif"/>
                <a:cs typeface="Microsoft Sans Serif"/>
              </a:rPr>
              <a:t>,s</a:t>
            </a:r>
            <a:r>
              <a:rPr sz="1400" spc="-215" dirty="0">
                <a:latin typeface="Microsoft Sans Serif"/>
                <a:cs typeface="Microsoft Sans Serif"/>
              </a:rPr>
              <a:t>e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55" dirty="0">
                <a:latin typeface="Microsoft Sans Serif"/>
                <a:cs typeface="Microsoft Sans Serif"/>
              </a:rPr>
              <a:t>);  input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14" dirty="0">
                <a:latin typeface="Microsoft Sans Serif"/>
                <a:cs typeface="Microsoft Sans Serif"/>
              </a:rPr>
              <a:t>a,b,sel; </a:t>
            </a:r>
            <a:r>
              <a:rPr sz="1400" spc="-11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output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40" dirty="0">
                <a:latin typeface="Microsoft Sans Serif"/>
                <a:cs typeface="Microsoft Sans Serif"/>
              </a:rPr>
              <a:t>out;</a:t>
            </a:r>
            <a:endParaRPr sz="1400">
              <a:latin typeface="Microsoft Sans Serif"/>
              <a:cs typeface="Microsoft Sans Serif"/>
            </a:endParaRPr>
          </a:p>
          <a:p>
            <a:pPr marL="549275" marR="448945">
              <a:lnSpc>
                <a:spcPct val="100000"/>
              </a:lnSpc>
            </a:pP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10" dirty="0">
                <a:latin typeface="Microsoft Sans Serif"/>
                <a:cs typeface="Microsoft Sans Serif"/>
              </a:rPr>
              <a:t>t;  </a:t>
            </a:r>
            <a:r>
              <a:rPr sz="1400" spc="-90" dirty="0">
                <a:latin typeface="Microsoft Sans Serif"/>
                <a:cs typeface="Microsoft Sans Serif"/>
              </a:rPr>
              <a:t>al</a:t>
            </a:r>
            <a:r>
              <a:rPr sz="1400" spc="-165" dirty="0">
                <a:latin typeface="Microsoft Sans Serif"/>
                <a:cs typeface="Microsoft Sans Serif"/>
              </a:rPr>
              <a:t>w</a:t>
            </a:r>
            <a:r>
              <a:rPr sz="1400" spc="-130" dirty="0">
                <a:latin typeface="Microsoft Sans Serif"/>
                <a:cs typeface="Microsoft Sans Serif"/>
              </a:rPr>
              <a:t>ay</a:t>
            </a:r>
            <a:r>
              <a:rPr sz="1400" spc="-254" dirty="0">
                <a:latin typeface="Microsoft Sans Serif"/>
                <a:cs typeface="Microsoft Sans Serif"/>
              </a:rPr>
              <a:t>s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29" dirty="0">
                <a:latin typeface="Microsoft Sans Serif"/>
                <a:cs typeface="Microsoft Sans Serif"/>
              </a:rPr>
              <a:t>@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125" dirty="0">
                <a:latin typeface="Microsoft Sans Serif"/>
                <a:cs typeface="Microsoft Sans Serif"/>
              </a:rPr>
              <a:t>(a,b</a:t>
            </a:r>
            <a:r>
              <a:rPr sz="1400" spc="-105" dirty="0">
                <a:latin typeface="Microsoft Sans Serif"/>
                <a:cs typeface="Microsoft Sans Serif"/>
              </a:rPr>
              <a:t>)  </a:t>
            </a:r>
            <a:r>
              <a:rPr sz="1400" spc="-114" dirty="0">
                <a:latin typeface="Microsoft Sans Serif"/>
                <a:cs typeface="Microsoft Sans Serif"/>
              </a:rPr>
              <a:t>begin</a:t>
            </a:r>
            <a:endParaRPr sz="14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000FF"/>
                </a:solidFill>
                <a:latin typeface="Microsoft Sans Serif"/>
                <a:cs typeface="Microsoft Sans Serif"/>
              </a:rPr>
              <a:t>if</a:t>
            </a:r>
            <a:r>
              <a:rPr sz="1400" spc="-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(sel==1’b0)</a:t>
            </a:r>
            <a:endParaRPr sz="1400">
              <a:latin typeface="Microsoft Sans Serif"/>
              <a:cs typeface="Microsoft Sans Serif"/>
            </a:endParaRPr>
          </a:p>
          <a:p>
            <a:pPr marL="549275" marR="949325">
              <a:lnSpc>
                <a:spcPct val="100000"/>
              </a:lnSpc>
            </a:pPr>
            <a:r>
              <a:rPr sz="1400" spc="-55" dirty="0">
                <a:solidFill>
                  <a:srgbClr val="0000FF"/>
                </a:solidFill>
                <a:latin typeface="Microsoft Sans Serif"/>
                <a:cs typeface="Microsoft Sans Serif"/>
              </a:rPr>
              <a:t>out=a; </a:t>
            </a:r>
            <a:r>
              <a:rPr sz="1400" spc="-36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160" dirty="0">
                <a:solidFill>
                  <a:srgbClr val="0000FF"/>
                </a:solidFill>
                <a:latin typeface="Microsoft Sans Serif"/>
                <a:cs typeface="Microsoft Sans Serif"/>
              </a:rPr>
              <a:t>else </a:t>
            </a:r>
            <a:r>
              <a:rPr sz="14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o</a:t>
            </a:r>
            <a:r>
              <a:rPr sz="14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u</a:t>
            </a:r>
            <a:r>
              <a:rPr sz="14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14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4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b</a:t>
            </a:r>
            <a:r>
              <a:rPr sz="14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  </a:t>
            </a:r>
            <a:r>
              <a:rPr sz="1400" spc="-120" dirty="0">
                <a:latin typeface="Microsoft Sans Serif"/>
                <a:cs typeface="Microsoft Sans Serif"/>
              </a:rPr>
              <a:t>end</a:t>
            </a:r>
            <a:endParaRPr sz="1400">
              <a:latin typeface="Microsoft Sans Serif"/>
              <a:cs typeface="Microsoft Sans Serif"/>
            </a:endParaRPr>
          </a:p>
          <a:p>
            <a:pPr marL="549275">
              <a:lnSpc>
                <a:spcPct val="100000"/>
              </a:lnSpc>
            </a:pPr>
            <a:r>
              <a:rPr sz="1400" spc="-105" dirty="0">
                <a:latin typeface="Microsoft Sans Serif"/>
                <a:cs typeface="Microsoft Sans Serif"/>
              </a:rPr>
              <a:t>endmodule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03247" y="4610100"/>
            <a:ext cx="3088005" cy="1971039"/>
            <a:chOff x="1603247" y="4610100"/>
            <a:chExt cx="3088005" cy="1971039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29155" y="4620767"/>
              <a:ext cx="3061716" cy="19065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3247" y="4610100"/>
              <a:ext cx="3015995" cy="19705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6399" y="4648200"/>
              <a:ext cx="2971800" cy="1816608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676400" y="4648200"/>
            <a:ext cx="2971800" cy="181673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5"/>
              </a:spcBef>
            </a:pPr>
            <a:r>
              <a:rPr sz="1600" spc="-120" dirty="0">
                <a:latin typeface="Microsoft Sans Serif"/>
                <a:cs typeface="Microsoft Sans Serif"/>
              </a:rPr>
              <a:t>Syntax:</a:t>
            </a:r>
            <a:endParaRPr sz="1600">
              <a:latin typeface="Microsoft Sans Serif"/>
              <a:cs typeface="Microsoft Sans Serif"/>
            </a:endParaRPr>
          </a:p>
          <a:p>
            <a:pPr marL="1005840" marR="180975">
              <a:lnSpc>
                <a:spcPct val="100000"/>
              </a:lnSpc>
            </a:pPr>
            <a:r>
              <a:rPr sz="1600" spc="-10" dirty="0">
                <a:latin typeface="Microsoft Sans Serif"/>
                <a:cs typeface="Microsoft Sans Serif"/>
              </a:rPr>
              <a:t>if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(condition_1) </a:t>
            </a:r>
            <a:r>
              <a:rPr sz="1600" spc="-95" dirty="0">
                <a:latin typeface="Microsoft Sans Serif"/>
                <a:cs typeface="Microsoft Sans Serif"/>
              </a:rPr>
              <a:t> p</a:t>
            </a:r>
            <a:r>
              <a:rPr sz="1600" spc="-80" dirty="0">
                <a:latin typeface="Microsoft Sans Serif"/>
                <a:cs typeface="Microsoft Sans Serif"/>
              </a:rPr>
              <a:t>ro</a:t>
            </a:r>
            <a:r>
              <a:rPr sz="1600" spc="-95" dirty="0">
                <a:latin typeface="Microsoft Sans Serif"/>
                <a:cs typeface="Microsoft Sans Serif"/>
              </a:rPr>
              <a:t>c</a:t>
            </a:r>
            <a:r>
              <a:rPr sz="1600" spc="-150" dirty="0">
                <a:latin typeface="Microsoft Sans Serif"/>
                <a:cs typeface="Microsoft Sans Serif"/>
              </a:rPr>
              <a:t>e</a:t>
            </a:r>
            <a:r>
              <a:rPr sz="1600" spc="-140" dirty="0">
                <a:latin typeface="Microsoft Sans Serif"/>
                <a:cs typeface="Microsoft Sans Serif"/>
              </a:rPr>
              <a:t>d</a:t>
            </a:r>
            <a:r>
              <a:rPr sz="1600" spc="-80" dirty="0">
                <a:latin typeface="Microsoft Sans Serif"/>
                <a:cs typeface="Microsoft Sans Serif"/>
              </a:rPr>
              <a:t>u</a:t>
            </a:r>
            <a:r>
              <a:rPr sz="1600" spc="-55" dirty="0">
                <a:latin typeface="Microsoft Sans Serif"/>
                <a:cs typeface="Microsoft Sans Serif"/>
              </a:rPr>
              <a:t>r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l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st</a:t>
            </a:r>
            <a:r>
              <a:rPr sz="1600" spc="-215" dirty="0">
                <a:latin typeface="Microsoft Sans Serif"/>
                <a:cs typeface="Microsoft Sans Serif"/>
              </a:rPr>
              <a:t>a</a:t>
            </a:r>
            <a:r>
              <a:rPr sz="1600" spc="-140" dirty="0">
                <a:latin typeface="Microsoft Sans Serif"/>
                <a:cs typeface="Microsoft Sans Serif"/>
              </a:rPr>
              <a:t>e</a:t>
            </a:r>
            <a:r>
              <a:rPr sz="1600" spc="-200" dirty="0">
                <a:latin typeface="Microsoft Sans Serif"/>
                <a:cs typeface="Microsoft Sans Serif"/>
              </a:rPr>
              <a:t>m</a:t>
            </a:r>
            <a:r>
              <a:rPr sz="1600" spc="-110" dirty="0">
                <a:latin typeface="Microsoft Sans Serif"/>
                <a:cs typeface="Microsoft Sans Serif"/>
              </a:rPr>
              <a:t>ent_1  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175" dirty="0">
                <a:latin typeface="Microsoft Sans Serif"/>
                <a:cs typeface="Microsoft Sans Serif"/>
              </a:rPr>
              <a:t>lse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if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10" dirty="0">
                <a:latin typeface="Microsoft Sans Serif"/>
                <a:cs typeface="Microsoft Sans Serif"/>
              </a:rPr>
              <a:t>(</a:t>
            </a:r>
            <a:r>
              <a:rPr sz="1600" spc="-175" dirty="0">
                <a:latin typeface="Microsoft Sans Serif"/>
                <a:cs typeface="Microsoft Sans Serif"/>
              </a:rPr>
              <a:t>c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00" dirty="0">
                <a:latin typeface="Microsoft Sans Serif"/>
                <a:cs typeface="Microsoft Sans Serif"/>
              </a:rPr>
              <a:t>nd</a:t>
            </a:r>
            <a:r>
              <a:rPr sz="1600" spc="-40" dirty="0">
                <a:latin typeface="Microsoft Sans Serif"/>
                <a:cs typeface="Microsoft Sans Serif"/>
              </a:rPr>
              <a:t>i</a:t>
            </a:r>
            <a:r>
              <a:rPr sz="1600" spc="-25" dirty="0">
                <a:latin typeface="Microsoft Sans Serif"/>
                <a:cs typeface="Microsoft Sans Serif"/>
              </a:rPr>
              <a:t>ti</a:t>
            </a:r>
            <a:r>
              <a:rPr sz="1600" spc="-35" dirty="0">
                <a:latin typeface="Microsoft Sans Serif"/>
                <a:cs typeface="Microsoft Sans Serif"/>
              </a:rPr>
              <a:t>o</a:t>
            </a:r>
            <a:r>
              <a:rPr sz="1600" spc="-150" dirty="0">
                <a:latin typeface="Microsoft Sans Serif"/>
                <a:cs typeface="Microsoft Sans Serif"/>
              </a:rPr>
              <a:t>n_</a:t>
            </a:r>
            <a:r>
              <a:rPr sz="1600" spc="-155" dirty="0">
                <a:latin typeface="Microsoft Sans Serif"/>
                <a:cs typeface="Microsoft Sans Serif"/>
              </a:rPr>
              <a:t>2</a:t>
            </a:r>
            <a:r>
              <a:rPr sz="1600" spc="-120" dirty="0">
                <a:latin typeface="Microsoft Sans Serif"/>
                <a:cs typeface="Microsoft Sans Serif"/>
              </a:rPr>
              <a:t>)  </a:t>
            </a:r>
            <a:r>
              <a:rPr sz="1600" spc="-95" dirty="0">
                <a:latin typeface="Microsoft Sans Serif"/>
                <a:cs typeface="Microsoft Sans Serif"/>
              </a:rPr>
              <a:t>p</a:t>
            </a:r>
            <a:r>
              <a:rPr sz="1600" spc="-110" dirty="0">
                <a:latin typeface="Microsoft Sans Serif"/>
                <a:cs typeface="Microsoft Sans Serif"/>
              </a:rPr>
              <a:t>roce</a:t>
            </a:r>
            <a:r>
              <a:rPr sz="1600" spc="-114" dirty="0">
                <a:latin typeface="Microsoft Sans Serif"/>
                <a:cs typeface="Microsoft Sans Serif"/>
              </a:rPr>
              <a:t>d</a:t>
            </a:r>
            <a:r>
              <a:rPr sz="1600" spc="-80" dirty="0">
                <a:latin typeface="Microsoft Sans Serif"/>
                <a:cs typeface="Microsoft Sans Serif"/>
              </a:rPr>
              <a:t>u</a:t>
            </a:r>
            <a:r>
              <a:rPr sz="1600" spc="-55" dirty="0">
                <a:latin typeface="Microsoft Sans Serif"/>
                <a:cs typeface="Microsoft Sans Serif"/>
              </a:rPr>
              <a:t>r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l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65" dirty="0">
                <a:latin typeface="Microsoft Sans Serif"/>
                <a:cs typeface="Microsoft Sans Serif"/>
              </a:rPr>
              <a:t>staem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90" dirty="0">
                <a:latin typeface="Microsoft Sans Serif"/>
                <a:cs typeface="Microsoft Sans Serif"/>
              </a:rPr>
              <a:t>nt_2  </a:t>
            </a:r>
            <a:r>
              <a:rPr sz="1600" spc="-180" dirty="0">
                <a:latin typeface="Microsoft Sans Serif"/>
                <a:cs typeface="Microsoft Sans Serif"/>
              </a:rPr>
              <a:t>else</a:t>
            </a:r>
            <a:r>
              <a:rPr sz="1600" spc="-175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(condition_3) </a:t>
            </a:r>
            <a:r>
              <a:rPr sz="1600" spc="-95" dirty="0">
                <a:latin typeface="Microsoft Sans Serif"/>
                <a:cs typeface="Microsoft Sans Serif"/>
              </a:rPr>
              <a:t> p</a:t>
            </a:r>
            <a:r>
              <a:rPr sz="1600" spc="-110" dirty="0">
                <a:latin typeface="Microsoft Sans Serif"/>
                <a:cs typeface="Microsoft Sans Serif"/>
              </a:rPr>
              <a:t>roce</a:t>
            </a:r>
            <a:r>
              <a:rPr sz="1600" spc="-114" dirty="0">
                <a:latin typeface="Microsoft Sans Serif"/>
                <a:cs typeface="Microsoft Sans Serif"/>
              </a:rPr>
              <a:t>d</a:t>
            </a:r>
            <a:r>
              <a:rPr sz="1600" spc="-80" dirty="0">
                <a:latin typeface="Microsoft Sans Serif"/>
                <a:cs typeface="Microsoft Sans Serif"/>
              </a:rPr>
              <a:t>u</a:t>
            </a:r>
            <a:r>
              <a:rPr sz="1600" spc="-55" dirty="0">
                <a:latin typeface="Microsoft Sans Serif"/>
                <a:cs typeface="Microsoft Sans Serif"/>
              </a:rPr>
              <a:t>r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l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65" dirty="0">
                <a:latin typeface="Microsoft Sans Serif"/>
                <a:cs typeface="Microsoft Sans Serif"/>
              </a:rPr>
              <a:t>staem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105" dirty="0">
                <a:latin typeface="Microsoft Sans Serif"/>
                <a:cs typeface="Microsoft Sans Serif"/>
              </a:rPr>
              <a:t>nt_3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pc="-195" dirty="0"/>
              <a:t>89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96234" y="6644741"/>
            <a:ext cx="2504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55" dirty="0">
                <a:solidFill>
                  <a:srgbClr val="C00000"/>
                </a:solidFill>
                <a:latin typeface="Cambria"/>
                <a:cs typeface="Cambria"/>
              </a:rPr>
              <a:t>BECE102L</a:t>
            </a:r>
            <a:r>
              <a:rPr sz="1000" b="1" spc="16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130" dirty="0">
                <a:solidFill>
                  <a:srgbClr val="C00000"/>
                </a:solidFill>
                <a:latin typeface="Trebuchet MS"/>
                <a:cs typeface="Trebuchet MS"/>
              </a:rPr>
              <a:t>–</a:t>
            </a:r>
            <a:r>
              <a:rPr sz="1000" b="1" spc="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DIGITAL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1000" b="1" spc="1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70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endParaRPr sz="1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826754" y="6597497"/>
            <a:ext cx="1778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90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739" y="6631330"/>
            <a:ext cx="14471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40" dirty="0">
                <a:solidFill>
                  <a:srgbClr val="C00000"/>
                </a:solidFill>
                <a:latin typeface="Cambria"/>
                <a:cs typeface="Cambria"/>
              </a:rPr>
              <a:t>UNIT-III</a:t>
            </a:r>
            <a:r>
              <a:rPr sz="1000" b="1" spc="1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4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1000" b="1" spc="10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1000" b="1" spc="65" dirty="0">
                <a:solidFill>
                  <a:srgbClr val="C00000"/>
                </a:solidFill>
                <a:latin typeface="Cambria"/>
                <a:cs typeface="Cambria"/>
              </a:rPr>
              <a:t>LECTURE30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2640" y="3309950"/>
            <a:ext cx="33502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default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_state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en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ptio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al.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9740" y="1056233"/>
            <a:ext cx="8061959" cy="22802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76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CASE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keywords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b="1" spc="-275" dirty="0">
                <a:solidFill>
                  <a:srgbClr val="006FC0"/>
                </a:solidFill>
                <a:latin typeface="Arial"/>
                <a:cs typeface="Arial"/>
              </a:rPr>
              <a:t>case,</a:t>
            </a:r>
            <a:r>
              <a:rPr sz="20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06FC0"/>
                </a:solidFill>
                <a:latin typeface="Arial"/>
                <a:cs typeface="Arial"/>
              </a:rPr>
              <a:t>endcase,</a:t>
            </a:r>
            <a:r>
              <a:rPr sz="2000" b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250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20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b="1" spc="-185" dirty="0">
                <a:solidFill>
                  <a:srgbClr val="006FC0"/>
                </a:solidFill>
                <a:latin typeface="Arial"/>
                <a:cs typeface="Arial"/>
              </a:rPr>
              <a:t>default</a:t>
            </a:r>
            <a:r>
              <a:rPr sz="20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case</a:t>
            </a:r>
            <a:r>
              <a:rPr sz="20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compared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alternatives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order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they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written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  <a:tab pos="5099050" algn="l"/>
              </a:tabLst>
            </a:pP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first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alternative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matches,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corresponding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executed.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none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alternatives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match,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	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default_statement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9288" y="4084320"/>
            <a:ext cx="3834765" cy="2161540"/>
            <a:chOff x="399288" y="4084320"/>
            <a:chExt cx="3834765" cy="216154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956" y="4087380"/>
              <a:ext cx="3823716" cy="212140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9288" y="4084320"/>
              <a:ext cx="3456432" cy="21610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7200" y="4114800"/>
              <a:ext cx="3733800" cy="203149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57200" y="4114800"/>
            <a:ext cx="3733800" cy="203200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5"/>
              </a:spcBef>
            </a:pPr>
            <a:r>
              <a:rPr sz="1400" spc="-100" dirty="0">
                <a:latin typeface="Microsoft Sans Serif"/>
                <a:cs typeface="Microsoft Sans Serif"/>
              </a:rPr>
              <a:t>syntax: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spc="-145" dirty="0">
                <a:latin typeface="Microsoft Sans Serif"/>
                <a:cs typeface="Microsoft Sans Serif"/>
              </a:rPr>
              <a:t>case(case_expression)</a:t>
            </a:r>
            <a:endParaRPr sz="1400">
              <a:latin typeface="Microsoft Sans Serif"/>
              <a:cs typeface="Microsoft Sans Serif"/>
            </a:endParaRPr>
          </a:p>
          <a:p>
            <a:pPr marL="91440" marR="474345">
              <a:lnSpc>
                <a:spcPct val="100000"/>
              </a:lnSpc>
            </a:pPr>
            <a:r>
              <a:rPr sz="1400" spc="-155" dirty="0">
                <a:latin typeface="Microsoft Sans Serif"/>
                <a:cs typeface="Microsoft Sans Serif"/>
              </a:rPr>
              <a:t>ca</a:t>
            </a:r>
            <a:r>
              <a:rPr sz="1400" spc="-110" dirty="0">
                <a:latin typeface="Microsoft Sans Serif"/>
                <a:cs typeface="Microsoft Sans Serif"/>
              </a:rPr>
              <a:t>se_item</a:t>
            </a:r>
            <a:r>
              <a:rPr sz="1400" spc="-120" dirty="0">
                <a:latin typeface="Microsoft Sans Serif"/>
                <a:cs typeface="Microsoft Sans Serif"/>
              </a:rPr>
              <a:t>_e</a:t>
            </a:r>
            <a:r>
              <a:rPr sz="1400" spc="-85" dirty="0">
                <a:latin typeface="Microsoft Sans Serif"/>
                <a:cs typeface="Microsoft Sans Serif"/>
              </a:rPr>
              <a:t>xp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275" dirty="0">
                <a:latin typeface="Microsoft Sans Serif"/>
                <a:cs typeface="Microsoft Sans Serif"/>
              </a:rPr>
              <a:t>s</a:t>
            </a:r>
            <a:r>
              <a:rPr sz="1400" spc="-190" dirty="0">
                <a:latin typeface="Microsoft Sans Serif"/>
                <a:cs typeface="Microsoft Sans Serif"/>
              </a:rPr>
              <a:t>s</a:t>
            </a:r>
            <a:r>
              <a:rPr sz="1400" spc="-95" dirty="0">
                <a:latin typeface="Microsoft Sans Serif"/>
                <a:cs typeface="Microsoft Sans Serif"/>
              </a:rPr>
              <a:t>i</a:t>
            </a:r>
            <a:r>
              <a:rPr sz="1400" spc="-9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10" dirty="0">
                <a:latin typeface="Microsoft Sans Serif"/>
                <a:cs typeface="Microsoft Sans Serif"/>
              </a:rPr>
              <a:t>{case</a:t>
            </a:r>
            <a:r>
              <a:rPr sz="1400" spc="-60" dirty="0">
                <a:latin typeface="Microsoft Sans Serif"/>
                <a:cs typeface="Microsoft Sans Serif"/>
              </a:rPr>
              <a:t>_</a:t>
            </a:r>
            <a:r>
              <a:rPr sz="1400" spc="-30" dirty="0">
                <a:latin typeface="Microsoft Sans Serif"/>
                <a:cs typeface="Microsoft Sans Serif"/>
              </a:rPr>
              <a:t>i</a:t>
            </a:r>
            <a:r>
              <a:rPr sz="1400" spc="-70" dirty="0">
                <a:latin typeface="Microsoft Sans Serif"/>
                <a:cs typeface="Microsoft Sans Serif"/>
              </a:rPr>
              <a:t>te</a:t>
            </a:r>
            <a:r>
              <a:rPr sz="1400" spc="-130" dirty="0">
                <a:latin typeface="Microsoft Sans Serif"/>
                <a:cs typeface="Microsoft Sans Serif"/>
              </a:rPr>
              <a:t>m</a:t>
            </a:r>
            <a:r>
              <a:rPr sz="1400" spc="-120" dirty="0">
                <a:latin typeface="Microsoft Sans Serif"/>
                <a:cs typeface="Microsoft Sans Serif"/>
              </a:rPr>
              <a:t>_e</a:t>
            </a:r>
            <a:r>
              <a:rPr sz="1400" spc="-85" dirty="0">
                <a:latin typeface="Microsoft Sans Serif"/>
                <a:cs typeface="Microsoft Sans Serif"/>
              </a:rPr>
              <a:t>xp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260" dirty="0">
                <a:latin typeface="Microsoft Sans Serif"/>
                <a:cs typeface="Microsoft Sans Serif"/>
              </a:rPr>
              <a:t>s</a:t>
            </a:r>
            <a:r>
              <a:rPr sz="1400" spc="-275" dirty="0">
                <a:latin typeface="Microsoft Sans Serif"/>
                <a:cs typeface="Microsoft Sans Serif"/>
              </a:rPr>
              <a:t>s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9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175" dirty="0">
                <a:latin typeface="Microsoft Sans Serif"/>
                <a:cs typeface="Microsoft Sans Serif"/>
              </a:rPr>
              <a:t>}  </a:t>
            </a:r>
            <a:r>
              <a:rPr sz="1400" spc="-80" dirty="0">
                <a:latin typeface="Microsoft Sans Serif"/>
                <a:cs typeface="Microsoft Sans Serif"/>
              </a:rPr>
              <a:t>p</a:t>
            </a:r>
            <a:r>
              <a:rPr sz="1400" spc="-35" dirty="0">
                <a:latin typeface="Microsoft Sans Serif"/>
                <a:cs typeface="Microsoft Sans Serif"/>
              </a:rPr>
              <a:t>r</a:t>
            </a:r>
            <a:r>
              <a:rPr sz="1400" spc="-50" dirty="0">
                <a:latin typeface="Microsoft Sans Serif"/>
                <a:cs typeface="Microsoft Sans Serif"/>
              </a:rPr>
              <a:t>o</a:t>
            </a:r>
            <a:r>
              <a:rPr sz="1400" spc="-140" dirty="0">
                <a:latin typeface="Microsoft Sans Serif"/>
                <a:cs typeface="Microsoft Sans Serif"/>
              </a:rPr>
              <a:t>c</a:t>
            </a:r>
            <a:r>
              <a:rPr sz="1400" spc="-150" dirty="0">
                <a:latin typeface="Microsoft Sans Serif"/>
                <a:cs typeface="Microsoft Sans Serif"/>
              </a:rPr>
              <a:t>e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15" dirty="0">
                <a:latin typeface="Microsoft Sans Serif"/>
                <a:cs typeface="Microsoft Sans Serif"/>
              </a:rPr>
              <a:t>r</a:t>
            </a:r>
            <a:r>
              <a:rPr sz="1400" spc="-105" dirty="0">
                <a:latin typeface="Microsoft Sans Serif"/>
                <a:cs typeface="Microsoft Sans Serif"/>
              </a:rPr>
              <a:t>al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14" dirty="0">
                <a:latin typeface="Microsoft Sans Serif"/>
                <a:cs typeface="Microsoft Sans Serif"/>
              </a:rPr>
              <a:t>statem</a:t>
            </a: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n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spc="605" dirty="0">
                <a:latin typeface="Microsoft Sans Serif"/>
                <a:cs typeface="Microsoft Sans Serif"/>
              </a:rPr>
              <a:t>………</a:t>
            </a:r>
            <a:endParaRPr sz="1400">
              <a:latin typeface="Microsoft Sans Serif"/>
              <a:cs typeface="Microsoft Sans Serif"/>
            </a:endParaRPr>
          </a:p>
          <a:p>
            <a:pPr marL="91440" marR="1622425">
              <a:lnSpc>
                <a:spcPct val="100000"/>
              </a:lnSpc>
              <a:spcBef>
                <a:spcPts val="5"/>
              </a:spcBef>
            </a:pPr>
            <a:r>
              <a:rPr sz="1400" spc="610" dirty="0">
                <a:latin typeface="Microsoft Sans Serif"/>
                <a:cs typeface="Microsoft Sans Serif"/>
              </a:rPr>
              <a:t>……… </a:t>
            </a:r>
            <a:r>
              <a:rPr sz="1400" spc="615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default:procedural_statement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155" dirty="0">
                <a:latin typeface="Microsoft Sans Serif"/>
                <a:cs typeface="Microsoft Sans Serif"/>
              </a:rPr>
              <a:t>endcase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85488" y="3322320"/>
            <a:ext cx="4520565" cy="3228340"/>
            <a:chOff x="4285488" y="3322320"/>
            <a:chExt cx="4520565" cy="322834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96156" y="3325368"/>
              <a:ext cx="4509515" cy="31988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5488" y="3322320"/>
              <a:ext cx="4075175" cy="32278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43400" y="3352800"/>
              <a:ext cx="4419600" cy="310896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343400" y="3352800"/>
            <a:ext cx="4419600" cy="310896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10"/>
              </a:spcBef>
            </a:pPr>
            <a:r>
              <a:rPr sz="1400" spc="-114" dirty="0">
                <a:latin typeface="Microsoft Sans Serif"/>
                <a:cs typeface="Microsoft Sans Serif"/>
              </a:rPr>
              <a:t>m</a:t>
            </a:r>
            <a:r>
              <a:rPr sz="1400" spc="-75" dirty="0">
                <a:latin typeface="Microsoft Sans Serif"/>
                <a:cs typeface="Microsoft Sans Serif"/>
              </a:rPr>
              <a:t>o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175" dirty="0">
                <a:latin typeface="Microsoft Sans Serif"/>
                <a:cs typeface="Microsoft Sans Serif"/>
              </a:rPr>
              <a:t>e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130" dirty="0">
                <a:latin typeface="Microsoft Sans Serif"/>
                <a:cs typeface="Microsoft Sans Serif"/>
              </a:rPr>
              <a:t>m</a:t>
            </a:r>
            <a:r>
              <a:rPr sz="1400" spc="-85" dirty="0">
                <a:latin typeface="Microsoft Sans Serif"/>
                <a:cs typeface="Microsoft Sans Serif"/>
              </a:rPr>
              <a:t>u</a:t>
            </a:r>
            <a:r>
              <a:rPr sz="1400" spc="-145" dirty="0">
                <a:latin typeface="Microsoft Sans Serif"/>
                <a:cs typeface="Microsoft Sans Serif"/>
              </a:rPr>
              <a:t>x</a:t>
            </a:r>
            <a:r>
              <a:rPr sz="1400" spc="-150" dirty="0">
                <a:latin typeface="Microsoft Sans Serif"/>
                <a:cs typeface="Microsoft Sans Serif"/>
              </a:rPr>
              <a:t>4</a:t>
            </a:r>
            <a:r>
              <a:rPr sz="1400" spc="-40" dirty="0">
                <a:latin typeface="Microsoft Sans Serif"/>
                <a:cs typeface="Microsoft Sans Serif"/>
              </a:rPr>
              <a:t>_to</a:t>
            </a:r>
            <a:r>
              <a:rPr sz="1400" spc="-80" dirty="0">
                <a:latin typeface="Microsoft Sans Serif"/>
                <a:cs typeface="Microsoft Sans Serif"/>
              </a:rPr>
              <a:t>_</a:t>
            </a:r>
            <a:r>
              <a:rPr sz="1400" spc="-200" dirty="0">
                <a:latin typeface="Microsoft Sans Serif"/>
                <a:cs typeface="Microsoft Sans Serif"/>
              </a:rPr>
              <a:t>1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(ou</a:t>
            </a:r>
            <a:r>
              <a:rPr sz="1400" spc="-30" dirty="0">
                <a:latin typeface="Microsoft Sans Serif"/>
                <a:cs typeface="Microsoft Sans Serif"/>
              </a:rPr>
              <a:t>t</a:t>
            </a:r>
            <a:r>
              <a:rPr sz="1400" spc="-25" dirty="0">
                <a:latin typeface="Microsoft Sans Serif"/>
                <a:cs typeface="Microsoft Sans Serif"/>
              </a:rPr>
              <a:t>,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35" dirty="0">
                <a:latin typeface="Microsoft Sans Serif"/>
                <a:cs typeface="Microsoft Sans Serif"/>
              </a:rPr>
              <a:t>O,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1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3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190" dirty="0">
                <a:latin typeface="Microsoft Sans Serif"/>
                <a:cs typeface="Microsoft Sans Serif"/>
              </a:rPr>
              <a:t>s</a:t>
            </a:r>
            <a:r>
              <a:rPr sz="1400" spc="-95" dirty="0">
                <a:latin typeface="Microsoft Sans Serif"/>
                <a:cs typeface="Microsoft Sans Serif"/>
              </a:rPr>
              <a:t>l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265" dirty="0">
                <a:latin typeface="Microsoft Sans Serif"/>
                <a:cs typeface="Microsoft Sans Serif"/>
              </a:rPr>
              <a:t>s</a:t>
            </a:r>
            <a:r>
              <a:rPr sz="1400" spc="-40" dirty="0">
                <a:latin typeface="Microsoft Sans Serif"/>
                <a:cs typeface="Microsoft Sans Serif"/>
              </a:rPr>
              <a:t>O);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ts val="1655"/>
              </a:lnSpc>
            </a:pPr>
            <a:r>
              <a:rPr sz="1400" spc="-25" dirty="0">
                <a:latin typeface="Microsoft Sans Serif"/>
                <a:cs typeface="Microsoft Sans Serif"/>
              </a:rPr>
              <a:t>i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spc="-80" dirty="0">
                <a:latin typeface="Microsoft Sans Serif"/>
                <a:cs typeface="Microsoft Sans Serif"/>
              </a:rPr>
              <a:t>p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i</a:t>
            </a:r>
            <a:r>
              <a:rPr sz="1400" spc="-35" dirty="0">
                <a:latin typeface="Microsoft Sans Serif"/>
                <a:cs typeface="Microsoft Sans Serif"/>
              </a:rPr>
              <a:t>O,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i</a:t>
            </a:r>
            <a:r>
              <a:rPr sz="1400" spc="-195" dirty="0">
                <a:latin typeface="Microsoft Sans Serif"/>
                <a:cs typeface="Microsoft Sans Serif"/>
              </a:rPr>
              <a:t>1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i</a:t>
            </a:r>
            <a:r>
              <a:rPr sz="1400" spc="-195" dirty="0">
                <a:latin typeface="Microsoft Sans Serif"/>
                <a:cs typeface="Microsoft Sans Serif"/>
              </a:rPr>
              <a:t>2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i</a:t>
            </a:r>
            <a:r>
              <a:rPr sz="1400" spc="-195" dirty="0">
                <a:latin typeface="Microsoft Sans Serif"/>
                <a:cs typeface="Microsoft Sans Serif"/>
              </a:rPr>
              <a:t>3</a:t>
            </a:r>
            <a:r>
              <a:rPr sz="1400" dirty="0">
                <a:latin typeface="Microsoft Sans Serif"/>
                <a:cs typeface="Microsoft Sans Serif"/>
              </a:rPr>
              <a:t>;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ts val="1710"/>
              </a:lnSpc>
            </a:pPr>
            <a:r>
              <a:rPr sz="1400" spc="-55" dirty="0">
                <a:latin typeface="Microsoft Sans Serif"/>
                <a:cs typeface="Microsoft Sans Serif"/>
              </a:rPr>
              <a:t>input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80" dirty="0">
                <a:latin typeface="Microsoft Sans Serif"/>
                <a:cs typeface="Microsoft Sans Serif"/>
              </a:rPr>
              <a:t>s1.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sO;</a:t>
            </a:r>
            <a:r>
              <a:rPr sz="1400" spc="130" dirty="0">
                <a:latin typeface="Microsoft Sans Serif"/>
                <a:cs typeface="Microsoft Sans Serif"/>
              </a:rPr>
              <a:t> </a:t>
            </a:r>
            <a:r>
              <a:rPr sz="1450" i="1" spc="-40" dirty="0">
                <a:latin typeface="Arial"/>
                <a:cs typeface="Arial"/>
              </a:rPr>
              <a:t>//Port </a:t>
            </a:r>
            <a:r>
              <a:rPr sz="1450" i="1" spc="-125" dirty="0">
                <a:latin typeface="Arial"/>
                <a:cs typeface="Arial"/>
              </a:rPr>
              <a:t>declarations</a:t>
            </a:r>
            <a:r>
              <a:rPr sz="1450" i="1" spc="-40" dirty="0">
                <a:latin typeface="Arial"/>
                <a:cs typeface="Arial"/>
              </a:rPr>
              <a:t> </a:t>
            </a:r>
            <a:r>
              <a:rPr sz="1450" i="1" spc="-75" dirty="0">
                <a:latin typeface="Arial"/>
                <a:cs typeface="Arial"/>
              </a:rPr>
              <a:t>from</a:t>
            </a:r>
            <a:r>
              <a:rPr sz="1450" i="1" spc="-25" dirty="0">
                <a:latin typeface="Arial"/>
                <a:cs typeface="Arial"/>
              </a:rPr>
              <a:t> </a:t>
            </a:r>
            <a:r>
              <a:rPr sz="1450" i="1" spc="-105" dirty="0">
                <a:latin typeface="Arial"/>
                <a:cs typeface="Arial"/>
              </a:rPr>
              <a:t>the</a:t>
            </a:r>
            <a:r>
              <a:rPr sz="1450" i="1" spc="-10" dirty="0">
                <a:latin typeface="Arial"/>
                <a:cs typeface="Arial"/>
              </a:rPr>
              <a:t> </a:t>
            </a:r>
            <a:r>
              <a:rPr sz="1450" i="1" spc="15" dirty="0">
                <a:latin typeface="Arial"/>
                <a:cs typeface="Arial"/>
              </a:rPr>
              <a:t>I/O</a:t>
            </a:r>
            <a:r>
              <a:rPr sz="1450" i="1" spc="-10" dirty="0">
                <a:latin typeface="Arial"/>
                <a:cs typeface="Arial"/>
              </a:rPr>
              <a:t> </a:t>
            </a:r>
            <a:r>
              <a:rPr sz="1450" i="1" spc="-135" dirty="0">
                <a:latin typeface="Arial"/>
                <a:cs typeface="Arial"/>
              </a:rPr>
              <a:t>diagram</a:t>
            </a:r>
            <a:endParaRPr sz="1450">
              <a:latin typeface="Arial"/>
              <a:cs typeface="Arial"/>
            </a:endParaRPr>
          </a:p>
          <a:p>
            <a:pPr marL="92075" marR="3535679">
              <a:lnSpc>
                <a:spcPts val="1680"/>
              </a:lnSpc>
              <a:spcBef>
                <a:spcPts val="55"/>
              </a:spcBef>
            </a:pP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-20" dirty="0">
                <a:latin typeface="Microsoft Sans Serif"/>
                <a:cs typeface="Microsoft Sans Serif"/>
              </a:rPr>
              <a:t>t</a:t>
            </a:r>
            <a:r>
              <a:rPr sz="1400" spc="-30" dirty="0">
                <a:latin typeface="Microsoft Sans Serif"/>
                <a:cs typeface="Microsoft Sans Serif"/>
              </a:rPr>
              <a:t>p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10" dirty="0">
                <a:latin typeface="Microsoft Sans Serif"/>
                <a:cs typeface="Microsoft Sans Serif"/>
              </a:rPr>
              <a:t>t;  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175" dirty="0">
                <a:latin typeface="Microsoft Sans Serif"/>
                <a:cs typeface="Microsoft Sans Serif"/>
              </a:rPr>
              <a:t>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10" dirty="0">
                <a:latin typeface="Microsoft Sans Serif"/>
                <a:cs typeface="Microsoft Sans Serif"/>
              </a:rPr>
              <a:t>t;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ts val="1625"/>
              </a:lnSpc>
            </a:pPr>
            <a:r>
              <a:rPr sz="1400" spc="-145" dirty="0">
                <a:latin typeface="Microsoft Sans Serif"/>
                <a:cs typeface="Microsoft Sans Serif"/>
              </a:rPr>
              <a:t>always </a:t>
            </a:r>
            <a:r>
              <a:rPr sz="1400" spc="-240" dirty="0">
                <a:latin typeface="Microsoft Sans Serif"/>
                <a:cs typeface="Microsoft Sans Serif"/>
              </a:rPr>
              <a:t>@</a:t>
            </a:r>
            <a:r>
              <a:rPr sz="1400" spc="-130" dirty="0">
                <a:latin typeface="Microsoft Sans Serif"/>
                <a:cs typeface="Microsoft Sans Serif"/>
              </a:rPr>
              <a:t>(sl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dirty="0">
                <a:latin typeface="Microsoft Sans Serif"/>
                <a:cs typeface="Microsoft Sans Serif"/>
              </a:rPr>
              <a:t>r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25" dirty="0">
                <a:latin typeface="Microsoft Sans Serif"/>
                <a:cs typeface="Microsoft Sans Serif"/>
              </a:rPr>
              <a:t>sO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dirty="0">
                <a:latin typeface="Microsoft Sans Serif"/>
                <a:cs typeface="Microsoft Sans Serif"/>
              </a:rPr>
              <a:t>r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10" dirty="0">
                <a:latin typeface="Microsoft Sans Serif"/>
                <a:cs typeface="Microsoft Sans Serif"/>
              </a:rPr>
              <a:t>O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dirty="0">
                <a:latin typeface="Microsoft Sans Serif"/>
                <a:cs typeface="Microsoft Sans Serif"/>
              </a:rPr>
              <a:t>r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1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dirty="0">
                <a:latin typeface="Microsoft Sans Serif"/>
                <a:cs typeface="Microsoft Sans Serif"/>
              </a:rPr>
              <a:t>r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dirty="0">
                <a:latin typeface="Microsoft Sans Serif"/>
                <a:cs typeface="Microsoft Sans Serif"/>
              </a:rPr>
              <a:t>r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3</a:t>
            </a:r>
            <a:r>
              <a:rPr sz="1400" spc="-120" dirty="0">
                <a:latin typeface="Microsoft Sans Serif"/>
                <a:cs typeface="Microsoft Sans Serif"/>
              </a:rPr>
              <a:t>)</a:t>
            </a:r>
            <a:endParaRPr sz="1400">
              <a:latin typeface="Microsoft Sans Serif"/>
              <a:cs typeface="Microsoft Sans Serif"/>
            </a:endParaRPr>
          </a:p>
          <a:p>
            <a:pPr marL="92075" marR="587375">
              <a:lnSpc>
                <a:spcPct val="100000"/>
              </a:lnSpc>
            </a:pPr>
            <a:r>
              <a:rPr sz="1400" spc="-155" dirty="0">
                <a:latin typeface="Microsoft Sans Serif"/>
                <a:cs typeface="Microsoft Sans Serif"/>
              </a:rPr>
              <a:t>ca</a:t>
            </a:r>
            <a:r>
              <a:rPr sz="1400" spc="-215" dirty="0">
                <a:latin typeface="Microsoft Sans Serif"/>
                <a:cs typeface="Microsoft Sans Serif"/>
              </a:rPr>
              <a:t>se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(</a:t>
            </a:r>
            <a:r>
              <a:rPr sz="1400" spc="30" dirty="0">
                <a:latin typeface="Microsoft Sans Serif"/>
                <a:cs typeface="Microsoft Sans Serif"/>
              </a:rPr>
              <a:t>{</a:t>
            </a:r>
            <a:r>
              <a:rPr sz="1400" spc="-190" dirty="0">
                <a:latin typeface="Microsoft Sans Serif"/>
                <a:cs typeface="Microsoft Sans Serif"/>
              </a:rPr>
              <a:t>s</a:t>
            </a:r>
            <a:r>
              <a:rPr sz="1400" spc="-95" dirty="0">
                <a:latin typeface="Microsoft Sans Serif"/>
                <a:cs typeface="Microsoft Sans Serif"/>
              </a:rPr>
              <a:t>l</a:t>
            </a:r>
            <a:r>
              <a:rPr sz="1400" spc="-80" dirty="0">
                <a:latin typeface="Microsoft Sans Serif"/>
                <a:cs typeface="Microsoft Sans Serif"/>
              </a:rPr>
              <a:t>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265" dirty="0">
                <a:latin typeface="Microsoft Sans Serif"/>
                <a:cs typeface="Microsoft Sans Serif"/>
              </a:rPr>
              <a:t>s</a:t>
            </a:r>
            <a:r>
              <a:rPr sz="1400" spc="30" dirty="0">
                <a:latin typeface="Microsoft Sans Serif"/>
                <a:cs typeface="Microsoft Sans Serif"/>
              </a:rPr>
              <a:t>O})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//S</a:t>
            </a:r>
            <a:r>
              <a:rPr sz="1400" spc="-110" dirty="0">
                <a:latin typeface="Microsoft Sans Serif"/>
                <a:cs typeface="Microsoft Sans Serif"/>
              </a:rPr>
              <a:t>w</a:t>
            </a:r>
            <a:r>
              <a:rPr sz="1400" spc="-45" dirty="0">
                <a:latin typeface="Microsoft Sans Serif"/>
                <a:cs typeface="Microsoft Sans Serif"/>
              </a:rPr>
              <a:t>i</a:t>
            </a:r>
            <a:r>
              <a:rPr sz="1400" spc="-60" dirty="0">
                <a:latin typeface="Microsoft Sans Serif"/>
                <a:cs typeface="Microsoft Sans Serif"/>
              </a:rPr>
              <a:t>tc</a:t>
            </a:r>
            <a:r>
              <a:rPr sz="1400" spc="-80" dirty="0">
                <a:latin typeface="Microsoft Sans Serif"/>
                <a:cs typeface="Microsoft Sans Serif"/>
              </a:rPr>
              <a:t>h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b</a:t>
            </a:r>
            <a:r>
              <a:rPr sz="1400" spc="-210" dirty="0">
                <a:latin typeface="Microsoft Sans Serif"/>
                <a:cs typeface="Microsoft Sans Serif"/>
              </a:rPr>
              <a:t>ase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n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95" dirty="0">
                <a:latin typeface="Microsoft Sans Serif"/>
                <a:cs typeface="Microsoft Sans Serif"/>
              </a:rPr>
              <a:t>c</a:t>
            </a:r>
            <a:r>
              <a:rPr sz="1400" spc="-100" dirty="0">
                <a:latin typeface="Microsoft Sans Serif"/>
                <a:cs typeface="Microsoft Sans Serif"/>
              </a:rPr>
              <a:t>on</a:t>
            </a:r>
            <a:r>
              <a:rPr sz="1400" spc="-155" dirty="0">
                <a:latin typeface="Microsoft Sans Serif"/>
                <a:cs typeface="Microsoft Sans Serif"/>
              </a:rPr>
              <a:t>ca</a:t>
            </a:r>
            <a:r>
              <a:rPr sz="1400" spc="-80" dirty="0">
                <a:latin typeface="Microsoft Sans Serif"/>
                <a:cs typeface="Microsoft Sans Serif"/>
              </a:rPr>
              <a:t>te</a:t>
            </a:r>
            <a:r>
              <a:rPr sz="1400" spc="-95" dirty="0">
                <a:latin typeface="Microsoft Sans Serif"/>
                <a:cs typeface="Microsoft Sans Serif"/>
              </a:rPr>
              <a:t>n</a:t>
            </a:r>
            <a:r>
              <a:rPr sz="1400" spc="-75" dirty="0">
                <a:latin typeface="Microsoft Sans Serif"/>
                <a:cs typeface="Microsoft Sans Serif"/>
              </a:rPr>
              <a:t>ation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90" dirty="0">
                <a:latin typeface="Microsoft Sans Serif"/>
                <a:cs typeface="Microsoft Sans Serif"/>
              </a:rPr>
              <a:t>s</a:t>
            </a:r>
            <a:r>
              <a:rPr sz="1400" spc="-95" dirty="0">
                <a:latin typeface="Microsoft Sans Serif"/>
                <a:cs typeface="Microsoft Sans Serif"/>
              </a:rPr>
              <a:t>i</a:t>
            </a:r>
            <a:r>
              <a:rPr sz="1400" spc="-145" dirty="0">
                <a:latin typeface="Microsoft Sans Serif"/>
                <a:cs typeface="Microsoft Sans Serif"/>
              </a:rPr>
              <a:t>g</a:t>
            </a:r>
            <a:r>
              <a:rPr sz="1400" spc="-135" dirty="0">
                <a:latin typeface="Microsoft Sans Serif"/>
                <a:cs typeface="Microsoft Sans Serif"/>
              </a:rPr>
              <a:t>nals  </a:t>
            </a:r>
            <a:r>
              <a:rPr sz="1400" spc="-65" dirty="0">
                <a:latin typeface="Microsoft Sans Serif"/>
                <a:cs typeface="Microsoft Sans Serif"/>
              </a:rPr>
              <a:t>2'dO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out</a:t>
            </a:r>
            <a:r>
              <a:rPr sz="1400" spc="-5" dirty="0">
                <a:latin typeface="Microsoft Sans Serif"/>
                <a:cs typeface="Microsoft Sans Serif"/>
              </a:rPr>
              <a:t> iO;</a:t>
            </a:r>
            <a:endParaRPr sz="1400">
              <a:latin typeface="Microsoft Sans Serif"/>
              <a:cs typeface="Microsoft Sans Serif"/>
            </a:endParaRPr>
          </a:p>
          <a:p>
            <a:pPr marL="92075" marR="3561079" algn="just">
              <a:lnSpc>
                <a:spcPct val="100000"/>
              </a:lnSpc>
            </a:pPr>
            <a:r>
              <a:rPr sz="1400" spc="-195" dirty="0">
                <a:latin typeface="Microsoft Sans Serif"/>
                <a:cs typeface="Microsoft Sans Serif"/>
              </a:rPr>
              <a:t>2</a:t>
            </a:r>
            <a:r>
              <a:rPr sz="1400" spc="-20" dirty="0">
                <a:latin typeface="Microsoft Sans Serif"/>
                <a:cs typeface="Microsoft Sans Serif"/>
              </a:rPr>
              <a:t>'</a:t>
            </a:r>
            <a:r>
              <a:rPr sz="1400" spc="-50" dirty="0">
                <a:latin typeface="Microsoft Sans Serif"/>
                <a:cs typeface="Microsoft Sans Serif"/>
              </a:rPr>
              <a:t>d</a:t>
            </a:r>
            <a:r>
              <a:rPr sz="1400" spc="-195" dirty="0">
                <a:latin typeface="Microsoft Sans Serif"/>
                <a:cs typeface="Microsoft Sans Serif"/>
              </a:rPr>
              <a:t>1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i</a:t>
            </a:r>
            <a:r>
              <a:rPr sz="1400" spc="-195" dirty="0">
                <a:latin typeface="Microsoft Sans Serif"/>
                <a:cs typeface="Microsoft Sans Serif"/>
              </a:rPr>
              <a:t>1</a:t>
            </a:r>
            <a:r>
              <a:rPr sz="1400" dirty="0">
                <a:latin typeface="Microsoft Sans Serif"/>
                <a:cs typeface="Microsoft Sans Serif"/>
              </a:rPr>
              <a:t>;  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spc="-20" dirty="0">
                <a:latin typeface="Microsoft Sans Serif"/>
                <a:cs typeface="Microsoft Sans Serif"/>
              </a:rPr>
              <a:t>'</a:t>
            </a:r>
            <a:r>
              <a:rPr sz="1400" spc="-50" dirty="0">
                <a:latin typeface="Microsoft Sans Serif"/>
                <a:cs typeface="Microsoft Sans Serif"/>
              </a:rPr>
              <a:t>d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spc="-5" dirty="0">
                <a:latin typeface="Microsoft Sans Serif"/>
                <a:cs typeface="Microsoft Sans Serif"/>
              </a:rPr>
              <a:t>;  </a:t>
            </a:r>
            <a:r>
              <a:rPr sz="1400" spc="-200" dirty="0">
                <a:latin typeface="Microsoft Sans Serif"/>
                <a:cs typeface="Microsoft Sans Serif"/>
              </a:rPr>
              <a:t>2</a:t>
            </a:r>
            <a:r>
              <a:rPr sz="1400" spc="-20" dirty="0">
                <a:latin typeface="Microsoft Sans Serif"/>
                <a:cs typeface="Microsoft Sans Serif"/>
              </a:rPr>
              <a:t>'</a:t>
            </a:r>
            <a:r>
              <a:rPr sz="1400" spc="-50" dirty="0">
                <a:latin typeface="Microsoft Sans Serif"/>
                <a:cs typeface="Microsoft Sans Serif"/>
              </a:rPr>
              <a:t>d</a:t>
            </a:r>
            <a:r>
              <a:rPr sz="1400" spc="-200" dirty="0">
                <a:latin typeface="Microsoft Sans Serif"/>
                <a:cs typeface="Microsoft Sans Serif"/>
              </a:rPr>
              <a:t>3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80" dirty="0">
                <a:latin typeface="Microsoft Sans Serif"/>
                <a:cs typeface="Microsoft Sans Serif"/>
              </a:rPr>
              <a:t>o</a:t>
            </a:r>
            <a:r>
              <a:rPr sz="1400" spc="-100" dirty="0">
                <a:latin typeface="Microsoft Sans Serif"/>
                <a:cs typeface="Microsoft Sans Serif"/>
              </a:rPr>
              <a:t>u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200" dirty="0">
                <a:latin typeface="Microsoft Sans Serif"/>
                <a:cs typeface="Microsoft Sans Serif"/>
              </a:rPr>
              <a:t>3</a:t>
            </a:r>
            <a:r>
              <a:rPr sz="1400" spc="-5" dirty="0">
                <a:latin typeface="Microsoft Sans Serif"/>
                <a:cs typeface="Microsoft Sans Serif"/>
              </a:rPr>
              <a:t>;</a:t>
            </a:r>
            <a:endParaRPr sz="1400">
              <a:latin typeface="Microsoft Sans Serif"/>
              <a:cs typeface="Microsoft Sans Serif"/>
            </a:endParaRPr>
          </a:p>
          <a:p>
            <a:pPr marL="92075" marR="1490345">
              <a:lnSpc>
                <a:spcPct val="100000"/>
              </a:lnSpc>
            </a:pPr>
            <a:r>
              <a:rPr sz="1400" spc="-70" dirty="0">
                <a:latin typeface="Microsoft Sans Serif"/>
                <a:cs typeface="Microsoft Sans Serif"/>
              </a:rPr>
              <a:t>default: </a:t>
            </a:r>
            <a:r>
              <a:rPr sz="1400" spc="-95" dirty="0">
                <a:latin typeface="Microsoft Sans Serif"/>
                <a:cs typeface="Microsoft Sans Serif"/>
              </a:rPr>
              <a:t>$display("Invalid</a:t>
            </a:r>
            <a:r>
              <a:rPr sz="1400" spc="-90" dirty="0">
                <a:latin typeface="Microsoft Sans Serif"/>
                <a:cs typeface="Microsoft Sans Serif"/>
              </a:rPr>
              <a:t> </a:t>
            </a:r>
            <a:r>
              <a:rPr sz="1400" spc="-55" dirty="0">
                <a:latin typeface="Microsoft Sans Serif"/>
                <a:cs typeface="Microsoft Sans Serif"/>
              </a:rPr>
              <a:t>control </a:t>
            </a:r>
            <a:r>
              <a:rPr sz="1400" spc="-120" dirty="0">
                <a:latin typeface="Microsoft Sans Serif"/>
                <a:cs typeface="Microsoft Sans Serif"/>
              </a:rPr>
              <a:t>signals");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155" dirty="0">
                <a:latin typeface="Microsoft Sans Serif"/>
                <a:cs typeface="Microsoft Sans Serif"/>
              </a:rPr>
              <a:t>endcase</a:t>
            </a:r>
            <a:endParaRPr sz="14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400" spc="-105" dirty="0">
                <a:latin typeface="Microsoft Sans Serif"/>
                <a:cs typeface="Microsoft Sans Serif"/>
              </a:rPr>
              <a:t>endmodule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87701"/>
            <a:ext cx="6771005" cy="499173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51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CASE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Case</a:t>
            </a:r>
            <a:r>
              <a:rPr sz="28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treats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each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0,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1,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x,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2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8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literally</a:t>
            </a:r>
            <a:endParaRPr sz="2800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Font typeface="Wingdings"/>
              <a:buChar char=""/>
              <a:tabLst>
                <a:tab pos="813435" algn="l"/>
              </a:tabLst>
            </a:pP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188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b01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mat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188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b01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endParaRPr sz="2400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813435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Example: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4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54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540" dirty="0">
                <a:solidFill>
                  <a:srgbClr val="006FC0"/>
                </a:solidFill>
                <a:latin typeface="Microsoft Sans Serif"/>
                <a:cs typeface="Microsoft Sans Serif"/>
              </a:rPr>
              <a:t>b0110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does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match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84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484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484" dirty="0">
                <a:solidFill>
                  <a:srgbClr val="006FC0"/>
                </a:solidFill>
                <a:latin typeface="Microsoft Sans Serif"/>
                <a:cs typeface="Microsoft Sans Serif"/>
              </a:rPr>
              <a:t>b01xx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case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31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Casez</a:t>
            </a:r>
            <a:r>
              <a:rPr sz="2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treat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7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ite</a:t>
            </a:r>
            <a:r>
              <a:rPr sz="2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ally</a:t>
            </a:r>
            <a:endParaRPr sz="2800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Font typeface="Wingdings"/>
              <a:buChar char=""/>
              <a:tabLst>
                <a:tab pos="813435" algn="l"/>
              </a:tabLst>
            </a:pP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70" dirty="0">
                <a:solidFill>
                  <a:srgbClr val="006FC0"/>
                </a:solidFill>
                <a:latin typeface="Microsoft Sans Serif"/>
                <a:cs typeface="Microsoft Sans Serif"/>
              </a:rPr>
              <a:t>sez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tr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ats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don</a:t>
            </a:r>
            <a:r>
              <a:rPr sz="2400" spc="-188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endParaRPr sz="2400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813435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Example: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4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54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540" dirty="0">
                <a:solidFill>
                  <a:srgbClr val="006FC0"/>
                </a:solidFill>
                <a:latin typeface="Microsoft Sans Serif"/>
                <a:cs typeface="Microsoft Sans Serif"/>
              </a:rPr>
              <a:t>b0110</a:t>
            </a:r>
            <a:r>
              <a:rPr sz="2400" spc="-4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matches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9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495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495" dirty="0">
                <a:solidFill>
                  <a:srgbClr val="006FC0"/>
                </a:solidFill>
                <a:latin typeface="Microsoft Sans Serif"/>
                <a:cs typeface="Microsoft Sans Serif"/>
              </a:rPr>
              <a:t>b01zz,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but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515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b01xz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231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Casex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treat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0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400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teral</a:t>
            </a:r>
            <a:r>
              <a:rPr sz="2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endParaRPr sz="2800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Font typeface="Wingdings"/>
              <a:buChar char=""/>
              <a:tabLst>
                <a:tab pos="813435" algn="l"/>
              </a:tabLst>
            </a:pP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sex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tr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ats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oth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don</a:t>
            </a:r>
            <a:r>
              <a:rPr sz="2400" spc="-1875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2400">
              <a:latin typeface="Microsoft Sans Serif"/>
              <a:cs typeface="Microsoft Sans Serif"/>
            </a:endParaRPr>
          </a:p>
          <a:p>
            <a:pPr marL="812800" lvl="1" indent="-34353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Wingdings"/>
              <a:buChar char=""/>
              <a:tabLst>
                <a:tab pos="813435" algn="l"/>
              </a:tabLst>
            </a:pP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Example: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188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b011</a:t>
            </a:r>
            <a:r>
              <a:rPr sz="24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mat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44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188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b01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1880" dirty="0">
                <a:solidFill>
                  <a:srgbClr val="006FC0"/>
                </a:solidFill>
                <a:latin typeface="Arial MT"/>
                <a:cs typeface="Arial MT"/>
              </a:rPr>
              <a:t>ʼ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b01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z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086884"/>
            <a:ext cx="8378825" cy="486537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R="154940" algn="ctr">
              <a:lnSpc>
                <a:spcPct val="100000"/>
              </a:lnSpc>
              <a:spcBef>
                <a:spcPts val="112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 FORLOOP</a:t>
            </a:r>
            <a:endParaRPr sz="2000">
              <a:latin typeface="Constantia"/>
              <a:cs typeface="Constanti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22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When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exhibits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regularity,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 be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inside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an 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simplify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description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(for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 </a:t>
            </a:r>
            <a:r>
              <a:rPr sz="24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proced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ra</a:t>
            </a:r>
            <a:r>
              <a:rPr sz="24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tem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400" spc="-27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ins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de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way</a:t>
            </a:r>
            <a:r>
              <a:rPr sz="24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block)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0000"/>
              </a:buClr>
              <a:buFont typeface="Wingdings"/>
              <a:buChar char=""/>
            </a:pPr>
            <a:endParaRPr sz="35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st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le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syntax: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50" dirty="0">
                <a:solidFill>
                  <a:srgbClr val="006FC0"/>
                </a:solidFill>
                <a:latin typeface="Microsoft Sans Serif"/>
                <a:cs typeface="Microsoft Sans Serif"/>
              </a:rPr>
              <a:t>0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&lt;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4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k+1)</a:t>
            </a:r>
            <a:endParaRPr sz="2400">
              <a:latin typeface="Microsoft Sans Serif"/>
              <a:cs typeface="Microsoft Sans Serif"/>
            </a:endParaRPr>
          </a:p>
          <a:p>
            <a:pPr marL="1270000" lvl="1" indent="-343535">
              <a:lnSpc>
                <a:spcPct val="100000"/>
              </a:lnSpc>
              <a:spcBef>
                <a:spcPts val="525"/>
              </a:spcBef>
              <a:buClr>
                <a:srgbClr val="FF0000"/>
              </a:buClr>
              <a:buFont typeface="Wingdings"/>
              <a:buChar char=""/>
              <a:tabLst>
                <a:tab pos="1270635" algn="l"/>
              </a:tabLst>
            </a:pP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op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typ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inte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ot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reg!)</a:t>
            </a:r>
            <a:endParaRPr sz="2000">
              <a:latin typeface="Microsoft Sans Serif"/>
              <a:cs typeface="Microsoft Sans Serif"/>
            </a:endParaRPr>
          </a:p>
          <a:p>
            <a:pPr marL="1270000" lvl="1" indent="-34353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Font typeface="Wingdings"/>
              <a:buChar char=""/>
              <a:tabLst>
                <a:tab pos="1270635" algn="l"/>
              </a:tabLst>
            </a:pP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Ca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`</a:t>
            </a:r>
            <a:r>
              <a:rPr sz="2000" spc="229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0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nvenien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k++</a:t>
            </a:r>
            <a:endParaRPr sz="2000">
              <a:latin typeface="Microsoft Sans Serif"/>
              <a:cs typeface="Microsoft Sans Serif"/>
            </a:endParaRPr>
          </a:p>
          <a:p>
            <a:pPr marL="1270000" lvl="1" indent="-34353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Font typeface="Wingdings"/>
              <a:buChar char=""/>
              <a:tabLst>
                <a:tab pos="1270635" algn="l"/>
              </a:tabLst>
            </a:pP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Use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…end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ent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lo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endParaRPr sz="20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3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85" dirty="0">
                <a:solidFill>
                  <a:srgbClr val="006FC0"/>
                </a:solidFill>
                <a:latin typeface="Microsoft Sans Serif"/>
                <a:cs typeface="Microsoft Sans Serif"/>
              </a:rPr>
              <a:t>Each</a:t>
            </a:r>
            <a:r>
              <a:rPr sz="24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iteration</a:t>
            </a:r>
            <a:r>
              <a:rPr sz="24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specifies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different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piece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</a:t>
            </a:r>
            <a:endParaRPr sz="2400">
              <a:latin typeface="Microsoft Sans Serif"/>
              <a:cs typeface="Microsoft Sans Serif"/>
            </a:endParaRPr>
          </a:p>
          <a:p>
            <a:pPr marL="1270000" lvl="1" indent="-343535">
              <a:lnSpc>
                <a:spcPct val="100000"/>
              </a:lnSpc>
              <a:spcBef>
                <a:spcPts val="515"/>
              </a:spcBef>
              <a:buClr>
                <a:srgbClr val="FF0000"/>
              </a:buClr>
              <a:buFont typeface="Wingdings"/>
              <a:buChar char=""/>
              <a:tabLst>
                <a:tab pos="1270635" algn="l"/>
              </a:tabLst>
            </a:pPr>
            <a:r>
              <a:rPr sz="20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Ha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thin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wit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over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“tim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30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56233"/>
            <a:ext cx="8377555" cy="28898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R="222250" algn="ctr">
              <a:lnSpc>
                <a:spcPct val="100000"/>
              </a:lnSpc>
              <a:spcBef>
                <a:spcPts val="76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WHILE</a:t>
            </a:r>
            <a:r>
              <a:rPr sz="2000" b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LOOP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r>
              <a:rPr sz="2000" spc="2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looping</a:t>
            </a:r>
            <a:r>
              <a:rPr sz="2000" spc="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2000" spc="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000" spc="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appear</a:t>
            </a:r>
            <a:r>
              <a:rPr sz="2000" spc="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2000" spc="2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inside</a:t>
            </a:r>
            <a:r>
              <a:rPr sz="20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2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initial</a:t>
            </a:r>
            <a:r>
              <a:rPr sz="20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2000" spc="2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000" spc="2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block.</a:t>
            </a:r>
            <a:r>
              <a:rPr sz="20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Loops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may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ntai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delay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ess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355600" marR="5715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while</a:t>
            </a:r>
            <a:r>
              <a:rPr sz="2000" spc="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2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executes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until</a:t>
            </a:r>
            <a:r>
              <a:rPr sz="2000" spc="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25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while-expression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becomes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false.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2000" spc="25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2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2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2000" spc="-5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entered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when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while-expression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false,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all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2000" spc="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statements</a:t>
            </a:r>
            <a:r>
              <a:rPr sz="20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3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executed</a:t>
            </a:r>
            <a:r>
              <a:rPr sz="2000" spc="40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loop,</a:t>
            </a:r>
            <a:r>
              <a:rPr sz="20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they</a:t>
            </a:r>
            <a:r>
              <a:rPr sz="20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2000" spc="3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spc="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grouped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typic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lly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usin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yw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beg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en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2648" y="4457700"/>
            <a:ext cx="2707005" cy="1239520"/>
            <a:chOff x="612648" y="4457700"/>
            <a:chExt cx="2707005" cy="123952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556" y="4468367"/>
              <a:ext cx="2680716" cy="116737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648" y="4457700"/>
              <a:ext cx="2078736" cy="12390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5800" y="4495800"/>
              <a:ext cx="2590800" cy="107746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85800" y="4495800"/>
            <a:ext cx="2590800" cy="107759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5"/>
              </a:spcBef>
            </a:pPr>
            <a:r>
              <a:rPr sz="1600" spc="-120" dirty="0">
                <a:latin typeface="Microsoft Sans Serif"/>
                <a:cs typeface="Microsoft Sans Serif"/>
              </a:rPr>
              <a:t>syntax: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600" spc="-95" dirty="0">
                <a:latin typeface="Microsoft Sans Serif"/>
                <a:cs typeface="Microsoft Sans Serif"/>
              </a:rPr>
              <a:t>While(condition)</a:t>
            </a:r>
            <a:endParaRPr sz="16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130" dirty="0">
                <a:latin typeface="Microsoft Sans Serif"/>
                <a:cs typeface="Microsoft Sans Serif"/>
              </a:rPr>
              <a:t>Procedural_statements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13047" y="3924300"/>
            <a:ext cx="4764405" cy="2702560"/>
            <a:chOff x="3813047" y="3924300"/>
            <a:chExt cx="4764405" cy="2702560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38955" y="3934967"/>
              <a:ext cx="4738115" cy="26441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13047" y="3924300"/>
              <a:ext cx="4306824" cy="270205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86199" y="3962400"/>
              <a:ext cx="4648200" cy="255422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886200" y="3962400"/>
            <a:ext cx="4648200" cy="255460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2075">
              <a:lnSpc>
                <a:spcPts val="1975"/>
              </a:lnSpc>
              <a:spcBef>
                <a:spcPts val="145"/>
              </a:spcBef>
            </a:pPr>
            <a:r>
              <a:rPr sz="1650" i="1" spc="110" dirty="0">
                <a:latin typeface="Arial"/>
                <a:cs typeface="Arial"/>
              </a:rPr>
              <a:t>/</a:t>
            </a:r>
            <a:r>
              <a:rPr sz="1650" i="1" spc="114" dirty="0">
                <a:latin typeface="Arial"/>
                <a:cs typeface="Arial"/>
              </a:rPr>
              <a:t>/</a:t>
            </a:r>
            <a:r>
              <a:rPr sz="1650" i="1" spc="-95" dirty="0">
                <a:latin typeface="Arial"/>
                <a:cs typeface="Arial"/>
              </a:rPr>
              <a:t>Inc</a:t>
            </a:r>
            <a:r>
              <a:rPr sz="1650" i="1" spc="-80" dirty="0">
                <a:latin typeface="Arial"/>
                <a:cs typeface="Arial"/>
              </a:rPr>
              <a:t>r</a:t>
            </a:r>
            <a:r>
              <a:rPr sz="1650" i="1" spc="-229" dirty="0">
                <a:latin typeface="Arial"/>
                <a:cs typeface="Arial"/>
              </a:rPr>
              <a:t>e</a:t>
            </a:r>
            <a:r>
              <a:rPr sz="1650" i="1" spc="-245" dirty="0">
                <a:latin typeface="Arial"/>
                <a:cs typeface="Arial"/>
              </a:rPr>
              <a:t>m</a:t>
            </a:r>
            <a:r>
              <a:rPr sz="1650" i="1" spc="-160" dirty="0">
                <a:latin typeface="Arial"/>
                <a:cs typeface="Arial"/>
              </a:rPr>
              <a:t>e</a:t>
            </a:r>
            <a:r>
              <a:rPr sz="1650" i="1" spc="-90" dirty="0">
                <a:latin typeface="Arial"/>
                <a:cs typeface="Arial"/>
              </a:rPr>
              <a:t>n</a:t>
            </a:r>
            <a:r>
              <a:rPr sz="1650" i="1" spc="-45" dirty="0">
                <a:latin typeface="Arial"/>
                <a:cs typeface="Arial"/>
              </a:rPr>
              <a:t>t</a:t>
            </a:r>
            <a:r>
              <a:rPr sz="1650" i="1" spc="-30" dirty="0">
                <a:latin typeface="Arial"/>
                <a:cs typeface="Arial"/>
              </a:rPr>
              <a:t> </a:t>
            </a:r>
            <a:r>
              <a:rPr sz="1650" i="1" spc="-170" dirty="0">
                <a:latin typeface="Arial"/>
                <a:cs typeface="Arial"/>
              </a:rPr>
              <a:t>c</a:t>
            </a:r>
            <a:r>
              <a:rPr sz="1650" i="1" spc="-120" dirty="0">
                <a:latin typeface="Arial"/>
                <a:cs typeface="Arial"/>
              </a:rPr>
              <a:t>o</a:t>
            </a:r>
            <a:r>
              <a:rPr sz="1650" i="1" spc="-155" dirty="0">
                <a:latin typeface="Arial"/>
                <a:cs typeface="Arial"/>
              </a:rPr>
              <a:t>u</a:t>
            </a:r>
            <a:r>
              <a:rPr sz="1650" i="1" spc="-160" dirty="0">
                <a:latin typeface="Arial"/>
                <a:cs typeface="Arial"/>
              </a:rPr>
              <a:t>n</a:t>
            </a:r>
            <a:r>
              <a:rPr sz="1650" i="1" spc="20" dirty="0">
                <a:latin typeface="Arial"/>
                <a:cs typeface="Arial"/>
              </a:rPr>
              <a:t>t</a:t>
            </a:r>
            <a:r>
              <a:rPr sz="1650" i="1" spc="-20" dirty="0">
                <a:latin typeface="Arial"/>
                <a:cs typeface="Arial"/>
              </a:rPr>
              <a:t> </a:t>
            </a:r>
            <a:r>
              <a:rPr sz="1650" i="1" spc="-5" dirty="0">
                <a:latin typeface="Arial"/>
                <a:cs typeface="Arial"/>
              </a:rPr>
              <a:t>f</a:t>
            </a:r>
            <a:r>
              <a:rPr sz="1650" i="1" spc="-90" dirty="0">
                <a:latin typeface="Arial"/>
                <a:cs typeface="Arial"/>
              </a:rPr>
              <a:t>ro</a:t>
            </a:r>
            <a:r>
              <a:rPr sz="1650" i="1" spc="-155" dirty="0">
                <a:latin typeface="Arial"/>
                <a:cs typeface="Arial"/>
              </a:rPr>
              <a:t>m</a:t>
            </a:r>
            <a:r>
              <a:rPr sz="1650" i="1" spc="-15" dirty="0">
                <a:latin typeface="Arial"/>
                <a:cs typeface="Arial"/>
              </a:rPr>
              <a:t> </a:t>
            </a:r>
            <a:r>
              <a:rPr sz="1650" i="1" spc="-260" dirty="0">
                <a:latin typeface="Arial"/>
                <a:cs typeface="Arial"/>
              </a:rPr>
              <a:t>0</a:t>
            </a:r>
            <a:r>
              <a:rPr sz="1650" i="1" spc="-30" dirty="0">
                <a:latin typeface="Arial"/>
                <a:cs typeface="Arial"/>
              </a:rPr>
              <a:t> </a:t>
            </a:r>
            <a:r>
              <a:rPr sz="1650" i="1" spc="-40" dirty="0">
                <a:latin typeface="Arial"/>
                <a:cs typeface="Arial"/>
              </a:rPr>
              <a:t>t</a:t>
            </a:r>
            <a:r>
              <a:rPr sz="1650" i="1" spc="-70" dirty="0">
                <a:latin typeface="Arial"/>
                <a:cs typeface="Arial"/>
              </a:rPr>
              <a:t>o</a:t>
            </a:r>
            <a:r>
              <a:rPr sz="1650" i="1" spc="-20" dirty="0">
                <a:latin typeface="Arial"/>
                <a:cs typeface="Arial"/>
              </a:rPr>
              <a:t> </a:t>
            </a:r>
            <a:r>
              <a:rPr sz="1650" i="1" spc="-265" dirty="0">
                <a:latin typeface="Arial"/>
                <a:cs typeface="Arial"/>
              </a:rPr>
              <a:t>12</a:t>
            </a:r>
            <a:r>
              <a:rPr sz="1650" i="1" spc="-270" dirty="0">
                <a:latin typeface="Arial"/>
                <a:cs typeface="Arial"/>
              </a:rPr>
              <a:t>7</a:t>
            </a:r>
            <a:r>
              <a:rPr sz="1650" i="1" spc="-110" dirty="0">
                <a:latin typeface="Arial"/>
                <a:cs typeface="Arial"/>
              </a:rPr>
              <a:t>.</a:t>
            </a:r>
            <a:r>
              <a:rPr sz="1650" i="1" spc="-20" dirty="0">
                <a:latin typeface="Arial"/>
                <a:cs typeface="Arial"/>
              </a:rPr>
              <a:t> </a:t>
            </a:r>
            <a:r>
              <a:rPr sz="1650" i="1" spc="-250" dirty="0">
                <a:latin typeface="Arial"/>
                <a:cs typeface="Arial"/>
              </a:rPr>
              <a:t>E</a:t>
            </a:r>
            <a:r>
              <a:rPr sz="1650" i="1" spc="-185" dirty="0">
                <a:latin typeface="Arial"/>
                <a:cs typeface="Arial"/>
              </a:rPr>
              <a:t>x</a:t>
            </a:r>
            <a:r>
              <a:rPr sz="1650" i="1" dirty="0">
                <a:latin typeface="Arial"/>
                <a:cs typeface="Arial"/>
              </a:rPr>
              <a:t>it</a:t>
            </a:r>
            <a:r>
              <a:rPr sz="1650" i="1" spc="-35" dirty="0">
                <a:latin typeface="Arial"/>
                <a:cs typeface="Arial"/>
              </a:rPr>
              <a:t> </a:t>
            </a:r>
            <a:r>
              <a:rPr sz="1650" i="1" spc="-260" dirty="0">
                <a:latin typeface="Arial"/>
                <a:cs typeface="Arial"/>
              </a:rPr>
              <a:t>a</a:t>
            </a:r>
            <a:r>
              <a:rPr sz="1650" i="1" spc="20" dirty="0">
                <a:latin typeface="Arial"/>
                <a:cs typeface="Arial"/>
              </a:rPr>
              <a:t>t</a:t>
            </a:r>
            <a:r>
              <a:rPr sz="1650" i="1" spc="-20" dirty="0">
                <a:latin typeface="Arial"/>
                <a:cs typeface="Arial"/>
              </a:rPr>
              <a:t> </a:t>
            </a:r>
            <a:r>
              <a:rPr sz="1650" i="1" spc="-114" dirty="0">
                <a:latin typeface="Arial"/>
                <a:cs typeface="Arial"/>
              </a:rPr>
              <a:t>count</a:t>
            </a:r>
            <a:r>
              <a:rPr sz="1650" i="1" spc="-15" dirty="0">
                <a:latin typeface="Arial"/>
                <a:cs typeface="Arial"/>
              </a:rPr>
              <a:t> </a:t>
            </a:r>
            <a:r>
              <a:rPr sz="1650" i="1" spc="-265" dirty="0">
                <a:latin typeface="Arial"/>
                <a:cs typeface="Arial"/>
              </a:rPr>
              <a:t>12</a:t>
            </a:r>
            <a:r>
              <a:rPr sz="1650" i="1" spc="-270" dirty="0">
                <a:latin typeface="Arial"/>
                <a:cs typeface="Arial"/>
              </a:rPr>
              <a:t>8</a:t>
            </a:r>
            <a:r>
              <a:rPr sz="1650" i="1" spc="-110" dirty="0"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  <a:p>
            <a:pPr marL="92075" marR="3462654">
              <a:lnSpc>
                <a:spcPts val="1920"/>
              </a:lnSpc>
              <a:spcBef>
                <a:spcPts val="55"/>
              </a:spcBef>
            </a:pPr>
            <a:r>
              <a:rPr sz="1600" spc="-80" dirty="0">
                <a:latin typeface="Microsoft Sans Serif"/>
                <a:cs typeface="Microsoft Sans Serif"/>
              </a:rPr>
              <a:t>inte</a:t>
            </a:r>
            <a:r>
              <a:rPr sz="1600" spc="-200" dirty="0">
                <a:latin typeface="Microsoft Sans Serif"/>
                <a:cs typeface="Microsoft Sans Serif"/>
              </a:rPr>
              <a:t>ge</a:t>
            </a:r>
            <a:r>
              <a:rPr sz="1600" spc="-5" dirty="0">
                <a:latin typeface="Microsoft Sans Serif"/>
                <a:cs typeface="Microsoft Sans Serif"/>
              </a:rPr>
              <a:t>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25" dirty="0">
                <a:latin typeface="Microsoft Sans Serif"/>
                <a:cs typeface="Microsoft Sans Serif"/>
              </a:rPr>
              <a:t>u</a:t>
            </a:r>
            <a:r>
              <a:rPr sz="1600" spc="-130" dirty="0">
                <a:latin typeface="Microsoft Sans Serif"/>
                <a:cs typeface="Microsoft Sans Serif"/>
              </a:rPr>
              <a:t>n</a:t>
            </a:r>
            <a:r>
              <a:rPr sz="1600" spc="10" dirty="0">
                <a:latin typeface="Microsoft Sans Serif"/>
                <a:cs typeface="Microsoft Sans Serif"/>
              </a:rPr>
              <a:t>t;  </a:t>
            </a:r>
            <a:r>
              <a:rPr sz="1600" spc="-55" dirty="0">
                <a:latin typeface="Microsoft Sans Serif"/>
                <a:cs typeface="Microsoft Sans Serif"/>
              </a:rPr>
              <a:t>initial</a:t>
            </a:r>
            <a:endParaRPr sz="1600">
              <a:latin typeface="Microsoft Sans Serif"/>
              <a:cs typeface="Microsoft Sans Serif"/>
            </a:endParaRPr>
          </a:p>
          <a:p>
            <a:pPr marL="92075" marR="3730625">
              <a:lnSpc>
                <a:spcPts val="1920"/>
              </a:lnSpc>
              <a:spcBef>
                <a:spcPts val="5"/>
              </a:spcBef>
            </a:pPr>
            <a:r>
              <a:rPr sz="1600" spc="-135" dirty="0">
                <a:latin typeface="Microsoft Sans Serif"/>
                <a:cs typeface="Microsoft Sans Serif"/>
              </a:rPr>
              <a:t>begin </a:t>
            </a:r>
            <a:r>
              <a:rPr sz="1600" spc="-130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25" dirty="0">
                <a:latin typeface="Microsoft Sans Serif"/>
                <a:cs typeface="Microsoft Sans Serif"/>
              </a:rPr>
              <a:t>u</a:t>
            </a:r>
            <a:r>
              <a:rPr sz="1600" spc="-130" dirty="0">
                <a:latin typeface="Microsoft Sans Serif"/>
                <a:cs typeface="Microsoft Sans Serif"/>
              </a:rPr>
              <a:t>n</a:t>
            </a:r>
            <a:r>
              <a:rPr sz="1600" spc="30" dirty="0">
                <a:latin typeface="Microsoft Sans Serif"/>
                <a:cs typeface="Microsoft Sans Serif"/>
              </a:rPr>
              <a:t>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=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25" dirty="0">
                <a:latin typeface="Microsoft Sans Serif"/>
                <a:cs typeface="Microsoft Sans Serif"/>
              </a:rPr>
              <a:t>0;</a:t>
            </a:r>
            <a:endParaRPr sz="1600">
              <a:latin typeface="Microsoft Sans Serif"/>
              <a:cs typeface="Microsoft Sans Serif"/>
            </a:endParaRPr>
          </a:p>
          <a:p>
            <a:pPr marL="92075" marR="3068955">
              <a:lnSpc>
                <a:spcPts val="1920"/>
              </a:lnSpc>
            </a:pPr>
            <a:r>
              <a:rPr sz="1600" spc="-155" dirty="0">
                <a:latin typeface="Microsoft Sans Serif"/>
                <a:cs typeface="Microsoft Sans Serif"/>
              </a:rPr>
              <a:t>w</a:t>
            </a:r>
            <a:r>
              <a:rPr sz="1600" spc="-125" dirty="0">
                <a:latin typeface="Microsoft Sans Serif"/>
                <a:cs typeface="Microsoft Sans Serif"/>
              </a:rPr>
              <a:t>h</a:t>
            </a:r>
            <a:r>
              <a:rPr sz="1600" spc="-80" dirty="0">
                <a:latin typeface="Microsoft Sans Serif"/>
                <a:cs typeface="Microsoft Sans Serif"/>
              </a:rPr>
              <a:t>ile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10" dirty="0">
                <a:latin typeface="Microsoft Sans Serif"/>
                <a:cs typeface="Microsoft Sans Serif"/>
              </a:rPr>
              <a:t>(</a:t>
            </a:r>
            <a:r>
              <a:rPr sz="1600" spc="-170" dirty="0">
                <a:latin typeface="Microsoft Sans Serif"/>
                <a:cs typeface="Microsoft Sans Serif"/>
              </a:rPr>
              <a:t>c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25" dirty="0">
                <a:latin typeface="Microsoft Sans Serif"/>
                <a:cs typeface="Microsoft Sans Serif"/>
              </a:rPr>
              <a:t>u</a:t>
            </a:r>
            <a:r>
              <a:rPr sz="1600" spc="-130" dirty="0">
                <a:latin typeface="Microsoft Sans Serif"/>
                <a:cs typeface="Microsoft Sans Serif"/>
              </a:rPr>
              <a:t>n</a:t>
            </a:r>
            <a:r>
              <a:rPr sz="1600" spc="30" dirty="0">
                <a:latin typeface="Microsoft Sans Serif"/>
                <a:cs typeface="Microsoft Sans Serif"/>
              </a:rPr>
              <a:t>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&lt;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235" dirty="0">
                <a:latin typeface="Microsoft Sans Serif"/>
                <a:cs typeface="Microsoft Sans Serif"/>
              </a:rPr>
              <a:t>12</a:t>
            </a:r>
            <a:r>
              <a:rPr sz="1600" spc="-240" dirty="0">
                <a:latin typeface="Microsoft Sans Serif"/>
                <a:cs typeface="Microsoft Sans Serif"/>
              </a:rPr>
              <a:t>8</a:t>
            </a:r>
            <a:r>
              <a:rPr sz="1600" spc="-120" dirty="0">
                <a:latin typeface="Microsoft Sans Serif"/>
                <a:cs typeface="Microsoft Sans Serif"/>
              </a:rPr>
              <a:t>)  </a:t>
            </a:r>
            <a:r>
              <a:rPr sz="1600" spc="-135" dirty="0">
                <a:latin typeface="Microsoft Sans Serif"/>
                <a:cs typeface="Microsoft Sans Serif"/>
              </a:rPr>
              <a:t>begin</a:t>
            </a:r>
            <a:endParaRPr sz="1600">
              <a:latin typeface="Microsoft Sans Serif"/>
              <a:cs typeface="Microsoft Sans Serif"/>
            </a:endParaRPr>
          </a:p>
          <a:p>
            <a:pPr marL="92075" marR="567055">
              <a:lnSpc>
                <a:spcPts val="1920"/>
              </a:lnSpc>
            </a:pPr>
            <a:r>
              <a:rPr sz="1600" spc="-120" dirty="0">
                <a:latin typeface="Microsoft Sans Serif"/>
                <a:cs typeface="Microsoft Sans Serif"/>
              </a:rPr>
              <a:t>$display("Count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=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25" dirty="0">
                <a:latin typeface="Microsoft Sans Serif"/>
                <a:cs typeface="Microsoft Sans Serif"/>
              </a:rPr>
              <a:t>%d",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count);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75" dirty="0">
                <a:latin typeface="Microsoft Sans Serif"/>
                <a:cs typeface="Microsoft Sans Serif"/>
              </a:rPr>
              <a:t>//Display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the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90" dirty="0">
                <a:latin typeface="Microsoft Sans Serif"/>
                <a:cs typeface="Microsoft Sans Serif"/>
              </a:rPr>
              <a:t>count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90" dirty="0">
                <a:latin typeface="Microsoft Sans Serif"/>
                <a:cs typeface="Microsoft Sans Serif"/>
              </a:rPr>
              <a:t>count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=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90" dirty="0">
                <a:latin typeface="Microsoft Sans Serif"/>
                <a:cs typeface="Microsoft Sans Serif"/>
              </a:rPr>
              <a:t>count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+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25" dirty="0">
                <a:latin typeface="Microsoft Sans Serif"/>
                <a:cs typeface="Microsoft Sans Serif"/>
              </a:rPr>
              <a:t>1;</a:t>
            </a:r>
            <a:endParaRPr sz="1600">
              <a:latin typeface="Microsoft Sans Serif"/>
              <a:cs typeface="Microsoft Sans Serif"/>
            </a:endParaRPr>
          </a:p>
          <a:p>
            <a:pPr marL="92075">
              <a:lnSpc>
                <a:spcPts val="1855"/>
              </a:lnSpc>
            </a:pPr>
            <a:r>
              <a:rPr sz="1600" spc="-140" dirty="0">
                <a:latin typeface="Microsoft Sans Serif"/>
                <a:cs typeface="Microsoft Sans Serif"/>
              </a:rPr>
              <a:t>end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2640" y="3926204"/>
            <a:ext cx="3600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during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execution.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1007635"/>
            <a:ext cx="8266430" cy="29444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" algn="ctr">
              <a:lnSpc>
                <a:spcPct val="100000"/>
              </a:lnSpc>
              <a:spcBef>
                <a:spcPts val="700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20" dirty="0">
                <a:solidFill>
                  <a:srgbClr val="C00000"/>
                </a:solidFill>
                <a:latin typeface="Constantia"/>
                <a:cs typeface="Constantia"/>
              </a:rPr>
              <a:t>REPEAT</a:t>
            </a:r>
            <a:r>
              <a:rPr sz="2000" b="1" spc="-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LOOP</a:t>
            </a:r>
            <a:endParaRPr sz="2000">
              <a:latin typeface="Constantia"/>
              <a:cs typeface="Constantia"/>
            </a:endParaRPr>
          </a:p>
          <a:p>
            <a:pPr marL="355600" marR="161925" indent="-342900">
              <a:lnSpc>
                <a:spcPct val="100000"/>
              </a:lnSpc>
              <a:spcBef>
                <a:spcPts val="53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repeat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this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loop.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repeat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executes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fixed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times.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19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repeat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cannot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general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expression.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while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rpos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19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repeat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must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contain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number,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which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constant,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"/>
            </a:pPr>
            <a:endParaRPr sz="19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However,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number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variable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signal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value,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evaluated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only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when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3647" y="4686300"/>
            <a:ext cx="2554605" cy="1239520"/>
            <a:chOff x="993647" y="4686300"/>
            <a:chExt cx="2554605" cy="123952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9555" y="4696967"/>
              <a:ext cx="2528316" cy="11673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3647" y="4686300"/>
              <a:ext cx="2022348" cy="12390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6799" y="4724400"/>
              <a:ext cx="2438400" cy="107746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66800" y="4724400"/>
            <a:ext cx="2438400" cy="107759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5"/>
              </a:spcBef>
            </a:pPr>
            <a:r>
              <a:rPr sz="1600" spc="-120" dirty="0">
                <a:latin typeface="Microsoft Sans Serif"/>
                <a:cs typeface="Microsoft Sans Serif"/>
              </a:rPr>
              <a:t>syntax: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91440" marR="641985">
              <a:lnSpc>
                <a:spcPct val="100000"/>
              </a:lnSpc>
            </a:pPr>
            <a:r>
              <a:rPr sz="1600" spc="-95" dirty="0">
                <a:latin typeface="Microsoft Sans Serif"/>
                <a:cs typeface="Microsoft Sans Serif"/>
              </a:rPr>
              <a:t>re</a:t>
            </a:r>
            <a:r>
              <a:rPr sz="1600" spc="-110" dirty="0">
                <a:latin typeface="Microsoft Sans Serif"/>
                <a:cs typeface="Microsoft Sans Serif"/>
              </a:rPr>
              <a:t>p</a:t>
            </a:r>
            <a:r>
              <a:rPr sz="1600" spc="-200" dirty="0">
                <a:latin typeface="Microsoft Sans Serif"/>
                <a:cs typeface="Microsoft Sans Serif"/>
              </a:rPr>
              <a:t>e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30" dirty="0">
                <a:latin typeface="Microsoft Sans Serif"/>
                <a:cs typeface="Microsoft Sans Serif"/>
              </a:rPr>
              <a:t>t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Microsoft Sans Serif"/>
                <a:cs typeface="Microsoft Sans Serif"/>
              </a:rPr>
              <a:t>[lo</a:t>
            </a:r>
            <a:r>
              <a:rPr sz="1600" spc="-95" dirty="0">
                <a:latin typeface="Microsoft Sans Serif"/>
                <a:cs typeface="Microsoft Sans Serif"/>
              </a:rPr>
              <a:t>op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95" dirty="0">
                <a:latin typeface="Microsoft Sans Serif"/>
                <a:cs typeface="Microsoft Sans Serif"/>
              </a:rPr>
              <a:t>o</a:t>
            </a:r>
            <a:r>
              <a:rPr sz="1600" spc="-125" dirty="0">
                <a:latin typeface="Microsoft Sans Serif"/>
                <a:cs typeface="Microsoft Sans Serif"/>
              </a:rPr>
              <a:t>u</a:t>
            </a:r>
            <a:r>
              <a:rPr sz="1600" spc="-130" dirty="0">
                <a:latin typeface="Microsoft Sans Serif"/>
                <a:cs typeface="Microsoft Sans Serif"/>
              </a:rPr>
              <a:t>n</a:t>
            </a:r>
            <a:r>
              <a:rPr sz="1600" spc="-15" dirty="0">
                <a:latin typeface="Microsoft Sans Serif"/>
                <a:cs typeface="Microsoft Sans Serif"/>
              </a:rPr>
              <a:t>t]  </a:t>
            </a:r>
            <a:r>
              <a:rPr sz="1600" spc="-95" dirty="0">
                <a:latin typeface="Microsoft Sans Serif"/>
                <a:cs typeface="Microsoft Sans Serif"/>
              </a:rPr>
              <a:t>p</a:t>
            </a:r>
            <a:r>
              <a:rPr sz="1600" spc="-110" dirty="0">
                <a:latin typeface="Microsoft Sans Serif"/>
                <a:cs typeface="Microsoft Sans Serif"/>
              </a:rPr>
              <a:t>roce</a:t>
            </a:r>
            <a:r>
              <a:rPr sz="1600" spc="-114" dirty="0">
                <a:latin typeface="Microsoft Sans Serif"/>
                <a:cs typeface="Microsoft Sans Serif"/>
              </a:rPr>
              <a:t>d</a:t>
            </a:r>
            <a:r>
              <a:rPr sz="1600" spc="-80" dirty="0">
                <a:latin typeface="Microsoft Sans Serif"/>
                <a:cs typeface="Microsoft Sans Serif"/>
              </a:rPr>
              <a:t>u</a:t>
            </a:r>
            <a:r>
              <a:rPr sz="1600" spc="-55" dirty="0">
                <a:latin typeface="Microsoft Sans Serif"/>
                <a:cs typeface="Microsoft Sans Serif"/>
              </a:rPr>
              <a:t>r</a:t>
            </a:r>
            <a:r>
              <a:rPr sz="1600" spc="-235" dirty="0">
                <a:latin typeface="Microsoft Sans Serif"/>
                <a:cs typeface="Microsoft Sans Serif"/>
              </a:rPr>
              <a:t>a</a:t>
            </a:r>
            <a:r>
              <a:rPr sz="1600" spc="-110" dirty="0">
                <a:latin typeface="Microsoft Sans Serif"/>
                <a:cs typeface="Microsoft Sans Serif"/>
              </a:rPr>
              <a:t>l_st</a:t>
            </a:r>
            <a:r>
              <a:rPr sz="1600" spc="-160" dirty="0">
                <a:latin typeface="Microsoft Sans Serif"/>
                <a:cs typeface="Microsoft Sans Serif"/>
              </a:rPr>
              <a:t>a</a:t>
            </a:r>
            <a:r>
              <a:rPr sz="1600" spc="-60" dirty="0">
                <a:latin typeface="Microsoft Sans Serif"/>
                <a:cs typeface="Microsoft Sans Serif"/>
              </a:rPr>
              <a:t>t</a:t>
            </a:r>
            <a:r>
              <a:rPr sz="1600" spc="-110" dirty="0">
                <a:latin typeface="Microsoft Sans Serif"/>
                <a:cs typeface="Microsoft Sans Serif"/>
              </a:rPr>
              <a:t>e</a:t>
            </a:r>
            <a:r>
              <a:rPr sz="1600" spc="-204" dirty="0">
                <a:latin typeface="Microsoft Sans Serif"/>
                <a:cs typeface="Microsoft Sans Serif"/>
              </a:rPr>
              <a:t>m</a:t>
            </a:r>
            <a:r>
              <a:rPr sz="1600" spc="-130" dirty="0">
                <a:latin typeface="Microsoft Sans Serif"/>
                <a:cs typeface="Microsoft Sans Serif"/>
              </a:rPr>
              <a:t>e</a:t>
            </a:r>
            <a:r>
              <a:rPr sz="1600" spc="-50" dirty="0">
                <a:latin typeface="Microsoft Sans Serif"/>
                <a:cs typeface="Microsoft Sans Serif"/>
              </a:rPr>
              <a:t>nt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437888" y="3983748"/>
            <a:ext cx="4368165" cy="2588260"/>
            <a:chOff x="4437888" y="3983748"/>
            <a:chExt cx="4368165" cy="258826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48556" y="3986783"/>
              <a:ext cx="4357115" cy="25527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37888" y="3983748"/>
              <a:ext cx="4204716" cy="25877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95800" y="4014215"/>
              <a:ext cx="4267200" cy="246278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495800" y="4014215"/>
            <a:ext cx="4267200" cy="246316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92075" marR="259715">
              <a:lnSpc>
                <a:spcPct val="100000"/>
              </a:lnSpc>
              <a:spcBef>
                <a:spcPts val="219"/>
              </a:spcBef>
            </a:pPr>
            <a:r>
              <a:rPr sz="1400" spc="-70" dirty="0">
                <a:latin typeface="Microsoft Sans Serif"/>
                <a:cs typeface="Microsoft Sans Serif"/>
              </a:rPr>
              <a:t>//EXAMPLE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: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85" dirty="0">
                <a:latin typeface="Microsoft Sans Serif"/>
                <a:cs typeface="Microsoft Sans Serif"/>
              </a:rPr>
              <a:t>increment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25" dirty="0">
                <a:latin typeface="Microsoft Sans Serif"/>
                <a:cs typeface="Microsoft Sans Serif"/>
              </a:rPr>
              <a:t>and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5" dirty="0">
                <a:latin typeface="Microsoft Sans Serif"/>
                <a:cs typeface="Microsoft Sans Serif"/>
              </a:rPr>
              <a:t>display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count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from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195" dirty="0">
                <a:latin typeface="Microsoft Sans Serif"/>
                <a:cs typeface="Microsoft Sans Serif"/>
              </a:rPr>
              <a:t>a</a:t>
            </a:r>
            <a:r>
              <a:rPr sz="1400" spc="-15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to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127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90" dirty="0">
                <a:latin typeface="Microsoft Sans Serif"/>
                <a:cs typeface="Microsoft Sans Serif"/>
              </a:rPr>
              <a:t>integer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count;</a:t>
            </a:r>
            <a:endParaRPr sz="1400">
              <a:latin typeface="Microsoft Sans Serif"/>
              <a:cs typeface="Microsoft Sans Serif"/>
            </a:endParaRPr>
          </a:p>
          <a:p>
            <a:pPr marL="92075" marR="3424554">
              <a:lnSpc>
                <a:spcPct val="100000"/>
              </a:lnSpc>
            </a:pPr>
            <a:r>
              <a:rPr sz="1400" spc="-50" dirty="0">
                <a:latin typeface="Microsoft Sans Serif"/>
                <a:cs typeface="Microsoft Sans Serif"/>
              </a:rPr>
              <a:t>initial 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14" dirty="0">
                <a:latin typeface="Microsoft Sans Serif"/>
                <a:cs typeface="Microsoft Sans Serif"/>
              </a:rPr>
              <a:t>begin </a:t>
            </a:r>
            <a:r>
              <a:rPr sz="1400" spc="-110" dirty="0">
                <a:latin typeface="Microsoft Sans Serif"/>
                <a:cs typeface="Microsoft Sans Serif"/>
              </a:rPr>
              <a:t> </a:t>
            </a:r>
            <a:r>
              <a:rPr sz="1400" spc="-95" dirty="0">
                <a:latin typeface="Microsoft Sans Serif"/>
                <a:cs typeface="Microsoft Sans Serif"/>
              </a:rPr>
              <a:t>c</a:t>
            </a:r>
            <a:r>
              <a:rPr sz="1400" spc="-100" dirty="0">
                <a:latin typeface="Microsoft Sans Serif"/>
                <a:cs typeface="Microsoft Sans Serif"/>
              </a:rPr>
              <a:t>oun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200" dirty="0">
                <a:latin typeface="Microsoft Sans Serif"/>
                <a:cs typeface="Microsoft Sans Serif"/>
              </a:rPr>
              <a:t>0</a:t>
            </a:r>
            <a:r>
              <a:rPr sz="1400" spc="-5" dirty="0">
                <a:latin typeface="Microsoft Sans Serif"/>
                <a:cs typeface="Microsoft Sans Serif"/>
              </a:rPr>
              <a:t>;  </a:t>
            </a:r>
            <a:r>
              <a:rPr sz="1400" spc="-70" dirty="0">
                <a:latin typeface="Microsoft Sans Serif"/>
                <a:cs typeface="Microsoft Sans Serif"/>
              </a:rPr>
              <a:t>r</a:t>
            </a:r>
            <a:r>
              <a:rPr sz="1400" spc="-110" dirty="0">
                <a:latin typeface="Microsoft Sans Serif"/>
                <a:cs typeface="Microsoft Sans Serif"/>
              </a:rPr>
              <a:t>e</a:t>
            </a:r>
            <a:r>
              <a:rPr sz="1400" spc="-80" dirty="0">
                <a:latin typeface="Microsoft Sans Serif"/>
                <a:cs typeface="Microsoft Sans Serif"/>
              </a:rPr>
              <a:t>p</a:t>
            </a:r>
            <a:r>
              <a:rPr sz="1400" spc="-190" dirty="0">
                <a:latin typeface="Microsoft Sans Serif"/>
                <a:cs typeface="Microsoft Sans Serif"/>
              </a:rPr>
              <a:t>e</a:t>
            </a:r>
            <a:r>
              <a:rPr sz="1400" spc="-180" dirty="0">
                <a:latin typeface="Microsoft Sans Serif"/>
                <a:cs typeface="Microsoft Sans Serif"/>
              </a:rPr>
              <a:t>a</a:t>
            </a:r>
            <a:r>
              <a:rPr sz="1400" spc="-114" dirty="0">
                <a:latin typeface="Microsoft Sans Serif"/>
                <a:cs typeface="Microsoft Sans Serif"/>
              </a:rPr>
              <a:t>t(1</a:t>
            </a:r>
            <a:r>
              <a:rPr sz="1400" spc="-150" dirty="0">
                <a:latin typeface="Microsoft Sans Serif"/>
                <a:cs typeface="Microsoft Sans Serif"/>
              </a:rPr>
              <a:t>2</a:t>
            </a:r>
            <a:r>
              <a:rPr sz="1400" spc="-210" dirty="0">
                <a:latin typeface="Microsoft Sans Serif"/>
                <a:cs typeface="Microsoft Sans Serif"/>
              </a:rPr>
              <a:t>8</a:t>
            </a:r>
            <a:r>
              <a:rPr sz="1400" spc="-105" dirty="0">
                <a:latin typeface="Microsoft Sans Serif"/>
                <a:cs typeface="Microsoft Sans Serif"/>
              </a:rPr>
              <a:t>)  </a:t>
            </a:r>
            <a:r>
              <a:rPr sz="1400" spc="-114" dirty="0">
                <a:latin typeface="Microsoft Sans Serif"/>
                <a:cs typeface="Microsoft Sans Serif"/>
              </a:rPr>
              <a:t>begin</a:t>
            </a:r>
            <a:endParaRPr sz="1400">
              <a:latin typeface="Microsoft Sans Serif"/>
              <a:cs typeface="Microsoft Sans Serif"/>
            </a:endParaRPr>
          </a:p>
          <a:p>
            <a:pPr marL="92075" marR="2047239">
              <a:lnSpc>
                <a:spcPct val="100000"/>
              </a:lnSpc>
            </a:pPr>
            <a:r>
              <a:rPr sz="1400" spc="-200" dirty="0">
                <a:latin typeface="Microsoft Sans Serif"/>
                <a:cs typeface="Microsoft Sans Serif"/>
              </a:rPr>
              <a:t>$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r>
              <a:rPr sz="1400" spc="-20" dirty="0">
                <a:latin typeface="Microsoft Sans Serif"/>
                <a:cs typeface="Microsoft Sans Serif"/>
              </a:rPr>
              <a:t>i</a:t>
            </a:r>
            <a:r>
              <a:rPr sz="1400" spc="-170" dirty="0">
                <a:latin typeface="Microsoft Sans Serif"/>
                <a:cs typeface="Microsoft Sans Serif"/>
              </a:rPr>
              <a:t>sp</a:t>
            </a:r>
            <a:r>
              <a:rPr sz="1400" spc="-20" dirty="0">
                <a:latin typeface="Microsoft Sans Serif"/>
                <a:cs typeface="Microsoft Sans Serif"/>
              </a:rPr>
              <a:t>l</a:t>
            </a:r>
            <a:r>
              <a:rPr sz="1400" spc="-140" dirty="0">
                <a:latin typeface="Microsoft Sans Serif"/>
                <a:cs typeface="Microsoft Sans Serif"/>
              </a:rPr>
              <a:t>a</a:t>
            </a:r>
            <a:r>
              <a:rPr sz="1400" spc="-130" dirty="0">
                <a:latin typeface="Microsoft Sans Serif"/>
                <a:cs typeface="Microsoft Sans Serif"/>
              </a:rPr>
              <a:t>y</a:t>
            </a:r>
            <a:r>
              <a:rPr sz="1400" spc="-90" dirty="0">
                <a:latin typeface="Microsoft Sans Serif"/>
                <a:cs typeface="Microsoft Sans Serif"/>
              </a:rPr>
              <a:t>("C</a:t>
            </a:r>
            <a:r>
              <a:rPr sz="1400" spc="-114" dirty="0">
                <a:latin typeface="Microsoft Sans Serif"/>
                <a:cs typeface="Microsoft Sans Serif"/>
              </a:rPr>
              <a:t>o</a:t>
            </a:r>
            <a:r>
              <a:rPr sz="1400" spc="-110" dirty="0">
                <a:latin typeface="Microsoft Sans Serif"/>
                <a:cs typeface="Microsoft Sans Serif"/>
              </a:rPr>
              <a:t>un</a:t>
            </a:r>
            <a:r>
              <a:rPr sz="1400" spc="30" dirty="0">
                <a:latin typeface="Microsoft Sans Serif"/>
                <a:cs typeface="Microsoft Sans Serif"/>
              </a:rPr>
              <a:t>t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30" dirty="0">
                <a:latin typeface="Microsoft Sans Serif"/>
                <a:cs typeface="Microsoft Sans Serif"/>
              </a:rPr>
              <a:t>%d"</a:t>
            </a:r>
            <a:r>
              <a:rPr sz="1400" spc="-60" dirty="0">
                <a:latin typeface="Microsoft Sans Serif"/>
                <a:cs typeface="Microsoft Sans Serif"/>
              </a:rPr>
              <a:t>,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95" dirty="0">
                <a:latin typeface="Microsoft Sans Serif"/>
                <a:cs typeface="Microsoft Sans Serif"/>
              </a:rPr>
              <a:t>c</a:t>
            </a:r>
            <a:r>
              <a:rPr sz="1400" spc="-100" dirty="0">
                <a:latin typeface="Microsoft Sans Serif"/>
                <a:cs typeface="Microsoft Sans Serif"/>
              </a:rPr>
              <a:t>oun</a:t>
            </a:r>
            <a:r>
              <a:rPr sz="1400" spc="-35" dirty="0">
                <a:latin typeface="Microsoft Sans Serif"/>
                <a:cs typeface="Microsoft Sans Serif"/>
              </a:rPr>
              <a:t>t);  </a:t>
            </a:r>
            <a:r>
              <a:rPr sz="1400" spc="-75" dirty="0">
                <a:latin typeface="Microsoft Sans Serif"/>
                <a:cs typeface="Microsoft Sans Serif"/>
              </a:rPr>
              <a:t>count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=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75" dirty="0">
                <a:latin typeface="Microsoft Sans Serif"/>
                <a:cs typeface="Microsoft Sans Serif"/>
              </a:rPr>
              <a:t>count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35" dirty="0">
                <a:latin typeface="Microsoft Sans Serif"/>
                <a:cs typeface="Microsoft Sans Serif"/>
              </a:rPr>
              <a:t>+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0" dirty="0">
                <a:latin typeface="Microsoft Sans Serif"/>
                <a:cs typeface="Microsoft Sans Serif"/>
              </a:rPr>
              <a:t>1;</a:t>
            </a:r>
            <a:endParaRPr sz="1400">
              <a:latin typeface="Microsoft Sans Serif"/>
              <a:cs typeface="Microsoft Sans Serif"/>
            </a:endParaRPr>
          </a:p>
          <a:p>
            <a:pPr marL="92075" marR="3913504">
              <a:lnSpc>
                <a:spcPct val="100000"/>
              </a:lnSpc>
            </a:pP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n</a:t>
            </a:r>
            <a:r>
              <a:rPr sz="1400" spc="-50" dirty="0">
                <a:latin typeface="Microsoft Sans Serif"/>
                <a:cs typeface="Microsoft Sans Serif"/>
              </a:rPr>
              <a:t>d  </a:t>
            </a:r>
            <a:r>
              <a:rPr sz="1400" spc="-145" dirty="0">
                <a:latin typeface="Microsoft Sans Serif"/>
                <a:cs typeface="Microsoft Sans Serif"/>
              </a:rPr>
              <a:t>e</a:t>
            </a:r>
            <a:r>
              <a:rPr sz="1400" spc="-135" dirty="0">
                <a:latin typeface="Microsoft Sans Serif"/>
                <a:cs typeface="Microsoft Sans Serif"/>
              </a:rPr>
              <a:t>n</a:t>
            </a:r>
            <a:r>
              <a:rPr sz="1400" spc="-80" dirty="0">
                <a:latin typeface="Microsoft Sans Serif"/>
                <a:cs typeface="Microsoft Sans Serif"/>
              </a:rPr>
              <a:t>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BEHAVIORAL</a:t>
            </a:r>
            <a:r>
              <a:rPr spc="-90" dirty="0"/>
              <a:t> </a:t>
            </a:r>
            <a:r>
              <a:rPr spc="-95" dirty="0"/>
              <a:t>MODELING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3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18387"/>
            <a:ext cx="8329295" cy="343725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R="172085" algn="ctr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CONDITIONAL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0" dirty="0">
                <a:solidFill>
                  <a:srgbClr val="C00000"/>
                </a:solidFill>
                <a:latin typeface="Constantia"/>
                <a:cs typeface="Constantia"/>
              </a:rPr>
              <a:t>STATEMENT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-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FOREVER</a:t>
            </a:r>
            <a:r>
              <a:rPr sz="2000" b="1" spc="-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LOOP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51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forever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this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loop.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forever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exited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0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us</a:t>
            </a:r>
            <a:r>
              <a:rPr sz="20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disa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ent.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355600" marR="2540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does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not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contain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any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executes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forever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until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$finish </a:t>
            </a:r>
            <a:r>
              <a:rPr sz="2000" spc="-5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tas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enco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ter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FF0000"/>
              </a:buClr>
              <a:buFont typeface="Wingdings"/>
              <a:buChar char=""/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equivalent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while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true,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e.g.,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</a:pP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whil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(1).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95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10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forever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loop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typically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conjunction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timing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control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constructs.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8848" y="4980432"/>
            <a:ext cx="2554605" cy="1239520"/>
            <a:chOff x="688848" y="4980432"/>
            <a:chExt cx="2554605" cy="123952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4756" y="4991100"/>
              <a:ext cx="2528316" cy="116737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8848" y="4980432"/>
              <a:ext cx="2022348" cy="12390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2000" y="5018532"/>
              <a:ext cx="2438400" cy="107746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62000" y="5018532"/>
            <a:ext cx="2438400" cy="107759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5"/>
              </a:spcBef>
            </a:pPr>
            <a:r>
              <a:rPr sz="1600" spc="-114" dirty="0">
                <a:latin typeface="Microsoft Sans Serif"/>
                <a:cs typeface="Microsoft Sans Serif"/>
              </a:rPr>
              <a:t>syntax: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 marL="91440" marR="638810">
              <a:lnSpc>
                <a:spcPct val="100000"/>
              </a:lnSpc>
            </a:pPr>
            <a:r>
              <a:rPr sz="1600" spc="-85" dirty="0">
                <a:latin typeface="Microsoft Sans Serif"/>
                <a:cs typeface="Microsoft Sans Serif"/>
              </a:rPr>
              <a:t>forever </a:t>
            </a:r>
            <a:r>
              <a:rPr sz="1600" spc="-80" dirty="0">
                <a:latin typeface="Microsoft Sans Serif"/>
                <a:cs typeface="Microsoft Sans Serif"/>
              </a:rPr>
              <a:t> </a:t>
            </a:r>
            <a:r>
              <a:rPr sz="1600" spc="-90" dirty="0">
                <a:latin typeface="Microsoft Sans Serif"/>
                <a:cs typeface="Microsoft Sans Serif"/>
              </a:rPr>
              <a:t>p</a:t>
            </a:r>
            <a:r>
              <a:rPr sz="1600" spc="-40" dirty="0">
                <a:latin typeface="Microsoft Sans Serif"/>
                <a:cs typeface="Microsoft Sans Serif"/>
              </a:rPr>
              <a:t>r</a:t>
            </a:r>
            <a:r>
              <a:rPr sz="1600" spc="-55" dirty="0">
                <a:latin typeface="Microsoft Sans Serif"/>
                <a:cs typeface="Microsoft Sans Serif"/>
              </a:rPr>
              <a:t>o</a:t>
            </a:r>
            <a:r>
              <a:rPr sz="1600" spc="-140" dirty="0">
                <a:latin typeface="Microsoft Sans Serif"/>
                <a:cs typeface="Microsoft Sans Serif"/>
              </a:rPr>
              <a:t>ced</a:t>
            </a:r>
            <a:r>
              <a:rPr sz="1600" spc="-120" dirty="0">
                <a:latin typeface="Microsoft Sans Serif"/>
                <a:cs typeface="Microsoft Sans Serif"/>
              </a:rPr>
              <a:t>ural_st</a:t>
            </a:r>
            <a:r>
              <a:rPr sz="1600" spc="-155" dirty="0">
                <a:latin typeface="Microsoft Sans Serif"/>
                <a:cs typeface="Microsoft Sans Serif"/>
              </a:rPr>
              <a:t>a</a:t>
            </a:r>
            <a:r>
              <a:rPr sz="1600" spc="-60" dirty="0">
                <a:latin typeface="Microsoft Sans Serif"/>
                <a:cs typeface="Microsoft Sans Serif"/>
              </a:rPr>
              <a:t>t</a:t>
            </a:r>
            <a:r>
              <a:rPr sz="1600" spc="-105" dirty="0">
                <a:latin typeface="Microsoft Sans Serif"/>
                <a:cs typeface="Microsoft Sans Serif"/>
              </a:rPr>
              <a:t>e</a:t>
            </a:r>
            <a:r>
              <a:rPr sz="1600" spc="-140" dirty="0">
                <a:latin typeface="Microsoft Sans Serif"/>
                <a:cs typeface="Microsoft Sans Serif"/>
              </a:rPr>
              <a:t>m</a:t>
            </a:r>
            <a:r>
              <a:rPr sz="1600" spc="-195" dirty="0">
                <a:latin typeface="Microsoft Sans Serif"/>
                <a:cs typeface="Microsoft Sans Serif"/>
              </a:rPr>
              <a:t>e</a:t>
            </a:r>
            <a:r>
              <a:rPr sz="1600" spc="-50" dirty="0">
                <a:latin typeface="Microsoft Sans Serif"/>
                <a:cs typeface="Microsoft Sans Serif"/>
              </a:rPr>
              <a:t>nt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84447" y="4416552"/>
            <a:ext cx="4993005" cy="2214880"/>
            <a:chOff x="3584447" y="4416552"/>
            <a:chExt cx="4993005" cy="2214880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10355" y="4427220"/>
              <a:ext cx="4966715" cy="215188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84447" y="4416552"/>
              <a:ext cx="4733544" cy="221437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57599" y="4454652"/>
              <a:ext cx="4876800" cy="206197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657600" y="4454652"/>
            <a:ext cx="4876800" cy="206248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92075">
              <a:lnSpc>
                <a:spcPts val="1975"/>
              </a:lnSpc>
              <a:spcBef>
                <a:spcPts val="140"/>
              </a:spcBef>
            </a:pPr>
            <a:r>
              <a:rPr sz="1650" i="1" spc="110" dirty="0">
                <a:latin typeface="Arial"/>
                <a:cs typeface="Arial"/>
              </a:rPr>
              <a:t>/</a:t>
            </a:r>
            <a:r>
              <a:rPr sz="1650" i="1" spc="114" dirty="0">
                <a:latin typeface="Arial"/>
                <a:cs typeface="Arial"/>
              </a:rPr>
              <a:t>/</a:t>
            </a:r>
            <a:r>
              <a:rPr sz="1650" i="1" spc="-305" dirty="0">
                <a:latin typeface="Arial"/>
                <a:cs typeface="Arial"/>
              </a:rPr>
              <a:t>E</a:t>
            </a:r>
            <a:r>
              <a:rPr sz="1650" i="1" spc="-135" dirty="0">
                <a:latin typeface="Arial"/>
                <a:cs typeface="Arial"/>
              </a:rPr>
              <a:t>x</a:t>
            </a:r>
            <a:r>
              <a:rPr sz="1650" i="1" spc="-260" dirty="0">
                <a:latin typeface="Arial"/>
                <a:cs typeface="Arial"/>
              </a:rPr>
              <a:t>a</a:t>
            </a:r>
            <a:r>
              <a:rPr sz="1650" i="1" spc="-180" dirty="0">
                <a:latin typeface="Arial"/>
                <a:cs typeface="Arial"/>
              </a:rPr>
              <a:t>m</a:t>
            </a:r>
            <a:r>
              <a:rPr sz="1650" i="1" spc="-114" dirty="0">
                <a:latin typeface="Arial"/>
                <a:cs typeface="Arial"/>
              </a:rPr>
              <a:t>p</a:t>
            </a:r>
            <a:r>
              <a:rPr sz="1650" i="1" spc="-125" dirty="0">
                <a:latin typeface="Arial"/>
                <a:cs typeface="Arial"/>
              </a:rPr>
              <a:t>le</a:t>
            </a:r>
            <a:r>
              <a:rPr sz="1650" i="1" spc="-35" dirty="0">
                <a:latin typeface="Arial"/>
                <a:cs typeface="Arial"/>
              </a:rPr>
              <a:t> </a:t>
            </a:r>
            <a:r>
              <a:rPr sz="1650" i="1" spc="-20" dirty="0">
                <a:latin typeface="Arial"/>
                <a:cs typeface="Arial"/>
              </a:rPr>
              <a:t>:</a:t>
            </a:r>
            <a:r>
              <a:rPr sz="1650" i="1" spc="-40" dirty="0">
                <a:latin typeface="Arial"/>
                <a:cs typeface="Arial"/>
              </a:rPr>
              <a:t> </a:t>
            </a:r>
            <a:r>
              <a:rPr sz="1650" i="1" spc="-110" dirty="0">
                <a:latin typeface="Arial"/>
                <a:cs typeface="Arial"/>
              </a:rPr>
              <a:t>Cl</a:t>
            </a:r>
            <a:r>
              <a:rPr sz="1650" i="1" spc="-125" dirty="0">
                <a:latin typeface="Arial"/>
                <a:cs typeface="Arial"/>
              </a:rPr>
              <a:t>o</a:t>
            </a:r>
            <a:r>
              <a:rPr sz="1650" i="1" spc="-170" dirty="0">
                <a:latin typeface="Arial"/>
                <a:cs typeface="Arial"/>
              </a:rPr>
              <a:t>c</a:t>
            </a:r>
            <a:r>
              <a:rPr sz="1650" i="1" spc="-135" dirty="0">
                <a:latin typeface="Arial"/>
                <a:cs typeface="Arial"/>
              </a:rPr>
              <a:t>k</a:t>
            </a:r>
            <a:r>
              <a:rPr sz="1650" i="1" spc="-15" dirty="0">
                <a:latin typeface="Arial"/>
                <a:cs typeface="Arial"/>
              </a:rPr>
              <a:t> </a:t>
            </a:r>
            <a:r>
              <a:rPr sz="1650" i="1" spc="-229" dirty="0">
                <a:latin typeface="Arial"/>
                <a:cs typeface="Arial"/>
              </a:rPr>
              <a:t>ge</a:t>
            </a:r>
            <a:r>
              <a:rPr sz="1650" i="1" spc="-160" dirty="0">
                <a:latin typeface="Arial"/>
                <a:cs typeface="Arial"/>
              </a:rPr>
              <a:t>ner</a:t>
            </a:r>
            <a:r>
              <a:rPr sz="1650" i="1" spc="-190" dirty="0">
                <a:latin typeface="Arial"/>
                <a:cs typeface="Arial"/>
              </a:rPr>
              <a:t>a</a:t>
            </a:r>
            <a:r>
              <a:rPr sz="1650" i="1" spc="-35" dirty="0">
                <a:latin typeface="Arial"/>
                <a:cs typeface="Arial"/>
              </a:rPr>
              <a:t>ti</a:t>
            </a:r>
            <a:r>
              <a:rPr sz="1650" i="1" spc="-60" dirty="0">
                <a:latin typeface="Arial"/>
                <a:cs typeface="Arial"/>
              </a:rPr>
              <a:t>o</a:t>
            </a:r>
            <a:r>
              <a:rPr sz="1650" i="1" spc="-1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  <a:p>
            <a:pPr marL="92075" marR="1480185">
              <a:lnSpc>
                <a:spcPts val="1920"/>
              </a:lnSpc>
              <a:spcBef>
                <a:spcPts val="60"/>
              </a:spcBef>
            </a:pPr>
            <a:r>
              <a:rPr sz="1600" spc="-55" dirty="0">
                <a:latin typeface="Microsoft Sans Serif"/>
                <a:cs typeface="Microsoft Sans Serif"/>
              </a:rPr>
              <a:t>//Use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90" dirty="0">
                <a:latin typeface="Microsoft Sans Serif"/>
                <a:cs typeface="Microsoft Sans Serif"/>
              </a:rPr>
              <a:t>forever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-75" dirty="0">
                <a:latin typeface="Microsoft Sans Serif"/>
                <a:cs typeface="Microsoft Sans Serif"/>
              </a:rPr>
              <a:t>loop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35" dirty="0">
                <a:latin typeface="Microsoft Sans Serif"/>
                <a:cs typeface="Microsoft Sans Serif"/>
              </a:rPr>
              <a:t>instead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of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170" dirty="0">
                <a:latin typeface="Microsoft Sans Serif"/>
                <a:cs typeface="Microsoft Sans Serif"/>
              </a:rPr>
              <a:t>always</a:t>
            </a:r>
            <a:r>
              <a:rPr sz="1600" spc="45" dirty="0">
                <a:latin typeface="Microsoft Sans Serif"/>
                <a:cs typeface="Microsoft Sans Serif"/>
              </a:rPr>
              <a:t> </a:t>
            </a:r>
            <a:r>
              <a:rPr sz="1600" spc="-100" dirty="0">
                <a:latin typeface="Microsoft Sans Serif"/>
                <a:cs typeface="Microsoft Sans Serif"/>
              </a:rPr>
              <a:t>block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130" dirty="0">
                <a:latin typeface="Microsoft Sans Serif"/>
                <a:cs typeface="Microsoft Sans Serif"/>
              </a:rPr>
              <a:t>re</a:t>
            </a:r>
            <a:r>
              <a:rPr sz="1600" spc="-155" dirty="0">
                <a:latin typeface="Microsoft Sans Serif"/>
                <a:cs typeface="Microsoft Sans Serif"/>
              </a:rPr>
              <a:t>g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-5" dirty="0">
                <a:latin typeface="Microsoft Sans Serif"/>
                <a:cs typeface="Microsoft Sans Serif"/>
              </a:rPr>
              <a:t>;</a:t>
            </a:r>
            <a:endParaRPr sz="1600">
              <a:latin typeface="Microsoft Sans Serif"/>
              <a:cs typeface="Microsoft Sans Serif"/>
            </a:endParaRPr>
          </a:p>
          <a:p>
            <a:pPr marL="92075">
              <a:lnSpc>
                <a:spcPts val="1855"/>
              </a:lnSpc>
            </a:pPr>
            <a:r>
              <a:rPr sz="1600" spc="-60" dirty="0">
                <a:latin typeface="Microsoft Sans Serif"/>
                <a:cs typeface="Microsoft Sans Serif"/>
              </a:rPr>
              <a:t>initial</a:t>
            </a:r>
            <a:endParaRPr sz="16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600" spc="-135" dirty="0">
                <a:latin typeface="Microsoft Sans Serif"/>
                <a:cs typeface="Microsoft Sans Serif"/>
              </a:rPr>
              <a:t>begin</a:t>
            </a:r>
            <a:endParaRPr sz="16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35" dirty="0">
                <a:latin typeface="Microsoft Sans Serif"/>
                <a:cs typeface="Microsoft Sans Serif"/>
              </a:rPr>
              <a:t>l</a:t>
            </a:r>
            <a:r>
              <a:rPr sz="1600" spc="-75" dirty="0">
                <a:latin typeface="Microsoft Sans Serif"/>
                <a:cs typeface="Microsoft Sans Serif"/>
              </a:rPr>
              <a:t>o</a:t>
            </a:r>
            <a:r>
              <a:rPr sz="1600" spc="-145" dirty="0">
                <a:latin typeface="Microsoft Sans Serif"/>
                <a:cs typeface="Microsoft Sans Serif"/>
              </a:rPr>
              <a:t>c</a:t>
            </a:r>
            <a:r>
              <a:rPr sz="1600" spc="-110" dirty="0">
                <a:latin typeface="Microsoft Sans Serif"/>
                <a:cs typeface="Microsoft Sans Serif"/>
              </a:rPr>
              <a:t>k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=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50" dirty="0">
                <a:latin typeface="Microsoft Sans Serif"/>
                <a:cs typeface="Microsoft Sans Serif"/>
              </a:rPr>
              <a:t>1'b0</a:t>
            </a:r>
            <a:r>
              <a:rPr sz="1600" spc="-5" dirty="0">
                <a:latin typeface="Microsoft Sans Serif"/>
                <a:cs typeface="Microsoft Sans Serif"/>
              </a:rPr>
              <a:t>;</a:t>
            </a:r>
            <a:endParaRPr sz="1600">
              <a:latin typeface="Microsoft Sans Serif"/>
              <a:cs typeface="Microsoft Sans Serif"/>
            </a:endParaRPr>
          </a:p>
          <a:p>
            <a:pPr marL="92075" marR="369570">
              <a:lnSpc>
                <a:spcPct val="100000"/>
              </a:lnSpc>
            </a:pPr>
            <a:r>
              <a:rPr sz="1600" spc="-90" dirty="0">
                <a:latin typeface="Microsoft Sans Serif"/>
                <a:cs typeface="Microsoft Sans Serif"/>
              </a:rPr>
              <a:t>forever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29" dirty="0">
                <a:latin typeface="Microsoft Sans Serif"/>
                <a:cs typeface="Microsoft Sans Serif"/>
              </a:rPr>
              <a:t>#10</a:t>
            </a:r>
            <a:r>
              <a:rPr sz="1600" spc="-170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clock=-clock;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40" dirty="0">
                <a:latin typeface="Microsoft Sans Serif"/>
                <a:cs typeface="Microsoft Sans Serif"/>
              </a:rPr>
              <a:t>//Clock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with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85" dirty="0">
                <a:latin typeface="Microsoft Sans Serif"/>
                <a:cs typeface="Microsoft Sans Serif"/>
              </a:rPr>
              <a:t>period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of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229" dirty="0">
                <a:latin typeface="Microsoft Sans Serif"/>
                <a:cs typeface="Microsoft Sans Serif"/>
              </a:rPr>
              <a:t>20</a:t>
            </a:r>
            <a:r>
              <a:rPr sz="1600" spc="-175" dirty="0">
                <a:latin typeface="Microsoft Sans Serif"/>
                <a:cs typeface="Microsoft Sans Serif"/>
              </a:rPr>
              <a:t> </a:t>
            </a:r>
            <a:r>
              <a:rPr sz="1600" spc="-110" dirty="0">
                <a:latin typeface="Microsoft Sans Serif"/>
                <a:cs typeface="Microsoft Sans Serif"/>
              </a:rPr>
              <a:t>units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140" dirty="0">
                <a:latin typeface="Microsoft Sans Serif"/>
                <a:cs typeface="Microsoft Sans Serif"/>
              </a:rPr>
              <a:t>end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62200" y="2438400"/>
            <a:ext cx="6786880" cy="4419600"/>
            <a:chOff x="2362200" y="2438400"/>
            <a:chExt cx="6786880" cy="4419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2200" y="2438400"/>
              <a:ext cx="5100828" cy="268071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900678" y="1205864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26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254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8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8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95600" y="1676400"/>
            <a:ext cx="6253480" cy="5181600"/>
            <a:chOff x="2895600" y="1676400"/>
            <a:chExt cx="6253480" cy="5181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5600" y="1676400"/>
              <a:ext cx="4227576" cy="474421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124705" y="1205864"/>
            <a:ext cx="9683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24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b="1" spc="-100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00200" y="1905000"/>
            <a:ext cx="7548880" cy="4953000"/>
            <a:chOff x="1600200" y="1905000"/>
            <a:chExt cx="7548880" cy="49530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0200" y="1905000"/>
              <a:ext cx="5867400" cy="40005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746753" y="1205864"/>
            <a:ext cx="1724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09800" y="2124455"/>
            <a:ext cx="6939280" cy="4733925"/>
            <a:chOff x="2209800" y="2124455"/>
            <a:chExt cx="6939280" cy="473392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8323" y="6556242"/>
              <a:ext cx="446506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9800" y="2124455"/>
              <a:ext cx="4724400" cy="366674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746753" y="1205864"/>
            <a:ext cx="1724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-9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99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09472" y="1828800"/>
            <a:ext cx="8039734" cy="5029200"/>
            <a:chOff x="1109472" y="1828800"/>
            <a:chExt cx="8039734" cy="50292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4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472" y="1828800"/>
              <a:ext cx="6925056" cy="402031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734561" y="1205864"/>
            <a:ext cx="1750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25" dirty="0">
                <a:solidFill>
                  <a:srgbClr val="C00000"/>
                </a:solidFill>
                <a:latin typeface="Arial"/>
                <a:cs typeface="Arial"/>
              </a:rPr>
              <a:t>CO</a:t>
            </a:r>
            <a:r>
              <a:rPr sz="2000" b="1" spc="-13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90472" y="1563624"/>
            <a:ext cx="7658734" cy="5294630"/>
            <a:chOff x="1490472" y="1563624"/>
            <a:chExt cx="7658734" cy="529463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4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0472" y="1563624"/>
              <a:ext cx="5596128" cy="49133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178301" y="1129664"/>
            <a:ext cx="2860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IORI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9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155460"/>
              <a:ext cx="54193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63826" y="289382"/>
            <a:ext cx="4812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5" dirty="0">
                <a:latin typeface="Trebuchet MS"/>
                <a:cs typeface="Trebuchet MS"/>
              </a:rPr>
              <a:t>BEHAVIORAL</a:t>
            </a:r>
            <a:r>
              <a:rPr sz="3600" b="1" spc="-90" dirty="0">
                <a:latin typeface="Trebuchet MS"/>
                <a:cs typeface="Trebuchet MS"/>
              </a:rPr>
              <a:t> </a:t>
            </a:r>
            <a:r>
              <a:rPr sz="3600" b="1" spc="-95" dirty="0">
                <a:latin typeface="Trebuchet MS"/>
                <a:cs typeface="Trebuchet MS"/>
              </a:rPr>
              <a:t>MODELING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78301" y="1129664"/>
            <a:ext cx="2860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0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6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85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90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295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75" dirty="0">
                <a:solidFill>
                  <a:srgbClr val="C00000"/>
                </a:solidFill>
                <a:latin typeface="Arial"/>
                <a:cs typeface="Arial"/>
              </a:rPr>
              <a:t>IORI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32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9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-12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325" dirty="0">
                <a:solidFill>
                  <a:srgbClr val="C00000"/>
                </a:solidFill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1312" y="1495044"/>
            <a:ext cx="7962900" cy="498195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19" y="1679447"/>
              <a:ext cx="6983730" cy="38747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511808" y="4907279"/>
            <a:ext cx="7637145" cy="1950720"/>
            <a:chOff x="1511808" y="4907279"/>
            <a:chExt cx="7637145" cy="195072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6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4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2956" y="4925580"/>
              <a:ext cx="6033516" cy="12908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1808" y="4907279"/>
              <a:ext cx="5602223" cy="13837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0200" y="4952999"/>
              <a:ext cx="5943600" cy="12009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00200" y="4952999"/>
              <a:ext cx="5943600" cy="1201420"/>
            </a:xfrm>
            <a:custGeom>
              <a:avLst/>
              <a:gdLst/>
              <a:ahLst/>
              <a:cxnLst/>
              <a:rect l="l" t="t" r="r" b="b"/>
              <a:pathLst>
                <a:path w="5943600" h="1201420">
                  <a:moveTo>
                    <a:pt x="0" y="1200912"/>
                  </a:moveTo>
                  <a:lnTo>
                    <a:pt x="5943600" y="1200912"/>
                  </a:lnTo>
                  <a:lnTo>
                    <a:pt x="5943600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5940" y="1301241"/>
            <a:ext cx="7734300" cy="3961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953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flow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</a:t>
            </a:r>
            <a:r>
              <a:rPr sz="20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description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digital</a:t>
            </a:r>
            <a:r>
              <a:rPr sz="20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higher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level,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makes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000" spc="-5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description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more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compact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2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0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compared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0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through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gate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primitives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</a:pPr>
            <a:endParaRPr sz="2200">
              <a:latin typeface="Microsoft Sans Serif"/>
              <a:cs typeface="Microsoft Sans Serif"/>
            </a:endParaRPr>
          </a:p>
          <a:p>
            <a:pPr marL="355600" marR="217804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implement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using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flow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modeling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uses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continuous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 </a:t>
            </a:r>
            <a:r>
              <a:rPr sz="2000" spc="-5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provides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different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operators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perform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function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"/>
            </a:pPr>
            <a:endParaRPr sz="2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start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keyword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40" dirty="0">
                <a:latin typeface="Microsoft Sans Serif"/>
                <a:cs typeface="Microsoft Sans Serif"/>
              </a:rPr>
              <a:t>assign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results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endParaRPr sz="20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ss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igned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ets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35" dirty="0">
                <a:solidFill>
                  <a:srgbClr val="00AF50"/>
                </a:solidFill>
                <a:latin typeface="Microsoft Sans Serif"/>
                <a:cs typeface="Microsoft Sans Serif"/>
              </a:rPr>
              <a:t>Continuous</a:t>
            </a:r>
            <a:r>
              <a:rPr sz="2000" spc="-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AF50"/>
                </a:solidFill>
                <a:latin typeface="Microsoft Sans Serif"/>
                <a:cs typeface="Microsoft Sans Serif"/>
              </a:rPr>
              <a:t>assignment</a:t>
            </a:r>
            <a:r>
              <a:rPr sz="2000" spc="-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000" spc="545" dirty="0">
                <a:solidFill>
                  <a:srgbClr val="006FC0"/>
                </a:solidFill>
                <a:latin typeface="Microsoft Sans Serif"/>
                <a:cs typeface="Microsoft Sans Serif"/>
              </a:rPr>
              <a:t>–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most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basic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drive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onto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155700">
              <a:lnSpc>
                <a:spcPct val="100000"/>
              </a:lnSpc>
              <a:tabLst>
                <a:tab pos="2984500" algn="l"/>
              </a:tabLst>
            </a:pPr>
            <a:r>
              <a:rPr sz="1800" spc="-200" dirty="0">
                <a:latin typeface="Microsoft Sans Serif"/>
                <a:cs typeface="Microsoft Sans Serif"/>
              </a:rPr>
              <a:t>Sy</a:t>
            </a:r>
            <a:r>
              <a:rPr sz="1800" spc="-185" dirty="0">
                <a:latin typeface="Microsoft Sans Serif"/>
                <a:cs typeface="Microsoft Sans Serif"/>
              </a:rPr>
              <a:t>n</a:t>
            </a:r>
            <a:r>
              <a:rPr sz="1800" spc="-75" dirty="0">
                <a:latin typeface="Microsoft Sans Serif"/>
                <a:cs typeface="Microsoft Sans Serif"/>
              </a:rPr>
              <a:t>t</a:t>
            </a:r>
            <a:r>
              <a:rPr sz="1800" spc="-150" dirty="0">
                <a:latin typeface="Microsoft Sans Serif"/>
                <a:cs typeface="Microsoft Sans Serif"/>
              </a:rPr>
              <a:t>a</a:t>
            </a:r>
            <a:r>
              <a:rPr sz="1800" spc="-85" dirty="0">
                <a:latin typeface="Microsoft Sans Serif"/>
                <a:cs typeface="Microsoft Sans Serif"/>
              </a:rPr>
              <a:t>x</a:t>
            </a:r>
            <a:r>
              <a:rPr sz="1800" spc="-45" dirty="0">
                <a:latin typeface="Microsoft Sans Serif"/>
                <a:cs typeface="Microsoft Sans Serif"/>
              </a:rPr>
              <a:t>: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125" dirty="0">
                <a:latin typeface="Microsoft Sans Serif"/>
                <a:cs typeface="Microsoft Sans Serif"/>
              </a:rPr>
              <a:t>ign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L</a:t>
            </a:r>
            <a:r>
              <a:rPr sz="1800" spc="-80" dirty="0">
                <a:latin typeface="Microsoft Sans Serif"/>
                <a:cs typeface="Microsoft Sans Serif"/>
              </a:rPr>
              <a:t>H</a:t>
            </a:r>
            <a:r>
              <a:rPr sz="1800" spc="-160" dirty="0">
                <a:latin typeface="Microsoft Sans Serif"/>
                <a:cs typeface="Microsoft Sans Serif"/>
              </a:rPr>
              <a:t>S_t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75" dirty="0">
                <a:latin typeface="Microsoft Sans Serif"/>
                <a:cs typeface="Microsoft Sans Serif"/>
              </a:rPr>
              <a:t>rget</a:t>
            </a:r>
            <a:r>
              <a:rPr sz="1800" spc="-100" dirty="0">
                <a:latin typeface="Microsoft Sans Serif"/>
                <a:cs typeface="Microsoft Sans Serif"/>
              </a:rPr>
              <a:t>=</a:t>
            </a:r>
            <a:r>
              <a:rPr sz="1800" spc="-180" dirty="0">
                <a:latin typeface="Microsoft Sans Serif"/>
                <a:cs typeface="Microsoft Sans Serif"/>
              </a:rPr>
              <a:t>R</a:t>
            </a:r>
            <a:r>
              <a:rPr sz="1800" spc="-185" dirty="0">
                <a:latin typeface="Microsoft Sans Serif"/>
                <a:cs typeface="Microsoft Sans Serif"/>
              </a:rPr>
              <a:t>H</a:t>
            </a:r>
            <a:r>
              <a:rPr sz="1800" spc="-200" dirty="0">
                <a:latin typeface="Microsoft Sans Serif"/>
                <a:cs typeface="Microsoft Sans Serif"/>
              </a:rPr>
              <a:t>S_expres</a:t>
            </a:r>
            <a:r>
              <a:rPr sz="1800" spc="-185" dirty="0">
                <a:latin typeface="Microsoft Sans Serif"/>
                <a:cs typeface="Microsoft Sans Serif"/>
              </a:rPr>
              <a:t>s</a:t>
            </a:r>
            <a:r>
              <a:rPr sz="1800" spc="-85" dirty="0">
                <a:latin typeface="Microsoft Sans Serif"/>
                <a:cs typeface="Microsoft Sans Serif"/>
              </a:rPr>
              <a:t>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91894" y="5511495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29" dirty="0">
                <a:latin typeface="Microsoft Sans Serif"/>
                <a:cs typeface="Microsoft Sans Serif"/>
              </a:rPr>
              <a:t>Exa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120" dirty="0">
                <a:latin typeface="Microsoft Sans Serif"/>
                <a:cs typeface="Microsoft Sans Serif"/>
              </a:rPr>
              <a:t>e: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21075" y="5511495"/>
            <a:ext cx="3430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25525" algn="l"/>
              </a:tabLst>
            </a:pP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wire</a:t>
            </a:r>
            <a:r>
              <a:rPr sz="18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c,a,b;	</a:t>
            </a:r>
            <a:r>
              <a:rPr sz="1800" spc="-5" dirty="0">
                <a:latin typeface="Microsoft Sans Serif"/>
                <a:cs typeface="Microsoft Sans Serif"/>
              </a:rPr>
              <a:t>//net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14" dirty="0">
                <a:latin typeface="Microsoft Sans Serif"/>
                <a:cs typeface="Microsoft Sans Serif"/>
              </a:rPr>
              <a:t>declaration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800" spc="-18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8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&amp;</a:t>
            </a:r>
            <a:r>
              <a:rPr sz="18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</a:t>
            </a:r>
            <a:r>
              <a:rPr sz="1800" spc="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//cont</a:t>
            </a:r>
            <a:r>
              <a:rPr sz="1800" spc="-5" dirty="0">
                <a:latin typeface="Microsoft Sans Serif"/>
                <a:cs typeface="Microsoft Sans Serif"/>
              </a:rPr>
              <a:t>i</a:t>
            </a:r>
            <a:r>
              <a:rPr sz="1800" spc="-135" dirty="0">
                <a:latin typeface="Microsoft Sans Serif"/>
                <a:cs typeface="Microsoft Sans Serif"/>
              </a:rPr>
              <a:t>nu</a:t>
            </a: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75" dirty="0">
                <a:latin typeface="Microsoft Sans Serif"/>
                <a:cs typeface="Microsoft Sans Serif"/>
              </a:rPr>
              <a:t>n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85" dirty="0">
                <a:latin typeface="Microsoft Sans Serif"/>
                <a:cs typeface="Microsoft Sans Serif"/>
              </a:rPr>
              <a:t>e</a:t>
            </a:r>
            <a:r>
              <a:rPr sz="1800" spc="-175" dirty="0">
                <a:latin typeface="Microsoft Sans Serif"/>
                <a:cs typeface="Microsoft Sans Serif"/>
              </a:rPr>
              <a:t>n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214374"/>
            <a:ext cx="689546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55" dirty="0">
                <a:solidFill>
                  <a:srgbClr val="00AF50"/>
                </a:solidFill>
                <a:latin typeface="Microsoft Sans Serif"/>
                <a:cs typeface="Microsoft Sans Serif"/>
              </a:rPr>
              <a:t>Implicit</a:t>
            </a:r>
            <a:r>
              <a:rPr sz="18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continuous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-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490" dirty="0">
                <a:solidFill>
                  <a:srgbClr val="006FC0"/>
                </a:solidFill>
                <a:latin typeface="Microsoft Sans Serif"/>
                <a:cs typeface="Microsoft Sans Serif"/>
              </a:rPr>
              <a:t>–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shortcut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method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assigning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endParaRPr sz="1800">
              <a:latin typeface="Microsoft Sans Serif"/>
              <a:cs typeface="Microsoft Sans Serif"/>
            </a:endParaRPr>
          </a:p>
          <a:p>
            <a:pPr marL="3328035">
              <a:lnSpc>
                <a:spcPct val="100000"/>
              </a:lnSpc>
              <a:spcBef>
                <a:spcPts val="430"/>
              </a:spcBef>
            </a:pP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et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3463607"/>
            <a:ext cx="7439659" cy="10140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55" dirty="0">
                <a:solidFill>
                  <a:srgbClr val="00AF50"/>
                </a:solidFill>
                <a:latin typeface="Microsoft Sans Serif"/>
                <a:cs typeface="Microsoft Sans Serif"/>
              </a:rPr>
              <a:t>Implicit</a:t>
            </a:r>
            <a:r>
              <a:rPr sz="18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net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declaration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490" dirty="0">
                <a:solidFill>
                  <a:srgbClr val="006FC0"/>
                </a:solidFill>
                <a:latin typeface="Microsoft Sans Serif"/>
                <a:cs typeface="Microsoft Sans Serif"/>
              </a:rPr>
              <a:t>–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signal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name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left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hand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side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continuous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statement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not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simulator 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implicit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net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declaration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78408" y="1906523"/>
            <a:ext cx="6989445" cy="1658620"/>
            <a:chOff x="978408" y="1906523"/>
            <a:chExt cx="6989445" cy="165862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9556" y="1924811"/>
              <a:ext cx="6947916" cy="15666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8408" y="1906523"/>
              <a:ext cx="5052060" cy="16581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6800" y="1952243"/>
              <a:ext cx="6858000" cy="14767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66800" y="1952243"/>
              <a:ext cx="6858000" cy="1477010"/>
            </a:xfrm>
            <a:custGeom>
              <a:avLst/>
              <a:gdLst/>
              <a:ahLst/>
              <a:cxnLst/>
              <a:rect l="l" t="t" r="r" b="b"/>
              <a:pathLst>
                <a:path w="6858000" h="1477010">
                  <a:moveTo>
                    <a:pt x="0" y="1476755"/>
                  </a:moveTo>
                  <a:lnTo>
                    <a:pt x="6858000" y="1476755"/>
                  </a:lnTo>
                  <a:lnTo>
                    <a:pt x="6858000" y="0"/>
                  </a:lnTo>
                  <a:lnTo>
                    <a:pt x="0" y="0"/>
                  </a:lnTo>
                  <a:lnTo>
                    <a:pt x="0" y="1476755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58544" y="1960879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29" dirty="0">
                <a:latin typeface="Microsoft Sans Serif"/>
                <a:cs typeface="Microsoft Sans Serif"/>
              </a:rPr>
              <a:t>Exa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120" dirty="0">
                <a:latin typeface="Microsoft Sans Serif"/>
                <a:cs typeface="Microsoft Sans Serif"/>
              </a:rPr>
              <a:t>e: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87294" y="1960879"/>
            <a:ext cx="286766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085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Microsoft Sans Serif"/>
                <a:cs typeface="Microsoft Sans Serif"/>
              </a:rPr>
              <a:t>//regular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continuous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75" dirty="0">
                <a:latin typeface="Microsoft Sans Serif"/>
                <a:cs typeface="Microsoft Sans Serif"/>
              </a:rPr>
              <a:t>assignment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wire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c,a,b;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800" spc="-310" dirty="0">
                <a:solidFill>
                  <a:srgbClr val="0000FF"/>
                </a:solidFill>
                <a:latin typeface="Microsoft Sans Serif"/>
                <a:cs typeface="Microsoft Sans Serif"/>
              </a:rPr>
              <a:t>as</a:t>
            </a:r>
            <a:r>
              <a:rPr sz="1800" spc="-29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800" spc="-18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800" spc="-150" dirty="0">
                <a:solidFill>
                  <a:srgbClr val="0000FF"/>
                </a:solidFill>
                <a:latin typeface="Microsoft Sans Serif"/>
                <a:cs typeface="Microsoft Sans Serif"/>
              </a:rPr>
              <a:t>a&amp;</a:t>
            </a:r>
            <a:r>
              <a:rPr sz="18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R="5080">
              <a:lnSpc>
                <a:spcPct val="100000"/>
              </a:lnSpc>
            </a:pPr>
            <a:r>
              <a:rPr sz="1800" spc="-15" dirty="0">
                <a:latin typeface="Microsoft Sans Serif"/>
                <a:cs typeface="Microsoft Sans Serif"/>
              </a:rPr>
              <a:t>//implicit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20" dirty="0">
                <a:latin typeface="Microsoft Sans Serif"/>
                <a:cs typeface="Microsoft Sans Serif"/>
              </a:rPr>
              <a:t>continuous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75" dirty="0">
                <a:latin typeface="Microsoft Sans Serif"/>
                <a:cs typeface="Microsoft Sans Serif"/>
              </a:rPr>
              <a:t>assignment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wire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c=a&amp;b;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54608" y="4602479"/>
            <a:ext cx="6837045" cy="1658620"/>
            <a:chOff x="1054608" y="4602479"/>
            <a:chExt cx="6837045" cy="165862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5756" y="4620767"/>
              <a:ext cx="6795516" cy="156667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4608" y="4602479"/>
              <a:ext cx="6405371" cy="16581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43000" y="4648199"/>
              <a:ext cx="6705600" cy="147675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143000" y="4648200"/>
            <a:ext cx="6705600" cy="147701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920875" marR="2638425" indent="-1829435">
              <a:lnSpc>
                <a:spcPct val="100000"/>
              </a:lnSpc>
              <a:spcBef>
                <a:spcPts val="175"/>
              </a:spcBef>
              <a:tabLst>
                <a:tab pos="1920239" algn="l"/>
              </a:tabLst>
            </a:pPr>
            <a:r>
              <a:rPr sz="1800" spc="-229" dirty="0">
                <a:latin typeface="Microsoft Sans Serif"/>
                <a:cs typeface="Microsoft Sans Serif"/>
              </a:rPr>
              <a:t>Exa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155" dirty="0">
                <a:latin typeface="Microsoft Sans Serif"/>
                <a:cs typeface="Microsoft Sans Serif"/>
              </a:rPr>
              <a:t>e</a:t>
            </a:r>
            <a:r>
              <a:rPr sz="1800" spc="-75" dirty="0">
                <a:latin typeface="Microsoft Sans Serif"/>
                <a:cs typeface="Microsoft Sans Serif"/>
              </a:rPr>
              <a:t>: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5" dirty="0">
                <a:latin typeface="Microsoft Sans Serif"/>
                <a:cs typeface="Microsoft Sans Serif"/>
              </a:rPr>
              <a:t>//cont</a:t>
            </a:r>
            <a:r>
              <a:rPr sz="1800" spc="-5" dirty="0">
                <a:latin typeface="Microsoft Sans Serif"/>
                <a:cs typeface="Microsoft Sans Serif"/>
              </a:rPr>
              <a:t>i</a:t>
            </a:r>
            <a:r>
              <a:rPr sz="1800" spc="-135" dirty="0">
                <a:latin typeface="Microsoft Sans Serif"/>
                <a:cs typeface="Microsoft Sans Serif"/>
              </a:rPr>
              <a:t>nu</a:t>
            </a:r>
            <a:r>
              <a:rPr sz="1800" spc="-120" dirty="0">
                <a:latin typeface="Microsoft Sans Serif"/>
                <a:cs typeface="Microsoft Sans Serif"/>
              </a:rPr>
              <a:t>o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75" dirty="0">
                <a:latin typeface="Microsoft Sans Serif"/>
                <a:cs typeface="Microsoft Sans Serif"/>
              </a:rPr>
              <a:t>n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85" dirty="0">
                <a:latin typeface="Microsoft Sans Serif"/>
                <a:cs typeface="Microsoft Sans Serif"/>
              </a:rPr>
              <a:t>e</a:t>
            </a:r>
            <a:r>
              <a:rPr sz="1800" spc="-175" dirty="0">
                <a:latin typeface="Microsoft Sans Serif"/>
                <a:cs typeface="Microsoft Sans Serif"/>
              </a:rPr>
              <a:t>n</a:t>
            </a:r>
            <a:r>
              <a:rPr sz="1800" spc="35" dirty="0">
                <a:latin typeface="Microsoft Sans Serif"/>
                <a:cs typeface="Microsoft Sans Serif"/>
              </a:rPr>
              <a:t>t  </a:t>
            </a: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wire</a:t>
            </a:r>
            <a:r>
              <a:rPr sz="18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a,b;</a:t>
            </a:r>
            <a:endParaRPr sz="1800">
              <a:latin typeface="Microsoft Sans Serif"/>
              <a:cs typeface="Microsoft Sans Serif"/>
            </a:endParaRPr>
          </a:p>
          <a:p>
            <a:pPr marL="1920875">
              <a:lnSpc>
                <a:spcPct val="100000"/>
              </a:lnSpc>
            </a:pPr>
            <a:r>
              <a:rPr sz="1800" spc="-220" dirty="0">
                <a:solidFill>
                  <a:srgbClr val="0000FF"/>
                </a:solidFill>
                <a:latin typeface="Microsoft Sans Serif"/>
                <a:cs typeface="Microsoft Sans Serif"/>
              </a:rPr>
              <a:t>assign</a:t>
            </a:r>
            <a:r>
              <a:rPr sz="180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c=a&amp;b;</a:t>
            </a:r>
            <a:r>
              <a:rPr sz="1800" spc="5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145" dirty="0">
                <a:latin typeface="Microsoft Sans Serif"/>
                <a:cs typeface="Microsoft Sans Serif"/>
              </a:rPr>
              <a:t>//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50" dirty="0">
                <a:latin typeface="Microsoft Sans Serif"/>
                <a:cs typeface="Microsoft Sans Serif"/>
              </a:rPr>
              <a:t>here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c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75" dirty="0">
                <a:latin typeface="Microsoft Sans Serif"/>
                <a:cs typeface="Microsoft Sans Serif"/>
              </a:rPr>
              <a:t>is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65" dirty="0">
                <a:latin typeface="Microsoft Sans Serif"/>
                <a:cs typeface="Microsoft Sans Serif"/>
              </a:rPr>
              <a:t>not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40" dirty="0">
                <a:latin typeface="Microsoft Sans Serif"/>
                <a:cs typeface="Microsoft Sans Serif"/>
              </a:rPr>
              <a:t>declared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00" dirty="0">
                <a:latin typeface="Microsoft Sans Serif"/>
                <a:cs typeface="Microsoft Sans Serif"/>
              </a:rPr>
              <a:t>as</a:t>
            </a:r>
            <a:r>
              <a:rPr sz="1800" spc="-150" dirty="0">
                <a:latin typeface="Microsoft Sans Serif"/>
                <a:cs typeface="Microsoft Sans Serif"/>
              </a:rPr>
              <a:t> </a:t>
            </a:r>
            <a:r>
              <a:rPr sz="1800" spc="-254" dirty="0">
                <a:latin typeface="Microsoft Sans Serif"/>
                <a:cs typeface="Microsoft Sans Serif"/>
              </a:rPr>
              <a:t>a</a:t>
            </a:r>
            <a:r>
              <a:rPr sz="1800" spc="-210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wire</a:t>
            </a:r>
            <a:endParaRPr sz="1800">
              <a:latin typeface="Microsoft Sans Serif"/>
              <a:cs typeface="Microsoft Sans Serif"/>
            </a:endParaRPr>
          </a:p>
          <a:p>
            <a:pPr marL="1005840" marR="709295" indent="914400">
              <a:lnSpc>
                <a:spcPct val="100000"/>
              </a:lnSpc>
              <a:tabLst>
                <a:tab pos="1920239" algn="l"/>
              </a:tabLst>
            </a:pPr>
            <a:r>
              <a:rPr sz="1800" spc="95" dirty="0">
                <a:latin typeface="Microsoft Sans Serif"/>
                <a:cs typeface="Microsoft Sans Serif"/>
              </a:rPr>
              <a:t>/*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b</a:t>
            </a:r>
            <a:r>
              <a:rPr sz="1800" spc="-135" dirty="0">
                <a:latin typeface="Microsoft Sans Serif"/>
                <a:cs typeface="Microsoft Sans Serif"/>
              </a:rPr>
              <a:t>u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45" dirty="0">
                <a:latin typeface="Microsoft Sans Serif"/>
                <a:cs typeface="Microsoft Sans Serif"/>
              </a:rPr>
              <a:t>s</a:t>
            </a:r>
            <a:r>
              <a:rPr sz="1800" spc="-105" dirty="0">
                <a:latin typeface="Microsoft Sans Serif"/>
                <a:cs typeface="Microsoft Sans Serif"/>
              </a:rPr>
              <a:t>i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35" dirty="0">
                <a:latin typeface="Microsoft Sans Serif"/>
                <a:cs typeface="Microsoft Sans Serif"/>
              </a:rPr>
              <a:t>u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0" dirty="0">
                <a:latin typeface="Microsoft Sans Serif"/>
                <a:cs typeface="Microsoft Sans Serif"/>
              </a:rPr>
              <a:t>to</a:t>
            </a:r>
            <a:r>
              <a:rPr sz="1800" spc="-20" dirty="0">
                <a:latin typeface="Microsoft Sans Serif"/>
                <a:cs typeface="Microsoft Sans Serif"/>
              </a:rPr>
              <a:t>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35" dirty="0">
                <a:latin typeface="Microsoft Sans Serif"/>
                <a:cs typeface="Microsoft Sans Serif"/>
              </a:rPr>
              <a:t>u</a:t>
            </a:r>
            <a:r>
              <a:rPr sz="1800" spc="-60" dirty="0">
                <a:latin typeface="Microsoft Sans Serif"/>
                <a:cs typeface="Microsoft Sans Serif"/>
              </a:rPr>
              <a:t>to</a:t>
            </a:r>
            <a:r>
              <a:rPr sz="1800" spc="-105" dirty="0">
                <a:latin typeface="Microsoft Sans Serif"/>
                <a:cs typeface="Microsoft Sans Serif"/>
              </a:rPr>
              <a:t>m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90" dirty="0">
                <a:latin typeface="Microsoft Sans Serif"/>
                <a:cs typeface="Microsoft Sans Serif"/>
              </a:rPr>
              <a:t>tic</a:t>
            </a:r>
            <a:r>
              <a:rPr sz="1800" spc="-150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ll</a:t>
            </a:r>
            <a:r>
              <a:rPr sz="1800" spc="-90" dirty="0">
                <a:latin typeface="Microsoft Sans Serif"/>
                <a:cs typeface="Microsoft Sans Serif"/>
              </a:rPr>
              <a:t>y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14" dirty="0">
                <a:latin typeface="Microsoft Sans Serif"/>
                <a:cs typeface="Microsoft Sans Serif"/>
              </a:rPr>
              <a:t>del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90" dirty="0">
                <a:latin typeface="Microsoft Sans Serif"/>
                <a:cs typeface="Microsoft Sans Serif"/>
              </a:rPr>
              <a:t>r</a:t>
            </a:r>
            <a:r>
              <a:rPr sz="1800" spc="-14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w</a:t>
            </a:r>
            <a:r>
              <a:rPr sz="1800" spc="-45" dirty="0">
                <a:latin typeface="Microsoft Sans Serif"/>
                <a:cs typeface="Microsoft Sans Serif"/>
              </a:rPr>
              <a:t>i</a:t>
            </a:r>
            <a:r>
              <a:rPr sz="1800" spc="-95" dirty="0">
                <a:latin typeface="Microsoft Sans Serif"/>
                <a:cs typeface="Microsoft Sans Serif"/>
              </a:rPr>
              <a:t>re  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5" dirty="0">
                <a:latin typeface="Microsoft Sans Serif"/>
                <a:cs typeface="Microsoft Sans Serif"/>
              </a:rPr>
              <a:t>f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225" dirty="0">
                <a:latin typeface="Microsoft Sans Serif"/>
                <a:cs typeface="Microsoft Sans Serif"/>
              </a:rPr>
              <a:t>w</a:t>
            </a:r>
            <a:r>
              <a:rPr sz="1800" spc="-170" dirty="0">
                <a:latin typeface="Microsoft Sans Serif"/>
                <a:cs typeface="Microsoft Sans Serif"/>
              </a:rPr>
              <a:t>e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u</a:t>
            </a:r>
            <a:r>
              <a:rPr sz="1800" spc="-280" dirty="0">
                <a:latin typeface="Microsoft Sans Serif"/>
                <a:cs typeface="Microsoft Sans Serif"/>
              </a:rPr>
              <a:t>se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30" dirty="0">
                <a:latin typeface="Microsoft Sans Serif"/>
                <a:cs typeface="Microsoft Sans Serif"/>
              </a:rPr>
              <a:t>e</a:t>
            </a:r>
            <a:r>
              <a:rPr sz="1800" spc="-65" dirty="0">
                <a:latin typeface="Microsoft Sans Serif"/>
                <a:cs typeface="Microsoft Sans Serif"/>
              </a:rPr>
              <a:t>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14" dirty="0">
                <a:latin typeface="Microsoft Sans Serif"/>
                <a:cs typeface="Microsoft Sans Serif"/>
              </a:rPr>
              <a:t>del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100" dirty="0">
                <a:latin typeface="Microsoft Sans Serif"/>
                <a:cs typeface="Microsoft Sans Serif"/>
              </a:rPr>
              <a:t>r</a:t>
            </a:r>
            <a:r>
              <a:rPr sz="1800" spc="-170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ti</a:t>
            </a:r>
            <a:r>
              <a:rPr sz="1800" spc="-45" dirty="0">
                <a:latin typeface="Microsoft Sans Serif"/>
                <a:cs typeface="Microsoft Sans Serif"/>
              </a:rPr>
              <a:t>o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45" dirty="0">
                <a:latin typeface="Microsoft Sans Serif"/>
                <a:cs typeface="Microsoft Sans Serif"/>
              </a:rPr>
              <a:t>st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90" dirty="0">
                <a:latin typeface="Microsoft Sans Serif"/>
                <a:cs typeface="Microsoft Sans Serif"/>
              </a:rPr>
              <a:t>te</a:t>
            </a:r>
            <a:r>
              <a:rPr sz="1800" spc="-170" dirty="0">
                <a:latin typeface="Microsoft Sans Serif"/>
                <a:cs typeface="Microsoft Sans Serif"/>
              </a:rPr>
              <a:t>m</a:t>
            </a:r>
            <a:r>
              <a:rPr sz="1800" spc="-185" dirty="0">
                <a:latin typeface="Microsoft Sans Serif"/>
                <a:cs typeface="Microsoft Sans Serif"/>
              </a:rPr>
              <a:t>e</a:t>
            </a:r>
            <a:r>
              <a:rPr sz="1800" spc="-175" dirty="0">
                <a:latin typeface="Microsoft Sans Serif"/>
                <a:cs typeface="Microsoft Sans Serif"/>
              </a:rPr>
              <a:t>n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90" dirty="0">
                <a:latin typeface="Microsoft Sans Serif"/>
                <a:cs typeface="Microsoft Sans Serif"/>
              </a:rPr>
              <a:t>*/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130554"/>
            <a:ext cx="7844155" cy="109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3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165" dirty="0">
                <a:solidFill>
                  <a:srgbClr val="00AF50"/>
                </a:solidFill>
                <a:latin typeface="Microsoft Sans Serif"/>
                <a:cs typeface="Microsoft Sans Serif"/>
              </a:rPr>
              <a:t>Regular</a:t>
            </a:r>
            <a:r>
              <a:rPr sz="18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-17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delay </a:t>
            </a:r>
            <a:r>
              <a:rPr sz="1800" spc="490" dirty="0">
                <a:solidFill>
                  <a:srgbClr val="006FC0"/>
                </a:solidFill>
                <a:latin typeface="Microsoft Sans Serif"/>
                <a:cs typeface="Microsoft Sans Serif"/>
              </a:rPr>
              <a:t>–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takes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effect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with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time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delay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1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time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steps.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‘a’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‘b’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changes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then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‘c’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wait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for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two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steps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compute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result.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3079021"/>
            <a:ext cx="7823834" cy="738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55" dirty="0">
                <a:solidFill>
                  <a:srgbClr val="00AF50"/>
                </a:solidFill>
                <a:latin typeface="Microsoft Sans Serif"/>
                <a:cs typeface="Microsoft Sans Serif"/>
              </a:rPr>
              <a:t>Implicit</a:t>
            </a:r>
            <a:r>
              <a:rPr sz="1800" spc="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AF50"/>
                </a:solidFill>
                <a:latin typeface="Microsoft Sans Serif"/>
                <a:cs typeface="Microsoft Sans Serif"/>
              </a:rPr>
              <a:t>continuous</a:t>
            </a:r>
            <a:r>
              <a:rPr sz="1800" spc="5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assignment</a:t>
            </a:r>
            <a:r>
              <a:rPr sz="18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delay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490" dirty="0">
                <a:solidFill>
                  <a:srgbClr val="006FC0"/>
                </a:solidFill>
                <a:latin typeface="Microsoft Sans Serif"/>
                <a:cs typeface="Microsoft Sans Serif"/>
              </a:rPr>
              <a:t>–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shortcut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method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assigning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delay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645"/>
              </a:spcBef>
            </a:pP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io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4670331"/>
            <a:ext cx="7810500" cy="738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FF0000"/>
              </a:buClr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sz="1800" spc="-60" dirty="0">
                <a:solidFill>
                  <a:srgbClr val="00AF50"/>
                </a:solidFill>
                <a:latin typeface="Microsoft Sans Serif"/>
                <a:cs typeface="Microsoft Sans Serif"/>
              </a:rPr>
              <a:t>Net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declaration</a:t>
            </a:r>
            <a:r>
              <a:rPr sz="18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delay</a:t>
            </a:r>
            <a:r>
              <a:rPr sz="18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490" dirty="0">
                <a:solidFill>
                  <a:srgbClr val="006FC0"/>
                </a:solidFill>
                <a:latin typeface="Microsoft Sans Serif"/>
                <a:cs typeface="Microsoft Sans Serif"/>
              </a:rPr>
              <a:t>–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delay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specified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when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declared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without</a:t>
            </a:r>
            <a:endParaRPr sz="18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645"/>
              </a:spcBef>
            </a:pP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tt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nu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1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net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121407" y="2356091"/>
            <a:ext cx="4093845" cy="835660"/>
            <a:chOff x="2121407" y="2356091"/>
            <a:chExt cx="4093845" cy="83566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62555" y="2374391"/>
              <a:ext cx="4052316" cy="7360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21407" y="2356091"/>
              <a:ext cx="3713988" cy="8351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09799" y="2401823"/>
              <a:ext cx="3962400" cy="64617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209799" y="2401823"/>
              <a:ext cx="3962400" cy="646430"/>
            </a:xfrm>
            <a:custGeom>
              <a:avLst/>
              <a:gdLst/>
              <a:ahLst/>
              <a:cxnLst/>
              <a:rect l="l" t="t" r="r" b="b"/>
              <a:pathLst>
                <a:path w="3962400" h="646430">
                  <a:moveTo>
                    <a:pt x="0" y="646176"/>
                  </a:moveTo>
                  <a:lnTo>
                    <a:pt x="3962400" y="646176"/>
                  </a:lnTo>
                  <a:lnTo>
                    <a:pt x="39624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01494" y="2410714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29" dirty="0">
                <a:latin typeface="Microsoft Sans Serif"/>
                <a:cs typeface="Microsoft Sans Serif"/>
              </a:rPr>
              <a:t>Exa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120" dirty="0">
                <a:latin typeface="Microsoft Sans Serif"/>
                <a:cs typeface="Microsoft Sans Serif"/>
              </a:rPr>
              <a:t>e: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30675" y="2410714"/>
            <a:ext cx="15417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800" spc="-90" dirty="0">
                <a:solidFill>
                  <a:srgbClr val="0000FF"/>
                </a:solidFill>
                <a:latin typeface="Microsoft Sans Serif"/>
                <a:cs typeface="Microsoft Sans Serif"/>
              </a:rPr>
              <a:t>r</a:t>
            </a:r>
            <a:r>
              <a:rPr sz="18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800" spc="-250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,b;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00FF"/>
                </a:solidFill>
                <a:latin typeface="Microsoft Sans Serif"/>
                <a:cs typeface="Microsoft Sans Serif"/>
              </a:rPr>
              <a:t>s</a:t>
            </a:r>
            <a:r>
              <a:rPr sz="18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ign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4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260" dirty="0">
                <a:solidFill>
                  <a:srgbClr val="0000FF"/>
                </a:solidFill>
                <a:latin typeface="Microsoft Sans Serif"/>
                <a:cs typeface="Microsoft Sans Serif"/>
              </a:rPr>
              <a:t>#</a:t>
            </a:r>
            <a:r>
              <a:rPr sz="1800" spc="-254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&amp;b;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21407" y="3992867"/>
            <a:ext cx="4093845" cy="561340"/>
            <a:chOff x="2121407" y="3992867"/>
            <a:chExt cx="4093845" cy="56134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62555" y="4011142"/>
              <a:ext cx="4052316" cy="4587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21407" y="3992867"/>
              <a:ext cx="3582924" cy="56084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09799" y="4038599"/>
              <a:ext cx="3962400" cy="36880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209800" y="4038600"/>
            <a:ext cx="3962400" cy="368935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5"/>
              </a:spcBef>
              <a:tabLst>
                <a:tab pos="1920239" algn="l"/>
              </a:tabLst>
            </a:pPr>
            <a:r>
              <a:rPr sz="1800" spc="-229" dirty="0">
                <a:latin typeface="Microsoft Sans Serif"/>
                <a:cs typeface="Microsoft Sans Serif"/>
              </a:rPr>
              <a:t>Exa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155" dirty="0">
                <a:latin typeface="Microsoft Sans Serif"/>
                <a:cs typeface="Microsoft Sans Serif"/>
              </a:rPr>
              <a:t>e</a:t>
            </a:r>
            <a:r>
              <a:rPr sz="1800" spc="-75" dirty="0">
                <a:latin typeface="Microsoft Sans Serif"/>
                <a:cs typeface="Microsoft Sans Serif"/>
              </a:rPr>
              <a:t>: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800" spc="-90" dirty="0">
                <a:solidFill>
                  <a:srgbClr val="0000FF"/>
                </a:solidFill>
                <a:latin typeface="Microsoft Sans Serif"/>
                <a:cs typeface="Microsoft Sans Serif"/>
              </a:rPr>
              <a:t>r</a:t>
            </a:r>
            <a:r>
              <a:rPr sz="18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260" dirty="0">
                <a:solidFill>
                  <a:srgbClr val="0000FF"/>
                </a:solidFill>
                <a:latin typeface="Microsoft Sans Serif"/>
                <a:cs typeface="Microsoft Sans Serif"/>
              </a:rPr>
              <a:t>#</a:t>
            </a:r>
            <a:r>
              <a:rPr sz="1800" spc="-254" dirty="0">
                <a:solidFill>
                  <a:srgbClr val="0000FF"/>
                </a:solidFill>
                <a:latin typeface="Microsoft Sans Serif"/>
                <a:cs typeface="Microsoft Sans Serif"/>
              </a:rPr>
              <a:t>5</a:t>
            </a:r>
            <a:r>
              <a:rPr sz="18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800" spc="-265" dirty="0">
                <a:solidFill>
                  <a:srgbClr val="0000FF"/>
                </a:solidFill>
                <a:latin typeface="Microsoft Sans Serif"/>
                <a:cs typeface="Microsoft Sans Serif"/>
              </a:rPr>
              <a:t>a</a:t>
            </a:r>
            <a:r>
              <a:rPr sz="18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&amp;</a:t>
            </a:r>
            <a:r>
              <a:rPr sz="18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b</a:t>
            </a:r>
            <a:r>
              <a:rPr sz="18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21407" y="5593079"/>
            <a:ext cx="4093845" cy="835660"/>
            <a:chOff x="2121407" y="5593079"/>
            <a:chExt cx="4093845" cy="835660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62555" y="5611367"/>
              <a:ext cx="4052316" cy="7360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21407" y="5593079"/>
              <a:ext cx="3461004" cy="8351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09799" y="5638799"/>
              <a:ext cx="3962400" cy="6461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209799" y="5638799"/>
              <a:ext cx="3962400" cy="646430"/>
            </a:xfrm>
            <a:custGeom>
              <a:avLst/>
              <a:gdLst/>
              <a:ahLst/>
              <a:cxnLst/>
              <a:rect l="l" t="t" r="r" b="b"/>
              <a:pathLst>
                <a:path w="3962400" h="646429">
                  <a:moveTo>
                    <a:pt x="0" y="646176"/>
                  </a:moveTo>
                  <a:lnTo>
                    <a:pt x="3962400" y="646176"/>
                  </a:lnTo>
                  <a:lnTo>
                    <a:pt x="39624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301494" y="5648655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29" dirty="0">
                <a:latin typeface="Microsoft Sans Serif"/>
                <a:cs typeface="Microsoft Sans Serif"/>
              </a:rPr>
              <a:t>Exa</a:t>
            </a: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65" dirty="0">
                <a:latin typeface="Microsoft Sans Serif"/>
                <a:cs typeface="Microsoft Sans Serif"/>
              </a:rPr>
              <a:t>pl</a:t>
            </a:r>
            <a:r>
              <a:rPr sz="1800" spc="-120" dirty="0">
                <a:latin typeface="Microsoft Sans Serif"/>
                <a:cs typeface="Microsoft Sans Serif"/>
              </a:rPr>
              <a:t>e: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130675" y="5648655"/>
            <a:ext cx="1288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w</a:t>
            </a:r>
            <a:r>
              <a:rPr sz="1800" spc="-45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800" spc="-90" dirty="0">
                <a:solidFill>
                  <a:srgbClr val="0000FF"/>
                </a:solidFill>
                <a:latin typeface="Microsoft Sans Serif"/>
                <a:cs typeface="Microsoft Sans Serif"/>
              </a:rPr>
              <a:t>r</a:t>
            </a:r>
            <a:r>
              <a:rPr sz="18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260" dirty="0">
                <a:solidFill>
                  <a:srgbClr val="0000FF"/>
                </a:solidFill>
                <a:latin typeface="Microsoft Sans Serif"/>
                <a:cs typeface="Microsoft Sans Serif"/>
              </a:rPr>
              <a:t>#</a:t>
            </a:r>
            <a:r>
              <a:rPr sz="1800" spc="-254" dirty="0">
                <a:solidFill>
                  <a:srgbClr val="0000FF"/>
                </a:solidFill>
                <a:latin typeface="Microsoft Sans Serif"/>
                <a:cs typeface="Microsoft Sans Serif"/>
              </a:rPr>
              <a:t>5</a:t>
            </a:r>
            <a:r>
              <a:rPr sz="180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c</a:t>
            </a:r>
            <a:r>
              <a:rPr sz="18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  </a:t>
            </a:r>
            <a:r>
              <a:rPr sz="1800" spc="-220" dirty="0">
                <a:solidFill>
                  <a:srgbClr val="0000FF"/>
                </a:solidFill>
                <a:latin typeface="Microsoft Sans Serif"/>
                <a:cs typeface="Microsoft Sans Serif"/>
              </a:rPr>
              <a:t>assign</a:t>
            </a:r>
            <a:r>
              <a:rPr sz="1800" spc="-5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c=a&amp;b;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940" y="1048867"/>
            <a:ext cx="7688580" cy="54533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74320" algn="ctr">
              <a:lnSpc>
                <a:spcPct val="100000"/>
              </a:lnSpc>
              <a:spcBef>
                <a:spcPts val="37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EXPRESSIONS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formed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using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operands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operators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whenever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expected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96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1841500" algn="l"/>
              </a:tabLst>
            </a:pPr>
            <a:r>
              <a:rPr sz="20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xam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le: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[7:0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+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x</a:t>
            </a:r>
            <a:r>
              <a:rPr sz="20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[7:0]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0000"/>
              </a:buClr>
              <a:buFont typeface="Wingdings"/>
              <a:buChar char=""/>
            </a:pPr>
            <a:endParaRPr sz="2650">
              <a:latin typeface="Microsoft Sans Serif"/>
              <a:cs typeface="Microsoft Sans Serif"/>
            </a:endParaRPr>
          </a:p>
          <a:p>
            <a:pPr marL="255904" algn="ctr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OPERANDS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Operands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types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used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expression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operands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can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be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constant,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net,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parameter,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register,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memory,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select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1841500" algn="l"/>
              </a:tabLst>
            </a:pPr>
            <a:r>
              <a:rPr sz="20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xam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le: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+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a,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rea</a:t>
            </a:r>
            <a:r>
              <a:rPr sz="20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era</a:t>
            </a:r>
            <a:r>
              <a:rPr sz="20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ds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2100">
              <a:latin typeface="Microsoft Sans Serif"/>
              <a:cs typeface="Microsoft Sans Serif"/>
            </a:endParaRPr>
          </a:p>
          <a:p>
            <a:pPr marL="243204" algn="ctr">
              <a:lnSpc>
                <a:spcPct val="100000"/>
              </a:lnSpc>
            </a:pPr>
            <a:r>
              <a:rPr sz="2000" b="1" spc="-20" dirty="0">
                <a:solidFill>
                  <a:srgbClr val="C00000"/>
                </a:solidFill>
                <a:latin typeface="Constantia"/>
                <a:cs typeface="Constantia"/>
              </a:rPr>
              <a:t>OPERATORS</a:t>
            </a:r>
            <a:endParaRPr sz="2000">
              <a:latin typeface="Constantia"/>
              <a:cs typeface="Constantia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Operators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act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operands</a:t>
            </a:r>
            <a:r>
              <a:rPr sz="20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produce</a:t>
            </a:r>
            <a:r>
              <a:rPr sz="20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desired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result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0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Various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types: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arithmetic,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logical,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relational,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equality,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bitwise,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shift,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etc.,</a:t>
            </a:r>
            <a:endParaRPr sz="20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2417445" algn="l"/>
              </a:tabLst>
            </a:pPr>
            <a:r>
              <a:rPr sz="20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0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xam</a:t>
            </a:r>
            <a:r>
              <a:rPr sz="20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le:</a:t>
            </a:r>
            <a:r>
              <a:rPr sz="20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0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0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	</a:t>
            </a:r>
            <a:r>
              <a:rPr sz="20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//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op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er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0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20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erf</a:t>
            </a:r>
            <a:r>
              <a:rPr sz="20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0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0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les</a:t>
            </a:r>
            <a:r>
              <a:rPr sz="20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op</a:t>
            </a:r>
            <a:r>
              <a:rPr sz="20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er</a:t>
            </a:r>
            <a:r>
              <a:rPr sz="20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ti</a:t>
            </a:r>
            <a:r>
              <a:rPr sz="20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0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000" spc="-27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0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,b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41775" y="1845005"/>
            <a:ext cx="4556125" cy="3492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69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FULL</a:t>
            </a:r>
            <a:r>
              <a:rPr sz="2000" b="1" spc="-1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ADDER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</a:pP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Constantia"/>
              <a:cs typeface="Constantia"/>
            </a:endParaRPr>
          </a:p>
          <a:p>
            <a:pPr marL="12700" marR="195580">
              <a:lnSpc>
                <a:spcPct val="100000"/>
              </a:lnSpc>
            </a:pP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le</a:t>
            </a:r>
            <a:r>
              <a:rPr sz="2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fa_da(a,b</a:t>
            </a:r>
            <a:r>
              <a:rPr sz="2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ci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,s</a:t>
            </a:r>
            <a:r>
              <a:rPr sz="2800" spc="-36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2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co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t);  </a:t>
            </a:r>
            <a:r>
              <a:rPr sz="2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2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a,b,cin;</a:t>
            </a:r>
            <a:endParaRPr sz="2800">
              <a:latin typeface="Microsoft Sans Serif"/>
              <a:cs typeface="Microsoft Sans Serif"/>
            </a:endParaRPr>
          </a:p>
          <a:p>
            <a:pPr marL="12700" marR="1802130">
              <a:lnSpc>
                <a:spcPct val="100000"/>
              </a:lnSpc>
            </a:pP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2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sum,cout; </a:t>
            </a:r>
            <a:r>
              <a:rPr sz="2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sum=</a:t>
            </a:r>
            <a:r>
              <a:rPr sz="28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a^b^c</a:t>
            </a:r>
            <a:r>
              <a:rPr sz="2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2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28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2800" spc="-335" dirty="0">
                <a:solidFill>
                  <a:srgbClr val="006FC0"/>
                </a:solidFill>
                <a:latin typeface="Microsoft Sans Serif"/>
                <a:cs typeface="Microsoft Sans Serif"/>
              </a:rPr>
              <a:t>assign</a:t>
            </a:r>
            <a:r>
              <a:rPr sz="2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co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28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2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=(</a:t>
            </a:r>
            <a:r>
              <a:rPr sz="2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a&amp;cin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)|(</a:t>
            </a:r>
            <a:r>
              <a:rPr sz="2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b&amp;cin</a:t>
            </a:r>
            <a:r>
              <a:rPr sz="2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)|(</a:t>
            </a:r>
            <a:r>
              <a:rPr sz="2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a&amp;</a:t>
            </a:r>
            <a:r>
              <a:rPr sz="2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);  </a:t>
            </a:r>
            <a:r>
              <a:rPr sz="2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endmodule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1095">
              <a:lnSpc>
                <a:spcPct val="100000"/>
              </a:lnSpc>
              <a:spcBef>
                <a:spcPts val="105"/>
              </a:spcBef>
            </a:pPr>
            <a:r>
              <a:rPr dirty="0"/>
              <a:t>HALF</a:t>
            </a:r>
            <a:r>
              <a:rPr spc="-80" dirty="0"/>
              <a:t> </a:t>
            </a:r>
            <a:r>
              <a:rPr spc="-5" dirty="0"/>
              <a:t>ADDER</a:t>
            </a:r>
          </a:p>
          <a:p>
            <a:pPr>
              <a:lnSpc>
                <a:spcPct val="100000"/>
              </a:lnSpc>
            </a:pPr>
            <a:endParaRPr spc="-5" dirty="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/>
          </a:p>
          <a:p>
            <a:pPr marL="1026160" marR="5080" indent="-1014094">
              <a:lnSpc>
                <a:spcPct val="100000"/>
              </a:lnSpc>
              <a:spcBef>
                <a:spcPts val="5"/>
              </a:spcBef>
            </a:pPr>
            <a:r>
              <a:rPr sz="2800" b="0" spc="-240" dirty="0">
                <a:solidFill>
                  <a:srgbClr val="000000"/>
                </a:solidFill>
                <a:latin typeface="Microsoft Sans Serif"/>
                <a:cs typeface="Microsoft Sans Serif"/>
              </a:rPr>
              <a:t>m</a:t>
            </a:r>
            <a:r>
              <a:rPr sz="2800" b="0" spc="-155" dirty="0">
                <a:solidFill>
                  <a:srgbClr val="000000"/>
                </a:solidFill>
                <a:latin typeface="Microsoft Sans Serif"/>
                <a:cs typeface="Microsoft Sans Serif"/>
              </a:rPr>
              <a:t>o</a:t>
            </a:r>
            <a:r>
              <a:rPr sz="2800" b="0" spc="-185" dirty="0">
                <a:solidFill>
                  <a:srgbClr val="000000"/>
                </a:solidFill>
                <a:latin typeface="Microsoft Sans Serif"/>
                <a:cs typeface="Microsoft Sans Serif"/>
              </a:rPr>
              <a:t>d</a:t>
            </a:r>
            <a:r>
              <a:rPr sz="2800" b="0" spc="-180" dirty="0">
                <a:solidFill>
                  <a:srgbClr val="000000"/>
                </a:solidFill>
                <a:latin typeface="Microsoft Sans Serif"/>
                <a:cs typeface="Microsoft Sans Serif"/>
              </a:rPr>
              <a:t>u</a:t>
            </a:r>
            <a:r>
              <a:rPr sz="2800" b="0" spc="-190" dirty="0">
                <a:solidFill>
                  <a:srgbClr val="000000"/>
                </a:solidFill>
                <a:latin typeface="Microsoft Sans Serif"/>
                <a:cs typeface="Microsoft Sans Serif"/>
              </a:rPr>
              <a:t>le</a:t>
            </a:r>
            <a:r>
              <a:rPr sz="2800" b="0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270" dirty="0">
                <a:solidFill>
                  <a:srgbClr val="000000"/>
                </a:solidFill>
                <a:latin typeface="Microsoft Sans Serif"/>
                <a:cs typeface="Microsoft Sans Serif"/>
              </a:rPr>
              <a:t>ha</a:t>
            </a:r>
            <a:r>
              <a:rPr sz="2800" b="0" spc="-110" dirty="0">
                <a:solidFill>
                  <a:srgbClr val="000000"/>
                </a:solidFill>
                <a:latin typeface="Microsoft Sans Serif"/>
                <a:cs typeface="Microsoft Sans Serif"/>
              </a:rPr>
              <a:t>l</a:t>
            </a:r>
            <a:r>
              <a:rPr sz="2800" b="0" spc="-175" dirty="0">
                <a:solidFill>
                  <a:srgbClr val="000000"/>
                </a:solidFill>
                <a:latin typeface="Microsoft Sans Serif"/>
                <a:cs typeface="Microsoft Sans Serif"/>
              </a:rPr>
              <a:t>fad</a:t>
            </a:r>
            <a:r>
              <a:rPr sz="2800" b="0" spc="-195" dirty="0">
                <a:solidFill>
                  <a:srgbClr val="000000"/>
                </a:solidFill>
                <a:latin typeface="Microsoft Sans Serif"/>
                <a:cs typeface="Microsoft Sans Serif"/>
              </a:rPr>
              <a:t>d</a:t>
            </a:r>
            <a:r>
              <a:rPr sz="2800" b="0" spc="-220" dirty="0">
                <a:solidFill>
                  <a:srgbClr val="000000"/>
                </a:solidFill>
                <a:latin typeface="Microsoft Sans Serif"/>
                <a:cs typeface="Microsoft Sans Serif"/>
              </a:rPr>
              <a:t>er</a:t>
            </a:r>
            <a:r>
              <a:rPr sz="2800" b="0" spc="-140" dirty="0">
                <a:solidFill>
                  <a:srgbClr val="000000"/>
                </a:solidFill>
                <a:latin typeface="Microsoft Sans Serif"/>
                <a:cs typeface="Microsoft Sans Serif"/>
              </a:rPr>
              <a:t>(</a:t>
            </a:r>
            <a:r>
              <a:rPr sz="2800" b="0" spc="-295" dirty="0">
                <a:solidFill>
                  <a:srgbClr val="000000"/>
                </a:solidFill>
                <a:latin typeface="Microsoft Sans Serif"/>
                <a:cs typeface="Microsoft Sans Serif"/>
              </a:rPr>
              <a:t>s,c</a:t>
            </a:r>
            <a:r>
              <a:rPr sz="2800" b="0" spc="-190" dirty="0">
                <a:solidFill>
                  <a:srgbClr val="000000"/>
                </a:solidFill>
                <a:latin typeface="Microsoft Sans Serif"/>
                <a:cs typeface="Microsoft Sans Serif"/>
              </a:rPr>
              <a:t>,</a:t>
            </a:r>
            <a:r>
              <a:rPr sz="2800" b="0" spc="-229" dirty="0">
                <a:solidFill>
                  <a:srgbClr val="000000"/>
                </a:solidFill>
                <a:latin typeface="Microsoft Sans Serif"/>
                <a:cs typeface="Microsoft Sans Serif"/>
              </a:rPr>
              <a:t>a,</a:t>
            </a:r>
            <a:r>
              <a:rPr sz="2800" b="0" spc="-295" dirty="0">
                <a:solidFill>
                  <a:srgbClr val="000000"/>
                </a:solidFill>
                <a:latin typeface="Microsoft Sans Serif"/>
                <a:cs typeface="Microsoft Sans Serif"/>
              </a:rPr>
              <a:t>b</a:t>
            </a:r>
            <a:r>
              <a:rPr sz="2800" b="0" spc="-120" dirty="0">
                <a:solidFill>
                  <a:srgbClr val="000000"/>
                </a:solidFill>
                <a:latin typeface="Microsoft Sans Serif"/>
                <a:cs typeface="Microsoft Sans Serif"/>
              </a:rPr>
              <a:t>);  </a:t>
            </a:r>
            <a:r>
              <a:rPr sz="2800" b="0" spc="-110" dirty="0">
                <a:solidFill>
                  <a:srgbClr val="000000"/>
                </a:solidFill>
                <a:latin typeface="Microsoft Sans Serif"/>
                <a:cs typeface="Microsoft Sans Serif"/>
              </a:rPr>
              <a:t>input</a:t>
            </a:r>
            <a:r>
              <a:rPr sz="2800" b="0" spc="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190" dirty="0">
                <a:solidFill>
                  <a:srgbClr val="000000"/>
                </a:solidFill>
                <a:latin typeface="Microsoft Sans Serif"/>
                <a:cs typeface="Microsoft Sans Serif"/>
              </a:rPr>
              <a:t>a,b;</a:t>
            </a:r>
            <a:endParaRPr sz="2800">
              <a:latin typeface="Microsoft Sans Serif"/>
              <a:cs typeface="Microsoft Sans Serif"/>
            </a:endParaRPr>
          </a:p>
          <a:p>
            <a:pPr marL="927100" marR="698500" indent="99060">
              <a:lnSpc>
                <a:spcPct val="100000"/>
              </a:lnSpc>
            </a:pPr>
            <a:r>
              <a:rPr sz="2800" b="0" spc="-105" dirty="0">
                <a:solidFill>
                  <a:srgbClr val="000000"/>
                </a:solidFill>
                <a:latin typeface="Microsoft Sans Serif"/>
                <a:cs typeface="Microsoft Sans Serif"/>
              </a:rPr>
              <a:t>output</a:t>
            </a:r>
            <a:r>
              <a:rPr sz="2800" b="0" spc="-1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229" dirty="0">
                <a:solidFill>
                  <a:srgbClr val="000000"/>
                </a:solidFill>
                <a:latin typeface="Microsoft Sans Serif"/>
                <a:cs typeface="Microsoft Sans Serif"/>
              </a:rPr>
              <a:t>s,c; </a:t>
            </a:r>
            <a:r>
              <a:rPr sz="2800" b="0" spc="-2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335" dirty="0">
                <a:solidFill>
                  <a:srgbClr val="000000"/>
                </a:solidFill>
                <a:latin typeface="Microsoft Sans Serif"/>
                <a:cs typeface="Microsoft Sans Serif"/>
              </a:rPr>
              <a:t>assign</a:t>
            </a:r>
            <a:r>
              <a:rPr sz="2800" b="0"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204" dirty="0">
                <a:solidFill>
                  <a:srgbClr val="000000"/>
                </a:solidFill>
                <a:latin typeface="Microsoft Sans Serif"/>
                <a:cs typeface="Microsoft Sans Serif"/>
              </a:rPr>
              <a:t>s</a:t>
            </a:r>
            <a:r>
              <a:rPr sz="2800" b="0" spc="-260" dirty="0">
                <a:solidFill>
                  <a:srgbClr val="000000"/>
                </a:solidFill>
                <a:latin typeface="Microsoft Sans Serif"/>
                <a:cs typeface="Microsoft Sans Serif"/>
              </a:rPr>
              <a:t>=</a:t>
            </a:r>
            <a:r>
              <a:rPr sz="2800" b="0" spc="-280" dirty="0">
                <a:solidFill>
                  <a:srgbClr val="000000"/>
                </a:solidFill>
                <a:latin typeface="Microsoft Sans Serif"/>
                <a:cs typeface="Microsoft Sans Serif"/>
              </a:rPr>
              <a:t>a^b</a:t>
            </a:r>
            <a:r>
              <a:rPr sz="2800" b="0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;  </a:t>
            </a:r>
            <a:r>
              <a:rPr sz="2800" b="0" spc="-335" dirty="0">
                <a:solidFill>
                  <a:srgbClr val="000000"/>
                </a:solidFill>
                <a:latin typeface="Microsoft Sans Serif"/>
                <a:cs typeface="Microsoft Sans Serif"/>
              </a:rPr>
              <a:t>assign</a:t>
            </a:r>
            <a:r>
              <a:rPr sz="2800" b="0" spc="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800" b="0" spc="-250" dirty="0">
                <a:solidFill>
                  <a:srgbClr val="000000"/>
                </a:solidFill>
                <a:latin typeface="Microsoft Sans Serif"/>
                <a:cs typeface="Microsoft Sans Serif"/>
              </a:rPr>
              <a:t>c</a:t>
            </a:r>
            <a:r>
              <a:rPr sz="2800" b="0" spc="60" dirty="0">
                <a:solidFill>
                  <a:srgbClr val="000000"/>
                </a:solidFill>
                <a:latin typeface="Microsoft Sans Serif"/>
                <a:cs typeface="Microsoft Sans Serif"/>
              </a:rPr>
              <a:t>=</a:t>
            </a:r>
            <a:r>
              <a:rPr sz="2800" b="0" spc="-240" dirty="0">
                <a:solidFill>
                  <a:srgbClr val="000000"/>
                </a:solidFill>
                <a:latin typeface="Microsoft Sans Serif"/>
                <a:cs typeface="Microsoft Sans Serif"/>
              </a:rPr>
              <a:t>a&amp;</a:t>
            </a:r>
            <a:r>
              <a:rPr sz="2800" b="0" spc="-215" dirty="0">
                <a:solidFill>
                  <a:srgbClr val="000000"/>
                </a:solidFill>
                <a:latin typeface="Microsoft Sans Serif"/>
                <a:cs typeface="Microsoft Sans Serif"/>
              </a:rPr>
              <a:t>b</a:t>
            </a:r>
            <a:r>
              <a:rPr sz="2800" b="0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;  </a:t>
            </a:r>
            <a:r>
              <a:rPr sz="2800" b="0" spc="-204" dirty="0">
                <a:solidFill>
                  <a:srgbClr val="000000"/>
                </a:solidFill>
                <a:latin typeface="Microsoft Sans Serif"/>
                <a:cs typeface="Microsoft Sans Serif"/>
              </a:rPr>
              <a:t>endmodule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346191" y="1764792"/>
            <a:ext cx="3803015" cy="5093335"/>
            <a:chOff x="5346191" y="1764792"/>
            <a:chExt cx="3803015" cy="509333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39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46191" y="1764792"/>
              <a:ext cx="3302508" cy="43693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10199" y="1828800"/>
              <a:ext cx="3124200" cy="4191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91149" y="1809750"/>
              <a:ext cx="3162300" cy="4229100"/>
            </a:xfrm>
            <a:custGeom>
              <a:avLst/>
              <a:gdLst/>
              <a:ahLst/>
              <a:cxnLst/>
              <a:rect l="l" t="t" r="r" b="b"/>
              <a:pathLst>
                <a:path w="3162300" h="4229100">
                  <a:moveTo>
                    <a:pt x="0" y="4229100"/>
                  </a:moveTo>
                  <a:lnTo>
                    <a:pt x="3162300" y="4229100"/>
                  </a:lnTo>
                  <a:lnTo>
                    <a:pt x="3162300" y="0"/>
                  </a:lnTo>
                  <a:lnTo>
                    <a:pt x="0" y="0"/>
                  </a:lnTo>
                  <a:lnTo>
                    <a:pt x="0" y="422910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9740" y="2520823"/>
            <a:ext cx="461200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03525">
              <a:lnSpc>
                <a:spcPct val="100000"/>
              </a:lnSpc>
              <a:spcBef>
                <a:spcPts val="105"/>
              </a:spcBef>
            </a:pPr>
            <a:r>
              <a:rPr sz="2000" spc="-140" dirty="0">
                <a:latin typeface="Microsoft Sans Serif"/>
                <a:cs typeface="Microsoft Sans Serif"/>
              </a:rPr>
              <a:t>mo</a:t>
            </a:r>
            <a:r>
              <a:rPr sz="2000" spc="-105" dirty="0">
                <a:latin typeface="Microsoft Sans Serif"/>
                <a:cs typeface="Microsoft Sans Serif"/>
              </a:rPr>
              <a:t>d</a:t>
            </a:r>
            <a:r>
              <a:rPr sz="2000" spc="-125" dirty="0">
                <a:latin typeface="Microsoft Sans Serif"/>
                <a:cs typeface="Microsoft Sans Serif"/>
              </a:rPr>
              <a:t>ul</a:t>
            </a:r>
            <a:r>
              <a:rPr sz="2000" spc="-170" dirty="0">
                <a:latin typeface="Microsoft Sans Serif"/>
                <a:cs typeface="Microsoft Sans Serif"/>
              </a:rPr>
              <a:t>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latin typeface="Microsoft Sans Serif"/>
                <a:cs typeface="Microsoft Sans Serif"/>
              </a:rPr>
              <a:t>mux</a:t>
            </a:r>
            <a:r>
              <a:rPr sz="2000" spc="-85" dirty="0">
                <a:latin typeface="Microsoft Sans Serif"/>
                <a:cs typeface="Microsoft Sans Serif"/>
              </a:rPr>
              <a:t>(</a:t>
            </a:r>
            <a:r>
              <a:rPr sz="2000" spc="-150" dirty="0">
                <a:latin typeface="Microsoft Sans Serif"/>
                <a:cs typeface="Microsoft Sans Serif"/>
              </a:rPr>
              <a:t>y,s,i</a:t>
            </a:r>
            <a:r>
              <a:rPr sz="2000" spc="-75" dirty="0">
                <a:latin typeface="Microsoft Sans Serif"/>
                <a:cs typeface="Microsoft Sans Serif"/>
              </a:rPr>
              <a:t>);  input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[2:0]s;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95" dirty="0">
                <a:latin typeface="Microsoft Sans Serif"/>
                <a:cs typeface="Microsoft Sans Serif"/>
              </a:rPr>
              <a:t>input[7:0]i;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latin typeface="Microsoft Sans Serif"/>
                <a:cs typeface="Microsoft Sans Serif"/>
              </a:rPr>
              <a:t>output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y;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240" dirty="0">
                <a:latin typeface="Microsoft Sans Serif"/>
                <a:cs typeface="Microsoft Sans Serif"/>
              </a:rPr>
              <a:t>assign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y=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(~s[2]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~s[1]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~s[0]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i[1])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-240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(~s[2]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2926715" algn="l"/>
              </a:tabLst>
            </a:pPr>
            <a:r>
              <a:rPr sz="2000" spc="-200" dirty="0">
                <a:latin typeface="Microsoft Sans Serif"/>
                <a:cs typeface="Microsoft Sans Serif"/>
              </a:rPr>
              <a:t>~s</a:t>
            </a:r>
            <a:r>
              <a:rPr sz="2000" spc="-100" dirty="0">
                <a:latin typeface="Microsoft Sans Serif"/>
                <a:cs typeface="Microsoft Sans Serif"/>
              </a:rPr>
              <a:t>[</a:t>
            </a:r>
            <a:r>
              <a:rPr sz="2000" spc="-229" dirty="0">
                <a:latin typeface="Microsoft Sans Serif"/>
                <a:cs typeface="Microsoft Sans Serif"/>
              </a:rPr>
              <a:t>1</a:t>
            </a:r>
            <a:r>
              <a:rPr sz="2000" spc="-114" dirty="0">
                <a:latin typeface="Microsoft Sans Serif"/>
                <a:cs typeface="Microsoft Sans Serif"/>
              </a:rPr>
              <a:t>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s[0]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i[2])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(~s</a:t>
            </a:r>
            <a:r>
              <a:rPr sz="2000" spc="-105" dirty="0">
                <a:latin typeface="Microsoft Sans Serif"/>
                <a:cs typeface="Microsoft Sans Serif"/>
              </a:rPr>
              <a:t>[</a:t>
            </a:r>
            <a:r>
              <a:rPr sz="2000" spc="-229" dirty="0">
                <a:latin typeface="Microsoft Sans Serif"/>
                <a:cs typeface="Microsoft Sans Serif"/>
              </a:rPr>
              <a:t>2</a:t>
            </a:r>
            <a:r>
              <a:rPr sz="2000" spc="-114" dirty="0">
                <a:latin typeface="Microsoft Sans Serif"/>
                <a:cs typeface="Microsoft Sans Serif"/>
              </a:rPr>
              <a:t>]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dirty="0">
                <a:latin typeface="Microsoft Sans Serif"/>
                <a:cs typeface="Microsoft Sans Serif"/>
              </a:rPr>
              <a:t>	</a:t>
            </a:r>
            <a:r>
              <a:rPr sz="2000" spc="-190" dirty="0">
                <a:latin typeface="Microsoft Sans Serif"/>
                <a:cs typeface="Microsoft Sans Serif"/>
              </a:rPr>
              <a:t>s[1]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00" dirty="0">
                <a:latin typeface="Microsoft Sans Serif"/>
                <a:cs typeface="Microsoft Sans Serif"/>
              </a:rPr>
              <a:t>~s</a:t>
            </a:r>
            <a:r>
              <a:rPr sz="2000" spc="-100" dirty="0">
                <a:latin typeface="Microsoft Sans Serif"/>
                <a:cs typeface="Microsoft Sans Serif"/>
              </a:rPr>
              <a:t>[</a:t>
            </a:r>
            <a:r>
              <a:rPr sz="2000" spc="-229" dirty="0">
                <a:latin typeface="Microsoft Sans Serif"/>
                <a:cs typeface="Microsoft Sans Serif"/>
              </a:rPr>
              <a:t>0</a:t>
            </a:r>
            <a:r>
              <a:rPr sz="2000" spc="-114" dirty="0">
                <a:latin typeface="Microsoft Sans Serif"/>
                <a:cs typeface="Microsoft Sans Serif"/>
              </a:rPr>
              <a:t>]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20" dirty="0">
                <a:latin typeface="Microsoft Sans Serif"/>
                <a:cs typeface="Microsoft Sans Serif"/>
              </a:rPr>
              <a:t>i[3])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-240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(~s[2]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s[1]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s[0]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i[4])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-240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(s[2]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~s[1]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70" dirty="0">
                <a:latin typeface="Microsoft Sans Serif"/>
                <a:cs typeface="Microsoft Sans Serif"/>
              </a:rPr>
              <a:t>~s[0]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i[5])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(~s[2]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s[1]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~s[0]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i[6])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(s[2]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5" dirty="0">
                <a:latin typeface="Microsoft Sans Serif"/>
                <a:cs typeface="Microsoft Sans Serif"/>
              </a:rPr>
              <a:t>&amp;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90" dirty="0">
                <a:latin typeface="Microsoft Sans Serif"/>
                <a:cs typeface="Microsoft Sans Serif"/>
              </a:rPr>
              <a:t>s[1]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70" dirty="0">
                <a:latin typeface="Microsoft Sans Serif"/>
                <a:cs typeface="Microsoft Sans Serif"/>
              </a:rPr>
              <a:t>~s[</a:t>
            </a:r>
            <a:r>
              <a:rPr sz="2000" spc="-229" dirty="0">
                <a:latin typeface="Microsoft Sans Serif"/>
                <a:cs typeface="Microsoft Sans Serif"/>
              </a:rPr>
              <a:t>0</a:t>
            </a:r>
            <a:r>
              <a:rPr sz="2000" spc="-114" dirty="0">
                <a:latin typeface="Microsoft Sans Serif"/>
                <a:cs typeface="Microsoft Sans Serif"/>
              </a:rPr>
              <a:t>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i[7])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270" dirty="0">
                <a:latin typeface="Microsoft Sans Serif"/>
                <a:cs typeface="Microsoft Sans Serif"/>
              </a:rPr>
              <a:t>|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04" dirty="0">
                <a:latin typeface="Microsoft Sans Serif"/>
                <a:cs typeface="Microsoft Sans Serif"/>
              </a:rPr>
              <a:t>(s[2</a:t>
            </a:r>
            <a:r>
              <a:rPr sz="2000" spc="-135" dirty="0">
                <a:latin typeface="Microsoft Sans Serif"/>
                <a:cs typeface="Microsoft Sans Serif"/>
              </a:rPr>
              <a:t>]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s[1]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&amp;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90" dirty="0">
                <a:latin typeface="Microsoft Sans Serif"/>
                <a:cs typeface="Microsoft Sans Serif"/>
              </a:rPr>
              <a:t>s[0]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&amp;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i[8]);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50" dirty="0">
                <a:latin typeface="Microsoft Sans Serif"/>
                <a:cs typeface="Microsoft Sans Serif"/>
              </a:rPr>
              <a:t>endmodule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109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97782" y="1159509"/>
            <a:ext cx="99504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8:1</a:t>
            </a:r>
            <a:r>
              <a:rPr sz="2000" b="1" spc="-8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MUX</a:t>
            </a:r>
            <a:endParaRPr sz="20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292427"/>
            <a:ext cx="6393815" cy="3388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8489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B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I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N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spc="-7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Y</a:t>
            </a:r>
            <a:r>
              <a:rPr sz="2000" b="1" spc="-10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3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spc="5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GR</a:t>
            </a:r>
            <a:r>
              <a:rPr sz="2000" b="1" spc="-140" dirty="0">
                <a:solidFill>
                  <a:srgbClr val="C00000"/>
                </a:solidFill>
                <a:latin typeface="Constantia"/>
                <a:cs typeface="Constantia"/>
              </a:rPr>
              <a:t>A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Y</a:t>
            </a:r>
            <a:r>
              <a:rPr sz="2000" b="1" spc="-9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80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DE </a:t>
            </a:r>
            <a:r>
              <a:rPr sz="2000" b="1" spc="-75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NVE</a:t>
            </a:r>
            <a:r>
              <a:rPr sz="2000" b="1" spc="-6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000" b="1" spc="-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ER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</a:pP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Constantia"/>
              <a:cs typeface="Constantia"/>
            </a:endParaRPr>
          </a:p>
          <a:p>
            <a:pPr marL="12700" marR="3600450">
              <a:lnSpc>
                <a:spcPct val="100000"/>
              </a:lnSpc>
              <a:spcBef>
                <a:spcPts val="5"/>
              </a:spcBef>
            </a:pPr>
            <a:r>
              <a:rPr sz="2000" spc="-140" dirty="0">
                <a:latin typeface="Microsoft Sans Serif"/>
                <a:cs typeface="Microsoft Sans Serif"/>
              </a:rPr>
              <a:t>mo</a:t>
            </a:r>
            <a:r>
              <a:rPr sz="2000" spc="-105" dirty="0">
                <a:latin typeface="Microsoft Sans Serif"/>
                <a:cs typeface="Microsoft Sans Serif"/>
              </a:rPr>
              <a:t>d</a:t>
            </a:r>
            <a:r>
              <a:rPr sz="2000" spc="-125" dirty="0">
                <a:latin typeface="Microsoft Sans Serif"/>
                <a:cs typeface="Microsoft Sans Serif"/>
              </a:rPr>
              <a:t>ul</a:t>
            </a:r>
            <a:r>
              <a:rPr sz="2000" spc="-170" dirty="0">
                <a:latin typeface="Microsoft Sans Serif"/>
                <a:cs typeface="Microsoft Sans Serif"/>
              </a:rPr>
              <a:t>e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145" dirty="0">
                <a:latin typeface="Microsoft Sans Serif"/>
                <a:cs typeface="Microsoft Sans Serif"/>
              </a:rPr>
              <a:t>bin</a:t>
            </a:r>
            <a:r>
              <a:rPr sz="2000" spc="-170" dirty="0">
                <a:latin typeface="Microsoft Sans Serif"/>
                <a:cs typeface="Microsoft Sans Serif"/>
              </a:rPr>
              <a:t>a</a:t>
            </a:r>
            <a:r>
              <a:rPr sz="2000" spc="-100" dirty="0">
                <a:latin typeface="Microsoft Sans Serif"/>
                <a:cs typeface="Microsoft Sans Serif"/>
              </a:rPr>
              <a:t>ry_to_gr</a:t>
            </a:r>
            <a:r>
              <a:rPr sz="2000" spc="-110" dirty="0">
                <a:latin typeface="Microsoft Sans Serif"/>
                <a:cs typeface="Microsoft Sans Serif"/>
              </a:rPr>
              <a:t>a</a:t>
            </a:r>
            <a:r>
              <a:rPr sz="2000" spc="-90" dirty="0">
                <a:latin typeface="Microsoft Sans Serif"/>
                <a:cs typeface="Microsoft Sans Serif"/>
              </a:rPr>
              <a:t>y</a:t>
            </a:r>
            <a:r>
              <a:rPr sz="2000" spc="-165" dirty="0">
                <a:latin typeface="Microsoft Sans Serif"/>
                <a:cs typeface="Microsoft Sans Serif"/>
              </a:rPr>
              <a:t>(</a:t>
            </a:r>
            <a:r>
              <a:rPr sz="2000" spc="-265" dirty="0">
                <a:latin typeface="Microsoft Sans Serif"/>
                <a:cs typeface="Microsoft Sans Serif"/>
              </a:rPr>
              <a:t>g</a:t>
            </a:r>
            <a:r>
              <a:rPr sz="2000" spc="-135" dirty="0">
                <a:latin typeface="Microsoft Sans Serif"/>
                <a:cs typeface="Microsoft Sans Serif"/>
              </a:rPr>
              <a:t>,b</a:t>
            </a:r>
            <a:r>
              <a:rPr sz="2000" spc="-75" dirty="0">
                <a:latin typeface="Microsoft Sans Serif"/>
                <a:cs typeface="Microsoft Sans Serif"/>
              </a:rPr>
              <a:t>);  input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20" dirty="0">
                <a:latin typeface="Microsoft Sans Serif"/>
                <a:cs typeface="Microsoft Sans Serif"/>
              </a:rPr>
              <a:t>[3:0]b;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10" dirty="0">
                <a:latin typeface="Microsoft Sans Serif"/>
                <a:cs typeface="Microsoft Sans Serif"/>
              </a:rPr>
              <a:t>output[3:0]g;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240" dirty="0">
                <a:latin typeface="Microsoft Sans Serif"/>
                <a:cs typeface="Microsoft Sans Serif"/>
              </a:rPr>
              <a:t>assign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g[3]</a:t>
            </a:r>
            <a:r>
              <a:rPr sz="2000" spc="-155" dirty="0">
                <a:latin typeface="Microsoft Sans Serif"/>
                <a:cs typeface="Microsoft Sans Serif"/>
              </a:rPr>
              <a:t>=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b</a:t>
            </a:r>
            <a:r>
              <a:rPr sz="2000" spc="-65" dirty="0">
                <a:latin typeface="Microsoft Sans Serif"/>
                <a:cs typeface="Microsoft Sans Serif"/>
              </a:rPr>
              <a:t>[</a:t>
            </a:r>
            <a:r>
              <a:rPr sz="2000" spc="-120" dirty="0">
                <a:latin typeface="Microsoft Sans Serif"/>
                <a:cs typeface="Microsoft Sans Serif"/>
              </a:rPr>
              <a:t>3];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240" dirty="0">
                <a:latin typeface="Microsoft Sans Serif"/>
                <a:cs typeface="Microsoft Sans Serif"/>
              </a:rPr>
              <a:t>assign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g[2]</a:t>
            </a:r>
            <a:r>
              <a:rPr sz="2000" spc="-155" dirty="0">
                <a:latin typeface="Microsoft Sans Serif"/>
                <a:cs typeface="Microsoft Sans Serif"/>
              </a:rPr>
              <a:t>=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b</a:t>
            </a:r>
            <a:r>
              <a:rPr sz="2000" spc="-65" dirty="0">
                <a:latin typeface="Microsoft Sans Serif"/>
                <a:cs typeface="Microsoft Sans Serif"/>
              </a:rPr>
              <a:t>[</a:t>
            </a:r>
            <a:r>
              <a:rPr sz="2000" spc="-135" dirty="0">
                <a:latin typeface="Microsoft Sans Serif"/>
                <a:cs typeface="Microsoft Sans Serif"/>
              </a:rPr>
              <a:t>2]^b[3];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240" dirty="0">
                <a:latin typeface="Microsoft Sans Serif"/>
                <a:cs typeface="Microsoft Sans Serif"/>
              </a:rPr>
              <a:t>assign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g[1]</a:t>
            </a:r>
            <a:r>
              <a:rPr sz="2000" spc="-155" dirty="0">
                <a:latin typeface="Microsoft Sans Serif"/>
                <a:cs typeface="Microsoft Sans Serif"/>
              </a:rPr>
              <a:t>=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b</a:t>
            </a:r>
            <a:r>
              <a:rPr sz="2000" spc="-65" dirty="0">
                <a:latin typeface="Microsoft Sans Serif"/>
                <a:cs typeface="Microsoft Sans Serif"/>
              </a:rPr>
              <a:t>[</a:t>
            </a:r>
            <a:r>
              <a:rPr sz="2000" spc="-160" dirty="0">
                <a:latin typeface="Microsoft Sans Serif"/>
                <a:cs typeface="Microsoft Sans Serif"/>
              </a:rPr>
              <a:t>1]^b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20" dirty="0">
                <a:latin typeface="Microsoft Sans Serif"/>
                <a:cs typeface="Microsoft Sans Serif"/>
              </a:rPr>
              <a:t>2];</a:t>
            </a:r>
            <a:endParaRPr sz="2000">
              <a:latin typeface="Microsoft Sans Serif"/>
              <a:cs typeface="Microsoft Sans Serif"/>
            </a:endParaRPr>
          </a:p>
          <a:p>
            <a:pPr marL="12700" marR="4299585">
              <a:lnSpc>
                <a:spcPct val="100000"/>
              </a:lnSpc>
            </a:pPr>
            <a:r>
              <a:rPr sz="2000" spc="-240" dirty="0">
                <a:latin typeface="Microsoft Sans Serif"/>
                <a:cs typeface="Microsoft Sans Serif"/>
              </a:rPr>
              <a:t>assign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g[0]</a:t>
            </a:r>
            <a:r>
              <a:rPr sz="2000" spc="-155" dirty="0">
                <a:latin typeface="Microsoft Sans Serif"/>
                <a:cs typeface="Microsoft Sans Serif"/>
              </a:rPr>
              <a:t>=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40" dirty="0">
                <a:latin typeface="Microsoft Sans Serif"/>
                <a:cs typeface="Microsoft Sans Serif"/>
              </a:rPr>
              <a:t>b</a:t>
            </a:r>
            <a:r>
              <a:rPr sz="2000" spc="-65" dirty="0">
                <a:latin typeface="Microsoft Sans Serif"/>
                <a:cs typeface="Microsoft Sans Serif"/>
              </a:rPr>
              <a:t>[</a:t>
            </a:r>
            <a:r>
              <a:rPr sz="2000" spc="-160" dirty="0">
                <a:latin typeface="Microsoft Sans Serif"/>
                <a:cs typeface="Microsoft Sans Serif"/>
              </a:rPr>
              <a:t>0]^b</a:t>
            </a:r>
            <a:r>
              <a:rPr sz="2000" spc="-95" dirty="0">
                <a:latin typeface="Microsoft Sans Serif"/>
                <a:cs typeface="Microsoft Sans Serif"/>
              </a:rPr>
              <a:t>[</a:t>
            </a:r>
            <a:r>
              <a:rPr sz="2000" spc="-105" dirty="0">
                <a:latin typeface="Microsoft Sans Serif"/>
                <a:cs typeface="Microsoft Sans Serif"/>
              </a:rPr>
              <a:t>1];  </a:t>
            </a:r>
            <a:r>
              <a:rPr sz="2000" spc="-150" dirty="0">
                <a:latin typeface="Microsoft Sans Serif"/>
                <a:cs typeface="Microsoft Sans Serif"/>
              </a:rPr>
              <a:t>endmodule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29200" y="2286000"/>
            <a:ext cx="3529584" cy="312420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3391405"/>
            <a:ext cx="1841500" cy="2574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5"/>
              </a:spcBef>
            </a:pPr>
            <a:r>
              <a:rPr sz="1900" spc="-290" dirty="0">
                <a:solidFill>
                  <a:srgbClr val="0000FF"/>
                </a:solidFill>
                <a:latin typeface="Microsoft Sans Serif"/>
                <a:cs typeface="Microsoft Sans Serif"/>
              </a:rPr>
              <a:t>ass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900" spc="-24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24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2=d</a:t>
            </a:r>
            <a:r>
              <a:rPr sz="1900" spc="-65" dirty="0">
                <a:solidFill>
                  <a:srgbClr val="0000FF"/>
                </a:solidFill>
                <a:latin typeface="Microsoft Sans Serif"/>
                <a:cs typeface="Microsoft Sans Serif"/>
              </a:rPr>
              <a:t>[</a:t>
            </a:r>
            <a:r>
              <a:rPr sz="1900" spc="-155" dirty="0">
                <a:solidFill>
                  <a:srgbClr val="0000FF"/>
                </a:solidFill>
                <a:latin typeface="Microsoft Sans Serif"/>
                <a:cs typeface="Microsoft Sans Serif"/>
              </a:rPr>
              <a:t>4]^d[5</a:t>
            </a:r>
            <a:r>
              <a:rPr sz="19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]</a:t>
            </a:r>
            <a:r>
              <a:rPr sz="19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  </a:t>
            </a:r>
            <a:r>
              <a:rPr sz="190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e3=d</a:t>
            </a:r>
            <a:r>
              <a:rPr sz="19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[</a:t>
            </a:r>
            <a:r>
              <a:rPr sz="1900" spc="-120" dirty="0">
                <a:solidFill>
                  <a:srgbClr val="0000FF"/>
                </a:solidFill>
                <a:latin typeface="Microsoft Sans Serif"/>
                <a:cs typeface="Microsoft Sans Serif"/>
              </a:rPr>
              <a:t>6]^d[7];  </a:t>
            </a:r>
            <a:r>
              <a:rPr sz="190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f</a:t>
            </a:r>
            <a:r>
              <a:rPr sz="19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r>
              <a:rPr sz="19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9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spc="-240" dirty="0">
                <a:solidFill>
                  <a:srgbClr val="0000FF"/>
                </a:solidFill>
                <a:latin typeface="Microsoft Sans Serif"/>
                <a:cs typeface="Microsoft Sans Serif"/>
              </a:rPr>
              <a:t>0</a:t>
            </a:r>
            <a:r>
              <a:rPr sz="19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^</a:t>
            </a:r>
            <a:r>
              <a:rPr sz="1900" spc="-150" dirty="0">
                <a:solidFill>
                  <a:srgbClr val="0000FF"/>
                </a:solidFill>
                <a:latin typeface="Microsoft Sans Serif"/>
                <a:cs typeface="Microsoft Sans Serif"/>
              </a:rPr>
              <a:t>e1;  </a:t>
            </a:r>
            <a:r>
              <a:rPr sz="190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f</a:t>
            </a:r>
            <a:r>
              <a:rPr sz="19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sz="1900" spc="-100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9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spc="-240" dirty="0">
                <a:solidFill>
                  <a:srgbClr val="0000FF"/>
                </a:solidFill>
                <a:latin typeface="Microsoft Sans Serif"/>
                <a:cs typeface="Microsoft Sans Serif"/>
              </a:rPr>
              <a:t>2</a:t>
            </a:r>
            <a:r>
              <a:rPr sz="19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^</a:t>
            </a:r>
            <a:r>
              <a:rPr sz="1900" spc="-150" dirty="0">
                <a:solidFill>
                  <a:srgbClr val="0000FF"/>
                </a:solidFill>
                <a:latin typeface="Microsoft Sans Serif"/>
                <a:cs typeface="Microsoft Sans Serif"/>
              </a:rPr>
              <a:t>e3;  </a:t>
            </a:r>
            <a:r>
              <a:rPr sz="190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h0=f0</a:t>
            </a:r>
            <a:r>
              <a:rPr sz="190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^</a:t>
            </a:r>
            <a:r>
              <a:rPr sz="1900" spc="-95" dirty="0">
                <a:solidFill>
                  <a:srgbClr val="0000FF"/>
                </a:solidFill>
                <a:latin typeface="Microsoft Sans Serif"/>
                <a:cs typeface="Microsoft Sans Serif"/>
              </a:rPr>
              <a:t>f</a:t>
            </a:r>
            <a:r>
              <a:rPr sz="19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1</a:t>
            </a:r>
            <a:r>
              <a:rPr sz="19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  </a:t>
            </a:r>
            <a:r>
              <a:rPr sz="1900" spc="-290" dirty="0">
                <a:solidFill>
                  <a:srgbClr val="0000FF"/>
                </a:solidFill>
                <a:latin typeface="Microsoft Sans Serif"/>
                <a:cs typeface="Microsoft Sans Serif"/>
              </a:rPr>
              <a:t>ass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900" spc="-24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odd</a:t>
            </a:r>
            <a:r>
              <a:rPr sz="190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=</a:t>
            </a:r>
            <a:r>
              <a:rPr sz="1900" spc="-170" dirty="0">
                <a:solidFill>
                  <a:srgbClr val="0000FF"/>
                </a:solidFill>
                <a:latin typeface="Microsoft Sans Serif"/>
                <a:cs typeface="Microsoft Sans Serif"/>
              </a:rPr>
              <a:t>h0^d[8</a:t>
            </a:r>
            <a:r>
              <a:rPr sz="190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]</a:t>
            </a:r>
            <a:r>
              <a:rPr sz="1900" spc="-5" dirty="0">
                <a:solidFill>
                  <a:srgbClr val="0000FF"/>
                </a:solidFill>
                <a:latin typeface="Microsoft Sans Serif"/>
                <a:cs typeface="Microsoft Sans Serif"/>
              </a:rPr>
              <a:t>;  </a:t>
            </a:r>
            <a:r>
              <a:rPr sz="190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sz="190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spc="-55" dirty="0">
                <a:solidFill>
                  <a:srgbClr val="0000FF"/>
                </a:solidFill>
                <a:latin typeface="Microsoft Sans Serif"/>
                <a:cs typeface="Microsoft Sans Serif"/>
              </a:rPr>
              <a:t>=~odd;  </a:t>
            </a:r>
            <a:r>
              <a:rPr sz="190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endmodule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510155">
              <a:lnSpc>
                <a:spcPct val="100000"/>
              </a:lnSpc>
              <a:spcBef>
                <a:spcPts val="480"/>
              </a:spcBef>
            </a:pPr>
            <a:r>
              <a:rPr spc="-5" dirty="0"/>
              <a:t>9-BIT</a:t>
            </a:r>
            <a:r>
              <a:rPr spc="-75" dirty="0"/>
              <a:t> </a:t>
            </a:r>
            <a:r>
              <a:rPr spc="-15" dirty="0"/>
              <a:t>PARITY</a:t>
            </a:r>
            <a:r>
              <a:rPr spc="-85" dirty="0"/>
              <a:t> </a:t>
            </a:r>
            <a:r>
              <a:rPr spc="-15" dirty="0"/>
              <a:t>GENERATOR</a:t>
            </a:r>
          </a:p>
          <a:p>
            <a:pPr marL="12700" marR="3253104">
              <a:lnSpc>
                <a:spcPct val="110000"/>
              </a:lnSpc>
              <a:spcBef>
                <a:spcPts val="120"/>
              </a:spcBef>
            </a:pPr>
            <a:r>
              <a:rPr sz="1900" b="0" spc="-165" dirty="0">
                <a:solidFill>
                  <a:srgbClr val="0000FF"/>
                </a:solidFill>
                <a:latin typeface="Microsoft Sans Serif"/>
                <a:cs typeface="Microsoft Sans Serif"/>
              </a:rPr>
              <a:t>m</a:t>
            </a:r>
            <a:r>
              <a:rPr sz="1900" b="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odu</a:t>
            </a:r>
            <a:r>
              <a:rPr sz="1900" b="0" spc="-60" dirty="0">
                <a:solidFill>
                  <a:srgbClr val="0000FF"/>
                </a:solidFill>
                <a:latin typeface="Microsoft Sans Serif"/>
                <a:cs typeface="Microsoft Sans Serif"/>
              </a:rPr>
              <a:t>l</a:t>
            </a:r>
            <a:r>
              <a:rPr sz="1900" b="0" spc="-24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b="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par</a:t>
            </a:r>
            <a:r>
              <a:rPr sz="1900" b="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i</a:t>
            </a:r>
            <a:r>
              <a:rPr sz="1900" b="0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1900" b="0" spc="-160" dirty="0">
                <a:solidFill>
                  <a:srgbClr val="0000FF"/>
                </a:solidFill>
                <a:latin typeface="Microsoft Sans Serif"/>
                <a:cs typeface="Microsoft Sans Serif"/>
              </a:rPr>
              <a:t>y</a:t>
            </a:r>
            <a:r>
              <a:rPr sz="1900" b="0" spc="-105" dirty="0">
                <a:solidFill>
                  <a:srgbClr val="0000FF"/>
                </a:solidFill>
                <a:latin typeface="Microsoft Sans Serif"/>
                <a:cs typeface="Microsoft Sans Serif"/>
              </a:rPr>
              <a:t>(</a:t>
            </a:r>
            <a:r>
              <a:rPr sz="1900" b="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b="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sz="1900" b="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b="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b="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,odd,</a:t>
            </a:r>
            <a:r>
              <a:rPr sz="1900" b="0" spc="-125" dirty="0">
                <a:solidFill>
                  <a:srgbClr val="0000FF"/>
                </a:solidFill>
                <a:latin typeface="Microsoft Sans Serif"/>
                <a:cs typeface="Microsoft Sans Serif"/>
              </a:rPr>
              <a:t>d</a:t>
            </a:r>
            <a:r>
              <a:rPr sz="1900" b="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);  </a:t>
            </a:r>
            <a:r>
              <a:rPr sz="1900" b="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input</a:t>
            </a:r>
            <a:r>
              <a:rPr sz="1900" b="0" spc="1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[8:0]d;</a:t>
            </a: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900" b="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ou</a:t>
            </a:r>
            <a:r>
              <a:rPr sz="1900" b="0" spc="-55" dirty="0">
                <a:solidFill>
                  <a:srgbClr val="0000FF"/>
                </a:solidFill>
                <a:latin typeface="Microsoft Sans Serif"/>
                <a:cs typeface="Microsoft Sans Serif"/>
              </a:rPr>
              <a:t>t</a:t>
            </a:r>
            <a:r>
              <a:rPr sz="1900" b="0" spc="-70" dirty="0">
                <a:solidFill>
                  <a:srgbClr val="0000FF"/>
                </a:solidFill>
                <a:latin typeface="Microsoft Sans Serif"/>
                <a:cs typeface="Microsoft Sans Serif"/>
              </a:rPr>
              <a:t>put</a:t>
            </a:r>
            <a:r>
              <a:rPr sz="1900" b="0" spc="3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b="0" spc="-185" dirty="0">
                <a:solidFill>
                  <a:srgbClr val="0000FF"/>
                </a:solidFill>
                <a:latin typeface="Microsoft Sans Serif"/>
                <a:cs typeface="Microsoft Sans Serif"/>
              </a:rPr>
              <a:t>v</a:t>
            </a:r>
            <a:r>
              <a:rPr sz="1900" b="0" spc="-195" dirty="0">
                <a:solidFill>
                  <a:srgbClr val="0000FF"/>
                </a:solidFill>
                <a:latin typeface="Microsoft Sans Serif"/>
                <a:cs typeface="Microsoft Sans Serif"/>
              </a:rPr>
              <a:t>e</a:t>
            </a:r>
            <a:r>
              <a:rPr sz="1900" b="0" spc="-200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b="0" spc="-110" dirty="0">
                <a:solidFill>
                  <a:srgbClr val="0000FF"/>
                </a:solidFill>
                <a:latin typeface="Microsoft Sans Serif"/>
                <a:cs typeface="Microsoft Sans Serif"/>
              </a:rPr>
              <a:t>,</a:t>
            </a:r>
            <a:r>
              <a:rPr sz="1900" b="0" spc="4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85" dirty="0">
                <a:solidFill>
                  <a:srgbClr val="0000FF"/>
                </a:solidFill>
                <a:latin typeface="Microsoft Sans Serif"/>
                <a:cs typeface="Microsoft Sans Serif"/>
              </a:rPr>
              <a:t>odd;</a:t>
            </a:r>
            <a:endParaRPr sz="1900">
              <a:latin typeface="Microsoft Sans Serif"/>
              <a:cs typeface="Microsoft Sans Serif"/>
            </a:endParaRPr>
          </a:p>
          <a:p>
            <a:pPr marL="12700" marR="3536315">
              <a:lnSpc>
                <a:spcPct val="110000"/>
              </a:lnSpc>
            </a:pPr>
            <a:r>
              <a:rPr sz="1900" b="0" spc="-114" dirty="0">
                <a:solidFill>
                  <a:srgbClr val="0000FF"/>
                </a:solidFill>
                <a:latin typeface="Microsoft Sans Serif"/>
                <a:cs typeface="Microsoft Sans Serif"/>
              </a:rPr>
              <a:t>wire</a:t>
            </a:r>
            <a:r>
              <a:rPr sz="1900" b="0" spc="3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180" dirty="0">
                <a:solidFill>
                  <a:srgbClr val="0000FF"/>
                </a:solidFill>
                <a:latin typeface="Microsoft Sans Serif"/>
                <a:cs typeface="Microsoft Sans Serif"/>
              </a:rPr>
              <a:t>e0,e1,e2,e3,f0,f1,h0; </a:t>
            </a:r>
            <a:r>
              <a:rPr sz="1900" b="0" spc="-49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b="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b="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b="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e0=d</a:t>
            </a:r>
            <a:r>
              <a:rPr sz="1900" b="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[</a:t>
            </a:r>
            <a:r>
              <a:rPr sz="1900" b="0" spc="-120" dirty="0">
                <a:solidFill>
                  <a:srgbClr val="0000FF"/>
                </a:solidFill>
                <a:latin typeface="Microsoft Sans Serif"/>
                <a:cs typeface="Microsoft Sans Serif"/>
              </a:rPr>
              <a:t>0]^d[1];  </a:t>
            </a:r>
            <a:r>
              <a:rPr sz="1900" b="0" spc="-235" dirty="0">
                <a:solidFill>
                  <a:srgbClr val="0000FF"/>
                </a:solidFill>
                <a:latin typeface="Microsoft Sans Serif"/>
                <a:cs typeface="Microsoft Sans Serif"/>
              </a:rPr>
              <a:t>assi</a:t>
            </a:r>
            <a:r>
              <a:rPr sz="1900" b="0" spc="-305" dirty="0">
                <a:solidFill>
                  <a:srgbClr val="0000FF"/>
                </a:solidFill>
                <a:latin typeface="Microsoft Sans Serif"/>
                <a:cs typeface="Microsoft Sans Serif"/>
              </a:rPr>
              <a:t>g</a:t>
            </a:r>
            <a:r>
              <a:rPr sz="1900" b="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n</a:t>
            </a:r>
            <a:r>
              <a:rPr sz="1900" b="0" spc="2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1900" b="0" spc="-145" dirty="0">
                <a:solidFill>
                  <a:srgbClr val="0000FF"/>
                </a:solidFill>
                <a:latin typeface="Microsoft Sans Serif"/>
                <a:cs typeface="Microsoft Sans Serif"/>
              </a:rPr>
              <a:t>e1=d</a:t>
            </a:r>
            <a:r>
              <a:rPr sz="1900" b="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[</a:t>
            </a:r>
            <a:r>
              <a:rPr sz="1900" b="0" spc="-130" dirty="0">
                <a:solidFill>
                  <a:srgbClr val="0000FF"/>
                </a:solidFill>
                <a:latin typeface="Microsoft Sans Serif"/>
                <a:cs typeface="Microsoft Sans Serif"/>
              </a:rPr>
              <a:t>2]^d[3];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98394" y="5124450"/>
            <a:ext cx="3130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0" dirty="0">
                <a:latin typeface="Microsoft Sans Serif"/>
                <a:cs typeface="Microsoft Sans Serif"/>
              </a:rPr>
              <a:t>d</a:t>
            </a:r>
            <a:r>
              <a:rPr sz="1600" spc="-110" dirty="0">
                <a:latin typeface="Microsoft Sans Serif"/>
                <a:cs typeface="Microsoft Sans Serif"/>
              </a:rPr>
              <a:t>[8]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39084" y="2596895"/>
            <a:ext cx="4738116" cy="2743200"/>
          </a:xfrm>
          <a:prstGeom prst="rect">
            <a:avLst/>
          </a:prstGeom>
        </p:spPr>
      </p:pic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955544" y="2667719"/>
          <a:ext cx="3569970" cy="230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2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995">
                <a:tc>
                  <a:txBody>
                    <a:bodyPr/>
                    <a:lstStyle/>
                    <a:p>
                      <a:pPr marL="31750">
                        <a:lnSpc>
                          <a:spcPts val="1505"/>
                        </a:lnSpc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d[0]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4180" algn="r">
                        <a:lnSpc>
                          <a:spcPts val="1555"/>
                        </a:lnSpc>
                      </a:pPr>
                      <a:r>
                        <a:rPr sz="1600" spc="-215" dirty="0">
                          <a:latin typeface="Microsoft Sans Serif"/>
                          <a:cs typeface="Microsoft Sans Serif"/>
                        </a:rPr>
                        <a:t>e0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46">
                <a:tc>
                  <a:txBody>
                    <a:bodyPr/>
                    <a:lstStyle/>
                    <a:p>
                      <a:pPr marL="107950">
                        <a:lnSpc>
                          <a:spcPts val="1600"/>
                        </a:lnSpc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d[1]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ts val="1600"/>
                        </a:lnSpc>
                      </a:pPr>
                      <a:r>
                        <a:rPr sz="1600" spc="-110" dirty="0">
                          <a:latin typeface="Microsoft Sans Serif"/>
                          <a:cs typeface="Microsoft Sans Serif"/>
                        </a:rPr>
                        <a:t>f0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9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d[2]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241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d[3]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4025" algn="r">
                        <a:lnSpc>
                          <a:spcPts val="1664"/>
                        </a:lnSpc>
                      </a:pPr>
                      <a:r>
                        <a:rPr sz="1600" spc="-215" dirty="0">
                          <a:latin typeface="Microsoft Sans Serif"/>
                          <a:cs typeface="Microsoft Sans Serif"/>
                        </a:rPr>
                        <a:t>e1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64"/>
                        </a:lnSpc>
                      </a:pPr>
                      <a:r>
                        <a:rPr sz="1600" spc="-180" dirty="0">
                          <a:latin typeface="Microsoft Sans Serif"/>
                          <a:cs typeface="Microsoft Sans Serif"/>
                        </a:rPr>
                        <a:t>h0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542">
                <a:tc>
                  <a:txBody>
                    <a:bodyPr/>
                    <a:lstStyle/>
                    <a:p>
                      <a:pPr marL="31750">
                        <a:lnSpc>
                          <a:spcPts val="1655"/>
                        </a:lnSpc>
                        <a:spcBef>
                          <a:spcPts val="665"/>
                        </a:spcBef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d[4]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31750">
                        <a:lnSpc>
                          <a:spcPts val="1655"/>
                        </a:lnSpc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d[5]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600" spc="-215" dirty="0">
                          <a:latin typeface="Microsoft Sans Serif"/>
                          <a:cs typeface="Microsoft Sans Serif"/>
                        </a:rPr>
                        <a:t>e2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91">
                <a:tc>
                  <a:txBody>
                    <a:bodyPr/>
                    <a:lstStyle/>
                    <a:p>
                      <a:pPr marL="31750">
                        <a:lnSpc>
                          <a:spcPts val="1730"/>
                        </a:lnSpc>
                        <a:spcBef>
                          <a:spcPts val="420"/>
                        </a:spcBef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d[6]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31750">
                        <a:lnSpc>
                          <a:spcPts val="1730"/>
                        </a:lnSpc>
                      </a:pPr>
                      <a:r>
                        <a:rPr sz="1600" spc="-105" dirty="0">
                          <a:latin typeface="Microsoft Sans Serif"/>
                          <a:cs typeface="Microsoft Sans Serif"/>
                        </a:rPr>
                        <a:t>d[7]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ts val="1910"/>
                        </a:lnSpc>
                      </a:pPr>
                      <a:r>
                        <a:rPr sz="1600" spc="-215" dirty="0">
                          <a:latin typeface="Microsoft Sans Serif"/>
                          <a:cs typeface="Microsoft Sans Serif"/>
                        </a:rPr>
                        <a:t>e3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10" dirty="0">
                          <a:latin typeface="Microsoft Sans Serif"/>
                          <a:cs typeface="Microsoft Sans Serif"/>
                        </a:rPr>
                        <a:t>f1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96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051418" y="3495827"/>
            <a:ext cx="428625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735">
              <a:lnSpc>
                <a:spcPct val="142500"/>
              </a:lnSpc>
              <a:spcBef>
                <a:spcPts val="100"/>
              </a:spcBef>
            </a:pPr>
            <a:r>
              <a:rPr sz="1600" spc="-130" dirty="0">
                <a:latin typeface="Microsoft Sans Serif"/>
                <a:cs typeface="Microsoft Sans Serif"/>
              </a:rPr>
              <a:t>even  </a:t>
            </a:r>
            <a:r>
              <a:rPr sz="1600" spc="-90" dirty="0">
                <a:latin typeface="Microsoft Sans Serif"/>
                <a:cs typeface="Microsoft Sans Serif"/>
              </a:rPr>
              <a:t>odd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155460"/>
              <a:ext cx="5035296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55850" y="289382"/>
            <a:ext cx="4427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D</a:t>
            </a:r>
            <a:r>
              <a:rPr spc="-345" dirty="0"/>
              <a:t>A</a:t>
            </a:r>
            <a:r>
              <a:rPr spc="-320" dirty="0"/>
              <a:t>T</a:t>
            </a:r>
            <a:r>
              <a:rPr spc="-275" dirty="0"/>
              <a:t>AF</a:t>
            </a:r>
            <a:r>
              <a:rPr spc="-245" dirty="0"/>
              <a:t>L</a:t>
            </a:r>
            <a:r>
              <a:rPr spc="-285" dirty="0"/>
              <a:t>OW</a:t>
            </a:r>
            <a:r>
              <a:rPr spc="-40" dirty="0"/>
              <a:t> </a:t>
            </a:r>
            <a:r>
              <a:rPr spc="-125" dirty="0"/>
              <a:t>M</a:t>
            </a:r>
            <a:r>
              <a:rPr spc="-100" dirty="0"/>
              <a:t>O</a:t>
            </a:r>
            <a:r>
              <a:rPr spc="55" dirty="0"/>
              <a:t>D</a:t>
            </a:r>
            <a:r>
              <a:rPr spc="-125" dirty="0"/>
              <a:t>E</a:t>
            </a:r>
            <a:r>
              <a:rPr spc="-114" dirty="0"/>
              <a:t>LING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07635"/>
            <a:ext cx="7236459" cy="54133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64460">
              <a:lnSpc>
                <a:spcPct val="100000"/>
              </a:lnSpc>
              <a:spcBef>
                <a:spcPts val="700"/>
              </a:spcBef>
            </a:pP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8:3</a:t>
            </a:r>
            <a:r>
              <a:rPr sz="2000" b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onstantia"/>
                <a:cs typeface="Constantia"/>
              </a:rPr>
              <a:t>PRIORITY</a:t>
            </a:r>
            <a:r>
              <a:rPr sz="2000" b="1" spc="-7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ENCODER</a:t>
            </a:r>
            <a:endParaRPr sz="2000">
              <a:latin typeface="Constantia"/>
              <a:cs typeface="Constantia"/>
            </a:endParaRPr>
          </a:p>
          <a:p>
            <a:pPr marL="12700" marR="3168015">
              <a:lnSpc>
                <a:spcPct val="100000"/>
              </a:lnSpc>
              <a:spcBef>
                <a:spcPts val="535"/>
              </a:spcBef>
            </a:pPr>
            <a:r>
              <a:rPr sz="1800" spc="-150" dirty="0">
                <a:latin typeface="Microsoft Sans Serif"/>
                <a:cs typeface="Microsoft Sans Serif"/>
              </a:rPr>
              <a:t>m</a:t>
            </a:r>
            <a:r>
              <a:rPr sz="1800" spc="-114" dirty="0">
                <a:latin typeface="Microsoft Sans Serif"/>
                <a:cs typeface="Microsoft Sans Serif"/>
              </a:rPr>
              <a:t>od</a:t>
            </a:r>
            <a:r>
              <a:rPr sz="1800" spc="-110" dirty="0">
                <a:latin typeface="Microsoft Sans Serif"/>
                <a:cs typeface="Microsoft Sans Serif"/>
              </a:rPr>
              <a:t>u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225" dirty="0">
                <a:latin typeface="Microsoft Sans Serif"/>
                <a:cs typeface="Microsoft Sans Serif"/>
              </a:rPr>
              <a:t>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Pri</a:t>
            </a:r>
            <a:r>
              <a:rPr sz="1800" spc="-45" dirty="0">
                <a:latin typeface="Microsoft Sans Serif"/>
                <a:cs typeface="Microsoft Sans Serif"/>
              </a:rPr>
              <a:t>ori</a:t>
            </a:r>
            <a:r>
              <a:rPr sz="1800" spc="-25" dirty="0">
                <a:latin typeface="Microsoft Sans Serif"/>
                <a:cs typeface="Microsoft Sans Serif"/>
              </a:rPr>
              <a:t>t</a:t>
            </a:r>
            <a:r>
              <a:rPr sz="1800" spc="-35" dirty="0">
                <a:latin typeface="Microsoft Sans Serif"/>
                <a:cs typeface="Microsoft Sans Serif"/>
              </a:rPr>
              <a:t>y</a:t>
            </a:r>
            <a:r>
              <a:rPr sz="1800" spc="-240" dirty="0">
                <a:latin typeface="Microsoft Sans Serif"/>
                <a:cs typeface="Microsoft Sans Serif"/>
              </a:rPr>
              <a:t>E</a:t>
            </a:r>
            <a:r>
              <a:rPr sz="1800" spc="-195" dirty="0">
                <a:latin typeface="Microsoft Sans Serif"/>
                <a:cs typeface="Microsoft Sans Serif"/>
              </a:rPr>
              <a:t>n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105" dirty="0">
                <a:latin typeface="Microsoft Sans Serif"/>
                <a:cs typeface="Microsoft Sans Serif"/>
              </a:rPr>
              <a:t>oder_</a:t>
            </a:r>
            <a:r>
              <a:rPr sz="1800" spc="-24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20" dirty="0">
                <a:latin typeface="Microsoft Sans Serif"/>
                <a:cs typeface="Microsoft Sans Serif"/>
              </a:rPr>
              <a:t>Flo</a:t>
            </a:r>
            <a:r>
              <a:rPr sz="1800" spc="-170" dirty="0">
                <a:latin typeface="Microsoft Sans Serif"/>
                <a:cs typeface="Microsoft Sans Serif"/>
              </a:rPr>
              <a:t>w</a:t>
            </a:r>
            <a:r>
              <a:rPr sz="1800" spc="-160" dirty="0">
                <a:latin typeface="Microsoft Sans Serif"/>
                <a:cs typeface="Microsoft Sans Serif"/>
              </a:rPr>
              <a:t>(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145" dirty="0">
                <a:latin typeface="Microsoft Sans Serif"/>
                <a:cs typeface="Microsoft Sans Serif"/>
              </a:rPr>
              <a:t>ode,d</a:t>
            </a:r>
            <a:r>
              <a:rPr sz="1800" spc="-17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);  </a:t>
            </a:r>
            <a:r>
              <a:rPr sz="1800" spc="-105" dirty="0">
                <a:latin typeface="Microsoft Sans Serif"/>
                <a:cs typeface="Microsoft Sans Serif"/>
              </a:rPr>
              <a:t>input[7:0]data;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5" dirty="0">
                <a:latin typeface="Microsoft Sans Serif"/>
                <a:cs typeface="Microsoft Sans Serif"/>
              </a:rPr>
              <a:t>output[2:0]code;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45" dirty="0">
                <a:latin typeface="Microsoft Sans Serif"/>
                <a:cs typeface="Microsoft Sans Serif"/>
              </a:rPr>
              <a:t>w</a:t>
            </a:r>
            <a:r>
              <a:rPr sz="1800" spc="-45" dirty="0">
                <a:latin typeface="Microsoft Sans Serif"/>
                <a:cs typeface="Microsoft Sans Serif"/>
              </a:rPr>
              <a:t>i</a:t>
            </a:r>
            <a:r>
              <a:rPr sz="1800" spc="-90" dirty="0">
                <a:latin typeface="Microsoft Sans Serif"/>
                <a:cs typeface="Microsoft Sans Serif"/>
              </a:rPr>
              <a:t>r</a:t>
            </a:r>
            <a:r>
              <a:rPr sz="1800" spc="-140" dirty="0">
                <a:latin typeface="Microsoft Sans Serif"/>
                <a:cs typeface="Microsoft Sans Serif"/>
              </a:rPr>
              <a:t>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7</a:t>
            </a:r>
            <a:r>
              <a:rPr sz="1800" spc="-95" dirty="0">
                <a:latin typeface="Microsoft Sans Serif"/>
                <a:cs typeface="Microsoft Sans Serif"/>
              </a:rPr>
              <a:t>:0]w;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0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0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1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1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2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2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3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3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4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4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5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5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6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6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5" dirty="0">
                <a:latin typeface="Microsoft Sans Serif"/>
                <a:cs typeface="Microsoft Sans Serif"/>
              </a:rPr>
              <a:t>w[</a:t>
            </a:r>
            <a:r>
              <a:rPr sz="1800" spc="-180" dirty="0">
                <a:latin typeface="Microsoft Sans Serif"/>
                <a:cs typeface="Microsoft Sans Serif"/>
              </a:rPr>
              <a:t>7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85" dirty="0">
                <a:latin typeface="Microsoft Sans Serif"/>
                <a:cs typeface="Microsoft Sans Serif"/>
              </a:rPr>
              <a:t>(</a:t>
            </a:r>
            <a:r>
              <a:rPr sz="1800" spc="-155" dirty="0">
                <a:latin typeface="Microsoft Sans Serif"/>
                <a:cs typeface="Microsoft Sans Serif"/>
              </a:rPr>
              <a:t>~</a:t>
            </a:r>
            <a:r>
              <a:rPr sz="1800" spc="-180" dirty="0">
                <a:latin typeface="Microsoft Sans Serif"/>
                <a:cs typeface="Microsoft Sans Serif"/>
              </a:rPr>
              <a:t>d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105" dirty="0">
                <a:latin typeface="Microsoft Sans Serif"/>
                <a:cs typeface="Microsoft Sans Serif"/>
              </a:rPr>
              <a:t>[</a:t>
            </a:r>
            <a:r>
              <a:rPr sz="1800" spc="-215" dirty="0">
                <a:latin typeface="Microsoft Sans Serif"/>
                <a:cs typeface="Microsoft Sans Serif"/>
              </a:rPr>
              <a:t>7</a:t>
            </a:r>
            <a:r>
              <a:rPr sz="1800" spc="-95" dirty="0">
                <a:latin typeface="Microsoft Sans Serif"/>
                <a:cs typeface="Microsoft Sans Serif"/>
              </a:rPr>
              <a:t>]</a:t>
            </a:r>
            <a:r>
              <a:rPr sz="1800" spc="-125" dirty="0">
                <a:latin typeface="Microsoft Sans Serif"/>
                <a:cs typeface="Microsoft Sans Serif"/>
              </a:rPr>
              <a:t>)</a:t>
            </a:r>
            <a:r>
              <a:rPr sz="1800" spc="-5" dirty="0"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20" dirty="0">
                <a:latin typeface="Microsoft Sans Serif"/>
                <a:cs typeface="Microsoft Sans Serif"/>
              </a:rPr>
              <a:t>assign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spc="-125" dirty="0">
                <a:latin typeface="Microsoft Sans Serif"/>
                <a:cs typeface="Microsoft Sans Serif"/>
              </a:rPr>
              <a:t>code[0]=(w[7]&amp;w[6]&amp;w[5]&amp;w[4]&amp;w[3]&amp;w[2]&amp;data[1])|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30" dirty="0">
                <a:latin typeface="Microsoft Sans Serif"/>
                <a:cs typeface="Microsoft Sans Serif"/>
              </a:rPr>
              <a:t>(w[7]&amp;w[6]&amp;w[5]&amp;w[4]&amp;data[3])|(w[7]&amp;w[6]&amp;data[5])|data[7];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-325" dirty="0">
                <a:latin typeface="Microsoft Sans Serif"/>
                <a:cs typeface="Microsoft Sans Serif"/>
              </a:rPr>
              <a:t>s</a:t>
            </a: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85" dirty="0">
                <a:latin typeface="Microsoft Sans Serif"/>
                <a:cs typeface="Microsoft Sans Serif"/>
              </a:rPr>
              <a:t>g</a:t>
            </a:r>
            <a:r>
              <a:rPr sz="1800" spc="-180" dirty="0">
                <a:latin typeface="Microsoft Sans Serif"/>
                <a:cs typeface="Microsoft Sans Serif"/>
              </a:rPr>
              <a:t>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145" dirty="0">
                <a:latin typeface="Microsoft Sans Serif"/>
                <a:cs typeface="Microsoft Sans Serif"/>
              </a:rPr>
              <a:t>ode[</a:t>
            </a:r>
            <a:r>
              <a:rPr sz="1800" spc="-175" dirty="0">
                <a:latin typeface="Microsoft Sans Serif"/>
                <a:cs typeface="Microsoft Sans Serif"/>
              </a:rPr>
              <a:t>1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20" dirty="0">
                <a:latin typeface="Microsoft Sans Serif"/>
                <a:cs typeface="Microsoft Sans Serif"/>
              </a:rPr>
              <a:t>=</a:t>
            </a:r>
            <a:r>
              <a:rPr sz="1800" spc="-145" dirty="0">
                <a:latin typeface="Microsoft Sans Serif"/>
                <a:cs typeface="Microsoft Sans Serif"/>
              </a:rPr>
              <a:t>(w</a:t>
            </a:r>
            <a:r>
              <a:rPr sz="1800" spc="-90" dirty="0">
                <a:latin typeface="Microsoft Sans Serif"/>
                <a:cs typeface="Microsoft Sans Serif"/>
              </a:rPr>
              <a:t>[</a:t>
            </a:r>
            <a:r>
              <a:rPr sz="1800" spc="-210" dirty="0">
                <a:latin typeface="Microsoft Sans Serif"/>
                <a:cs typeface="Microsoft Sans Serif"/>
              </a:rPr>
              <a:t>7</a:t>
            </a:r>
            <a:r>
              <a:rPr sz="1800" spc="-114" dirty="0">
                <a:latin typeface="Microsoft Sans Serif"/>
                <a:cs typeface="Microsoft Sans Serif"/>
              </a:rPr>
              <a:t>]</a:t>
            </a:r>
            <a:r>
              <a:rPr sz="1800" spc="-135" dirty="0">
                <a:latin typeface="Microsoft Sans Serif"/>
                <a:cs typeface="Microsoft Sans Serif"/>
              </a:rPr>
              <a:t>&amp;w[</a:t>
            </a:r>
            <a:r>
              <a:rPr sz="1800" spc="-140" dirty="0">
                <a:latin typeface="Microsoft Sans Serif"/>
                <a:cs typeface="Microsoft Sans Serif"/>
              </a:rPr>
              <a:t>6</a:t>
            </a:r>
            <a:r>
              <a:rPr sz="1800" spc="-110" dirty="0">
                <a:latin typeface="Microsoft Sans Serif"/>
                <a:cs typeface="Microsoft Sans Serif"/>
              </a:rPr>
              <a:t>]&amp;w[5]&amp;w[4]&amp;w</a:t>
            </a:r>
            <a:r>
              <a:rPr sz="1800" spc="-55" dirty="0">
                <a:latin typeface="Microsoft Sans Serif"/>
                <a:cs typeface="Microsoft Sans Serif"/>
              </a:rPr>
              <a:t>[</a:t>
            </a:r>
            <a:r>
              <a:rPr sz="1800" spc="-210" dirty="0">
                <a:latin typeface="Microsoft Sans Serif"/>
                <a:cs typeface="Microsoft Sans Serif"/>
              </a:rPr>
              <a:t>3</a:t>
            </a:r>
            <a:r>
              <a:rPr sz="1800" spc="-114" dirty="0">
                <a:latin typeface="Microsoft Sans Serif"/>
                <a:cs typeface="Microsoft Sans Serif"/>
              </a:rPr>
              <a:t>]</a:t>
            </a:r>
            <a:r>
              <a:rPr sz="1800" spc="-90" dirty="0">
                <a:latin typeface="Microsoft Sans Serif"/>
                <a:cs typeface="Microsoft Sans Serif"/>
              </a:rPr>
              <a:t>&amp;</a:t>
            </a:r>
            <a:r>
              <a:rPr sz="1800" spc="-60" dirty="0">
                <a:latin typeface="Microsoft Sans Serif"/>
                <a:cs typeface="Microsoft Sans Serif"/>
              </a:rPr>
              <a:t>d</a:t>
            </a: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80" dirty="0">
                <a:latin typeface="Microsoft Sans Serif"/>
                <a:cs typeface="Microsoft Sans Serif"/>
              </a:rPr>
              <a:t>t</a:t>
            </a:r>
            <a:r>
              <a:rPr sz="1800" spc="-155" dirty="0">
                <a:latin typeface="Microsoft Sans Serif"/>
                <a:cs typeface="Microsoft Sans Serif"/>
              </a:rPr>
              <a:t>a</a:t>
            </a:r>
            <a:r>
              <a:rPr sz="1800" spc="-50" dirty="0">
                <a:latin typeface="Microsoft Sans Serif"/>
                <a:cs typeface="Microsoft Sans Serif"/>
              </a:rPr>
              <a:t>[</a:t>
            </a:r>
            <a:r>
              <a:rPr sz="1800" spc="-180" dirty="0">
                <a:latin typeface="Microsoft Sans Serif"/>
                <a:cs typeface="Microsoft Sans Serif"/>
              </a:rPr>
              <a:t>2])|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35" dirty="0">
                <a:latin typeface="Microsoft Sans Serif"/>
                <a:cs typeface="Microsoft Sans Serif"/>
              </a:rPr>
              <a:t>(w[7]&amp;w[6]&amp;w[5]&amp;w[4]&amp;data[3])|(w[7]&amp;data[6])|data[7];</a:t>
            </a:r>
            <a:endParaRPr sz="1800">
              <a:latin typeface="Microsoft Sans Serif"/>
              <a:cs typeface="Microsoft Sans Serif"/>
            </a:endParaRPr>
          </a:p>
          <a:p>
            <a:pPr marL="12700" marR="5080" indent="63500">
              <a:lnSpc>
                <a:spcPct val="100000"/>
              </a:lnSpc>
            </a:pPr>
            <a:r>
              <a:rPr sz="1800" spc="-220" dirty="0">
                <a:latin typeface="Microsoft Sans Serif"/>
                <a:cs typeface="Microsoft Sans Serif"/>
              </a:rPr>
              <a:t>assign</a:t>
            </a:r>
            <a:r>
              <a:rPr sz="1800" spc="-215" dirty="0">
                <a:latin typeface="Microsoft Sans Serif"/>
                <a:cs typeface="Microsoft Sans Serif"/>
              </a:rPr>
              <a:t> </a:t>
            </a:r>
            <a:r>
              <a:rPr sz="1800" spc="-130" dirty="0">
                <a:latin typeface="Microsoft Sans Serif"/>
                <a:cs typeface="Microsoft Sans Serif"/>
              </a:rPr>
              <a:t>code[2]=(w[7]&amp;w[6]&amp;w[5]&amp;data[4])|(w[7]&amp;w[6]&amp;data[5])|(w[7]&amp;data[6])|data[7];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35" dirty="0">
                <a:latin typeface="Microsoft Sans Serif"/>
                <a:cs typeface="Microsoft Sans Serif"/>
              </a:rPr>
              <a:t>endmodule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2600" y="1543811"/>
            <a:ext cx="3233928" cy="3256788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9080" cy="6841490"/>
            <a:chOff x="0" y="16764"/>
            <a:chExt cx="914908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19" y="1679447"/>
              <a:ext cx="6983730" cy="38747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8376" y="155460"/>
              <a:ext cx="3121152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3303" y="289382"/>
            <a:ext cx="2514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T</a:t>
            </a:r>
            <a:r>
              <a:rPr spc="-215" dirty="0"/>
              <a:t>E</a:t>
            </a:r>
            <a:r>
              <a:rPr spc="145" dirty="0"/>
              <a:t>S</a:t>
            </a:r>
            <a:r>
              <a:rPr spc="-340" dirty="0"/>
              <a:t>T</a:t>
            </a:r>
            <a:r>
              <a:rPr spc="-50" dirty="0"/>
              <a:t> </a:t>
            </a:r>
            <a:r>
              <a:rPr spc="-5" dirty="0"/>
              <a:t>B</a:t>
            </a:r>
            <a:r>
              <a:rPr spc="5" dirty="0"/>
              <a:t>E</a:t>
            </a:r>
            <a:r>
              <a:rPr spc="-240" dirty="0"/>
              <a:t>N</a:t>
            </a:r>
            <a:r>
              <a:rPr spc="-35" dirty="0"/>
              <a:t>C</a:t>
            </a:r>
            <a:r>
              <a:rPr spc="-90" dirty="0"/>
              <a:t>H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205864"/>
            <a:ext cx="8378190" cy="5210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105" algn="ctr">
              <a:lnSpc>
                <a:spcPct val="100000"/>
              </a:lnSpc>
              <a:spcBef>
                <a:spcPts val="105"/>
              </a:spcBef>
            </a:pPr>
            <a:r>
              <a:rPr sz="2000" b="1" spc="-65" dirty="0">
                <a:solidFill>
                  <a:srgbClr val="C00000"/>
                </a:solidFill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10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We</a:t>
            </a:r>
            <a:r>
              <a:rPr sz="2400" spc="1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need</a:t>
            </a:r>
            <a:r>
              <a:rPr sz="2400" spc="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apply</a:t>
            </a:r>
            <a:r>
              <a:rPr sz="2400" spc="3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appropriate</a:t>
            </a:r>
            <a:r>
              <a:rPr sz="2400" spc="86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stimulus</a:t>
            </a:r>
            <a:r>
              <a:rPr sz="24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 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order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to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test 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it.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This </a:t>
            </a:r>
            <a:r>
              <a:rPr sz="24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can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be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done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by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writing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another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 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code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called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‘Test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Bench’.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This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written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as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4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separate</a:t>
            </a:r>
            <a:r>
              <a:rPr sz="2400" spc="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file, different </a:t>
            </a:r>
            <a:r>
              <a:rPr sz="24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from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file(s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2014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Stimulus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is 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nothing </a:t>
            </a:r>
            <a:r>
              <a:rPr sz="24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but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application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various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permutations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combinations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inputs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 at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various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points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time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and,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looking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correct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results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produced</a:t>
            </a:r>
            <a:r>
              <a:rPr sz="24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by</a:t>
            </a:r>
            <a:r>
              <a:rPr sz="24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design.</a:t>
            </a:r>
            <a:endParaRPr sz="2400">
              <a:latin typeface="Microsoft Sans Serif"/>
              <a:cs typeface="Microsoft Sans Serif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73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may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comprise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just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one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or </a:t>
            </a: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several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modules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depending</a:t>
            </a:r>
            <a:r>
              <a:rPr sz="24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upon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complexity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application.</a:t>
            </a:r>
            <a:r>
              <a:rPr sz="24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As 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mentioned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earlier,</a:t>
            </a:r>
            <a:r>
              <a:rPr sz="24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test</a:t>
            </a:r>
            <a:r>
              <a:rPr sz="24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bench</a:t>
            </a:r>
            <a:r>
              <a:rPr sz="24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applies</a:t>
            </a:r>
            <a:r>
              <a:rPr sz="24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appropriate</a:t>
            </a:r>
            <a:r>
              <a:rPr sz="2400" spc="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test</a:t>
            </a:r>
            <a:r>
              <a:rPr sz="24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pattern</a:t>
            </a:r>
            <a:r>
              <a:rPr sz="2400" spc="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1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inputs </a:t>
            </a:r>
            <a:r>
              <a:rPr sz="2400" spc="-6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under</a:t>
            </a:r>
            <a:r>
              <a:rPr sz="2400" spc="3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test</a:t>
            </a:r>
            <a:r>
              <a:rPr sz="2400" spc="3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400" spc="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checks</a:t>
            </a:r>
            <a:r>
              <a:rPr sz="2400" spc="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the outputs </a:t>
            </a:r>
            <a:r>
              <a:rPr sz="24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400" spc="3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400" spc="18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so</a:t>
            </a:r>
            <a:r>
              <a:rPr sz="24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395" dirty="0">
                <a:solidFill>
                  <a:srgbClr val="006FC0"/>
                </a:solidFill>
                <a:latin typeface="Microsoft Sans Serif"/>
                <a:cs typeface="Microsoft Sans Serif"/>
              </a:rPr>
              <a:t>as </a:t>
            </a:r>
            <a:r>
              <a:rPr sz="2400" spc="-3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4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verify</a:t>
            </a:r>
            <a:r>
              <a:rPr sz="24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its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functionality.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8376" y="155460"/>
              <a:ext cx="3121152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3303" y="289382"/>
            <a:ext cx="2514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T</a:t>
            </a:r>
            <a:r>
              <a:rPr spc="-215" dirty="0"/>
              <a:t>E</a:t>
            </a:r>
            <a:r>
              <a:rPr spc="145" dirty="0"/>
              <a:t>S</a:t>
            </a:r>
            <a:r>
              <a:rPr spc="-340" dirty="0"/>
              <a:t>T</a:t>
            </a:r>
            <a:r>
              <a:rPr spc="-50" dirty="0"/>
              <a:t> </a:t>
            </a:r>
            <a:r>
              <a:rPr spc="-5" dirty="0"/>
              <a:t>B</a:t>
            </a:r>
            <a:r>
              <a:rPr spc="5" dirty="0"/>
              <a:t>E</a:t>
            </a:r>
            <a:r>
              <a:rPr spc="-240" dirty="0"/>
              <a:t>N</a:t>
            </a:r>
            <a:r>
              <a:rPr spc="-35" dirty="0"/>
              <a:t>C</a:t>
            </a:r>
            <a:r>
              <a:rPr spc="-90" dirty="0"/>
              <a:t>H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3540" y="1205864"/>
            <a:ext cx="8112125" cy="4662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090" algn="ctr">
              <a:lnSpc>
                <a:spcPct val="100000"/>
              </a:lnSpc>
              <a:spcBef>
                <a:spcPts val="105"/>
              </a:spcBef>
            </a:pPr>
            <a:r>
              <a:rPr sz="2000" b="1" spc="-195" dirty="0">
                <a:solidFill>
                  <a:srgbClr val="C00000"/>
                </a:solidFill>
                <a:latin typeface="Arial"/>
                <a:cs typeface="Arial"/>
              </a:rPr>
              <a:t>STRUCTURE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165" dirty="0">
                <a:latin typeface="Microsoft Sans Serif"/>
                <a:cs typeface="Microsoft Sans Serif"/>
              </a:rPr>
              <a:t>module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60" dirty="0">
                <a:latin typeface="Microsoft Sans Serif"/>
                <a:cs typeface="Microsoft Sans Serif"/>
              </a:rPr>
              <a:t>test_mod</a:t>
            </a:r>
            <a:r>
              <a:rPr sz="2400" spc="-170" dirty="0">
                <a:latin typeface="Microsoft Sans Serif"/>
                <a:cs typeface="Microsoft Sans Serif"/>
              </a:rPr>
              <a:t>u</a:t>
            </a:r>
            <a:r>
              <a:rPr sz="2400" spc="-210" dirty="0">
                <a:latin typeface="Microsoft Sans Serif"/>
                <a:cs typeface="Microsoft Sans Serif"/>
              </a:rPr>
              <a:t>le_nam</a:t>
            </a:r>
            <a:r>
              <a:rPr sz="2400" spc="-200" dirty="0">
                <a:latin typeface="Microsoft Sans Serif"/>
                <a:cs typeface="Microsoft Sans Serif"/>
              </a:rPr>
              <a:t>e</a:t>
            </a:r>
            <a:r>
              <a:rPr sz="2400" spc="-5" dirty="0">
                <a:latin typeface="Microsoft Sans Serif"/>
                <a:cs typeface="Microsoft Sans Serif"/>
              </a:rPr>
              <a:t>;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85" dirty="0">
                <a:solidFill>
                  <a:srgbClr val="FF0000"/>
                </a:solidFill>
                <a:latin typeface="Microsoft Sans Serif"/>
                <a:cs typeface="Microsoft Sans Serif"/>
              </a:rPr>
              <a:t>//decl</a:t>
            </a:r>
            <a:r>
              <a:rPr sz="2400" spc="-130" dirty="0">
                <a:solidFill>
                  <a:srgbClr val="FF0000"/>
                </a:solidFill>
                <a:latin typeface="Microsoft Sans Serif"/>
                <a:cs typeface="Microsoft Sans Serif"/>
              </a:rPr>
              <a:t>a</a:t>
            </a:r>
            <a:r>
              <a:rPr sz="2400" spc="-114" dirty="0">
                <a:solidFill>
                  <a:srgbClr val="FF0000"/>
                </a:solidFill>
                <a:latin typeface="Microsoft Sans Serif"/>
                <a:cs typeface="Microsoft Sans Serif"/>
              </a:rPr>
              <a:t>r</a:t>
            </a:r>
            <a:r>
              <a:rPr sz="2400" spc="-185" dirty="0">
                <a:solidFill>
                  <a:srgbClr val="FF0000"/>
                </a:solidFill>
                <a:latin typeface="Microsoft Sans Serif"/>
                <a:cs typeface="Microsoft Sans Serif"/>
              </a:rPr>
              <a:t>e</a:t>
            </a:r>
            <a:r>
              <a:rPr sz="2400" spc="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FF0000"/>
                </a:solidFill>
                <a:latin typeface="Microsoft Sans Serif"/>
                <a:cs typeface="Microsoft Sans Serif"/>
              </a:rPr>
              <a:t>lo</a:t>
            </a:r>
            <a:r>
              <a:rPr sz="2400" spc="-155" dirty="0">
                <a:solidFill>
                  <a:srgbClr val="FF0000"/>
                </a:solidFill>
                <a:latin typeface="Microsoft Sans Serif"/>
                <a:cs typeface="Microsoft Sans Serif"/>
              </a:rPr>
              <a:t>c</a:t>
            </a:r>
            <a:r>
              <a:rPr sz="2400" spc="-185" dirty="0">
                <a:solidFill>
                  <a:srgbClr val="FF0000"/>
                </a:solidFill>
                <a:latin typeface="Microsoft Sans Serif"/>
                <a:cs typeface="Microsoft Sans Serif"/>
              </a:rPr>
              <a:t>al</a:t>
            </a:r>
            <a:r>
              <a:rPr sz="2400" spc="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spc="-200" dirty="0">
                <a:solidFill>
                  <a:srgbClr val="FF0000"/>
                </a:solidFill>
                <a:latin typeface="Microsoft Sans Serif"/>
                <a:cs typeface="Microsoft Sans Serif"/>
              </a:rPr>
              <a:t>reg</a:t>
            </a:r>
            <a:r>
              <a:rPr sz="2400" spc="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FF0000"/>
                </a:solidFill>
                <a:latin typeface="Microsoft Sans Serif"/>
                <a:cs typeface="Microsoft Sans Serif"/>
              </a:rPr>
              <a:t>and</a:t>
            </a:r>
            <a:r>
              <a:rPr sz="2400" spc="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FF0000"/>
                </a:solidFill>
                <a:latin typeface="Microsoft Sans Serif"/>
                <a:cs typeface="Microsoft Sans Serif"/>
              </a:rPr>
              <a:t>wir</a:t>
            </a:r>
            <a:r>
              <a:rPr sz="2400" spc="-165" dirty="0">
                <a:solidFill>
                  <a:srgbClr val="FF0000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FF0000"/>
                </a:solidFill>
                <a:latin typeface="Microsoft Sans Serif"/>
                <a:cs typeface="Microsoft Sans Serif"/>
              </a:rPr>
              <a:t>identifier</a:t>
            </a:r>
            <a:r>
              <a:rPr sz="2400" spc="-175" dirty="0">
                <a:solidFill>
                  <a:srgbClr val="FF0000"/>
                </a:solidFill>
                <a:latin typeface="Microsoft Sans Serif"/>
                <a:cs typeface="Microsoft Sans Serif"/>
              </a:rPr>
              <a:t>s</a:t>
            </a:r>
            <a:r>
              <a:rPr sz="2400" spc="-140" dirty="0">
                <a:solidFill>
                  <a:srgbClr val="FF0000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//instantiate</a:t>
            </a:r>
            <a:r>
              <a:rPr sz="2400" spc="6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00AF50"/>
                </a:solidFill>
                <a:latin typeface="Microsoft Sans Serif"/>
                <a:cs typeface="Microsoft Sans Serif"/>
              </a:rPr>
              <a:t>design</a:t>
            </a:r>
            <a:r>
              <a:rPr sz="2400" spc="2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AF50"/>
                </a:solidFill>
                <a:latin typeface="Microsoft Sans Serif"/>
                <a:cs typeface="Microsoft Sans Serif"/>
              </a:rPr>
              <a:t>module</a:t>
            </a:r>
            <a:r>
              <a:rPr sz="2400" spc="4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under</a:t>
            </a:r>
            <a:r>
              <a:rPr sz="2400" spc="2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00AF50"/>
                </a:solidFill>
                <a:latin typeface="Microsoft Sans Serif"/>
                <a:cs typeface="Microsoft Sans Serif"/>
              </a:rPr>
              <a:t>test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25" dirty="0">
                <a:solidFill>
                  <a:srgbClr val="1212AD"/>
                </a:solidFill>
                <a:latin typeface="Microsoft Sans Serif"/>
                <a:cs typeface="Microsoft Sans Serif"/>
              </a:rPr>
              <a:t>//generate</a:t>
            </a:r>
            <a:r>
              <a:rPr sz="2400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1212AD"/>
                </a:solidFill>
                <a:latin typeface="Microsoft Sans Serif"/>
                <a:cs typeface="Microsoft Sans Serif"/>
              </a:rPr>
              <a:t>stimulus</a:t>
            </a:r>
            <a:r>
              <a:rPr sz="2400" spc="60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1212AD"/>
                </a:solidFill>
                <a:latin typeface="Microsoft Sans Serif"/>
                <a:cs typeface="Microsoft Sans Serif"/>
              </a:rPr>
              <a:t>(inputs</a:t>
            </a:r>
            <a:r>
              <a:rPr sz="2400" spc="50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1212AD"/>
                </a:solidFill>
                <a:latin typeface="Microsoft Sans Serif"/>
                <a:cs typeface="Microsoft Sans Serif"/>
              </a:rPr>
              <a:t>to</a:t>
            </a:r>
            <a:r>
              <a:rPr sz="2400" spc="25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1212AD"/>
                </a:solidFill>
                <a:latin typeface="Microsoft Sans Serif"/>
                <a:cs typeface="Microsoft Sans Serif"/>
              </a:rPr>
              <a:t>design</a:t>
            </a:r>
            <a:r>
              <a:rPr sz="2400" spc="40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1212AD"/>
                </a:solidFill>
                <a:latin typeface="Microsoft Sans Serif"/>
                <a:cs typeface="Microsoft Sans Serif"/>
              </a:rPr>
              <a:t>module)</a:t>
            </a:r>
            <a:r>
              <a:rPr sz="2400" spc="30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1212AD"/>
                </a:solidFill>
                <a:latin typeface="Microsoft Sans Serif"/>
                <a:cs typeface="Microsoft Sans Serif"/>
              </a:rPr>
              <a:t>using</a:t>
            </a:r>
            <a:r>
              <a:rPr sz="2400" spc="45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1212AD"/>
                </a:solidFill>
                <a:latin typeface="Microsoft Sans Serif"/>
                <a:cs typeface="Microsoft Sans Serif"/>
              </a:rPr>
              <a:t>initial</a:t>
            </a:r>
            <a:r>
              <a:rPr sz="2400" spc="45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1212AD"/>
                </a:solidFill>
                <a:latin typeface="Microsoft Sans Serif"/>
                <a:cs typeface="Microsoft Sans Serif"/>
              </a:rPr>
              <a:t>and</a:t>
            </a:r>
            <a:r>
              <a:rPr sz="2400" spc="35" dirty="0">
                <a:solidFill>
                  <a:srgbClr val="1212AD"/>
                </a:solidFill>
                <a:latin typeface="Microsoft Sans Serif"/>
                <a:cs typeface="Microsoft Sans Serif"/>
              </a:rPr>
              <a:t> </a:t>
            </a:r>
            <a:r>
              <a:rPr sz="2400" spc="-235" dirty="0">
                <a:solidFill>
                  <a:srgbClr val="1212AD"/>
                </a:solidFill>
                <a:latin typeface="Microsoft Sans Serif"/>
                <a:cs typeface="Microsoft Sans Serif"/>
              </a:rPr>
              <a:t>always.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195" dirty="0">
                <a:solidFill>
                  <a:srgbClr val="E36C09"/>
                </a:solidFill>
                <a:latin typeface="Microsoft Sans Serif"/>
                <a:cs typeface="Microsoft Sans Serif"/>
              </a:rPr>
              <a:t>//</a:t>
            </a:r>
            <a:r>
              <a:rPr sz="2400" spc="20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E36C09"/>
                </a:solidFill>
                <a:latin typeface="Microsoft Sans Serif"/>
                <a:cs typeface="Microsoft Sans Serif"/>
              </a:rPr>
              <a:t>display</a:t>
            </a:r>
            <a:r>
              <a:rPr sz="2400" spc="45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E36C09"/>
                </a:solidFill>
                <a:latin typeface="Microsoft Sans Serif"/>
                <a:cs typeface="Microsoft Sans Serif"/>
              </a:rPr>
              <a:t>output</a:t>
            </a:r>
            <a:r>
              <a:rPr sz="2400" spc="30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E36C09"/>
                </a:solidFill>
                <a:latin typeface="Microsoft Sans Serif"/>
                <a:cs typeface="Microsoft Sans Serif"/>
              </a:rPr>
              <a:t>response.(display</a:t>
            </a:r>
            <a:r>
              <a:rPr sz="2400" spc="30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E36C09"/>
                </a:solidFill>
                <a:latin typeface="Microsoft Sans Serif"/>
                <a:cs typeface="Microsoft Sans Serif"/>
              </a:rPr>
              <a:t>on</a:t>
            </a:r>
            <a:r>
              <a:rPr sz="2400" spc="25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E36C09"/>
                </a:solidFill>
                <a:latin typeface="Microsoft Sans Serif"/>
                <a:cs typeface="Microsoft Sans Serif"/>
              </a:rPr>
              <a:t>screen</a:t>
            </a:r>
            <a:r>
              <a:rPr sz="2400" spc="40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E36C09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E36C0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E36C09"/>
                </a:solidFill>
                <a:latin typeface="Microsoft Sans Serif"/>
                <a:cs typeface="Microsoft Sans Serif"/>
              </a:rPr>
              <a:t>print)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75" dirty="0">
                <a:latin typeface="Microsoft Sans Serif"/>
                <a:cs typeface="Microsoft Sans Serif"/>
              </a:rPr>
              <a:t>endmodule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Examples: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$</a:t>
            </a:r>
            <a:r>
              <a:rPr sz="24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di</a:t>
            </a:r>
            <a:r>
              <a:rPr sz="24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pl</a:t>
            </a:r>
            <a:r>
              <a:rPr sz="24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y(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"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4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24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4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"</a:t>
            </a:r>
            <a:r>
              <a:rPr sz="24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4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4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400" spc="-36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4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24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$</a:t>
            </a:r>
            <a:r>
              <a:rPr sz="24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monitor</a:t>
            </a:r>
            <a:r>
              <a:rPr sz="24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$</a:t>
            </a:r>
            <a:r>
              <a:rPr sz="24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time„</a:t>
            </a:r>
            <a:r>
              <a:rPr sz="24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"</a:t>
            </a:r>
            <a:r>
              <a:rPr sz="2400" spc="-415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09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4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15" dirty="0">
                <a:solidFill>
                  <a:srgbClr val="006FC0"/>
                </a:solidFill>
                <a:latin typeface="Microsoft Sans Serif"/>
                <a:cs typeface="Microsoft Sans Serif"/>
              </a:rPr>
              <a:t>%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h"</a:t>
            </a:r>
            <a:r>
              <a:rPr sz="24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24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400" spc="-44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24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,s</a:t>
            </a:r>
            <a:r>
              <a:rPr sz="2400" spc="-345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24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,outvalue</a:t>
            </a:r>
            <a:r>
              <a:rPr sz="24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24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8376" y="155460"/>
              <a:ext cx="3121152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13303" y="289382"/>
            <a:ext cx="2514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0" dirty="0">
                <a:latin typeface="Trebuchet MS"/>
                <a:cs typeface="Trebuchet MS"/>
              </a:rPr>
              <a:t>T</a:t>
            </a:r>
            <a:r>
              <a:rPr sz="3600" b="1" spc="-215" dirty="0">
                <a:latin typeface="Trebuchet MS"/>
                <a:cs typeface="Trebuchet MS"/>
              </a:rPr>
              <a:t>E</a:t>
            </a:r>
            <a:r>
              <a:rPr sz="3600" b="1" spc="145" dirty="0">
                <a:latin typeface="Trebuchet MS"/>
                <a:cs typeface="Trebuchet MS"/>
              </a:rPr>
              <a:t>S</a:t>
            </a:r>
            <a:r>
              <a:rPr sz="3600" b="1" spc="-340" dirty="0">
                <a:latin typeface="Trebuchet MS"/>
                <a:cs typeface="Trebuchet MS"/>
              </a:rPr>
              <a:t>T</a:t>
            </a:r>
            <a:r>
              <a:rPr sz="3600" b="1" spc="-50" dirty="0">
                <a:latin typeface="Trebuchet MS"/>
                <a:cs typeface="Trebuchet MS"/>
              </a:rPr>
              <a:t> </a:t>
            </a:r>
            <a:r>
              <a:rPr sz="3600" b="1" spc="-5" dirty="0">
                <a:latin typeface="Trebuchet MS"/>
                <a:cs typeface="Trebuchet MS"/>
              </a:rPr>
              <a:t>B</a:t>
            </a:r>
            <a:r>
              <a:rPr sz="3600" b="1" spc="5" dirty="0">
                <a:latin typeface="Trebuchet MS"/>
                <a:cs typeface="Trebuchet MS"/>
              </a:rPr>
              <a:t>E</a:t>
            </a:r>
            <a:r>
              <a:rPr sz="3600" b="1" spc="-240" dirty="0">
                <a:latin typeface="Trebuchet MS"/>
                <a:cs typeface="Trebuchet MS"/>
              </a:rPr>
              <a:t>N</a:t>
            </a:r>
            <a:r>
              <a:rPr sz="3600" b="1" spc="-35" dirty="0">
                <a:latin typeface="Trebuchet MS"/>
                <a:cs typeface="Trebuchet MS"/>
              </a:rPr>
              <a:t>C</a:t>
            </a:r>
            <a:r>
              <a:rPr sz="3600" b="1" spc="-90" dirty="0">
                <a:latin typeface="Trebuchet MS"/>
                <a:cs typeface="Trebuchet MS"/>
              </a:rPr>
              <a:t>H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1905000"/>
            <a:ext cx="8691880" cy="4953000"/>
            <a:chOff x="457200" y="1905000"/>
            <a:chExt cx="8691880" cy="49530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0800" y="1905000"/>
              <a:ext cx="3724655" cy="10485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" y="3733800"/>
              <a:ext cx="4076700" cy="20391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29200" y="2964180"/>
              <a:ext cx="3657600" cy="343662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673602" y="1205864"/>
            <a:ext cx="1876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DUCT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8376" y="155460"/>
              <a:ext cx="3121152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13303" y="289382"/>
            <a:ext cx="2514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0" dirty="0">
                <a:latin typeface="Trebuchet MS"/>
                <a:cs typeface="Trebuchet MS"/>
              </a:rPr>
              <a:t>T</a:t>
            </a:r>
            <a:r>
              <a:rPr sz="3600" b="1" spc="-215" dirty="0">
                <a:latin typeface="Trebuchet MS"/>
                <a:cs typeface="Trebuchet MS"/>
              </a:rPr>
              <a:t>E</a:t>
            </a:r>
            <a:r>
              <a:rPr sz="3600" b="1" spc="145" dirty="0">
                <a:latin typeface="Trebuchet MS"/>
                <a:cs typeface="Trebuchet MS"/>
              </a:rPr>
              <a:t>S</a:t>
            </a:r>
            <a:r>
              <a:rPr sz="3600" b="1" spc="-340" dirty="0">
                <a:latin typeface="Trebuchet MS"/>
                <a:cs typeface="Trebuchet MS"/>
              </a:rPr>
              <a:t>T</a:t>
            </a:r>
            <a:r>
              <a:rPr sz="3600" b="1" spc="-50" dirty="0">
                <a:latin typeface="Trebuchet MS"/>
                <a:cs typeface="Trebuchet MS"/>
              </a:rPr>
              <a:t> </a:t>
            </a:r>
            <a:r>
              <a:rPr sz="3600" b="1" spc="-5" dirty="0">
                <a:latin typeface="Trebuchet MS"/>
                <a:cs typeface="Trebuchet MS"/>
              </a:rPr>
              <a:t>B</a:t>
            </a:r>
            <a:r>
              <a:rPr sz="3600" b="1" spc="5" dirty="0">
                <a:latin typeface="Trebuchet MS"/>
                <a:cs typeface="Trebuchet MS"/>
              </a:rPr>
              <a:t>E</a:t>
            </a:r>
            <a:r>
              <a:rPr sz="3600" b="1" spc="-240" dirty="0">
                <a:latin typeface="Trebuchet MS"/>
                <a:cs typeface="Trebuchet MS"/>
              </a:rPr>
              <a:t>N</a:t>
            </a:r>
            <a:r>
              <a:rPr sz="3600" b="1" spc="-35" dirty="0">
                <a:latin typeface="Trebuchet MS"/>
                <a:cs typeface="Trebuchet MS"/>
              </a:rPr>
              <a:t>C</a:t>
            </a:r>
            <a:r>
              <a:rPr sz="3600" b="1" spc="-90" dirty="0">
                <a:latin typeface="Trebuchet MS"/>
                <a:cs typeface="Trebuchet MS"/>
              </a:rPr>
              <a:t>H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52600" y="1752600"/>
            <a:ext cx="7396480" cy="5105400"/>
            <a:chOff x="1752600" y="1752600"/>
            <a:chExt cx="7396480" cy="51054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57400" y="1752600"/>
              <a:ext cx="5058156" cy="20101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2600" y="3895344"/>
              <a:ext cx="5334000" cy="258165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673602" y="1205864"/>
            <a:ext cx="1876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3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10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b="1" spc="-8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90" dirty="0">
                <a:solidFill>
                  <a:srgbClr val="C00000"/>
                </a:solidFill>
                <a:latin typeface="Arial"/>
                <a:cs typeface="Arial"/>
              </a:rPr>
              <a:t>DUCT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20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8376" y="155460"/>
              <a:ext cx="3121152" cy="1040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13303" y="289382"/>
            <a:ext cx="2514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T</a:t>
            </a:r>
            <a:r>
              <a:rPr spc="-215" dirty="0"/>
              <a:t>E</a:t>
            </a:r>
            <a:r>
              <a:rPr spc="145" dirty="0"/>
              <a:t>S</a:t>
            </a:r>
            <a:r>
              <a:rPr spc="-340" dirty="0"/>
              <a:t>T</a:t>
            </a:r>
            <a:r>
              <a:rPr spc="-50" dirty="0"/>
              <a:t> </a:t>
            </a:r>
            <a:r>
              <a:rPr spc="-5" dirty="0"/>
              <a:t>B</a:t>
            </a:r>
            <a:r>
              <a:rPr spc="5" dirty="0"/>
              <a:t>E</a:t>
            </a:r>
            <a:r>
              <a:rPr spc="-240" dirty="0"/>
              <a:t>N</a:t>
            </a:r>
            <a:r>
              <a:rPr spc="-35" dirty="0"/>
              <a:t>C</a:t>
            </a:r>
            <a:r>
              <a:rPr spc="-90" dirty="0"/>
              <a:t>H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943100" y="1144524"/>
            <a:ext cx="7205980" cy="5713730"/>
            <a:chOff x="1943100" y="1144524"/>
            <a:chExt cx="7205980" cy="57137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0" y="6644639"/>
              <a:ext cx="502920" cy="182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6644639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43100" y="1144524"/>
              <a:ext cx="4686300" cy="520446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5648" y="155460"/>
              <a:ext cx="5626608" cy="1040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60194" y="289382"/>
            <a:ext cx="5019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5" dirty="0"/>
              <a:t> </a:t>
            </a:r>
            <a:r>
              <a:rPr spc="-75" dirty="0"/>
              <a:t>BENCH</a:t>
            </a:r>
            <a:r>
              <a:rPr spc="-25" dirty="0"/>
              <a:t> </a:t>
            </a:r>
            <a:r>
              <a:rPr spc="695" dirty="0"/>
              <a:t>–</a:t>
            </a:r>
            <a:r>
              <a:rPr spc="-20" dirty="0"/>
              <a:t> </a:t>
            </a:r>
            <a:r>
              <a:rPr spc="-175" dirty="0"/>
              <a:t>AND</a:t>
            </a:r>
            <a:r>
              <a:rPr spc="-40" dirty="0"/>
              <a:t> </a:t>
            </a:r>
            <a:r>
              <a:rPr spc="-240" dirty="0"/>
              <a:t>GATE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04800" y="1219200"/>
            <a:ext cx="8844280" cy="5638800"/>
            <a:chOff x="304800" y="1219200"/>
            <a:chExt cx="8844280" cy="56388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3954779"/>
              <a:ext cx="3136392" cy="22174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200" y="1752600"/>
              <a:ext cx="2534412" cy="15621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6200" y="1219200"/>
              <a:ext cx="2552700" cy="26487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86200" y="3962400"/>
              <a:ext cx="5009388" cy="22860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8280" y="155460"/>
              <a:ext cx="6181344" cy="1040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82826" y="289382"/>
            <a:ext cx="55765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0" dirty="0"/>
              <a:t> </a:t>
            </a:r>
            <a:r>
              <a:rPr spc="-75" dirty="0"/>
              <a:t>BENCH</a:t>
            </a:r>
            <a:r>
              <a:rPr spc="-25" dirty="0"/>
              <a:t> </a:t>
            </a:r>
            <a:r>
              <a:rPr spc="695" dirty="0"/>
              <a:t>–</a:t>
            </a:r>
            <a:r>
              <a:rPr spc="-15" dirty="0"/>
              <a:t> </a:t>
            </a:r>
            <a:r>
              <a:rPr spc="-220" dirty="0"/>
              <a:t>HALF</a:t>
            </a:r>
            <a:r>
              <a:rPr spc="-40" dirty="0"/>
              <a:t> </a:t>
            </a:r>
            <a:r>
              <a:rPr spc="-55" dirty="0"/>
              <a:t>ADDER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33400" y="1676400"/>
            <a:ext cx="8615680" cy="5181600"/>
            <a:chOff x="533400" y="1676400"/>
            <a:chExt cx="8615680" cy="51816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1981199"/>
              <a:ext cx="3203448" cy="3505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8600" y="1676400"/>
              <a:ext cx="4686300" cy="424891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091" y="155460"/>
              <a:ext cx="6143244" cy="1040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02638" y="289382"/>
            <a:ext cx="5539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5" dirty="0"/>
              <a:t> </a:t>
            </a:r>
            <a:r>
              <a:rPr spc="-75" dirty="0"/>
              <a:t>BENCH</a:t>
            </a:r>
            <a:r>
              <a:rPr spc="-25" dirty="0"/>
              <a:t> </a:t>
            </a:r>
            <a:r>
              <a:rPr spc="695" dirty="0"/>
              <a:t>–</a:t>
            </a:r>
            <a:r>
              <a:rPr spc="-20" dirty="0"/>
              <a:t> </a:t>
            </a:r>
            <a:r>
              <a:rPr spc="-220" dirty="0"/>
              <a:t>FULL</a:t>
            </a:r>
            <a:r>
              <a:rPr spc="-35" dirty="0"/>
              <a:t> </a:t>
            </a:r>
            <a:r>
              <a:rPr spc="-50" dirty="0"/>
              <a:t>ADDER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2057400" y="1219200"/>
            <a:ext cx="7091680" cy="5638800"/>
            <a:chOff x="2057400" y="1219200"/>
            <a:chExt cx="7091680" cy="56388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7400" y="1219200"/>
              <a:ext cx="5087111" cy="494690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8091" y="155460"/>
              <a:ext cx="6143244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02638" y="289382"/>
            <a:ext cx="5539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5" dirty="0"/>
              <a:t> </a:t>
            </a:r>
            <a:r>
              <a:rPr spc="-75" dirty="0"/>
              <a:t>BENCH</a:t>
            </a:r>
            <a:r>
              <a:rPr spc="-25" dirty="0"/>
              <a:t> </a:t>
            </a:r>
            <a:r>
              <a:rPr spc="695" dirty="0"/>
              <a:t>–</a:t>
            </a:r>
            <a:r>
              <a:rPr spc="-20" dirty="0"/>
              <a:t> </a:t>
            </a:r>
            <a:r>
              <a:rPr spc="-220" dirty="0"/>
              <a:t>FULL</a:t>
            </a:r>
            <a:r>
              <a:rPr spc="-35" dirty="0"/>
              <a:t> </a:t>
            </a:r>
            <a:r>
              <a:rPr spc="-50" dirty="0"/>
              <a:t>ADDER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133600" y="1143000"/>
            <a:ext cx="7015480" cy="5715000"/>
            <a:chOff x="2133600" y="1143000"/>
            <a:chExt cx="7015480" cy="57150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33600" y="1143000"/>
              <a:ext cx="5029200" cy="522732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2807" y="155460"/>
              <a:ext cx="535228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97354" y="289382"/>
            <a:ext cx="4745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5" dirty="0"/>
              <a:t> </a:t>
            </a:r>
            <a:r>
              <a:rPr spc="-75" dirty="0"/>
              <a:t>BENCH</a:t>
            </a:r>
            <a:r>
              <a:rPr spc="-30" dirty="0"/>
              <a:t> </a:t>
            </a:r>
            <a:r>
              <a:rPr spc="695" dirty="0"/>
              <a:t>–</a:t>
            </a:r>
            <a:r>
              <a:rPr spc="-25" dirty="0"/>
              <a:t> </a:t>
            </a:r>
            <a:r>
              <a:rPr spc="-35" dirty="0"/>
              <a:t>4:1</a:t>
            </a:r>
            <a:r>
              <a:rPr spc="-50" dirty="0"/>
              <a:t> </a:t>
            </a:r>
            <a:r>
              <a:rPr spc="-130" dirty="0"/>
              <a:t>MUX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229611" y="1447800"/>
            <a:ext cx="6919595" cy="5410200"/>
            <a:chOff x="2229611" y="1447800"/>
            <a:chExt cx="6919595" cy="54102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9611" y="1447800"/>
              <a:ext cx="5390388" cy="487680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2807" y="155460"/>
              <a:ext cx="5352288" cy="10408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97354" y="289382"/>
            <a:ext cx="4745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5" dirty="0"/>
              <a:t> </a:t>
            </a:r>
            <a:r>
              <a:rPr spc="-75" dirty="0"/>
              <a:t>BENCH</a:t>
            </a:r>
            <a:r>
              <a:rPr spc="-30" dirty="0"/>
              <a:t> </a:t>
            </a:r>
            <a:r>
              <a:rPr spc="695" dirty="0"/>
              <a:t>–</a:t>
            </a:r>
            <a:r>
              <a:rPr spc="-25" dirty="0"/>
              <a:t> </a:t>
            </a:r>
            <a:r>
              <a:rPr spc="-35" dirty="0"/>
              <a:t>4:1</a:t>
            </a:r>
            <a:r>
              <a:rPr spc="-50" dirty="0"/>
              <a:t> </a:t>
            </a:r>
            <a:r>
              <a:rPr spc="-130" dirty="0"/>
              <a:t>MUX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762000" y="1219200"/>
            <a:ext cx="8387080" cy="5638800"/>
            <a:chOff x="762000" y="1219200"/>
            <a:chExt cx="8387080" cy="5638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4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2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80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80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000" y="1219200"/>
              <a:ext cx="5334000" cy="50962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2800" y="2743200"/>
              <a:ext cx="5477256" cy="2686812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88654" y="6643232"/>
            <a:ext cx="2552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124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3332" y="155460"/>
              <a:ext cx="6112764" cy="10408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17877" y="289382"/>
            <a:ext cx="5509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TEST</a:t>
            </a:r>
            <a:r>
              <a:rPr spc="-60" dirty="0"/>
              <a:t> </a:t>
            </a:r>
            <a:r>
              <a:rPr spc="-75" dirty="0"/>
              <a:t>BENCH</a:t>
            </a:r>
            <a:r>
              <a:rPr spc="-25" dirty="0"/>
              <a:t> </a:t>
            </a:r>
            <a:r>
              <a:rPr spc="695" dirty="0"/>
              <a:t>–</a:t>
            </a:r>
            <a:r>
              <a:rPr spc="-15" dirty="0"/>
              <a:t> </a:t>
            </a:r>
            <a:r>
              <a:rPr spc="-110" dirty="0"/>
              <a:t>D-FLIP</a:t>
            </a:r>
            <a:r>
              <a:rPr spc="-55" dirty="0"/>
              <a:t> </a:t>
            </a:r>
            <a:r>
              <a:rPr spc="-150" dirty="0"/>
              <a:t>FLOP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2140" y="2360885"/>
            <a:ext cx="2757805" cy="2507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70"/>
              </a:lnSpc>
              <a:spcBef>
                <a:spcPts val="95"/>
              </a:spcBef>
            </a:pPr>
            <a:r>
              <a:rPr sz="1900" b="1" i="1" u="heavy" spc="-2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1900" b="1" i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00" b="1" i="1" u="heavy" spc="-3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900" b="1" i="1" u="heavy" spc="-2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900" b="1" i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1900" b="1" i="1" u="heavy" spc="-2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PFL</a:t>
            </a:r>
            <a:r>
              <a:rPr sz="1900" b="1" i="1" u="heavy" spc="-3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900" b="1" i="1" u="heavy" spc="-4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ts val="2160"/>
              </a:lnSpc>
              <a:spcBef>
                <a:spcPts val="65"/>
              </a:spcBef>
            </a:pPr>
            <a:r>
              <a:rPr sz="1800" spc="-120" dirty="0">
                <a:latin typeface="Microsoft Sans Serif"/>
                <a:cs typeface="Microsoft Sans Serif"/>
              </a:rPr>
              <a:t>module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85" dirty="0">
                <a:latin typeface="Microsoft Sans Serif"/>
                <a:cs typeface="Microsoft Sans Serif"/>
              </a:rPr>
              <a:t>dflipflopmod(q,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d,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95" dirty="0">
                <a:latin typeface="Microsoft Sans Serif"/>
                <a:cs typeface="Microsoft Sans Serif"/>
              </a:rPr>
              <a:t>clk);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65" dirty="0">
                <a:latin typeface="Microsoft Sans Serif"/>
                <a:cs typeface="Microsoft Sans Serif"/>
              </a:rPr>
              <a:t>output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70" dirty="0">
                <a:latin typeface="Microsoft Sans Serif"/>
                <a:cs typeface="Microsoft Sans Serif"/>
              </a:rPr>
              <a:t>q;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90"/>
              </a:lnSpc>
            </a:pPr>
            <a:r>
              <a:rPr sz="1800" spc="-70" dirty="0">
                <a:latin typeface="Microsoft Sans Serif"/>
                <a:cs typeface="Microsoft Sans Serif"/>
              </a:rPr>
              <a:t>input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d;</a:t>
            </a:r>
            <a:endParaRPr sz="1800">
              <a:latin typeface="Microsoft Sans Serif"/>
              <a:cs typeface="Microsoft Sans Serif"/>
            </a:endParaRPr>
          </a:p>
          <a:p>
            <a:pPr marL="12700" marR="1911350">
              <a:lnSpc>
                <a:spcPct val="100000"/>
              </a:lnSpc>
            </a:pPr>
            <a:r>
              <a:rPr sz="1800" spc="-25" dirty="0">
                <a:latin typeface="Microsoft Sans Serif"/>
                <a:cs typeface="Microsoft Sans Serif"/>
              </a:rPr>
              <a:t>i</a:t>
            </a:r>
            <a:r>
              <a:rPr sz="1800" spc="-135" dirty="0">
                <a:latin typeface="Microsoft Sans Serif"/>
                <a:cs typeface="Microsoft Sans Serif"/>
              </a:rPr>
              <a:t>n</a:t>
            </a:r>
            <a:r>
              <a:rPr sz="1800" spc="-120" dirty="0">
                <a:latin typeface="Microsoft Sans Serif"/>
                <a:cs typeface="Microsoft Sans Serif"/>
              </a:rPr>
              <a:t>p</a:t>
            </a:r>
            <a:r>
              <a:rPr sz="1800" spc="-114" dirty="0">
                <a:latin typeface="Microsoft Sans Serif"/>
                <a:cs typeface="Microsoft Sans Serif"/>
              </a:rPr>
              <a:t>u</a:t>
            </a:r>
            <a:r>
              <a:rPr sz="1800" spc="40" dirty="0">
                <a:latin typeface="Microsoft Sans Serif"/>
                <a:cs typeface="Microsoft Sans Serif"/>
              </a:rPr>
              <a:t>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125" dirty="0">
                <a:latin typeface="Microsoft Sans Serif"/>
                <a:cs typeface="Microsoft Sans Serif"/>
              </a:rPr>
              <a:t>k</a:t>
            </a:r>
            <a:r>
              <a:rPr sz="1800" spc="-5" dirty="0">
                <a:latin typeface="Microsoft Sans Serif"/>
                <a:cs typeface="Microsoft Sans Serif"/>
              </a:rPr>
              <a:t>;  </a:t>
            </a:r>
            <a:r>
              <a:rPr sz="1800" spc="-145" dirty="0">
                <a:latin typeface="Microsoft Sans Serif"/>
                <a:cs typeface="Microsoft Sans Serif"/>
              </a:rPr>
              <a:t>re</a:t>
            </a:r>
            <a:r>
              <a:rPr sz="1800" spc="-175" dirty="0">
                <a:latin typeface="Microsoft Sans Serif"/>
                <a:cs typeface="Microsoft Sans Serif"/>
              </a:rPr>
              <a:t>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65" dirty="0">
                <a:latin typeface="Microsoft Sans Serif"/>
                <a:cs typeface="Microsoft Sans Serif"/>
              </a:rPr>
              <a:t>q;</a:t>
            </a:r>
            <a:endParaRPr sz="1800">
              <a:latin typeface="Microsoft Sans Serif"/>
              <a:cs typeface="Microsoft Sans Serif"/>
            </a:endParaRPr>
          </a:p>
          <a:p>
            <a:pPr marL="12700" marR="786765">
              <a:lnSpc>
                <a:spcPct val="100000"/>
              </a:lnSpc>
            </a:pPr>
            <a:r>
              <a:rPr sz="1800" spc="-265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240" dirty="0">
                <a:latin typeface="Microsoft Sans Serif"/>
                <a:cs typeface="Microsoft Sans Serif"/>
              </a:rPr>
              <a:t>w</a:t>
            </a:r>
            <a:r>
              <a:rPr sz="1800" spc="-190" dirty="0">
                <a:latin typeface="Microsoft Sans Serif"/>
                <a:cs typeface="Microsoft Sans Serif"/>
              </a:rPr>
              <a:t>a</a:t>
            </a:r>
            <a:r>
              <a:rPr sz="1800" spc="-90" dirty="0">
                <a:latin typeface="Microsoft Sans Serif"/>
                <a:cs typeface="Microsoft Sans Serif"/>
              </a:rPr>
              <a:t>y</a:t>
            </a:r>
            <a:r>
              <a:rPr sz="1800" spc="-330" dirty="0">
                <a:latin typeface="Microsoft Sans Serif"/>
                <a:cs typeface="Microsoft Sans Serif"/>
              </a:rPr>
              <a:t>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345" dirty="0">
                <a:latin typeface="Microsoft Sans Serif"/>
                <a:cs typeface="Microsoft Sans Serif"/>
              </a:rPr>
              <a:t>@</a:t>
            </a:r>
            <a:r>
              <a:rPr sz="1800" spc="-110" dirty="0">
                <a:latin typeface="Microsoft Sans Serif"/>
                <a:cs typeface="Microsoft Sans Serif"/>
              </a:rPr>
              <a:t>(</a:t>
            </a:r>
            <a:r>
              <a:rPr sz="1800" spc="-190" dirty="0">
                <a:latin typeface="Microsoft Sans Serif"/>
                <a:cs typeface="Microsoft Sans Serif"/>
              </a:rPr>
              <a:t>pose</a:t>
            </a:r>
            <a:r>
              <a:rPr sz="1800" spc="-185" dirty="0">
                <a:latin typeface="Microsoft Sans Serif"/>
                <a:cs typeface="Microsoft Sans Serif"/>
              </a:rPr>
              <a:t>dge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65" dirty="0">
                <a:latin typeface="Microsoft Sans Serif"/>
                <a:cs typeface="Microsoft Sans Serif"/>
              </a:rPr>
              <a:t>c</a:t>
            </a:r>
            <a:r>
              <a:rPr sz="1800" spc="-25" dirty="0">
                <a:latin typeface="Microsoft Sans Serif"/>
                <a:cs typeface="Microsoft Sans Serif"/>
              </a:rPr>
              <a:t>l</a:t>
            </a:r>
            <a:r>
              <a:rPr sz="1800" spc="-125" dirty="0">
                <a:latin typeface="Microsoft Sans Serif"/>
                <a:cs typeface="Microsoft Sans Serif"/>
              </a:rPr>
              <a:t>k</a:t>
            </a:r>
            <a:r>
              <a:rPr sz="1800" spc="-135" dirty="0">
                <a:latin typeface="Microsoft Sans Serif"/>
                <a:cs typeface="Microsoft Sans Serif"/>
              </a:rPr>
              <a:t>)  </a:t>
            </a:r>
            <a:r>
              <a:rPr sz="1800" spc="-50" dirty="0">
                <a:latin typeface="Microsoft Sans Serif"/>
                <a:cs typeface="Microsoft Sans Serif"/>
              </a:rPr>
              <a:t>q=d;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35" dirty="0">
                <a:latin typeface="Microsoft Sans Serif"/>
                <a:cs typeface="Microsoft Sans Serif"/>
              </a:rPr>
              <a:t>endmodule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88654" y="6643232"/>
            <a:ext cx="2552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124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78046" y="1529841"/>
            <a:ext cx="378714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75" dirty="0">
                <a:latin typeface="Arial"/>
                <a:cs typeface="Arial"/>
              </a:rPr>
              <a:t>T</a:t>
            </a:r>
            <a:r>
              <a:rPr sz="2000" b="1" spc="-320" dirty="0">
                <a:latin typeface="Arial"/>
                <a:cs typeface="Arial"/>
              </a:rPr>
              <a:t>E</a:t>
            </a:r>
            <a:r>
              <a:rPr sz="2000" b="1" spc="-245" dirty="0">
                <a:latin typeface="Arial"/>
                <a:cs typeface="Arial"/>
              </a:rPr>
              <a:t>ST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405" dirty="0">
                <a:latin typeface="Arial"/>
                <a:cs typeface="Arial"/>
              </a:rPr>
              <a:t>B</a:t>
            </a:r>
            <a:r>
              <a:rPr sz="2000" b="1" spc="-320" dirty="0">
                <a:latin typeface="Arial"/>
                <a:cs typeface="Arial"/>
              </a:rPr>
              <a:t>E</a:t>
            </a:r>
            <a:r>
              <a:rPr sz="2000" b="1" spc="30" dirty="0">
                <a:latin typeface="Arial"/>
                <a:cs typeface="Arial"/>
              </a:rPr>
              <a:t>N</a:t>
            </a:r>
            <a:r>
              <a:rPr sz="2000" b="1" spc="-145" dirty="0">
                <a:latin typeface="Arial"/>
                <a:cs typeface="Arial"/>
              </a:rPr>
              <a:t>C</a:t>
            </a:r>
            <a:r>
              <a:rPr sz="2000" b="1" spc="-160" dirty="0">
                <a:latin typeface="Arial"/>
                <a:cs typeface="Arial"/>
              </a:rPr>
              <a:t>H</a:t>
            </a:r>
            <a:r>
              <a:rPr sz="2000" b="1" spc="-114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40" dirty="0">
                <a:latin typeface="Microsoft Sans Serif"/>
                <a:cs typeface="Microsoft Sans Serif"/>
              </a:rPr>
              <a:t>mod</a:t>
            </a:r>
            <a:r>
              <a:rPr sz="2000" spc="-114" dirty="0">
                <a:latin typeface="Microsoft Sans Serif"/>
                <a:cs typeface="Microsoft Sans Serif"/>
              </a:rPr>
              <a:t>u</a:t>
            </a:r>
            <a:r>
              <a:rPr sz="2000" spc="-135" dirty="0">
                <a:latin typeface="Microsoft Sans Serif"/>
                <a:cs typeface="Microsoft Sans Serif"/>
              </a:rPr>
              <a:t>le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40" dirty="0">
                <a:latin typeface="Microsoft Sans Serif"/>
                <a:cs typeface="Microsoft Sans Serif"/>
              </a:rPr>
              <a:t>dflipf</a:t>
            </a:r>
            <a:r>
              <a:rPr sz="2000" spc="-35" dirty="0">
                <a:latin typeface="Microsoft Sans Serif"/>
                <a:cs typeface="Microsoft Sans Serif"/>
              </a:rPr>
              <a:t>l</a:t>
            </a:r>
            <a:r>
              <a:rPr sz="2000" spc="-110" dirty="0">
                <a:latin typeface="Microsoft Sans Serif"/>
                <a:cs typeface="Microsoft Sans Serif"/>
              </a:rPr>
              <a:t>o</a:t>
            </a:r>
            <a:r>
              <a:rPr sz="2000" spc="-105" dirty="0">
                <a:latin typeface="Microsoft Sans Serif"/>
                <a:cs typeface="Microsoft Sans Serif"/>
              </a:rPr>
              <a:t>p</a:t>
            </a:r>
            <a:r>
              <a:rPr sz="2000" spc="-65" dirty="0">
                <a:latin typeface="Microsoft Sans Serif"/>
                <a:cs typeface="Microsoft Sans Serif"/>
              </a:rPr>
              <a:t>t_</a:t>
            </a:r>
            <a:r>
              <a:rPr sz="2000" spc="-80" dirty="0">
                <a:latin typeface="Microsoft Sans Serif"/>
                <a:cs typeface="Microsoft Sans Serif"/>
              </a:rPr>
              <a:t>b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12700" marR="3050540">
              <a:lnSpc>
                <a:spcPct val="100000"/>
              </a:lnSpc>
            </a:pPr>
            <a:r>
              <a:rPr sz="2000" spc="-155" dirty="0">
                <a:latin typeface="Microsoft Sans Serif"/>
                <a:cs typeface="Microsoft Sans Serif"/>
              </a:rPr>
              <a:t>re</a:t>
            </a:r>
            <a:r>
              <a:rPr sz="2000" spc="-190" dirty="0">
                <a:latin typeface="Microsoft Sans Serif"/>
                <a:cs typeface="Microsoft Sans Serif"/>
              </a:rPr>
              <a:t>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d;  </a:t>
            </a:r>
            <a:r>
              <a:rPr sz="2000" spc="-155" dirty="0">
                <a:latin typeface="Microsoft Sans Serif"/>
                <a:cs typeface="Microsoft Sans Serif"/>
              </a:rPr>
              <a:t>re</a:t>
            </a:r>
            <a:r>
              <a:rPr sz="2000" spc="-190" dirty="0">
                <a:latin typeface="Microsoft Sans Serif"/>
                <a:cs typeface="Microsoft Sans Serif"/>
              </a:rPr>
              <a:t>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95" dirty="0">
                <a:latin typeface="Microsoft Sans Serif"/>
                <a:cs typeface="Microsoft Sans Serif"/>
              </a:rPr>
              <a:t>cl</a:t>
            </a:r>
            <a:r>
              <a:rPr sz="2000" spc="-135" dirty="0">
                <a:latin typeface="Microsoft Sans Serif"/>
                <a:cs typeface="Microsoft Sans Serif"/>
              </a:rPr>
              <a:t>k</a:t>
            </a:r>
            <a:r>
              <a:rPr sz="2000" spc="-5" dirty="0">
                <a:latin typeface="Microsoft Sans Serif"/>
                <a:cs typeface="Microsoft Sans Serif"/>
              </a:rPr>
              <a:t>;  </a:t>
            </a:r>
            <a:r>
              <a:rPr sz="2000" spc="-110" dirty="0">
                <a:latin typeface="Microsoft Sans Serif"/>
                <a:cs typeface="Microsoft Sans Serif"/>
              </a:rPr>
              <a:t>wir</a:t>
            </a:r>
            <a:r>
              <a:rPr sz="2000" spc="-135" dirty="0">
                <a:latin typeface="Microsoft Sans Serif"/>
                <a:cs typeface="Microsoft Sans Serif"/>
              </a:rPr>
              <a:t>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q;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75" dirty="0">
                <a:latin typeface="Microsoft Sans Serif"/>
                <a:cs typeface="Microsoft Sans Serif"/>
              </a:rPr>
              <a:t>dflipflopmod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uut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145" dirty="0">
                <a:latin typeface="Microsoft Sans Serif"/>
                <a:cs typeface="Microsoft Sans Serif"/>
              </a:rPr>
              <a:t>(.q(q),.d(d),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.clk(clk)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);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70" dirty="0">
                <a:latin typeface="Microsoft Sans Serif"/>
                <a:cs typeface="Microsoft Sans Serif"/>
              </a:rPr>
              <a:t>initial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165" dirty="0">
                <a:latin typeface="Microsoft Sans Serif"/>
                <a:cs typeface="Microsoft Sans Serif"/>
              </a:rPr>
              <a:t>begin</a:t>
            </a:r>
            <a:endParaRPr sz="2000">
              <a:latin typeface="Microsoft Sans Serif"/>
              <a:cs typeface="Microsoft Sans Serif"/>
            </a:endParaRPr>
          </a:p>
          <a:p>
            <a:pPr marL="12700" marR="2046605">
              <a:lnSpc>
                <a:spcPct val="100000"/>
              </a:lnSpc>
              <a:spcBef>
                <a:spcPts val="5"/>
              </a:spcBef>
            </a:pPr>
            <a:r>
              <a:rPr sz="2000" spc="160" dirty="0">
                <a:latin typeface="Microsoft Sans Serif"/>
                <a:cs typeface="Microsoft Sans Serif"/>
              </a:rPr>
              <a:t>//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5" dirty="0">
                <a:latin typeface="Microsoft Sans Serif"/>
                <a:cs typeface="Microsoft Sans Serif"/>
              </a:rPr>
              <a:t>Initialize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25" dirty="0">
                <a:latin typeface="Microsoft Sans Serif"/>
                <a:cs typeface="Microsoft Sans Serif"/>
              </a:rPr>
              <a:t>Inputs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d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=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0;</a:t>
            </a:r>
            <a:endParaRPr sz="2000">
              <a:latin typeface="Microsoft Sans Serif"/>
              <a:cs typeface="Microsoft Sans Serif"/>
            </a:endParaRPr>
          </a:p>
          <a:p>
            <a:pPr marL="12700" marR="3022600">
              <a:lnSpc>
                <a:spcPct val="100000"/>
              </a:lnSpc>
            </a:pPr>
            <a:r>
              <a:rPr sz="2000" spc="-110" dirty="0">
                <a:latin typeface="Microsoft Sans Serif"/>
                <a:cs typeface="Microsoft Sans Serif"/>
              </a:rPr>
              <a:t>clk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=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50" dirty="0">
                <a:latin typeface="Microsoft Sans Serif"/>
                <a:cs typeface="Microsoft Sans Serif"/>
              </a:rPr>
              <a:t>0;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175" dirty="0">
                <a:latin typeface="Microsoft Sans Serif"/>
                <a:cs typeface="Microsoft Sans Serif"/>
              </a:rPr>
              <a:t>end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204" dirty="0">
                <a:latin typeface="Microsoft Sans Serif"/>
                <a:cs typeface="Microsoft Sans Serif"/>
              </a:rPr>
              <a:t>always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85" dirty="0">
                <a:latin typeface="Microsoft Sans Serif"/>
                <a:cs typeface="Microsoft Sans Serif"/>
              </a:rPr>
              <a:t>#</a:t>
            </a:r>
            <a:r>
              <a:rPr sz="2000" spc="-280" dirty="0">
                <a:latin typeface="Microsoft Sans Serif"/>
                <a:cs typeface="Microsoft Sans Serif"/>
              </a:rPr>
              <a:t>3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95" dirty="0">
                <a:latin typeface="Microsoft Sans Serif"/>
                <a:cs typeface="Microsoft Sans Serif"/>
              </a:rPr>
              <a:t>cl</a:t>
            </a:r>
            <a:r>
              <a:rPr sz="2000" spc="-140" dirty="0">
                <a:latin typeface="Microsoft Sans Serif"/>
                <a:cs typeface="Microsoft Sans Serif"/>
              </a:rPr>
              <a:t>k</a:t>
            </a:r>
            <a:r>
              <a:rPr sz="2000" spc="-15" dirty="0">
                <a:latin typeface="Microsoft Sans Serif"/>
                <a:cs typeface="Microsoft Sans Serif"/>
              </a:rPr>
              <a:t>=~</a:t>
            </a:r>
            <a:r>
              <a:rPr sz="2000" spc="-95" dirty="0">
                <a:latin typeface="Microsoft Sans Serif"/>
                <a:cs typeface="Microsoft Sans Serif"/>
              </a:rPr>
              <a:t>cl</a:t>
            </a:r>
            <a:r>
              <a:rPr sz="2000" spc="-140" dirty="0">
                <a:latin typeface="Microsoft Sans Serif"/>
                <a:cs typeface="Microsoft Sans Serif"/>
              </a:rPr>
              <a:t>k</a:t>
            </a:r>
            <a:r>
              <a:rPr sz="2000" spc="-5" dirty="0">
                <a:latin typeface="Microsoft Sans Serif"/>
                <a:cs typeface="Microsoft Sans Serif"/>
              </a:rPr>
              <a:t>;</a:t>
            </a:r>
            <a:endParaRPr sz="2000">
              <a:latin typeface="Microsoft Sans Serif"/>
              <a:cs typeface="Microsoft Sans Serif"/>
            </a:endParaRPr>
          </a:p>
          <a:p>
            <a:pPr marL="12700" marR="2172970">
              <a:lnSpc>
                <a:spcPct val="100000"/>
              </a:lnSpc>
            </a:pPr>
            <a:r>
              <a:rPr sz="2000" spc="-185" dirty="0">
                <a:latin typeface="Microsoft Sans Serif"/>
                <a:cs typeface="Microsoft Sans Serif"/>
              </a:rPr>
              <a:t>alw</a:t>
            </a:r>
            <a:r>
              <a:rPr sz="2000" spc="-200" dirty="0">
                <a:latin typeface="Microsoft Sans Serif"/>
                <a:cs typeface="Microsoft Sans Serif"/>
              </a:rPr>
              <a:t>a</a:t>
            </a:r>
            <a:r>
              <a:rPr sz="2000" spc="-240" dirty="0">
                <a:latin typeface="Microsoft Sans Serif"/>
                <a:cs typeface="Microsoft Sans Serif"/>
              </a:rPr>
              <a:t>y</a:t>
            </a:r>
            <a:r>
              <a:rPr sz="2000" spc="-235" dirty="0">
                <a:latin typeface="Microsoft Sans Serif"/>
                <a:cs typeface="Microsoft Sans Serif"/>
              </a:rPr>
              <a:t>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290" dirty="0">
                <a:latin typeface="Microsoft Sans Serif"/>
                <a:cs typeface="Microsoft Sans Serif"/>
              </a:rPr>
              <a:t>#</a:t>
            </a:r>
            <a:r>
              <a:rPr sz="2000" spc="-285" dirty="0">
                <a:latin typeface="Microsoft Sans Serif"/>
                <a:cs typeface="Microsoft Sans Serif"/>
              </a:rPr>
              <a:t>5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d=~</a:t>
            </a:r>
            <a:r>
              <a:rPr sz="2000" spc="-50" dirty="0">
                <a:latin typeface="Microsoft Sans Serif"/>
                <a:cs typeface="Microsoft Sans Serif"/>
              </a:rPr>
              <a:t>d;  </a:t>
            </a:r>
            <a:r>
              <a:rPr sz="2000" spc="-150" dirty="0">
                <a:latin typeface="Microsoft Sans Serif"/>
                <a:cs typeface="Microsoft Sans Serif"/>
              </a:rPr>
              <a:t>endmodule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044" y="202679"/>
              <a:ext cx="6909816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88110" y="321386"/>
            <a:ext cx="6363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/>
              <a:t>DEBUGGING</a:t>
            </a:r>
            <a:r>
              <a:rPr sz="3200" spc="-55" dirty="0"/>
              <a:t> </a:t>
            </a:r>
            <a:r>
              <a:rPr sz="3200" spc="-155" dirty="0"/>
              <a:t>AND</a:t>
            </a:r>
            <a:r>
              <a:rPr sz="3200" spc="-50" dirty="0"/>
              <a:t> </a:t>
            </a:r>
            <a:r>
              <a:rPr sz="3200" spc="-10" dirty="0"/>
              <a:t>ERROR</a:t>
            </a:r>
            <a:r>
              <a:rPr sz="3200" spc="-60" dirty="0"/>
              <a:t> </a:t>
            </a:r>
            <a:r>
              <a:rPr sz="3200" spc="-55" dirty="0"/>
              <a:t>CHECKING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528317"/>
            <a:ext cx="8324850" cy="451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2384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/>
              <a:buChar char=""/>
              <a:tabLst>
                <a:tab pos="355600" algn="l"/>
                <a:tab pos="2017395" algn="l"/>
                <a:tab pos="3096260" algn="l"/>
              </a:tabLst>
            </a:pP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following</a:t>
            </a:r>
            <a:r>
              <a:rPr sz="2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Verilog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supposed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describe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circuit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has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8-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bit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input,	</a:t>
            </a:r>
            <a:r>
              <a:rPr sz="22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8-bit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output,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plus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two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additional</a:t>
            </a:r>
            <a:r>
              <a:rPr sz="22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single-bit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outputs.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over_flow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	</a:t>
            </a:r>
            <a:r>
              <a:rPr sz="22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strictly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combinatorial.</a:t>
            </a:r>
            <a:r>
              <a:rPr sz="22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You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may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95" dirty="0">
                <a:solidFill>
                  <a:srgbClr val="006FC0"/>
                </a:solidFill>
                <a:latin typeface="Microsoft Sans Serif"/>
                <a:cs typeface="Microsoft Sans Serif"/>
              </a:rPr>
              <a:t>assume</a:t>
            </a:r>
            <a:r>
              <a:rPr sz="22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operations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produce</a:t>
            </a:r>
            <a:r>
              <a:rPr sz="22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data_out,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</a:t>
            </a:r>
            <a:r>
              <a:rPr sz="22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over_flow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correct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(i.e. </a:t>
            </a:r>
            <a:r>
              <a:rPr sz="2200" spc="-5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functional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specification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for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these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values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correct).</a:t>
            </a:r>
            <a:r>
              <a:rPr sz="22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However,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syntax 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error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22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thes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</a:t>
            </a:r>
            <a:r>
              <a:rPr sz="22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nt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2200" spc="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do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exist.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"/>
            </a:pPr>
            <a:endParaRPr sz="325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"/>
              <a:tabLst>
                <a:tab pos="355600" algn="l"/>
                <a:tab pos="2701290" algn="l"/>
              </a:tabLst>
            </a:pP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Examine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below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identify 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any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errors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would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prevent</a:t>
            </a:r>
            <a:r>
              <a:rPr sz="2200" spc="3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this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from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compiling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and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synthesizing</a:t>
            </a:r>
            <a:r>
              <a:rPr sz="22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properly. </a:t>
            </a:r>
            <a:r>
              <a:rPr sz="2200" spc="-250" dirty="0">
                <a:solidFill>
                  <a:srgbClr val="006FC0"/>
                </a:solidFill>
                <a:latin typeface="Microsoft Sans Serif"/>
                <a:cs typeface="Microsoft Sans Serif"/>
              </a:rPr>
              <a:t>These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errors 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may</a:t>
            </a:r>
            <a:r>
              <a:rPr sz="22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include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syntax</a:t>
            </a:r>
            <a:r>
              <a:rPr sz="2200" spc="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errors,</a:t>
            </a:r>
            <a:r>
              <a:rPr sz="22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logical	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design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errors 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 </a:t>
            </a:r>
            <a:r>
              <a:rPr sz="22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needed</a:t>
            </a:r>
            <a:r>
              <a:rPr sz="22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lines</a:t>
            </a:r>
            <a:r>
              <a:rPr sz="22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200" spc="1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missing</a:t>
            </a:r>
            <a:r>
              <a:rPr sz="2200" spc="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from 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code.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Indicate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modifications</a:t>
            </a:r>
            <a:r>
              <a:rPr sz="22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you</a:t>
            </a:r>
            <a:r>
              <a:rPr sz="22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would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make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35" dirty="0">
                <a:solidFill>
                  <a:srgbClr val="006FC0"/>
                </a:solidFill>
                <a:latin typeface="Microsoft Sans Serif"/>
                <a:cs typeface="Microsoft Sans Serif"/>
              </a:rPr>
              <a:t>make </a:t>
            </a:r>
            <a:r>
              <a:rPr sz="2200" spc="-5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it </a:t>
            </a:r>
            <a:r>
              <a:rPr sz="22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work.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Include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comments</a:t>
            </a:r>
            <a:r>
              <a:rPr sz="2200" spc="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beside</a:t>
            </a:r>
            <a:r>
              <a:rPr sz="2200" spc="1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these</a:t>
            </a:r>
            <a:r>
              <a:rPr sz="2200" spc="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modifications</a:t>
            </a:r>
            <a:r>
              <a:rPr sz="2200" spc="3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or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3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portion </a:t>
            </a:r>
            <a:r>
              <a:rPr sz="22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of </a:t>
            </a:r>
            <a:r>
              <a:rPr sz="22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that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is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incorrect.</a:t>
            </a:r>
            <a:r>
              <a:rPr sz="22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There</a:t>
            </a:r>
            <a:r>
              <a:rPr sz="22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are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315" dirty="0">
                <a:solidFill>
                  <a:srgbClr val="006FC0"/>
                </a:solidFill>
                <a:latin typeface="Microsoft Sans Serif"/>
                <a:cs typeface="Microsoft Sans Serif"/>
              </a:rPr>
              <a:t>20</a:t>
            </a:r>
            <a:r>
              <a:rPr sz="22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errors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in</a:t>
            </a:r>
            <a:r>
              <a:rPr sz="22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22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code</a:t>
            </a:r>
            <a:r>
              <a:rPr sz="22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below.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044" y="202679"/>
              <a:ext cx="6909816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88110" y="321386"/>
            <a:ext cx="6363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/>
              <a:t>DEBUGGING</a:t>
            </a:r>
            <a:r>
              <a:rPr sz="3200" spc="-55" dirty="0"/>
              <a:t> </a:t>
            </a:r>
            <a:r>
              <a:rPr sz="3200" spc="-155" dirty="0"/>
              <a:t>AND</a:t>
            </a:r>
            <a:r>
              <a:rPr sz="3200" spc="-50" dirty="0"/>
              <a:t> </a:t>
            </a:r>
            <a:r>
              <a:rPr sz="3200" spc="-10" dirty="0"/>
              <a:t>ERROR</a:t>
            </a:r>
            <a:r>
              <a:rPr sz="3200" spc="-60" dirty="0"/>
              <a:t> </a:t>
            </a:r>
            <a:r>
              <a:rPr sz="3200" spc="-55" dirty="0"/>
              <a:t>CHECKING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97026"/>
            <a:ext cx="3071495" cy="4964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d_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endParaRPr sz="1800">
              <a:latin typeface="Microsoft Sans Serif"/>
              <a:cs typeface="Microsoft Sans Serif"/>
            </a:endParaRPr>
          </a:p>
          <a:p>
            <a:pPr marL="1841500">
              <a:lnSpc>
                <a:spcPct val="100000"/>
              </a:lnSpc>
              <a:spcBef>
                <a:spcPts val="430"/>
              </a:spcBef>
            </a:pP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reset,</a:t>
            </a:r>
            <a:endParaRPr sz="1800">
              <a:latin typeface="Microsoft Sans Serif"/>
              <a:cs typeface="Microsoft Sans Serif"/>
            </a:endParaRPr>
          </a:p>
          <a:p>
            <a:pPr marL="1905635">
              <a:lnSpc>
                <a:spcPct val="100000"/>
              </a:lnSpc>
              <a:spcBef>
                <a:spcPts val="434"/>
              </a:spcBef>
            </a:pP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7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:0]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endParaRPr sz="1800">
              <a:latin typeface="Microsoft Sans Serif"/>
              <a:cs typeface="Microsoft Sans Serif"/>
            </a:endParaRPr>
          </a:p>
          <a:p>
            <a:pPr marL="1841500" marR="223520">
              <a:lnSpc>
                <a:spcPct val="120000"/>
              </a:lnSpc>
            </a:pP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data_out;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out,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over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flo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  <a:p>
            <a:pPr marL="927100" marR="831850">
              <a:lnSpc>
                <a:spcPct val="120000"/>
              </a:lnSpc>
            </a:pP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3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clk;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reset;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carry_in;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6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data_in;</a:t>
            </a:r>
            <a:endParaRPr sz="1800">
              <a:latin typeface="Microsoft Sans Serif"/>
              <a:cs typeface="Microsoft Sans Serif"/>
            </a:endParaRPr>
          </a:p>
          <a:p>
            <a:pPr marL="927100" marR="522605">
              <a:lnSpc>
                <a:spcPct val="120000"/>
              </a:lnSpc>
            </a:pP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data_out;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carry_out; </a:t>
            </a:r>
            <a:r>
              <a:rPr sz="1800" spc="-45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over_flow; </a:t>
            </a:r>
            <a:r>
              <a:rPr sz="1800" spc="-459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7:0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over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flow;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044" y="202679"/>
              <a:ext cx="6909816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88110" y="321386"/>
            <a:ext cx="6363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/>
              <a:t>DEBUGGING</a:t>
            </a:r>
            <a:r>
              <a:rPr sz="3200" spc="-55" dirty="0"/>
              <a:t> </a:t>
            </a:r>
            <a:r>
              <a:rPr sz="3200" spc="-155" dirty="0"/>
              <a:t>AND</a:t>
            </a:r>
            <a:r>
              <a:rPr sz="3200" spc="-50" dirty="0"/>
              <a:t> </a:t>
            </a:r>
            <a:r>
              <a:rPr sz="3200" spc="-10" dirty="0"/>
              <a:t>ERROR</a:t>
            </a:r>
            <a:r>
              <a:rPr sz="3200" spc="-60" dirty="0"/>
              <a:t> </a:t>
            </a:r>
            <a:r>
              <a:rPr sz="3200" spc="-55" dirty="0"/>
              <a:t>CHECKING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706245"/>
            <a:ext cx="3510279" cy="430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@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(posedge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clk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45" dirty="0">
                <a:solidFill>
                  <a:srgbClr val="006FC0"/>
                </a:solidFill>
                <a:latin typeface="Microsoft Sans Serif"/>
                <a:cs typeface="Microsoft Sans Serif"/>
              </a:rPr>
              <a:t>|</a:t>
            </a:r>
            <a:r>
              <a:rPr sz="1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posedge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reset)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</a:t>
            </a:r>
            <a:endParaRPr sz="1800">
              <a:latin typeface="Microsoft Sans Serif"/>
              <a:cs typeface="Microsoft Sans Serif"/>
            </a:endParaRPr>
          </a:p>
          <a:p>
            <a:pPr marL="12700" marR="2280920">
              <a:lnSpc>
                <a:spcPct val="120000"/>
              </a:lnSpc>
            </a:pP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then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 data_out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0;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0;</a:t>
            </a:r>
            <a:endParaRPr sz="1800">
              <a:latin typeface="Microsoft Sans Serif"/>
              <a:cs typeface="Microsoft Sans Serif"/>
            </a:endParaRPr>
          </a:p>
          <a:p>
            <a:pPr marL="76200">
              <a:lnSpc>
                <a:spcPct val="100000"/>
              </a:lnSpc>
              <a:spcBef>
                <a:spcPts val="434"/>
              </a:spcBef>
            </a:pP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Else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 marR="306070">
              <a:lnSpc>
                <a:spcPct val="120000"/>
              </a:lnSpc>
            </a:pP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*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+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~&amp;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data_in[7,6];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over_flow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data_out(7);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044" y="202679"/>
              <a:ext cx="6909816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88110" y="321386"/>
            <a:ext cx="6363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/>
              <a:t>DEBUGGING</a:t>
            </a:r>
            <a:r>
              <a:rPr sz="3200" spc="-55" dirty="0"/>
              <a:t> </a:t>
            </a:r>
            <a:r>
              <a:rPr sz="3200" spc="-155" dirty="0"/>
              <a:t>AND</a:t>
            </a:r>
            <a:r>
              <a:rPr sz="3200" spc="-50" dirty="0"/>
              <a:t> </a:t>
            </a:r>
            <a:r>
              <a:rPr sz="3200" spc="-10" dirty="0"/>
              <a:t>ERROR</a:t>
            </a:r>
            <a:r>
              <a:rPr sz="3200" spc="-60" dirty="0"/>
              <a:t> </a:t>
            </a:r>
            <a:r>
              <a:rPr sz="3200" spc="-55" dirty="0"/>
              <a:t>CHECKING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17975" y="1151890"/>
            <a:ext cx="2720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1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oved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s”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fte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117975" y="1755013"/>
            <a:ext cx="4022090" cy="167258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35"/>
              </a:spcBef>
              <a:buAutoNum type="arabicParenBoth" startAt="2"/>
              <a:tabLst>
                <a:tab pos="285750" algn="l"/>
              </a:tabLst>
            </a:pP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oved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7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:0]</a:t>
            </a:r>
            <a:endParaRPr sz="18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434"/>
              </a:spcBef>
              <a:buAutoNum type="arabicParenBoth" startAt="2"/>
              <a:tabLst>
                <a:tab pos="285750" algn="l"/>
              </a:tabLst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Added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carry_in</a:t>
            </a:r>
            <a:endParaRPr sz="18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430"/>
              </a:spcBef>
              <a:buAutoNum type="arabicParenBoth" startAt="2"/>
              <a:tabLst>
                <a:tab pos="285750" algn="l"/>
              </a:tabLst>
            </a:pP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ge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40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120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75" dirty="0">
                <a:solidFill>
                  <a:srgbClr val="006FC0"/>
                </a:solidFill>
                <a:latin typeface="Microsoft Sans Serif"/>
                <a:cs typeface="Microsoft Sans Serif"/>
              </a:rPr>
              <a:t>,”</a:t>
            </a:r>
            <a:endParaRPr sz="18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430"/>
              </a:spcBef>
              <a:buAutoNum type="arabicParenBoth" startAt="2"/>
              <a:tabLst>
                <a:tab pos="285750" algn="l"/>
              </a:tabLst>
            </a:pP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Changed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“carry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out”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to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“carry_out”</a:t>
            </a:r>
            <a:endParaRPr sz="18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434"/>
              </a:spcBef>
              <a:buAutoNum type="arabicParenBoth" startAt="2"/>
              <a:tabLst>
                <a:tab pos="285750" algn="l"/>
              </a:tabLst>
            </a:pP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Semicolon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at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end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module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definition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1983" y="4389501"/>
            <a:ext cx="133159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530"/>
              </a:spcBef>
              <a:buAutoNum type="arabicParenBoth" startAt="7"/>
              <a:tabLst>
                <a:tab pos="285750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dded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7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:0]</a:t>
            </a:r>
            <a:endParaRPr sz="18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430"/>
              </a:spcBef>
              <a:buAutoNum type="arabicParenBoth" startAt="7"/>
              <a:tabLst>
                <a:tab pos="285750" algn="l"/>
              </a:tabLst>
            </a:pPr>
            <a:r>
              <a:rPr sz="1800" spc="8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dded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7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:0]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740" y="1097026"/>
            <a:ext cx="2867660" cy="52933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d_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endParaRPr sz="1800">
              <a:latin typeface="Microsoft Sans Serif"/>
              <a:cs typeface="Microsoft Sans Serif"/>
            </a:endParaRPr>
          </a:p>
          <a:p>
            <a:pPr marL="1841500" marR="318135">
              <a:lnSpc>
                <a:spcPct val="120000"/>
              </a:lnSpc>
            </a:pP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reset, 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endParaRPr sz="1800">
              <a:latin typeface="Microsoft Sans Serif"/>
              <a:cs typeface="Microsoft Sans Serif"/>
            </a:endParaRPr>
          </a:p>
          <a:p>
            <a:pPr marL="1841500" marR="20320">
              <a:lnSpc>
                <a:spcPct val="120000"/>
              </a:lnSpc>
              <a:spcBef>
                <a:spcPts val="5"/>
              </a:spcBef>
            </a:pP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carry_in,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data_out,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carry_out,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over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flo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  <a:p>
            <a:pPr marL="927100" marR="628650">
              <a:lnSpc>
                <a:spcPct val="120000"/>
              </a:lnSpc>
            </a:pP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3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clk;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 input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reset;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carry_in;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430"/>
              </a:spcBef>
            </a:pP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input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[7:0]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data_in;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430"/>
              </a:spcBef>
            </a:pP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[7:0]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data_out;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carry_out;</a:t>
            </a:r>
            <a:endParaRPr sz="1800">
              <a:latin typeface="Microsoft Sans Serif"/>
              <a:cs typeface="Microsoft Sans Serif"/>
            </a:endParaRPr>
          </a:p>
          <a:p>
            <a:pPr marL="927100" marR="319405" algn="just">
              <a:lnSpc>
                <a:spcPct val="120000"/>
              </a:lnSpc>
            </a:pP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output 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over_flow;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[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7:0</a:t>
            </a:r>
            <a:r>
              <a:rPr sz="1800" spc="-95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84484" y="3077505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;</a:t>
            </a:r>
            <a:endParaRPr lang="en-IN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764"/>
            <a:ext cx="9144000" cy="6682740"/>
            <a:chOff x="0" y="16764"/>
            <a:chExt cx="9144000" cy="6682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241" y="982217"/>
              <a:ext cx="7589519" cy="76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93241" y="982217"/>
              <a:ext cx="7589520" cy="76200"/>
            </a:xfrm>
            <a:custGeom>
              <a:avLst/>
              <a:gdLst/>
              <a:ahLst/>
              <a:cxnLst/>
              <a:rect l="l" t="t" r="r" b="b"/>
              <a:pathLst>
                <a:path w="7589520" h="76200">
                  <a:moveTo>
                    <a:pt x="0" y="38100"/>
                  </a:moveTo>
                  <a:lnTo>
                    <a:pt x="43341" y="32313"/>
                  </a:lnTo>
                  <a:lnTo>
                    <a:pt x="87526" y="29914"/>
                  </a:lnTo>
                  <a:lnTo>
                    <a:pt x="146355" y="27571"/>
                  </a:lnTo>
                  <a:lnTo>
                    <a:pt x="193462" y="26042"/>
                  </a:lnTo>
                  <a:lnTo>
                    <a:pt x="246707" y="24541"/>
                  </a:lnTo>
                  <a:lnTo>
                    <a:pt x="305942" y="23070"/>
                  </a:lnTo>
                  <a:lnTo>
                    <a:pt x="371019" y="21631"/>
                  </a:lnTo>
                  <a:lnTo>
                    <a:pt x="441788" y="20224"/>
                  </a:lnTo>
                  <a:lnTo>
                    <a:pt x="518103" y="18852"/>
                  </a:lnTo>
                  <a:lnTo>
                    <a:pt x="558294" y="18179"/>
                  </a:lnTo>
                  <a:lnTo>
                    <a:pt x="599815" y="17515"/>
                  </a:lnTo>
                  <a:lnTo>
                    <a:pt x="642648" y="16861"/>
                  </a:lnTo>
                  <a:lnTo>
                    <a:pt x="686776" y="16216"/>
                  </a:lnTo>
                  <a:lnTo>
                    <a:pt x="732178" y="15581"/>
                  </a:lnTo>
                  <a:lnTo>
                    <a:pt x="778837" y="14956"/>
                  </a:lnTo>
                  <a:lnTo>
                    <a:pt x="826734" y="14340"/>
                  </a:lnTo>
                  <a:lnTo>
                    <a:pt x="875851" y="13735"/>
                  </a:lnTo>
                  <a:lnTo>
                    <a:pt x="926168" y="13140"/>
                  </a:lnTo>
                  <a:lnTo>
                    <a:pt x="977669" y="12556"/>
                  </a:lnTo>
                  <a:lnTo>
                    <a:pt x="1030333" y="11983"/>
                  </a:lnTo>
                  <a:lnTo>
                    <a:pt x="1084143" y="11421"/>
                  </a:lnTo>
                  <a:lnTo>
                    <a:pt x="1139080" y="10870"/>
                  </a:lnTo>
                  <a:lnTo>
                    <a:pt x="1195125" y="10330"/>
                  </a:lnTo>
                  <a:lnTo>
                    <a:pt x="1252261" y="9801"/>
                  </a:lnTo>
                  <a:lnTo>
                    <a:pt x="1310467" y="9285"/>
                  </a:lnTo>
                  <a:lnTo>
                    <a:pt x="1369727" y="8780"/>
                  </a:lnTo>
                  <a:lnTo>
                    <a:pt x="1430021" y="8287"/>
                  </a:lnTo>
                  <a:lnTo>
                    <a:pt x="1491331" y="7807"/>
                  </a:lnTo>
                  <a:lnTo>
                    <a:pt x="1553638" y="7339"/>
                  </a:lnTo>
                  <a:lnTo>
                    <a:pt x="1616924" y="6884"/>
                  </a:lnTo>
                  <a:lnTo>
                    <a:pt x="1681171" y="6441"/>
                  </a:lnTo>
                  <a:lnTo>
                    <a:pt x="1746359" y="6012"/>
                  </a:lnTo>
                  <a:lnTo>
                    <a:pt x="1812470" y="5595"/>
                  </a:lnTo>
                  <a:lnTo>
                    <a:pt x="1879487" y="5192"/>
                  </a:lnTo>
                  <a:lnTo>
                    <a:pt x="1947389" y="4803"/>
                  </a:lnTo>
                  <a:lnTo>
                    <a:pt x="2016159" y="4427"/>
                  </a:lnTo>
                  <a:lnTo>
                    <a:pt x="2085778" y="4065"/>
                  </a:lnTo>
                  <a:lnTo>
                    <a:pt x="2156228" y="3718"/>
                  </a:lnTo>
                  <a:lnTo>
                    <a:pt x="2227491" y="3384"/>
                  </a:lnTo>
                  <a:lnTo>
                    <a:pt x="2299546" y="3065"/>
                  </a:lnTo>
                  <a:lnTo>
                    <a:pt x="2372377" y="2761"/>
                  </a:lnTo>
                  <a:lnTo>
                    <a:pt x="2445964" y="2472"/>
                  </a:lnTo>
                  <a:lnTo>
                    <a:pt x="2520290" y="2197"/>
                  </a:lnTo>
                  <a:lnTo>
                    <a:pt x="2595335" y="1938"/>
                  </a:lnTo>
                  <a:lnTo>
                    <a:pt x="2671081" y="1694"/>
                  </a:lnTo>
                  <a:lnTo>
                    <a:pt x="2747509" y="1466"/>
                  </a:lnTo>
                  <a:lnTo>
                    <a:pt x="2824602" y="1253"/>
                  </a:lnTo>
                  <a:lnTo>
                    <a:pt x="2902340" y="1057"/>
                  </a:lnTo>
                  <a:lnTo>
                    <a:pt x="2980705" y="876"/>
                  </a:lnTo>
                  <a:lnTo>
                    <a:pt x="3059678" y="712"/>
                  </a:lnTo>
                  <a:lnTo>
                    <a:pt x="3139241" y="565"/>
                  </a:lnTo>
                  <a:lnTo>
                    <a:pt x="3219376" y="434"/>
                  </a:lnTo>
                  <a:lnTo>
                    <a:pt x="3300063" y="320"/>
                  </a:lnTo>
                  <a:lnTo>
                    <a:pt x="3381285" y="223"/>
                  </a:lnTo>
                  <a:lnTo>
                    <a:pt x="3463022" y="143"/>
                  </a:lnTo>
                  <a:lnTo>
                    <a:pt x="3545257" y="80"/>
                  </a:lnTo>
                  <a:lnTo>
                    <a:pt x="3627970" y="36"/>
                  </a:lnTo>
                  <a:lnTo>
                    <a:pt x="3711144" y="9"/>
                  </a:lnTo>
                  <a:lnTo>
                    <a:pt x="3794760" y="0"/>
                  </a:lnTo>
                  <a:lnTo>
                    <a:pt x="3878375" y="9"/>
                  </a:lnTo>
                  <a:lnTo>
                    <a:pt x="3961549" y="36"/>
                  </a:lnTo>
                  <a:lnTo>
                    <a:pt x="4044262" y="80"/>
                  </a:lnTo>
                  <a:lnTo>
                    <a:pt x="4126497" y="143"/>
                  </a:lnTo>
                  <a:lnTo>
                    <a:pt x="4208234" y="223"/>
                  </a:lnTo>
                  <a:lnTo>
                    <a:pt x="4289456" y="320"/>
                  </a:lnTo>
                  <a:lnTo>
                    <a:pt x="4370143" y="434"/>
                  </a:lnTo>
                  <a:lnTo>
                    <a:pt x="4450278" y="565"/>
                  </a:lnTo>
                  <a:lnTo>
                    <a:pt x="4529841" y="712"/>
                  </a:lnTo>
                  <a:lnTo>
                    <a:pt x="4608814" y="876"/>
                  </a:lnTo>
                  <a:lnTo>
                    <a:pt x="4687179" y="1057"/>
                  </a:lnTo>
                  <a:lnTo>
                    <a:pt x="4764917" y="1253"/>
                  </a:lnTo>
                  <a:lnTo>
                    <a:pt x="4842010" y="1466"/>
                  </a:lnTo>
                  <a:lnTo>
                    <a:pt x="4918438" y="1694"/>
                  </a:lnTo>
                  <a:lnTo>
                    <a:pt x="4994184" y="1938"/>
                  </a:lnTo>
                  <a:lnTo>
                    <a:pt x="5069229" y="2197"/>
                  </a:lnTo>
                  <a:lnTo>
                    <a:pt x="5143555" y="2472"/>
                  </a:lnTo>
                  <a:lnTo>
                    <a:pt x="5217142" y="2761"/>
                  </a:lnTo>
                  <a:lnTo>
                    <a:pt x="5289973" y="3065"/>
                  </a:lnTo>
                  <a:lnTo>
                    <a:pt x="5362028" y="3384"/>
                  </a:lnTo>
                  <a:lnTo>
                    <a:pt x="5433291" y="3718"/>
                  </a:lnTo>
                  <a:lnTo>
                    <a:pt x="5503741" y="4065"/>
                  </a:lnTo>
                  <a:lnTo>
                    <a:pt x="5573360" y="4427"/>
                  </a:lnTo>
                  <a:lnTo>
                    <a:pt x="5642130" y="4803"/>
                  </a:lnTo>
                  <a:lnTo>
                    <a:pt x="5710032" y="5192"/>
                  </a:lnTo>
                  <a:lnTo>
                    <a:pt x="5777049" y="5595"/>
                  </a:lnTo>
                  <a:lnTo>
                    <a:pt x="5843160" y="6012"/>
                  </a:lnTo>
                  <a:lnTo>
                    <a:pt x="5908348" y="6441"/>
                  </a:lnTo>
                  <a:lnTo>
                    <a:pt x="5972595" y="6884"/>
                  </a:lnTo>
                  <a:lnTo>
                    <a:pt x="6035881" y="7339"/>
                  </a:lnTo>
                  <a:lnTo>
                    <a:pt x="6098188" y="7807"/>
                  </a:lnTo>
                  <a:lnTo>
                    <a:pt x="6159498" y="8287"/>
                  </a:lnTo>
                  <a:lnTo>
                    <a:pt x="6219792" y="8780"/>
                  </a:lnTo>
                  <a:lnTo>
                    <a:pt x="6279052" y="9285"/>
                  </a:lnTo>
                  <a:lnTo>
                    <a:pt x="6337258" y="9801"/>
                  </a:lnTo>
                  <a:lnTo>
                    <a:pt x="6394394" y="10330"/>
                  </a:lnTo>
                  <a:lnTo>
                    <a:pt x="6450439" y="10870"/>
                  </a:lnTo>
                  <a:lnTo>
                    <a:pt x="6505376" y="11421"/>
                  </a:lnTo>
                  <a:lnTo>
                    <a:pt x="6559186" y="11983"/>
                  </a:lnTo>
                  <a:lnTo>
                    <a:pt x="6611850" y="12556"/>
                  </a:lnTo>
                  <a:lnTo>
                    <a:pt x="6663351" y="13140"/>
                  </a:lnTo>
                  <a:lnTo>
                    <a:pt x="6713668" y="13735"/>
                  </a:lnTo>
                  <a:lnTo>
                    <a:pt x="6762785" y="14340"/>
                  </a:lnTo>
                  <a:lnTo>
                    <a:pt x="6810682" y="14956"/>
                  </a:lnTo>
                  <a:lnTo>
                    <a:pt x="6857341" y="15581"/>
                  </a:lnTo>
                  <a:lnTo>
                    <a:pt x="6902743" y="16216"/>
                  </a:lnTo>
                  <a:lnTo>
                    <a:pt x="6946871" y="16861"/>
                  </a:lnTo>
                  <a:lnTo>
                    <a:pt x="6989704" y="17515"/>
                  </a:lnTo>
                  <a:lnTo>
                    <a:pt x="7031225" y="18179"/>
                  </a:lnTo>
                  <a:lnTo>
                    <a:pt x="7071416" y="18852"/>
                  </a:lnTo>
                  <a:lnTo>
                    <a:pt x="7110257" y="19534"/>
                  </a:lnTo>
                  <a:lnTo>
                    <a:pt x="7183818" y="20923"/>
                  </a:lnTo>
                  <a:lnTo>
                    <a:pt x="7251760" y="22347"/>
                  </a:lnTo>
                  <a:lnTo>
                    <a:pt x="7313934" y="23802"/>
                  </a:lnTo>
                  <a:lnTo>
                    <a:pt x="7370192" y="25288"/>
                  </a:lnTo>
                  <a:lnTo>
                    <a:pt x="7420387" y="26803"/>
                  </a:lnTo>
                  <a:lnTo>
                    <a:pt x="7464370" y="28345"/>
                  </a:lnTo>
                  <a:lnTo>
                    <a:pt x="7518373" y="30708"/>
                  </a:lnTo>
                  <a:lnTo>
                    <a:pt x="7557565" y="33124"/>
                  </a:lnTo>
                  <a:lnTo>
                    <a:pt x="7589519" y="38100"/>
                  </a:lnTo>
                  <a:lnTo>
                    <a:pt x="7588616" y="38941"/>
                  </a:lnTo>
                  <a:lnTo>
                    <a:pt x="7546178" y="43886"/>
                  </a:lnTo>
                  <a:lnTo>
                    <a:pt x="7501993" y="46285"/>
                  </a:lnTo>
                  <a:lnTo>
                    <a:pt x="7443164" y="48628"/>
                  </a:lnTo>
                  <a:lnTo>
                    <a:pt x="7396057" y="50157"/>
                  </a:lnTo>
                  <a:lnTo>
                    <a:pt x="7342812" y="51658"/>
                  </a:lnTo>
                  <a:lnTo>
                    <a:pt x="7283577" y="53129"/>
                  </a:lnTo>
                  <a:lnTo>
                    <a:pt x="7218500" y="54568"/>
                  </a:lnTo>
                  <a:lnTo>
                    <a:pt x="7147731" y="55975"/>
                  </a:lnTo>
                  <a:lnTo>
                    <a:pt x="7071416" y="57347"/>
                  </a:lnTo>
                  <a:lnTo>
                    <a:pt x="7031225" y="58020"/>
                  </a:lnTo>
                  <a:lnTo>
                    <a:pt x="6989704" y="58684"/>
                  </a:lnTo>
                  <a:lnTo>
                    <a:pt x="6946871" y="59338"/>
                  </a:lnTo>
                  <a:lnTo>
                    <a:pt x="6902743" y="59983"/>
                  </a:lnTo>
                  <a:lnTo>
                    <a:pt x="6857341" y="60618"/>
                  </a:lnTo>
                  <a:lnTo>
                    <a:pt x="6810682" y="61243"/>
                  </a:lnTo>
                  <a:lnTo>
                    <a:pt x="6762785" y="61859"/>
                  </a:lnTo>
                  <a:lnTo>
                    <a:pt x="6713668" y="62464"/>
                  </a:lnTo>
                  <a:lnTo>
                    <a:pt x="6663351" y="63059"/>
                  </a:lnTo>
                  <a:lnTo>
                    <a:pt x="6611850" y="63643"/>
                  </a:lnTo>
                  <a:lnTo>
                    <a:pt x="6559186" y="64216"/>
                  </a:lnTo>
                  <a:lnTo>
                    <a:pt x="6505376" y="64778"/>
                  </a:lnTo>
                  <a:lnTo>
                    <a:pt x="6450439" y="65329"/>
                  </a:lnTo>
                  <a:lnTo>
                    <a:pt x="6394394" y="65869"/>
                  </a:lnTo>
                  <a:lnTo>
                    <a:pt x="6337258" y="66398"/>
                  </a:lnTo>
                  <a:lnTo>
                    <a:pt x="6279052" y="66914"/>
                  </a:lnTo>
                  <a:lnTo>
                    <a:pt x="6219792" y="67419"/>
                  </a:lnTo>
                  <a:lnTo>
                    <a:pt x="6159498" y="67912"/>
                  </a:lnTo>
                  <a:lnTo>
                    <a:pt x="6098188" y="68392"/>
                  </a:lnTo>
                  <a:lnTo>
                    <a:pt x="6035881" y="68860"/>
                  </a:lnTo>
                  <a:lnTo>
                    <a:pt x="5972595" y="69315"/>
                  </a:lnTo>
                  <a:lnTo>
                    <a:pt x="5908348" y="69758"/>
                  </a:lnTo>
                  <a:lnTo>
                    <a:pt x="5843160" y="70187"/>
                  </a:lnTo>
                  <a:lnTo>
                    <a:pt x="5777049" y="70604"/>
                  </a:lnTo>
                  <a:lnTo>
                    <a:pt x="5710032" y="71007"/>
                  </a:lnTo>
                  <a:lnTo>
                    <a:pt x="5642130" y="71396"/>
                  </a:lnTo>
                  <a:lnTo>
                    <a:pt x="5573360" y="71772"/>
                  </a:lnTo>
                  <a:lnTo>
                    <a:pt x="5503741" y="72134"/>
                  </a:lnTo>
                  <a:lnTo>
                    <a:pt x="5433291" y="72481"/>
                  </a:lnTo>
                  <a:lnTo>
                    <a:pt x="5362028" y="72815"/>
                  </a:lnTo>
                  <a:lnTo>
                    <a:pt x="5289973" y="73134"/>
                  </a:lnTo>
                  <a:lnTo>
                    <a:pt x="5217142" y="73438"/>
                  </a:lnTo>
                  <a:lnTo>
                    <a:pt x="5143555" y="73727"/>
                  </a:lnTo>
                  <a:lnTo>
                    <a:pt x="5069229" y="74002"/>
                  </a:lnTo>
                  <a:lnTo>
                    <a:pt x="4994184" y="74261"/>
                  </a:lnTo>
                  <a:lnTo>
                    <a:pt x="4918438" y="74505"/>
                  </a:lnTo>
                  <a:lnTo>
                    <a:pt x="4842010" y="74733"/>
                  </a:lnTo>
                  <a:lnTo>
                    <a:pt x="4764917" y="74946"/>
                  </a:lnTo>
                  <a:lnTo>
                    <a:pt x="4687179" y="75142"/>
                  </a:lnTo>
                  <a:lnTo>
                    <a:pt x="4608814" y="75323"/>
                  </a:lnTo>
                  <a:lnTo>
                    <a:pt x="4529841" y="75487"/>
                  </a:lnTo>
                  <a:lnTo>
                    <a:pt x="4450278" y="75634"/>
                  </a:lnTo>
                  <a:lnTo>
                    <a:pt x="4370143" y="75765"/>
                  </a:lnTo>
                  <a:lnTo>
                    <a:pt x="4289456" y="75879"/>
                  </a:lnTo>
                  <a:lnTo>
                    <a:pt x="4208234" y="75976"/>
                  </a:lnTo>
                  <a:lnTo>
                    <a:pt x="4126497" y="76056"/>
                  </a:lnTo>
                  <a:lnTo>
                    <a:pt x="4044262" y="76119"/>
                  </a:lnTo>
                  <a:lnTo>
                    <a:pt x="3961549" y="76163"/>
                  </a:lnTo>
                  <a:lnTo>
                    <a:pt x="3878375" y="76190"/>
                  </a:lnTo>
                  <a:lnTo>
                    <a:pt x="3794760" y="76200"/>
                  </a:lnTo>
                  <a:lnTo>
                    <a:pt x="3711144" y="76190"/>
                  </a:lnTo>
                  <a:lnTo>
                    <a:pt x="3627970" y="76163"/>
                  </a:lnTo>
                  <a:lnTo>
                    <a:pt x="3545257" y="76119"/>
                  </a:lnTo>
                  <a:lnTo>
                    <a:pt x="3463022" y="76056"/>
                  </a:lnTo>
                  <a:lnTo>
                    <a:pt x="3381285" y="75976"/>
                  </a:lnTo>
                  <a:lnTo>
                    <a:pt x="3300063" y="75879"/>
                  </a:lnTo>
                  <a:lnTo>
                    <a:pt x="3219376" y="75765"/>
                  </a:lnTo>
                  <a:lnTo>
                    <a:pt x="3139241" y="75634"/>
                  </a:lnTo>
                  <a:lnTo>
                    <a:pt x="3059678" y="75487"/>
                  </a:lnTo>
                  <a:lnTo>
                    <a:pt x="2980705" y="75323"/>
                  </a:lnTo>
                  <a:lnTo>
                    <a:pt x="2902340" y="75142"/>
                  </a:lnTo>
                  <a:lnTo>
                    <a:pt x="2824602" y="74946"/>
                  </a:lnTo>
                  <a:lnTo>
                    <a:pt x="2747509" y="74733"/>
                  </a:lnTo>
                  <a:lnTo>
                    <a:pt x="2671081" y="74505"/>
                  </a:lnTo>
                  <a:lnTo>
                    <a:pt x="2595335" y="74261"/>
                  </a:lnTo>
                  <a:lnTo>
                    <a:pt x="2520290" y="74002"/>
                  </a:lnTo>
                  <a:lnTo>
                    <a:pt x="2445964" y="73727"/>
                  </a:lnTo>
                  <a:lnTo>
                    <a:pt x="2372377" y="73438"/>
                  </a:lnTo>
                  <a:lnTo>
                    <a:pt x="2299546" y="73134"/>
                  </a:lnTo>
                  <a:lnTo>
                    <a:pt x="2227491" y="72815"/>
                  </a:lnTo>
                  <a:lnTo>
                    <a:pt x="2156228" y="72481"/>
                  </a:lnTo>
                  <a:lnTo>
                    <a:pt x="2085778" y="72134"/>
                  </a:lnTo>
                  <a:lnTo>
                    <a:pt x="2016159" y="71772"/>
                  </a:lnTo>
                  <a:lnTo>
                    <a:pt x="1947389" y="71396"/>
                  </a:lnTo>
                  <a:lnTo>
                    <a:pt x="1879487" y="71007"/>
                  </a:lnTo>
                  <a:lnTo>
                    <a:pt x="1812470" y="70604"/>
                  </a:lnTo>
                  <a:lnTo>
                    <a:pt x="1746359" y="70187"/>
                  </a:lnTo>
                  <a:lnTo>
                    <a:pt x="1681171" y="69758"/>
                  </a:lnTo>
                  <a:lnTo>
                    <a:pt x="1616924" y="69315"/>
                  </a:lnTo>
                  <a:lnTo>
                    <a:pt x="1553638" y="68860"/>
                  </a:lnTo>
                  <a:lnTo>
                    <a:pt x="1491331" y="68392"/>
                  </a:lnTo>
                  <a:lnTo>
                    <a:pt x="1430021" y="67912"/>
                  </a:lnTo>
                  <a:lnTo>
                    <a:pt x="1369727" y="67419"/>
                  </a:lnTo>
                  <a:lnTo>
                    <a:pt x="1310467" y="66914"/>
                  </a:lnTo>
                  <a:lnTo>
                    <a:pt x="1252261" y="66398"/>
                  </a:lnTo>
                  <a:lnTo>
                    <a:pt x="1195125" y="65869"/>
                  </a:lnTo>
                  <a:lnTo>
                    <a:pt x="1139080" y="65329"/>
                  </a:lnTo>
                  <a:lnTo>
                    <a:pt x="1084143" y="64778"/>
                  </a:lnTo>
                  <a:lnTo>
                    <a:pt x="1030333" y="64216"/>
                  </a:lnTo>
                  <a:lnTo>
                    <a:pt x="977669" y="63643"/>
                  </a:lnTo>
                  <a:lnTo>
                    <a:pt x="926168" y="63059"/>
                  </a:lnTo>
                  <a:lnTo>
                    <a:pt x="875851" y="62464"/>
                  </a:lnTo>
                  <a:lnTo>
                    <a:pt x="826734" y="61859"/>
                  </a:lnTo>
                  <a:lnTo>
                    <a:pt x="778837" y="61243"/>
                  </a:lnTo>
                  <a:lnTo>
                    <a:pt x="732178" y="60618"/>
                  </a:lnTo>
                  <a:lnTo>
                    <a:pt x="686776" y="59983"/>
                  </a:lnTo>
                  <a:lnTo>
                    <a:pt x="642648" y="59338"/>
                  </a:lnTo>
                  <a:lnTo>
                    <a:pt x="599815" y="58684"/>
                  </a:lnTo>
                  <a:lnTo>
                    <a:pt x="558294" y="58020"/>
                  </a:lnTo>
                  <a:lnTo>
                    <a:pt x="518103" y="57347"/>
                  </a:lnTo>
                  <a:lnTo>
                    <a:pt x="479262" y="56665"/>
                  </a:lnTo>
                  <a:lnTo>
                    <a:pt x="405701" y="55276"/>
                  </a:lnTo>
                  <a:lnTo>
                    <a:pt x="337759" y="53852"/>
                  </a:lnTo>
                  <a:lnTo>
                    <a:pt x="275585" y="52397"/>
                  </a:lnTo>
                  <a:lnTo>
                    <a:pt x="219327" y="50911"/>
                  </a:lnTo>
                  <a:lnTo>
                    <a:pt x="169132" y="49396"/>
                  </a:lnTo>
                  <a:lnTo>
                    <a:pt x="125149" y="47854"/>
                  </a:lnTo>
                  <a:lnTo>
                    <a:pt x="71146" y="45491"/>
                  </a:lnTo>
                  <a:lnTo>
                    <a:pt x="31954" y="43075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764"/>
              <a:ext cx="9143999" cy="66827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537" y="131826"/>
              <a:ext cx="8924925" cy="6457315"/>
            </a:xfrm>
            <a:custGeom>
              <a:avLst/>
              <a:gdLst/>
              <a:ahLst/>
              <a:cxnLst/>
              <a:rect l="l" t="t" r="r" b="b"/>
              <a:pathLst>
                <a:path w="8924925" h="6457315">
                  <a:moveTo>
                    <a:pt x="1076210" y="0"/>
                  </a:moveTo>
                  <a:lnTo>
                    <a:pt x="7848345" y="0"/>
                  </a:lnTo>
                  <a:lnTo>
                    <a:pt x="7896283" y="1048"/>
                  </a:lnTo>
                  <a:lnTo>
                    <a:pt x="7943684" y="4165"/>
                  </a:lnTo>
                  <a:lnTo>
                    <a:pt x="7990503" y="9306"/>
                  </a:lnTo>
                  <a:lnTo>
                    <a:pt x="8036699" y="16427"/>
                  </a:lnTo>
                  <a:lnTo>
                    <a:pt x="8082226" y="25485"/>
                  </a:lnTo>
                  <a:lnTo>
                    <a:pt x="8127042" y="36437"/>
                  </a:lnTo>
                  <a:lnTo>
                    <a:pt x="8171102" y="49237"/>
                  </a:lnTo>
                  <a:lnTo>
                    <a:pt x="8214362" y="63843"/>
                  </a:lnTo>
                  <a:lnTo>
                    <a:pt x="8256780" y="80211"/>
                  </a:lnTo>
                  <a:lnTo>
                    <a:pt x="8298310" y="98297"/>
                  </a:lnTo>
                  <a:lnTo>
                    <a:pt x="8338910" y="118058"/>
                  </a:lnTo>
                  <a:lnTo>
                    <a:pt x="8378535" y="139449"/>
                  </a:lnTo>
                  <a:lnTo>
                    <a:pt x="8417143" y="162426"/>
                  </a:lnTo>
                  <a:lnTo>
                    <a:pt x="8454688" y="186947"/>
                  </a:lnTo>
                  <a:lnTo>
                    <a:pt x="8491128" y="212967"/>
                  </a:lnTo>
                  <a:lnTo>
                    <a:pt x="8526419" y="240443"/>
                  </a:lnTo>
                  <a:lnTo>
                    <a:pt x="8560516" y="269331"/>
                  </a:lnTo>
                  <a:lnTo>
                    <a:pt x="8593377" y="299586"/>
                  </a:lnTo>
                  <a:lnTo>
                    <a:pt x="8624957" y="331166"/>
                  </a:lnTo>
                  <a:lnTo>
                    <a:pt x="8655212" y="364027"/>
                  </a:lnTo>
                  <a:lnTo>
                    <a:pt x="8684100" y="398124"/>
                  </a:lnTo>
                  <a:lnTo>
                    <a:pt x="8711576" y="433415"/>
                  </a:lnTo>
                  <a:lnTo>
                    <a:pt x="8737596" y="469855"/>
                  </a:lnTo>
                  <a:lnTo>
                    <a:pt x="8762117" y="507400"/>
                  </a:lnTo>
                  <a:lnTo>
                    <a:pt x="8785094" y="546008"/>
                  </a:lnTo>
                  <a:lnTo>
                    <a:pt x="8806485" y="585633"/>
                  </a:lnTo>
                  <a:lnTo>
                    <a:pt x="8826246" y="626233"/>
                  </a:lnTo>
                  <a:lnTo>
                    <a:pt x="8844332" y="667763"/>
                  </a:lnTo>
                  <a:lnTo>
                    <a:pt x="8860700" y="710181"/>
                  </a:lnTo>
                  <a:lnTo>
                    <a:pt x="8875306" y="753441"/>
                  </a:lnTo>
                  <a:lnTo>
                    <a:pt x="8888106" y="797501"/>
                  </a:lnTo>
                  <a:lnTo>
                    <a:pt x="8899058" y="842317"/>
                  </a:lnTo>
                  <a:lnTo>
                    <a:pt x="8908116" y="887844"/>
                  </a:lnTo>
                  <a:lnTo>
                    <a:pt x="8915237" y="934040"/>
                  </a:lnTo>
                  <a:lnTo>
                    <a:pt x="8920378" y="980859"/>
                  </a:lnTo>
                  <a:lnTo>
                    <a:pt x="8923495" y="1028260"/>
                  </a:lnTo>
                  <a:lnTo>
                    <a:pt x="8924543" y="1076198"/>
                  </a:lnTo>
                  <a:lnTo>
                    <a:pt x="8924543" y="6457188"/>
                  </a:lnTo>
                  <a:lnTo>
                    <a:pt x="0" y="6457188"/>
                  </a:lnTo>
                  <a:lnTo>
                    <a:pt x="0" y="1076198"/>
                  </a:lnTo>
                  <a:lnTo>
                    <a:pt x="1048" y="1028260"/>
                  </a:lnTo>
                  <a:lnTo>
                    <a:pt x="4165" y="980859"/>
                  </a:lnTo>
                  <a:lnTo>
                    <a:pt x="9306" y="934040"/>
                  </a:lnTo>
                  <a:lnTo>
                    <a:pt x="16427" y="887844"/>
                  </a:lnTo>
                  <a:lnTo>
                    <a:pt x="25485" y="842317"/>
                  </a:lnTo>
                  <a:lnTo>
                    <a:pt x="36437" y="797501"/>
                  </a:lnTo>
                  <a:lnTo>
                    <a:pt x="49237" y="753441"/>
                  </a:lnTo>
                  <a:lnTo>
                    <a:pt x="63844" y="710181"/>
                  </a:lnTo>
                  <a:lnTo>
                    <a:pt x="80212" y="667763"/>
                  </a:lnTo>
                  <a:lnTo>
                    <a:pt x="98298" y="626233"/>
                  </a:lnTo>
                  <a:lnTo>
                    <a:pt x="118058" y="585633"/>
                  </a:lnTo>
                  <a:lnTo>
                    <a:pt x="139449" y="546008"/>
                  </a:lnTo>
                  <a:lnTo>
                    <a:pt x="162427" y="507400"/>
                  </a:lnTo>
                  <a:lnTo>
                    <a:pt x="186948" y="469855"/>
                  </a:lnTo>
                  <a:lnTo>
                    <a:pt x="212968" y="433415"/>
                  </a:lnTo>
                  <a:lnTo>
                    <a:pt x="240444" y="398124"/>
                  </a:lnTo>
                  <a:lnTo>
                    <a:pt x="269332" y="364027"/>
                  </a:lnTo>
                  <a:lnTo>
                    <a:pt x="299588" y="331166"/>
                  </a:lnTo>
                  <a:lnTo>
                    <a:pt x="331168" y="299586"/>
                  </a:lnTo>
                  <a:lnTo>
                    <a:pt x="364029" y="269331"/>
                  </a:lnTo>
                  <a:lnTo>
                    <a:pt x="398127" y="240443"/>
                  </a:lnTo>
                  <a:lnTo>
                    <a:pt x="433418" y="212967"/>
                  </a:lnTo>
                  <a:lnTo>
                    <a:pt x="469858" y="186947"/>
                  </a:lnTo>
                  <a:lnTo>
                    <a:pt x="507404" y="162426"/>
                  </a:lnTo>
                  <a:lnTo>
                    <a:pt x="546012" y="139449"/>
                  </a:lnTo>
                  <a:lnTo>
                    <a:pt x="585637" y="118058"/>
                  </a:lnTo>
                  <a:lnTo>
                    <a:pt x="626238" y="98297"/>
                  </a:lnTo>
                  <a:lnTo>
                    <a:pt x="667769" y="80211"/>
                  </a:lnTo>
                  <a:lnTo>
                    <a:pt x="710187" y="63843"/>
                  </a:lnTo>
                  <a:lnTo>
                    <a:pt x="753448" y="49237"/>
                  </a:lnTo>
                  <a:lnTo>
                    <a:pt x="797509" y="36437"/>
                  </a:lnTo>
                  <a:lnTo>
                    <a:pt x="842325" y="25485"/>
                  </a:lnTo>
                  <a:lnTo>
                    <a:pt x="887853" y="16427"/>
                  </a:lnTo>
                  <a:lnTo>
                    <a:pt x="934049" y="9306"/>
                  </a:lnTo>
                  <a:lnTo>
                    <a:pt x="980870" y="4165"/>
                  </a:lnTo>
                  <a:lnTo>
                    <a:pt x="1028272" y="1048"/>
                  </a:lnTo>
                  <a:lnTo>
                    <a:pt x="10762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39" y="320001"/>
              <a:ext cx="7434072" cy="576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044" y="202679"/>
              <a:ext cx="6909816" cy="9342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161" y="361950"/>
              <a:ext cx="7315200" cy="4572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5161" y="361950"/>
              <a:ext cx="7315200" cy="457200"/>
            </a:xfrm>
            <a:custGeom>
              <a:avLst/>
              <a:gdLst/>
              <a:ahLst/>
              <a:cxnLst/>
              <a:rect l="l" t="t" r="r" b="b"/>
              <a:pathLst>
                <a:path w="7315200" h="457200">
                  <a:moveTo>
                    <a:pt x="0" y="76200"/>
                  </a:moveTo>
                  <a:lnTo>
                    <a:pt x="5987" y="46559"/>
                  </a:lnTo>
                  <a:lnTo>
                    <a:pt x="22317" y="22336"/>
                  </a:lnTo>
                  <a:lnTo>
                    <a:pt x="46537" y="5994"/>
                  </a:lnTo>
                  <a:lnTo>
                    <a:pt x="76200" y="0"/>
                  </a:lnTo>
                  <a:lnTo>
                    <a:pt x="7239000" y="0"/>
                  </a:lnTo>
                  <a:lnTo>
                    <a:pt x="7268640" y="5994"/>
                  </a:lnTo>
                  <a:lnTo>
                    <a:pt x="7292863" y="22336"/>
                  </a:lnTo>
                  <a:lnTo>
                    <a:pt x="7309205" y="46559"/>
                  </a:lnTo>
                  <a:lnTo>
                    <a:pt x="7315200" y="76200"/>
                  </a:lnTo>
                  <a:lnTo>
                    <a:pt x="7315200" y="381000"/>
                  </a:lnTo>
                  <a:lnTo>
                    <a:pt x="7309205" y="410640"/>
                  </a:lnTo>
                  <a:lnTo>
                    <a:pt x="7292863" y="434863"/>
                  </a:lnTo>
                  <a:lnTo>
                    <a:pt x="7268640" y="451205"/>
                  </a:lnTo>
                  <a:lnTo>
                    <a:pt x="7239000" y="457200"/>
                  </a:lnTo>
                  <a:lnTo>
                    <a:pt x="76200" y="457200"/>
                  </a:lnTo>
                  <a:lnTo>
                    <a:pt x="46537" y="451205"/>
                  </a:lnTo>
                  <a:lnTo>
                    <a:pt x="22317" y="434863"/>
                  </a:lnTo>
                  <a:lnTo>
                    <a:pt x="5987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88110" y="321386"/>
            <a:ext cx="6363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/>
              <a:t>DEBUGGING</a:t>
            </a:r>
            <a:r>
              <a:rPr sz="3200" spc="-55" dirty="0"/>
              <a:t> </a:t>
            </a:r>
            <a:r>
              <a:rPr sz="3200" spc="-155" dirty="0"/>
              <a:t>AND</a:t>
            </a:r>
            <a:r>
              <a:rPr sz="3200" spc="-50" dirty="0"/>
              <a:t> </a:t>
            </a:r>
            <a:r>
              <a:rPr sz="3200" spc="-10" dirty="0"/>
              <a:t>ERROR</a:t>
            </a:r>
            <a:r>
              <a:rPr sz="3200" spc="-60" dirty="0"/>
              <a:t> </a:t>
            </a:r>
            <a:r>
              <a:rPr sz="3200" spc="-55" dirty="0"/>
              <a:t>CHECKING</a:t>
            </a:r>
            <a:endParaRPr sz="3200"/>
          </a:p>
        </p:txBody>
      </p:sp>
      <p:grpSp>
        <p:nvGrpSpPr>
          <p:cNvPr id="12" name="object 12"/>
          <p:cNvGrpSpPr/>
          <p:nvPr/>
        </p:nvGrpSpPr>
        <p:grpSpPr>
          <a:xfrm>
            <a:off x="8593835" y="6556243"/>
            <a:ext cx="554990" cy="302260"/>
            <a:chOff x="8593835" y="6556243"/>
            <a:chExt cx="554990" cy="3022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3835" y="6620255"/>
              <a:ext cx="550164" cy="2377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0223" y="6556243"/>
              <a:ext cx="493775" cy="3017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41079" y="6644640"/>
              <a:ext cx="502920" cy="1828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41079" y="6644640"/>
              <a:ext cx="502920" cy="182880"/>
            </a:xfrm>
            <a:custGeom>
              <a:avLst/>
              <a:gdLst/>
              <a:ahLst/>
              <a:cxnLst/>
              <a:rect l="l" t="t" r="r" b="b"/>
              <a:pathLst>
                <a:path w="502920" h="182879">
                  <a:moveTo>
                    <a:pt x="502920" y="0"/>
                  </a:moveTo>
                  <a:lnTo>
                    <a:pt x="91440" y="0"/>
                  </a:lnTo>
                  <a:lnTo>
                    <a:pt x="0" y="91439"/>
                  </a:lnTo>
                  <a:lnTo>
                    <a:pt x="91440" y="182879"/>
                  </a:lnTo>
                  <a:lnTo>
                    <a:pt x="502920" y="182879"/>
                  </a:lnTo>
                  <a:lnTo>
                    <a:pt x="502920" y="0"/>
                  </a:lnTo>
                  <a:close/>
                </a:path>
              </a:pathLst>
            </a:custGeom>
            <a:ln w="9525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9740" y="1075690"/>
            <a:ext cx="3547110" cy="490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always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@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(posedge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clk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posedge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reset)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if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(reset)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 marR="2317750">
              <a:lnSpc>
                <a:spcPct val="120000"/>
              </a:lnSpc>
            </a:pP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begin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data_out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0;</a:t>
            </a:r>
            <a:endParaRPr sz="1800">
              <a:latin typeface="Microsoft Sans Serif"/>
              <a:cs typeface="Microsoft Sans Serif"/>
            </a:endParaRPr>
          </a:p>
          <a:p>
            <a:pPr marL="12700" marR="2246630">
              <a:lnSpc>
                <a:spcPct val="120000"/>
              </a:lnSpc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</a:t>
            </a:r>
            <a:r>
              <a:rPr sz="1800" spc="-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-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0; </a:t>
            </a:r>
            <a:r>
              <a:rPr sz="1800" spc="-46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end</a:t>
            </a:r>
            <a:endParaRPr sz="1800">
              <a:latin typeface="Microsoft Sans Serif"/>
              <a:cs typeface="Microsoft Sans Serif"/>
            </a:endParaRPr>
          </a:p>
          <a:p>
            <a:pPr marL="12700" marR="3056255">
              <a:lnSpc>
                <a:spcPct val="120000"/>
              </a:lnSpc>
              <a:spcBef>
                <a:spcPts val="5"/>
              </a:spcBef>
            </a:pP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else 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eg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endParaRPr sz="1800">
              <a:latin typeface="Microsoft Sans Serif"/>
              <a:cs typeface="Microsoft Sans Serif"/>
            </a:endParaRPr>
          </a:p>
          <a:p>
            <a:pPr marL="12700" marR="342265">
              <a:lnSpc>
                <a:spcPct val="120000"/>
              </a:lnSpc>
            </a:pP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(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*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2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)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+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rr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2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 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carry_out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~&amp;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data_in[7:6];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end</a:t>
            </a:r>
            <a:endParaRPr sz="1800">
              <a:latin typeface="Microsoft Sans Serif"/>
              <a:cs typeface="Microsoft Sans Serif"/>
            </a:endParaRPr>
          </a:p>
          <a:p>
            <a:pPr marL="12700" marR="765810">
              <a:lnSpc>
                <a:spcPct val="120000"/>
              </a:lnSpc>
              <a:spcBef>
                <a:spcPts val="5"/>
              </a:spcBef>
            </a:pP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over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_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flo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=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8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_o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[7</a:t>
            </a:r>
            <a:r>
              <a:rPr sz="1800" spc="-100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; 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endmodule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100" dirty="0"/>
              <a:t>M</a:t>
            </a:r>
            <a:r>
              <a:rPr spc="75" dirty="0"/>
              <a:t>O</a:t>
            </a:r>
            <a:r>
              <a:rPr spc="90" dirty="0"/>
              <a:t>D</a:t>
            </a:r>
            <a:r>
              <a:rPr spc="80" dirty="0"/>
              <a:t>U</a:t>
            </a:r>
            <a:r>
              <a:rPr spc="55" dirty="0"/>
              <a:t>L</a:t>
            </a:r>
            <a:r>
              <a:rPr spc="30" dirty="0"/>
              <a:t>E</a:t>
            </a:r>
            <a:r>
              <a:rPr spc="-15" dirty="0"/>
              <a:t>-</a:t>
            </a:r>
            <a:r>
              <a:rPr spc="65" dirty="0"/>
              <a:t>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63254" y="6643232"/>
            <a:ext cx="30607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129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5" dirty="0"/>
              <a:t>BECE102L</a:t>
            </a:r>
            <a:r>
              <a:rPr spc="160" dirty="0"/>
              <a:t> </a:t>
            </a:r>
            <a:r>
              <a:rPr spc="130" dirty="0">
                <a:latin typeface="Trebuchet MS"/>
                <a:cs typeface="Trebuchet MS"/>
              </a:rPr>
              <a:t>–</a:t>
            </a:r>
            <a:r>
              <a:rPr spc="15" dirty="0">
                <a:latin typeface="Trebuchet MS"/>
                <a:cs typeface="Trebuchet MS"/>
              </a:rPr>
              <a:t> </a:t>
            </a:r>
            <a:r>
              <a:rPr spc="70" dirty="0"/>
              <a:t>DIGITAL</a:t>
            </a:r>
            <a:r>
              <a:rPr spc="130" dirty="0"/>
              <a:t> </a:t>
            </a:r>
            <a:r>
              <a:rPr spc="60" dirty="0"/>
              <a:t>SYSTEM</a:t>
            </a:r>
            <a:r>
              <a:rPr spc="135" dirty="0"/>
              <a:t> </a:t>
            </a:r>
            <a:r>
              <a:rPr spc="70" dirty="0"/>
              <a:t>DESIGN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117975" y="1020826"/>
            <a:ext cx="4398010" cy="4964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00150" indent="-273685">
              <a:lnSpc>
                <a:spcPct val="100000"/>
              </a:lnSpc>
              <a:spcBef>
                <a:spcPts val="530"/>
              </a:spcBef>
              <a:buAutoNum type="arabicParenBoth" startAt="9"/>
              <a:tabLst>
                <a:tab pos="1200785" algn="l"/>
              </a:tabLst>
            </a:pP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|”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or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 marL="1294130" indent="-303530">
              <a:lnSpc>
                <a:spcPct val="100000"/>
              </a:lnSpc>
              <a:spcBef>
                <a:spcPts val="430"/>
              </a:spcBef>
              <a:buAutoNum type="arabicParenBoth" startAt="9"/>
              <a:tabLst>
                <a:tab pos="1294765" algn="l"/>
              </a:tabLst>
            </a:pPr>
            <a:r>
              <a:rPr sz="1800" spc="-5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4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80" dirty="0">
                <a:solidFill>
                  <a:srgbClr val="006FC0"/>
                </a:solidFill>
                <a:latin typeface="Microsoft Sans Serif"/>
                <a:cs typeface="Microsoft Sans Serif"/>
              </a:rPr>
              <a:t>se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ol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on</a:t>
            </a:r>
            <a:r>
              <a:rPr sz="1800" spc="-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f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3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40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1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33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stateme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endParaRPr sz="180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spcBef>
                <a:spcPts val="434"/>
              </a:spcBef>
              <a:buAutoNum type="arabicParenBoth" startAt="9"/>
              <a:tabLst>
                <a:tab pos="1296670" algn="l"/>
              </a:tabLst>
            </a:pPr>
            <a:r>
              <a:rPr sz="18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dd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Paren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30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6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aro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un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et”</a:t>
            </a:r>
            <a:endParaRPr sz="180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spcBef>
                <a:spcPts val="434"/>
              </a:spcBef>
              <a:buAutoNum type="arabicParenBoth" startAt="9"/>
              <a:tabLst>
                <a:tab pos="1296670" algn="l"/>
              </a:tabLst>
            </a:pPr>
            <a:r>
              <a:rPr sz="1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ov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 marL="1358265" indent="-367665">
              <a:lnSpc>
                <a:spcPct val="100000"/>
              </a:lnSpc>
              <a:spcBef>
                <a:spcPts val="430"/>
              </a:spcBef>
              <a:buAutoNum type="arabicParenBoth" startAt="9"/>
              <a:tabLst>
                <a:tab pos="1358900" algn="l"/>
              </a:tabLst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Added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“begin”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FC0"/>
              </a:buClr>
              <a:buFont typeface="Microsoft Sans Serif"/>
              <a:buAutoNum type="arabicParenBoth" startAt="9"/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Clr>
                <a:srgbClr val="006FC0"/>
              </a:buClr>
              <a:buFont typeface="Microsoft Sans Serif"/>
              <a:buAutoNum type="arabicParenBoth" startAt="9"/>
            </a:pPr>
            <a:endParaRPr sz="180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spcBef>
                <a:spcPts val="1545"/>
              </a:spcBef>
              <a:buAutoNum type="arabicParenBoth" startAt="9"/>
              <a:tabLst>
                <a:tab pos="1296670" algn="l"/>
              </a:tabLst>
            </a:pP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Added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“end”</a:t>
            </a:r>
            <a:endParaRPr sz="180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spcBef>
                <a:spcPts val="430"/>
              </a:spcBef>
              <a:buAutoNum type="arabicParenBoth" startAt="9"/>
              <a:tabLst>
                <a:tab pos="1296670" algn="l"/>
              </a:tabLst>
            </a:pP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70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k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y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18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ow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85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9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325" dirty="0">
                <a:solidFill>
                  <a:srgbClr val="006FC0"/>
                </a:solidFill>
                <a:latin typeface="Microsoft Sans Serif"/>
                <a:cs typeface="Microsoft Sans Serif"/>
              </a:rPr>
              <a:t>s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spcBef>
                <a:spcPts val="434"/>
              </a:spcBef>
              <a:buAutoNum type="arabicParenBoth" startAt="9"/>
              <a:tabLst>
                <a:tab pos="1296670" algn="l"/>
              </a:tabLst>
            </a:pPr>
            <a:r>
              <a:rPr sz="18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145" dirty="0">
                <a:solidFill>
                  <a:srgbClr val="006FC0"/>
                </a:solidFill>
                <a:latin typeface="Microsoft Sans Serif"/>
                <a:cs typeface="Microsoft Sans Serif"/>
              </a:rPr>
              <a:t>dd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0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229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FC0"/>
              </a:buClr>
              <a:buFont typeface="Microsoft Sans Serif"/>
              <a:buAutoNum type="arabicParenBoth" startAt="9"/>
            </a:pPr>
            <a:endParaRPr sz="265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buAutoNum type="arabicParenBoth" startAt="9"/>
              <a:tabLst>
                <a:tab pos="1296670" algn="l"/>
              </a:tabLst>
            </a:pPr>
            <a:r>
              <a:rPr sz="1800" spc="-290" dirty="0">
                <a:solidFill>
                  <a:srgbClr val="006FC0"/>
                </a:solidFill>
                <a:latin typeface="Microsoft Sans Serif"/>
                <a:cs typeface="Microsoft Sans Serif"/>
              </a:rPr>
              <a:t>R</a:t>
            </a:r>
            <a:r>
              <a:rPr sz="1800" spc="-22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p</a:t>
            </a:r>
            <a:r>
              <a:rPr sz="1800" spc="-3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a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70" dirty="0">
                <a:solidFill>
                  <a:srgbClr val="006FC0"/>
                </a:solidFill>
                <a:latin typeface="Microsoft Sans Serif"/>
                <a:cs typeface="Microsoft Sans Serif"/>
              </a:rPr>
              <a:t>,</a:t>
            </a:r>
            <a:r>
              <a:rPr sz="1800" spc="9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6FC0"/>
                </a:solidFill>
                <a:latin typeface="Microsoft Sans Serif"/>
                <a:cs typeface="Microsoft Sans Serif"/>
              </a:rPr>
              <a:t>w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i</a:t>
            </a:r>
            <a:r>
              <a:rPr sz="1800" spc="-4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65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130" dirty="0">
                <a:solidFill>
                  <a:srgbClr val="006FC0"/>
                </a:solidFill>
                <a:latin typeface="Microsoft Sans Serif"/>
                <a:cs typeface="Microsoft Sans Serif"/>
              </a:rPr>
              <a:t>:”</a:t>
            </a:r>
            <a:endParaRPr sz="1800">
              <a:latin typeface="Microsoft Sans Serif"/>
              <a:cs typeface="Microsoft Sans Serif"/>
            </a:endParaRPr>
          </a:p>
          <a:p>
            <a:pPr marL="1358265" indent="-367665">
              <a:lnSpc>
                <a:spcPct val="100000"/>
              </a:lnSpc>
              <a:spcBef>
                <a:spcPts val="430"/>
              </a:spcBef>
              <a:buAutoNum type="arabicParenBoth" startAt="9"/>
              <a:tabLst>
                <a:tab pos="1358900" algn="l"/>
              </a:tabLst>
            </a:pP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Added</a:t>
            </a:r>
            <a:r>
              <a:rPr sz="1800" spc="-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10" dirty="0">
                <a:solidFill>
                  <a:srgbClr val="006FC0"/>
                </a:solidFill>
                <a:latin typeface="Microsoft Sans Serif"/>
                <a:cs typeface="Microsoft Sans Serif"/>
              </a:rPr>
              <a:t>“end”</a:t>
            </a:r>
            <a:endParaRPr sz="1800">
              <a:latin typeface="Microsoft Sans Serif"/>
              <a:cs typeface="Microsoft Sans Serif"/>
            </a:endParaRPr>
          </a:p>
          <a:p>
            <a:pPr marL="1296035" indent="-369570">
              <a:lnSpc>
                <a:spcPct val="100000"/>
              </a:lnSpc>
              <a:spcBef>
                <a:spcPts val="434"/>
              </a:spcBef>
              <a:buAutoNum type="arabicParenBoth" startAt="9"/>
              <a:tabLst>
                <a:tab pos="1296670" algn="l"/>
              </a:tabLst>
            </a:pP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130" dirty="0">
                <a:solidFill>
                  <a:srgbClr val="006FC0"/>
                </a:solidFill>
                <a:latin typeface="Microsoft Sans Serif"/>
                <a:cs typeface="Microsoft Sans Serif"/>
              </a:rPr>
              <a:t>h</a:t>
            </a: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an</a:t>
            </a:r>
            <a:r>
              <a:rPr sz="1800" spc="-200" dirty="0">
                <a:solidFill>
                  <a:srgbClr val="006FC0"/>
                </a:solidFill>
                <a:latin typeface="Microsoft Sans Serif"/>
                <a:cs typeface="Microsoft Sans Serif"/>
              </a:rPr>
              <a:t>g</a:t>
            </a:r>
            <a:r>
              <a:rPr sz="1800" spc="-170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65" dirty="0">
                <a:solidFill>
                  <a:srgbClr val="006FC0"/>
                </a:solidFill>
                <a:latin typeface="Microsoft Sans Serif"/>
                <a:cs typeface="Microsoft Sans Serif"/>
              </a:rPr>
              <a:t>d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t7”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6FC0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2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5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120" dirty="0">
                <a:solidFill>
                  <a:srgbClr val="006FC0"/>
                </a:solidFill>
                <a:latin typeface="Microsoft Sans Serif"/>
                <a:cs typeface="Microsoft Sans Serif"/>
              </a:rPr>
              <a:t>o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90" dirty="0">
                <a:solidFill>
                  <a:srgbClr val="006FC0"/>
                </a:solidFill>
                <a:latin typeface="Microsoft Sans Serif"/>
                <a:cs typeface="Microsoft Sans Serif"/>
              </a:rPr>
              <a:t>t[7</a:t>
            </a:r>
            <a:r>
              <a:rPr sz="1800" spc="-75" dirty="0">
                <a:solidFill>
                  <a:srgbClr val="006FC0"/>
                </a:solidFill>
                <a:latin typeface="Microsoft Sans Serif"/>
                <a:cs typeface="Microsoft Sans Serif"/>
              </a:rPr>
              <a:t>]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”</a:t>
            </a:r>
            <a:endParaRPr sz="1800">
              <a:latin typeface="Microsoft Sans Serif"/>
              <a:cs typeface="Microsoft Sans Serif"/>
            </a:endParaRPr>
          </a:p>
          <a:p>
            <a:pPr marL="381000" indent="-368935">
              <a:lnSpc>
                <a:spcPct val="100000"/>
              </a:lnSpc>
              <a:spcBef>
                <a:spcPts val="430"/>
              </a:spcBef>
              <a:buAutoNum type="arabicParenBoth" startAt="9"/>
              <a:tabLst>
                <a:tab pos="381635" algn="l"/>
              </a:tabLst>
            </a:pPr>
            <a:r>
              <a:rPr sz="1800" spc="-204" dirty="0">
                <a:solidFill>
                  <a:srgbClr val="006FC0"/>
                </a:solidFill>
                <a:latin typeface="Microsoft Sans Serif"/>
                <a:cs typeface="Microsoft Sans Serif"/>
              </a:rPr>
              <a:t>Re</a:t>
            </a:r>
            <a:r>
              <a:rPr sz="1800" spc="-26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40" dirty="0">
                <a:solidFill>
                  <a:srgbClr val="006FC0"/>
                </a:solidFill>
                <a:latin typeface="Microsoft Sans Serif"/>
                <a:cs typeface="Microsoft Sans Serif"/>
              </a:rPr>
              <a:t>oved</a:t>
            </a:r>
            <a:r>
              <a:rPr sz="180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215" dirty="0">
                <a:solidFill>
                  <a:srgbClr val="006FC0"/>
                </a:solidFill>
                <a:latin typeface="Microsoft Sans Serif"/>
                <a:cs typeface="Microsoft Sans Serif"/>
              </a:rPr>
              <a:t>spa</a:t>
            </a:r>
            <a:r>
              <a:rPr sz="1800" spc="-210" dirty="0">
                <a:solidFill>
                  <a:srgbClr val="006FC0"/>
                </a:solidFill>
                <a:latin typeface="Microsoft Sans Serif"/>
                <a:cs typeface="Microsoft Sans Serif"/>
              </a:rPr>
              <a:t>c</a:t>
            </a:r>
            <a:r>
              <a:rPr sz="1800" spc="-22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006FC0"/>
                </a:solidFill>
                <a:latin typeface="Microsoft Sans Serif"/>
                <a:cs typeface="Microsoft Sans Serif"/>
              </a:rPr>
              <a:t>b</a:t>
            </a:r>
            <a:r>
              <a:rPr sz="1800" spc="-160" dirty="0">
                <a:solidFill>
                  <a:srgbClr val="006FC0"/>
                </a:solidFill>
                <a:latin typeface="Microsoft Sans Serif"/>
                <a:cs typeface="Microsoft Sans Serif"/>
              </a:rPr>
              <a:t>etween</a:t>
            </a:r>
            <a:r>
              <a:rPr sz="1800" spc="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70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185" dirty="0">
                <a:solidFill>
                  <a:srgbClr val="006FC0"/>
                </a:solidFill>
                <a:latin typeface="Microsoft Sans Serif"/>
                <a:cs typeface="Microsoft Sans Serif"/>
              </a:rPr>
              <a:t>e</a:t>
            </a:r>
            <a:r>
              <a:rPr sz="1800" spc="-175" dirty="0">
                <a:solidFill>
                  <a:srgbClr val="006FC0"/>
                </a:solidFill>
                <a:latin typeface="Microsoft Sans Serif"/>
                <a:cs typeface="Microsoft Sans Serif"/>
              </a:rPr>
              <a:t>n</a:t>
            </a:r>
            <a:r>
              <a:rPr sz="1800" spc="80" dirty="0">
                <a:solidFill>
                  <a:srgbClr val="006FC0"/>
                </a:solidFill>
                <a:latin typeface="Microsoft Sans Serif"/>
                <a:cs typeface="Microsoft Sans Serif"/>
              </a:rPr>
              <a:t>d”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Microsoft Sans Serif"/>
                <a:cs typeface="Microsoft Sans Serif"/>
              </a:rPr>
              <a:t>&amp;</a:t>
            </a:r>
            <a:r>
              <a:rPr sz="1800" spc="20" dirty="0">
                <a:solidFill>
                  <a:srgbClr val="006FC0"/>
                </a:solidFill>
                <a:latin typeface="Microsoft Sans Serif"/>
                <a:cs typeface="Microsoft Sans Serif"/>
              </a:rPr>
              <a:t> </a:t>
            </a:r>
            <a:r>
              <a:rPr sz="1800" spc="280" dirty="0">
                <a:solidFill>
                  <a:srgbClr val="006FC0"/>
                </a:solidFill>
                <a:latin typeface="Microsoft Sans Serif"/>
                <a:cs typeface="Microsoft Sans Serif"/>
              </a:rPr>
              <a:t>“</a:t>
            </a:r>
            <a:r>
              <a:rPr sz="1800" spc="-150" dirty="0">
                <a:solidFill>
                  <a:srgbClr val="006FC0"/>
                </a:solidFill>
                <a:latin typeface="Microsoft Sans Serif"/>
                <a:cs typeface="Microsoft Sans Serif"/>
              </a:rPr>
              <a:t>m</a:t>
            </a:r>
            <a:r>
              <a:rPr sz="1800" spc="-114" dirty="0">
                <a:solidFill>
                  <a:srgbClr val="006FC0"/>
                </a:solidFill>
                <a:latin typeface="Microsoft Sans Serif"/>
                <a:cs typeface="Microsoft Sans Serif"/>
              </a:rPr>
              <a:t>od</a:t>
            </a:r>
            <a:r>
              <a:rPr sz="1800" spc="-110" dirty="0">
                <a:solidFill>
                  <a:srgbClr val="006FC0"/>
                </a:solidFill>
                <a:latin typeface="Microsoft Sans Serif"/>
                <a:cs typeface="Microsoft Sans Serif"/>
              </a:rPr>
              <a:t>u</a:t>
            </a:r>
            <a:r>
              <a:rPr sz="1800" spc="-25" dirty="0">
                <a:solidFill>
                  <a:srgbClr val="006FC0"/>
                </a:solidFill>
                <a:latin typeface="Microsoft Sans Serif"/>
                <a:cs typeface="Microsoft Sans Serif"/>
              </a:rPr>
              <a:t>l</a:t>
            </a:r>
            <a:r>
              <a:rPr sz="1800" spc="15" dirty="0">
                <a:solidFill>
                  <a:srgbClr val="006FC0"/>
                </a:solidFill>
                <a:latin typeface="Microsoft Sans Serif"/>
                <a:cs typeface="Microsoft Sans Serif"/>
              </a:rPr>
              <a:t>e”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289" y="2601423"/>
            <a:ext cx="5013268" cy="30519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762000"/>
            <a:ext cx="7848600" cy="275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266943"/>
            <a:ext cx="2057399" cy="1591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10350</Words>
  <Application>Microsoft Office PowerPoint</Application>
  <PresentationFormat>On-screen Show (4:3)</PresentationFormat>
  <Paragraphs>1745</Paragraphs>
  <Slides>133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45" baseType="lpstr">
      <vt:lpstr>Arial</vt:lpstr>
      <vt:lpstr>Arial MT</vt:lpstr>
      <vt:lpstr>Cambria</vt:lpstr>
      <vt:lpstr>Constantia</vt:lpstr>
      <vt:lpstr>Courier New</vt:lpstr>
      <vt:lpstr>Microsoft Sans Serif</vt:lpstr>
      <vt:lpstr>Segoe UI Semibold</vt:lpstr>
      <vt:lpstr>Symbol</vt:lpstr>
      <vt:lpstr>Times New Roman</vt:lpstr>
      <vt:lpstr>Trebuchet MS</vt:lpstr>
      <vt:lpstr>Wingdings</vt:lpstr>
      <vt:lpstr>Office Theme</vt:lpstr>
      <vt:lpstr>PowerPoint Presentation</vt:lpstr>
      <vt:lpstr>MODULE-2</vt:lpstr>
      <vt:lpstr>PowerPoint Presentation</vt:lpstr>
      <vt:lpstr>INTRODUCTION TO HDL</vt:lpstr>
      <vt:lpstr>INTRODUCTION TO HDL</vt:lpstr>
      <vt:lpstr>INTRODUCTION TO VERILOG HDL</vt:lpstr>
      <vt:lpstr>INTRODUCTIONTO VERILOG HDL</vt:lpstr>
      <vt:lpstr>INTRODUCTIONTO VERILOG HDL</vt:lpstr>
      <vt:lpstr>VERILOG vs VHDL</vt:lpstr>
      <vt:lpstr>STRUCTURE OF VERILOG HDL</vt:lpstr>
      <vt:lpstr>A SIMPLE VERILOG PROGRAM</vt:lpstr>
      <vt:lpstr>PowerPoint Presentation</vt:lpstr>
      <vt:lpstr>MODULE</vt:lpstr>
      <vt:lpstr>MODULE - EXAMPLE</vt:lpstr>
      <vt:lpstr>PORTS</vt:lpstr>
      <vt:lpstr>PORTS - EXAMPLE</vt:lpstr>
      <vt:lpstr>PowerPoint Presentation</vt:lpstr>
      <vt:lpstr>LEXICAL CONVENTIONS</vt:lpstr>
      <vt:lpstr>LEXICAL CONVENTIONS</vt:lpstr>
      <vt:lpstr>LEXICAL CONVENTIONS</vt:lpstr>
      <vt:lpstr>LEXICAL CONVENTIONS</vt:lpstr>
      <vt:lpstr>LEXICAL CONVENTIONS</vt:lpstr>
      <vt:lpstr>LEXICAL CONVENTIONS</vt:lpstr>
      <vt:lpstr>LEXICAL CONVENTIONS</vt:lpstr>
      <vt:lpstr>LEXICAL CONVENTIONS</vt:lpstr>
      <vt:lpstr>LEXICAL CONVENTIONS</vt:lpstr>
      <vt:lpstr>LEXICAL CONVENTIONS</vt:lpstr>
      <vt:lpstr>LEXICAL CONVENTIONS</vt:lpstr>
      <vt:lpstr>PowerPoint Presentation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PowerPoint Presentation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VERILOG MODELING</vt:lpstr>
      <vt:lpstr>PowerPoint Presentation</vt:lpstr>
      <vt:lpstr>STRUCTURAL MODELING</vt:lpstr>
      <vt:lpstr>STRUCTURAL MODELING</vt:lpstr>
      <vt:lpstr>STRUCTURAL MODELING</vt:lpstr>
      <vt:lpstr>STRUCTURAL MODELING</vt:lpstr>
      <vt:lpstr>STRUCTURAL MODELING</vt:lpstr>
      <vt:lpstr>STRUCTURAL MODELING</vt:lpstr>
      <vt:lpstr>STRUCTURAL MODELING</vt:lpstr>
      <vt:lpstr>STRUCTURAL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STRUCTURAL MODELING</vt:lpstr>
      <vt:lpstr>STRUCTURAL MODELING</vt:lpstr>
      <vt:lpstr>STRUCTURAL MODELING</vt:lpstr>
      <vt:lpstr>STRUCTURAL MODELING</vt:lpstr>
      <vt:lpstr>STRUCTURAL MODELING</vt:lpstr>
      <vt:lpstr>STRUCTURAL MODELING</vt:lpstr>
      <vt:lpstr>STRUCTURAL MODELING</vt:lpstr>
      <vt:lpstr>PowerPoint Presentation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BEHAVIORAL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DATAFLOW MODELING</vt:lpstr>
      <vt:lpstr>DATAFLOW MODELING</vt:lpstr>
      <vt:lpstr>DATAFLOW MODELING</vt:lpstr>
      <vt:lpstr>DATAFLOW MODELING</vt:lpstr>
      <vt:lpstr>DATAFLOW MODELING</vt:lpstr>
      <vt:lpstr>DATAFLOW MODELING</vt:lpstr>
      <vt:lpstr>DATAFLOW MODELING</vt:lpstr>
      <vt:lpstr>DATAFLOW MODELING</vt:lpstr>
      <vt:lpstr>DATAFLOW MODELING</vt:lpstr>
      <vt:lpstr>PowerPoint Presentation</vt:lpstr>
      <vt:lpstr>TEST BENCH</vt:lpstr>
      <vt:lpstr>TEST BENCH</vt:lpstr>
      <vt:lpstr>PowerPoint Presentation</vt:lpstr>
      <vt:lpstr>PowerPoint Presentation</vt:lpstr>
      <vt:lpstr>TEST BENCH</vt:lpstr>
      <vt:lpstr>TEST BENCH – AND GATE</vt:lpstr>
      <vt:lpstr>TEST BENCH – HALF ADDER</vt:lpstr>
      <vt:lpstr>TEST BENCH – FULL ADDER</vt:lpstr>
      <vt:lpstr>TEST BENCH – FULL ADDER</vt:lpstr>
      <vt:lpstr>TEST BENCH – 4:1 MUX</vt:lpstr>
      <vt:lpstr>TEST BENCH – 4:1 MUX</vt:lpstr>
      <vt:lpstr>TEST BENCH – D-FLIP FLOP</vt:lpstr>
      <vt:lpstr>DEBUGGING AND ERROR CHECKING</vt:lpstr>
      <vt:lpstr>DEBUGGING AND ERROR CHECKING</vt:lpstr>
      <vt:lpstr>DEBUGGING AND ERROR CHECKING</vt:lpstr>
      <vt:lpstr>DEBUGGING AND ERROR CHECKING</vt:lpstr>
      <vt:lpstr>DEBUGGING AND ERROR CHECKING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PRAKASH</dc:creator>
  <cp:lastModifiedBy>Vidya Vinodh</cp:lastModifiedBy>
  <cp:revision>10</cp:revision>
  <dcterms:created xsi:type="dcterms:W3CDTF">2023-02-14T08:46:36Z</dcterms:created>
  <dcterms:modified xsi:type="dcterms:W3CDTF">2024-07-27T11:07:37Z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2023-02-14T00:00:00Z</vt:filetime>
  </property>
</Properties>
</file>